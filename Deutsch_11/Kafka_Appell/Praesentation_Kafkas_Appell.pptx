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„In euren Texten passieren immer dieselben zwei Fehler – nicht, weil ihr die Regel nicht kennt, sondern weil ihr beim Schreiben nicht darauf achtet. Heute trainieren wir genau das.“ Schnipsel jetzt austeilen (Text nach unten).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Artikelprobe vormachen: „Vater – der Vater? Passt. Also groß.“ „Zuhören – beim Zuhören: Signalwort beim, also groß.“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 Beispiel zeigen: Wo steht das Verb? „…, dass mein Vater das Handy weglegt.“ – Verb am Ende, also Nebensatz, also Komma.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Laut denken, Wort für Wort: „Ich glaube dass … – dass, Verb am Ende? ‚hatte‘ – ja: Komma. vater – der Vater: groß. geduld – die Geduld: groß.“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drei Fehler zeigen und laut begründen. Dann sofort weiter zum Auftrag.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Timer 4 Minuten, sichtbar. Tempo betonen: Ziel ist, schneller zu werden. Nicht helfen – die Regeln stehen auf dem Schnipsel.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die Klasse nennen lassen: „Welche Fehler hast du in Nachricht 2?“ – dann die Folie zeigen. Kurz begründen lassen (Artikelprobe / Verb am 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Gesamt: 14 Fehler. Kurze Abfrage: Wer hat mindestens 11 gefunden? Dann Überleitung zu Kafka – „In Nachricht 2 ging es schon um ihn.“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den Kontext vom Arbeitsblatt vorlesen (Kafka, 36 Jahre, Brief nie angekommen), dann den Auszug. Die Klasse liest auf dem Arbeitsblatt mit (dort mit Zeilennummern).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 drei spontane Antworten an die Tafel (① Vermutungen). Nicht bewerten.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an die Vier-Seiten-Modell-Stunde erinnern. Ein Beispiel aus dem Chat: „Ich wünsche mir, dass mein Vater das Handy weglegt“ – offen oder verdeckt?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 Sätze vorlesen lassen, den treffendsten an die Tafel (② Kernbotschaft).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Danach im Unterrichtsgespräch Frage für Frage, Ergebnisse ins Kommunikationsquadrat (③, Appell groß). Frage 3 führt zur Furcht.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Während Auftrag 2 stehen lassen oder im Gespräch zeigen, wenn Antworten nur in Stichworten kommen. Achtung Komma: „…, dass der Vater …“ – Regel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Überleitung: „Max Brods Brief hat gewirkt – der Vater hört zu. Jetzt spricht Franz selbst, und zwar offen.“ Kriterien an die Tafel (④). Timer 12 Minuten. Hinweis: Auf Großschreibung und Kommas achten – wie im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 Reden (bei Zeitnot eine). Danach Auswertung Kriterium für Kriterium: Wo war der offene Appell? Welche Ich-Botschaft war am stärksten?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Ziel: Rückbezug auf die Furcht. Merksatz an die Tafel (⑤).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822960" y="1463040"/>
            <a:ext cx="3840480" cy="548640"/>
          </a:xfrm>
          <a:prstGeom prst="roundRect">
            <a:avLst>
              <a:gd name="adj" fmla="val 50000"/>
            </a:avLst>
          </a:prstGeom>
          <a:solidFill>
            <a:srgbClr val="D9534F"/>
          </a:solidFill>
          <a:ln/>
        </p:spPr>
      </p:sp>
      <p:sp>
        <p:nvSpPr>
          <p:cNvPr id="4" name="Text 2"/>
          <p:cNvSpPr txBox="1"/>
          <p:nvPr/>
        </p:nvSpPr>
        <p:spPr>
          <a:xfrm>
            <a:off x="822960" y="1463040"/>
            <a:ext cx="3840480" cy="54864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TEIL 1 · 10 MIN.</a:t>
            </a:r>
            <a:endParaRPr lang="en-US" sz="2700" dirty="0"/>
          </a:p>
        </p:txBody>
      </p:sp>
      <p:sp>
        <p:nvSpPr>
          <p:cNvPr id="5" name="Text 3"/>
          <p:cNvSpPr txBox="1"/>
          <p:nvPr/>
        </p:nvSpPr>
        <p:spPr>
          <a:xfrm>
            <a:off x="822960" y="2286000"/>
            <a:ext cx="10515600" cy="91440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Rechtschreib-Check</a:t>
            </a:r>
            <a:endParaRPr lang="en-US" sz="4400" dirty="0"/>
          </a:p>
        </p:txBody>
      </p:sp>
      <p:sp>
        <p:nvSpPr>
          <p:cNvPr id="6" name="Text 4"/>
          <p:cNvSpPr txBox="1"/>
          <p:nvPr/>
        </p:nvSpPr>
        <p:spPr>
          <a:xfrm>
            <a:off x="822960" y="3383280"/>
            <a:ext cx="10515600" cy="640080"/>
          </a:xfrm>
          <a:prstGeom prst="rect">
            <a:avLst/>
          </a:prstGeom>
          <a:noFill/>
          <a:ln/>
        </p:spPr>
        <p:txBody>
          <a:bodyPr wrap="square" lIns="0" tIns="0" rIns="0" bIns="0" rtlCol="0" anchor="t"/>
          <a:lstStyle/>
          <a:p>
            <a:pPr indent="0" marL="0">
              <a:buNone/>
            </a:pPr>
            <a:r>
              <a:rPr lang="en-US" sz="2700" dirty="0">
                <a:solidFill>
                  <a:srgbClr val="CADCFC"/>
                </a:solidFill>
                <a:latin typeface="Calibri" pitchFamily="34" charset="0"/>
                <a:ea typeface="Calibri" pitchFamily="34" charset="-122"/>
                <a:cs typeface="Calibri" pitchFamily="34" charset="-120"/>
              </a:rPr>
              <a:t>Zwei Regeln · ein Chat · schnell und genau</a:t>
            </a:r>
            <a:endParaRPr lang="en-US" sz="2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Regel 1: Großschreibung</a:t>
            </a:r>
            <a:endParaRPr lang="en-US" sz="3000" dirty="0"/>
          </a:p>
        </p:txBody>
      </p:sp>
      <p:sp>
        <p:nvSpPr>
          <p:cNvPr id="4" name="Shape 2"/>
          <p:cNvSpPr/>
          <p:nvPr/>
        </p:nvSpPr>
        <p:spPr>
          <a:xfrm>
            <a:off x="457200" y="1143000"/>
            <a:ext cx="11247120" cy="914400"/>
          </a:xfrm>
          <a:prstGeom prst="roundRect">
            <a:avLst>
              <a:gd name="adj" fmla="val 8000"/>
            </a:avLst>
          </a:prstGeom>
          <a:solidFill>
            <a:srgbClr val="E3F1E8"/>
          </a:solidFill>
          <a:ln/>
        </p:spPr>
      </p:sp>
      <p:sp>
        <p:nvSpPr>
          <p:cNvPr id="5" name="Text 3"/>
          <p:cNvSpPr txBox="1"/>
          <p:nvPr/>
        </p:nvSpPr>
        <p:spPr>
          <a:xfrm>
            <a:off x="731520" y="1143000"/>
            <a:ext cx="10789920" cy="914400"/>
          </a:xfrm>
          <a:prstGeom prst="rect">
            <a:avLst/>
          </a:prstGeom>
          <a:noFill/>
          <a:ln/>
        </p:spPr>
        <p:txBody>
          <a:bodyPr wrap="square" lIns="0" tIns="0" rIns="0" bIns="0" rtlCol="0" anchor="ctr"/>
          <a:lstStyle/>
          <a:p>
            <a:pPr indent="0" marL="0">
              <a:buNone/>
            </a:pPr>
            <a:r>
              <a:rPr lang="en-US" sz="2700" b="1" dirty="0">
                <a:solidFill>
                  <a:srgbClr val="2E9E6B"/>
                </a:solidFill>
                <a:latin typeface="Cambria" pitchFamily="34" charset="0"/>
                <a:ea typeface="Cambria" pitchFamily="34" charset="-122"/>
                <a:cs typeface="Cambria" pitchFamily="34" charset="-120"/>
              </a:rPr>
              <a:t>Substantive schreibt man groß.</a:t>
            </a:r>
            <a:endParaRPr lang="en-US" sz="2700" dirty="0"/>
          </a:p>
        </p:txBody>
      </p:sp>
      <p:sp>
        <p:nvSpPr>
          <p:cNvPr id="6" name="Text 4"/>
          <p:cNvSpPr txBox="1"/>
          <p:nvPr/>
        </p:nvSpPr>
        <p:spPr>
          <a:xfrm>
            <a:off x="731520" y="2331720"/>
            <a:ext cx="10789920" cy="4114800"/>
          </a:xfrm>
          <a:prstGeom prst="rect">
            <a:avLst/>
          </a:prstGeom>
          <a:noFill/>
          <a:ln/>
        </p:spPr>
        <p:txBody>
          <a:bodyPr wrap="square" lIns="0" tIns="0" rIns="0" bIns="0" rtlCol="0" anchor="t"/>
          <a:lstStyle/>
          <a:p>
            <a:pPr marL="304800" indent="-304800">
              <a:spcAft>
                <a:spcPts val="1400"/>
              </a:spcAft>
              <a:buSzPct val="100000"/>
              <a:buChar char="•"/>
            </a:pPr>
            <a:r>
              <a:rPr lang="en-US" sz="2700" dirty="0">
                <a:solidFill>
                  <a:srgbClr val="1E2761"/>
                </a:solidFill>
                <a:latin typeface="Calibri" pitchFamily="34" charset="0"/>
                <a:ea typeface="Calibri" pitchFamily="34" charset="-122"/>
                <a:cs typeface="Calibri" pitchFamily="34" charset="-120"/>
              </a:rPr>
              <a:t>Probe: Passt der, die, das oder ein davor? → groß: der Vater, die Angst</a:t>
            </a:r>
            <a:endParaRPr lang="en-US" sz="2700" dirty="0"/>
          </a:p>
          <a:p>
            <a:pPr marL="304800" indent="-304800">
              <a:spcAft>
                <a:spcPts val="1400"/>
              </a:spcAft>
              <a:buSzPct val="100000"/>
              <a:buChar char="•"/>
            </a:pPr>
            <a:r>
              <a:rPr lang="en-US" sz="2700" dirty="0">
                <a:solidFill>
                  <a:srgbClr val="1E2761"/>
                </a:solidFill>
                <a:latin typeface="Calibri" pitchFamily="34" charset="0"/>
                <a:ea typeface="Calibri" pitchFamily="34" charset="-122"/>
                <a:cs typeface="Calibri" pitchFamily="34" charset="-120"/>
              </a:rPr>
              <a:t>Auch Verben werden groß, wenn beim, zum oder das davorsteht: beim Zuhören, das Schreiben</a:t>
            </a:r>
            <a:endParaRPr lang="en-US" sz="2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Regel 2: Komma vor Nebensätzen</a:t>
            </a:r>
            <a:endParaRPr lang="en-US" sz="3000" dirty="0"/>
          </a:p>
        </p:txBody>
      </p:sp>
      <p:sp>
        <p:nvSpPr>
          <p:cNvPr id="4" name="Shape 2"/>
          <p:cNvSpPr/>
          <p:nvPr/>
        </p:nvSpPr>
        <p:spPr>
          <a:xfrm>
            <a:off x="457200" y="1143000"/>
            <a:ext cx="11247120" cy="914400"/>
          </a:xfrm>
          <a:prstGeom prst="roundRect">
            <a:avLst>
              <a:gd name="adj" fmla="val 8000"/>
            </a:avLst>
          </a:prstGeom>
          <a:solidFill>
            <a:srgbClr val="FDECEA"/>
          </a:solidFill>
          <a:ln/>
        </p:spPr>
      </p:sp>
      <p:sp>
        <p:nvSpPr>
          <p:cNvPr id="5" name="Text 3"/>
          <p:cNvSpPr txBox="1"/>
          <p:nvPr/>
        </p:nvSpPr>
        <p:spPr>
          <a:xfrm>
            <a:off x="731520" y="1143000"/>
            <a:ext cx="10789920" cy="914400"/>
          </a:xfrm>
          <a:prstGeom prst="rect">
            <a:avLst/>
          </a:prstGeom>
          <a:noFill/>
          <a:ln/>
        </p:spPr>
        <p:txBody>
          <a:bodyPr wrap="square" lIns="0" tIns="0" rIns="0" bIns="0" rtlCol="0" anchor="ctr"/>
          <a:lstStyle/>
          <a:p>
            <a:pPr indent="0" marL="0">
              <a:buNone/>
            </a:pPr>
            <a:r>
              <a:rPr lang="en-US" sz="2700" b="1" dirty="0">
                <a:solidFill>
                  <a:srgbClr val="D9534F"/>
                </a:solidFill>
                <a:latin typeface="Cambria" pitchFamily="34" charset="0"/>
                <a:ea typeface="Cambria" pitchFamily="34" charset="-122"/>
                <a:cs typeface="Cambria" pitchFamily="34" charset="-120"/>
              </a:rPr>
              <a:t>Vor dass, weil, wenn und ob steht ein Komma.</a:t>
            </a:r>
            <a:endParaRPr lang="en-US" sz="2700" dirty="0"/>
          </a:p>
        </p:txBody>
      </p:sp>
      <p:sp>
        <p:nvSpPr>
          <p:cNvPr id="6" name="Text 4"/>
          <p:cNvSpPr txBox="1"/>
          <p:nvPr/>
        </p:nvSpPr>
        <p:spPr>
          <a:xfrm>
            <a:off x="731520" y="2331720"/>
            <a:ext cx="10789920" cy="4114800"/>
          </a:xfrm>
          <a:prstGeom prst="rect">
            <a:avLst/>
          </a:prstGeom>
          <a:noFill/>
          <a:ln/>
        </p:spPr>
        <p:txBody>
          <a:bodyPr wrap="square" lIns="0" tIns="0" rIns="0" bIns="0" rtlCol="0" anchor="t"/>
          <a:lstStyle/>
          <a:p>
            <a:pPr marL="304800" indent="-304800">
              <a:spcAft>
                <a:spcPts val="1400"/>
              </a:spcAft>
              <a:buSzPct val="100000"/>
              <a:buChar char="•"/>
            </a:pPr>
            <a:r>
              <a:rPr lang="en-US" sz="2700" dirty="0">
                <a:solidFill>
                  <a:srgbClr val="1E2761"/>
                </a:solidFill>
                <a:latin typeface="Calibri" pitchFamily="34" charset="0"/>
                <a:ea typeface="Calibri" pitchFamily="34" charset="-122"/>
                <a:cs typeface="Calibri" pitchFamily="34" charset="-120"/>
              </a:rPr>
              <a:t>Ich glaube, dass … · Ich wünsche mir, dass …</a:t>
            </a:r>
            <a:endParaRPr lang="en-US" sz="2700" dirty="0"/>
          </a:p>
          <a:p>
            <a:pPr marL="304800" indent="-304800">
              <a:spcAft>
                <a:spcPts val="1400"/>
              </a:spcAft>
              <a:buSzPct val="100000"/>
              <a:buChar char="•"/>
            </a:pPr>
            <a:r>
              <a:rPr lang="en-US" sz="2700" dirty="0">
                <a:solidFill>
                  <a:srgbClr val="1E2761"/>
                </a:solidFill>
                <a:latin typeface="Calibri" pitchFamily="34" charset="0"/>
                <a:ea typeface="Calibri" pitchFamily="34" charset="-122"/>
                <a:cs typeface="Calibri" pitchFamily="34" charset="-120"/>
              </a:rPr>
              <a:t>Steht der Nebensatz vorne, kommt das Komma danach: Wenn ich erzähle, schaut er weg.</a:t>
            </a:r>
            <a:endParaRPr lang="en-US" sz="2700" dirty="0"/>
          </a:p>
          <a:p>
            <a:pPr marL="304800" indent="-304800">
              <a:spcAft>
                <a:spcPts val="1400"/>
              </a:spcAft>
              <a:buSzPct val="100000"/>
              <a:buChar char="•"/>
            </a:pPr>
            <a:r>
              <a:rPr lang="en-US" sz="2700" dirty="0">
                <a:solidFill>
                  <a:srgbClr val="1E2761"/>
                </a:solidFill>
                <a:latin typeface="Calibri" pitchFamily="34" charset="0"/>
                <a:ea typeface="Calibri" pitchFamily="34" charset="-122"/>
                <a:cs typeface="Calibri" pitchFamily="34" charset="-120"/>
              </a:rPr>
              <a:t>Tipp: Verb am Ende → Nebensatz → Komma</a:t>
            </a:r>
            <a:endParaRPr lang="en-US" sz="2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CE5DD"/>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075E54"/>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Ich mache vor: Wo sind die Fehler?</a:t>
            </a:r>
            <a:endParaRPr lang="en-US" sz="3000" dirty="0"/>
          </a:p>
        </p:txBody>
      </p:sp>
      <p:sp>
        <p:nvSpPr>
          <p:cNvPr id="4" name="Shape 2"/>
          <p:cNvSpPr/>
          <p:nvPr/>
        </p:nvSpPr>
        <p:spPr>
          <a:xfrm>
            <a:off x="457200" y="1371600"/>
            <a:ext cx="8778240" cy="1554480"/>
          </a:xfrm>
          <a:prstGeom prst="roundRect">
            <a:avLst>
              <a:gd name="adj" fmla="val 7059"/>
            </a:avLst>
          </a:prstGeom>
          <a:solidFill>
            <a:srgbClr val="FFFFFF"/>
          </a:solidFill>
          <a:ln/>
        </p:spPr>
      </p:sp>
      <p:sp>
        <p:nvSpPr>
          <p:cNvPr id="5" name="Text 3"/>
          <p:cNvSpPr txBox="1"/>
          <p:nvPr/>
        </p:nvSpPr>
        <p:spPr>
          <a:xfrm>
            <a:off x="685800" y="1444752"/>
            <a:ext cx="7589520" cy="1408176"/>
          </a:xfrm>
          <a:prstGeom prst="rect">
            <a:avLst/>
          </a:prstGeom>
          <a:noFill/>
          <a:ln/>
        </p:spPr>
        <p:txBody>
          <a:bodyPr wrap="square" lIns="0" tIns="0" rIns="0" bIns="0" rtlCol="0" anchor="ctr"/>
          <a:lstStyle/>
          <a:p>
            <a:pPr indent="0" marL="0">
              <a:buNone/>
            </a:pPr>
            <a:r>
              <a:rPr lang="en-US" sz="2700" b="1" dirty="0">
                <a:solidFill>
                  <a:srgbClr val="2E9E6B"/>
                </a:solidFill>
                <a:latin typeface="Calibri" pitchFamily="34" charset="0"/>
                <a:ea typeface="Calibri" pitchFamily="34" charset="-122"/>
                <a:cs typeface="Calibri" pitchFamily="34" charset="-120"/>
              </a:rPr>
              <a:t>Mia</a:t>
            </a:r>
            <a:endParaRPr lang="en-US" sz="2700" dirty="0"/>
          </a:p>
          <a:p>
            <a:pPr indent="0" marL="0">
              <a:buNone/>
            </a:pPr>
            <a:r>
              <a:rPr lang="en-US" sz="2700" dirty="0">
                <a:solidFill>
                  <a:srgbClr val="111111"/>
                </a:solidFill>
                <a:latin typeface="Calibri" pitchFamily="34" charset="0"/>
                <a:ea typeface="Calibri" pitchFamily="34" charset="-122"/>
                <a:cs typeface="Calibri" pitchFamily="34" charset="-120"/>
              </a:rPr>
              <a:t>Ich glaube dass der vater von Kafka einfach keine geduld hatte.</a:t>
            </a:r>
            <a:endParaRPr lang="en-US" sz="2700" dirty="0"/>
          </a:p>
        </p:txBody>
      </p:sp>
      <p:sp>
        <p:nvSpPr>
          <p:cNvPr id="6" name="Text 4"/>
          <p:cNvSpPr txBox="1"/>
          <p:nvPr/>
        </p:nvSpPr>
        <p:spPr>
          <a:xfrm>
            <a:off x="8275320" y="2468880"/>
            <a:ext cx="822960" cy="384048"/>
          </a:xfrm>
          <a:prstGeom prst="rect">
            <a:avLst/>
          </a:prstGeom>
          <a:noFill/>
          <a:ln/>
        </p:spPr>
        <p:txBody>
          <a:bodyPr wrap="square" lIns="0" tIns="0" rIns="0" bIns="0" rtlCol="0" anchor="t"/>
          <a:lstStyle/>
          <a:p>
            <a:pPr algn="r" indent="0" marL="0">
              <a:buNone/>
            </a:pPr>
            <a:r>
              <a:rPr lang="en-US" sz="1800" dirty="0">
                <a:solidFill>
                  <a:srgbClr val="8A8A8A"/>
                </a:solidFill>
                <a:latin typeface="Calibri" pitchFamily="34" charset="0"/>
                <a:ea typeface="Calibri" pitchFamily="34" charset="-122"/>
                <a:cs typeface="Calibri" pitchFamily="34" charset="-120"/>
              </a:rPr>
              <a:t>18:41</a:t>
            </a:r>
            <a:endParaRPr lang="en-US" sz="1800" dirty="0"/>
          </a:p>
        </p:txBody>
      </p:sp>
      <p:sp>
        <p:nvSpPr>
          <p:cNvPr id="7" name="Text 5"/>
          <p:cNvSpPr txBox="1"/>
          <p:nvPr/>
        </p:nvSpPr>
        <p:spPr>
          <a:xfrm>
            <a:off x="457200" y="3383280"/>
            <a:ext cx="11247120" cy="640080"/>
          </a:xfrm>
          <a:prstGeom prst="rect">
            <a:avLst/>
          </a:prstGeom>
          <a:noFill/>
          <a:ln/>
        </p:spPr>
        <p:txBody>
          <a:bodyPr wrap="square" lIns="0" tIns="0" rIns="0" bIns="0" rtlCol="0" anchor="t"/>
          <a:lstStyle/>
          <a:p>
            <a:pPr indent="0" marL="0">
              <a:buNone/>
            </a:pPr>
            <a:r>
              <a:rPr lang="en-US" sz="2700" i="1" dirty="0">
                <a:solidFill>
                  <a:srgbClr val="5B6B8C"/>
                </a:solidFill>
                <a:latin typeface="Calibri" pitchFamily="34" charset="0"/>
                <a:ea typeface="Calibri" pitchFamily="34" charset="-122"/>
                <a:cs typeface="Calibri" pitchFamily="34" charset="-120"/>
              </a:rPr>
              <a:t>Ich denke laut: Artikelprobe? · Verb am Ende?</a:t>
            </a:r>
            <a:endParaRPr lang="en-US" sz="2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CE5DD"/>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075E54"/>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Ich mache vor: korrigiert</a:t>
            </a:r>
            <a:endParaRPr lang="en-US" sz="3000" dirty="0"/>
          </a:p>
        </p:txBody>
      </p:sp>
      <p:sp>
        <p:nvSpPr>
          <p:cNvPr id="4" name="Shape 2"/>
          <p:cNvSpPr/>
          <p:nvPr/>
        </p:nvSpPr>
        <p:spPr>
          <a:xfrm>
            <a:off x="457200" y="1371600"/>
            <a:ext cx="8778240" cy="1554480"/>
          </a:xfrm>
          <a:prstGeom prst="roundRect">
            <a:avLst>
              <a:gd name="adj" fmla="val 7059"/>
            </a:avLst>
          </a:prstGeom>
          <a:solidFill>
            <a:srgbClr val="FFFFFF"/>
          </a:solidFill>
          <a:ln/>
        </p:spPr>
      </p:sp>
      <p:sp>
        <p:nvSpPr>
          <p:cNvPr id="5" name="Text 3"/>
          <p:cNvSpPr txBox="1"/>
          <p:nvPr/>
        </p:nvSpPr>
        <p:spPr>
          <a:xfrm>
            <a:off x="685800" y="1444752"/>
            <a:ext cx="7589520" cy="1408176"/>
          </a:xfrm>
          <a:prstGeom prst="rect">
            <a:avLst/>
          </a:prstGeom>
          <a:noFill/>
          <a:ln/>
        </p:spPr>
        <p:txBody>
          <a:bodyPr wrap="square" lIns="0" tIns="0" rIns="0" bIns="0" rtlCol="0" anchor="ctr"/>
          <a:lstStyle/>
          <a:p>
            <a:pPr indent="0" marL="0">
              <a:buNone/>
            </a:pPr>
            <a:r>
              <a:rPr lang="en-US" sz="2700" b="1" dirty="0">
                <a:solidFill>
                  <a:srgbClr val="2E9E6B"/>
                </a:solidFill>
                <a:latin typeface="Calibri" pitchFamily="34" charset="0"/>
                <a:ea typeface="Calibri" pitchFamily="34" charset="-122"/>
                <a:cs typeface="Calibri" pitchFamily="34" charset="-120"/>
              </a:rPr>
              <a:t>Mia</a:t>
            </a:r>
            <a:endParaRPr lang="en-US" sz="2700" dirty="0"/>
          </a:p>
          <a:p>
            <a:pPr indent="0" marL="0">
              <a:buNone/>
            </a:pPr>
            <a:r>
              <a:rPr lang="en-US" sz="2700" dirty="0">
                <a:solidFill>
                  <a:srgbClr val="111111"/>
                </a:solidFill>
                <a:latin typeface="Calibri" pitchFamily="34" charset="0"/>
                <a:ea typeface="Calibri" pitchFamily="34" charset="-122"/>
                <a:cs typeface="Calibri" pitchFamily="34" charset="-120"/>
              </a:rPr>
              <a:t>Ich</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glaube</a:t>
            </a:r>
            <a:pPr indent="0" marL="0">
              <a:buNone/>
            </a:pPr>
            <a:r>
              <a:rPr lang="en-US" sz="2700" b="1" u="sng" dirty="0">
                <a:solidFill>
                  <a:srgbClr val="D9534F"/>
                </a:solidFill>
                <a:latin typeface="Calibri" pitchFamily="34" charset="0"/>
                <a:ea typeface="Calibri" pitchFamily="34" charset="-122"/>
                <a:cs typeface="Calibri" pitchFamily="34" charset="-120"/>
              </a:rPr>
              <a:t>,</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dass</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der</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b="1" u="sng" dirty="0">
                <a:solidFill>
                  <a:srgbClr val="D9534F"/>
                </a:solidFill>
                <a:latin typeface="Calibri" pitchFamily="34" charset="0"/>
                <a:ea typeface="Calibri" pitchFamily="34" charset="-122"/>
                <a:cs typeface="Calibri" pitchFamily="34" charset="-120"/>
              </a:rPr>
              <a:t>Vater</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von</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Kafka</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einfach</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keine</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b="1" u="sng" dirty="0">
                <a:solidFill>
                  <a:srgbClr val="D9534F"/>
                </a:solidFill>
                <a:latin typeface="Calibri" pitchFamily="34" charset="0"/>
                <a:ea typeface="Calibri" pitchFamily="34" charset="-122"/>
                <a:cs typeface="Calibri" pitchFamily="34" charset="-120"/>
              </a:rPr>
              <a:t>Geduld</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hatte</a:t>
            </a:r>
            <a:pPr indent="0" marL="0">
              <a:buNone/>
            </a:pPr>
            <a:r>
              <a:rPr lang="en-US" sz="2700" dirty="0">
                <a:solidFill>
                  <a:srgbClr val="111111"/>
                </a:solidFill>
                <a:latin typeface="Calibri" pitchFamily="34" charset="0"/>
                <a:ea typeface="Calibri" pitchFamily="34" charset="-122"/>
                <a:cs typeface="Calibri" pitchFamily="34" charset="-120"/>
              </a:rPr>
              <a:t>.</a:t>
            </a:r>
            <a:pPr indent="0" marL="0">
              <a:buNone/>
            </a:pPr>
            <a:endParaRPr lang="en-US" sz="2700" dirty="0"/>
          </a:p>
        </p:txBody>
      </p:sp>
      <p:sp>
        <p:nvSpPr>
          <p:cNvPr id="6" name="Text 4"/>
          <p:cNvSpPr txBox="1"/>
          <p:nvPr/>
        </p:nvSpPr>
        <p:spPr>
          <a:xfrm>
            <a:off x="8275320" y="2468880"/>
            <a:ext cx="822960" cy="384048"/>
          </a:xfrm>
          <a:prstGeom prst="rect">
            <a:avLst/>
          </a:prstGeom>
          <a:noFill/>
          <a:ln/>
        </p:spPr>
        <p:txBody>
          <a:bodyPr wrap="square" lIns="0" tIns="0" rIns="0" bIns="0" rtlCol="0" anchor="t"/>
          <a:lstStyle/>
          <a:p>
            <a:pPr algn="r" indent="0" marL="0">
              <a:buNone/>
            </a:pPr>
            <a:r>
              <a:rPr lang="en-US" sz="1800" dirty="0">
                <a:solidFill>
                  <a:srgbClr val="8A8A8A"/>
                </a:solidFill>
                <a:latin typeface="Calibri" pitchFamily="34" charset="0"/>
                <a:ea typeface="Calibri" pitchFamily="34" charset="-122"/>
                <a:cs typeface="Calibri" pitchFamily="34" charset="-120"/>
              </a:rPr>
              <a:t>18:41</a:t>
            </a:r>
            <a:endParaRPr lang="en-US" sz="1800" dirty="0"/>
          </a:p>
        </p:txBody>
      </p:sp>
      <p:sp>
        <p:nvSpPr>
          <p:cNvPr id="7" name="Text 5"/>
          <p:cNvSpPr txBox="1"/>
          <p:nvPr/>
        </p:nvSpPr>
        <p:spPr>
          <a:xfrm>
            <a:off x="457200" y="3383280"/>
            <a:ext cx="11247120" cy="1463040"/>
          </a:xfrm>
          <a:prstGeom prst="rect">
            <a:avLst/>
          </a:prstGeom>
          <a:noFill/>
          <a:ln/>
        </p:spPr>
        <p:txBody>
          <a:bodyPr wrap="square" lIns="0" tIns="0" rIns="0" bIns="0" rtlCol="0" anchor="t"/>
          <a:lstStyle/>
          <a:p>
            <a:pPr indent="0" marL="0">
              <a:spcAft>
                <a:spcPts val="1000"/>
              </a:spcAft>
              <a:buNone/>
            </a:pPr>
            <a:r>
              <a:rPr lang="en-US" sz="2700" b="1" dirty="0">
                <a:solidFill>
                  <a:srgbClr val="D9534F"/>
                </a:solidFill>
                <a:latin typeface="Calibri" pitchFamily="34" charset="0"/>
                <a:ea typeface="Calibri" pitchFamily="34" charset="-122"/>
                <a:cs typeface="Calibri" pitchFamily="34" charset="-120"/>
              </a:rPr>
              <a:t>vater, geduld</a:t>
            </a:r>
            <a:pPr indent="0" marL="0">
              <a:spcAft>
                <a:spcPts val="1000"/>
              </a:spcAft>
              <a:buNone/>
            </a:pPr>
            <a:r>
              <a:rPr lang="en-US" sz="2700" dirty="0">
                <a:solidFill>
                  <a:srgbClr val="1E2761"/>
                </a:solidFill>
                <a:latin typeface="Calibri" pitchFamily="34" charset="0"/>
                <a:ea typeface="Calibri" pitchFamily="34" charset="-122"/>
                <a:cs typeface="Calibri" pitchFamily="34" charset="-120"/>
              </a:rPr>
              <a:t> → der Vater, die Geduld: Artikelprobe → groß</a:t>
            </a:r>
            <a:endParaRPr lang="en-US" sz="2700" dirty="0"/>
          </a:p>
          <a:p>
            <a:pPr indent="0" marL="0">
              <a:spcAft>
                <a:spcPts val="1000"/>
              </a:spcAft>
              <a:buNone/>
            </a:pPr>
            <a:r>
              <a:rPr lang="en-US" sz="2700" b="1" dirty="0">
                <a:solidFill>
                  <a:srgbClr val="D9534F"/>
                </a:solidFill>
                <a:latin typeface="Calibri" pitchFamily="34" charset="0"/>
                <a:ea typeface="Calibri" pitchFamily="34" charset="-122"/>
                <a:cs typeface="Calibri" pitchFamily="34" charset="-120"/>
              </a:rPr>
              <a:t>glaube, dass</a:t>
            </a:r>
            <a:pPr indent="0" marL="0">
              <a:spcAft>
                <a:spcPts val="1000"/>
              </a:spcAft>
              <a:buNone/>
            </a:pPr>
            <a:r>
              <a:rPr lang="en-US" sz="2700" dirty="0">
                <a:solidFill>
                  <a:srgbClr val="1E2761"/>
                </a:solidFill>
                <a:latin typeface="Calibri" pitchFamily="34" charset="0"/>
                <a:ea typeface="Calibri" pitchFamily="34" charset="-122"/>
                <a:cs typeface="Calibri" pitchFamily="34" charset="-120"/>
              </a:rPr>
              <a:t> → Verb am Ende („hatte“) → Nebensatz → Komma</a:t>
            </a:r>
            <a:endParaRPr lang="en-US" sz="2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Jetzt ihr: Korrigiert den Chat</a:t>
            </a:r>
            <a:endParaRPr lang="en-US" sz="3000" dirty="0"/>
          </a:p>
        </p:txBody>
      </p:sp>
      <p:sp>
        <p:nvSpPr>
          <p:cNvPr id="4" name="Shape 2"/>
          <p:cNvSpPr/>
          <p:nvPr/>
        </p:nvSpPr>
        <p:spPr>
          <a:xfrm>
            <a:off x="9966960" y="137160"/>
            <a:ext cx="1920240" cy="640080"/>
          </a:xfrm>
          <a:prstGeom prst="roundRect">
            <a:avLst>
              <a:gd name="adj" fmla="val 17143"/>
            </a:avLst>
          </a:prstGeom>
          <a:solidFill>
            <a:srgbClr val="D9534F"/>
          </a:solidFill>
          <a:ln/>
        </p:spPr>
      </p:sp>
      <p:sp>
        <p:nvSpPr>
          <p:cNvPr id="5" name="Text 3"/>
          <p:cNvSpPr txBox="1"/>
          <p:nvPr/>
        </p:nvSpPr>
        <p:spPr>
          <a:xfrm>
            <a:off x="9966960" y="137160"/>
            <a:ext cx="1920240" cy="64008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4 Min.</a:t>
            </a:r>
            <a:endParaRPr lang="en-US" sz="2700" dirty="0"/>
          </a:p>
        </p:txBody>
      </p:sp>
      <p:sp>
        <p:nvSpPr>
          <p:cNvPr id="6" name="Text 4"/>
          <p:cNvSpPr txBox="1"/>
          <p:nvPr/>
        </p:nvSpPr>
        <p:spPr>
          <a:xfrm>
            <a:off x="548640" y="1371600"/>
            <a:ext cx="11064240" cy="4114800"/>
          </a:xfrm>
          <a:prstGeom prst="rect">
            <a:avLst/>
          </a:prstGeom>
          <a:noFill/>
          <a:ln/>
        </p:spPr>
        <p:txBody>
          <a:bodyPr wrap="square" lIns="0" tIns="0" rIns="0" bIns="0" rtlCol="0" anchor="t"/>
          <a:lstStyle/>
          <a:p>
            <a:pPr indent="0" marL="0">
              <a:buNone/>
            </a:pPr>
            <a:r>
              <a:rPr lang="en-US" sz="2700" b="1" dirty="0">
                <a:solidFill>
                  <a:srgbClr val="1E2761"/>
                </a:solidFill>
                <a:latin typeface="Calibri" pitchFamily="34" charset="0"/>
                <a:ea typeface="Calibri" pitchFamily="34" charset="-122"/>
                <a:cs typeface="Calibri" pitchFamily="34" charset="-120"/>
              </a:rPr>
              <a:t>Korrigiere auf deinem Schnipsel die Nachrichten 2 bis 6.</a:t>
            </a:r>
            <a:endParaRPr lang="en-US" sz="2700" dirty="0"/>
          </a:p>
          <a:p>
            <a:pPr indent="0" marL="0">
              <a:buNone/>
            </a:pPr>
            <a:r>
              <a:rPr lang="en-US" sz="1200" dirty="0">
                <a:solidFill>
                  <a:srgbClr val="1E2761"/>
                </a:solidFill>
                <a:latin typeface="Calibri" pitchFamily="34" charset="0"/>
                <a:ea typeface="Calibri" pitchFamily="34" charset="-122"/>
                <a:cs typeface="Calibri" pitchFamily="34" charset="-120"/>
              </a:rPr>
              <a:t> </a:t>
            </a:r>
            <a:endParaRPr lang="en-US" sz="2700" dirty="0"/>
          </a:p>
          <a:p>
            <a:pPr indent="0" marL="0">
              <a:buNone/>
            </a:pPr>
            <a:r>
              <a:rPr lang="en-US" sz="2700" dirty="0">
                <a:solidFill>
                  <a:srgbClr val="1E2761"/>
                </a:solidFill>
                <a:latin typeface="Calibri" pitchFamily="34" charset="0"/>
                <a:ea typeface="Calibri" pitchFamily="34" charset="-122"/>
                <a:cs typeface="Calibri" pitchFamily="34" charset="-120"/>
              </a:rPr>
              <a:t>Es sind 14 Fehler:  9 × Großschreibung,  5 × Komma.</a:t>
            </a:r>
            <a:endParaRPr lang="en-US" sz="2700" dirty="0"/>
          </a:p>
          <a:p>
            <a:pPr indent="0" marL="0">
              <a:buNone/>
            </a:pPr>
            <a:r>
              <a:rPr lang="en-US" sz="1200" dirty="0">
                <a:solidFill>
                  <a:srgbClr val="1E2761"/>
                </a:solidFill>
                <a:latin typeface="Calibri" pitchFamily="34" charset="0"/>
                <a:ea typeface="Calibri" pitchFamily="34" charset="-122"/>
                <a:cs typeface="Calibri" pitchFamily="34" charset="-120"/>
              </a:rPr>
              <a:t> </a:t>
            </a:r>
            <a:endParaRPr lang="en-US" sz="2700" dirty="0"/>
          </a:p>
          <a:p>
            <a:pPr indent="0" marL="0">
              <a:buNone/>
            </a:pPr>
            <a:r>
              <a:rPr lang="en-US" sz="2700" i="1" dirty="0">
                <a:solidFill>
                  <a:srgbClr val="5B6B8C"/>
                </a:solidFill>
                <a:latin typeface="Calibri" pitchFamily="34" charset="0"/>
                <a:ea typeface="Calibri" pitchFamily="34" charset="-122"/>
                <a:cs typeface="Calibri" pitchFamily="34" charset="-120"/>
              </a:rPr>
              <a:t>Fertig? Zähle, wie viele du gefunden hast – und prüfe noch einmal mit den Regeln.</a:t>
            </a:r>
            <a:endParaRPr lang="en-US" sz="2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CE5DD"/>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075E54"/>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Lösung: Nachrichten 2 bis 3</a:t>
            </a:r>
            <a:endParaRPr lang="en-US" sz="3000" dirty="0"/>
          </a:p>
        </p:txBody>
      </p:sp>
      <p:sp>
        <p:nvSpPr>
          <p:cNvPr id="4" name="Shape 2"/>
          <p:cNvSpPr/>
          <p:nvPr/>
        </p:nvSpPr>
        <p:spPr>
          <a:xfrm>
            <a:off x="2956255" y="1143000"/>
            <a:ext cx="8778240" cy="2057400"/>
          </a:xfrm>
          <a:prstGeom prst="roundRect">
            <a:avLst>
              <a:gd name="adj" fmla="val 5333"/>
            </a:avLst>
          </a:prstGeom>
          <a:solidFill>
            <a:srgbClr val="DCF8C6"/>
          </a:solidFill>
          <a:ln/>
        </p:spPr>
      </p:sp>
      <p:sp>
        <p:nvSpPr>
          <p:cNvPr id="5" name="Text 3"/>
          <p:cNvSpPr txBox="1"/>
          <p:nvPr/>
        </p:nvSpPr>
        <p:spPr>
          <a:xfrm>
            <a:off x="3184855" y="1216152"/>
            <a:ext cx="7589520" cy="1911096"/>
          </a:xfrm>
          <a:prstGeom prst="rect">
            <a:avLst/>
          </a:prstGeom>
          <a:noFill/>
          <a:ln/>
        </p:spPr>
        <p:txBody>
          <a:bodyPr wrap="square" lIns="0" tIns="0" rIns="0" bIns="0" rtlCol="0" anchor="ctr"/>
          <a:lstStyle/>
          <a:p>
            <a:pPr indent="0" marL="0">
              <a:buNone/>
            </a:pPr>
            <a:r>
              <a:rPr lang="en-US" sz="2700" dirty="0">
                <a:solidFill>
                  <a:srgbClr val="111111"/>
                </a:solidFill>
                <a:latin typeface="Calibri" pitchFamily="34" charset="0"/>
                <a:ea typeface="Calibri" pitchFamily="34" charset="-122"/>
                <a:cs typeface="Calibri" pitchFamily="34" charset="-120"/>
              </a:rPr>
              <a:t>Ja,</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aber</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Kafka</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hatte</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auch</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b="1" u="sng" dirty="0">
                <a:solidFill>
                  <a:srgbClr val="D9534F"/>
                </a:solidFill>
                <a:latin typeface="Calibri" pitchFamily="34" charset="0"/>
                <a:ea typeface="Calibri" pitchFamily="34" charset="-122"/>
                <a:cs typeface="Calibri" pitchFamily="34" charset="-120"/>
              </a:rPr>
              <a:t>Angst</a:t>
            </a:r>
            <a:pPr indent="0" marL="0">
              <a:buNone/>
            </a:pPr>
            <a:r>
              <a:rPr lang="en-US" sz="2700" dirty="0">
                <a:solidFill>
                  <a:srgbClr val="111111"/>
                </a:solidFill>
                <a:latin typeface="Calibri" pitchFamily="34" charset="0"/>
                <a:ea typeface="Calibri" pitchFamily="34" charset="-122"/>
                <a:cs typeface="Calibri" pitchFamily="34" charset="-120"/>
              </a:rPr>
              <a:t>.</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Er</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schreibt</a:t>
            </a:r>
            <a:pPr indent="0" marL="0">
              <a:buNone/>
            </a:pPr>
            <a:r>
              <a:rPr lang="en-US" sz="2700" b="1" u="sng" dirty="0">
                <a:solidFill>
                  <a:srgbClr val="D9534F"/>
                </a:solidFill>
                <a:latin typeface="Calibri" pitchFamily="34" charset="0"/>
                <a:ea typeface="Calibri" pitchFamily="34" charset="-122"/>
                <a:cs typeface="Calibri" pitchFamily="34" charset="-120"/>
              </a:rPr>
              <a:t>,</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dass</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er</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als</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b="1" u="sng" dirty="0">
                <a:solidFill>
                  <a:srgbClr val="D9534F"/>
                </a:solidFill>
                <a:latin typeface="Calibri" pitchFamily="34" charset="0"/>
                <a:ea typeface="Calibri" pitchFamily="34" charset="-122"/>
                <a:cs typeface="Calibri" pitchFamily="34" charset="-120"/>
              </a:rPr>
              <a:t>Kind</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nur</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ein</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freundliches</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b="1" u="sng" dirty="0">
                <a:solidFill>
                  <a:srgbClr val="D9534F"/>
                </a:solidFill>
                <a:latin typeface="Calibri" pitchFamily="34" charset="0"/>
                <a:ea typeface="Calibri" pitchFamily="34" charset="-122"/>
                <a:cs typeface="Calibri" pitchFamily="34" charset="-120"/>
              </a:rPr>
              <a:t>Wort</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gebraucht</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hätte</a:t>
            </a:r>
            <a:pPr indent="0" marL="0">
              <a:buNone/>
            </a:pPr>
            <a:r>
              <a:rPr lang="en-US" sz="2700" dirty="0">
                <a:solidFill>
                  <a:srgbClr val="111111"/>
                </a:solidFill>
                <a:latin typeface="Calibri" pitchFamily="34" charset="0"/>
                <a:ea typeface="Calibri" pitchFamily="34" charset="-122"/>
                <a:cs typeface="Calibri" pitchFamily="34" charset="-120"/>
              </a:rPr>
              <a:t>.</a:t>
            </a:r>
            <a:pPr indent="0" marL="0">
              <a:buNone/>
            </a:pPr>
            <a:endParaRPr lang="en-US" sz="2700" dirty="0"/>
          </a:p>
        </p:txBody>
      </p:sp>
      <p:sp>
        <p:nvSpPr>
          <p:cNvPr id="6" name="Text 4"/>
          <p:cNvSpPr txBox="1"/>
          <p:nvPr/>
        </p:nvSpPr>
        <p:spPr>
          <a:xfrm>
            <a:off x="10774375" y="2743200"/>
            <a:ext cx="822960" cy="384048"/>
          </a:xfrm>
          <a:prstGeom prst="rect">
            <a:avLst/>
          </a:prstGeom>
          <a:noFill/>
          <a:ln/>
        </p:spPr>
        <p:txBody>
          <a:bodyPr wrap="square" lIns="0" tIns="0" rIns="0" bIns="0" rtlCol="0" anchor="t"/>
          <a:lstStyle/>
          <a:p>
            <a:pPr algn="r" indent="0" marL="0">
              <a:buNone/>
            </a:pPr>
            <a:r>
              <a:rPr lang="en-US" sz="1800" dirty="0">
                <a:solidFill>
                  <a:srgbClr val="8A8A8A"/>
                </a:solidFill>
                <a:latin typeface="Calibri" pitchFamily="34" charset="0"/>
                <a:ea typeface="Calibri" pitchFamily="34" charset="-122"/>
                <a:cs typeface="Calibri" pitchFamily="34" charset="-120"/>
              </a:rPr>
              <a:t>18:43</a:t>
            </a:r>
            <a:endParaRPr lang="en-US" sz="1800" dirty="0"/>
          </a:p>
        </p:txBody>
      </p:sp>
      <p:sp>
        <p:nvSpPr>
          <p:cNvPr id="7" name="Shape 5"/>
          <p:cNvSpPr/>
          <p:nvPr/>
        </p:nvSpPr>
        <p:spPr>
          <a:xfrm>
            <a:off x="457200" y="3429000"/>
            <a:ext cx="8778240" cy="2057400"/>
          </a:xfrm>
          <a:prstGeom prst="roundRect">
            <a:avLst>
              <a:gd name="adj" fmla="val 5333"/>
            </a:avLst>
          </a:prstGeom>
          <a:solidFill>
            <a:srgbClr val="FFFFFF"/>
          </a:solidFill>
          <a:ln/>
        </p:spPr>
      </p:sp>
      <p:sp>
        <p:nvSpPr>
          <p:cNvPr id="8" name="Text 6"/>
          <p:cNvSpPr txBox="1"/>
          <p:nvPr/>
        </p:nvSpPr>
        <p:spPr>
          <a:xfrm>
            <a:off x="685800" y="3502152"/>
            <a:ext cx="7589520" cy="1911096"/>
          </a:xfrm>
          <a:prstGeom prst="rect">
            <a:avLst/>
          </a:prstGeom>
          <a:noFill/>
          <a:ln/>
        </p:spPr>
        <p:txBody>
          <a:bodyPr wrap="square" lIns="0" tIns="0" rIns="0" bIns="0" rtlCol="0" anchor="ctr"/>
          <a:lstStyle/>
          <a:p>
            <a:pPr indent="0" marL="0">
              <a:buNone/>
            </a:pPr>
            <a:r>
              <a:rPr lang="en-US" sz="2700" b="1" dirty="0">
                <a:solidFill>
                  <a:srgbClr val="2E9E6B"/>
                </a:solidFill>
                <a:latin typeface="Calibri" pitchFamily="34" charset="0"/>
                <a:ea typeface="Calibri" pitchFamily="34" charset="-122"/>
                <a:cs typeface="Calibri" pitchFamily="34" charset="-120"/>
              </a:rPr>
              <a:t>Mia</a:t>
            </a:r>
            <a:endParaRPr lang="en-US" sz="2700" dirty="0"/>
          </a:p>
          <a:p>
            <a:pPr indent="0" marL="0">
              <a:buNone/>
            </a:pPr>
            <a:r>
              <a:rPr lang="en-US" sz="2700" dirty="0">
                <a:solidFill>
                  <a:srgbClr val="111111"/>
                </a:solidFill>
                <a:latin typeface="Calibri" pitchFamily="34" charset="0"/>
                <a:ea typeface="Calibri" pitchFamily="34" charset="-122"/>
                <a:cs typeface="Calibri" pitchFamily="34" charset="-120"/>
              </a:rPr>
              <a:t>Das</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finde</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ich</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traurig</a:t>
            </a:r>
            <a:pPr indent="0" marL="0">
              <a:buNone/>
            </a:pPr>
            <a:r>
              <a:rPr lang="en-US" sz="2700" dirty="0">
                <a:solidFill>
                  <a:srgbClr val="111111"/>
                </a:solidFill>
                <a:latin typeface="Calibri" pitchFamily="34" charset="0"/>
                <a:ea typeface="Calibri" pitchFamily="34" charset="-122"/>
                <a:cs typeface="Calibri" pitchFamily="34" charset="-120"/>
              </a:rPr>
              <a:t>.</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Ich</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wünsche</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mir</a:t>
            </a:r>
            <a:pPr indent="0" marL="0">
              <a:buNone/>
            </a:pPr>
            <a:r>
              <a:rPr lang="en-US" sz="2700" b="1" u="sng" dirty="0">
                <a:solidFill>
                  <a:srgbClr val="D9534F"/>
                </a:solidFill>
                <a:latin typeface="Calibri" pitchFamily="34" charset="0"/>
                <a:ea typeface="Calibri" pitchFamily="34" charset="-122"/>
                <a:cs typeface="Calibri" pitchFamily="34" charset="-120"/>
              </a:rPr>
              <a:t>,</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dass</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mein</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b="1" u="sng" dirty="0">
                <a:solidFill>
                  <a:srgbClr val="D9534F"/>
                </a:solidFill>
                <a:latin typeface="Calibri" pitchFamily="34" charset="0"/>
                <a:ea typeface="Calibri" pitchFamily="34" charset="-122"/>
                <a:cs typeface="Calibri" pitchFamily="34" charset="-120"/>
              </a:rPr>
              <a:t>Vater</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beim</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b="1" u="sng" dirty="0">
                <a:solidFill>
                  <a:srgbClr val="D9534F"/>
                </a:solidFill>
                <a:latin typeface="Calibri" pitchFamily="34" charset="0"/>
                <a:ea typeface="Calibri" pitchFamily="34" charset="-122"/>
                <a:cs typeface="Calibri" pitchFamily="34" charset="-120"/>
              </a:rPr>
              <a:t>Zuhören</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auch</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mal</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das</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b="1" u="sng" dirty="0">
                <a:solidFill>
                  <a:srgbClr val="D9534F"/>
                </a:solidFill>
                <a:latin typeface="Calibri" pitchFamily="34" charset="0"/>
                <a:ea typeface="Calibri" pitchFamily="34" charset="-122"/>
                <a:cs typeface="Calibri" pitchFamily="34" charset="-120"/>
              </a:rPr>
              <a:t>Handy</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weglegt</a:t>
            </a:r>
            <a:pPr indent="0" marL="0">
              <a:buNone/>
            </a:pPr>
            <a:r>
              <a:rPr lang="en-US" sz="2700" dirty="0">
                <a:solidFill>
                  <a:srgbClr val="111111"/>
                </a:solidFill>
                <a:latin typeface="Calibri" pitchFamily="34" charset="0"/>
                <a:ea typeface="Calibri" pitchFamily="34" charset="-122"/>
                <a:cs typeface="Calibri" pitchFamily="34" charset="-120"/>
              </a:rPr>
              <a:t>.</a:t>
            </a:r>
            <a:pPr indent="0" marL="0">
              <a:buNone/>
            </a:pPr>
            <a:endParaRPr lang="en-US" sz="2700" dirty="0"/>
          </a:p>
        </p:txBody>
      </p:sp>
      <p:sp>
        <p:nvSpPr>
          <p:cNvPr id="9" name="Text 7"/>
          <p:cNvSpPr txBox="1"/>
          <p:nvPr/>
        </p:nvSpPr>
        <p:spPr>
          <a:xfrm>
            <a:off x="8275320" y="5029200"/>
            <a:ext cx="822960" cy="384048"/>
          </a:xfrm>
          <a:prstGeom prst="rect">
            <a:avLst/>
          </a:prstGeom>
          <a:noFill/>
          <a:ln/>
        </p:spPr>
        <p:txBody>
          <a:bodyPr wrap="square" lIns="0" tIns="0" rIns="0" bIns="0" rtlCol="0" anchor="t"/>
          <a:lstStyle/>
          <a:p>
            <a:pPr algn="r" indent="0" marL="0">
              <a:buNone/>
            </a:pPr>
            <a:r>
              <a:rPr lang="en-US" sz="1800" dirty="0">
                <a:solidFill>
                  <a:srgbClr val="8A8A8A"/>
                </a:solidFill>
                <a:latin typeface="Calibri" pitchFamily="34" charset="0"/>
                <a:ea typeface="Calibri" pitchFamily="34" charset="-122"/>
                <a:cs typeface="Calibri" pitchFamily="34" charset="-120"/>
              </a:rPr>
              <a:t>18:44</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CE5DD"/>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075E54"/>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Lösung: Nachrichten 4 bis 6</a:t>
            </a:r>
            <a:endParaRPr lang="en-US" sz="3000" dirty="0"/>
          </a:p>
        </p:txBody>
      </p:sp>
      <p:sp>
        <p:nvSpPr>
          <p:cNvPr id="4" name="Shape 2"/>
          <p:cNvSpPr/>
          <p:nvPr/>
        </p:nvSpPr>
        <p:spPr>
          <a:xfrm>
            <a:off x="2956255" y="1143000"/>
            <a:ext cx="8778240" cy="1325880"/>
          </a:xfrm>
          <a:prstGeom prst="roundRect">
            <a:avLst>
              <a:gd name="adj" fmla="val 8276"/>
            </a:avLst>
          </a:prstGeom>
          <a:solidFill>
            <a:srgbClr val="DCF8C6"/>
          </a:solidFill>
          <a:ln/>
        </p:spPr>
      </p:sp>
      <p:sp>
        <p:nvSpPr>
          <p:cNvPr id="5" name="Text 3"/>
          <p:cNvSpPr txBox="1"/>
          <p:nvPr/>
        </p:nvSpPr>
        <p:spPr>
          <a:xfrm>
            <a:off x="3184855" y="1216152"/>
            <a:ext cx="7589520" cy="1179576"/>
          </a:xfrm>
          <a:prstGeom prst="rect">
            <a:avLst/>
          </a:prstGeom>
          <a:noFill/>
          <a:ln/>
        </p:spPr>
        <p:txBody>
          <a:bodyPr wrap="square" lIns="0" tIns="0" rIns="0" bIns="0" rtlCol="0" anchor="ctr"/>
          <a:lstStyle/>
          <a:p>
            <a:pPr indent="0" marL="0">
              <a:buNone/>
            </a:pPr>
            <a:r>
              <a:rPr lang="en-US" sz="2700" dirty="0">
                <a:solidFill>
                  <a:srgbClr val="111111"/>
                </a:solidFill>
                <a:latin typeface="Calibri" pitchFamily="34" charset="0"/>
                <a:ea typeface="Calibri" pitchFamily="34" charset="-122"/>
                <a:cs typeface="Calibri" pitchFamily="34" charset="-120"/>
              </a:rPr>
              <a:t>Haha,</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same</a:t>
            </a:r>
            <a:pPr indent="0" marL="0">
              <a:buNone/>
            </a:pPr>
            <a:r>
              <a:rPr lang="en-US" sz="2700" dirty="0">
                <a:solidFill>
                  <a:srgbClr val="111111"/>
                </a:solidFill>
                <a:latin typeface="Calibri" pitchFamily="34" charset="0"/>
                <a:ea typeface="Calibri" pitchFamily="34" charset="-122"/>
                <a:cs typeface="Calibri" pitchFamily="34" charset="-120"/>
              </a:rPr>
              <a:t>.</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Wenn</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ich</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was</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erzähle</a:t>
            </a:r>
            <a:pPr indent="0" marL="0">
              <a:buNone/>
            </a:pPr>
            <a:r>
              <a:rPr lang="en-US" sz="2700" b="1" u="sng" dirty="0">
                <a:solidFill>
                  <a:srgbClr val="D9534F"/>
                </a:solidFill>
                <a:latin typeface="Calibri" pitchFamily="34" charset="0"/>
                <a:ea typeface="Calibri" pitchFamily="34" charset="-122"/>
                <a:cs typeface="Calibri" pitchFamily="34" charset="-120"/>
              </a:rPr>
              <a:t>,</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schaut</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meiner</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nur</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auf</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den</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b="1" u="sng" dirty="0">
                <a:solidFill>
                  <a:srgbClr val="D9534F"/>
                </a:solidFill>
                <a:latin typeface="Calibri" pitchFamily="34" charset="0"/>
                <a:ea typeface="Calibri" pitchFamily="34" charset="-122"/>
                <a:cs typeface="Calibri" pitchFamily="34" charset="-120"/>
              </a:rPr>
              <a:t>Fernseher</a:t>
            </a:r>
            <a:pPr indent="0" marL="0">
              <a:buNone/>
            </a:pPr>
            <a:r>
              <a:rPr lang="en-US" sz="2700" dirty="0">
                <a:solidFill>
                  <a:srgbClr val="111111"/>
                </a:solidFill>
                <a:latin typeface="Calibri" pitchFamily="34" charset="0"/>
                <a:ea typeface="Calibri" pitchFamily="34" charset="-122"/>
                <a:cs typeface="Calibri" pitchFamily="34" charset="-120"/>
              </a:rPr>
              <a:t>.</a:t>
            </a:r>
            <a:pPr indent="0" marL="0">
              <a:buNone/>
            </a:pPr>
            <a:endParaRPr lang="en-US" sz="2700" dirty="0"/>
          </a:p>
        </p:txBody>
      </p:sp>
      <p:sp>
        <p:nvSpPr>
          <p:cNvPr id="6" name="Text 4"/>
          <p:cNvSpPr txBox="1"/>
          <p:nvPr/>
        </p:nvSpPr>
        <p:spPr>
          <a:xfrm>
            <a:off x="10774375" y="2011680"/>
            <a:ext cx="822960" cy="384048"/>
          </a:xfrm>
          <a:prstGeom prst="rect">
            <a:avLst/>
          </a:prstGeom>
          <a:noFill/>
          <a:ln/>
        </p:spPr>
        <p:txBody>
          <a:bodyPr wrap="square" lIns="0" tIns="0" rIns="0" bIns="0" rtlCol="0" anchor="t"/>
          <a:lstStyle/>
          <a:p>
            <a:pPr algn="r" indent="0" marL="0">
              <a:buNone/>
            </a:pPr>
            <a:r>
              <a:rPr lang="en-US" sz="1800" dirty="0">
                <a:solidFill>
                  <a:srgbClr val="8A8A8A"/>
                </a:solidFill>
                <a:latin typeface="Calibri" pitchFamily="34" charset="0"/>
                <a:ea typeface="Calibri" pitchFamily="34" charset="-122"/>
                <a:cs typeface="Calibri" pitchFamily="34" charset="-120"/>
              </a:rPr>
              <a:t>18:46</a:t>
            </a:r>
            <a:endParaRPr lang="en-US" sz="1800" dirty="0"/>
          </a:p>
        </p:txBody>
      </p:sp>
      <p:sp>
        <p:nvSpPr>
          <p:cNvPr id="7" name="Shape 5"/>
          <p:cNvSpPr/>
          <p:nvPr/>
        </p:nvSpPr>
        <p:spPr>
          <a:xfrm>
            <a:off x="457200" y="2697480"/>
            <a:ext cx="8778240" cy="1325880"/>
          </a:xfrm>
          <a:prstGeom prst="roundRect">
            <a:avLst>
              <a:gd name="adj" fmla="val 8276"/>
            </a:avLst>
          </a:prstGeom>
          <a:solidFill>
            <a:srgbClr val="FFFFFF"/>
          </a:solidFill>
          <a:ln/>
        </p:spPr>
      </p:sp>
      <p:sp>
        <p:nvSpPr>
          <p:cNvPr id="8" name="Text 6"/>
          <p:cNvSpPr txBox="1"/>
          <p:nvPr/>
        </p:nvSpPr>
        <p:spPr>
          <a:xfrm>
            <a:off x="685800" y="2770632"/>
            <a:ext cx="7589520" cy="1179576"/>
          </a:xfrm>
          <a:prstGeom prst="rect">
            <a:avLst/>
          </a:prstGeom>
          <a:noFill/>
          <a:ln/>
        </p:spPr>
        <p:txBody>
          <a:bodyPr wrap="square" lIns="0" tIns="0" rIns="0" bIns="0" rtlCol="0" anchor="ctr"/>
          <a:lstStyle/>
          <a:p>
            <a:pPr indent="0" marL="0">
              <a:buNone/>
            </a:pPr>
            <a:r>
              <a:rPr lang="en-US" sz="2700" b="1" dirty="0">
                <a:solidFill>
                  <a:srgbClr val="2E9E6B"/>
                </a:solidFill>
                <a:latin typeface="Calibri" pitchFamily="34" charset="0"/>
                <a:ea typeface="Calibri" pitchFamily="34" charset="-122"/>
                <a:cs typeface="Calibri" pitchFamily="34" charset="-120"/>
              </a:rPr>
              <a:t>Mia</a:t>
            </a:r>
            <a:endParaRPr lang="en-US" sz="2700" dirty="0"/>
          </a:p>
          <a:p>
            <a:pPr indent="0" marL="0">
              <a:buNone/>
            </a:pPr>
            <a:r>
              <a:rPr lang="en-US" sz="2700" dirty="0">
                <a:solidFill>
                  <a:srgbClr val="111111"/>
                </a:solidFill>
                <a:latin typeface="Calibri" pitchFamily="34" charset="0"/>
                <a:ea typeface="Calibri" pitchFamily="34" charset="-122"/>
                <a:cs typeface="Calibri" pitchFamily="34" charset="-120"/>
              </a:rPr>
              <a:t>Weißt</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du</a:t>
            </a:r>
            <a:pPr indent="0" marL="0">
              <a:buNone/>
            </a:pPr>
            <a:r>
              <a:rPr lang="en-US" sz="2700" b="1" u="sng" dirty="0">
                <a:solidFill>
                  <a:srgbClr val="D9534F"/>
                </a:solidFill>
                <a:latin typeface="Calibri" pitchFamily="34" charset="0"/>
                <a:ea typeface="Calibri" pitchFamily="34" charset="-122"/>
                <a:cs typeface="Calibri" pitchFamily="34" charset="-120"/>
              </a:rPr>
              <a:t>,</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ob</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wir</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morgen</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die</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b="1" u="sng" dirty="0">
                <a:solidFill>
                  <a:srgbClr val="D9534F"/>
                </a:solidFill>
                <a:latin typeface="Calibri" pitchFamily="34" charset="0"/>
                <a:ea typeface="Calibri" pitchFamily="34" charset="-122"/>
                <a:cs typeface="Calibri" pitchFamily="34" charset="-120"/>
              </a:rPr>
              <a:t>Rede</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halten</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müssen</a:t>
            </a:r>
            <a:pPr indent="0" marL="0">
              <a:buNone/>
            </a:pPr>
            <a:r>
              <a:rPr lang="en-US" sz="2700" dirty="0">
                <a:solidFill>
                  <a:srgbClr val="111111"/>
                </a:solidFill>
                <a:latin typeface="Calibri" pitchFamily="34" charset="0"/>
                <a:ea typeface="Calibri" pitchFamily="34" charset="-122"/>
                <a:cs typeface="Calibri" pitchFamily="34" charset="-120"/>
              </a:rPr>
              <a:t>?</a:t>
            </a:r>
            <a:pPr indent="0" marL="0">
              <a:buNone/>
            </a:pPr>
            <a:endParaRPr lang="en-US" sz="2700" dirty="0"/>
          </a:p>
        </p:txBody>
      </p:sp>
      <p:sp>
        <p:nvSpPr>
          <p:cNvPr id="9" name="Text 7"/>
          <p:cNvSpPr txBox="1"/>
          <p:nvPr/>
        </p:nvSpPr>
        <p:spPr>
          <a:xfrm>
            <a:off x="8275320" y="3566160"/>
            <a:ext cx="822960" cy="384048"/>
          </a:xfrm>
          <a:prstGeom prst="rect">
            <a:avLst/>
          </a:prstGeom>
          <a:noFill/>
          <a:ln/>
        </p:spPr>
        <p:txBody>
          <a:bodyPr wrap="square" lIns="0" tIns="0" rIns="0" bIns="0" rtlCol="0" anchor="t"/>
          <a:lstStyle/>
          <a:p>
            <a:pPr algn="r" indent="0" marL="0">
              <a:buNone/>
            </a:pPr>
            <a:r>
              <a:rPr lang="en-US" sz="1800" dirty="0">
                <a:solidFill>
                  <a:srgbClr val="8A8A8A"/>
                </a:solidFill>
                <a:latin typeface="Calibri" pitchFamily="34" charset="0"/>
                <a:ea typeface="Calibri" pitchFamily="34" charset="-122"/>
                <a:cs typeface="Calibri" pitchFamily="34" charset="-120"/>
              </a:rPr>
              <a:t>18:47</a:t>
            </a:r>
            <a:endParaRPr lang="en-US" sz="1800" dirty="0"/>
          </a:p>
        </p:txBody>
      </p:sp>
      <p:sp>
        <p:nvSpPr>
          <p:cNvPr id="10" name="Shape 8"/>
          <p:cNvSpPr/>
          <p:nvPr/>
        </p:nvSpPr>
        <p:spPr>
          <a:xfrm>
            <a:off x="2956255" y="4251960"/>
            <a:ext cx="8778240" cy="1325880"/>
          </a:xfrm>
          <a:prstGeom prst="roundRect">
            <a:avLst>
              <a:gd name="adj" fmla="val 8276"/>
            </a:avLst>
          </a:prstGeom>
          <a:solidFill>
            <a:srgbClr val="DCF8C6"/>
          </a:solidFill>
          <a:ln/>
        </p:spPr>
      </p:sp>
      <p:sp>
        <p:nvSpPr>
          <p:cNvPr id="11" name="Text 9"/>
          <p:cNvSpPr txBox="1"/>
          <p:nvPr/>
        </p:nvSpPr>
        <p:spPr>
          <a:xfrm>
            <a:off x="3184855" y="4325112"/>
            <a:ext cx="7589520" cy="1179576"/>
          </a:xfrm>
          <a:prstGeom prst="rect">
            <a:avLst/>
          </a:prstGeom>
          <a:noFill/>
          <a:ln/>
        </p:spPr>
        <p:txBody>
          <a:bodyPr wrap="square" lIns="0" tIns="0" rIns="0" bIns="0" rtlCol="0" anchor="ctr"/>
          <a:lstStyle/>
          <a:p>
            <a:pPr indent="0" marL="0">
              <a:buNone/>
            </a:pPr>
            <a:r>
              <a:rPr lang="en-US" sz="2700" dirty="0">
                <a:solidFill>
                  <a:srgbClr val="111111"/>
                </a:solidFill>
                <a:latin typeface="Calibri" pitchFamily="34" charset="0"/>
                <a:ea typeface="Calibri" pitchFamily="34" charset="-122"/>
                <a:cs typeface="Calibri" pitchFamily="34" charset="-120"/>
              </a:rPr>
              <a:t>Keine</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b="1" u="sng" dirty="0">
                <a:solidFill>
                  <a:srgbClr val="D9534F"/>
                </a:solidFill>
                <a:latin typeface="Calibri" pitchFamily="34" charset="0"/>
                <a:ea typeface="Calibri" pitchFamily="34" charset="-122"/>
                <a:cs typeface="Calibri" pitchFamily="34" charset="-120"/>
              </a:rPr>
              <a:t>Ahnung</a:t>
            </a:r>
            <a:pPr indent="0" marL="0">
              <a:buNone/>
            </a:pPr>
            <a:r>
              <a:rPr lang="en-US" sz="2700" dirty="0">
                <a:solidFill>
                  <a:srgbClr val="111111"/>
                </a:solidFill>
                <a:latin typeface="Calibri" pitchFamily="34" charset="0"/>
                <a:ea typeface="Calibri" pitchFamily="34" charset="-122"/>
                <a:cs typeface="Calibri" pitchFamily="34" charset="-120"/>
              </a:rPr>
              <a:t>.</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Ich</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hoffe</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nur</a:t>
            </a:r>
            <a:pPr indent="0" marL="0">
              <a:buNone/>
            </a:pPr>
            <a:r>
              <a:rPr lang="en-US" sz="2700" b="1" u="sng" dirty="0">
                <a:solidFill>
                  <a:srgbClr val="D9534F"/>
                </a:solidFill>
                <a:latin typeface="Calibri" pitchFamily="34" charset="0"/>
                <a:ea typeface="Calibri" pitchFamily="34" charset="-122"/>
                <a:cs typeface="Calibri" pitchFamily="34" charset="-120"/>
              </a:rPr>
              <a:t>,</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dass</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ich</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nicht</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zuerst</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dran</a:t>
            </a:r>
            <a:pPr indent="0" marL="0">
              <a:buNone/>
            </a:pPr>
            <a:r>
              <a:rPr lang="en-US" sz="2700" dirty="0">
                <a:solidFill>
                  <a:srgbClr val="111111"/>
                </a:solidFill>
                <a:latin typeface="Calibri" pitchFamily="34" charset="0"/>
                <a:ea typeface="Calibri" pitchFamily="34" charset="-122"/>
                <a:cs typeface="Calibri" pitchFamily="34" charset="-120"/>
              </a:rPr>
              <a:t> </a:t>
            </a:r>
            <a:pPr indent="0" marL="0">
              <a:buNone/>
            </a:pPr>
            <a:r>
              <a:rPr lang="en-US" sz="2700" dirty="0">
                <a:solidFill>
                  <a:srgbClr val="111111"/>
                </a:solidFill>
                <a:latin typeface="Calibri" pitchFamily="34" charset="0"/>
                <a:ea typeface="Calibri" pitchFamily="34" charset="-122"/>
                <a:cs typeface="Calibri" pitchFamily="34" charset="-120"/>
              </a:rPr>
              <a:t>bin</a:t>
            </a:r>
            <a:pPr indent="0" marL="0">
              <a:buNone/>
            </a:pPr>
            <a:r>
              <a:rPr lang="en-US" sz="2700" dirty="0">
                <a:solidFill>
                  <a:srgbClr val="111111"/>
                </a:solidFill>
                <a:latin typeface="Calibri" pitchFamily="34" charset="0"/>
                <a:ea typeface="Calibri" pitchFamily="34" charset="-122"/>
                <a:cs typeface="Calibri" pitchFamily="34" charset="-120"/>
              </a:rPr>
              <a:t>.</a:t>
            </a:r>
            <a:pPr indent="0" marL="0">
              <a:buNone/>
            </a:pPr>
            <a:endParaRPr lang="en-US" sz="2700" dirty="0"/>
          </a:p>
        </p:txBody>
      </p:sp>
      <p:sp>
        <p:nvSpPr>
          <p:cNvPr id="12" name="Text 10"/>
          <p:cNvSpPr txBox="1"/>
          <p:nvPr/>
        </p:nvSpPr>
        <p:spPr>
          <a:xfrm>
            <a:off x="10774375" y="5120640"/>
            <a:ext cx="822960" cy="384048"/>
          </a:xfrm>
          <a:prstGeom prst="rect">
            <a:avLst/>
          </a:prstGeom>
          <a:noFill/>
          <a:ln/>
        </p:spPr>
        <p:txBody>
          <a:bodyPr wrap="square" lIns="0" tIns="0" rIns="0" bIns="0" rtlCol="0" anchor="t"/>
          <a:lstStyle/>
          <a:p>
            <a:pPr algn="r" indent="0" marL="0">
              <a:buNone/>
            </a:pPr>
            <a:r>
              <a:rPr lang="en-US" sz="1800" dirty="0">
                <a:solidFill>
                  <a:srgbClr val="8A8A8A"/>
                </a:solidFill>
                <a:latin typeface="Calibri" pitchFamily="34" charset="0"/>
                <a:ea typeface="Calibri" pitchFamily="34" charset="-122"/>
                <a:cs typeface="Calibri" pitchFamily="34" charset="-120"/>
              </a:rPr>
              <a:t>18:47</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Worum bittet Kafka?</a:t>
            </a:r>
            <a:endParaRPr lang="en-US" sz="3000" dirty="0"/>
          </a:p>
        </p:txBody>
      </p:sp>
      <p:sp>
        <p:nvSpPr>
          <p:cNvPr id="4" name="Text 2"/>
          <p:cNvSpPr txBox="1"/>
          <p:nvPr/>
        </p:nvSpPr>
        <p:spPr>
          <a:xfrm>
            <a:off x="457200" y="1051560"/>
            <a:ext cx="11247120" cy="5257800"/>
          </a:xfrm>
          <a:prstGeom prst="rect">
            <a:avLst/>
          </a:prstGeom>
          <a:noFill/>
          <a:ln/>
        </p:spPr>
        <p:txBody>
          <a:bodyPr wrap="square" lIns="0" tIns="0" rIns="0" bIns="0" rtlCol="0" anchor="t"/>
          <a:lstStyle/>
          <a:p>
            <a:pPr indent="0" marL="0">
              <a:lnSpc>
                <a:spcPct val="100000"/>
              </a:lnSpc>
              <a:buNone/>
            </a:pPr>
            <a:r>
              <a:rPr lang="en-US" sz="2700" dirty="0">
                <a:solidFill>
                  <a:srgbClr val="1E2761"/>
                </a:solidFill>
                <a:latin typeface="Cambria" pitchFamily="34" charset="0"/>
                <a:ea typeface="Cambria" pitchFamily="34" charset="-122"/>
                <a:cs typeface="Cambria" pitchFamily="34" charset="-120"/>
              </a:rPr>
              <a:t>Wobei ich Dich aber immerfort bitte, nicht zu vergessen, daß ich niemals im entferntesten an eine Schuld Deinerseits glaube. Du wirktest so auf mich, wie Du wirken mußtest, nur sollst Du aufhören, es für eine besondere Bosheit meinerseits zu halten, daß ich dieser Wirkung erlegen bin. Ich war ein ängstliches Kind; trotzdem war ich gewiß auch störrisch, wie Kinder sind; gewiß verwöhnte mich die Mutter auch, aber ich kann nicht glauben, daß ich besonders schwer lenkbar war, ich kann nicht glauben, daß ein freundliches Wort, ein stilles Bei-der-Hand-Nehmen, ein guter Blick mir nicht alles hätten abfordern können, was man wollte.</a:t>
            </a:r>
            <a:endParaRPr lang="en-US" sz="2700" dirty="0"/>
          </a:p>
        </p:txBody>
      </p:sp>
      <p:sp>
        <p:nvSpPr>
          <p:cNvPr id="5" name="Text 3"/>
          <p:cNvSpPr txBox="1"/>
          <p:nvPr/>
        </p:nvSpPr>
        <p:spPr>
          <a:xfrm>
            <a:off x="457200" y="6355080"/>
            <a:ext cx="11247120" cy="411480"/>
          </a:xfrm>
          <a:prstGeom prst="rect">
            <a:avLst/>
          </a:prstGeom>
          <a:noFill/>
          <a:ln/>
        </p:spPr>
        <p:txBody>
          <a:bodyPr wrap="square" lIns="0" tIns="0" rIns="0" bIns="0" rtlCol="0" anchor="t"/>
          <a:lstStyle/>
          <a:p>
            <a:pPr algn="r" indent="0" marL="0">
              <a:buNone/>
            </a:pPr>
            <a:r>
              <a:rPr lang="en-US" sz="2700" dirty="0">
                <a:solidFill>
                  <a:srgbClr val="5B6B8C"/>
                </a:solidFill>
                <a:latin typeface="Calibri" pitchFamily="34" charset="0"/>
                <a:ea typeface="Calibri" pitchFamily="34" charset="-122"/>
                <a:cs typeface="Calibri" pitchFamily="34" charset="-120"/>
              </a:rPr>
              <a:t>Franz Kafka: „Brief an den Vater“ (1919), S. 3</a:t>
            </a:r>
            <a:endParaRPr lang="en-US" sz="2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Text 1"/>
          <p:cNvSpPr txBox="1"/>
          <p:nvPr/>
        </p:nvSpPr>
        <p:spPr>
          <a:xfrm>
            <a:off x="822960" y="1280160"/>
            <a:ext cx="10424160" cy="914400"/>
          </a:xfrm>
          <a:prstGeom prst="rect">
            <a:avLst/>
          </a:prstGeom>
          <a:noFill/>
          <a:ln/>
        </p:spPr>
        <p:txBody>
          <a:bodyPr wrap="square" lIns="0" tIns="0" rIns="0" bIns="0" rtlCol="0" anchor="t"/>
          <a:lstStyle/>
          <a:p>
            <a:pPr indent="0" marL="0">
              <a:buNone/>
            </a:pPr>
            <a:r>
              <a:rPr lang="en-US" sz="3200" i="1" dirty="0">
                <a:solidFill>
                  <a:srgbClr val="CADCFC"/>
                </a:solidFill>
                <a:latin typeface="Cambria" pitchFamily="34" charset="0"/>
                <a:ea typeface="Cambria" pitchFamily="34" charset="-122"/>
                <a:cs typeface="Cambria" pitchFamily="34" charset="-120"/>
              </a:rPr>
              <a:t>„Wobei ich Dich aber immerfort bitte …“</a:t>
            </a:r>
            <a:endParaRPr lang="en-US" sz="3200" dirty="0"/>
          </a:p>
        </p:txBody>
      </p:sp>
      <p:sp>
        <p:nvSpPr>
          <p:cNvPr id="4" name="Shape 2"/>
          <p:cNvSpPr/>
          <p:nvPr/>
        </p:nvSpPr>
        <p:spPr>
          <a:xfrm>
            <a:off x="822960" y="2651760"/>
            <a:ext cx="10515600" cy="1463040"/>
          </a:xfrm>
          <a:prstGeom prst="roundRect">
            <a:avLst>
              <a:gd name="adj" fmla="val 5000"/>
            </a:avLst>
          </a:prstGeom>
          <a:solidFill>
            <a:srgbClr val="D9534F"/>
          </a:solidFill>
          <a:ln/>
        </p:spPr>
      </p:sp>
      <p:sp>
        <p:nvSpPr>
          <p:cNvPr id="5" name="Text 3"/>
          <p:cNvSpPr txBox="1"/>
          <p:nvPr/>
        </p:nvSpPr>
        <p:spPr>
          <a:xfrm>
            <a:off x="1097280" y="2651760"/>
            <a:ext cx="10058400" cy="14630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Worum bittet Kafka seinen Vater?</a:t>
            </a:r>
            <a:endParaRPr lang="en-US" sz="3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Information: Der Appell</a:t>
            </a:r>
            <a:endParaRPr lang="en-US" sz="3000" dirty="0"/>
          </a:p>
        </p:txBody>
      </p:sp>
      <p:sp>
        <p:nvSpPr>
          <p:cNvPr id="4" name="Shape 2"/>
          <p:cNvSpPr/>
          <p:nvPr/>
        </p:nvSpPr>
        <p:spPr>
          <a:xfrm>
            <a:off x="457200" y="1188720"/>
            <a:ext cx="11247120" cy="1508760"/>
          </a:xfrm>
          <a:prstGeom prst="roundRect">
            <a:avLst>
              <a:gd name="adj" fmla="val 4848"/>
            </a:avLst>
          </a:prstGeom>
          <a:solidFill>
            <a:srgbClr val="FDECEA"/>
          </a:solidFill>
          <a:ln/>
        </p:spPr>
      </p:sp>
      <p:sp>
        <p:nvSpPr>
          <p:cNvPr id="5" name="Text 3"/>
          <p:cNvSpPr txBox="1"/>
          <p:nvPr/>
        </p:nvSpPr>
        <p:spPr>
          <a:xfrm>
            <a:off x="731520" y="1188720"/>
            <a:ext cx="10789920" cy="1508760"/>
          </a:xfrm>
          <a:prstGeom prst="rect">
            <a:avLst/>
          </a:prstGeom>
          <a:noFill/>
          <a:ln/>
        </p:spPr>
        <p:txBody>
          <a:bodyPr wrap="square" lIns="0" tIns="0" rIns="0" bIns="0" rtlCol="0" anchor="ctr"/>
          <a:lstStyle/>
          <a:p>
            <a:pPr indent="0" marL="0">
              <a:buNone/>
            </a:pPr>
            <a:r>
              <a:rPr lang="en-US" sz="2700" b="1" dirty="0">
                <a:solidFill>
                  <a:srgbClr val="D9534F"/>
                </a:solidFill>
                <a:latin typeface="Calibri" pitchFamily="34" charset="0"/>
                <a:ea typeface="Calibri" pitchFamily="34" charset="-122"/>
                <a:cs typeface="Calibri" pitchFamily="34" charset="-120"/>
              </a:rPr>
              <a:t>Appell: </a:t>
            </a:r>
            <a:pPr indent="0" marL="0">
              <a:buNone/>
            </a:pPr>
            <a:r>
              <a:rPr lang="en-US" sz="2700" dirty="0">
                <a:solidFill>
                  <a:srgbClr val="1E2761"/>
                </a:solidFill>
                <a:latin typeface="Calibri" pitchFamily="34" charset="0"/>
                <a:ea typeface="Calibri" pitchFamily="34" charset="-122"/>
                <a:cs typeface="Calibri" pitchFamily="34" charset="-120"/>
              </a:rPr>
              <a:t>Mit dieser Seite einer Nachricht will der Sender erreichen, dass der Empfänger etwas tut, denkt oder fühlt.</a:t>
            </a:r>
            <a:endParaRPr lang="en-US" sz="2700" dirty="0"/>
          </a:p>
        </p:txBody>
      </p:sp>
      <p:sp>
        <p:nvSpPr>
          <p:cNvPr id="6" name="Shape 4"/>
          <p:cNvSpPr/>
          <p:nvPr/>
        </p:nvSpPr>
        <p:spPr>
          <a:xfrm>
            <a:off x="457200" y="2880360"/>
            <a:ext cx="11247120" cy="1508760"/>
          </a:xfrm>
          <a:prstGeom prst="roundRect">
            <a:avLst>
              <a:gd name="adj" fmla="val 4848"/>
            </a:avLst>
          </a:prstGeom>
          <a:solidFill>
            <a:srgbClr val="F4F7FD"/>
          </a:solidFill>
          <a:ln/>
        </p:spPr>
      </p:sp>
      <p:sp>
        <p:nvSpPr>
          <p:cNvPr id="7" name="Text 5"/>
          <p:cNvSpPr txBox="1"/>
          <p:nvPr/>
        </p:nvSpPr>
        <p:spPr>
          <a:xfrm>
            <a:off x="731520" y="2880360"/>
            <a:ext cx="10789920" cy="15087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offen: </a:t>
            </a:r>
            <a:pPr indent="0" marL="0">
              <a:buNone/>
            </a:pPr>
            <a:r>
              <a:rPr lang="en-US" sz="2700" dirty="0">
                <a:solidFill>
                  <a:srgbClr val="1E2761"/>
                </a:solidFill>
                <a:latin typeface="Calibri" pitchFamily="34" charset="0"/>
                <a:ea typeface="Calibri" pitchFamily="34" charset="-122"/>
                <a:cs typeface="Calibri" pitchFamily="34" charset="-120"/>
              </a:rPr>
              <a:t>direkt ausgesprochen, z. B. als Bitte: „Hör mir bitte zu!“</a:t>
            </a:r>
            <a:endParaRPr lang="en-US" sz="2700" dirty="0"/>
          </a:p>
        </p:txBody>
      </p:sp>
      <p:sp>
        <p:nvSpPr>
          <p:cNvPr id="8" name="Shape 6"/>
          <p:cNvSpPr/>
          <p:nvPr/>
        </p:nvSpPr>
        <p:spPr>
          <a:xfrm>
            <a:off x="457200" y="4572000"/>
            <a:ext cx="11247120" cy="1508760"/>
          </a:xfrm>
          <a:prstGeom prst="roundRect">
            <a:avLst>
              <a:gd name="adj" fmla="val 4848"/>
            </a:avLst>
          </a:prstGeom>
          <a:solidFill>
            <a:srgbClr val="F4F7FD"/>
          </a:solidFill>
          <a:ln/>
        </p:spPr>
      </p:sp>
      <p:sp>
        <p:nvSpPr>
          <p:cNvPr id="9" name="Text 7"/>
          <p:cNvSpPr txBox="1"/>
          <p:nvPr/>
        </p:nvSpPr>
        <p:spPr>
          <a:xfrm>
            <a:off x="731520" y="4572000"/>
            <a:ext cx="10789920" cy="15087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verdeckt: </a:t>
            </a:r>
            <a:pPr indent="0" marL="0">
              <a:buNone/>
            </a:pPr>
            <a:r>
              <a:rPr lang="en-US" sz="2700" dirty="0">
                <a:solidFill>
                  <a:srgbClr val="1E2761"/>
                </a:solidFill>
                <a:latin typeface="Calibri" pitchFamily="34" charset="0"/>
                <a:ea typeface="Calibri" pitchFamily="34" charset="-122"/>
                <a:cs typeface="Calibri" pitchFamily="34" charset="-120"/>
              </a:rPr>
              <a:t>versteckt in einem Wunsch, einer Frage oder einer Beschreibung: „Du hörst mir nie zu.“</a:t>
            </a:r>
            <a:endParaRPr lang="en-US" sz="2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Auftrag 1: Kafkas Kernbotschaft</a:t>
            </a:r>
            <a:endParaRPr lang="en-US" sz="3000" dirty="0"/>
          </a:p>
        </p:txBody>
      </p:sp>
      <p:sp>
        <p:nvSpPr>
          <p:cNvPr id="4" name="Shape 2"/>
          <p:cNvSpPr/>
          <p:nvPr/>
        </p:nvSpPr>
        <p:spPr>
          <a:xfrm>
            <a:off x="9966960" y="137160"/>
            <a:ext cx="1920240" cy="640080"/>
          </a:xfrm>
          <a:prstGeom prst="roundRect">
            <a:avLst>
              <a:gd name="adj" fmla="val 17143"/>
            </a:avLst>
          </a:prstGeom>
          <a:solidFill>
            <a:srgbClr val="D9534F"/>
          </a:solidFill>
          <a:ln/>
        </p:spPr>
      </p:sp>
      <p:sp>
        <p:nvSpPr>
          <p:cNvPr id="5" name="Text 3"/>
          <p:cNvSpPr txBox="1"/>
          <p:nvPr/>
        </p:nvSpPr>
        <p:spPr>
          <a:xfrm>
            <a:off x="9966960" y="137160"/>
            <a:ext cx="1920240" cy="64008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3 Min.</a:t>
            </a:r>
            <a:endParaRPr lang="en-US" sz="2700" dirty="0"/>
          </a:p>
        </p:txBody>
      </p:sp>
      <p:sp>
        <p:nvSpPr>
          <p:cNvPr id="6" name="Text 4"/>
          <p:cNvSpPr txBox="1"/>
          <p:nvPr/>
        </p:nvSpPr>
        <p:spPr>
          <a:xfrm>
            <a:off x="548640" y="1280160"/>
            <a:ext cx="11064240" cy="1188720"/>
          </a:xfrm>
          <a:prstGeom prst="rect">
            <a:avLst/>
          </a:prstGeom>
          <a:noFill/>
          <a:ln/>
        </p:spPr>
        <p:txBody>
          <a:bodyPr wrap="square" lIns="0" tIns="0" rIns="0" bIns="0" rtlCol="0" anchor="t"/>
          <a:lstStyle/>
          <a:p>
            <a:pPr indent="0" marL="0">
              <a:buNone/>
            </a:pPr>
            <a:r>
              <a:rPr lang="en-US" sz="2700" b="1" dirty="0">
                <a:solidFill>
                  <a:srgbClr val="1E2761"/>
                </a:solidFill>
                <a:latin typeface="Cambria" pitchFamily="34" charset="0"/>
                <a:ea typeface="Cambria" pitchFamily="34" charset="-122"/>
                <a:cs typeface="Cambria" pitchFamily="34" charset="-120"/>
              </a:rPr>
              <a:t>Fasse in einem eigenen Satz zusammen, worum Kafka seinen Vater bittet.</a:t>
            </a:r>
            <a:endParaRPr lang="en-US" sz="2700" dirty="0"/>
          </a:p>
        </p:txBody>
      </p:sp>
      <p:sp>
        <p:nvSpPr>
          <p:cNvPr id="7" name="Shape 5"/>
          <p:cNvSpPr/>
          <p:nvPr/>
        </p:nvSpPr>
        <p:spPr>
          <a:xfrm>
            <a:off x="548640" y="2743200"/>
            <a:ext cx="11064240" cy="1097280"/>
          </a:xfrm>
          <a:prstGeom prst="roundRect">
            <a:avLst>
              <a:gd name="adj" fmla="val 6667"/>
            </a:avLst>
          </a:prstGeom>
          <a:solidFill>
            <a:srgbClr val="F4F7FD"/>
          </a:solidFill>
          <a:ln/>
        </p:spPr>
      </p:sp>
      <p:sp>
        <p:nvSpPr>
          <p:cNvPr id="8" name="Text 6"/>
          <p:cNvSpPr txBox="1"/>
          <p:nvPr/>
        </p:nvSpPr>
        <p:spPr>
          <a:xfrm>
            <a:off x="822960" y="2743200"/>
            <a:ext cx="10607040" cy="1097280"/>
          </a:xfrm>
          <a:prstGeom prst="rect">
            <a:avLst/>
          </a:prstGeom>
          <a:noFill/>
          <a:ln/>
        </p:spPr>
        <p:txBody>
          <a:bodyPr wrap="square" lIns="0" tIns="0" rIns="0" bIns="0" rtlCol="0" anchor="ctr"/>
          <a:lstStyle/>
          <a:p>
            <a:pPr indent="0" marL="0">
              <a:buNone/>
            </a:pPr>
            <a:r>
              <a:rPr lang="en-US" sz="2700" i="1" dirty="0">
                <a:solidFill>
                  <a:srgbClr val="1E2761"/>
                </a:solidFill>
                <a:latin typeface="Calibri" pitchFamily="34" charset="0"/>
                <a:ea typeface="Calibri" pitchFamily="34" charset="-122"/>
                <a:cs typeface="Calibri" pitchFamily="34" charset="-120"/>
              </a:rPr>
              <a:t>„Kafka bittet seinen Vater, …“</a:t>
            </a:r>
            <a:endParaRPr lang="en-US" sz="2700" dirty="0"/>
          </a:p>
        </p:txBody>
      </p:sp>
      <p:sp>
        <p:nvSpPr>
          <p:cNvPr id="9" name="Text 7"/>
          <p:cNvSpPr txBox="1"/>
          <p:nvPr/>
        </p:nvSpPr>
        <p:spPr>
          <a:xfrm>
            <a:off x="548640" y="4206240"/>
            <a:ext cx="11064240" cy="640080"/>
          </a:xfrm>
          <a:prstGeom prst="rect">
            <a:avLst/>
          </a:prstGeom>
          <a:noFill/>
          <a:ln/>
        </p:spPr>
        <p:txBody>
          <a:bodyPr wrap="square" lIns="0" tIns="0" rIns="0" bIns="0" rtlCol="0" anchor="t"/>
          <a:lstStyle/>
          <a:p>
            <a:pPr indent="0" marL="0">
              <a:buNone/>
            </a:pPr>
            <a:r>
              <a:rPr lang="en-US" sz="2700" dirty="0">
                <a:solidFill>
                  <a:srgbClr val="5B6B8C"/>
                </a:solidFill>
                <a:latin typeface="Calibri" pitchFamily="34" charset="0"/>
                <a:ea typeface="Calibri" pitchFamily="34" charset="-122"/>
                <a:cs typeface="Calibri" pitchFamily="34" charset="-120"/>
              </a:rPr>
              <a:t>In den Hefter. Zwei lesen danach vor.</a:t>
            </a:r>
            <a:endParaRPr lang="en-US" sz="2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Auftrag 2: Kafkas Appelle untersuchen</a:t>
            </a:r>
            <a:endParaRPr lang="en-US" sz="3000" dirty="0"/>
          </a:p>
        </p:txBody>
      </p:sp>
      <p:sp>
        <p:nvSpPr>
          <p:cNvPr id="4" name="Shape 2"/>
          <p:cNvSpPr/>
          <p:nvPr/>
        </p:nvSpPr>
        <p:spPr>
          <a:xfrm>
            <a:off x="9966960" y="137160"/>
            <a:ext cx="1920240" cy="640080"/>
          </a:xfrm>
          <a:prstGeom prst="roundRect">
            <a:avLst>
              <a:gd name="adj" fmla="val 17143"/>
            </a:avLst>
          </a:prstGeom>
          <a:solidFill>
            <a:srgbClr val="D9534F"/>
          </a:solidFill>
          <a:ln/>
        </p:spPr>
      </p:sp>
      <p:sp>
        <p:nvSpPr>
          <p:cNvPr id="5" name="Text 3"/>
          <p:cNvSpPr txBox="1"/>
          <p:nvPr/>
        </p:nvSpPr>
        <p:spPr>
          <a:xfrm>
            <a:off x="9966960" y="137160"/>
            <a:ext cx="1920240" cy="64008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5 Min.</a:t>
            </a:r>
            <a:endParaRPr lang="en-US" sz="2700" dirty="0"/>
          </a:p>
        </p:txBody>
      </p:sp>
      <p:sp>
        <p:nvSpPr>
          <p:cNvPr id="6" name="Text 4"/>
          <p:cNvSpPr txBox="1"/>
          <p:nvPr/>
        </p:nvSpPr>
        <p:spPr>
          <a:xfrm>
            <a:off x="548640" y="1051560"/>
            <a:ext cx="11064240" cy="548640"/>
          </a:xfrm>
          <a:prstGeom prst="rect">
            <a:avLst/>
          </a:prstGeom>
          <a:noFill/>
          <a:ln/>
        </p:spPr>
        <p:txBody>
          <a:bodyPr wrap="square" lIns="0" tIns="0" rIns="0" bIns="0" rtlCol="0" anchor="t"/>
          <a:lstStyle/>
          <a:p>
            <a:pPr indent="0" marL="0">
              <a:buNone/>
            </a:pPr>
            <a:r>
              <a:rPr lang="en-US" sz="2700" b="1" dirty="0">
                <a:solidFill>
                  <a:srgbClr val="1E2761"/>
                </a:solidFill>
                <a:latin typeface="Calibri" pitchFamily="34" charset="0"/>
                <a:ea typeface="Calibri" pitchFamily="34" charset="-122"/>
                <a:cs typeface="Calibri" pitchFamily="34" charset="-120"/>
              </a:rPr>
              <a:t>Im Hefter – jeweils: offen oder verdeckt?</a:t>
            </a:r>
            <a:endParaRPr lang="en-US" sz="2700" dirty="0"/>
          </a:p>
        </p:txBody>
      </p:sp>
      <p:sp>
        <p:nvSpPr>
          <p:cNvPr id="7" name="Shape 5"/>
          <p:cNvSpPr/>
          <p:nvPr/>
        </p:nvSpPr>
        <p:spPr>
          <a:xfrm>
            <a:off x="457200" y="1737360"/>
            <a:ext cx="11247120" cy="1463040"/>
          </a:xfrm>
          <a:prstGeom prst="roundRect">
            <a:avLst>
              <a:gd name="adj" fmla="val 5000"/>
            </a:avLst>
          </a:prstGeom>
          <a:solidFill>
            <a:srgbClr val="F4F7FD"/>
          </a:solidFill>
          <a:ln w="9525">
            <a:solidFill>
              <a:srgbClr val="D5DCEC"/>
            </a:solidFill>
            <a:prstDash val="solid"/>
          </a:ln>
        </p:spPr>
      </p:sp>
      <p:sp>
        <p:nvSpPr>
          <p:cNvPr id="8" name="Text 6"/>
          <p:cNvSpPr txBox="1"/>
          <p:nvPr/>
        </p:nvSpPr>
        <p:spPr>
          <a:xfrm>
            <a:off x="685800" y="1810512"/>
            <a:ext cx="10789920" cy="566928"/>
          </a:xfrm>
          <a:prstGeom prst="rect">
            <a:avLst/>
          </a:prstGeom>
          <a:noFill/>
          <a:ln/>
        </p:spPr>
        <p:txBody>
          <a:bodyPr wrap="square" lIns="0" tIns="0" rIns="0" bIns="0" rtlCol="0" anchor="t"/>
          <a:lstStyle/>
          <a:p>
            <a:pPr indent="0" marL="0">
              <a:buNone/>
            </a:pPr>
            <a:r>
              <a:rPr lang="en-US" sz="2700" b="1" dirty="0">
                <a:solidFill>
                  <a:srgbClr val="1E2761"/>
                </a:solidFill>
                <a:latin typeface="Calibri" pitchFamily="34" charset="0"/>
                <a:ea typeface="Calibri" pitchFamily="34" charset="-122"/>
                <a:cs typeface="Calibri" pitchFamily="34" charset="-120"/>
              </a:rPr>
              <a:t>1  Was genau soll der Vater tun?</a:t>
            </a:r>
            <a:endParaRPr lang="en-US" sz="2700" dirty="0"/>
          </a:p>
        </p:txBody>
      </p:sp>
      <p:sp>
        <p:nvSpPr>
          <p:cNvPr id="9" name="Text 7"/>
          <p:cNvSpPr txBox="1"/>
          <p:nvPr/>
        </p:nvSpPr>
        <p:spPr>
          <a:xfrm>
            <a:off x="1051560" y="2395728"/>
            <a:ext cx="10515600" cy="731520"/>
          </a:xfrm>
          <a:prstGeom prst="rect">
            <a:avLst/>
          </a:prstGeom>
          <a:noFill/>
          <a:ln/>
        </p:spPr>
        <p:txBody>
          <a:bodyPr wrap="square" lIns="0" tIns="0" rIns="0" bIns="0" rtlCol="0" anchor="t"/>
          <a:lstStyle/>
          <a:p>
            <a:pPr indent="0" marL="0">
              <a:buNone/>
            </a:pPr>
            <a:r>
              <a:rPr lang="en-US" sz="2700" i="1" dirty="0">
                <a:solidFill>
                  <a:srgbClr val="5B6B8C"/>
                </a:solidFill>
                <a:latin typeface="Cambria" pitchFamily="34" charset="0"/>
                <a:ea typeface="Cambria" pitchFamily="34" charset="-122"/>
                <a:cs typeface="Cambria" pitchFamily="34" charset="-120"/>
              </a:rPr>
              <a:t>„bitte“ (Z. 1) · „sollst Du aufhören“ (Z. 3)</a:t>
            </a:r>
            <a:endParaRPr lang="en-US" sz="2700" dirty="0"/>
          </a:p>
        </p:txBody>
      </p:sp>
      <p:sp>
        <p:nvSpPr>
          <p:cNvPr id="10" name="Shape 8"/>
          <p:cNvSpPr/>
          <p:nvPr/>
        </p:nvSpPr>
        <p:spPr>
          <a:xfrm>
            <a:off x="457200" y="3337560"/>
            <a:ext cx="11247120" cy="1463040"/>
          </a:xfrm>
          <a:prstGeom prst="roundRect">
            <a:avLst>
              <a:gd name="adj" fmla="val 5000"/>
            </a:avLst>
          </a:prstGeom>
          <a:solidFill>
            <a:srgbClr val="FFFFFF"/>
          </a:solidFill>
          <a:ln w="9525">
            <a:solidFill>
              <a:srgbClr val="D5DCEC"/>
            </a:solidFill>
            <a:prstDash val="solid"/>
          </a:ln>
        </p:spPr>
      </p:sp>
      <p:sp>
        <p:nvSpPr>
          <p:cNvPr id="11" name="Text 9"/>
          <p:cNvSpPr txBox="1"/>
          <p:nvPr/>
        </p:nvSpPr>
        <p:spPr>
          <a:xfrm>
            <a:off x="685800" y="3410712"/>
            <a:ext cx="10789920" cy="566928"/>
          </a:xfrm>
          <a:prstGeom prst="rect">
            <a:avLst/>
          </a:prstGeom>
          <a:noFill/>
          <a:ln/>
        </p:spPr>
        <p:txBody>
          <a:bodyPr wrap="square" lIns="0" tIns="0" rIns="0" bIns="0" rtlCol="0" anchor="t"/>
          <a:lstStyle/>
          <a:p>
            <a:pPr indent="0" marL="0">
              <a:buNone/>
            </a:pPr>
            <a:r>
              <a:rPr lang="en-US" sz="2700" b="1" dirty="0">
                <a:solidFill>
                  <a:srgbClr val="1E2761"/>
                </a:solidFill>
                <a:latin typeface="Calibri" pitchFamily="34" charset="0"/>
                <a:ea typeface="Calibri" pitchFamily="34" charset="-122"/>
                <a:cs typeface="Calibri" pitchFamily="34" charset="-120"/>
              </a:rPr>
              <a:t>2  Was wünscht sich Kafka – ohne es direkt zu fordern?</a:t>
            </a:r>
            <a:endParaRPr lang="en-US" sz="2700" dirty="0"/>
          </a:p>
        </p:txBody>
      </p:sp>
      <p:sp>
        <p:nvSpPr>
          <p:cNvPr id="12" name="Text 10"/>
          <p:cNvSpPr txBox="1"/>
          <p:nvPr/>
        </p:nvSpPr>
        <p:spPr>
          <a:xfrm>
            <a:off x="1051560" y="3995928"/>
            <a:ext cx="10515600" cy="731520"/>
          </a:xfrm>
          <a:prstGeom prst="rect">
            <a:avLst/>
          </a:prstGeom>
          <a:noFill/>
          <a:ln/>
        </p:spPr>
        <p:txBody>
          <a:bodyPr wrap="square" lIns="0" tIns="0" rIns="0" bIns="0" rtlCol="0" anchor="t"/>
          <a:lstStyle/>
          <a:p>
            <a:pPr indent="0" marL="0">
              <a:buNone/>
            </a:pPr>
            <a:r>
              <a:rPr lang="en-US" sz="2700" i="1" dirty="0">
                <a:solidFill>
                  <a:srgbClr val="5B6B8C"/>
                </a:solidFill>
                <a:latin typeface="Cambria" pitchFamily="34" charset="0"/>
                <a:ea typeface="Cambria" pitchFamily="34" charset="-122"/>
                <a:cs typeface="Cambria" pitchFamily="34" charset="-120"/>
              </a:rPr>
              <a:t>„ein freundliches Wort, ein stilles Bei-der-Hand-Nehmen, ein guter Blick“ (Z. 8 f.)</a:t>
            </a:r>
            <a:endParaRPr lang="en-US" sz="2700" dirty="0"/>
          </a:p>
        </p:txBody>
      </p:sp>
      <p:sp>
        <p:nvSpPr>
          <p:cNvPr id="13" name="Shape 11"/>
          <p:cNvSpPr/>
          <p:nvPr/>
        </p:nvSpPr>
        <p:spPr>
          <a:xfrm>
            <a:off x="457200" y="4937760"/>
            <a:ext cx="11247120" cy="1463040"/>
          </a:xfrm>
          <a:prstGeom prst="roundRect">
            <a:avLst>
              <a:gd name="adj" fmla="val 5000"/>
            </a:avLst>
          </a:prstGeom>
          <a:solidFill>
            <a:srgbClr val="F4F7FD"/>
          </a:solidFill>
          <a:ln w="9525">
            <a:solidFill>
              <a:srgbClr val="D5DCEC"/>
            </a:solidFill>
            <a:prstDash val="solid"/>
          </a:ln>
        </p:spPr>
      </p:sp>
      <p:sp>
        <p:nvSpPr>
          <p:cNvPr id="14" name="Text 12"/>
          <p:cNvSpPr txBox="1"/>
          <p:nvPr/>
        </p:nvSpPr>
        <p:spPr>
          <a:xfrm>
            <a:off x="685800" y="5010912"/>
            <a:ext cx="10789920" cy="566928"/>
          </a:xfrm>
          <a:prstGeom prst="rect">
            <a:avLst/>
          </a:prstGeom>
          <a:noFill/>
          <a:ln/>
        </p:spPr>
        <p:txBody>
          <a:bodyPr wrap="square" lIns="0" tIns="0" rIns="0" bIns="0" rtlCol="0" anchor="t"/>
          <a:lstStyle/>
          <a:p>
            <a:pPr indent="0" marL="0">
              <a:buNone/>
            </a:pPr>
            <a:r>
              <a:rPr lang="en-US" sz="2700" b="1" dirty="0">
                <a:solidFill>
                  <a:srgbClr val="1E2761"/>
                </a:solidFill>
                <a:latin typeface="Calibri" pitchFamily="34" charset="0"/>
                <a:ea typeface="Calibri" pitchFamily="34" charset="-122"/>
                <a:cs typeface="Calibri" pitchFamily="34" charset="-120"/>
              </a:rPr>
              <a:t>3  Warum sichert Kafka seine Bitte so ab?</a:t>
            </a:r>
            <a:endParaRPr lang="en-US" sz="2700" dirty="0"/>
          </a:p>
        </p:txBody>
      </p:sp>
      <p:sp>
        <p:nvSpPr>
          <p:cNvPr id="15" name="Text 13"/>
          <p:cNvSpPr txBox="1"/>
          <p:nvPr/>
        </p:nvSpPr>
        <p:spPr>
          <a:xfrm>
            <a:off x="1051560" y="5596128"/>
            <a:ext cx="10515600" cy="731520"/>
          </a:xfrm>
          <a:prstGeom prst="rect">
            <a:avLst/>
          </a:prstGeom>
          <a:noFill/>
          <a:ln/>
        </p:spPr>
        <p:txBody>
          <a:bodyPr wrap="square" lIns="0" tIns="0" rIns="0" bIns="0" rtlCol="0" anchor="t"/>
          <a:lstStyle/>
          <a:p>
            <a:pPr indent="0" marL="0">
              <a:buNone/>
            </a:pPr>
            <a:r>
              <a:rPr lang="en-US" sz="2700" i="1" dirty="0">
                <a:solidFill>
                  <a:srgbClr val="5B6B8C"/>
                </a:solidFill>
                <a:latin typeface="Cambria" pitchFamily="34" charset="0"/>
                <a:ea typeface="Cambria" pitchFamily="34" charset="-122"/>
                <a:cs typeface="Cambria" pitchFamily="34" charset="-120"/>
              </a:rPr>
              <a:t>„niemals … an eine Schuld Deinerseits“ (Z. 2)</a:t>
            </a:r>
            <a:endParaRPr lang="en-US" sz="2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Formulierungshilfen</a:t>
            </a:r>
            <a:endParaRPr lang="en-US" sz="3000" dirty="0"/>
          </a:p>
        </p:txBody>
      </p:sp>
      <p:sp>
        <p:nvSpPr>
          <p:cNvPr id="4" name="Text 2"/>
          <p:cNvSpPr txBox="1"/>
          <p:nvPr/>
        </p:nvSpPr>
        <p:spPr>
          <a:xfrm>
            <a:off x="731520" y="1280160"/>
            <a:ext cx="10789920" cy="4572000"/>
          </a:xfrm>
          <a:prstGeom prst="rect">
            <a:avLst/>
          </a:prstGeom>
          <a:noFill/>
          <a:ln/>
        </p:spPr>
        <p:txBody>
          <a:bodyPr wrap="square" lIns="0" tIns="0" rIns="0" bIns="0" rtlCol="0" anchor="t"/>
          <a:lstStyle/>
          <a:p>
            <a:pPr marL="304800" indent="-304800">
              <a:spcAft>
                <a:spcPts val="1600"/>
              </a:spcAft>
              <a:buSzPct val="100000"/>
              <a:buChar char="•"/>
            </a:pPr>
            <a:r>
              <a:rPr lang="en-US" sz="2700" i="1" dirty="0">
                <a:solidFill>
                  <a:srgbClr val="1E2761"/>
                </a:solidFill>
                <a:latin typeface="Calibri" pitchFamily="34" charset="0"/>
                <a:ea typeface="Calibri" pitchFamily="34" charset="-122"/>
                <a:cs typeface="Calibri" pitchFamily="34" charset="-120"/>
              </a:rPr>
              <a:t>Ein offener Appell zeigt sich in … (Z. …).</a:t>
            </a:r>
            <a:endParaRPr lang="en-US" sz="2700" dirty="0"/>
          </a:p>
          <a:p>
            <a:pPr marL="304800" indent="-304800">
              <a:spcAft>
                <a:spcPts val="1600"/>
              </a:spcAft>
              <a:buSzPct val="100000"/>
              <a:buChar char="•"/>
            </a:pPr>
            <a:r>
              <a:rPr lang="en-US" sz="2700" i="1" dirty="0">
                <a:solidFill>
                  <a:srgbClr val="1E2761"/>
                </a:solidFill>
                <a:latin typeface="Calibri" pitchFamily="34" charset="0"/>
                <a:ea typeface="Calibri" pitchFamily="34" charset="-122"/>
                <a:cs typeface="Calibri" pitchFamily="34" charset="-120"/>
              </a:rPr>
              <a:t>Verdeckt appelliert Kafka, wenn er …</a:t>
            </a:r>
            <a:endParaRPr lang="en-US" sz="2700" dirty="0"/>
          </a:p>
          <a:p>
            <a:pPr marL="304800" indent="-304800">
              <a:spcAft>
                <a:spcPts val="1600"/>
              </a:spcAft>
              <a:buSzPct val="100000"/>
              <a:buChar char="•"/>
            </a:pPr>
            <a:r>
              <a:rPr lang="en-US" sz="2700" i="1" dirty="0">
                <a:solidFill>
                  <a:srgbClr val="1E2761"/>
                </a:solidFill>
                <a:latin typeface="Calibri" pitchFamily="34" charset="0"/>
                <a:ea typeface="Calibri" pitchFamily="34" charset="-122"/>
                <a:cs typeface="Calibri" pitchFamily="34" charset="-120"/>
              </a:rPr>
              <a:t>Damit will er erreichen, dass der Vater …</a:t>
            </a:r>
            <a:endParaRPr lang="en-US" sz="2700" dirty="0"/>
          </a:p>
          <a:p>
            <a:pPr marL="304800" indent="-304800">
              <a:spcAft>
                <a:spcPts val="1600"/>
              </a:spcAft>
              <a:buSzPct val="100000"/>
              <a:buChar char="•"/>
            </a:pPr>
            <a:r>
              <a:rPr lang="en-US" sz="2700" i="1" dirty="0">
                <a:solidFill>
                  <a:srgbClr val="1E2761"/>
                </a:solidFill>
                <a:latin typeface="Calibri" pitchFamily="34" charset="0"/>
                <a:ea typeface="Calibri" pitchFamily="34" charset="-122"/>
                <a:cs typeface="Calibri" pitchFamily="34" charset="-120"/>
              </a:rPr>
              <a:t>Seine Bitte sichert er ab, indem er …</a:t>
            </a:r>
            <a:endParaRPr lang="en-US" sz="2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Transfer: Kafkas Rede an den Vater</a:t>
            </a:r>
            <a:endParaRPr lang="en-US" sz="3000" dirty="0"/>
          </a:p>
        </p:txBody>
      </p:sp>
      <p:sp>
        <p:nvSpPr>
          <p:cNvPr id="4" name="Shape 2"/>
          <p:cNvSpPr/>
          <p:nvPr/>
        </p:nvSpPr>
        <p:spPr>
          <a:xfrm>
            <a:off x="9966960" y="137160"/>
            <a:ext cx="1920240" cy="640080"/>
          </a:xfrm>
          <a:prstGeom prst="roundRect">
            <a:avLst>
              <a:gd name="adj" fmla="val 17143"/>
            </a:avLst>
          </a:prstGeom>
          <a:solidFill>
            <a:srgbClr val="D9534F"/>
          </a:solidFill>
          <a:ln/>
        </p:spPr>
      </p:sp>
      <p:sp>
        <p:nvSpPr>
          <p:cNvPr id="5" name="Text 3"/>
          <p:cNvSpPr txBox="1"/>
          <p:nvPr/>
        </p:nvSpPr>
        <p:spPr>
          <a:xfrm>
            <a:off x="9966960" y="137160"/>
            <a:ext cx="1920240" cy="64008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12 Min.</a:t>
            </a:r>
            <a:endParaRPr lang="en-US" sz="2700" dirty="0"/>
          </a:p>
        </p:txBody>
      </p:sp>
      <p:sp>
        <p:nvSpPr>
          <p:cNvPr id="6" name="Shape 4"/>
          <p:cNvSpPr/>
          <p:nvPr/>
        </p:nvSpPr>
        <p:spPr>
          <a:xfrm>
            <a:off x="457200" y="1097280"/>
            <a:ext cx="11247120" cy="1600200"/>
          </a:xfrm>
          <a:prstGeom prst="roundRect">
            <a:avLst>
              <a:gd name="adj" fmla="val 4571"/>
            </a:avLst>
          </a:prstGeom>
          <a:solidFill>
            <a:srgbClr val="F4F7FD"/>
          </a:solidFill>
          <a:ln/>
        </p:spPr>
      </p:sp>
      <p:sp>
        <p:nvSpPr>
          <p:cNvPr id="7" name="Text 5"/>
          <p:cNvSpPr txBox="1"/>
          <p:nvPr/>
        </p:nvSpPr>
        <p:spPr>
          <a:xfrm>
            <a:off x="685800" y="1143000"/>
            <a:ext cx="10789920" cy="1005840"/>
          </a:xfrm>
          <a:prstGeom prst="rect">
            <a:avLst/>
          </a:prstGeom>
          <a:noFill/>
          <a:ln/>
        </p:spPr>
        <p:txBody>
          <a:bodyPr wrap="square" lIns="0" tIns="0" rIns="0" bIns="0"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Max Brods Brief hat gewirkt: Der Vater hört zu. Schreibe die Rede, die Franz jetzt an ihn hält.</a:t>
            </a:r>
            <a:endParaRPr lang="en-US" sz="2700" dirty="0"/>
          </a:p>
        </p:txBody>
      </p:sp>
      <p:sp>
        <p:nvSpPr>
          <p:cNvPr id="8" name="Text 6"/>
          <p:cNvSpPr txBox="1"/>
          <p:nvPr/>
        </p:nvSpPr>
        <p:spPr>
          <a:xfrm>
            <a:off x="685800" y="2148840"/>
            <a:ext cx="10789920" cy="457200"/>
          </a:xfrm>
          <a:prstGeom prst="rect">
            <a:avLst/>
          </a:prstGeom>
          <a:noFill/>
          <a:ln/>
        </p:spPr>
        <p:txBody>
          <a:bodyPr wrap="square" lIns="0" tIns="0" rIns="0" bIns="0" rtlCol="0" anchor="t"/>
          <a:lstStyle/>
          <a:p>
            <a:pPr indent="0" marL="0">
              <a:buNone/>
            </a:pPr>
            <a:r>
              <a:rPr lang="en-US" sz="2700" i="1" dirty="0">
                <a:solidFill>
                  <a:srgbClr val="5B6B8C"/>
                </a:solidFill>
                <a:latin typeface="Calibri" pitchFamily="34" charset="0"/>
                <a:ea typeface="Calibri" pitchFamily="34" charset="-122"/>
                <a:cs typeface="Calibri" pitchFamily="34" charset="-120"/>
              </a:rPr>
              <a:t>6–8 Sätze · allein · in den Hefter</a:t>
            </a:r>
            <a:endParaRPr lang="en-US" sz="2700" dirty="0"/>
          </a:p>
        </p:txBody>
      </p:sp>
      <p:sp>
        <p:nvSpPr>
          <p:cNvPr id="9" name="Shape 7"/>
          <p:cNvSpPr/>
          <p:nvPr/>
        </p:nvSpPr>
        <p:spPr>
          <a:xfrm>
            <a:off x="457200" y="2880360"/>
            <a:ext cx="603504" cy="603504"/>
          </a:xfrm>
          <a:prstGeom prst="roundRect">
            <a:avLst>
              <a:gd name="adj" fmla="val 50000"/>
            </a:avLst>
          </a:prstGeom>
          <a:solidFill>
            <a:srgbClr val="1E2761"/>
          </a:solidFill>
          <a:ln/>
        </p:spPr>
      </p:sp>
      <p:sp>
        <p:nvSpPr>
          <p:cNvPr id="10" name="Text 8"/>
          <p:cNvSpPr txBox="1"/>
          <p:nvPr/>
        </p:nvSpPr>
        <p:spPr>
          <a:xfrm>
            <a:off x="457200" y="2880360"/>
            <a:ext cx="603504" cy="603504"/>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1</a:t>
            </a:r>
            <a:endParaRPr lang="en-US" sz="2700" dirty="0"/>
          </a:p>
        </p:txBody>
      </p:sp>
      <p:sp>
        <p:nvSpPr>
          <p:cNvPr id="11" name="Text 9"/>
          <p:cNvSpPr txBox="1"/>
          <p:nvPr/>
        </p:nvSpPr>
        <p:spPr>
          <a:xfrm>
            <a:off x="1280160" y="2880360"/>
            <a:ext cx="10424160" cy="603504"/>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Anrede:  </a:t>
            </a:r>
            <a:pPr indent="0" marL="0">
              <a:buNone/>
            </a:pPr>
            <a:r>
              <a:rPr lang="en-US" sz="2700" dirty="0">
                <a:solidFill>
                  <a:srgbClr val="1E2761"/>
                </a:solidFill>
                <a:latin typeface="Calibri" pitchFamily="34" charset="0"/>
                <a:ea typeface="Calibri" pitchFamily="34" charset="-122"/>
                <a:cs typeface="Calibri" pitchFamily="34" charset="-120"/>
              </a:rPr>
              <a:t>„Vater, …“</a:t>
            </a:r>
            <a:endParaRPr lang="en-US" sz="2700" dirty="0"/>
          </a:p>
        </p:txBody>
      </p:sp>
      <p:sp>
        <p:nvSpPr>
          <p:cNvPr id="12" name="Shape 10"/>
          <p:cNvSpPr/>
          <p:nvPr/>
        </p:nvSpPr>
        <p:spPr>
          <a:xfrm>
            <a:off x="457200" y="3648456"/>
            <a:ext cx="603504" cy="603504"/>
          </a:xfrm>
          <a:prstGeom prst="roundRect">
            <a:avLst>
              <a:gd name="adj" fmla="val 50000"/>
            </a:avLst>
          </a:prstGeom>
          <a:solidFill>
            <a:srgbClr val="1E2761"/>
          </a:solidFill>
          <a:ln/>
        </p:spPr>
      </p:sp>
      <p:sp>
        <p:nvSpPr>
          <p:cNvPr id="13" name="Text 11"/>
          <p:cNvSpPr txBox="1"/>
          <p:nvPr/>
        </p:nvSpPr>
        <p:spPr>
          <a:xfrm>
            <a:off x="457200" y="3648456"/>
            <a:ext cx="603504" cy="603504"/>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2</a:t>
            </a:r>
            <a:endParaRPr lang="en-US" sz="2700" dirty="0"/>
          </a:p>
        </p:txBody>
      </p:sp>
      <p:sp>
        <p:nvSpPr>
          <p:cNvPr id="14" name="Text 12"/>
          <p:cNvSpPr txBox="1"/>
          <p:nvPr/>
        </p:nvSpPr>
        <p:spPr>
          <a:xfrm>
            <a:off x="1280160" y="3648456"/>
            <a:ext cx="10424160" cy="603504"/>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Ich-Botschaften:  </a:t>
            </a:r>
            <a:pPr indent="0" marL="0">
              <a:buNone/>
            </a:pPr>
            <a:r>
              <a:rPr lang="en-US" sz="2700" dirty="0">
                <a:solidFill>
                  <a:srgbClr val="1E2761"/>
                </a:solidFill>
                <a:latin typeface="Calibri" pitchFamily="34" charset="0"/>
                <a:ea typeface="Calibri" pitchFamily="34" charset="-122"/>
                <a:cs typeface="Calibri" pitchFamily="34" charset="-120"/>
              </a:rPr>
              <a:t>zwei: Gefühl + Wirkung</a:t>
            </a:r>
            <a:endParaRPr lang="en-US" sz="2700" dirty="0"/>
          </a:p>
        </p:txBody>
      </p:sp>
      <p:sp>
        <p:nvSpPr>
          <p:cNvPr id="15" name="Shape 13"/>
          <p:cNvSpPr/>
          <p:nvPr/>
        </p:nvSpPr>
        <p:spPr>
          <a:xfrm>
            <a:off x="457200" y="4416552"/>
            <a:ext cx="603504" cy="603504"/>
          </a:xfrm>
          <a:prstGeom prst="roundRect">
            <a:avLst>
              <a:gd name="adj" fmla="val 50000"/>
            </a:avLst>
          </a:prstGeom>
          <a:solidFill>
            <a:srgbClr val="1E2761"/>
          </a:solidFill>
          <a:ln/>
        </p:spPr>
      </p:sp>
      <p:sp>
        <p:nvSpPr>
          <p:cNvPr id="16" name="Text 14"/>
          <p:cNvSpPr txBox="1"/>
          <p:nvPr/>
        </p:nvSpPr>
        <p:spPr>
          <a:xfrm>
            <a:off x="457200" y="4416552"/>
            <a:ext cx="603504" cy="603504"/>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3</a:t>
            </a:r>
            <a:endParaRPr lang="en-US" sz="2700" dirty="0"/>
          </a:p>
        </p:txBody>
      </p:sp>
      <p:sp>
        <p:nvSpPr>
          <p:cNvPr id="17" name="Text 15"/>
          <p:cNvSpPr txBox="1"/>
          <p:nvPr/>
        </p:nvSpPr>
        <p:spPr>
          <a:xfrm>
            <a:off x="1280160" y="4416552"/>
            <a:ext cx="10424160" cy="603504"/>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Offener Appell:  </a:t>
            </a:r>
            <a:pPr indent="0" marL="0">
              <a:buNone/>
            </a:pPr>
            <a:r>
              <a:rPr lang="en-US" sz="2700" dirty="0">
                <a:solidFill>
                  <a:srgbClr val="1E2761"/>
                </a:solidFill>
                <a:latin typeface="Calibri" pitchFamily="34" charset="0"/>
                <a:ea typeface="Calibri" pitchFamily="34" charset="-122"/>
                <a:cs typeface="Calibri" pitchFamily="34" charset="-120"/>
              </a:rPr>
              <a:t>eine klare Bitte</a:t>
            </a:r>
            <a:endParaRPr lang="en-US" sz="2700" dirty="0"/>
          </a:p>
        </p:txBody>
      </p:sp>
      <p:sp>
        <p:nvSpPr>
          <p:cNvPr id="18" name="Shape 16"/>
          <p:cNvSpPr/>
          <p:nvPr/>
        </p:nvSpPr>
        <p:spPr>
          <a:xfrm>
            <a:off x="457200" y="5184648"/>
            <a:ext cx="603504" cy="603504"/>
          </a:xfrm>
          <a:prstGeom prst="roundRect">
            <a:avLst>
              <a:gd name="adj" fmla="val 50000"/>
            </a:avLst>
          </a:prstGeom>
          <a:solidFill>
            <a:srgbClr val="1E2761"/>
          </a:solidFill>
          <a:ln/>
        </p:spPr>
      </p:sp>
      <p:sp>
        <p:nvSpPr>
          <p:cNvPr id="19" name="Text 17"/>
          <p:cNvSpPr txBox="1"/>
          <p:nvPr/>
        </p:nvSpPr>
        <p:spPr>
          <a:xfrm>
            <a:off x="457200" y="5184648"/>
            <a:ext cx="603504" cy="603504"/>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4</a:t>
            </a:r>
            <a:endParaRPr lang="en-US" sz="2700" dirty="0"/>
          </a:p>
        </p:txBody>
      </p:sp>
      <p:sp>
        <p:nvSpPr>
          <p:cNvPr id="20" name="Text 18"/>
          <p:cNvSpPr txBox="1"/>
          <p:nvPr/>
        </p:nvSpPr>
        <p:spPr>
          <a:xfrm>
            <a:off x="1280160" y="5184648"/>
            <a:ext cx="10424160" cy="603504"/>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Bezug zum Text:  </a:t>
            </a:r>
            <a:pPr indent="0" marL="0">
              <a:buNone/>
            </a:pPr>
            <a:r>
              <a:rPr lang="en-US" sz="2700" dirty="0">
                <a:solidFill>
                  <a:srgbClr val="1E2761"/>
                </a:solidFill>
                <a:latin typeface="Calibri" pitchFamily="34" charset="0"/>
                <a:ea typeface="Calibri" pitchFamily="34" charset="-122"/>
                <a:cs typeface="Calibri" pitchFamily="34" charset="-120"/>
              </a:rPr>
              <a:t>Wort, Hand, Blick</a:t>
            </a:r>
            <a:endParaRPr lang="en-US" sz="2700" dirty="0"/>
          </a:p>
        </p:txBody>
      </p:sp>
      <p:sp>
        <p:nvSpPr>
          <p:cNvPr id="21" name="Shape 19"/>
          <p:cNvSpPr/>
          <p:nvPr/>
        </p:nvSpPr>
        <p:spPr>
          <a:xfrm>
            <a:off x="457200" y="5952744"/>
            <a:ext cx="603504" cy="603504"/>
          </a:xfrm>
          <a:prstGeom prst="roundRect">
            <a:avLst>
              <a:gd name="adj" fmla="val 50000"/>
            </a:avLst>
          </a:prstGeom>
          <a:solidFill>
            <a:srgbClr val="1E2761"/>
          </a:solidFill>
          <a:ln/>
        </p:spPr>
      </p:sp>
      <p:sp>
        <p:nvSpPr>
          <p:cNvPr id="22" name="Text 20"/>
          <p:cNvSpPr txBox="1"/>
          <p:nvPr/>
        </p:nvSpPr>
        <p:spPr>
          <a:xfrm>
            <a:off x="457200" y="5952744"/>
            <a:ext cx="603504" cy="603504"/>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5</a:t>
            </a:r>
            <a:endParaRPr lang="en-US" sz="2700" dirty="0"/>
          </a:p>
        </p:txBody>
      </p:sp>
      <p:sp>
        <p:nvSpPr>
          <p:cNvPr id="23" name="Text 21"/>
          <p:cNvSpPr txBox="1"/>
          <p:nvPr/>
        </p:nvSpPr>
        <p:spPr>
          <a:xfrm>
            <a:off x="1280160" y="5952744"/>
            <a:ext cx="10424160" cy="603504"/>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Respektvoller Ton:  </a:t>
            </a:r>
            <a:pPr indent="0" marL="0">
              <a:buNone/>
            </a:pPr>
            <a:r>
              <a:rPr lang="en-US" sz="2700" dirty="0">
                <a:solidFill>
                  <a:srgbClr val="1E2761"/>
                </a:solidFill>
                <a:latin typeface="Calibri" pitchFamily="34" charset="0"/>
                <a:ea typeface="Calibri" pitchFamily="34" charset="-122"/>
                <a:cs typeface="Calibri" pitchFamily="34" charset="-120"/>
              </a:rPr>
              <a:t>keine Vorwürfe</a:t>
            </a:r>
            <a:endParaRPr lang="en-US" sz="2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Hört Franz zu – und hakt ab</a:t>
            </a:r>
            <a:endParaRPr lang="en-US" sz="3000" dirty="0"/>
          </a:p>
        </p:txBody>
      </p:sp>
      <p:sp>
        <p:nvSpPr>
          <p:cNvPr id="4" name="Text 2"/>
          <p:cNvSpPr txBox="1"/>
          <p:nvPr/>
        </p:nvSpPr>
        <p:spPr>
          <a:xfrm>
            <a:off x="457200" y="1051560"/>
            <a:ext cx="11247120" cy="914400"/>
          </a:xfrm>
          <a:prstGeom prst="rect">
            <a:avLst/>
          </a:prstGeom>
          <a:noFill/>
          <a:ln/>
        </p:spPr>
        <p:txBody>
          <a:bodyPr wrap="square" lIns="0" tIns="0" rIns="0" bIns="0" rtlCol="0" anchor="t"/>
          <a:lstStyle/>
          <a:p>
            <a:pPr indent="0" marL="0">
              <a:buNone/>
            </a:pPr>
            <a:r>
              <a:rPr lang="en-US" sz="2700" dirty="0">
                <a:solidFill>
                  <a:srgbClr val="1E2761"/>
                </a:solidFill>
                <a:latin typeface="Calibri" pitchFamily="34" charset="0"/>
                <a:ea typeface="Calibri" pitchFamily="34" charset="-122"/>
                <a:cs typeface="Calibri" pitchFamily="34" charset="-120"/>
              </a:rPr>
              <a:t>Ohne Unterbrechung zuhören. Notiere im Hefter, welche Kriterien erfüllt sind.</a:t>
            </a:r>
            <a:endParaRPr lang="en-US" sz="2700" dirty="0"/>
          </a:p>
        </p:txBody>
      </p:sp>
      <p:sp>
        <p:nvSpPr>
          <p:cNvPr id="5" name="Shape 3"/>
          <p:cNvSpPr/>
          <p:nvPr/>
        </p:nvSpPr>
        <p:spPr>
          <a:xfrm>
            <a:off x="457200" y="2103120"/>
            <a:ext cx="7315200" cy="731520"/>
          </a:xfrm>
          <a:prstGeom prst="roundRect">
            <a:avLst>
              <a:gd name="adj" fmla="val 10000"/>
            </a:avLst>
          </a:prstGeom>
          <a:solidFill>
            <a:srgbClr val="F4F7FD"/>
          </a:solidFill>
          <a:ln w="9525">
            <a:solidFill>
              <a:srgbClr val="D5DCEC"/>
            </a:solidFill>
            <a:prstDash val="solid"/>
          </a:ln>
        </p:spPr>
      </p:sp>
      <p:sp>
        <p:nvSpPr>
          <p:cNvPr id="6" name="Text 4"/>
          <p:cNvSpPr txBox="1"/>
          <p:nvPr/>
        </p:nvSpPr>
        <p:spPr>
          <a:xfrm>
            <a:off x="685800" y="2103120"/>
            <a:ext cx="6949440" cy="73152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1  Anrede</a:t>
            </a:r>
            <a:endParaRPr lang="en-US" sz="2700" dirty="0"/>
          </a:p>
        </p:txBody>
      </p:sp>
      <p:sp>
        <p:nvSpPr>
          <p:cNvPr id="7" name="Shape 5"/>
          <p:cNvSpPr/>
          <p:nvPr/>
        </p:nvSpPr>
        <p:spPr>
          <a:xfrm>
            <a:off x="8001000" y="2103120"/>
            <a:ext cx="1783080" cy="731520"/>
          </a:xfrm>
          <a:prstGeom prst="roundRect">
            <a:avLst>
              <a:gd name="adj" fmla="val 10000"/>
            </a:avLst>
          </a:prstGeom>
          <a:solidFill>
            <a:srgbClr val="F4F7FD"/>
          </a:solidFill>
          <a:ln w="9525">
            <a:solidFill>
              <a:srgbClr val="D5DCEC"/>
            </a:solidFill>
            <a:prstDash val="solid"/>
          </a:ln>
        </p:spPr>
      </p:sp>
      <p:sp>
        <p:nvSpPr>
          <p:cNvPr id="8" name="Text 6"/>
          <p:cNvSpPr txBox="1"/>
          <p:nvPr/>
        </p:nvSpPr>
        <p:spPr>
          <a:xfrm>
            <a:off x="8001000" y="2103120"/>
            <a:ext cx="1783080" cy="731520"/>
          </a:xfrm>
          <a:prstGeom prst="rect">
            <a:avLst/>
          </a:prstGeom>
          <a:noFill/>
          <a:ln/>
        </p:spPr>
        <p:txBody>
          <a:bodyPr wrap="square" lIns="0" tIns="0" rIns="0" bIns="0" rtlCol="0" anchor="ctr"/>
          <a:lstStyle/>
          <a:p>
            <a:pPr algn="ctr" indent="0" marL="0">
              <a:buNone/>
            </a:pPr>
            <a:r>
              <a:rPr lang="en-US" sz="2700" dirty="0">
                <a:solidFill>
                  <a:srgbClr val="5B6B8C"/>
                </a:solidFill>
                <a:latin typeface="Calibri" pitchFamily="34" charset="0"/>
                <a:ea typeface="Calibri" pitchFamily="34" charset="-122"/>
                <a:cs typeface="Calibri" pitchFamily="34" charset="-120"/>
              </a:rPr>
              <a:t>☐  1</a:t>
            </a:r>
            <a:endParaRPr lang="en-US" sz="2700" dirty="0"/>
          </a:p>
        </p:txBody>
      </p:sp>
      <p:sp>
        <p:nvSpPr>
          <p:cNvPr id="9" name="Shape 7"/>
          <p:cNvSpPr/>
          <p:nvPr/>
        </p:nvSpPr>
        <p:spPr>
          <a:xfrm>
            <a:off x="9921240" y="2103120"/>
            <a:ext cx="1783080" cy="731520"/>
          </a:xfrm>
          <a:prstGeom prst="roundRect">
            <a:avLst>
              <a:gd name="adj" fmla="val 10000"/>
            </a:avLst>
          </a:prstGeom>
          <a:solidFill>
            <a:srgbClr val="F4F7FD"/>
          </a:solidFill>
          <a:ln w="9525">
            <a:solidFill>
              <a:srgbClr val="D5DCEC"/>
            </a:solidFill>
            <a:prstDash val="solid"/>
          </a:ln>
        </p:spPr>
      </p:sp>
      <p:sp>
        <p:nvSpPr>
          <p:cNvPr id="10" name="Text 8"/>
          <p:cNvSpPr txBox="1"/>
          <p:nvPr/>
        </p:nvSpPr>
        <p:spPr>
          <a:xfrm>
            <a:off x="9921240" y="2103120"/>
            <a:ext cx="1783080" cy="731520"/>
          </a:xfrm>
          <a:prstGeom prst="rect">
            <a:avLst/>
          </a:prstGeom>
          <a:noFill/>
          <a:ln/>
        </p:spPr>
        <p:txBody>
          <a:bodyPr wrap="square" lIns="0" tIns="0" rIns="0" bIns="0" rtlCol="0" anchor="ctr"/>
          <a:lstStyle/>
          <a:p>
            <a:pPr algn="ctr" indent="0" marL="0">
              <a:buNone/>
            </a:pPr>
            <a:r>
              <a:rPr lang="en-US" sz="2700" dirty="0">
                <a:solidFill>
                  <a:srgbClr val="5B6B8C"/>
                </a:solidFill>
                <a:latin typeface="Calibri" pitchFamily="34" charset="0"/>
                <a:ea typeface="Calibri" pitchFamily="34" charset="-122"/>
                <a:cs typeface="Calibri" pitchFamily="34" charset="-120"/>
              </a:rPr>
              <a:t>☐  2</a:t>
            </a:r>
            <a:endParaRPr lang="en-US" sz="2700" dirty="0"/>
          </a:p>
        </p:txBody>
      </p:sp>
      <p:sp>
        <p:nvSpPr>
          <p:cNvPr id="11" name="Shape 9"/>
          <p:cNvSpPr/>
          <p:nvPr/>
        </p:nvSpPr>
        <p:spPr>
          <a:xfrm>
            <a:off x="457200" y="2971800"/>
            <a:ext cx="7315200" cy="731520"/>
          </a:xfrm>
          <a:prstGeom prst="roundRect">
            <a:avLst>
              <a:gd name="adj" fmla="val 10000"/>
            </a:avLst>
          </a:prstGeom>
          <a:solidFill>
            <a:srgbClr val="FFFFFF"/>
          </a:solidFill>
          <a:ln w="9525">
            <a:solidFill>
              <a:srgbClr val="D5DCEC"/>
            </a:solidFill>
            <a:prstDash val="solid"/>
          </a:ln>
        </p:spPr>
      </p:sp>
      <p:sp>
        <p:nvSpPr>
          <p:cNvPr id="12" name="Text 10"/>
          <p:cNvSpPr txBox="1"/>
          <p:nvPr/>
        </p:nvSpPr>
        <p:spPr>
          <a:xfrm>
            <a:off x="685800" y="2971800"/>
            <a:ext cx="6949440" cy="73152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2  Ich-Botschaften</a:t>
            </a:r>
            <a:endParaRPr lang="en-US" sz="2700" dirty="0"/>
          </a:p>
        </p:txBody>
      </p:sp>
      <p:sp>
        <p:nvSpPr>
          <p:cNvPr id="13" name="Shape 11"/>
          <p:cNvSpPr/>
          <p:nvPr/>
        </p:nvSpPr>
        <p:spPr>
          <a:xfrm>
            <a:off x="8001000" y="2971800"/>
            <a:ext cx="1783080" cy="731520"/>
          </a:xfrm>
          <a:prstGeom prst="roundRect">
            <a:avLst>
              <a:gd name="adj" fmla="val 10000"/>
            </a:avLst>
          </a:prstGeom>
          <a:solidFill>
            <a:srgbClr val="FFFFFF"/>
          </a:solidFill>
          <a:ln w="9525">
            <a:solidFill>
              <a:srgbClr val="D5DCEC"/>
            </a:solidFill>
            <a:prstDash val="solid"/>
          </a:ln>
        </p:spPr>
      </p:sp>
      <p:sp>
        <p:nvSpPr>
          <p:cNvPr id="14" name="Text 12"/>
          <p:cNvSpPr txBox="1"/>
          <p:nvPr/>
        </p:nvSpPr>
        <p:spPr>
          <a:xfrm>
            <a:off x="8001000" y="2971800"/>
            <a:ext cx="1783080" cy="731520"/>
          </a:xfrm>
          <a:prstGeom prst="rect">
            <a:avLst/>
          </a:prstGeom>
          <a:noFill/>
          <a:ln/>
        </p:spPr>
        <p:txBody>
          <a:bodyPr wrap="square" lIns="0" tIns="0" rIns="0" bIns="0" rtlCol="0" anchor="ctr"/>
          <a:lstStyle/>
          <a:p>
            <a:pPr algn="ctr" indent="0" marL="0">
              <a:buNone/>
            </a:pPr>
            <a:r>
              <a:rPr lang="en-US" sz="2700" dirty="0">
                <a:solidFill>
                  <a:srgbClr val="5B6B8C"/>
                </a:solidFill>
                <a:latin typeface="Calibri" pitchFamily="34" charset="0"/>
                <a:ea typeface="Calibri" pitchFamily="34" charset="-122"/>
                <a:cs typeface="Calibri" pitchFamily="34" charset="-120"/>
              </a:rPr>
              <a:t>☐  1</a:t>
            </a:r>
            <a:endParaRPr lang="en-US" sz="2700" dirty="0"/>
          </a:p>
        </p:txBody>
      </p:sp>
      <p:sp>
        <p:nvSpPr>
          <p:cNvPr id="15" name="Shape 13"/>
          <p:cNvSpPr/>
          <p:nvPr/>
        </p:nvSpPr>
        <p:spPr>
          <a:xfrm>
            <a:off x="9921240" y="2971800"/>
            <a:ext cx="1783080" cy="731520"/>
          </a:xfrm>
          <a:prstGeom prst="roundRect">
            <a:avLst>
              <a:gd name="adj" fmla="val 10000"/>
            </a:avLst>
          </a:prstGeom>
          <a:solidFill>
            <a:srgbClr val="FFFFFF"/>
          </a:solidFill>
          <a:ln w="9525">
            <a:solidFill>
              <a:srgbClr val="D5DCEC"/>
            </a:solidFill>
            <a:prstDash val="solid"/>
          </a:ln>
        </p:spPr>
      </p:sp>
      <p:sp>
        <p:nvSpPr>
          <p:cNvPr id="16" name="Text 14"/>
          <p:cNvSpPr txBox="1"/>
          <p:nvPr/>
        </p:nvSpPr>
        <p:spPr>
          <a:xfrm>
            <a:off x="9921240" y="2971800"/>
            <a:ext cx="1783080" cy="731520"/>
          </a:xfrm>
          <a:prstGeom prst="rect">
            <a:avLst/>
          </a:prstGeom>
          <a:noFill/>
          <a:ln/>
        </p:spPr>
        <p:txBody>
          <a:bodyPr wrap="square" lIns="0" tIns="0" rIns="0" bIns="0" rtlCol="0" anchor="ctr"/>
          <a:lstStyle/>
          <a:p>
            <a:pPr algn="ctr" indent="0" marL="0">
              <a:buNone/>
            </a:pPr>
            <a:r>
              <a:rPr lang="en-US" sz="2700" dirty="0">
                <a:solidFill>
                  <a:srgbClr val="5B6B8C"/>
                </a:solidFill>
                <a:latin typeface="Calibri" pitchFamily="34" charset="0"/>
                <a:ea typeface="Calibri" pitchFamily="34" charset="-122"/>
                <a:cs typeface="Calibri" pitchFamily="34" charset="-120"/>
              </a:rPr>
              <a:t>☐  2</a:t>
            </a:r>
            <a:endParaRPr lang="en-US" sz="2700" dirty="0"/>
          </a:p>
        </p:txBody>
      </p:sp>
      <p:sp>
        <p:nvSpPr>
          <p:cNvPr id="17" name="Shape 15"/>
          <p:cNvSpPr/>
          <p:nvPr/>
        </p:nvSpPr>
        <p:spPr>
          <a:xfrm>
            <a:off x="457200" y="3840480"/>
            <a:ext cx="7315200" cy="731520"/>
          </a:xfrm>
          <a:prstGeom prst="roundRect">
            <a:avLst>
              <a:gd name="adj" fmla="val 10000"/>
            </a:avLst>
          </a:prstGeom>
          <a:solidFill>
            <a:srgbClr val="F4F7FD"/>
          </a:solidFill>
          <a:ln w="9525">
            <a:solidFill>
              <a:srgbClr val="D5DCEC"/>
            </a:solidFill>
            <a:prstDash val="solid"/>
          </a:ln>
        </p:spPr>
      </p:sp>
      <p:sp>
        <p:nvSpPr>
          <p:cNvPr id="18" name="Text 16"/>
          <p:cNvSpPr txBox="1"/>
          <p:nvPr/>
        </p:nvSpPr>
        <p:spPr>
          <a:xfrm>
            <a:off x="685800" y="3840480"/>
            <a:ext cx="6949440" cy="73152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3  Offener Appell</a:t>
            </a:r>
            <a:endParaRPr lang="en-US" sz="2700" dirty="0"/>
          </a:p>
        </p:txBody>
      </p:sp>
      <p:sp>
        <p:nvSpPr>
          <p:cNvPr id="19" name="Shape 17"/>
          <p:cNvSpPr/>
          <p:nvPr/>
        </p:nvSpPr>
        <p:spPr>
          <a:xfrm>
            <a:off x="8001000" y="3840480"/>
            <a:ext cx="1783080" cy="731520"/>
          </a:xfrm>
          <a:prstGeom prst="roundRect">
            <a:avLst>
              <a:gd name="adj" fmla="val 10000"/>
            </a:avLst>
          </a:prstGeom>
          <a:solidFill>
            <a:srgbClr val="F4F7FD"/>
          </a:solidFill>
          <a:ln w="9525">
            <a:solidFill>
              <a:srgbClr val="D5DCEC"/>
            </a:solidFill>
            <a:prstDash val="solid"/>
          </a:ln>
        </p:spPr>
      </p:sp>
      <p:sp>
        <p:nvSpPr>
          <p:cNvPr id="20" name="Text 18"/>
          <p:cNvSpPr txBox="1"/>
          <p:nvPr/>
        </p:nvSpPr>
        <p:spPr>
          <a:xfrm>
            <a:off x="8001000" y="3840480"/>
            <a:ext cx="1783080" cy="731520"/>
          </a:xfrm>
          <a:prstGeom prst="rect">
            <a:avLst/>
          </a:prstGeom>
          <a:noFill/>
          <a:ln/>
        </p:spPr>
        <p:txBody>
          <a:bodyPr wrap="square" lIns="0" tIns="0" rIns="0" bIns="0" rtlCol="0" anchor="ctr"/>
          <a:lstStyle/>
          <a:p>
            <a:pPr algn="ctr" indent="0" marL="0">
              <a:buNone/>
            </a:pPr>
            <a:r>
              <a:rPr lang="en-US" sz="2700" dirty="0">
                <a:solidFill>
                  <a:srgbClr val="5B6B8C"/>
                </a:solidFill>
                <a:latin typeface="Calibri" pitchFamily="34" charset="0"/>
                <a:ea typeface="Calibri" pitchFamily="34" charset="-122"/>
                <a:cs typeface="Calibri" pitchFamily="34" charset="-120"/>
              </a:rPr>
              <a:t>☐  1</a:t>
            </a:r>
            <a:endParaRPr lang="en-US" sz="2700" dirty="0"/>
          </a:p>
        </p:txBody>
      </p:sp>
      <p:sp>
        <p:nvSpPr>
          <p:cNvPr id="21" name="Shape 19"/>
          <p:cNvSpPr/>
          <p:nvPr/>
        </p:nvSpPr>
        <p:spPr>
          <a:xfrm>
            <a:off x="9921240" y="3840480"/>
            <a:ext cx="1783080" cy="731520"/>
          </a:xfrm>
          <a:prstGeom prst="roundRect">
            <a:avLst>
              <a:gd name="adj" fmla="val 10000"/>
            </a:avLst>
          </a:prstGeom>
          <a:solidFill>
            <a:srgbClr val="F4F7FD"/>
          </a:solidFill>
          <a:ln w="9525">
            <a:solidFill>
              <a:srgbClr val="D5DCEC"/>
            </a:solidFill>
            <a:prstDash val="solid"/>
          </a:ln>
        </p:spPr>
      </p:sp>
      <p:sp>
        <p:nvSpPr>
          <p:cNvPr id="22" name="Text 20"/>
          <p:cNvSpPr txBox="1"/>
          <p:nvPr/>
        </p:nvSpPr>
        <p:spPr>
          <a:xfrm>
            <a:off x="9921240" y="3840480"/>
            <a:ext cx="1783080" cy="731520"/>
          </a:xfrm>
          <a:prstGeom prst="rect">
            <a:avLst/>
          </a:prstGeom>
          <a:noFill/>
          <a:ln/>
        </p:spPr>
        <p:txBody>
          <a:bodyPr wrap="square" lIns="0" tIns="0" rIns="0" bIns="0" rtlCol="0" anchor="ctr"/>
          <a:lstStyle/>
          <a:p>
            <a:pPr algn="ctr" indent="0" marL="0">
              <a:buNone/>
            </a:pPr>
            <a:r>
              <a:rPr lang="en-US" sz="2700" dirty="0">
                <a:solidFill>
                  <a:srgbClr val="5B6B8C"/>
                </a:solidFill>
                <a:latin typeface="Calibri" pitchFamily="34" charset="0"/>
                <a:ea typeface="Calibri" pitchFamily="34" charset="-122"/>
                <a:cs typeface="Calibri" pitchFamily="34" charset="-120"/>
              </a:rPr>
              <a:t>☐  2</a:t>
            </a:r>
            <a:endParaRPr lang="en-US" sz="2700" dirty="0"/>
          </a:p>
        </p:txBody>
      </p:sp>
      <p:sp>
        <p:nvSpPr>
          <p:cNvPr id="23" name="Shape 21"/>
          <p:cNvSpPr/>
          <p:nvPr/>
        </p:nvSpPr>
        <p:spPr>
          <a:xfrm>
            <a:off x="457200" y="4709160"/>
            <a:ext cx="7315200" cy="731520"/>
          </a:xfrm>
          <a:prstGeom prst="roundRect">
            <a:avLst>
              <a:gd name="adj" fmla="val 10000"/>
            </a:avLst>
          </a:prstGeom>
          <a:solidFill>
            <a:srgbClr val="FFFFFF"/>
          </a:solidFill>
          <a:ln w="9525">
            <a:solidFill>
              <a:srgbClr val="D5DCEC"/>
            </a:solidFill>
            <a:prstDash val="solid"/>
          </a:ln>
        </p:spPr>
      </p:sp>
      <p:sp>
        <p:nvSpPr>
          <p:cNvPr id="24" name="Text 22"/>
          <p:cNvSpPr txBox="1"/>
          <p:nvPr/>
        </p:nvSpPr>
        <p:spPr>
          <a:xfrm>
            <a:off x="685800" y="4709160"/>
            <a:ext cx="6949440" cy="73152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4  Bezug zum Text</a:t>
            </a:r>
            <a:endParaRPr lang="en-US" sz="2700" dirty="0"/>
          </a:p>
        </p:txBody>
      </p:sp>
      <p:sp>
        <p:nvSpPr>
          <p:cNvPr id="25" name="Shape 23"/>
          <p:cNvSpPr/>
          <p:nvPr/>
        </p:nvSpPr>
        <p:spPr>
          <a:xfrm>
            <a:off x="8001000" y="4709160"/>
            <a:ext cx="1783080" cy="731520"/>
          </a:xfrm>
          <a:prstGeom prst="roundRect">
            <a:avLst>
              <a:gd name="adj" fmla="val 10000"/>
            </a:avLst>
          </a:prstGeom>
          <a:solidFill>
            <a:srgbClr val="FFFFFF"/>
          </a:solidFill>
          <a:ln w="9525">
            <a:solidFill>
              <a:srgbClr val="D5DCEC"/>
            </a:solidFill>
            <a:prstDash val="solid"/>
          </a:ln>
        </p:spPr>
      </p:sp>
      <p:sp>
        <p:nvSpPr>
          <p:cNvPr id="26" name="Text 24"/>
          <p:cNvSpPr txBox="1"/>
          <p:nvPr/>
        </p:nvSpPr>
        <p:spPr>
          <a:xfrm>
            <a:off x="8001000" y="4709160"/>
            <a:ext cx="1783080" cy="731520"/>
          </a:xfrm>
          <a:prstGeom prst="rect">
            <a:avLst/>
          </a:prstGeom>
          <a:noFill/>
          <a:ln/>
        </p:spPr>
        <p:txBody>
          <a:bodyPr wrap="square" lIns="0" tIns="0" rIns="0" bIns="0" rtlCol="0" anchor="ctr"/>
          <a:lstStyle/>
          <a:p>
            <a:pPr algn="ctr" indent="0" marL="0">
              <a:buNone/>
            </a:pPr>
            <a:r>
              <a:rPr lang="en-US" sz="2700" dirty="0">
                <a:solidFill>
                  <a:srgbClr val="5B6B8C"/>
                </a:solidFill>
                <a:latin typeface="Calibri" pitchFamily="34" charset="0"/>
                <a:ea typeface="Calibri" pitchFamily="34" charset="-122"/>
                <a:cs typeface="Calibri" pitchFamily="34" charset="-120"/>
              </a:rPr>
              <a:t>☐  1</a:t>
            </a:r>
            <a:endParaRPr lang="en-US" sz="2700" dirty="0"/>
          </a:p>
        </p:txBody>
      </p:sp>
      <p:sp>
        <p:nvSpPr>
          <p:cNvPr id="27" name="Shape 25"/>
          <p:cNvSpPr/>
          <p:nvPr/>
        </p:nvSpPr>
        <p:spPr>
          <a:xfrm>
            <a:off x="9921240" y="4709160"/>
            <a:ext cx="1783080" cy="731520"/>
          </a:xfrm>
          <a:prstGeom prst="roundRect">
            <a:avLst>
              <a:gd name="adj" fmla="val 10000"/>
            </a:avLst>
          </a:prstGeom>
          <a:solidFill>
            <a:srgbClr val="FFFFFF"/>
          </a:solidFill>
          <a:ln w="9525">
            <a:solidFill>
              <a:srgbClr val="D5DCEC"/>
            </a:solidFill>
            <a:prstDash val="solid"/>
          </a:ln>
        </p:spPr>
      </p:sp>
      <p:sp>
        <p:nvSpPr>
          <p:cNvPr id="28" name="Text 26"/>
          <p:cNvSpPr txBox="1"/>
          <p:nvPr/>
        </p:nvSpPr>
        <p:spPr>
          <a:xfrm>
            <a:off x="9921240" y="4709160"/>
            <a:ext cx="1783080" cy="731520"/>
          </a:xfrm>
          <a:prstGeom prst="rect">
            <a:avLst/>
          </a:prstGeom>
          <a:noFill/>
          <a:ln/>
        </p:spPr>
        <p:txBody>
          <a:bodyPr wrap="square" lIns="0" tIns="0" rIns="0" bIns="0" rtlCol="0" anchor="ctr"/>
          <a:lstStyle/>
          <a:p>
            <a:pPr algn="ctr" indent="0" marL="0">
              <a:buNone/>
            </a:pPr>
            <a:r>
              <a:rPr lang="en-US" sz="2700" dirty="0">
                <a:solidFill>
                  <a:srgbClr val="5B6B8C"/>
                </a:solidFill>
                <a:latin typeface="Calibri" pitchFamily="34" charset="0"/>
                <a:ea typeface="Calibri" pitchFamily="34" charset="-122"/>
                <a:cs typeface="Calibri" pitchFamily="34" charset="-120"/>
              </a:rPr>
              <a:t>☐  2</a:t>
            </a:r>
            <a:endParaRPr lang="en-US" sz="2700" dirty="0"/>
          </a:p>
        </p:txBody>
      </p:sp>
      <p:sp>
        <p:nvSpPr>
          <p:cNvPr id="29" name="Shape 27"/>
          <p:cNvSpPr/>
          <p:nvPr/>
        </p:nvSpPr>
        <p:spPr>
          <a:xfrm>
            <a:off x="457200" y="5577840"/>
            <a:ext cx="7315200" cy="731520"/>
          </a:xfrm>
          <a:prstGeom prst="roundRect">
            <a:avLst>
              <a:gd name="adj" fmla="val 10000"/>
            </a:avLst>
          </a:prstGeom>
          <a:solidFill>
            <a:srgbClr val="F4F7FD"/>
          </a:solidFill>
          <a:ln w="9525">
            <a:solidFill>
              <a:srgbClr val="D5DCEC"/>
            </a:solidFill>
            <a:prstDash val="solid"/>
          </a:ln>
        </p:spPr>
      </p:sp>
      <p:sp>
        <p:nvSpPr>
          <p:cNvPr id="30" name="Text 28"/>
          <p:cNvSpPr txBox="1"/>
          <p:nvPr/>
        </p:nvSpPr>
        <p:spPr>
          <a:xfrm>
            <a:off x="685800" y="5577840"/>
            <a:ext cx="6949440" cy="73152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5  Respektvoller Ton</a:t>
            </a:r>
            <a:endParaRPr lang="en-US" sz="2700" dirty="0"/>
          </a:p>
        </p:txBody>
      </p:sp>
      <p:sp>
        <p:nvSpPr>
          <p:cNvPr id="31" name="Shape 29"/>
          <p:cNvSpPr/>
          <p:nvPr/>
        </p:nvSpPr>
        <p:spPr>
          <a:xfrm>
            <a:off x="8001000" y="5577840"/>
            <a:ext cx="1783080" cy="731520"/>
          </a:xfrm>
          <a:prstGeom prst="roundRect">
            <a:avLst>
              <a:gd name="adj" fmla="val 10000"/>
            </a:avLst>
          </a:prstGeom>
          <a:solidFill>
            <a:srgbClr val="F4F7FD"/>
          </a:solidFill>
          <a:ln w="9525">
            <a:solidFill>
              <a:srgbClr val="D5DCEC"/>
            </a:solidFill>
            <a:prstDash val="solid"/>
          </a:ln>
        </p:spPr>
      </p:sp>
      <p:sp>
        <p:nvSpPr>
          <p:cNvPr id="32" name="Text 30"/>
          <p:cNvSpPr txBox="1"/>
          <p:nvPr/>
        </p:nvSpPr>
        <p:spPr>
          <a:xfrm>
            <a:off x="8001000" y="5577840"/>
            <a:ext cx="1783080" cy="731520"/>
          </a:xfrm>
          <a:prstGeom prst="rect">
            <a:avLst/>
          </a:prstGeom>
          <a:noFill/>
          <a:ln/>
        </p:spPr>
        <p:txBody>
          <a:bodyPr wrap="square" lIns="0" tIns="0" rIns="0" bIns="0" rtlCol="0" anchor="ctr"/>
          <a:lstStyle/>
          <a:p>
            <a:pPr algn="ctr" indent="0" marL="0">
              <a:buNone/>
            </a:pPr>
            <a:r>
              <a:rPr lang="en-US" sz="2700" dirty="0">
                <a:solidFill>
                  <a:srgbClr val="5B6B8C"/>
                </a:solidFill>
                <a:latin typeface="Calibri" pitchFamily="34" charset="0"/>
                <a:ea typeface="Calibri" pitchFamily="34" charset="-122"/>
                <a:cs typeface="Calibri" pitchFamily="34" charset="-120"/>
              </a:rPr>
              <a:t>☐  1</a:t>
            </a:r>
            <a:endParaRPr lang="en-US" sz="2700" dirty="0"/>
          </a:p>
        </p:txBody>
      </p:sp>
      <p:sp>
        <p:nvSpPr>
          <p:cNvPr id="33" name="Shape 31"/>
          <p:cNvSpPr/>
          <p:nvPr/>
        </p:nvSpPr>
        <p:spPr>
          <a:xfrm>
            <a:off x="9921240" y="5577840"/>
            <a:ext cx="1783080" cy="731520"/>
          </a:xfrm>
          <a:prstGeom prst="roundRect">
            <a:avLst>
              <a:gd name="adj" fmla="val 10000"/>
            </a:avLst>
          </a:prstGeom>
          <a:solidFill>
            <a:srgbClr val="F4F7FD"/>
          </a:solidFill>
          <a:ln w="9525">
            <a:solidFill>
              <a:srgbClr val="D5DCEC"/>
            </a:solidFill>
            <a:prstDash val="solid"/>
          </a:ln>
        </p:spPr>
      </p:sp>
      <p:sp>
        <p:nvSpPr>
          <p:cNvPr id="34" name="Text 32"/>
          <p:cNvSpPr txBox="1"/>
          <p:nvPr/>
        </p:nvSpPr>
        <p:spPr>
          <a:xfrm>
            <a:off x="9921240" y="5577840"/>
            <a:ext cx="1783080" cy="731520"/>
          </a:xfrm>
          <a:prstGeom prst="rect">
            <a:avLst/>
          </a:prstGeom>
          <a:noFill/>
          <a:ln/>
        </p:spPr>
        <p:txBody>
          <a:bodyPr wrap="square" lIns="0" tIns="0" rIns="0" bIns="0" rtlCol="0" anchor="ctr"/>
          <a:lstStyle/>
          <a:p>
            <a:pPr algn="ctr" indent="0" marL="0">
              <a:buNone/>
            </a:pPr>
            <a:r>
              <a:rPr lang="en-US" sz="2700" dirty="0">
                <a:solidFill>
                  <a:srgbClr val="5B6B8C"/>
                </a:solidFill>
                <a:latin typeface="Calibri" pitchFamily="34" charset="0"/>
                <a:ea typeface="Calibri" pitchFamily="34" charset="-122"/>
                <a:cs typeface="Calibri" pitchFamily="34" charset="-120"/>
              </a:rPr>
              <a:t>☐  2</a:t>
            </a:r>
            <a:endParaRPr lang="en-US" sz="2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Text 1"/>
          <p:cNvSpPr txBox="1"/>
          <p:nvPr/>
        </p:nvSpPr>
        <p:spPr>
          <a:xfrm>
            <a:off x="822960" y="1371600"/>
            <a:ext cx="10424160" cy="155448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Im Brief bittet Kafka vorsichtig und versteckt – in der Rede offen.</a:t>
            </a:r>
            <a:endParaRPr lang="en-US" sz="3200" dirty="0"/>
          </a:p>
        </p:txBody>
      </p:sp>
      <p:sp>
        <p:nvSpPr>
          <p:cNvPr id="4" name="Text 2"/>
          <p:cNvSpPr txBox="1"/>
          <p:nvPr/>
        </p:nvSpPr>
        <p:spPr>
          <a:xfrm>
            <a:off x="822960" y="3291840"/>
            <a:ext cx="10424160" cy="1463040"/>
          </a:xfrm>
          <a:prstGeom prst="rect">
            <a:avLst/>
          </a:prstGeom>
          <a:noFill/>
          <a:ln/>
        </p:spPr>
        <p:txBody>
          <a:bodyPr wrap="square" lIns="0" tIns="0" rIns="0" bIns="0" rtlCol="0" anchor="t"/>
          <a:lstStyle/>
          <a:p>
            <a:pPr indent="0" marL="0">
              <a:spcAft>
                <a:spcPts val="1000"/>
              </a:spcAft>
              <a:buNone/>
            </a:pPr>
            <a:r>
              <a:rPr lang="en-US" sz="2700" dirty="0">
                <a:solidFill>
                  <a:srgbClr val="CADCFC"/>
                </a:solidFill>
                <a:latin typeface="Calibri" pitchFamily="34" charset="0"/>
                <a:ea typeface="Calibri" pitchFamily="34" charset="-122"/>
                <a:cs typeface="Calibri" pitchFamily="34" charset="-120"/>
              </a:rPr>
              <a:t>Warum hat Kafka im Brief nicht so gesprochen?</a:t>
            </a:r>
            <a:endParaRPr lang="en-US" sz="2700" dirty="0"/>
          </a:p>
          <a:p>
            <a:pPr indent="0" marL="0">
              <a:spcAft>
                <a:spcPts val="1000"/>
              </a:spcAft>
              <a:buNone/>
            </a:pPr>
            <a:r>
              <a:rPr lang="en-US" sz="2700" dirty="0">
                <a:solidFill>
                  <a:srgbClr val="CADCFC"/>
                </a:solidFill>
                <a:latin typeface="Calibri" pitchFamily="34" charset="0"/>
                <a:ea typeface="Calibri" pitchFamily="34" charset="-122"/>
                <a:cs typeface="Calibri" pitchFamily="34" charset="-120"/>
              </a:rPr>
              <a:t>Welche Fassung hätte der Vater eher gehört?</a:t>
            </a:r>
            <a:endParaRPr lang="en-US" sz="2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Rechtschreib-Check und Kafkas Appell</dc:title>
  <dc:subject>PptxGenJS Presentation</dc:subject>
  <dc:creator>PptxGenJS</dc:creator>
  <cp:lastModifiedBy>PptxGenJS</cp:lastModifiedBy>
  <cp:revision>1</cp:revision>
  <dcterms:created xsi:type="dcterms:W3CDTF">2026-10-14T08:03:51Z</dcterms:created>
  <dcterms:modified xsi:type="dcterms:W3CDTF">2026-10-14T08:03:51Z</dcterms:modified>
</cp:coreProperties>
</file>