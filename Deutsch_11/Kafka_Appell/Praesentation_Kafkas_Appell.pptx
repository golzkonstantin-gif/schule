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Verlauf kurz vorstellen: erst die Auswertung des Briefs, dann Kafka – heute geht es um den Appell.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Am Ende der Stunde darauf zurückkommen: Was davon kann ich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der Auswertung vom 08.10. (Deutsch_11/Auswertung_Brief) – vor der Stunde mit den endgültigen Punkten abgleichen. Lob zuerst: Beziehung und Metakommunikation gelingen. Dann: Der Appell war oft nur eine Hoffnung – genau das untersuchen wir heute bei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„Inhaltlich wisst ihr viel – Punkte verliert ihr bei der Sprache. Die meisten Fehler sind immer dieselben zwei: Substantive klein und fehlende Kommas, z. B. bei ‚Ich hoffe, ihr …‘. Das trainieren wir in den nächsten Stunden.“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zeigen: Teil 1 ist geschafft, jetzt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Antworten sammeln (z. B. „Achtet beim Schreiben auf Großschreibung und Kommas!“). Rückfrage: Offen oder versteckt? – „Ich habe nur gesagt, was schlecht war. Den Appell musstet ihr selbst heraushören.“ Überleitung zur Kommunikation.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Schnelle Abfrage, Antworten an die Tafel (Wiederholung links): verbal / paraverbal / nonverbal · vier Ohren: Sachinhalt, Selbstkundgabe, Beziehung, Appell · Inhalts- und Beziehungsebene (Beziehung bestimmt, wie der Inhalt ankommt).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Zitat aus dem Material der Mentorin (dort leicht abweichend: „darin“ statt „dort ja“), hier nach dem Original. Achtung: „Mein Schreiben“ meint Kafkas Bücher, nicht den Brief – der Vater begrüßte sie mit „Legs auf den Nachttisch!“. Erwartung: Kafka kann nicht mit dem Vater reden („an Deiner Brust“ = Nähe, Vertrauen), deshalb schreibt er; die Beziehung ist gestört, der Sohn hat Furcht. Überleitung: Was will Kafka eigentlich von ihm?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an die letzte Stunde (Mentorin) anknüpfen: Selbstkundgabe, Brods Brief. Ziel der Stunde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Steht auch auf dem Arbeitsblatt (2. Information). Rückbezug: „Mein Appell vorhin war verdeckt – ich habe nur beschrieben, was schlecht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Kontext-Box vom Arbeitsblatt vorlesen, dann den Auszug. Die Klasse liest auf dem Arbeitsblatt mit (Zeilennummern, Fußnoten).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VERARBEITEN. Herumgehen. Wer hängt: „Was soll der Vater nach diesem Satz anders machen?“ Danach zwei Sätze vorlesen lassen, den treffendsten an die Tafel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Leitfragen stehen auf dem Arbeitsblatt. Formulierungshilfen hier stehen lassen – auch für die Besprechung: Antworten in ganzen Sätzen einfordern. Kurz prüfen, bevor es mit Aufgabe 3 weitergeht.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Danach Auswertung im Unterrichtsgespräch: Leitfragen der Reihe nach, Ergebnisse ins Quadrat an der Tafel (③), Appell zuletzt und groß.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4 im Gespräch. Ziel: Furcht → verdeckter, abgesicherter Appell. Merksatz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5. Überleitung: „Max Brods Brief war erfolgreich – der Vater hört zu. Jetzt spricht Franz selbst, und zwar offen.“ In der Stunde beginnen; ein bis zwei Reden werden in der nächsten Stunde ohne Unterbrechung vorgetragen und nach den Kriterien ausgewertet (keine Hausaufgabe). Hinweis: Substantive groß, Komma vor dass – auch bei „Ich hoffe,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Heute</a:t>
            </a:r>
            <a:endParaRPr lang="en-US" sz="3000" dirty="0"/>
          </a:p>
        </p:txBody>
      </p:sp>
      <p:sp>
        <p:nvSpPr>
          <p:cNvPr id="4" name="Shape 2"/>
          <p:cNvSpPr/>
          <p:nvPr/>
        </p:nvSpPr>
        <p:spPr>
          <a:xfrm>
            <a:off x="457200" y="1280160"/>
            <a:ext cx="11247120" cy="1737360"/>
          </a:xfrm>
          <a:prstGeom prst="roundRect">
            <a:avLst>
              <a:gd name="adj" fmla="val 4211"/>
            </a:avLst>
          </a:prstGeom>
          <a:solidFill>
            <a:srgbClr val="E3F1E8"/>
          </a:solidFill>
          <a:ln w="25400">
            <a:solidFill>
              <a:srgbClr val="2E9E6B"/>
            </a:solidFill>
            <a:prstDash val="solid"/>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Teil 1  ·  5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Auswertung des Briefs „Pressekonferenz“</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40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Lernziele</a:t>
            </a:r>
            <a:endParaRPr lang="en-US" sz="3000" dirty="0"/>
          </a:p>
        </p:txBody>
      </p:sp>
      <p:sp>
        <p:nvSpPr>
          <p:cNvPr id="4" name="Text 2"/>
          <p:cNvSpPr txBox="1"/>
          <p:nvPr/>
        </p:nvSpPr>
        <p:spPr>
          <a:xfrm>
            <a:off x="731520" y="1280160"/>
            <a:ext cx="10789920" cy="5120640"/>
          </a:xfrm>
          <a:prstGeom prst="rect">
            <a:avLst/>
          </a:prstGeom>
          <a:noFill/>
          <a:ln/>
        </p:spPr>
        <p:txBody>
          <a:bodyPr wrap="square" lIns="0" tIns="0" rIns="0" bIns="0" rtlCol="0" anchor="t"/>
          <a:lstStyle/>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weiß, wo ich im Brief Punkte gewonnen und verloren habe.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erkenne offene und verdeckte Appelle in Kafkas Brief und belege sie.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formuliere selbst einen offenen Appell in einer Rede.</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Auswertung: Brief „Pressekonferenz“</a:t>
            </a:r>
            <a:endParaRPr lang="en-US" sz="3000" dirty="0"/>
          </a:p>
        </p:txBody>
      </p:sp>
      <p:sp>
        <p:nvSpPr>
          <p:cNvPr id="4" name="Shape 2"/>
          <p:cNvSpPr/>
          <p:nvPr/>
        </p:nvSpPr>
        <p:spPr>
          <a:xfrm>
            <a:off x="457200" y="1188720"/>
            <a:ext cx="3657600" cy="1554480"/>
          </a:xfrm>
          <a:prstGeom prst="roundRect">
            <a:avLst>
              <a:gd name="adj" fmla="val 4706"/>
            </a:avLst>
          </a:prstGeom>
          <a:solidFill>
            <a:srgbClr val="F4F7FD"/>
          </a:solidFill>
          <a:ln/>
        </p:spPr>
      </p:sp>
      <p:sp>
        <p:nvSpPr>
          <p:cNvPr id="5" name="Text 3"/>
          <p:cNvSpPr txBox="1"/>
          <p:nvPr/>
        </p:nvSpPr>
        <p:spPr>
          <a:xfrm>
            <a:off x="64008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Inhalt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14,5 von 20</a:t>
            </a:r>
            <a:endParaRPr lang="en-US" sz="2700" dirty="0"/>
          </a:p>
        </p:txBody>
      </p:sp>
      <p:sp>
        <p:nvSpPr>
          <p:cNvPr id="6" name="Shape 4"/>
          <p:cNvSpPr/>
          <p:nvPr/>
        </p:nvSpPr>
        <p:spPr>
          <a:xfrm>
            <a:off x="4251960" y="1188720"/>
            <a:ext cx="3657600" cy="1554480"/>
          </a:xfrm>
          <a:prstGeom prst="roundRect">
            <a:avLst>
              <a:gd name="adj" fmla="val 4706"/>
            </a:avLst>
          </a:prstGeom>
          <a:solidFill>
            <a:srgbClr val="F4F7FD"/>
          </a:solidFill>
          <a:ln/>
        </p:spPr>
      </p:sp>
      <p:sp>
        <p:nvSpPr>
          <p:cNvPr id="7" name="Text 5"/>
          <p:cNvSpPr txBox="1"/>
          <p:nvPr/>
        </p:nvSpPr>
        <p:spPr>
          <a:xfrm>
            <a:off x="443484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Sprache</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4,4 von 10</a:t>
            </a:r>
            <a:endParaRPr lang="en-US" sz="2700" dirty="0"/>
          </a:p>
        </p:txBody>
      </p:sp>
      <p:sp>
        <p:nvSpPr>
          <p:cNvPr id="8" name="Shape 6"/>
          <p:cNvSpPr/>
          <p:nvPr/>
        </p:nvSpPr>
        <p:spPr>
          <a:xfrm>
            <a:off x="8046720" y="1188720"/>
            <a:ext cx="3657600" cy="1554480"/>
          </a:xfrm>
          <a:prstGeom prst="roundRect">
            <a:avLst>
              <a:gd name="adj" fmla="val 4706"/>
            </a:avLst>
          </a:prstGeom>
          <a:solidFill>
            <a:srgbClr val="D8E1F3"/>
          </a:solidFill>
          <a:ln/>
        </p:spPr>
      </p:sp>
      <p:sp>
        <p:nvSpPr>
          <p:cNvPr id="9" name="Text 7"/>
          <p:cNvSpPr txBox="1"/>
          <p:nvPr/>
        </p:nvSpPr>
        <p:spPr>
          <a:xfrm>
            <a:off x="822960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Gesamt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18,9 von 30</a:t>
            </a:r>
            <a:endParaRPr lang="en-US" sz="2700" dirty="0"/>
          </a:p>
        </p:txBody>
      </p:sp>
      <p:sp>
        <p:nvSpPr>
          <p:cNvPr id="10" name="Text 8"/>
          <p:cNvSpPr txBox="1"/>
          <p:nvPr/>
        </p:nvSpPr>
        <p:spPr>
          <a:xfrm>
            <a:off x="457200" y="3063240"/>
            <a:ext cx="11247120" cy="1097280"/>
          </a:xfrm>
          <a:prstGeom prst="rect">
            <a:avLst/>
          </a:prstGeom>
          <a:noFill/>
          <a:ln/>
        </p:spPr>
        <p:txBody>
          <a:bodyPr wrap="square" lIns="0" tIns="0" rIns="0" bIns="0" rtlCol="0" anchor="t"/>
          <a:lstStyle/>
          <a:p>
            <a:pPr indent="0" marL="0">
              <a:buNone/>
            </a:pPr>
            <a:r>
              <a:rPr lang="en-US" sz="2700" b="1" dirty="0">
                <a:solidFill>
                  <a:srgbClr val="2E9E6B"/>
                </a:solidFill>
                <a:latin typeface="Calibri" pitchFamily="34" charset="0"/>
                <a:ea typeface="Calibri" pitchFamily="34" charset="-122"/>
                <a:cs typeface="Calibri" pitchFamily="34" charset="-120"/>
              </a:rPr>
              <a:t>Stark: </a:t>
            </a:r>
            <a:pPr indent="0" marL="0">
              <a:buNone/>
            </a:pPr>
            <a:r>
              <a:rPr lang="en-US" sz="2700" dirty="0">
                <a:solidFill>
                  <a:srgbClr val="1E2761"/>
                </a:solidFill>
                <a:latin typeface="Calibri" pitchFamily="34" charset="0"/>
                <a:ea typeface="Calibri" pitchFamily="34" charset="-122"/>
                <a:cs typeface="Calibri" pitchFamily="34" charset="-120"/>
              </a:rPr>
              <a:t>Beziehung reparieren und Metakommunikation</a:t>
            </a:r>
            <a:endParaRPr lang="en-US" sz="2700" dirty="0"/>
          </a:p>
        </p:txBody>
      </p:sp>
      <p:sp>
        <p:nvSpPr>
          <p:cNvPr id="11" name="Text 9"/>
          <p:cNvSpPr txBox="1"/>
          <p:nvPr/>
        </p:nvSpPr>
        <p:spPr>
          <a:xfrm>
            <a:off x="457200" y="4206240"/>
            <a:ext cx="11247120" cy="1280160"/>
          </a:xfrm>
          <a:prstGeom prst="rect">
            <a:avLst/>
          </a:prstGeom>
          <a:noFill/>
          <a:ln/>
        </p:spPr>
        <p:txBody>
          <a:bodyPr wrap="square" lIns="0" tIns="0" rIns="0" bIns="0" rtlCol="0" anchor="t"/>
          <a:lstStyle/>
          <a:p>
            <a:pPr indent="0" marL="0">
              <a:buNone/>
            </a:pPr>
            <a:r>
              <a:rPr lang="en-US" sz="2700" b="1" dirty="0">
                <a:solidFill>
                  <a:srgbClr val="D9534F"/>
                </a:solidFill>
                <a:latin typeface="Calibri" pitchFamily="34" charset="0"/>
                <a:ea typeface="Calibri" pitchFamily="34" charset="-122"/>
                <a:cs typeface="Calibri" pitchFamily="34" charset="-120"/>
              </a:rPr>
              <a:t>Schwach: </a:t>
            </a:r>
            <a:pPr indent="0" marL="0">
              <a:buNone/>
            </a:pPr>
            <a:r>
              <a:rPr lang="en-US" sz="2700" dirty="0">
                <a:solidFill>
                  <a:srgbClr val="1E2761"/>
                </a:solidFill>
                <a:latin typeface="Calibri" pitchFamily="34" charset="0"/>
                <a:ea typeface="Calibri" pitchFamily="34" charset="-122"/>
                <a:cs typeface="Calibri" pitchFamily="34" charset="-120"/>
              </a:rPr>
              <a:t>Appell: oft nur „Ich hoffe, ihr …“ statt einer klaren Bitte</a:t>
            </a:r>
            <a:endParaRPr lang="en-US" sz="2700" dirty="0"/>
          </a:p>
        </p:txBody>
      </p:sp>
      <p:sp>
        <p:nvSpPr>
          <p:cNvPr id="12" name="Text 10"/>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 Darum geht es heute in Teil 2.</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 die Punkte verloren gehen</a:t>
            </a:r>
            <a:endParaRPr lang="en-US" sz="3000" dirty="0"/>
          </a:p>
        </p:txBody>
      </p:sp>
      <p:sp>
        <p:nvSpPr>
          <p:cNvPr id="4" name="Shape 2"/>
          <p:cNvSpPr/>
          <p:nvPr/>
        </p:nvSpPr>
        <p:spPr>
          <a:xfrm>
            <a:off x="457200" y="1188720"/>
            <a:ext cx="11247120" cy="1188720"/>
          </a:xfrm>
          <a:prstGeom prst="roundRect">
            <a:avLst>
              <a:gd name="adj" fmla="val 6154"/>
            </a:avLst>
          </a:prstGeom>
          <a:solidFill>
            <a:srgbClr val="FDECEA"/>
          </a:solidFill>
          <a:ln/>
        </p:spPr>
      </p:sp>
      <p:sp>
        <p:nvSpPr>
          <p:cNvPr id="5" name="Text 3"/>
          <p:cNvSpPr txBox="1"/>
          <p:nvPr/>
        </p:nvSpPr>
        <p:spPr>
          <a:xfrm>
            <a:off x="731520" y="1188720"/>
            <a:ext cx="10789920" cy="118872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Rechtschreibung Ø 0,4 von 2 · Zeichensetzung Ø 0,6 von 2</a:t>
            </a:r>
            <a:endParaRPr lang="en-US" sz="2700" dirty="0"/>
          </a:p>
        </p:txBody>
      </p:sp>
      <p:sp>
        <p:nvSpPr>
          <p:cNvPr id="6" name="Text 4"/>
          <p:cNvSpPr txBox="1"/>
          <p:nvPr/>
        </p:nvSpPr>
        <p:spPr>
          <a:xfrm>
            <a:off x="731520" y="2651760"/>
            <a:ext cx="10789920" cy="1645920"/>
          </a:xfrm>
          <a:prstGeom prst="rect">
            <a:avLst/>
          </a:prstGeom>
          <a:noFill/>
          <a:ln/>
        </p:spPr>
        <p:txBody>
          <a:bodyPr wrap="square" lIns="0" tIns="0" rIns="0" bIns="0" rtlCol="0" anchor="t"/>
          <a:lstStyle/>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Substantive werden kleingeschrieben.</a:t>
            </a:r>
            <a:endParaRPr lang="en-US" sz="2700" dirty="0"/>
          </a:p>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Kommas zwischen Sätzen fehlen – auch bei „Ich hoffe, ihr …“</a:t>
            </a:r>
            <a:endParaRPr lang="en-US" sz="2700" dirty="0"/>
          </a:p>
        </p:txBody>
      </p:sp>
      <p:sp>
        <p:nvSpPr>
          <p:cNvPr id="7" name="Shape 5"/>
          <p:cNvSpPr/>
          <p:nvPr/>
        </p:nvSpPr>
        <p:spPr>
          <a:xfrm>
            <a:off x="457200" y="4754880"/>
            <a:ext cx="11247120" cy="1188720"/>
          </a:xfrm>
          <a:prstGeom prst="roundRect">
            <a:avLst>
              <a:gd name="adj" fmla="val 6154"/>
            </a:avLst>
          </a:prstGeom>
          <a:solidFill>
            <a:srgbClr val="E3F1E8"/>
          </a:solidFill>
          <a:ln/>
        </p:spPr>
      </p:sp>
      <p:sp>
        <p:nvSpPr>
          <p:cNvPr id="8" name="Text 6"/>
          <p:cNvSpPr txBox="1"/>
          <p:nvPr/>
        </p:nvSpPr>
        <p:spPr>
          <a:xfrm>
            <a:off x="731520" y="4754880"/>
            <a:ext cx="10789920" cy="118872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Achtet schon heute beim Schreiben auf diese Fehlerquellen!</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Weiter geht’s</a:t>
            </a:r>
            <a:endParaRPr lang="en-US" sz="3000" dirty="0"/>
          </a:p>
        </p:txBody>
      </p:sp>
      <p:sp>
        <p:nvSpPr>
          <p:cNvPr id="4" name="Shape 2"/>
          <p:cNvSpPr/>
          <p:nvPr/>
        </p:nvSpPr>
        <p:spPr>
          <a:xfrm>
            <a:off x="457200" y="1280160"/>
            <a:ext cx="11247120" cy="1737360"/>
          </a:xfrm>
          <a:prstGeom prst="roundRect">
            <a:avLst>
              <a:gd name="adj" fmla="val 4211"/>
            </a:avLst>
          </a:prstGeom>
          <a:solidFill>
            <a:srgbClr val="F4F7FD"/>
          </a:solidFill>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5B6B8C"/>
                </a:solidFill>
                <a:latin typeface="Calibri" pitchFamily="34" charset="0"/>
                <a:ea typeface="Calibri" pitchFamily="34" charset="-122"/>
                <a:cs typeface="Calibri" pitchFamily="34" charset="-120"/>
              </a:rPr>
              <a:t>Teil 1  ·  5 Min.</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Auswertung des Briefs „Pressekonferenz“</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40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ANKOMMEN</a:t>
            </a:r>
            <a:endParaRPr lang="en-US" sz="2700" dirty="0"/>
          </a:p>
        </p:txBody>
      </p:sp>
      <p:sp>
        <p:nvSpPr>
          <p:cNvPr id="5" name="Text 3"/>
          <p:cNvSpPr txBox="1"/>
          <p:nvPr/>
        </p:nvSpPr>
        <p:spPr>
          <a:xfrm>
            <a:off x="822960" y="2194560"/>
            <a:ext cx="10424160" cy="731520"/>
          </a:xfrm>
          <a:prstGeom prst="rect">
            <a:avLst/>
          </a:prstGeom>
          <a:noFill/>
          <a:ln/>
        </p:spPr>
        <p:txBody>
          <a:bodyPr wrap="square" lIns="0" tIns="0" rIns="0" bIns="0" rtlCol="0" anchor="t"/>
          <a:lstStyle/>
          <a:p>
            <a:pPr indent="0" marL="0">
              <a:buNone/>
            </a:pPr>
            <a:r>
              <a:rPr lang="en-US" sz="3200" dirty="0">
                <a:solidFill>
                  <a:srgbClr val="CADCFC"/>
                </a:solidFill>
                <a:latin typeface="Cambria" pitchFamily="34" charset="0"/>
                <a:ea typeface="Cambria" pitchFamily="34" charset="-122"/>
                <a:cs typeface="Cambria" pitchFamily="34" charset="-120"/>
              </a:rPr>
              <a:t>Ich habe euch eben Rückmeldung gegeben.</a:t>
            </a:r>
            <a:endParaRPr lang="en-US" sz="3200" dirty="0"/>
          </a:p>
        </p:txBody>
      </p:sp>
      <p:sp>
        <p:nvSpPr>
          <p:cNvPr id="6" name="Text 4"/>
          <p:cNvSpPr txBox="1"/>
          <p:nvPr/>
        </p:nvSpPr>
        <p:spPr>
          <a:xfrm>
            <a:off x="822960" y="3017520"/>
            <a:ext cx="10424160" cy="10972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Was ist mein Appell an euch?</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Was wisst ihr noch?</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Shape 3"/>
          <p:cNvSpPr/>
          <p:nvPr/>
        </p:nvSpPr>
        <p:spPr>
          <a:xfrm>
            <a:off x="457200" y="1188720"/>
            <a:ext cx="11247120" cy="1508760"/>
          </a:xfrm>
          <a:prstGeom prst="roundRect">
            <a:avLst>
              <a:gd name="adj" fmla="val 4848"/>
            </a:avLst>
          </a:prstGeom>
          <a:solidFill>
            <a:srgbClr val="F4F7FD"/>
          </a:solidFill>
          <a:ln w="9525">
            <a:solidFill>
              <a:srgbClr val="D5DCEC"/>
            </a:solidFill>
            <a:prstDash val="solid"/>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kommunizieren wir?</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3 Ebenen</a:t>
            </a:r>
            <a:endParaRPr lang="en-US" sz="2700" dirty="0"/>
          </a:p>
        </p:txBody>
      </p:sp>
      <p:sp>
        <p:nvSpPr>
          <p:cNvPr id="7" name="Shape 5"/>
          <p:cNvSpPr/>
          <p:nvPr/>
        </p:nvSpPr>
        <p:spPr>
          <a:xfrm>
            <a:off x="457200" y="2880360"/>
            <a:ext cx="11247120" cy="1508760"/>
          </a:xfrm>
          <a:prstGeom prst="roundRect">
            <a:avLst>
              <a:gd name="adj" fmla="val 4848"/>
            </a:avLst>
          </a:prstGeom>
          <a:solidFill>
            <a:srgbClr val="FFFFFF"/>
          </a:solidFill>
          <a:ln w="9525">
            <a:solidFill>
              <a:srgbClr val="D5DCEC"/>
            </a:solidFill>
            <a:prstDash val="solid"/>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viele Ohren hat eine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Schulz von Thun</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w="9525">
            <a:solidFill>
              <a:srgbClr val="D5DCEC"/>
            </a:solidFill>
            <a:prstDash val="solid"/>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Welche zwei Ebenen hat jede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Watzlawick</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Kontextualisieren</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6" name="Text 4"/>
          <p:cNvSpPr txBox="1"/>
          <p:nvPr/>
        </p:nvSpPr>
        <p:spPr>
          <a:xfrm>
            <a:off x="457200" y="1143000"/>
            <a:ext cx="11247120" cy="1737360"/>
          </a:xfrm>
          <a:prstGeom prst="rect">
            <a:avLst/>
          </a:prstGeom>
          <a:noFill/>
          <a:ln/>
        </p:spPr>
        <p:txBody>
          <a:bodyPr wrap="square" lIns="0" tIns="0" rIns="0" bIns="0" rtlCol="0" anchor="t"/>
          <a:lstStyle/>
          <a:p>
            <a:pPr indent="0" marL="0">
              <a:buNone/>
            </a:pPr>
            <a:r>
              <a:rPr lang="en-US" sz="2700" dirty="0">
                <a:solidFill>
                  <a:srgbClr val="1E2761"/>
                </a:solidFill>
                <a:latin typeface="Calibri" pitchFamily="34" charset="0"/>
                <a:ea typeface="Calibri" pitchFamily="34" charset="-122"/>
                <a:cs typeface="Calibri" pitchFamily="34" charset="-120"/>
              </a:rPr>
              <a:t>Kontextualisiere den Auszug aus Franz Kafkas „Brief an den Vater“ an Hermann Kafka. Beziehe dich dabei mit deinem Vorwissen auf die Beziehung zwischen Vater und Sohn.</a:t>
            </a:r>
            <a:endParaRPr lang="en-US" sz="2700" dirty="0"/>
          </a:p>
        </p:txBody>
      </p:sp>
      <p:sp>
        <p:nvSpPr>
          <p:cNvPr id="7" name="Shape 5"/>
          <p:cNvSpPr/>
          <p:nvPr/>
        </p:nvSpPr>
        <p:spPr>
          <a:xfrm>
            <a:off x="457200" y="3063240"/>
            <a:ext cx="11247120" cy="2011680"/>
          </a:xfrm>
          <a:prstGeom prst="roundRect">
            <a:avLst>
              <a:gd name="adj" fmla="val 3636"/>
            </a:avLst>
          </a:prstGeom>
          <a:solidFill>
            <a:srgbClr val="F4F7FD"/>
          </a:solidFill>
          <a:ln/>
        </p:spPr>
      </p:sp>
      <p:sp>
        <p:nvSpPr>
          <p:cNvPr id="8" name="Shape 6"/>
          <p:cNvSpPr/>
          <p:nvPr/>
        </p:nvSpPr>
        <p:spPr>
          <a:xfrm>
            <a:off x="457200" y="3063240"/>
            <a:ext cx="109728" cy="2011680"/>
          </a:xfrm>
          <a:prstGeom prst="rect">
            <a:avLst/>
          </a:prstGeom>
          <a:solidFill>
            <a:srgbClr val="D9534F"/>
          </a:solidFill>
          <a:ln/>
        </p:spPr>
      </p:sp>
      <p:sp>
        <p:nvSpPr>
          <p:cNvPr id="9" name="Text 7"/>
          <p:cNvSpPr txBox="1"/>
          <p:nvPr/>
        </p:nvSpPr>
        <p:spPr>
          <a:xfrm>
            <a:off x="822960" y="3063240"/>
            <a:ext cx="10698480" cy="2011680"/>
          </a:xfrm>
          <a:prstGeom prst="rect">
            <a:avLst/>
          </a:prstGeom>
          <a:noFill/>
          <a:ln/>
        </p:spPr>
        <p:txBody>
          <a:bodyPr wrap="square" lIns="0" tIns="0" rIns="0" bIns="0" rtlCol="0" anchor="ctr"/>
          <a:lstStyle/>
          <a:p>
            <a:pPr indent="0" marL="0">
              <a:buNone/>
            </a:pPr>
            <a:r>
              <a:rPr lang="en-US" sz="2700" i="1" dirty="0">
                <a:solidFill>
                  <a:srgbClr val="1E2761"/>
                </a:solidFill>
                <a:latin typeface="Cambria" pitchFamily="34" charset="0"/>
                <a:ea typeface="Cambria" pitchFamily="34" charset="-122"/>
                <a:cs typeface="Cambria" pitchFamily="34" charset="-120"/>
              </a:rPr>
              <a:t>„Mein Schreiben handelte von Dir, ich klagte dort ja nur, was ich an Deiner Brust nicht klagen konnte.“</a:t>
            </a:r>
            <a:endParaRPr lang="en-US" sz="2700" dirty="0"/>
          </a:p>
        </p:txBody>
      </p:sp>
      <p:sp>
        <p:nvSpPr>
          <p:cNvPr id="10" name="Text 8"/>
          <p:cNvSpPr txBox="1"/>
          <p:nvPr/>
        </p:nvSpPr>
        <p:spPr>
          <a:xfrm>
            <a:off x="457200" y="5212080"/>
            <a:ext cx="11247120" cy="45720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Franz Kafka: „Brief an den Vater“ (1919), S. 14</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Kafka und sein Vater</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Text 3"/>
          <p:cNvSpPr txBox="1"/>
          <p:nvPr/>
        </p:nvSpPr>
        <p:spPr>
          <a:xfrm>
            <a:off x="731520" y="1280160"/>
            <a:ext cx="10789920" cy="3291840"/>
          </a:xfrm>
          <a:prstGeom prst="rect">
            <a:avLst/>
          </a:prstGeom>
          <a:noFill/>
          <a:ln/>
        </p:spPr>
        <p:txBody>
          <a:bodyPr wrap="square" lIns="0" tIns="0" rIns="0" bIns="0" rtlCol="0" anchor="t"/>
          <a:lstStyle/>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Die Beziehung ist gestört – der Sohn hat Furcht, der Vater versteht ihn nicht.</a:t>
            </a:r>
            <a:endParaRPr lang="en-US" sz="2700" dirty="0"/>
          </a:p>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Max Brod hat deshalb an den Vater geschrieben.</a:t>
            </a:r>
            <a:endParaRPr lang="en-US" sz="2700" dirty="0"/>
          </a:p>
          <a:p>
            <a:pPr marL="304800" indent="-304800">
              <a:buSzPct val="100000"/>
              <a:buChar char="•"/>
            </a:pPr>
            <a:r>
              <a:rPr lang="en-US" sz="2700" b="1" dirty="0">
                <a:solidFill>
                  <a:srgbClr val="1E2761"/>
                </a:solidFill>
                <a:latin typeface="Calibri" pitchFamily="34" charset="0"/>
                <a:ea typeface="Calibri" pitchFamily="34" charset="-122"/>
                <a:cs typeface="Calibri" pitchFamily="34" charset="-120"/>
              </a:rPr>
              <a:t>Heute: Was will Kafka selbst von seinem Vater?</a:t>
            </a:r>
            <a:endParaRPr lang="en-US" sz="2700" dirty="0"/>
          </a:p>
        </p:txBody>
      </p:sp>
      <p:sp>
        <p:nvSpPr>
          <p:cNvPr id="6" name="Shape 4"/>
          <p:cNvSpPr/>
          <p:nvPr/>
        </p:nvSpPr>
        <p:spPr>
          <a:xfrm>
            <a:off x="457200" y="4846320"/>
            <a:ext cx="11247120" cy="1097280"/>
          </a:xfrm>
          <a:prstGeom prst="roundRect">
            <a:avLst>
              <a:gd name="adj" fmla="val 6667"/>
            </a:avLst>
          </a:prstGeom>
          <a:solidFill>
            <a:srgbClr val="FDECEA"/>
          </a:solidFill>
          <a:ln/>
        </p:spPr>
      </p:sp>
      <p:sp>
        <p:nvSpPr>
          <p:cNvPr id="7" name="Text 5"/>
          <p:cNvSpPr txBox="1"/>
          <p:nvPr/>
        </p:nvSpPr>
        <p:spPr>
          <a:xfrm>
            <a:off x="731520" y="4846320"/>
            <a:ext cx="10789920" cy="109728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Wir untersuchen die Appell-Ebene.</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Information: Der Appell</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Shape 3"/>
          <p:cNvSpPr/>
          <p:nvPr/>
        </p:nvSpPr>
        <p:spPr>
          <a:xfrm>
            <a:off x="457200" y="1188720"/>
            <a:ext cx="11247120" cy="1508760"/>
          </a:xfrm>
          <a:prstGeom prst="roundRect">
            <a:avLst>
              <a:gd name="adj" fmla="val 4848"/>
            </a:avLst>
          </a:prstGeom>
          <a:solidFill>
            <a:srgbClr val="FDECEA"/>
          </a:solidFill>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Appell: </a:t>
            </a:r>
            <a:pPr indent="0" marL="0">
              <a:buNone/>
            </a:pPr>
            <a:r>
              <a:rPr lang="en-US" sz="2700" dirty="0">
                <a:solidFill>
                  <a:srgbClr val="1E2761"/>
                </a:solidFill>
                <a:latin typeface="Calibri" pitchFamily="34" charset="0"/>
                <a:ea typeface="Calibri" pitchFamily="34" charset="-122"/>
                <a:cs typeface="Calibri" pitchFamily="34" charset="-120"/>
              </a:rPr>
              <a:t>Mit dieser Seite einer Nachricht will der Sender erreichen, dass der Empfänger etwas tut, denkt oder fühlt.</a:t>
            </a:r>
            <a:endParaRPr lang="en-US" sz="2700" dirty="0"/>
          </a:p>
        </p:txBody>
      </p:sp>
      <p:sp>
        <p:nvSpPr>
          <p:cNvPr id="7" name="Shape 5"/>
          <p:cNvSpPr/>
          <p:nvPr/>
        </p:nvSpPr>
        <p:spPr>
          <a:xfrm>
            <a:off x="457200" y="2880360"/>
            <a:ext cx="11247120" cy="1508760"/>
          </a:xfrm>
          <a:prstGeom prst="roundRect">
            <a:avLst>
              <a:gd name="adj" fmla="val 4848"/>
            </a:avLst>
          </a:prstGeom>
          <a:solidFill>
            <a:srgbClr val="F4F7FD"/>
          </a:solidFill>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 </a:t>
            </a:r>
            <a:pPr indent="0" marL="0">
              <a:buNone/>
            </a:pPr>
            <a:r>
              <a:rPr lang="en-US" sz="2700" dirty="0">
                <a:solidFill>
                  <a:srgbClr val="1E2761"/>
                </a:solidFill>
                <a:latin typeface="Calibri" pitchFamily="34" charset="0"/>
                <a:ea typeface="Calibri" pitchFamily="34" charset="-122"/>
                <a:cs typeface="Calibri" pitchFamily="34" charset="-120"/>
              </a:rPr>
              <a:t>direkt ausgesprochen, z. B. als Bitte: „Hör mir bitte zu!“</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verdeckt: </a:t>
            </a:r>
            <a:pPr indent="0" marL="0">
              <a:buNone/>
            </a:pPr>
            <a:r>
              <a:rPr lang="en-US" sz="2700" dirty="0">
                <a:solidFill>
                  <a:srgbClr val="1E2761"/>
                </a:solidFill>
                <a:latin typeface="Calibri" pitchFamily="34" charset="0"/>
                <a:ea typeface="Calibri" pitchFamily="34" charset="-122"/>
                <a:cs typeface="Calibri" pitchFamily="34" charset="-120"/>
              </a:rPr>
              <a:t>versteckt in einem Wunsch, einer Frage oder einer Beschreibung: „Du hörst mir nie zu.“</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Worum bittet Kafka?</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Text 3"/>
          <p:cNvSpPr txBox="1"/>
          <p:nvPr/>
        </p:nvSpPr>
        <p:spPr>
          <a:xfrm>
            <a:off x="457200" y="1143000"/>
            <a:ext cx="11247120" cy="4937760"/>
          </a:xfrm>
          <a:prstGeom prst="rect">
            <a:avLst/>
          </a:prstGeom>
          <a:noFill/>
          <a:ln/>
        </p:spPr>
        <p:txBody>
          <a:bodyPr wrap="square" lIns="0" tIns="0" rIns="0" bIns="0" rtlCol="0" anchor="t"/>
          <a:lstStyle/>
          <a:p>
            <a:pPr indent="0" marL="0">
              <a:lnSpc>
                <a:spcPct val="110000"/>
              </a:lnSpc>
              <a:buNone/>
            </a:pPr>
            <a:r>
              <a:rPr lang="en-US" sz="2700" dirty="0">
                <a:solidFill>
                  <a:srgbClr val="1E2761"/>
                </a:solidFill>
                <a:latin typeface="Cambria" pitchFamily="34" charset="0"/>
                <a:ea typeface="Cambria" pitchFamily="34" charset="-122"/>
                <a:cs typeface="Cambria" pitchFamily="34" charset="-120"/>
              </a:rPr>
              <a:t>Wobei ich Dich aber immerfort bitte, nicht zu vergessen, daß ich niemals im entferntesten an eine Schuld Deinerseits glaube. Du wirktest so auf mich, wie Du wirken mußtest, nur sollst Du aufhören, es für eine besondere Bosheit meinerseits zu halten, daß ich dieser Wirkung erlegen bin. […] ich kann nicht glauben, daß ein freundliches Wort, ein stilles Bei-der-Hand-Nehmen, ein guter Blick mir nicht alles hätten abfordern können, was man wollte.</a:t>
            </a:r>
            <a:endParaRPr lang="en-US" sz="2700" dirty="0"/>
          </a:p>
        </p:txBody>
      </p:sp>
      <p:sp>
        <p:nvSpPr>
          <p:cNvPr id="6" name="Text 4"/>
          <p:cNvSpPr txBox="1"/>
          <p:nvPr/>
        </p:nvSpPr>
        <p:spPr>
          <a:xfrm>
            <a:off x="457200" y="6263640"/>
            <a:ext cx="11247120" cy="45720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Franz Kafka: „Brief an den Vater“ (1919), S. 3</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Aufgabe 1: Vorarbeit</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 Min.</a:t>
            </a:r>
            <a:endParaRPr lang="en-US" sz="2700" dirty="0"/>
          </a:p>
        </p:txBody>
      </p:sp>
      <p:sp>
        <p:nvSpPr>
          <p:cNvPr id="6" name="Shape 4"/>
          <p:cNvSpPr/>
          <p:nvPr/>
        </p:nvSpPr>
        <p:spPr>
          <a:xfrm>
            <a:off x="457200" y="1143000"/>
            <a:ext cx="11247120" cy="1188720"/>
          </a:xfrm>
          <a:prstGeom prst="roundRect">
            <a:avLst>
              <a:gd name="adj" fmla="val 6154"/>
            </a:avLst>
          </a:prstGeom>
          <a:solidFill>
            <a:srgbClr val="F4F7FD"/>
          </a:solidFill>
          <a:ln/>
        </p:spPr>
      </p:sp>
      <p:sp>
        <p:nvSpPr>
          <p:cNvPr id="7" name="Text 5"/>
          <p:cNvSpPr txBox="1"/>
          <p:nvPr/>
        </p:nvSpPr>
        <p:spPr>
          <a:xfrm>
            <a:off x="731520" y="1143000"/>
            <a:ext cx="10789920" cy="11887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Fasse den Auszug in einem Satz zusammen: Worum bittet Kafka seinen Vater?</a:t>
            </a:r>
            <a:endParaRPr lang="en-US" sz="2700" dirty="0"/>
          </a:p>
        </p:txBody>
      </p:sp>
      <p:sp>
        <p:nvSpPr>
          <p:cNvPr id="8" name="Text 6"/>
          <p:cNvSpPr txBox="1"/>
          <p:nvPr/>
        </p:nvSpPr>
        <p:spPr>
          <a:xfrm>
            <a:off x="731520" y="2743200"/>
            <a:ext cx="10789920" cy="73152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Satzanfang:  „Kafka bittet seinen Vater, …“</a:t>
            </a:r>
            <a:endParaRPr lang="en-US" sz="2700" dirty="0"/>
          </a:p>
        </p:txBody>
      </p:sp>
      <p:sp>
        <p:nvSpPr>
          <p:cNvPr id="9" name="Text 7"/>
          <p:cNvSpPr txBox="1"/>
          <p:nvPr/>
        </p:nvSpPr>
        <p:spPr>
          <a:xfrm>
            <a:off x="457200" y="6172200"/>
            <a:ext cx="11247120" cy="50292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Allein, direkt auf dem Arbeitsblatt.</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Aufgabe 2: Analyse</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6 Min.</a:t>
            </a:r>
            <a:endParaRPr lang="en-US" sz="2700" dirty="0"/>
          </a:p>
        </p:txBody>
      </p:sp>
      <p:sp>
        <p:nvSpPr>
          <p:cNvPr id="6" name="Shape 4"/>
          <p:cNvSpPr/>
          <p:nvPr/>
        </p:nvSpPr>
        <p:spPr>
          <a:xfrm>
            <a:off x="457200" y="1143000"/>
            <a:ext cx="11247120" cy="1188720"/>
          </a:xfrm>
          <a:prstGeom prst="roundRect">
            <a:avLst>
              <a:gd name="adj" fmla="val 6154"/>
            </a:avLst>
          </a:prstGeom>
          <a:solidFill>
            <a:srgbClr val="F4F7FD"/>
          </a:solidFill>
          <a:ln/>
        </p:spPr>
      </p:sp>
      <p:sp>
        <p:nvSpPr>
          <p:cNvPr id="7" name="Text 5"/>
          <p:cNvSpPr txBox="1"/>
          <p:nvPr/>
        </p:nvSpPr>
        <p:spPr>
          <a:xfrm>
            <a:off x="731520" y="1143000"/>
            <a:ext cx="10789920" cy="11887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Beantworte die drei Leitfragen – mit Zitat und Zeile.</a:t>
            </a:r>
            <a:endParaRPr lang="en-US" sz="2700" dirty="0"/>
          </a:p>
        </p:txBody>
      </p:sp>
      <p:sp>
        <p:nvSpPr>
          <p:cNvPr id="8" name="Shape 6"/>
          <p:cNvSpPr/>
          <p:nvPr/>
        </p:nvSpPr>
        <p:spPr>
          <a:xfrm>
            <a:off x="457200" y="2560320"/>
            <a:ext cx="11247120" cy="3474720"/>
          </a:xfrm>
          <a:prstGeom prst="roundRect">
            <a:avLst>
              <a:gd name="adj" fmla="val 2105"/>
            </a:avLst>
          </a:prstGeom>
          <a:solidFill>
            <a:srgbClr val="FFF8EC"/>
          </a:solidFill>
          <a:ln/>
        </p:spPr>
      </p:sp>
      <p:sp>
        <p:nvSpPr>
          <p:cNvPr id="9" name="Text 7"/>
          <p:cNvSpPr txBox="1"/>
          <p:nvPr/>
        </p:nvSpPr>
        <p:spPr>
          <a:xfrm>
            <a:off x="731520" y="2651760"/>
            <a:ext cx="10789920" cy="548640"/>
          </a:xfrm>
          <a:prstGeom prst="rect">
            <a:avLst/>
          </a:prstGeom>
          <a:noFill/>
          <a:ln/>
        </p:spPr>
        <p:txBody>
          <a:bodyPr wrap="square" lIns="0" tIns="0" rIns="0" bIns="0" rtlCol="0" anchor="t"/>
          <a:lstStyle/>
          <a:p>
            <a:pPr indent="0" marL="0">
              <a:buNone/>
            </a:pPr>
            <a:r>
              <a:rPr lang="en-US" sz="2700" b="1" dirty="0">
                <a:solidFill>
                  <a:srgbClr val="E8A33D"/>
                </a:solidFill>
                <a:latin typeface="Cambria" pitchFamily="34" charset="0"/>
                <a:ea typeface="Cambria" pitchFamily="34" charset="-122"/>
                <a:cs typeface="Cambria" pitchFamily="34" charset="-120"/>
              </a:rPr>
              <a:t>Formulierungshilfen</a:t>
            </a:r>
            <a:endParaRPr lang="en-US" sz="2700" dirty="0"/>
          </a:p>
        </p:txBody>
      </p:sp>
      <p:sp>
        <p:nvSpPr>
          <p:cNvPr id="10" name="Text 8"/>
          <p:cNvSpPr txBox="1"/>
          <p:nvPr/>
        </p:nvSpPr>
        <p:spPr>
          <a:xfrm>
            <a:off x="731520" y="3200400"/>
            <a:ext cx="10789920" cy="2743200"/>
          </a:xfrm>
          <a:prstGeom prst="rect">
            <a:avLst/>
          </a:prstGeom>
          <a:noFill/>
          <a:ln/>
        </p:spPr>
        <p:txBody>
          <a:bodyPr wrap="square" lIns="0" tIns="0" rIns="0" bIns="0" rtlCol="0" anchor="t"/>
          <a:lstStyle/>
          <a:p>
            <a:pPr marL="304800" indent="-304800">
              <a:spcAft>
                <a:spcPts val="800"/>
              </a:spcAft>
              <a:buSzPct val="100000"/>
              <a:buChar char="•"/>
            </a:pPr>
            <a:r>
              <a:rPr lang="en-US" sz="2700" i="1" dirty="0">
                <a:solidFill>
                  <a:srgbClr val="1E2761"/>
                </a:solidFill>
                <a:latin typeface="Calibri" pitchFamily="34" charset="0"/>
                <a:ea typeface="Calibri" pitchFamily="34" charset="-122"/>
                <a:cs typeface="Calibri" pitchFamily="34" charset="-120"/>
              </a:rPr>
              <a:t>Ein offener Appell zeigt sich in … (Z. …).</a:t>
            </a:r>
            <a:endParaRPr lang="en-US" sz="2700" dirty="0"/>
          </a:p>
          <a:p>
            <a:pPr marL="304800" indent="-304800">
              <a:spcAft>
                <a:spcPts val="800"/>
              </a:spcAft>
              <a:buSzPct val="100000"/>
              <a:buChar char="•"/>
            </a:pPr>
            <a:r>
              <a:rPr lang="en-US" sz="2700" i="1" dirty="0">
                <a:solidFill>
                  <a:srgbClr val="1E2761"/>
                </a:solidFill>
                <a:latin typeface="Calibri" pitchFamily="34" charset="0"/>
                <a:ea typeface="Calibri" pitchFamily="34" charset="-122"/>
                <a:cs typeface="Calibri" pitchFamily="34" charset="-120"/>
              </a:rPr>
              <a:t>Verdeckt appelliert Kafka, wenn er …</a:t>
            </a:r>
            <a:endParaRPr lang="en-US" sz="2700" dirty="0"/>
          </a:p>
          <a:p>
            <a:pPr marL="304800" indent="-304800">
              <a:spcAft>
                <a:spcPts val="800"/>
              </a:spcAft>
              <a:buSzPct val="100000"/>
              <a:buChar char="•"/>
            </a:pPr>
            <a:r>
              <a:rPr lang="en-US" sz="2700" i="1" dirty="0">
                <a:solidFill>
                  <a:srgbClr val="1E2761"/>
                </a:solidFill>
                <a:latin typeface="Calibri" pitchFamily="34" charset="0"/>
                <a:ea typeface="Calibri" pitchFamily="34" charset="-122"/>
                <a:cs typeface="Calibri" pitchFamily="34" charset="-120"/>
              </a:rPr>
              <a:t>Damit will er erreichen, dass der Vater …</a:t>
            </a:r>
            <a:endParaRPr lang="en-US" sz="2700" dirty="0"/>
          </a:p>
          <a:p>
            <a:pPr marL="304800" indent="-304800">
              <a:spcAft>
                <a:spcPts val="800"/>
              </a:spcAft>
              <a:buSzPct val="100000"/>
              <a:buChar char="•"/>
            </a:pPr>
            <a:r>
              <a:rPr lang="en-US" sz="2700" i="1" dirty="0">
                <a:solidFill>
                  <a:srgbClr val="1E2761"/>
                </a:solidFill>
                <a:latin typeface="Calibri" pitchFamily="34" charset="0"/>
                <a:ea typeface="Calibri" pitchFamily="34" charset="-122"/>
                <a:cs typeface="Calibri" pitchFamily="34" charset="-120"/>
              </a:rPr>
              <a:t>Seine Bitte sichert er ab, indem er …</a:t>
            </a:r>
            <a:endParaRPr lang="en-US" sz="2700" dirty="0"/>
          </a:p>
        </p:txBody>
      </p:sp>
      <p:sp>
        <p:nvSpPr>
          <p:cNvPr id="11" name="Text 9"/>
          <p:cNvSpPr txBox="1"/>
          <p:nvPr/>
        </p:nvSpPr>
        <p:spPr>
          <a:xfrm>
            <a:off x="457200" y="6172200"/>
            <a:ext cx="11247120" cy="50292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Allein, direkt auf dem Arbeitsblatt.</a:t>
            </a: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Aufgabe 3: Visualisierung</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6 Min.</a:t>
            </a:r>
            <a:endParaRPr lang="en-US" sz="2700" dirty="0"/>
          </a:p>
        </p:txBody>
      </p:sp>
      <p:sp>
        <p:nvSpPr>
          <p:cNvPr id="6" name="Shape 4"/>
          <p:cNvSpPr/>
          <p:nvPr/>
        </p:nvSpPr>
        <p:spPr>
          <a:xfrm>
            <a:off x="457200" y="1143000"/>
            <a:ext cx="11247120" cy="1188720"/>
          </a:xfrm>
          <a:prstGeom prst="roundRect">
            <a:avLst>
              <a:gd name="adj" fmla="val 6154"/>
            </a:avLst>
          </a:prstGeom>
          <a:solidFill>
            <a:srgbClr val="F4F7FD"/>
          </a:solidFill>
          <a:ln/>
        </p:spPr>
      </p:sp>
      <p:sp>
        <p:nvSpPr>
          <p:cNvPr id="7" name="Text 5"/>
          <p:cNvSpPr txBox="1"/>
          <p:nvPr/>
        </p:nvSpPr>
        <p:spPr>
          <a:xfrm>
            <a:off x="731520" y="1143000"/>
            <a:ext cx="10789920" cy="118872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Trage deine Ergebnisse in das Kommunikationsquadrat ein – vor allem in den Quadranten Appell.</a:t>
            </a:r>
            <a:endParaRPr lang="en-US" sz="2700" dirty="0"/>
          </a:p>
        </p:txBody>
      </p:sp>
      <p:sp>
        <p:nvSpPr>
          <p:cNvPr id="8" name="Shape 6"/>
          <p:cNvSpPr/>
          <p:nvPr/>
        </p:nvSpPr>
        <p:spPr>
          <a:xfrm>
            <a:off x="2194560" y="2606040"/>
            <a:ext cx="3794760" cy="1600200"/>
          </a:xfrm>
          <a:prstGeom prst="roundRect">
            <a:avLst>
              <a:gd name="adj" fmla="val 2286"/>
            </a:avLst>
          </a:prstGeom>
          <a:solidFill>
            <a:srgbClr val="F4F7FD"/>
          </a:solidFill>
          <a:ln w="9525">
            <a:solidFill>
              <a:srgbClr val="D5DCEC"/>
            </a:solidFill>
            <a:prstDash val="solid"/>
          </a:ln>
        </p:spPr>
      </p:sp>
      <p:sp>
        <p:nvSpPr>
          <p:cNvPr id="9" name="Text 7"/>
          <p:cNvSpPr txBox="1"/>
          <p:nvPr/>
        </p:nvSpPr>
        <p:spPr>
          <a:xfrm>
            <a:off x="2194560" y="2606040"/>
            <a:ext cx="3794760" cy="1600200"/>
          </a:xfrm>
          <a:prstGeom prst="rect">
            <a:avLst/>
          </a:prstGeom>
          <a:noFill/>
          <a:ln/>
        </p:spPr>
        <p:txBody>
          <a:bodyPr wrap="square" lIns="0" tIns="0" rIns="0" bIns="0" rtlCol="0" anchor="ctr"/>
          <a:lstStyle/>
          <a:p>
            <a:pPr algn="ctr" indent="0" marL="0">
              <a:buNone/>
            </a:pPr>
            <a:r>
              <a:rPr lang="en-US" sz="2700" b="1" dirty="0">
                <a:solidFill>
                  <a:srgbClr val="1E2761"/>
                </a:solidFill>
                <a:latin typeface="Calibri" pitchFamily="34" charset="0"/>
                <a:ea typeface="Calibri" pitchFamily="34" charset="-122"/>
                <a:cs typeface="Calibri" pitchFamily="34" charset="-120"/>
              </a:rPr>
              <a:t>Sachinhalt</a:t>
            </a:r>
            <a:endParaRPr lang="en-US" sz="2700" dirty="0"/>
          </a:p>
        </p:txBody>
      </p:sp>
      <p:sp>
        <p:nvSpPr>
          <p:cNvPr id="10" name="Shape 8"/>
          <p:cNvSpPr/>
          <p:nvPr/>
        </p:nvSpPr>
        <p:spPr>
          <a:xfrm>
            <a:off x="6126480" y="2606040"/>
            <a:ext cx="3794760" cy="1600200"/>
          </a:xfrm>
          <a:prstGeom prst="roundRect">
            <a:avLst>
              <a:gd name="adj" fmla="val 2286"/>
            </a:avLst>
          </a:prstGeom>
          <a:solidFill>
            <a:srgbClr val="F4F7FD"/>
          </a:solidFill>
          <a:ln w="9525">
            <a:solidFill>
              <a:srgbClr val="D5DCEC"/>
            </a:solidFill>
            <a:prstDash val="solid"/>
          </a:ln>
        </p:spPr>
      </p:sp>
      <p:sp>
        <p:nvSpPr>
          <p:cNvPr id="11" name="Text 9"/>
          <p:cNvSpPr txBox="1"/>
          <p:nvPr/>
        </p:nvSpPr>
        <p:spPr>
          <a:xfrm>
            <a:off x="6126480" y="2606040"/>
            <a:ext cx="3794760" cy="1600200"/>
          </a:xfrm>
          <a:prstGeom prst="rect">
            <a:avLst/>
          </a:prstGeom>
          <a:noFill/>
          <a:ln/>
        </p:spPr>
        <p:txBody>
          <a:bodyPr wrap="square" lIns="0" tIns="0" rIns="0" bIns="0" rtlCol="0" anchor="ctr"/>
          <a:lstStyle/>
          <a:p>
            <a:pPr algn="ctr" indent="0" marL="0">
              <a:buNone/>
            </a:pPr>
            <a:r>
              <a:rPr lang="en-US" sz="2700" b="1" dirty="0">
                <a:solidFill>
                  <a:srgbClr val="1E2761"/>
                </a:solidFill>
                <a:latin typeface="Calibri" pitchFamily="34" charset="0"/>
                <a:ea typeface="Calibri" pitchFamily="34" charset="-122"/>
                <a:cs typeface="Calibri" pitchFamily="34" charset="-120"/>
              </a:rPr>
              <a:t>Selbstkundgabe</a:t>
            </a:r>
            <a:endParaRPr lang="en-US" sz="2700" dirty="0"/>
          </a:p>
        </p:txBody>
      </p:sp>
      <p:sp>
        <p:nvSpPr>
          <p:cNvPr id="12" name="Shape 10"/>
          <p:cNvSpPr/>
          <p:nvPr/>
        </p:nvSpPr>
        <p:spPr>
          <a:xfrm>
            <a:off x="2194560" y="4343400"/>
            <a:ext cx="3794760" cy="1600200"/>
          </a:xfrm>
          <a:prstGeom prst="roundRect">
            <a:avLst>
              <a:gd name="adj" fmla="val 2286"/>
            </a:avLst>
          </a:prstGeom>
          <a:solidFill>
            <a:srgbClr val="F4F7FD"/>
          </a:solidFill>
          <a:ln w="9525">
            <a:solidFill>
              <a:srgbClr val="D5DCEC"/>
            </a:solidFill>
            <a:prstDash val="solid"/>
          </a:ln>
        </p:spPr>
      </p:sp>
      <p:sp>
        <p:nvSpPr>
          <p:cNvPr id="13" name="Text 11"/>
          <p:cNvSpPr txBox="1"/>
          <p:nvPr/>
        </p:nvSpPr>
        <p:spPr>
          <a:xfrm>
            <a:off x="2194560" y="4343400"/>
            <a:ext cx="3794760" cy="1600200"/>
          </a:xfrm>
          <a:prstGeom prst="rect">
            <a:avLst/>
          </a:prstGeom>
          <a:noFill/>
          <a:ln/>
        </p:spPr>
        <p:txBody>
          <a:bodyPr wrap="square" lIns="0" tIns="0" rIns="0" bIns="0" rtlCol="0" anchor="ctr"/>
          <a:lstStyle/>
          <a:p>
            <a:pPr algn="ctr" indent="0" marL="0">
              <a:buNone/>
            </a:pPr>
            <a:r>
              <a:rPr lang="en-US" sz="2700" b="1" dirty="0">
                <a:solidFill>
                  <a:srgbClr val="1E2761"/>
                </a:solidFill>
                <a:latin typeface="Calibri" pitchFamily="34" charset="0"/>
                <a:ea typeface="Calibri" pitchFamily="34" charset="-122"/>
                <a:cs typeface="Calibri" pitchFamily="34" charset="-120"/>
              </a:rPr>
              <a:t>Beziehung</a:t>
            </a:r>
            <a:endParaRPr lang="en-US" sz="2700" dirty="0"/>
          </a:p>
        </p:txBody>
      </p:sp>
      <p:sp>
        <p:nvSpPr>
          <p:cNvPr id="14" name="Shape 12"/>
          <p:cNvSpPr/>
          <p:nvPr/>
        </p:nvSpPr>
        <p:spPr>
          <a:xfrm>
            <a:off x="6126480" y="4343400"/>
            <a:ext cx="3794760" cy="1600200"/>
          </a:xfrm>
          <a:prstGeom prst="roundRect">
            <a:avLst>
              <a:gd name="adj" fmla="val 2286"/>
            </a:avLst>
          </a:prstGeom>
          <a:solidFill>
            <a:srgbClr val="FDECEA"/>
          </a:solidFill>
          <a:ln w="31750">
            <a:solidFill>
              <a:srgbClr val="D9534F"/>
            </a:solidFill>
            <a:prstDash val="solid"/>
          </a:ln>
        </p:spPr>
      </p:sp>
      <p:sp>
        <p:nvSpPr>
          <p:cNvPr id="15" name="Text 13"/>
          <p:cNvSpPr txBox="1"/>
          <p:nvPr/>
        </p:nvSpPr>
        <p:spPr>
          <a:xfrm>
            <a:off x="6126480" y="4343400"/>
            <a:ext cx="3794760" cy="1600200"/>
          </a:xfrm>
          <a:prstGeom prst="rect">
            <a:avLst/>
          </a:prstGeom>
          <a:noFill/>
          <a:ln/>
        </p:spPr>
        <p:txBody>
          <a:bodyPr wrap="square" lIns="0" tIns="0" rIns="0" bIns="0" rtlCol="0" anchor="ctr"/>
          <a:lstStyle/>
          <a:p>
            <a:pPr algn="ctr" indent="0" marL="0">
              <a:buNone/>
            </a:pPr>
            <a:r>
              <a:rPr lang="en-US" sz="2700" b="1" dirty="0">
                <a:solidFill>
                  <a:srgbClr val="D9534F"/>
                </a:solidFill>
                <a:latin typeface="Calibri" pitchFamily="34" charset="0"/>
                <a:ea typeface="Calibri" pitchFamily="34" charset="-122"/>
                <a:cs typeface="Calibri" pitchFamily="34" charset="-120"/>
              </a:rPr>
              <a:t>Appell</a:t>
            </a:r>
            <a:endParaRPr lang="en-US" sz="2700" dirty="0"/>
          </a:p>
        </p:txBody>
      </p:sp>
      <p:sp>
        <p:nvSpPr>
          <p:cNvPr id="16" name="Text 14"/>
          <p:cNvSpPr txBox="1"/>
          <p:nvPr/>
        </p:nvSpPr>
        <p:spPr>
          <a:xfrm>
            <a:off x="457200" y="6172200"/>
            <a:ext cx="11247120" cy="50292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Allein, direkt auf dem Arbeitsblatt.</a:t>
            </a:r>
            <a:endParaRPr lang="en-US" sz="2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REFLEXION</a:t>
            </a:r>
            <a:endParaRPr lang="en-US" sz="2700" dirty="0"/>
          </a:p>
        </p:txBody>
      </p:sp>
      <p:sp>
        <p:nvSpPr>
          <p:cNvPr id="5" name="Text 3"/>
          <p:cNvSpPr txBox="1"/>
          <p:nvPr/>
        </p:nvSpPr>
        <p:spPr>
          <a:xfrm>
            <a:off x="822960" y="2194560"/>
            <a:ext cx="10424160" cy="8229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Kafka hat den Brief nie übergeben.</a:t>
            </a:r>
            <a:endParaRPr lang="en-US" sz="3200" dirty="0"/>
          </a:p>
        </p:txBody>
      </p:sp>
      <p:sp>
        <p:nvSpPr>
          <p:cNvPr id="6" name="Text 4"/>
          <p:cNvSpPr txBox="1"/>
          <p:nvPr/>
        </p:nvSpPr>
        <p:spPr>
          <a:xfrm>
            <a:off x="822960" y="3291840"/>
            <a:ext cx="10424160" cy="2377440"/>
          </a:xfrm>
          <a:prstGeom prst="rect">
            <a:avLst/>
          </a:prstGeom>
          <a:noFill/>
          <a:ln/>
        </p:spPr>
        <p:txBody>
          <a:bodyPr wrap="square" lIns="0" tIns="0" rIns="0" bIns="0" rtlCol="0" anchor="t"/>
          <a:lstStyle/>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Warum appelliert er so vorsichtig und versteckt?</a:t>
            </a:r>
            <a:endParaRPr lang="en-US" sz="2700" dirty="0"/>
          </a:p>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Angenommen, der Vater hätte den Brief gelesen: Hätte er verstanden, worum Kafka ihn bittet?</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Transfer: Kafkas Rede an den Vater</a:t>
            </a:r>
            <a:endParaRPr lang="en-US" sz="3000" dirty="0"/>
          </a:p>
        </p:txBody>
      </p:sp>
      <p:sp>
        <p:nvSpPr>
          <p:cNvPr id="4" name="Shape 2"/>
          <p:cNvSpPr/>
          <p:nvPr/>
        </p:nvSpPr>
        <p:spPr>
          <a:xfrm>
            <a:off x="457200" y="1097280"/>
            <a:ext cx="11247120" cy="1783080"/>
          </a:xfrm>
          <a:prstGeom prst="roundRect">
            <a:avLst>
              <a:gd name="adj" fmla="val 4103"/>
            </a:avLst>
          </a:prstGeom>
          <a:solidFill>
            <a:srgbClr val="F4F7FD"/>
          </a:solidFill>
          <a:ln/>
        </p:spPr>
      </p:sp>
      <p:sp>
        <p:nvSpPr>
          <p:cNvPr id="5" name="Text 3"/>
          <p:cNvSpPr txBox="1"/>
          <p:nvPr/>
        </p:nvSpPr>
        <p:spPr>
          <a:xfrm>
            <a:off x="685800" y="1143000"/>
            <a:ext cx="10789920" cy="169164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Max Brods Brief an Hermann Kafka war erfolgreich: Der Vater ist bereit, seinem Sohn zuzuhören.</a:t>
            </a:r>
            <a:endParaRPr lang="en-US" sz="2700" dirty="0"/>
          </a:p>
          <a:p>
            <a:pPr indent="0" marL="0">
              <a:buNone/>
            </a:pPr>
            <a:r>
              <a:rPr lang="en-US" sz="2700" b="1" dirty="0">
                <a:solidFill>
                  <a:srgbClr val="1E2761"/>
                </a:solidFill>
                <a:latin typeface="Cambria" pitchFamily="34" charset="0"/>
                <a:ea typeface="Cambria" pitchFamily="34" charset="-122"/>
                <a:cs typeface="Cambria" pitchFamily="34" charset="-120"/>
              </a:rPr>
              <a:t>Schreibe als Franz eine Rede an den Vater, in der du an ihn appellierst.</a:t>
            </a:r>
            <a:endParaRPr lang="en-US" sz="2700" dirty="0"/>
          </a:p>
        </p:txBody>
      </p:sp>
      <p:sp>
        <p:nvSpPr>
          <p:cNvPr id="6" name="Text 4"/>
          <p:cNvSpPr txBox="1"/>
          <p:nvPr/>
        </p:nvSpPr>
        <p:spPr>
          <a:xfrm>
            <a:off x="457200" y="2971800"/>
            <a:ext cx="11247120" cy="45720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ca. 100–150 Wörter · allein · in den Hefter</a:t>
            </a:r>
            <a:endParaRPr lang="en-US" sz="2700" dirty="0"/>
          </a:p>
        </p:txBody>
      </p:sp>
      <p:sp>
        <p:nvSpPr>
          <p:cNvPr id="7" name="Shape 5"/>
          <p:cNvSpPr/>
          <p:nvPr/>
        </p:nvSpPr>
        <p:spPr>
          <a:xfrm>
            <a:off x="457200" y="3547872"/>
            <a:ext cx="530352" cy="530352"/>
          </a:xfrm>
          <a:prstGeom prst="roundRect">
            <a:avLst>
              <a:gd name="adj" fmla="val 50000"/>
            </a:avLst>
          </a:prstGeom>
          <a:solidFill>
            <a:srgbClr val="1E2761"/>
          </a:solidFill>
          <a:ln/>
        </p:spPr>
      </p:sp>
      <p:sp>
        <p:nvSpPr>
          <p:cNvPr id="8" name="Text 6"/>
          <p:cNvSpPr txBox="1"/>
          <p:nvPr/>
        </p:nvSpPr>
        <p:spPr>
          <a:xfrm>
            <a:off x="457200" y="354787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9" name="Text 7"/>
          <p:cNvSpPr txBox="1"/>
          <p:nvPr/>
        </p:nvSpPr>
        <p:spPr>
          <a:xfrm>
            <a:off x="1188720" y="352044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Anrede:  </a:t>
            </a:r>
            <a:pPr indent="0" marL="0">
              <a:buNone/>
            </a:pPr>
            <a:r>
              <a:rPr lang="en-US" sz="2700" dirty="0">
                <a:solidFill>
                  <a:srgbClr val="1E2761"/>
                </a:solidFill>
                <a:latin typeface="Calibri" pitchFamily="34" charset="0"/>
                <a:ea typeface="Calibri" pitchFamily="34" charset="-122"/>
                <a:cs typeface="Calibri" pitchFamily="34" charset="-120"/>
              </a:rPr>
              <a:t>„Vater, …“</a:t>
            </a:r>
            <a:endParaRPr lang="en-US" sz="2700" dirty="0"/>
          </a:p>
        </p:txBody>
      </p:sp>
      <p:sp>
        <p:nvSpPr>
          <p:cNvPr id="10" name="Shape 8"/>
          <p:cNvSpPr/>
          <p:nvPr/>
        </p:nvSpPr>
        <p:spPr>
          <a:xfrm>
            <a:off x="457200" y="4187952"/>
            <a:ext cx="530352" cy="530352"/>
          </a:xfrm>
          <a:prstGeom prst="roundRect">
            <a:avLst>
              <a:gd name="adj" fmla="val 50000"/>
            </a:avLst>
          </a:prstGeom>
          <a:solidFill>
            <a:srgbClr val="1E2761"/>
          </a:solidFill>
          <a:ln/>
        </p:spPr>
      </p:sp>
      <p:sp>
        <p:nvSpPr>
          <p:cNvPr id="11" name="Text 9"/>
          <p:cNvSpPr txBox="1"/>
          <p:nvPr/>
        </p:nvSpPr>
        <p:spPr>
          <a:xfrm>
            <a:off x="457200" y="418795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a:t>
            </a:r>
            <a:endParaRPr lang="en-US" sz="2700" dirty="0"/>
          </a:p>
        </p:txBody>
      </p:sp>
      <p:sp>
        <p:nvSpPr>
          <p:cNvPr id="12" name="Text 10"/>
          <p:cNvSpPr txBox="1"/>
          <p:nvPr/>
        </p:nvSpPr>
        <p:spPr>
          <a:xfrm>
            <a:off x="1188720" y="416052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Ich-Botschaften:  </a:t>
            </a:r>
            <a:pPr indent="0" marL="0">
              <a:buNone/>
            </a:pPr>
            <a:r>
              <a:rPr lang="en-US" sz="2700" dirty="0">
                <a:solidFill>
                  <a:srgbClr val="1E2761"/>
                </a:solidFill>
                <a:latin typeface="Calibri" pitchFamily="34" charset="0"/>
                <a:ea typeface="Calibri" pitchFamily="34" charset="-122"/>
                <a:cs typeface="Calibri" pitchFamily="34" charset="-120"/>
              </a:rPr>
              <a:t>mindestens zwei: Gefühl + Wirkung</a:t>
            </a:r>
            <a:endParaRPr lang="en-US" sz="2700" dirty="0"/>
          </a:p>
        </p:txBody>
      </p:sp>
      <p:sp>
        <p:nvSpPr>
          <p:cNvPr id="13" name="Shape 11"/>
          <p:cNvSpPr/>
          <p:nvPr/>
        </p:nvSpPr>
        <p:spPr>
          <a:xfrm>
            <a:off x="457200" y="4828032"/>
            <a:ext cx="530352" cy="530352"/>
          </a:xfrm>
          <a:prstGeom prst="roundRect">
            <a:avLst>
              <a:gd name="adj" fmla="val 50000"/>
            </a:avLst>
          </a:prstGeom>
          <a:solidFill>
            <a:srgbClr val="1E2761"/>
          </a:solidFill>
          <a:ln/>
        </p:spPr>
      </p:sp>
      <p:sp>
        <p:nvSpPr>
          <p:cNvPr id="14" name="Text 12"/>
          <p:cNvSpPr txBox="1"/>
          <p:nvPr/>
        </p:nvSpPr>
        <p:spPr>
          <a:xfrm>
            <a:off x="457200" y="482803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a:t>
            </a:r>
            <a:endParaRPr lang="en-US" sz="2700" dirty="0"/>
          </a:p>
        </p:txBody>
      </p:sp>
      <p:sp>
        <p:nvSpPr>
          <p:cNvPr id="15" name="Text 13"/>
          <p:cNvSpPr txBox="1"/>
          <p:nvPr/>
        </p:nvSpPr>
        <p:spPr>
          <a:xfrm>
            <a:off x="1188720" y="480060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Offener Appell:  </a:t>
            </a:r>
            <a:pPr indent="0" marL="0">
              <a:buNone/>
            </a:pPr>
            <a:r>
              <a:rPr lang="en-US" sz="2700" dirty="0">
                <a:solidFill>
                  <a:srgbClr val="1E2761"/>
                </a:solidFill>
                <a:latin typeface="Calibri" pitchFamily="34" charset="0"/>
                <a:ea typeface="Calibri" pitchFamily="34" charset="-122"/>
                <a:cs typeface="Calibri" pitchFamily="34" charset="-120"/>
              </a:rPr>
              <a:t>mindestens eine klare Bitte</a:t>
            </a:r>
            <a:endParaRPr lang="en-US" sz="2700" dirty="0"/>
          </a:p>
        </p:txBody>
      </p:sp>
      <p:sp>
        <p:nvSpPr>
          <p:cNvPr id="16" name="Shape 14"/>
          <p:cNvSpPr/>
          <p:nvPr/>
        </p:nvSpPr>
        <p:spPr>
          <a:xfrm>
            <a:off x="457200" y="5468112"/>
            <a:ext cx="530352" cy="530352"/>
          </a:xfrm>
          <a:prstGeom prst="roundRect">
            <a:avLst>
              <a:gd name="adj" fmla="val 50000"/>
            </a:avLst>
          </a:prstGeom>
          <a:solidFill>
            <a:srgbClr val="1E2761"/>
          </a:solidFill>
          <a:ln/>
        </p:spPr>
      </p:sp>
      <p:sp>
        <p:nvSpPr>
          <p:cNvPr id="17" name="Text 15"/>
          <p:cNvSpPr txBox="1"/>
          <p:nvPr/>
        </p:nvSpPr>
        <p:spPr>
          <a:xfrm>
            <a:off x="457200" y="546811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a:t>
            </a:r>
            <a:endParaRPr lang="en-US" sz="2700" dirty="0"/>
          </a:p>
        </p:txBody>
      </p:sp>
      <p:sp>
        <p:nvSpPr>
          <p:cNvPr id="18" name="Text 16"/>
          <p:cNvSpPr txBox="1"/>
          <p:nvPr/>
        </p:nvSpPr>
        <p:spPr>
          <a:xfrm>
            <a:off x="1188720" y="544068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Bezug zum Text:  </a:t>
            </a:r>
            <a:pPr indent="0" marL="0">
              <a:buNone/>
            </a:pPr>
            <a:r>
              <a:rPr lang="en-US" sz="2700" dirty="0">
                <a:solidFill>
                  <a:srgbClr val="1E2761"/>
                </a:solidFill>
                <a:latin typeface="Calibri" pitchFamily="34" charset="0"/>
                <a:ea typeface="Calibri" pitchFamily="34" charset="-122"/>
                <a:cs typeface="Calibri" pitchFamily="34" charset="-120"/>
              </a:rPr>
              <a:t>Kafkas Wünsche: Wort, Hand, Blick</a:t>
            </a:r>
            <a:endParaRPr lang="en-US" sz="2700" dirty="0"/>
          </a:p>
        </p:txBody>
      </p:sp>
      <p:sp>
        <p:nvSpPr>
          <p:cNvPr id="19" name="Shape 17"/>
          <p:cNvSpPr/>
          <p:nvPr/>
        </p:nvSpPr>
        <p:spPr>
          <a:xfrm>
            <a:off x="457200" y="6108192"/>
            <a:ext cx="530352" cy="530352"/>
          </a:xfrm>
          <a:prstGeom prst="roundRect">
            <a:avLst>
              <a:gd name="adj" fmla="val 50000"/>
            </a:avLst>
          </a:prstGeom>
          <a:solidFill>
            <a:srgbClr val="1E2761"/>
          </a:solidFill>
          <a:ln/>
        </p:spPr>
      </p:sp>
      <p:sp>
        <p:nvSpPr>
          <p:cNvPr id="20" name="Text 18"/>
          <p:cNvSpPr txBox="1"/>
          <p:nvPr/>
        </p:nvSpPr>
        <p:spPr>
          <a:xfrm>
            <a:off x="457200" y="610819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a:t>
            </a:r>
            <a:endParaRPr lang="en-US" sz="2700" dirty="0"/>
          </a:p>
        </p:txBody>
      </p:sp>
      <p:sp>
        <p:nvSpPr>
          <p:cNvPr id="21" name="Text 19"/>
          <p:cNvSpPr txBox="1"/>
          <p:nvPr/>
        </p:nvSpPr>
        <p:spPr>
          <a:xfrm>
            <a:off x="1188720" y="608076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Ton:  </a:t>
            </a:r>
            <a:pPr indent="0" marL="0">
              <a:buNone/>
            </a:pPr>
            <a:r>
              <a:rPr lang="en-US" sz="2700" dirty="0">
                <a:solidFill>
                  <a:srgbClr val="1E2761"/>
                </a:solidFill>
                <a:latin typeface="Calibri" pitchFamily="34" charset="0"/>
                <a:ea typeface="Calibri" pitchFamily="34" charset="-122"/>
                <a:cs typeface="Calibri" pitchFamily="34" charset="-120"/>
              </a:rPr>
              <a:t>ehrlich, mutig, respektvoll – keine Vorwürfe</a:t>
            </a:r>
            <a:endParaRPr lang="en-US" sz="2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Rechtschreibtraining und Kafkas Appell</dc:title>
  <dc:subject>PptxGenJS Presentation</dc:subject>
  <dc:creator>PptxGenJS</dc:creator>
  <cp:lastModifiedBy>PptxGenJS</cp:lastModifiedBy>
  <cp:revision>1</cp:revision>
  <dcterms:created xsi:type="dcterms:W3CDTF">2026-10-15T09:04:27Z</dcterms:created>
  <dcterms:modified xsi:type="dcterms:W3CDTF">2026-10-15T09:04:27Z</dcterms:modified>
</cp:coreProperties>
</file>