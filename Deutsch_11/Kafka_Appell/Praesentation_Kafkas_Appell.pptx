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Durchschnittliche Punktzahl vor der Stunde in der pptx eintragen. Ansage: „Inhaltlich wisst ihr viel – Punkte verliert ihr bei der Sprache. Die meisten Fehler sind immer dieselben zwei. Das trainieren wir jetzt.“ Schnipsel austeilen.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Artikelprobe vormachen: „Vater – der Vater? Passt, also groß.“ „Zuhören – beim Zuhören: Signalwort, also groß.“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 Beispiel zeigen: „…, dass sein Sohn Angst hatte.“ – Wo steht das Verb? Am Ende, also Nebensatz, also Komma.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 für Wort laut prüfen: „Beim essen – beim: Signalwort, also groß: beim Essen.“ „Der vater – der Vater: groß. … nicht dass – Verb am Ende? ‚hatte‘ – ja, also Komma vor dass.“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Korrekturen zeigen und noch einmal begründen.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Schülerinnen und Schüler sagen die Korrekturen an und begründen (Artikelprobe / Verb am Ende). Erst danach weiter.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bestätigen, dann direkt zur Einzelarbeit.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Timer 4 Minuten sichtbar. Tempo betonen. Nicht helfen – die Regeln stehen auf dem Schnipsel.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die Klasse nennen lassen: „Was hast du in Satz … korrigiert – und warum?“ Dann die Folie zeigen.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 die Klasse nennen lassen, dann zeigen. Satz 7: „als jede Drohung“ ist kein Nebensatz (kein Verb am Ende) – also kein Komma.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Antworten sammeln (z. B. „Achtet beim Schreiben auf Großschreibung und Kommas!“). Rückfrage: Offen oder versteckt? – „Ich habe nur gesagt, was schlecht war. Den Appell musstet ihr selbst heraushören.“ Überleitung zur Kommunikation.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Schnelle Abfrage, Antworten an die Tafel (Wiederholung links): verbal / paraverbal / nonverbal · vier Ohren: Sachinhalt, Selbstkundgabe, Beziehung, Appell · Inhalts- und Beziehungsebene (Beziehung bestimmt, wie der Inhalt ankommt).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an die letzte Stunde (Mentorin) anknüpfen: Selbstkundgabe, Brods Brief. Ziel der Stunde an die Tafel.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Steht auch auf dem Arbeitsblatt (2. Information). Rückbezug: „Mein Appell vorhin war verdeckt – ich habe nur beschrieben, was schlecht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Kontext-Box vom Arbeitsblatt vorlesen, dann den Auszug. Die Klasse liest auf dem Arbeitsblatt mit (Zeilennummern, Fußnoten).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VERARBEITEN. Herumgehen. Wer bei Aufgabe 1 hängt: „Was soll der Vater nach diesem Satz anders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Während der Besprechung stehen lassen: Antworten in ganzen Sätzen einfordern. Ergebnisse ins Quadrat an der Tafel (Appell groß). Achtung Komma: „…, dass der Vater …“ – Regel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Aufgabe 4 im Gespräch. Ziel: Furcht → verdeckter, abgesicherter Appell. Merksatz an die Tafel.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Aufgabe 5. Überleitung: „Max Brods Brief war erfolgreich – der Vater hört zu. Jetzt spricht Franz selbst, und zwar offen.“ In der Stunde beginnen; vorgetragen wird in der nächsten Stunde (keine Hausaufgabe). Hinweis: Großschreibung und Kommas wie im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Auswertung des Tests</a:t>
            </a:r>
            <a:endParaRPr lang="en-US" sz="3000" dirty="0"/>
          </a:p>
        </p:txBody>
      </p:sp>
      <p:sp>
        <p:nvSpPr>
          <p:cNvPr id="4" name="Shape 2"/>
          <p:cNvSpPr/>
          <p:nvPr/>
        </p:nvSpPr>
        <p:spPr>
          <a:xfrm>
            <a:off x="457200" y="1188720"/>
            <a:ext cx="11247120" cy="1188720"/>
          </a:xfrm>
          <a:prstGeom prst="roundRect">
            <a:avLst>
              <a:gd name="adj" fmla="val 6154"/>
            </a:avLst>
          </a:prstGeom>
          <a:solidFill>
            <a:srgbClr val="F4F7FD"/>
          </a:solidFill>
          <a:ln/>
        </p:spPr>
      </p:sp>
      <p:sp>
        <p:nvSpPr>
          <p:cNvPr id="5" name="Text 3"/>
          <p:cNvSpPr txBox="1"/>
          <p:nvPr/>
        </p:nvSpPr>
        <p:spPr>
          <a:xfrm>
            <a:off x="731520" y="1188720"/>
            <a:ext cx="10789920" cy="1188720"/>
          </a:xfrm>
          <a:prstGeom prst="rect">
            <a:avLst/>
          </a:prstGeom>
          <a:noFill/>
          <a:ln/>
        </p:spPr>
        <p:txBody>
          <a:bodyPr wrap="square" lIns="0" tIns="0" rIns="0" bIns="0" rtlCol="0" anchor="ctr"/>
          <a:lstStyle/>
          <a:p>
            <a:pPr indent="0" marL="0">
              <a:buNone/>
            </a:pPr>
            <a:r>
              <a:rPr lang="en-US" sz="3200" b="1" dirty="0">
                <a:solidFill>
                  <a:srgbClr val="1E2761"/>
                </a:solidFill>
                <a:latin typeface="Calibri" pitchFamily="34" charset="0"/>
                <a:ea typeface="Calibri" pitchFamily="34" charset="-122"/>
                <a:cs typeface="Calibri" pitchFamily="34" charset="-120"/>
              </a:rPr>
              <a:t>Durchschnitt:  </a:t>
            </a:r>
            <a:pPr indent="0" marL="0">
              <a:buNone/>
            </a:pPr>
            <a:r>
              <a:rPr lang="en-US" sz="3200" dirty="0">
                <a:solidFill>
                  <a:srgbClr val="1E2761"/>
                </a:solidFill>
                <a:latin typeface="Calibri" pitchFamily="34" charset="0"/>
                <a:ea typeface="Calibri" pitchFamily="34" charset="-122"/>
                <a:cs typeface="Calibri" pitchFamily="34" charset="-120"/>
              </a:rPr>
              <a:t>____ von ____ Punkten</a:t>
            </a:r>
            <a:endParaRPr lang="en-US" sz="3200" dirty="0"/>
          </a:p>
        </p:txBody>
      </p:sp>
      <p:sp>
        <p:nvSpPr>
          <p:cNvPr id="6" name="Text 4"/>
          <p:cNvSpPr txBox="1"/>
          <p:nvPr/>
        </p:nvSpPr>
        <p:spPr>
          <a:xfrm>
            <a:off x="457200" y="2697480"/>
            <a:ext cx="11247120" cy="548640"/>
          </a:xfrm>
          <a:prstGeom prst="rect">
            <a:avLst/>
          </a:prstGeom>
          <a:noFill/>
          <a:ln/>
        </p:spPr>
        <p:txBody>
          <a:bodyPr wrap="square" lIns="0" tIns="0" rIns="0" bIns="0" rtlCol="0" anchor="t"/>
          <a:lstStyle/>
          <a:p>
            <a:pPr indent="0" marL="0">
              <a:buNone/>
            </a:pPr>
            <a:r>
              <a:rPr lang="en-US" sz="2700" b="1" dirty="0">
                <a:solidFill>
                  <a:srgbClr val="D9534F"/>
                </a:solidFill>
                <a:latin typeface="Calibri" pitchFamily="34" charset="0"/>
                <a:ea typeface="Calibri" pitchFamily="34" charset="-122"/>
                <a:cs typeface="Calibri" pitchFamily="34" charset="-120"/>
              </a:rPr>
              <a:t>Größtes Problem: </a:t>
            </a:r>
            <a:pPr indent="0" marL="0">
              <a:buNone/>
            </a:pPr>
            <a:r>
              <a:rPr lang="en-US" sz="2700" b="1" dirty="0">
                <a:solidFill>
                  <a:srgbClr val="1E2761"/>
                </a:solidFill>
                <a:latin typeface="Calibri" pitchFamily="34" charset="0"/>
                <a:ea typeface="Calibri" pitchFamily="34" charset="-122"/>
                <a:cs typeface="Calibri" pitchFamily="34" charset="-120"/>
              </a:rPr>
              <a:t>Rechtschreibung</a:t>
            </a:r>
            <a:endParaRPr lang="en-US" sz="2700" dirty="0"/>
          </a:p>
        </p:txBody>
      </p:sp>
      <p:sp>
        <p:nvSpPr>
          <p:cNvPr id="7" name="Text 5"/>
          <p:cNvSpPr txBox="1"/>
          <p:nvPr/>
        </p:nvSpPr>
        <p:spPr>
          <a:xfrm>
            <a:off x="731520" y="3337560"/>
            <a:ext cx="10789920" cy="1188720"/>
          </a:xfrm>
          <a:prstGeom prst="rect">
            <a:avLst/>
          </a:prstGeom>
          <a:noFill/>
          <a:ln/>
        </p:spPr>
        <p:txBody>
          <a:bodyPr wrap="square" lIns="0" tIns="0" rIns="0" bIns="0" rtlCol="0" anchor="t"/>
          <a:lstStyle/>
          <a:p>
            <a:pPr marL="304800" indent="-304800">
              <a:spcAft>
                <a:spcPts val="800"/>
              </a:spcAft>
              <a:buSzPct val="100000"/>
              <a:buChar char="•"/>
            </a:pPr>
            <a:r>
              <a:rPr lang="en-US" sz="2700" dirty="0">
                <a:solidFill>
                  <a:srgbClr val="1E2761"/>
                </a:solidFill>
                <a:latin typeface="Calibri" pitchFamily="34" charset="0"/>
                <a:ea typeface="Calibri" pitchFamily="34" charset="-122"/>
                <a:cs typeface="Calibri" pitchFamily="34" charset="-120"/>
              </a:rPr>
              <a:t>Substantive werden kleingeschrieben.</a:t>
            </a:r>
            <a:endParaRPr lang="en-US" sz="2700" dirty="0"/>
          </a:p>
          <a:p>
            <a:pPr marL="304800" indent="-304800">
              <a:spcAft>
                <a:spcPts val="800"/>
              </a:spcAft>
              <a:buSzPct val="100000"/>
              <a:buChar char="•"/>
            </a:pPr>
            <a:r>
              <a:rPr lang="en-US" sz="2700" dirty="0">
                <a:solidFill>
                  <a:srgbClr val="1E2761"/>
                </a:solidFill>
                <a:latin typeface="Calibri" pitchFamily="34" charset="0"/>
                <a:ea typeface="Calibri" pitchFamily="34" charset="-122"/>
                <a:cs typeface="Calibri" pitchFamily="34" charset="-120"/>
              </a:rPr>
              <a:t>Kommas vor Nebensätzen fehlen.</a:t>
            </a:r>
            <a:endParaRPr lang="en-US" sz="2700" dirty="0"/>
          </a:p>
        </p:txBody>
      </p:sp>
      <p:sp>
        <p:nvSpPr>
          <p:cNvPr id="8" name="Shape 6"/>
          <p:cNvSpPr/>
          <p:nvPr/>
        </p:nvSpPr>
        <p:spPr>
          <a:xfrm>
            <a:off x="457200" y="4937760"/>
            <a:ext cx="11247120" cy="1097280"/>
          </a:xfrm>
          <a:prstGeom prst="roundRect">
            <a:avLst>
              <a:gd name="adj" fmla="val 6667"/>
            </a:avLst>
          </a:prstGeom>
          <a:solidFill>
            <a:srgbClr val="E3F1E8"/>
          </a:solidFill>
          <a:ln/>
        </p:spPr>
      </p:sp>
      <p:sp>
        <p:nvSpPr>
          <p:cNvPr id="9" name="Text 7"/>
          <p:cNvSpPr txBox="1"/>
          <p:nvPr/>
        </p:nvSpPr>
        <p:spPr>
          <a:xfrm>
            <a:off x="731520" y="4937760"/>
            <a:ext cx="10789920" cy="1097280"/>
          </a:xfrm>
          <a:prstGeom prst="rect">
            <a:avLst/>
          </a:prstGeom>
          <a:noFill/>
          <a:ln/>
        </p:spPr>
        <p:txBody>
          <a:bodyPr wrap="square" lIns="0" tIns="0" rIns="0" bIns="0" rtlCol="0" anchor="ctr"/>
          <a:lstStyle/>
          <a:p>
            <a:pPr indent="0" marL="0">
              <a:buNone/>
            </a:pPr>
            <a:r>
              <a:rPr lang="en-US" sz="2700" b="1" dirty="0">
                <a:solidFill>
                  <a:srgbClr val="2E9E6B"/>
                </a:solidFill>
                <a:latin typeface="Calibri" pitchFamily="34" charset="0"/>
                <a:ea typeface="Calibri" pitchFamily="34" charset="-122"/>
                <a:cs typeface="Calibri" pitchFamily="34" charset="-120"/>
              </a:rPr>
              <a:t>Ab jetzt: kleine Trainingseinheiten in jeder Stunde.</a:t>
            </a:r>
            <a:endParaRPr lang="en-US"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Regel 1: Großschreibung</a:t>
            </a:r>
            <a:endParaRPr lang="en-US" sz="3000" dirty="0"/>
          </a:p>
        </p:txBody>
      </p:sp>
      <p:sp>
        <p:nvSpPr>
          <p:cNvPr id="4" name="Shape 2"/>
          <p:cNvSpPr/>
          <p:nvPr/>
        </p:nvSpPr>
        <p:spPr>
          <a:xfrm>
            <a:off x="457200" y="1143000"/>
            <a:ext cx="11247120" cy="914400"/>
          </a:xfrm>
          <a:prstGeom prst="roundRect">
            <a:avLst>
              <a:gd name="adj" fmla="val 8000"/>
            </a:avLst>
          </a:prstGeom>
          <a:solidFill>
            <a:srgbClr val="E3F1E8"/>
          </a:solidFill>
          <a:ln/>
        </p:spPr>
      </p:sp>
      <p:sp>
        <p:nvSpPr>
          <p:cNvPr id="5" name="Text 3"/>
          <p:cNvSpPr txBox="1"/>
          <p:nvPr/>
        </p:nvSpPr>
        <p:spPr>
          <a:xfrm>
            <a:off x="731520" y="1143000"/>
            <a:ext cx="10789920" cy="914400"/>
          </a:xfrm>
          <a:prstGeom prst="rect">
            <a:avLst/>
          </a:prstGeom>
          <a:noFill/>
          <a:ln/>
        </p:spPr>
        <p:txBody>
          <a:bodyPr wrap="square" lIns="0" tIns="0" rIns="0" bIns="0" rtlCol="0" anchor="ctr"/>
          <a:lstStyle/>
          <a:p>
            <a:pPr indent="0" marL="0">
              <a:buNone/>
            </a:pPr>
            <a:r>
              <a:rPr lang="en-US" sz="2700" b="1" dirty="0">
                <a:solidFill>
                  <a:srgbClr val="2E9E6B"/>
                </a:solidFill>
                <a:latin typeface="Cambria" pitchFamily="34" charset="0"/>
                <a:ea typeface="Cambria" pitchFamily="34" charset="-122"/>
                <a:cs typeface="Cambria" pitchFamily="34" charset="-120"/>
              </a:rPr>
              <a:t>Substantive schreibt man groß.</a:t>
            </a:r>
            <a:endParaRPr lang="en-US" sz="2700" dirty="0"/>
          </a:p>
        </p:txBody>
      </p:sp>
      <p:sp>
        <p:nvSpPr>
          <p:cNvPr id="6" name="Text 4"/>
          <p:cNvSpPr txBox="1"/>
          <p:nvPr/>
        </p:nvSpPr>
        <p:spPr>
          <a:xfrm>
            <a:off x="731520" y="2331720"/>
            <a:ext cx="10789920" cy="4114800"/>
          </a:xfrm>
          <a:prstGeom prst="rect">
            <a:avLst/>
          </a:prstGeom>
          <a:noFill/>
          <a:ln/>
        </p:spPr>
        <p:txBody>
          <a:bodyPr wrap="square" lIns="0" tIns="0" rIns="0" bIns="0" rtlCol="0" anchor="t"/>
          <a:lstStyle/>
          <a:p>
            <a:pPr marL="304800" indent="-304800">
              <a:spcAft>
                <a:spcPts val="1400"/>
              </a:spcAft>
              <a:buSzPct val="100000"/>
              <a:buChar char="•"/>
            </a:pPr>
            <a:r>
              <a:rPr lang="en-US" sz="2700" dirty="0">
                <a:solidFill>
                  <a:srgbClr val="1E2761"/>
                </a:solidFill>
                <a:latin typeface="Calibri" pitchFamily="34" charset="0"/>
                <a:ea typeface="Calibri" pitchFamily="34" charset="-122"/>
                <a:cs typeface="Calibri" pitchFamily="34" charset="-120"/>
              </a:rPr>
              <a:t>Probe: Passt der, die, das oder ein davor? → groß: der Vater, die Angst</a:t>
            </a:r>
            <a:endParaRPr lang="en-US" sz="2700" dirty="0"/>
          </a:p>
          <a:p>
            <a:pPr marL="304800" indent="-304800">
              <a:spcAft>
                <a:spcPts val="1400"/>
              </a:spcAft>
              <a:buSzPct val="100000"/>
              <a:buChar char="•"/>
            </a:pPr>
            <a:r>
              <a:rPr lang="en-US" sz="2700" dirty="0">
                <a:solidFill>
                  <a:srgbClr val="1E2761"/>
                </a:solidFill>
                <a:latin typeface="Calibri" pitchFamily="34" charset="0"/>
                <a:ea typeface="Calibri" pitchFamily="34" charset="-122"/>
                <a:cs typeface="Calibri" pitchFamily="34" charset="-120"/>
              </a:rPr>
              <a:t>Auch Verben werden groß, wenn beim, zum oder das davorsteht: beim Zuhören, das Schreiben</a:t>
            </a:r>
            <a:endParaRPr lang="en-US" sz="2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Regel 2: Komma vor Nebensätzen</a:t>
            </a:r>
            <a:endParaRPr lang="en-US" sz="3000" dirty="0"/>
          </a:p>
        </p:txBody>
      </p:sp>
      <p:sp>
        <p:nvSpPr>
          <p:cNvPr id="4" name="Shape 2"/>
          <p:cNvSpPr/>
          <p:nvPr/>
        </p:nvSpPr>
        <p:spPr>
          <a:xfrm>
            <a:off x="457200" y="1143000"/>
            <a:ext cx="11247120" cy="914400"/>
          </a:xfrm>
          <a:prstGeom prst="roundRect">
            <a:avLst>
              <a:gd name="adj" fmla="val 8000"/>
            </a:avLst>
          </a:prstGeom>
          <a:solidFill>
            <a:srgbClr val="FDECEA"/>
          </a:solidFill>
          <a:ln/>
        </p:spPr>
      </p:sp>
      <p:sp>
        <p:nvSpPr>
          <p:cNvPr id="5" name="Text 3"/>
          <p:cNvSpPr txBox="1"/>
          <p:nvPr/>
        </p:nvSpPr>
        <p:spPr>
          <a:xfrm>
            <a:off x="731520" y="1143000"/>
            <a:ext cx="10789920" cy="914400"/>
          </a:xfrm>
          <a:prstGeom prst="rect">
            <a:avLst/>
          </a:prstGeom>
          <a:noFill/>
          <a:ln/>
        </p:spPr>
        <p:txBody>
          <a:bodyPr wrap="square" lIns="0" tIns="0" rIns="0" bIns="0" rtlCol="0" anchor="ctr"/>
          <a:lstStyle/>
          <a:p>
            <a:pPr indent="0" marL="0">
              <a:buNone/>
            </a:pPr>
            <a:r>
              <a:rPr lang="en-US" sz="2700" b="1" dirty="0">
                <a:solidFill>
                  <a:srgbClr val="D9534F"/>
                </a:solidFill>
                <a:latin typeface="Cambria" pitchFamily="34" charset="0"/>
                <a:ea typeface="Cambria" pitchFamily="34" charset="-122"/>
                <a:cs typeface="Cambria" pitchFamily="34" charset="-120"/>
              </a:rPr>
              <a:t>Vor dass, weil, wenn und ob steht ein Komma.</a:t>
            </a:r>
            <a:endParaRPr lang="en-US" sz="2700" dirty="0"/>
          </a:p>
        </p:txBody>
      </p:sp>
      <p:sp>
        <p:nvSpPr>
          <p:cNvPr id="6" name="Text 4"/>
          <p:cNvSpPr txBox="1"/>
          <p:nvPr/>
        </p:nvSpPr>
        <p:spPr>
          <a:xfrm>
            <a:off x="731520" y="2331720"/>
            <a:ext cx="10789920" cy="4114800"/>
          </a:xfrm>
          <a:prstGeom prst="rect">
            <a:avLst/>
          </a:prstGeom>
          <a:noFill/>
          <a:ln/>
        </p:spPr>
        <p:txBody>
          <a:bodyPr wrap="square" lIns="0" tIns="0" rIns="0" bIns="0" rtlCol="0" anchor="t"/>
          <a:lstStyle/>
          <a:p>
            <a:pPr marL="304800" indent="-304800">
              <a:spcAft>
                <a:spcPts val="1400"/>
              </a:spcAft>
              <a:buSzPct val="100000"/>
              <a:buChar char="•"/>
            </a:pPr>
            <a:r>
              <a:rPr lang="en-US" sz="2700" dirty="0">
                <a:solidFill>
                  <a:srgbClr val="1E2761"/>
                </a:solidFill>
                <a:latin typeface="Calibri" pitchFamily="34" charset="0"/>
                <a:ea typeface="Calibri" pitchFamily="34" charset="-122"/>
                <a:cs typeface="Calibri" pitchFamily="34" charset="-120"/>
              </a:rPr>
              <a:t>Ich glaube, dass … · Ich wünsche mir, dass …</a:t>
            </a:r>
            <a:endParaRPr lang="en-US" sz="2700" dirty="0"/>
          </a:p>
          <a:p>
            <a:pPr marL="304800" indent="-304800">
              <a:spcAft>
                <a:spcPts val="1400"/>
              </a:spcAft>
              <a:buSzPct val="100000"/>
              <a:buChar char="•"/>
            </a:pPr>
            <a:r>
              <a:rPr lang="en-US" sz="2700" dirty="0">
                <a:solidFill>
                  <a:srgbClr val="1E2761"/>
                </a:solidFill>
                <a:latin typeface="Calibri" pitchFamily="34" charset="0"/>
                <a:ea typeface="Calibri" pitchFamily="34" charset="-122"/>
                <a:cs typeface="Calibri" pitchFamily="34" charset="-120"/>
              </a:rPr>
              <a:t>Steht der Nebensatz vorne, kommt das Komma danach: Wenn ich erzähle, hört er nicht zu.</a:t>
            </a:r>
            <a:endParaRPr lang="en-US" sz="2700" dirty="0"/>
          </a:p>
          <a:p>
            <a:pPr marL="304800" indent="-304800">
              <a:spcAft>
                <a:spcPts val="1400"/>
              </a:spcAft>
              <a:buSzPct val="100000"/>
              <a:buChar char="•"/>
            </a:pPr>
            <a:r>
              <a:rPr lang="en-US" sz="2700" dirty="0">
                <a:solidFill>
                  <a:srgbClr val="1E2761"/>
                </a:solidFill>
                <a:latin typeface="Calibri" pitchFamily="34" charset="0"/>
                <a:ea typeface="Calibri" pitchFamily="34" charset="-122"/>
                <a:cs typeface="Calibri" pitchFamily="34" charset="-120"/>
              </a:rPr>
              <a:t>Tipp: Verb am Ende → Nebensatz → Komma</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So geht es: Ich mache vor</a:t>
            </a:r>
            <a:endParaRPr lang="en-US" sz="3000" dirty="0"/>
          </a:p>
        </p:txBody>
      </p:sp>
      <p:sp>
        <p:nvSpPr>
          <p:cNvPr id="4" name="Shape 2"/>
          <p:cNvSpPr/>
          <p:nvPr/>
        </p:nvSpPr>
        <p:spPr>
          <a:xfrm>
            <a:off x="457200" y="1234440"/>
            <a:ext cx="11247120" cy="1280160"/>
          </a:xfrm>
          <a:prstGeom prst="roundRect">
            <a:avLst>
              <a:gd name="adj" fmla="val 5714"/>
            </a:avLst>
          </a:prstGeom>
          <a:solidFill>
            <a:srgbClr val="F4F7FD"/>
          </a:solidFill>
          <a:ln/>
        </p:spPr>
      </p:sp>
      <p:sp>
        <p:nvSpPr>
          <p:cNvPr id="5" name="Text 3"/>
          <p:cNvSpPr txBox="1"/>
          <p:nvPr/>
        </p:nvSpPr>
        <p:spPr>
          <a:xfrm>
            <a:off x="731520" y="1234440"/>
            <a:ext cx="10789920" cy="128016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Beim essen durfte niemand reden.</a:t>
            </a:r>
            <a:endParaRPr lang="en-US" sz="2700" dirty="0"/>
          </a:p>
        </p:txBody>
      </p:sp>
      <p:sp>
        <p:nvSpPr>
          <p:cNvPr id="6" name="Shape 4"/>
          <p:cNvSpPr/>
          <p:nvPr/>
        </p:nvSpPr>
        <p:spPr>
          <a:xfrm>
            <a:off x="457200" y="2743200"/>
            <a:ext cx="11247120" cy="1280160"/>
          </a:xfrm>
          <a:prstGeom prst="roundRect">
            <a:avLst>
              <a:gd name="adj" fmla="val 5714"/>
            </a:avLst>
          </a:prstGeom>
          <a:solidFill>
            <a:srgbClr val="F4F7FD"/>
          </a:solidFill>
          <a:ln/>
        </p:spPr>
      </p:sp>
      <p:sp>
        <p:nvSpPr>
          <p:cNvPr id="7" name="Text 5"/>
          <p:cNvSpPr txBox="1"/>
          <p:nvPr/>
        </p:nvSpPr>
        <p:spPr>
          <a:xfrm>
            <a:off x="731520" y="2743200"/>
            <a:ext cx="10789920" cy="128016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Der vater merkte nicht dass sein sohn angst hatte.</a:t>
            </a:r>
            <a:endParaRPr lang="en-US" sz="2700" dirty="0"/>
          </a:p>
        </p:txBody>
      </p:sp>
      <p:sp>
        <p:nvSpPr>
          <p:cNvPr id="8" name="Text 6"/>
          <p:cNvSpPr txBox="1"/>
          <p:nvPr/>
        </p:nvSpPr>
        <p:spPr>
          <a:xfrm>
            <a:off x="457200" y="4434840"/>
            <a:ext cx="11247120" cy="1463040"/>
          </a:xfrm>
          <a:prstGeom prst="rect">
            <a:avLst/>
          </a:prstGeom>
          <a:noFill/>
          <a:ln/>
        </p:spPr>
        <p:txBody>
          <a:bodyPr wrap="square" lIns="0" tIns="0" rIns="0" bIns="0" rtlCol="0" anchor="t"/>
          <a:lstStyle/>
          <a:p>
            <a:pPr indent="0" marL="0">
              <a:spcAft>
                <a:spcPts val="800"/>
              </a:spcAft>
              <a:buNone/>
            </a:pPr>
            <a:r>
              <a:rPr lang="en-US" sz="2700" i="1" dirty="0">
                <a:solidFill>
                  <a:srgbClr val="5B6B8C"/>
                </a:solidFill>
                <a:latin typeface="Calibri" pitchFamily="34" charset="0"/>
                <a:ea typeface="Calibri" pitchFamily="34" charset="-122"/>
                <a:cs typeface="Calibri" pitchFamily="34" charset="-120"/>
              </a:rPr>
              <a:t>Ich denke laut: Artikelprobe? · Signalwort? · Verb am Ende?</a:t>
            </a:r>
            <a:endParaRPr lang="en-US" sz="2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So geht es: korrigiert</a:t>
            </a:r>
            <a:endParaRPr lang="en-US" sz="3000" dirty="0"/>
          </a:p>
        </p:txBody>
      </p:sp>
      <p:sp>
        <p:nvSpPr>
          <p:cNvPr id="4" name="Shape 2"/>
          <p:cNvSpPr/>
          <p:nvPr/>
        </p:nvSpPr>
        <p:spPr>
          <a:xfrm>
            <a:off x="457200" y="1234440"/>
            <a:ext cx="11247120" cy="1280160"/>
          </a:xfrm>
          <a:prstGeom prst="roundRect">
            <a:avLst>
              <a:gd name="adj" fmla="val 5714"/>
            </a:avLst>
          </a:prstGeom>
          <a:solidFill>
            <a:srgbClr val="F4F7FD"/>
          </a:solidFill>
          <a:ln/>
        </p:spPr>
      </p:sp>
      <p:sp>
        <p:nvSpPr>
          <p:cNvPr id="5" name="Text 3"/>
          <p:cNvSpPr txBox="1"/>
          <p:nvPr/>
        </p:nvSpPr>
        <p:spPr>
          <a:xfrm>
            <a:off x="731520" y="1234440"/>
            <a:ext cx="10789920" cy="128016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Beim</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Essen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durfte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niemand</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reden</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
        <p:nvSpPr>
          <p:cNvPr id="6" name="Shape 4"/>
          <p:cNvSpPr/>
          <p:nvPr/>
        </p:nvSpPr>
        <p:spPr>
          <a:xfrm>
            <a:off x="457200" y="2743200"/>
            <a:ext cx="11247120" cy="1280160"/>
          </a:xfrm>
          <a:prstGeom prst="roundRect">
            <a:avLst>
              <a:gd name="adj" fmla="val 5714"/>
            </a:avLst>
          </a:prstGeom>
          <a:solidFill>
            <a:srgbClr val="F4F7FD"/>
          </a:solidFill>
          <a:ln/>
        </p:spPr>
      </p:sp>
      <p:sp>
        <p:nvSpPr>
          <p:cNvPr id="7" name="Text 5"/>
          <p:cNvSpPr txBox="1"/>
          <p:nvPr/>
        </p:nvSpPr>
        <p:spPr>
          <a:xfrm>
            <a:off x="731520" y="2743200"/>
            <a:ext cx="10789920" cy="128016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Der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Vater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merkte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nicht</a:t>
            </a:r>
            <a:pPr indent="0" marL="0">
              <a:buNone/>
            </a:pPr>
            <a:r>
              <a:rPr lang="en-US" sz="2700" b="1" u="sng" dirty="0">
                <a:solidFill>
                  <a:srgbClr val="D9534F"/>
                </a:solidFill>
                <a:latin typeface="Cambria" pitchFamily="34" charset="0"/>
                <a:ea typeface="Cambria" pitchFamily="34" charset="-122"/>
                <a:cs typeface="Cambria" pitchFamily="34" charset="-120"/>
              </a:rPr>
              <a: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dass</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sein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Sohn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Angst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hatte</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
        <p:nvSpPr>
          <p:cNvPr id="8" name="Text 6"/>
          <p:cNvSpPr txBox="1"/>
          <p:nvPr/>
        </p:nvSpPr>
        <p:spPr>
          <a:xfrm>
            <a:off x="457200" y="4434840"/>
            <a:ext cx="11247120" cy="1463040"/>
          </a:xfrm>
          <a:prstGeom prst="rect">
            <a:avLst/>
          </a:prstGeom>
          <a:noFill/>
          <a:ln/>
        </p:spPr>
        <p:txBody>
          <a:bodyPr wrap="square" lIns="0" tIns="0" rIns="0" bIns="0" rtlCol="0" anchor="t"/>
          <a:lstStyle/>
          <a:p>
            <a:pPr indent="0" marL="0">
              <a:spcAft>
                <a:spcPts val="800"/>
              </a:spcAft>
              <a:buNone/>
            </a:pPr>
            <a:r>
              <a:rPr lang="en-US" sz="2700" b="1" dirty="0">
                <a:solidFill>
                  <a:srgbClr val="D9534F"/>
                </a:solidFill>
                <a:latin typeface="Calibri" pitchFamily="34" charset="0"/>
                <a:ea typeface="Calibri" pitchFamily="34" charset="-122"/>
                <a:cs typeface="Calibri" pitchFamily="34" charset="-120"/>
              </a:rPr>
              <a:t>Essen, Vater, Sohn, Angst</a:t>
            </a:r>
            <a:pPr indent="0" marL="0">
              <a:spcAft>
                <a:spcPts val="800"/>
              </a:spcAft>
              <a:buNone/>
            </a:pPr>
            <a:r>
              <a:rPr lang="en-US" sz="2700" dirty="0">
                <a:solidFill>
                  <a:srgbClr val="1E2761"/>
                </a:solidFill>
                <a:latin typeface="Calibri" pitchFamily="34" charset="0"/>
                <a:ea typeface="Calibri" pitchFamily="34" charset="-122"/>
                <a:cs typeface="Calibri" pitchFamily="34" charset="-120"/>
              </a:rPr>
              <a:t> → Artikelprobe / Signalwort beim → groß</a:t>
            </a:r>
            <a:endParaRPr lang="en-US" sz="2700" dirty="0"/>
          </a:p>
          <a:p>
            <a:pPr indent="0" marL="0">
              <a:spcAft>
                <a:spcPts val="800"/>
              </a:spcAft>
              <a:buNone/>
            </a:pPr>
            <a:r>
              <a:rPr lang="en-US" sz="2700" b="1" dirty="0">
                <a:solidFill>
                  <a:srgbClr val="D9534F"/>
                </a:solidFill>
                <a:latin typeface="Calibri" pitchFamily="34" charset="0"/>
                <a:ea typeface="Calibri" pitchFamily="34" charset="-122"/>
                <a:cs typeface="Calibri" pitchFamily="34" charset="-120"/>
              </a:rPr>
              <a:t>nicht, dass</a:t>
            </a:r>
            <a:pPr indent="0" marL="0">
              <a:spcAft>
                <a:spcPts val="800"/>
              </a:spcAft>
              <a:buNone/>
            </a:pPr>
            <a:r>
              <a:rPr lang="en-US" sz="2700" dirty="0">
                <a:solidFill>
                  <a:srgbClr val="1E2761"/>
                </a:solidFill>
                <a:latin typeface="Calibri" pitchFamily="34" charset="0"/>
                <a:ea typeface="Calibri" pitchFamily="34" charset="-122"/>
                <a:cs typeface="Calibri" pitchFamily="34" charset="-120"/>
              </a:rPr>
              <a:t> → Verb am Ende („hatte“) → Komma</a:t>
            </a:r>
            <a:endParaRPr lang="en-US" sz="2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Zusammen: Satz 1–2 auf dem Schnipsel</a:t>
            </a:r>
            <a:endParaRPr lang="en-US" sz="3000" dirty="0"/>
          </a:p>
        </p:txBody>
      </p:sp>
      <p:sp>
        <p:nvSpPr>
          <p:cNvPr id="4" name="Shape 2"/>
          <p:cNvSpPr/>
          <p:nvPr/>
        </p:nvSpPr>
        <p:spPr>
          <a:xfrm>
            <a:off x="457200" y="1234440"/>
            <a:ext cx="11247120" cy="1280160"/>
          </a:xfrm>
          <a:prstGeom prst="roundRect">
            <a:avLst>
              <a:gd name="adj" fmla="val 5714"/>
            </a:avLst>
          </a:prstGeom>
          <a:solidFill>
            <a:srgbClr val="F4F7FD"/>
          </a:solidFill>
          <a:ln/>
        </p:spPr>
      </p:sp>
      <p:sp>
        <p:nvSpPr>
          <p:cNvPr id="5" name="Text 3"/>
          <p:cNvSpPr txBox="1"/>
          <p:nvPr/>
        </p:nvSpPr>
        <p:spPr>
          <a:xfrm>
            <a:off x="731520" y="1234440"/>
            <a:ext cx="10789920" cy="128016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1  </a:t>
            </a:r>
            <a:pPr indent="0" marL="0">
              <a:buNone/>
            </a:pPr>
            <a:r>
              <a:rPr lang="en-US" sz="2700" dirty="0">
                <a:solidFill>
                  <a:srgbClr val="1E2761"/>
                </a:solidFill>
                <a:latin typeface="Cambria" pitchFamily="34" charset="0"/>
                <a:ea typeface="Cambria" pitchFamily="34" charset="-122"/>
                <a:cs typeface="Cambria" pitchFamily="34" charset="-120"/>
              </a:rPr>
              <a:t>Ich glaube dass der vater keine geduld hatte.</a:t>
            </a:r>
            <a:endParaRPr lang="en-US" sz="2700" dirty="0"/>
          </a:p>
        </p:txBody>
      </p:sp>
      <p:sp>
        <p:nvSpPr>
          <p:cNvPr id="6" name="Shape 4"/>
          <p:cNvSpPr/>
          <p:nvPr/>
        </p:nvSpPr>
        <p:spPr>
          <a:xfrm>
            <a:off x="457200" y="2743200"/>
            <a:ext cx="11247120" cy="1280160"/>
          </a:xfrm>
          <a:prstGeom prst="roundRect">
            <a:avLst>
              <a:gd name="adj" fmla="val 5714"/>
            </a:avLst>
          </a:prstGeom>
          <a:solidFill>
            <a:srgbClr val="F4F7FD"/>
          </a:solidFill>
          <a:ln/>
        </p:spPr>
      </p:sp>
      <p:sp>
        <p:nvSpPr>
          <p:cNvPr id="7" name="Text 5"/>
          <p:cNvSpPr txBox="1"/>
          <p:nvPr/>
        </p:nvSpPr>
        <p:spPr>
          <a:xfrm>
            <a:off x="731520" y="2743200"/>
            <a:ext cx="10789920" cy="128016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2  </a:t>
            </a:r>
            <a:pPr indent="0" marL="0">
              <a:buNone/>
            </a:pPr>
            <a:r>
              <a:rPr lang="en-US" sz="2700" dirty="0">
                <a:solidFill>
                  <a:srgbClr val="1E2761"/>
                </a:solidFill>
                <a:latin typeface="Cambria" pitchFamily="34" charset="0"/>
                <a:ea typeface="Cambria" pitchFamily="34" charset="-122"/>
                <a:cs typeface="Cambria" pitchFamily="34" charset="-120"/>
              </a:rPr>
              <a:t>Wenn Franz etwas erzählte hörte der vater nicht zu.</a:t>
            </a:r>
            <a:endParaRPr lang="en-US" sz="2700" dirty="0"/>
          </a:p>
        </p:txBody>
      </p:sp>
      <p:sp>
        <p:nvSpPr>
          <p:cNvPr id="8" name="Text 6"/>
          <p:cNvSpPr txBox="1"/>
          <p:nvPr/>
        </p:nvSpPr>
        <p:spPr>
          <a:xfrm>
            <a:off x="457200" y="4434840"/>
            <a:ext cx="11247120" cy="1097280"/>
          </a:xfrm>
          <a:prstGeom prst="rect">
            <a:avLst/>
          </a:prstGeom>
          <a:noFill/>
          <a:ln/>
        </p:spPr>
        <p:txBody>
          <a:bodyPr wrap="square" lIns="0" tIns="0" rIns="0" bIns="0" rtlCol="0" anchor="t"/>
          <a:lstStyle/>
          <a:p>
            <a:pPr indent="0" marL="0">
              <a:buNone/>
            </a:pPr>
            <a:r>
              <a:rPr lang="en-US" sz="2700" i="1" dirty="0">
                <a:solidFill>
                  <a:srgbClr val="5B6B8C"/>
                </a:solidFill>
                <a:latin typeface="Calibri" pitchFamily="34" charset="0"/>
                <a:ea typeface="Calibri" pitchFamily="34" charset="-122"/>
                <a:cs typeface="Calibri" pitchFamily="34" charset="-120"/>
              </a:rPr>
              <a:t>Ihr sagt an, ich schreibe mit – und ihr begründet mit der Regel.</a:t>
            </a:r>
            <a:endParaRPr lang="en-US" sz="2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Zusammen: Lösung Satz 1–2</a:t>
            </a:r>
            <a:endParaRPr lang="en-US" sz="3000" dirty="0"/>
          </a:p>
        </p:txBody>
      </p:sp>
      <p:sp>
        <p:nvSpPr>
          <p:cNvPr id="4" name="Shape 2"/>
          <p:cNvSpPr/>
          <p:nvPr/>
        </p:nvSpPr>
        <p:spPr>
          <a:xfrm>
            <a:off x="457200" y="1234440"/>
            <a:ext cx="11247120" cy="1280160"/>
          </a:xfrm>
          <a:prstGeom prst="roundRect">
            <a:avLst>
              <a:gd name="adj" fmla="val 5714"/>
            </a:avLst>
          </a:prstGeom>
          <a:solidFill>
            <a:srgbClr val="F4F7FD"/>
          </a:solidFill>
          <a:ln/>
        </p:spPr>
      </p:sp>
      <p:sp>
        <p:nvSpPr>
          <p:cNvPr id="5" name="Text 3"/>
          <p:cNvSpPr txBox="1"/>
          <p:nvPr/>
        </p:nvSpPr>
        <p:spPr>
          <a:xfrm>
            <a:off x="731520" y="1234440"/>
            <a:ext cx="10789920" cy="128016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1  </a:t>
            </a:r>
            <a:pPr indent="0" marL="0">
              <a:buNone/>
            </a:pPr>
            <a:r>
              <a:rPr lang="en-US" sz="2700" dirty="0">
                <a:solidFill>
                  <a:srgbClr val="1E2761"/>
                </a:solidFill>
                <a:latin typeface="Cambria" pitchFamily="34" charset="0"/>
                <a:ea typeface="Cambria" pitchFamily="34" charset="-122"/>
                <a:cs typeface="Cambria" pitchFamily="34" charset="-120"/>
              </a:rPr>
              <a:t>Ich</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glaube</a:t>
            </a:r>
            <a:pPr indent="0" marL="0">
              <a:buNone/>
            </a:pPr>
            <a:r>
              <a:rPr lang="en-US" sz="2700" b="1" u="sng" dirty="0">
                <a:solidFill>
                  <a:srgbClr val="D9534F"/>
                </a:solidFill>
                <a:latin typeface="Cambria" pitchFamily="34" charset="0"/>
                <a:ea typeface="Cambria" pitchFamily="34" charset="-122"/>
                <a:cs typeface="Cambria" pitchFamily="34" charset="-120"/>
              </a:rPr>
              <a: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dass</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Vater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keine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Geduld</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hatte</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
        <p:nvSpPr>
          <p:cNvPr id="6" name="Shape 4"/>
          <p:cNvSpPr/>
          <p:nvPr/>
        </p:nvSpPr>
        <p:spPr>
          <a:xfrm>
            <a:off x="457200" y="2743200"/>
            <a:ext cx="11247120" cy="1280160"/>
          </a:xfrm>
          <a:prstGeom prst="roundRect">
            <a:avLst>
              <a:gd name="adj" fmla="val 5714"/>
            </a:avLst>
          </a:prstGeom>
          <a:solidFill>
            <a:srgbClr val="F4F7FD"/>
          </a:solidFill>
          <a:ln/>
        </p:spPr>
      </p:sp>
      <p:sp>
        <p:nvSpPr>
          <p:cNvPr id="7" name="Text 5"/>
          <p:cNvSpPr txBox="1"/>
          <p:nvPr/>
        </p:nvSpPr>
        <p:spPr>
          <a:xfrm>
            <a:off x="731520" y="2743200"/>
            <a:ext cx="10789920" cy="128016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2  </a:t>
            </a:r>
            <a:pPr indent="0" marL="0">
              <a:buNone/>
            </a:pPr>
            <a:r>
              <a:rPr lang="en-US" sz="2700" dirty="0">
                <a:solidFill>
                  <a:srgbClr val="1E2761"/>
                </a:solidFill>
                <a:latin typeface="Cambria" pitchFamily="34" charset="0"/>
                <a:ea typeface="Cambria" pitchFamily="34" charset="-122"/>
                <a:cs typeface="Cambria" pitchFamily="34" charset="-120"/>
              </a:rPr>
              <a:t>Wenn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Franz</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etwas</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erzählte</a:t>
            </a:r>
            <a:pPr indent="0" marL="0">
              <a:buNone/>
            </a:pPr>
            <a:r>
              <a:rPr lang="en-US" sz="2700" b="1" u="sng" dirty="0">
                <a:solidFill>
                  <a:srgbClr val="D9534F"/>
                </a:solidFill>
                <a:latin typeface="Cambria" pitchFamily="34" charset="0"/>
                <a:ea typeface="Cambria" pitchFamily="34" charset="-122"/>
                <a:cs typeface="Cambria" pitchFamily="34" charset="-120"/>
              </a:rPr>
              <a: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hörte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Vater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nicht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zu</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
        <p:nvSpPr>
          <p:cNvPr id="8" name="Text 6"/>
          <p:cNvSpPr txBox="1"/>
          <p:nvPr/>
        </p:nvSpPr>
        <p:spPr>
          <a:xfrm>
            <a:off x="457200" y="4434840"/>
            <a:ext cx="11247120" cy="1097280"/>
          </a:xfrm>
          <a:prstGeom prst="rect">
            <a:avLst/>
          </a:prstGeom>
          <a:noFill/>
          <a:ln/>
        </p:spPr>
        <p:txBody>
          <a:bodyPr wrap="square" lIns="0" tIns="0" rIns="0" bIns="0" rtlCol="0" anchor="t"/>
          <a:lstStyle/>
          <a:p>
            <a:pPr indent="0" marL="0">
              <a:buNone/>
            </a:pPr>
            <a:r>
              <a:rPr lang="en-US" sz="2700" i="1" dirty="0">
                <a:solidFill>
                  <a:srgbClr val="5B6B8C"/>
                </a:solidFill>
                <a:latin typeface="Calibri" pitchFamily="34" charset="0"/>
                <a:ea typeface="Calibri" pitchFamily="34" charset="-122"/>
                <a:cs typeface="Calibri" pitchFamily="34" charset="-120"/>
              </a:rPr>
              <a:t>Satz 2: Der Nebensatz steht vorne – das Komma kommt danach.</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Jetzt allein: Satz 3–8</a:t>
            </a:r>
            <a:endParaRPr lang="en-US" sz="3000" dirty="0"/>
          </a:p>
        </p:txBody>
      </p:sp>
      <p:sp>
        <p:nvSpPr>
          <p:cNvPr id="4" name="Shape 2"/>
          <p:cNvSpPr/>
          <p:nvPr/>
        </p:nvSpPr>
        <p:spPr>
          <a:xfrm>
            <a:off x="9966960" y="137160"/>
            <a:ext cx="1920240" cy="640080"/>
          </a:xfrm>
          <a:prstGeom prst="roundRect">
            <a:avLst>
              <a:gd name="adj" fmla="val 17143"/>
            </a:avLst>
          </a:prstGeom>
          <a:solidFill>
            <a:srgbClr val="D9534F"/>
          </a:solidFill>
          <a:ln/>
        </p:spPr>
      </p:sp>
      <p:sp>
        <p:nvSpPr>
          <p:cNvPr id="5" name="Text 3"/>
          <p:cNvSpPr txBox="1"/>
          <p:nvPr/>
        </p:nvSpPr>
        <p:spPr>
          <a:xfrm>
            <a:off x="9966960" y="137160"/>
            <a:ext cx="1920240" cy="64008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4 Min.</a:t>
            </a:r>
            <a:endParaRPr lang="en-US" sz="2700" dirty="0"/>
          </a:p>
        </p:txBody>
      </p:sp>
      <p:sp>
        <p:nvSpPr>
          <p:cNvPr id="6" name="Text 4"/>
          <p:cNvSpPr txBox="1"/>
          <p:nvPr/>
        </p:nvSpPr>
        <p:spPr>
          <a:xfrm>
            <a:off x="548640" y="1280160"/>
            <a:ext cx="11064240" cy="4754880"/>
          </a:xfrm>
          <a:prstGeom prst="rect">
            <a:avLst/>
          </a:prstGeom>
          <a:noFill/>
          <a:ln/>
        </p:spPr>
        <p:txBody>
          <a:bodyPr wrap="square" lIns="0" tIns="0" rIns="0" bIns="0" rtlCol="0" anchor="t"/>
          <a:lstStyle/>
          <a:p>
            <a:pPr indent="0" marL="0">
              <a:buNone/>
            </a:pPr>
            <a:r>
              <a:rPr lang="en-US" sz="2700" b="1" dirty="0">
                <a:solidFill>
                  <a:srgbClr val="1E2761"/>
                </a:solidFill>
                <a:latin typeface="Calibri" pitchFamily="34" charset="0"/>
                <a:ea typeface="Calibri" pitchFamily="34" charset="-122"/>
                <a:cs typeface="Calibri" pitchFamily="34" charset="-120"/>
              </a:rPr>
              <a:t>Korrigiere die Sätze auf deinem Schnipsel.</a:t>
            </a:r>
            <a:endParaRPr lang="en-US" sz="2700" dirty="0"/>
          </a:p>
          <a:p>
            <a:pPr indent="0" marL="0">
              <a:buNone/>
            </a:pPr>
            <a:r>
              <a:rPr lang="en-US" sz="1200" dirty="0">
                <a:solidFill>
                  <a:srgbClr val="1E2761"/>
                </a:solidFill>
                <a:latin typeface="Calibri" pitchFamily="34" charset="0"/>
                <a:ea typeface="Calibri" pitchFamily="34" charset="-122"/>
                <a:cs typeface="Calibri" pitchFamily="34" charset="-120"/>
              </a:rPr>
              <a:t> </a:t>
            </a:r>
            <a:endParaRPr lang="en-US" sz="2700" dirty="0"/>
          </a:p>
          <a:p>
            <a:pPr indent="0" marL="0">
              <a:buNone/>
            </a:pPr>
            <a:r>
              <a:rPr lang="en-US" sz="2700" dirty="0">
                <a:solidFill>
                  <a:srgbClr val="1E2761"/>
                </a:solidFill>
                <a:latin typeface="Calibri" pitchFamily="34" charset="0"/>
                <a:ea typeface="Calibri" pitchFamily="34" charset="-122"/>
                <a:cs typeface="Calibri" pitchFamily="34" charset="-120"/>
              </a:rPr>
              <a:t>Es sind 19 Fehler:  15 × Großschreibung,  4 × Komma.</a:t>
            </a:r>
            <a:endParaRPr lang="en-US" sz="2700" dirty="0"/>
          </a:p>
          <a:p>
            <a:pPr indent="0" marL="0">
              <a:buNone/>
            </a:pPr>
            <a:r>
              <a:rPr lang="en-US" sz="1200" dirty="0">
                <a:solidFill>
                  <a:srgbClr val="1E2761"/>
                </a:solidFill>
                <a:latin typeface="Calibri" pitchFamily="34" charset="0"/>
                <a:ea typeface="Calibri" pitchFamily="34" charset="-122"/>
                <a:cs typeface="Calibri" pitchFamily="34" charset="-120"/>
              </a:rPr>
              <a:t> </a:t>
            </a:r>
            <a:endParaRPr lang="en-US" sz="2700" dirty="0"/>
          </a:p>
          <a:p>
            <a:pPr indent="0" marL="0">
              <a:buNone/>
            </a:pPr>
            <a:r>
              <a:rPr lang="en-US" sz="2700" b="1" dirty="0">
                <a:solidFill>
                  <a:srgbClr val="D9534F"/>
                </a:solidFill>
                <a:latin typeface="Calibri" pitchFamily="34" charset="0"/>
                <a:ea typeface="Calibri" pitchFamily="34" charset="-122"/>
                <a:cs typeface="Calibri" pitchFamily="34" charset="-120"/>
              </a:rPr>
              <a:t>Achtung: Nicht jeder Satz hat ein Komma.</a:t>
            </a:r>
            <a:endParaRPr lang="en-US" sz="2700" dirty="0"/>
          </a:p>
          <a:p>
            <a:pPr indent="0" marL="0">
              <a:buNone/>
            </a:pPr>
            <a:r>
              <a:rPr lang="en-US" sz="1200" dirty="0">
                <a:solidFill>
                  <a:srgbClr val="1E2761"/>
                </a:solidFill>
                <a:latin typeface="Calibri" pitchFamily="34" charset="0"/>
                <a:ea typeface="Calibri" pitchFamily="34" charset="-122"/>
                <a:cs typeface="Calibri" pitchFamily="34" charset="-120"/>
              </a:rPr>
              <a:t> </a:t>
            </a:r>
            <a:endParaRPr lang="en-US" sz="2700" dirty="0"/>
          </a:p>
          <a:p>
            <a:pPr indent="0" marL="0">
              <a:buNone/>
            </a:pPr>
            <a:r>
              <a:rPr lang="en-US" sz="2700" i="1" dirty="0">
                <a:solidFill>
                  <a:srgbClr val="5B6B8C"/>
                </a:solidFill>
                <a:latin typeface="Calibri" pitchFamily="34" charset="0"/>
                <a:ea typeface="Calibri" pitchFamily="34" charset="-122"/>
                <a:cs typeface="Calibri" pitchFamily="34" charset="-120"/>
              </a:rPr>
              <a:t>Fertig? Zähle, wie viele du gefunden hast.</a:t>
            </a:r>
            <a:endParaRPr lang="en-US" sz="2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Lösung: Satz 3–5</a:t>
            </a:r>
            <a:endParaRPr lang="en-US" sz="3000" dirty="0"/>
          </a:p>
        </p:txBody>
      </p:sp>
      <p:sp>
        <p:nvSpPr>
          <p:cNvPr id="4" name="Shape 2"/>
          <p:cNvSpPr/>
          <p:nvPr/>
        </p:nvSpPr>
        <p:spPr>
          <a:xfrm>
            <a:off x="457200" y="1143000"/>
            <a:ext cx="11247120" cy="1600200"/>
          </a:xfrm>
          <a:prstGeom prst="roundRect">
            <a:avLst>
              <a:gd name="adj" fmla="val 4571"/>
            </a:avLst>
          </a:prstGeom>
          <a:solidFill>
            <a:srgbClr val="F4F7FD"/>
          </a:solidFill>
          <a:ln/>
        </p:spPr>
      </p:sp>
      <p:sp>
        <p:nvSpPr>
          <p:cNvPr id="5" name="Text 3"/>
          <p:cNvSpPr txBox="1"/>
          <p:nvPr/>
        </p:nvSpPr>
        <p:spPr>
          <a:xfrm>
            <a:off x="731520" y="1143000"/>
            <a:ext cx="10789920" cy="160020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3  </a:t>
            </a:r>
            <a:pPr indent="0" marL="0">
              <a:buNone/>
            </a:pPr>
            <a:r>
              <a:rPr lang="en-US" sz="2700" dirty="0">
                <a:solidFill>
                  <a:srgbClr val="1E2761"/>
                </a:solidFill>
                <a:latin typeface="Cambria" pitchFamily="34" charset="0"/>
                <a:ea typeface="Cambria" pitchFamily="34" charset="-122"/>
                <a:cs typeface="Cambria" pitchFamily="34" charset="-120"/>
              </a:rPr>
              <a:t>Beim</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Schreiben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achte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ich</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auf</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die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Kommas</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
        <p:nvSpPr>
          <p:cNvPr id="6" name="Shape 4"/>
          <p:cNvSpPr/>
          <p:nvPr/>
        </p:nvSpPr>
        <p:spPr>
          <a:xfrm>
            <a:off x="457200" y="2926080"/>
            <a:ext cx="11247120" cy="1600200"/>
          </a:xfrm>
          <a:prstGeom prst="roundRect">
            <a:avLst>
              <a:gd name="adj" fmla="val 4571"/>
            </a:avLst>
          </a:prstGeom>
          <a:solidFill>
            <a:srgbClr val="F4F7FD"/>
          </a:solidFill>
          <a:ln/>
        </p:spPr>
      </p:sp>
      <p:sp>
        <p:nvSpPr>
          <p:cNvPr id="7" name="Text 5"/>
          <p:cNvSpPr txBox="1"/>
          <p:nvPr/>
        </p:nvSpPr>
        <p:spPr>
          <a:xfrm>
            <a:off x="731520" y="2926080"/>
            <a:ext cx="10789920" cy="160020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4  </a:t>
            </a:r>
            <a:pPr indent="0" marL="0">
              <a:buNone/>
            </a:pPr>
            <a:r>
              <a:rPr lang="en-US" sz="2700" dirty="0">
                <a:solidFill>
                  <a:srgbClr val="1E2761"/>
                </a:solidFill>
                <a:latin typeface="Cambria" pitchFamily="34" charset="0"/>
                <a:ea typeface="Cambria" pitchFamily="34" charset="-122"/>
                <a:cs typeface="Cambria" pitchFamily="34" charset="-120"/>
              </a:rPr>
              <a:t>Kafka</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hatte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Angst</a:t>
            </a:r>
            <a:pPr indent="0" marL="0">
              <a:buNone/>
            </a:pPr>
            <a:r>
              <a:rPr lang="en-US" sz="2700" b="1" u="sng" dirty="0">
                <a:solidFill>
                  <a:srgbClr val="D9534F"/>
                </a:solidFill>
                <a:latin typeface="Cambria" pitchFamily="34" charset="0"/>
                <a:ea typeface="Cambria" pitchFamily="34" charset="-122"/>
                <a:cs typeface="Cambria" pitchFamily="34" charset="-120"/>
              </a:rPr>
              <a: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weil</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Vater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oft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laut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wurde</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
        <p:nvSpPr>
          <p:cNvPr id="8" name="Shape 6"/>
          <p:cNvSpPr/>
          <p:nvPr/>
        </p:nvSpPr>
        <p:spPr>
          <a:xfrm>
            <a:off x="457200" y="4709160"/>
            <a:ext cx="11247120" cy="1600200"/>
          </a:xfrm>
          <a:prstGeom prst="roundRect">
            <a:avLst>
              <a:gd name="adj" fmla="val 4571"/>
            </a:avLst>
          </a:prstGeom>
          <a:solidFill>
            <a:srgbClr val="F4F7FD"/>
          </a:solidFill>
          <a:ln/>
        </p:spPr>
      </p:sp>
      <p:sp>
        <p:nvSpPr>
          <p:cNvPr id="9" name="Text 7"/>
          <p:cNvSpPr txBox="1"/>
          <p:nvPr/>
        </p:nvSpPr>
        <p:spPr>
          <a:xfrm>
            <a:off x="731520" y="4709160"/>
            <a:ext cx="10789920" cy="160020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5  </a:t>
            </a:r>
            <a:pPr indent="0" marL="0">
              <a:buNone/>
            </a:pPr>
            <a:r>
              <a:rPr lang="en-US" sz="2700" dirty="0">
                <a:solidFill>
                  <a:srgbClr val="1E2761"/>
                </a:solidFill>
                <a:latin typeface="Cambria" pitchFamily="34" charset="0"/>
                <a:ea typeface="Cambria" pitchFamily="34" charset="-122"/>
                <a:cs typeface="Cambria" pitchFamily="34" charset="-120"/>
              </a:rPr>
              <a:t>Ich</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wünsche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mir</a:t>
            </a:r>
            <a:pPr indent="0" marL="0">
              <a:buNone/>
            </a:pPr>
            <a:r>
              <a:rPr lang="en-US" sz="2700" b="1" u="sng" dirty="0">
                <a:solidFill>
                  <a:srgbClr val="D9534F"/>
                </a:solidFill>
                <a:latin typeface="Cambria" pitchFamily="34" charset="0"/>
                <a:ea typeface="Cambria" pitchFamily="34" charset="-122"/>
                <a:cs typeface="Cambria" pitchFamily="34" charset="-120"/>
              </a:rPr>
              <a: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dass</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meine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Eltern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beim</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Zuhören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das</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Handy</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weglegen</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Lösung: Satz 6–8</a:t>
            </a:r>
            <a:endParaRPr lang="en-US" sz="3000" dirty="0"/>
          </a:p>
        </p:txBody>
      </p:sp>
      <p:sp>
        <p:nvSpPr>
          <p:cNvPr id="4" name="Shape 2"/>
          <p:cNvSpPr/>
          <p:nvPr/>
        </p:nvSpPr>
        <p:spPr>
          <a:xfrm>
            <a:off x="457200" y="1143000"/>
            <a:ext cx="11247120" cy="1600200"/>
          </a:xfrm>
          <a:prstGeom prst="roundRect">
            <a:avLst>
              <a:gd name="adj" fmla="val 4571"/>
            </a:avLst>
          </a:prstGeom>
          <a:solidFill>
            <a:srgbClr val="F4F7FD"/>
          </a:solidFill>
          <a:ln/>
        </p:spPr>
      </p:sp>
      <p:sp>
        <p:nvSpPr>
          <p:cNvPr id="5" name="Text 3"/>
          <p:cNvSpPr txBox="1"/>
          <p:nvPr/>
        </p:nvSpPr>
        <p:spPr>
          <a:xfrm>
            <a:off x="731520" y="1143000"/>
            <a:ext cx="10789920" cy="160020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6  </a:t>
            </a:r>
            <a:pPr indent="0" marL="0">
              <a:buNone/>
            </a:pPr>
            <a:r>
              <a:rPr lang="en-US" sz="2700" dirty="0">
                <a:solidFill>
                  <a:srgbClr val="1E2761"/>
                </a:solidFill>
                <a:latin typeface="Cambria" pitchFamily="34" charset="0"/>
                <a:ea typeface="Cambria" pitchFamily="34" charset="-122"/>
                <a:cs typeface="Cambria" pitchFamily="34" charset="-120"/>
              </a:rPr>
              <a:t>Der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Sohn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wusste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nicht</a:t>
            </a:r>
            <a:pPr indent="0" marL="0">
              <a:buNone/>
            </a:pPr>
            <a:r>
              <a:rPr lang="en-US" sz="2700" b="1" u="sng" dirty="0">
                <a:solidFill>
                  <a:srgbClr val="D9534F"/>
                </a:solidFill>
                <a:latin typeface="Cambria" pitchFamily="34" charset="0"/>
                <a:ea typeface="Cambria" pitchFamily="34" charset="-122"/>
                <a:cs typeface="Cambria" pitchFamily="34" charset="-120"/>
              </a:rPr>
              <a: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ob</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seinem</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Vater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die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Wahrheit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sagen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durfte</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
        <p:nvSpPr>
          <p:cNvPr id="6" name="Shape 4"/>
          <p:cNvSpPr/>
          <p:nvPr/>
        </p:nvSpPr>
        <p:spPr>
          <a:xfrm>
            <a:off x="457200" y="2926080"/>
            <a:ext cx="11247120" cy="1600200"/>
          </a:xfrm>
          <a:prstGeom prst="roundRect">
            <a:avLst>
              <a:gd name="adj" fmla="val 4571"/>
            </a:avLst>
          </a:prstGeom>
          <a:solidFill>
            <a:srgbClr val="F4F7FD"/>
          </a:solidFill>
          <a:ln/>
        </p:spPr>
      </p:sp>
      <p:sp>
        <p:nvSpPr>
          <p:cNvPr id="7" name="Text 5"/>
          <p:cNvSpPr txBox="1"/>
          <p:nvPr/>
        </p:nvSpPr>
        <p:spPr>
          <a:xfrm>
            <a:off x="731520" y="2926080"/>
            <a:ext cx="10789920" cy="160020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7  </a:t>
            </a:r>
            <a:pPr indent="0" marL="0">
              <a:buNone/>
            </a:pPr>
            <a:r>
              <a:rPr lang="en-US" sz="2700" dirty="0">
                <a:solidFill>
                  <a:srgbClr val="1E2761"/>
                </a:solidFill>
                <a:latin typeface="Cambria" pitchFamily="34" charset="0"/>
                <a:ea typeface="Cambria" pitchFamily="34" charset="-122"/>
                <a:cs typeface="Cambria" pitchFamily="34" charset="-120"/>
              </a:rPr>
              <a:t>Ein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freundliches</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Wort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hätte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dem</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Kind</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mehr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geholfen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als</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jede</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Drohung</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
        <p:nvSpPr>
          <p:cNvPr id="8" name="Shape 6"/>
          <p:cNvSpPr/>
          <p:nvPr/>
        </p:nvSpPr>
        <p:spPr>
          <a:xfrm>
            <a:off x="457200" y="4709160"/>
            <a:ext cx="11247120" cy="1600200"/>
          </a:xfrm>
          <a:prstGeom prst="roundRect">
            <a:avLst>
              <a:gd name="adj" fmla="val 4571"/>
            </a:avLst>
          </a:prstGeom>
          <a:solidFill>
            <a:srgbClr val="F4F7FD"/>
          </a:solidFill>
          <a:ln/>
        </p:spPr>
      </p:sp>
      <p:sp>
        <p:nvSpPr>
          <p:cNvPr id="9" name="Text 7"/>
          <p:cNvSpPr txBox="1"/>
          <p:nvPr/>
        </p:nvSpPr>
        <p:spPr>
          <a:xfrm>
            <a:off x="731520" y="4709160"/>
            <a:ext cx="10789920" cy="1600200"/>
          </a:xfrm>
          <a:prstGeom prst="rect">
            <a:avLst/>
          </a:prstGeom>
          <a:noFill/>
          <a:ln/>
        </p:spPr>
        <p:txBody>
          <a:bodyPr wrap="square" lIns="0" tIns="0" rIns="0" bIns="0" rtlCol="0" anchor="ctr"/>
          <a:lstStyle/>
          <a:p>
            <a:pPr indent="0" marL="0">
              <a:buNone/>
            </a:pPr>
            <a:r>
              <a:rPr lang="en-US" sz="2700" b="1" dirty="0">
                <a:solidFill>
                  <a:srgbClr val="5B6B8C"/>
                </a:solidFill>
                <a:latin typeface="Cambria" pitchFamily="34" charset="0"/>
                <a:ea typeface="Cambria" pitchFamily="34" charset="-122"/>
                <a:cs typeface="Cambria" pitchFamily="34" charset="-120"/>
              </a:rPr>
              <a:t>8  </a:t>
            </a:r>
            <a:pPr indent="0" marL="0">
              <a:buNone/>
            </a:pPr>
            <a:r>
              <a:rPr lang="en-US" sz="2700" dirty="0">
                <a:solidFill>
                  <a:srgbClr val="1E2761"/>
                </a:solidFill>
                <a:latin typeface="Cambria" pitchFamily="34" charset="0"/>
                <a:ea typeface="Cambria" pitchFamily="34" charset="-122"/>
                <a:cs typeface="Cambria" pitchFamily="34" charset="-120"/>
              </a:rPr>
              <a:t>Weil</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sich</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fürchtete</a:t>
            </a:r>
            <a:pPr indent="0" marL="0">
              <a:buNone/>
            </a:pPr>
            <a:r>
              <a:rPr lang="en-US" sz="2700" b="1" u="sng" dirty="0">
                <a:solidFill>
                  <a:srgbClr val="D9534F"/>
                </a:solidFill>
                <a:latin typeface="Cambria" pitchFamily="34" charset="0"/>
                <a:ea typeface="Cambria" pitchFamily="34" charset="-122"/>
                <a:cs typeface="Cambria" pitchFamily="34" charset="-120"/>
              </a:rPr>
              <a:t>,</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schrieb</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seinem</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Vater</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dirty="0">
                <a:solidFill>
                  <a:srgbClr val="1E2761"/>
                </a:solidFill>
                <a:latin typeface="Cambria" pitchFamily="34" charset="0"/>
                <a:ea typeface="Cambria" pitchFamily="34" charset="-122"/>
                <a:cs typeface="Cambria" pitchFamily="34" charset="-120"/>
              </a:rPr>
              <a:t>einen</a:t>
            </a:r>
            <a:pPr indent="0" marL="0">
              <a:buNone/>
            </a:pPr>
            <a:r>
              <a:rPr lang="en-US" sz="2700" dirty="0">
                <a:solidFill>
                  <a:srgbClr val="1E2761"/>
                </a:solidFill>
                <a:latin typeface="Cambria" pitchFamily="34" charset="0"/>
                <a:ea typeface="Cambria" pitchFamily="34" charset="-122"/>
                <a:cs typeface="Cambria" pitchFamily="34" charset="-120"/>
              </a:rPr>
              <a:t> </a:t>
            </a:r>
            <a:pPr indent="0" marL="0">
              <a:buNone/>
            </a:pPr>
            <a:r>
              <a:rPr lang="en-US" sz="2700" b="1" u="sng" dirty="0">
                <a:solidFill>
                  <a:srgbClr val="D9534F"/>
                </a:solidFill>
                <a:latin typeface="Cambria" pitchFamily="34" charset="0"/>
                <a:ea typeface="Cambria" pitchFamily="34" charset="-122"/>
                <a:cs typeface="Cambria" pitchFamily="34" charset="-120"/>
              </a:rPr>
              <a:t>Brief</a:t>
            </a:r>
            <a:pPr indent="0" marL="0">
              <a:buNone/>
            </a:pPr>
            <a:r>
              <a:rPr lang="en-US" sz="2700" dirty="0">
                <a:solidFill>
                  <a:srgbClr val="1E2761"/>
                </a:solidFill>
                <a:latin typeface="Cambria" pitchFamily="34" charset="0"/>
                <a:ea typeface="Cambria" pitchFamily="34" charset="-122"/>
                <a:cs typeface="Cambria" pitchFamily="34" charset="-120"/>
              </a:rPr>
              <a:t>.</a:t>
            </a:r>
            <a:pPr indent="0" marL="0">
              <a:buNone/>
            </a:pPr>
            <a:endParaRPr lang="en-US" sz="2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822960" y="1280160"/>
            <a:ext cx="2926080" cy="548640"/>
          </a:xfrm>
          <a:prstGeom prst="roundRect">
            <a:avLst>
              <a:gd name="adj" fmla="val 50000"/>
            </a:avLst>
          </a:prstGeom>
          <a:solidFill>
            <a:srgbClr val="D9534F"/>
          </a:solidFill>
          <a:ln/>
        </p:spPr>
      </p:sp>
      <p:sp>
        <p:nvSpPr>
          <p:cNvPr id="4" name="Text 2"/>
          <p:cNvSpPr txBox="1"/>
          <p:nvPr/>
        </p:nvSpPr>
        <p:spPr>
          <a:xfrm>
            <a:off x="822960" y="1280160"/>
            <a:ext cx="2926080" cy="54864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ANKOMMEN</a:t>
            </a:r>
            <a:endParaRPr lang="en-US" sz="2700" dirty="0"/>
          </a:p>
        </p:txBody>
      </p:sp>
      <p:sp>
        <p:nvSpPr>
          <p:cNvPr id="5" name="Text 3"/>
          <p:cNvSpPr txBox="1"/>
          <p:nvPr/>
        </p:nvSpPr>
        <p:spPr>
          <a:xfrm>
            <a:off x="822960" y="2194560"/>
            <a:ext cx="10424160" cy="731520"/>
          </a:xfrm>
          <a:prstGeom prst="rect">
            <a:avLst/>
          </a:prstGeom>
          <a:noFill/>
          <a:ln/>
        </p:spPr>
        <p:txBody>
          <a:bodyPr wrap="square" lIns="0" tIns="0" rIns="0" bIns="0" rtlCol="0" anchor="t"/>
          <a:lstStyle/>
          <a:p>
            <a:pPr indent="0" marL="0">
              <a:buNone/>
            </a:pPr>
            <a:r>
              <a:rPr lang="en-US" sz="3200" dirty="0">
                <a:solidFill>
                  <a:srgbClr val="CADCFC"/>
                </a:solidFill>
                <a:latin typeface="Cambria" pitchFamily="34" charset="0"/>
                <a:ea typeface="Cambria" pitchFamily="34" charset="-122"/>
                <a:cs typeface="Cambria" pitchFamily="34" charset="-120"/>
              </a:rPr>
              <a:t>Ich habe euch eben kritisiert.</a:t>
            </a:r>
            <a:endParaRPr lang="en-US" sz="3200" dirty="0"/>
          </a:p>
        </p:txBody>
      </p:sp>
      <p:sp>
        <p:nvSpPr>
          <p:cNvPr id="6" name="Text 4"/>
          <p:cNvSpPr txBox="1"/>
          <p:nvPr/>
        </p:nvSpPr>
        <p:spPr>
          <a:xfrm>
            <a:off x="822960" y="3017520"/>
            <a:ext cx="10424160" cy="10972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Was ist mein Appell an euch?</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Was wisst ihr noch?</a:t>
            </a:r>
            <a:endParaRPr lang="en-US" sz="3000" dirty="0"/>
          </a:p>
        </p:txBody>
      </p:sp>
      <p:sp>
        <p:nvSpPr>
          <p:cNvPr id="4" name="Text 2"/>
          <p:cNvSpPr txBox="1"/>
          <p:nvPr/>
        </p:nvSpPr>
        <p:spPr>
          <a:xfrm>
            <a:off x="8503920" y="137160"/>
            <a:ext cx="3383280" cy="640080"/>
          </a:xfrm>
          <a:prstGeom prst="rect">
            <a:avLst/>
          </a:prstGeom>
          <a:noFill/>
          <a:ln/>
        </p:spPr>
        <p:txBody>
          <a:bodyPr wrap="square" lIns="0" tIns="0" rIns="0" bIns="0" rtlCol="0" anchor="ctr"/>
          <a:lstStyle/>
          <a:p>
            <a:pPr algn="r" indent="0" marL="0">
              <a:buNone/>
            </a:pPr>
            <a:r>
              <a:rPr lang="en-US" sz="2700" b="1" dirty="0">
                <a:solidFill>
                  <a:srgbClr val="CADCFC"/>
                </a:solidFill>
                <a:latin typeface="Calibri" pitchFamily="34" charset="0"/>
                <a:ea typeface="Calibri" pitchFamily="34" charset="-122"/>
                <a:cs typeface="Calibri" pitchFamily="34" charset="-120"/>
              </a:rPr>
              <a:t>VORWISSEN</a:t>
            </a:r>
            <a:endParaRPr lang="en-US" sz="2700" dirty="0"/>
          </a:p>
        </p:txBody>
      </p:sp>
      <p:sp>
        <p:nvSpPr>
          <p:cNvPr id="5" name="Shape 3"/>
          <p:cNvSpPr/>
          <p:nvPr/>
        </p:nvSpPr>
        <p:spPr>
          <a:xfrm>
            <a:off x="457200" y="1188720"/>
            <a:ext cx="11247120" cy="1508760"/>
          </a:xfrm>
          <a:prstGeom prst="roundRect">
            <a:avLst>
              <a:gd name="adj" fmla="val 4848"/>
            </a:avLst>
          </a:prstGeom>
          <a:solidFill>
            <a:srgbClr val="F4F7FD"/>
          </a:solidFill>
          <a:ln w="9525">
            <a:solidFill>
              <a:srgbClr val="D5DCEC"/>
            </a:solidFill>
            <a:prstDash val="solid"/>
          </a:ln>
        </p:spPr>
      </p:sp>
      <p:sp>
        <p:nvSpPr>
          <p:cNvPr id="6" name="Text 4"/>
          <p:cNvSpPr txBox="1"/>
          <p:nvPr/>
        </p:nvSpPr>
        <p:spPr>
          <a:xfrm>
            <a:off x="731520" y="1188720"/>
            <a:ext cx="10789920" cy="150876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Wie kommunizieren wir?</a:t>
            </a:r>
            <a:endParaRPr lang="en-US" sz="2700" dirty="0"/>
          </a:p>
          <a:p>
            <a:pPr indent="0" marL="0">
              <a:buNone/>
            </a:pPr>
            <a:r>
              <a:rPr lang="en-US" sz="2700" i="1" dirty="0">
                <a:solidFill>
                  <a:srgbClr val="5B6B8C"/>
                </a:solidFill>
                <a:latin typeface="Calibri" pitchFamily="34" charset="0"/>
                <a:ea typeface="Calibri" pitchFamily="34" charset="-122"/>
                <a:cs typeface="Calibri" pitchFamily="34" charset="-120"/>
              </a:rPr>
              <a:t>verbal · paraverbal · nonverbal</a:t>
            </a:r>
            <a:endParaRPr lang="en-US" sz="2700" dirty="0"/>
          </a:p>
        </p:txBody>
      </p:sp>
      <p:sp>
        <p:nvSpPr>
          <p:cNvPr id="7" name="Shape 5"/>
          <p:cNvSpPr/>
          <p:nvPr/>
        </p:nvSpPr>
        <p:spPr>
          <a:xfrm>
            <a:off x="457200" y="2880360"/>
            <a:ext cx="11247120" cy="1508760"/>
          </a:xfrm>
          <a:prstGeom prst="roundRect">
            <a:avLst>
              <a:gd name="adj" fmla="val 4848"/>
            </a:avLst>
          </a:prstGeom>
          <a:solidFill>
            <a:srgbClr val="FFFFFF"/>
          </a:solidFill>
          <a:ln w="9525">
            <a:solidFill>
              <a:srgbClr val="D5DCEC"/>
            </a:solidFill>
            <a:prstDash val="solid"/>
          </a:ln>
        </p:spPr>
      </p:sp>
      <p:sp>
        <p:nvSpPr>
          <p:cNvPr id="8" name="Text 6"/>
          <p:cNvSpPr txBox="1"/>
          <p:nvPr/>
        </p:nvSpPr>
        <p:spPr>
          <a:xfrm>
            <a:off x="731520" y="2880360"/>
            <a:ext cx="10789920" cy="150876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Wie viele Ohren hat eine Nachricht?</a:t>
            </a:r>
            <a:endParaRPr lang="en-US" sz="2700" dirty="0"/>
          </a:p>
          <a:p>
            <a:pPr indent="0" marL="0">
              <a:buNone/>
            </a:pPr>
            <a:r>
              <a:rPr lang="en-US" sz="2700" i="1" dirty="0">
                <a:solidFill>
                  <a:srgbClr val="5B6B8C"/>
                </a:solidFill>
                <a:latin typeface="Calibri" pitchFamily="34" charset="0"/>
                <a:ea typeface="Calibri" pitchFamily="34" charset="-122"/>
                <a:cs typeface="Calibri" pitchFamily="34" charset="-120"/>
              </a:rPr>
              <a:t>Schulz von Thun</a:t>
            </a:r>
            <a:endParaRPr lang="en-US" sz="2700" dirty="0"/>
          </a:p>
        </p:txBody>
      </p:sp>
      <p:sp>
        <p:nvSpPr>
          <p:cNvPr id="9" name="Shape 7"/>
          <p:cNvSpPr/>
          <p:nvPr/>
        </p:nvSpPr>
        <p:spPr>
          <a:xfrm>
            <a:off x="457200" y="4572000"/>
            <a:ext cx="11247120" cy="1508760"/>
          </a:xfrm>
          <a:prstGeom prst="roundRect">
            <a:avLst>
              <a:gd name="adj" fmla="val 4848"/>
            </a:avLst>
          </a:prstGeom>
          <a:solidFill>
            <a:srgbClr val="F4F7FD"/>
          </a:solidFill>
          <a:ln w="9525">
            <a:solidFill>
              <a:srgbClr val="D5DCEC"/>
            </a:solidFill>
            <a:prstDash val="solid"/>
          </a:ln>
        </p:spPr>
      </p:sp>
      <p:sp>
        <p:nvSpPr>
          <p:cNvPr id="10" name="Text 8"/>
          <p:cNvSpPr txBox="1"/>
          <p:nvPr/>
        </p:nvSpPr>
        <p:spPr>
          <a:xfrm>
            <a:off x="731520" y="4572000"/>
            <a:ext cx="10789920" cy="150876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Welche zwei Ebenen hat jede Nachricht?</a:t>
            </a:r>
            <a:endParaRPr lang="en-US" sz="2700" dirty="0"/>
          </a:p>
          <a:p>
            <a:pPr indent="0" marL="0">
              <a:buNone/>
            </a:pPr>
            <a:r>
              <a:rPr lang="en-US" sz="2700" i="1" dirty="0">
                <a:solidFill>
                  <a:srgbClr val="5B6B8C"/>
                </a:solidFill>
                <a:latin typeface="Calibri" pitchFamily="34" charset="0"/>
                <a:ea typeface="Calibri" pitchFamily="34" charset="-122"/>
                <a:cs typeface="Calibri" pitchFamily="34" charset="-120"/>
              </a:rPr>
              <a:t>Watzlawick</a:t>
            </a:r>
            <a:endParaRPr lang="en-US" sz="2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Kafka und sein Vater</a:t>
            </a:r>
            <a:endParaRPr lang="en-US" sz="3000" dirty="0"/>
          </a:p>
        </p:txBody>
      </p:sp>
      <p:sp>
        <p:nvSpPr>
          <p:cNvPr id="4" name="Text 2"/>
          <p:cNvSpPr txBox="1"/>
          <p:nvPr/>
        </p:nvSpPr>
        <p:spPr>
          <a:xfrm>
            <a:off x="8503920" y="137160"/>
            <a:ext cx="3383280" cy="640080"/>
          </a:xfrm>
          <a:prstGeom prst="rect">
            <a:avLst/>
          </a:prstGeom>
          <a:noFill/>
          <a:ln/>
        </p:spPr>
        <p:txBody>
          <a:bodyPr wrap="square" lIns="0" tIns="0" rIns="0" bIns="0" rtlCol="0" anchor="ctr"/>
          <a:lstStyle/>
          <a:p>
            <a:pPr algn="r" indent="0" marL="0">
              <a:buNone/>
            </a:pPr>
            <a:r>
              <a:rPr lang="en-US" sz="2700" b="1" dirty="0">
                <a:solidFill>
                  <a:srgbClr val="CADCFC"/>
                </a:solidFill>
                <a:latin typeface="Calibri" pitchFamily="34" charset="0"/>
                <a:ea typeface="Calibri" pitchFamily="34" charset="-122"/>
                <a:cs typeface="Calibri" pitchFamily="34" charset="-120"/>
              </a:rPr>
              <a:t>VORWISSEN</a:t>
            </a:r>
            <a:endParaRPr lang="en-US" sz="2700" dirty="0"/>
          </a:p>
        </p:txBody>
      </p:sp>
      <p:sp>
        <p:nvSpPr>
          <p:cNvPr id="5" name="Text 3"/>
          <p:cNvSpPr txBox="1"/>
          <p:nvPr/>
        </p:nvSpPr>
        <p:spPr>
          <a:xfrm>
            <a:off x="731520" y="1280160"/>
            <a:ext cx="10789920" cy="3291840"/>
          </a:xfrm>
          <a:prstGeom prst="rect">
            <a:avLst/>
          </a:prstGeom>
          <a:noFill/>
          <a:ln/>
        </p:spPr>
        <p:txBody>
          <a:bodyPr wrap="square" lIns="0" tIns="0" rIns="0" bIns="0" rtlCol="0" anchor="t"/>
          <a:lstStyle/>
          <a:p>
            <a:pPr marL="304800" indent="-304800">
              <a:spcAft>
                <a:spcPts val="1600"/>
              </a:spcAft>
              <a:buSzPct val="100000"/>
              <a:buChar char="•"/>
            </a:pPr>
            <a:r>
              <a:rPr lang="en-US" sz="2700" dirty="0">
                <a:solidFill>
                  <a:srgbClr val="1E2761"/>
                </a:solidFill>
                <a:latin typeface="Calibri" pitchFamily="34" charset="0"/>
                <a:ea typeface="Calibri" pitchFamily="34" charset="-122"/>
                <a:cs typeface="Calibri" pitchFamily="34" charset="-120"/>
              </a:rPr>
              <a:t>Die Beziehung ist gestört – der Sohn hat Furcht, der Vater versteht ihn nicht.</a:t>
            </a:r>
            <a:endParaRPr lang="en-US" sz="2700" dirty="0"/>
          </a:p>
          <a:p>
            <a:pPr marL="304800" indent="-304800">
              <a:spcAft>
                <a:spcPts val="1600"/>
              </a:spcAft>
              <a:buSzPct val="100000"/>
              <a:buChar char="•"/>
            </a:pPr>
            <a:r>
              <a:rPr lang="en-US" sz="2700" dirty="0">
                <a:solidFill>
                  <a:srgbClr val="1E2761"/>
                </a:solidFill>
                <a:latin typeface="Calibri" pitchFamily="34" charset="0"/>
                <a:ea typeface="Calibri" pitchFamily="34" charset="-122"/>
                <a:cs typeface="Calibri" pitchFamily="34" charset="-120"/>
              </a:rPr>
              <a:t>Max Brod hat deshalb an den Vater geschrieben.</a:t>
            </a:r>
            <a:endParaRPr lang="en-US" sz="2700" dirty="0"/>
          </a:p>
          <a:p>
            <a:pPr marL="304800" indent="-304800">
              <a:buSzPct val="100000"/>
              <a:buChar char="•"/>
            </a:pPr>
            <a:r>
              <a:rPr lang="en-US" sz="2700" b="1" dirty="0">
                <a:solidFill>
                  <a:srgbClr val="1E2761"/>
                </a:solidFill>
                <a:latin typeface="Calibri" pitchFamily="34" charset="0"/>
                <a:ea typeface="Calibri" pitchFamily="34" charset="-122"/>
                <a:cs typeface="Calibri" pitchFamily="34" charset="-120"/>
              </a:rPr>
              <a:t>Heute: Was will Kafka selbst von seinem Vater?</a:t>
            </a:r>
            <a:endParaRPr lang="en-US" sz="2700" dirty="0"/>
          </a:p>
        </p:txBody>
      </p:sp>
      <p:sp>
        <p:nvSpPr>
          <p:cNvPr id="6" name="Shape 4"/>
          <p:cNvSpPr/>
          <p:nvPr/>
        </p:nvSpPr>
        <p:spPr>
          <a:xfrm>
            <a:off x="457200" y="4846320"/>
            <a:ext cx="11247120" cy="1097280"/>
          </a:xfrm>
          <a:prstGeom prst="roundRect">
            <a:avLst>
              <a:gd name="adj" fmla="val 6667"/>
            </a:avLst>
          </a:prstGeom>
          <a:solidFill>
            <a:srgbClr val="FDECEA"/>
          </a:solidFill>
          <a:ln/>
        </p:spPr>
      </p:sp>
      <p:sp>
        <p:nvSpPr>
          <p:cNvPr id="7" name="Text 5"/>
          <p:cNvSpPr txBox="1"/>
          <p:nvPr/>
        </p:nvSpPr>
        <p:spPr>
          <a:xfrm>
            <a:off x="731520" y="4846320"/>
            <a:ext cx="10789920" cy="1097280"/>
          </a:xfrm>
          <a:prstGeom prst="rect">
            <a:avLst/>
          </a:prstGeom>
          <a:noFill/>
          <a:ln/>
        </p:spPr>
        <p:txBody>
          <a:bodyPr wrap="square" lIns="0" tIns="0" rIns="0" bIns="0" rtlCol="0" anchor="ctr"/>
          <a:lstStyle/>
          <a:p>
            <a:pPr indent="0" marL="0">
              <a:buNone/>
            </a:pPr>
            <a:r>
              <a:rPr lang="en-US" sz="2700" b="1" dirty="0">
                <a:solidFill>
                  <a:srgbClr val="D9534F"/>
                </a:solidFill>
                <a:latin typeface="Cambria" pitchFamily="34" charset="0"/>
                <a:ea typeface="Cambria" pitchFamily="34" charset="-122"/>
                <a:cs typeface="Cambria" pitchFamily="34" charset="-120"/>
              </a:rPr>
              <a:t>Wir untersuchen die Appell-Ebene.</a:t>
            </a:r>
            <a:endParaRPr lang="en-US" sz="2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Information: Der Appell</a:t>
            </a:r>
            <a:endParaRPr lang="en-US" sz="3000" dirty="0"/>
          </a:p>
        </p:txBody>
      </p:sp>
      <p:sp>
        <p:nvSpPr>
          <p:cNvPr id="4" name="Text 2"/>
          <p:cNvSpPr txBox="1"/>
          <p:nvPr/>
        </p:nvSpPr>
        <p:spPr>
          <a:xfrm>
            <a:off x="8503920" y="137160"/>
            <a:ext cx="3383280" cy="640080"/>
          </a:xfrm>
          <a:prstGeom prst="rect">
            <a:avLst/>
          </a:prstGeom>
          <a:noFill/>
          <a:ln/>
        </p:spPr>
        <p:txBody>
          <a:bodyPr wrap="square" lIns="0" tIns="0" rIns="0" bIns="0" rtlCol="0" anchor="ctr"/>
          <a:lstStyle/>
          <a:p>
            <a:pPr algn="r" indent="0" marL="0">
              <a:buNone/>
            </a:pPr>
            <a:r>
              <a:rPr lang="en-US" sz="2700" b="1" dirty="0">
                <a:solidFill>
                  <a:srgbClr val="CADCFC"/>
                </a:solidFill>
                <a:latin typeface="Calibri" pitchFamily="34" charset="0"/>
                <a:ea typeface="Calibri" pitchFamily="34" charset="-122"/>
                <a:cs typeface="Calibri" pitchFamily="34" charset="-120"/>
              </a:rPr>
              <a:t>INFORMIEREN</a:t>
            </a:r>
            <a:endParaRPr lang="en-US" sz="2700" dirty="0"/>
          </a:p>
        </p:txBody>
      </p:sp>
      <p:sp>
        <p:nvSpPr>
          <p:cNvPr id="5" name="Shape 3"/>
          <p:cNvSpPr/>
          <p:nvPr/>
        </p:nvSpPr>
        <p:spPr>
          <a:xfrm>
            <a:off x="457200" y="1188720"/>
            <a:ext cx="11247120" cy="1508760"/>
          </a:xfrm>
          <a:prstGeom prst="roundRect">
            <a:avLst>
              <a:gd name="adj" fmla="val 4848"/>
            </a:avLst>
          </a:prstGeom>
          <a:solidFill>
            <a:srgbClr val="FDECEA"/>
          </a:solidFill>
          <a:ln/>
        </p:spPr>
      </p:sp>
      <p:sp>
        <p:nvSpPr>
          <p:cNvPr id="6" name="Text 4"/>
          <p:cNvSpPr txBox="1"/>
          <p:nvPr/>
        </p:nvSpPr>
        <p:spPr>
          <a:xfrm>
            <a:off x="731520" y="1188720"/>
            <a:ext cx="10789920" cy="1508760"/>
          </a:xfrm>
          <a:prstGeom prst="rect">
            <a:avLst/>
          </a:prstGeom>
          <a:noFill/>
          <a:ln/>
        </p:spPr>
        <p:txBody>
          <a:bodyPr wrap="square" lIns="0" tIns="0" rIns="0" bIns="0" rtlCol="0" anchor="ctr"/>
          <a:lstStyle/>
          <a:p>
            <a:pPr indent="0" marL="0">
              <a:buNone/>
            </a:pPr>
            <a:r>
              <a:rPr lang="en-US" sz="2700" b="1" dirty="0">
                <a:solidFill>
                  <a:srgbClr val="D9534F"/>
                </a:solidFill>
                <a:latin typeface="Calibri" pitchFamily="34" charset="0"/>
                <a:ea typeface="Calibri" pitchFamily="34" charset="-122"/>
                <a:cs typeface="Calibri" pitchFamily="34" charset="-120"/>
              </a:rPr>
              <a:t>Appell: </a:t>
            </a:r>
            <a:pPr indent="0" marL="0">
              <a:buNone/>
            </a:pPr>
            <a:r>
              <a:rPr lang="en-US" sz="2700" dirty="0">
                <a:solidFill>
                  <a:srgbClr val="1E2761"/>
                </a:solidFill>
                <a:latin typeface="Calibri" pitchFamily="34" charset="0"/>
                <a:ea typeface="Calibri" pitchFamily="34" charset="-122"/>
                <a:cs typeface="Calibri" pitchFamily="34" charset="-120"/>
              </a:rPr>
              <a:t>Mit dieser Seite einer Nachricht will der Sender erreichen, dass der Empfänger etwas tut, denkt oder fühlt.</a:t>
            </a:r>
            <a:endParaRPr lang="en-US" sz="2700" dirty="0"/>
          </a:p>
        </p:txBody>
      </p:sp>
      <p:sp>
        <p:nvSpPr>
          <p:cNvPr id="7" name="Shape 5"/>
          <p:cNvSpPr/>
          <p:nvPr/>
        </p:nvSpPr>
        <p:spPr>
          <a:xfrm>
            <a:off x="457200" y="2880360"/>
            <a:ext cx="11247120" cy="1508760"/>
          </a:xfrm>
          <a:prstGeom prst="roundRect">
            <a:avLst>
              <a:gd name="adj" fmla="val 4848"/>
            </a:avLst>
          </a:prstGeom>
          <a:solidFill>
            <a:srgbClr val="F4F7FD"/>
          </a:solidFill>
          <a:ln/>
        </p:spPr>
      </p:sp>
      <p:sp>
        <p:nvSpPr>
          <p:cNvPr id="8" name="Text 6"/>
          <p:cNvSpPr txBox="1"/>
          <p:nvPr/>
        </p:nvSpPr>
        <p:spPr>
          <a:xfrm>
            <a:off x="731520" y="2880360"/>
            <a:ext cx="10789920" cy="150876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offen: </a:t>
            </a:r>
            <a:pPr indent="0" marL="0">
              <a:buNone/>
            </a:pPr>
            <a:r>
              <a:rPr lang="en-US" sz="2700" dirty="0">
                <a:solidFill>
                  <a:srgbClr val="1E2761"/>
                </a:solidFill>
                <a:latin typeface="Calibri" pitchFamily="34" charset="0"/>
                <a:ea typeface="Calibri" pitchFamily="34" charset="-122"/>
                <a:cs typeface="Calibri" pitchFamily="34" charset="-120"/>
              </a:rPr>
              <a:t>direkt ausgesprochen, z. B. als Bitte: „Hör mir bitte zu!“</a:t>
            </a:r>
            <a:endParaRPr lang="en-US" sz="2700" dirty="0"/>
          </a:p>
        </p:txBody>
      </p:sp>
      <p:sp>
        <p:nvSpPr>
          <p:cNvPr id="9" name="Shape 7"/>
          <p:cNvSpPr/>
          <p:nvPr/>
        </p:nvSpPr>
        <p:spPr>
          <a:xfrm>
            <a:off x="457200" y="4572000"/>
            <a:ext cx="11247120" cy="1508760"/>
          </a:xfrm>
          <a:prstGeom prst="roundRect">
            <a:avLst>
              <a:gd name="adj" fmla="val 4848"/>
            </a:avLst>
          </a:prstGeom>
          <a:solidFill>
            <a:srgbClr val="F4F7FD"/>
          </a:solidFill>
          <a:ln/>
        </p:spPr>
      </p:sp>
      <p:sp>
        <p:nvSpPr>
          <p:cNvPr id="10" name="Text 8"/>
          <p:cNvSpPr txBox="1"/>
          <p:nvPr/>
        </p:nvSpPr>
        <p:spPr>
          <a:xfrm>
            <a:off x="731520" y="4572000"/>
            <a:ext cx="10789920" cy="150876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verdeckt: </a:t>
            </a:r>
            <a:pPr indent="0" marL="0">
              <a:buNone/>
            </a:pPr>
            <a:r>
              <a:rPr lang="en-US" sz="2700" dirty="0">
                <a:solidFill>
                  <a:srgbClr val="1E2761"/>
                </a:solidFill>
                <a:latin typeface="Calibri" pitchFamily="34" charset="0"/>
                <a:ea typeface="Calibri" pitchFamily="34" charset="-122"/>
                <a:cs typeface="Calibri" pitchFamily="34" charset="-120"/>
              </a:rPr>
              <a:t>versteckt in einem Wunsch, einer Frage oder einer Beschreibung: „Du hörst mir nie zu.“</a:t>
            </a:r>
            <a:endParaRPr lang="en-US" sz="2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Worum bittet Kafka?</a:t>
            </a:r>
            <a:endParaRPr lang="en-US" sz="3000" dirty="0"/>
          </a:p>
        </p:txBody>
      </p:sp>
      <p:sp>
        <p:nvSpPr>
          <p:cNvPr id="4" name="Text 2"/>
          <p:cNvSpPr txBox="1"/>
          <p:nvPr/>
        </p:nvSpPr>
        <p:spPr>
          <a:xfrm>
            <a:off x="8503920" y="137160"/>
            <a:ext cx="3383280" cy="640080"/>
          </a:xfrm>
          <a:prstGeom prst="rect">
            <a:avLst/>
          </a:prstGeom>
          <a:noFill/>
          <a:ln/>
        </p:spPr>
        <p:txBody>
          <a:bodyPr wrap="square" lIns="0" tIns="0" rIns="0" bIns="0" rtlCol="0" anchor="ctr"/>
          <a:lstStyle/>
          <a:p>
            <a:pPr algn="r" indent="0" marL="0">
              <a:buNone/>
            </a:pPr>
            <a:r>
              <a:rPr lang="en-US" sz="2700" b="1" dirty="0">
                <a:solidFill>
                  <a:srgbClr val="CADCFC"/>
                </a:solidFill>
                <a:latin typeface="Calibri" pitchFamily="34" charset="0"/>
                <a:ea typeface="Calibri" pitchFamily="34" charset="-122"/>
                <a:cs typeface="Calibri" pitchFamily="34" charset="-120"/>
              </a:rPr>
              <a:t>INFORMIEREN</a:t>
            </a:r>
            <a:endParaRPr lang="en-US" sz="2700" dirty="0"/>
          </a:p>
        </p:txBody>
      </p:sp>
      <p:sp>
        <p:nvSpPr>
          <p:cNvPr id="5" name="Text 3"/>
          <p:cNvSpPr txBox="1"/>
          <p:nvPr/>
        </p:nvSpPr>
        <p:spPr>
          <a:xfrm>
            <a:off x="457200" y="1143000"/>
            <a:ext cx="11247120" cy="4937760"/>
          </a:xfrm>
          <a:prstGeom prst="rect">
            <a:avLst/>
          </a:prstGeom>
          <a:noFill/>
          <a:ln/>
        </p:spPr>
        <p:txBody>
          <a:bodyPr wrap="square" lIns="0" tIns="0" rIns="0" bIns="0" rtlCol="0" anchor="t"/>
          <a:lstStyle/>
          <a:p>
            <a:pPr indent="0" marL="0">
              <a:lnSpc>
                <a:spcPct val="110000"/>
              </a:lnSpc>
              <a:buNone/>
            </a:pPr>
            <a:r>
              <a:rPr lang="en-US" sz="2700" dirty="0">
                <a:solidFill>
                  <a:srgbClr val="1E2761"/>
                </a:solidFill>
                <a:latin typeface="Cambria" pitchFamily="34" charset="0"/>
                <a:ea typeface="Cambria" pitchFamily="34" charset="-122"/>
                <a:cs typeface="Cambria" pitchFamily="34" charset="-120"/>
              </a:rPr>
              <a:t>Wobei ich Dich aber immerfort bitte, nicht zu vergessen, daß ich niemals im entferntesten an eine Schuld Deinerseits glaube. Du wirktest so auf mich, wie Du wirken mußtest, nur sollst Du aufhören, es für eine besondere Bosheit meinerseits zu halten, daß ich dieser Wirkung erlegen bin. […] ich kann nicht glauben, daß ein freundliches Wort, ein stilles Bei-der-Hand-Nehmen, ein guter Blick mir nicht alles hätten abfordern können, was man wollte.</a:t>
            </a:r>
            <a:endParaRPr lang="en-US" sz="2700" dirty="0"/>
          </a:p>
        </p:txBody>
      </p:sp>
      <p:sp>
        <p:nvSpPr>
          <p:cNvPr id="6" name="Text 4"/>
          <p:cNvSpPr txBox="1"/>
          <p:nvPr/>
        </p:nvSpPr>
        <p:spPr>
          <a:xfrm>
            <a:off x="457200" y="6263640"/>
            <a:ext cx="11247120" cy="457200"/>
          </a:xfrm>
          <a:prstGeom prst="rect">
            <a:avLst/>
          </a:prstGeom>
          <a:noFill/>
          <a:ln/>
        </p:spPr>
        <p:txBody>
          <a:bodyPr wrap="square" lIns="0" tIns="0" rIns="0" bIns="0" rtlCol="0" anchor="t"/>
          <a:lstStyle/>
          <a:p>
            <a:pPr algn="r" indent="0" marL="0">
              <a:buNone/>
            </a:pPr>
            <a:r>
              <a:rPr lang="en-US" sz="2700" dirty="0">
                <a:solidFill>
                  <a:srgbClr val="5B6B8C"/>
                </a:solidFill>
                <a:latin typeface="Calibri" pitchFamily="34" charset="0"/>
                <a:ea typeface="Calibri" pitchFamily="34" charset="-122"/>
                <a:cs typeface="Calibri" pitchFamily="34" charset="-120"/>
              </a:rPr>
              <a:t>Franz Kafka: „Brief an den Vater“ (1919), S. 3</a:t>
            </a:r>
            <a:endParaRPr lang="en-US" sz="2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Arbeitsblatt: Aufgaben 1–3</a:t>
            </a:r>
            <a:endParaRPr lang="en-US" sz="3000" dirty="0"/>
          </a:p>
        </p:txBody>
      </p:sp>
      <p:sp>
        <p:nvSpPr>
          <p:cNvPr id="4" name="Shape 2"/>
          <p:cNvSpPr/>
          <p:nvPr/>
        </p:nvSpPr>
        <p:spPr>
          <a:xfrm>
            <a:off x="9966960" y="137160"/>
            <a:ext cx="1920240" cy="640080"/>
          </a:xfrm>
          <a:prstGeom prst="roundRect">
            <a:avLst>
              <a:gd name="adj" fmla="val 17143"/>
            </a:avLst>
          </a:prstGeom>
          <a:solidFill>
            <a:srgbClr val="D9534F"/>
          </a:solidFill>
          <a:ln/>
        </p:spPr>
      </p:sp>
      <p:sp>
        <p:nvSpPr>
          <p:cNvPr id="5" name="Text 3"/>
          <p:cNvSpPr txBox="1"/>
          <p:nvPr/>
        </p:nvSpPr>
        <p:spPr>
          <a:xfrm>
            <a:off x="9966960" y="137160"/>
            <a:ext cx="1920240" cy="64008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8 Min.</a:t>
            </a:r>
            <a:endParaRPr lang="en-US" sz="2700" dirty="0"/>
          </a:p>
        </p:txBody>
      </p:sp>
      <p:sp>
        <p:nvSpPr>
          <p:cNvPr id="6" name="Shape 4"/>
          <p:cNvSpPr/>
          <p:nvPr/>
        </p:nvSpPr>
        <p:spPr>
          <a:xfrm>
            <a:off x="457200" y="1234440"/>
            <a:ext cx="11247120" cy="1280160"/>
          </a:xfrm>
          <a:prstGeom prst="roundRect">
            <a:avLst>
              <a:gd name="adj" fmla="val 5714"/>
            </a:avLst>
          </a:prstGeom>
          <a:solidFill>
            <a:srgbClr val="F4F7FD"/>
          </a:solidFill>
          <a:ln w="9525">
            <a:solidFill>
              <a:srgbClr val="D5DCEC"/>
            </a:solidFill>
            <a:prstDash val="solid"/>
          </a:ln>
        </p:spPr>
      </p:sp>
      <p:sp>
        <p:nvSpPr>
          <p:cNvPr id="7" name="Text 5"/>
          <p:cNvSpPr txBox="1"/>
          <p:nvPr/>
        </p:nvSpPr>
        <p:spPr>
          <a:xfrm>
            <a:off x="731520" y="1234440"/>
            <a:ext cx="10789920" cy="128016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Aufgabe 1: Vorarbeit</a:t>
            </a:r>
            <a:endParaRPr lang="en-US" sz="2700" dirty="0"/>
          </a:p>
          <a:p>
            <a:pPr indent="0" marL="0">
              <a:buNone/>
            </a:pPr>
            <a:r>
              <a:rPr lang="en-US" sz="2700" dirty="0">
                <a:solidFill>
                  <a:srgbClr val="5B6B8C"/>
                </a:solidFill>
                <a:latin typeface="Calibri" pitchFamily="34" charset="0"/>
                <a:ea typeface="Calibri" pitchFamily="34" charset="-122"/>
                <a:cs typeface="Calibri" pitchFamily="34" charset="-120"/>
              </a:rPr>
              <a:t>Worum bittet Kafka? (ein Satz)</a:t>
            </a:r>
            <a:endParaRPr lang="en-US" sz="2700" dirty="0"/>
          </a:p>
        </p:txBody>
      </p:sp>
      <p:sp>
        <p:nvSpPr>
          <p:cNvPr id="8" name="Shape 6"/>
          <p:cNvSpPr/>
          <p:nvPr/>
        </p:nvSpPr>
        <p:spPr>
          <a:xfrm>
            <a:off x="457200" y="2697480"/>
            <a:ext cx="11247120" cy="1280160"/>
          </a:xfrm>
          <a:prstGeom prst="roundRect">
            <a:avLst>
              <a:gd name="adj" fmla="val 5714"/>
            </a:avLst>
          </a:prstGeom>
          <a:solidFill>
            <a:srgbClr val="FFFFFF"/>
          </a:solidFill>
          <a:ln w="9525">
            <a:solidFill>
              <a:srgbClr val="D5DCEC"/>
            </a:solidFill>
            <a:prstDash val="solid"/>
          </a:ln>
        </p:spPr>
      </p:sp>
      <p:sp>
        <p:nvSpPr>
          <p:cNvPr id="9" name="Text 7"/>
          <p:cNvSpPr txBox="1"/>
          <p:nvPr/>
        </p:nvSpPr>
        <p:spPr>
          <a:xfrm>
            <a:off x="731520" y="2697480"/>
            <a:ext cx="10789920" cy="128016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Aufgabe 2: Analyse</a:t>
            </a:r>
            <a:endParaRPr lang="en-US" sz="2700" dirty="0"/>
          </a:p>
          <a:p>
            <a:pPr indent="0" marL="0">
              <a:buNone/>
            </a:pPr>
            <a:r>
              <a:rPr lang="en-US" sz="2700" dirty="0">
                <a:solidFill>
                  <a:srgbClr val="5B6B8C"/>
                </a:solidFill>
                <a:latin typeface="Calibri" pitchFamily="34" charset="0"/>
                <a:ea typeface="Calibri" pitchFamily="34" charset="-122"/>
                <a:cs typeface="Calibri" pitchFamily="34" charset="-120"/>
              </a:rPr>
              <a:t>drei Leitfragen, mit Zitat und Zeile</a:t>
            </a:r>
            <a:endParaRPr lang="en-US" sz="2700" dirty="0"/>
          </a:p>
        </p:txBody>
      </p:sp>
      <p:sp>
        <p:nvSpPr>
          <p:cNvPr id="10" name="Shape 8"/>
          <p:cNvSpPr/>
          <p:nvPr/>
        </p:nvSpPr>
        <p:spPr>
          <a:xfrm>
            <a:off x="457200" y="4160520"/>
            <a:ext cx="11247120" cy="1280160"/>
          </a:xfrm>
          <a:prstGeom prst="roundRect">
            <a:avLst>
              <a:gd name="adj" fmla="val 5714"/>
            </a:avLst>
          </a:prstGeom>
          <a:solidFill>
            <a:srgbClr val="F4F7FD"/>
          </a:solidFill>
          <a:ln w="9525">
            <a:solidFill>
              <a:srgbClr val="D5DCEC"/>
            </a:solidFill>
            <a:prstDash val="solid"/>
          </a:ln>
        </p:spPr>
      </p:sp>
      <p:sp>
        <p:nvSpPr>
          <p:cNvPr id="11" name="Text 9"/>
          <p:cNvSpPr txBox="1"/>
          <p:nvPr/>
        </p:nvSpPr>
        <p:spPr>
          <a:xfrm>
            <a:off x="731520" y="4160520"/>
            <a:ext cx="10789920" cy="1280160"/>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Aufgabe 3: Visualisierung</a:t>
            </a:r>
            <a:endParaRPr lang="en-US" sz="2700" dirty="0"/>
          </a:p>
          <a:p>
            <a:pPr indent="0" marL="0">
              <a:buNone/>
            </a:pPr>
            <a:r>
              <a:rPr lang="en-US" sz="2700" dirty="0">
                <a:solidFill>
                  <a:srgbClr val="5B6B8C"/>
                </a:solidFill>
                <a:latin typeface="Calibri" pitchFamily="34" charset="0"/>
                <a:ea typeface="Calibri" pitchFamily="34" charset="-122"/>
                <a:cs typeface="Calibri" pitchFamily="34" charset="-120"/>
              </a:rPr>
              <a:t>Kommunikationsquadrat, Fokus Appell</a:t>
            </a:r>
            <a:endParaRPr lang="en-US" sz="2700" dirty="0"/>
          </a:p>
        </p:txBody>
      </p:sp>
      <p:sp>
        <p:nvSpPr>
          <p:cNvPr id="12" name="Text 10"/>
          <p:cNvSpPr txBox="1"/>
          <p:nvPr/>
        </p:nvSpPr>
        <p:spPr>
          <a:xfrm>
            <a:off x="457200" y="5760720"/>
            <a:ext cx="11247120" cy="548640"/>
          </a:xfrm>
          <a:prstGeom prst="rect">
            <a:avLst/>
          </a:prstGeom>
          <a:noFill/>
          <a:ln/>
        </p:spPr>
        <p:txBody>
          <a:bodyPr wrap="square" lIns="0" tIns="0" rIns="0" bIns="0" rtlCol="0" anchor="t"/>
          <a:lstStyle/>
          <a:p>
            <a:pPr indent="0" marL="0">
              <a:buNone/>
            </a:pPr>
            <a:r>
              <a:rPr lang="en-US" sz="2700" i="1" dirty="0">
                <a:solidFill>
                  <a:srgbClr val="5B6B8C"/>
                </a:solidFill>
                <a:latin typeface="Calibri" pitchFamily="34" charset="0"/>
                <a:ea typeface="Calibri" pitchFamily="34" charset="-122"/>
                <a:cs typeface="Calibri" pitchFamily="34" charset="-120"/>
              </a:rPr>
              <a:t>Allein, im Hefter. Formulierungshilfen stehen auf dem Arbeitsblatt.</a:t>
            </a:r>
            <a:endParaRPr lang="en-US" sz="2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Formulierungshilfen</a:t>
            </a:r>
            <a:endParaRPr lang="en-US" sz="3000" dirty="0"/>
          </a:p>
        </p:txBody>
      </p:sp>
      <p:sp>
        <p:nvSpPr>
          <p:cNvPr id="4" name="Text 2"/>
          <p:cNvSpPr txBox="1"/>
          <p:nvPr/>
        </p:nvSpPr>
        <p:spPr>
          <a:xfrm>
            <a:off x="8503920" y="137160"/>
            <a:ext cx="3383280" cy="640080"/>
          </a:xfrm>
          <a:prstGeom prst="rect">
            <a:avLst/>
          </a:prstGeom>
          <a:noFill/>
          <a:ln/>
        </p:spPr>
        <p:txBody>
          <a:bodyPr wrap="square" lIns="0" tIns="0" rIns="0" bIns="0" rtlCol="0" anchor="ctr"/>
          <a:lstStyle/>
          <a:p>
            <a:pPr algn="r" indent="0" marL="0">
              <a:buNone/>
            </a:pPr>
            <a:r>
              <a:rPr lang="en-US" sz="2700" b="1" dirty="0">
                <a:solidFill>
                  <a:srgbClr val="CADCFC"/>
                </a:solidFill>
                <a:latin typeface="Calibri" pitchFamily="34" charset="0"/>
                <a:ea typeface="Calibri" pitchFamily="34" charset="-122"/>
                <a:cs typeface="Calibri" pitchFamily="34" charset="-120"/>
              </a:rPr>
              <a:t>AUSWERTEN</a:t>
            </a:r>
            <a:endParaRPr lang="en-US" sz="2700" dirty="0"/>
          </a:p>
        </p:txBody>
      </p:sp>
      <p:sp>
        <p:nvSpPr>
          <p:cNvPr id="5" name="Text 3"/>
          <p:cNvSpPr txBox="1"/>
          <p:nvPr/>
        </p:nvSpPr>
        <p:spPr>
          <a:xfrm>
            <a:off x="731520" y="1280160"/>
            <a:ext cx="10789920" cy="4572000"/>
          </a:xfrm>
          <a:prstGeom prst="rect">
            <a:avLst/>
          </a:prstGeom>
          <a:noFill/>
          <a:ln/>
        </p:spPr>
        <p:txBody>
          <a:bodyPr wrap="square" lIns="0" tIns="0" rIns="0" bIns="0" rtlCol="0" anchor="t"/>
          <a:lstStyle/>
          <a:p>
            <a:pPr marL="304800" indent="-304800">
              <a:spcAft>
                <a:spcPts val="1600"/>
              </a:spcAft>
              <a:buSzPct val="100000"/>
              <a:buChar char="•"/>
            </a:pPr>
            <a:r>
              <a:rPr lang="en-US" sz="2700" i="1" dirty="0">
                <a:solidFill>
                  <a:srgbClr val="1E2761"/>
                </a:solidFill>
                <a:latin typeface="Calibri" pitchFamily="34" charset="0"/>
                <a:ea typeface="Calibri" pitchFamily="34" charset="-122"/>
                <a:cs typeface="Calibri" pitchFamily="34" charset="-120"/>
              </a:rPr>
              <a:t>Ein offener Appell zeigt sich in … (Z. …).</a:t>
            </a:r>
            <a:endParaRPr lang="en-US" sz="2700" dirty="0"/>
          </a:p>
          <a:p>
            <a:pPr marL="304800" indent="-304800">
              <a:spcAft>
                <a:spcPts val="1600"/>
              </a:spcAft>
              <a:buSzPct val="100000"/>
              <a:buChar char="•"/>
            </a:pPr>
            <a:r>
              <a:rPr lang="en-US" sz="2700" i="1" dirty="0">
                <a:solidFill>
                  <a:srgbClr val="1E2761"/>
                </a:solidFill>
                <a:latin typeface="Calibri" pitchFamily="34" charset="0"/>
                <a:ea typeface="Calibri" pitchFamily="34" charset="-122"/>
                <a:cs typeface="Calibri" pitchFamily="34" charset="-120"/>
              </a:rPr>
              <a:t>Verdeckt appelliert Kafka, wenn er …</a:t>
            </a:r>
            <a:endParaRPr lang="en-US" sz="2700" dirty="0"/>
          </a:p>
          <a:p>
            <a:pPr marL="304800" indent="-304800">
              <a:spcAft>
                <a:spcPts val="1600"/>
              </a:spcAft>
              <a:buSzPct val="100000"/>
              <a:buChar char="•"/>
            </a:pPr>
            <a:r>
              <a:rPr lang="en-US" sz="2700" i="1" dirty="0">
                <a:solidFill>
                  <a:srgbClr val="1E2761"/>
                </a:solidFill>
                <a:latin typeface="Calibri" pitchFamily="34" charset="0"/>
                <a:ea typeface="Calibri" pitchFamily="34" charset="-122"/>
                <a:cs typeface="Calibri" pitchFamily="34" charset="-120"/>
              </a:rPr>
              <a:t>Damit will er erreichen, dass der Vater …</a:t>
            </a:r>
            <a:endParaRPr lang="en-US" sz="2700" dirty="0"/>
          </a:p>
          <a:p>
            <a:pPr marL="304800" indent="-304800">
              <a:spcAft>
                <a:spcPts val="1600"/>
              </a:spcAft>
              <a:buSzPct val="100000"/>
              <a:buChar char="•"/>
            </a:pPr>
            <a:r>
              <a:rPr lang="en-US" sz="2700" i="1" dirty="0">
                <a:solidFill>
                  <a:srgbClr val="1E2761"/>
                </a:solidFill>
                <a:latin typeface="Calibri" pitchFamily="34" charset="0"/>
                <a:ea typeface="Calibri" pitchFamily="34" charset="-122"/>
                <a:cs typeface="Calibri" pitchFamily="34" charset="-120"/>
              </a:rPr>
              <a:t>Seine Bitte sichert er ab, indem er …</a:t>
            </a:r>
            <a:endParaRPr lang="en-US" sz="2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4306E"/>
          </a:solidFill>
          <a:ln/>
        </p:spPr>
      </p:sp>
      <p:sp>
        <p:nvSpPr>
          <p:cNvPr id="3" name="Shape 1"/>
          <p:cNvSpPr/>
          <p:nvPr/>
        </p:nvSpPr>
        <p:spPr>
          <a:xfrm>
            <a:off x="822960" y="1280160"/>
            <a:ext cx="2926080" cy="548640"/>
          </a:xfrm>
          <a:prstGeom prst="roundRect">
            <a:avLst>
              <a:gd name="adj" fmla="val 50000"/>
            </a:avLst>
          </a:prstGeom>
          <a:solidFill>
            <a:srgbClr val="D9534F"/>
          </a:solidFill>
          <a:ln/>
        </p:spPr>
      </p:sp>
      <p:sp>
        <p:nvSpPr>
          <p:cNvPr id="4" name="Text 2"/>
          <p:cNvSpPr txBox="1"/>
          <p:nvPr/>
        </p:nvSpPr>
        <p:spPr>
          <a:xfrm>
            <a:off x="822960" y="1280160"/>
            <a:ext cx="2926080" cy="548640"/>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REFLEXION</a:t>
            </a:r>
            <a:endParaRPr lang="en-US" sz="2700" dirty="0"/>
          </a:p>
        </p:txBody>
      </p:sp>
      <p:sp>
        <p:nvSpPr>
          <p:cNvPr id="5" name="Text 3"/>
          <p:cNvSpPr txBox="1"/>
          <p:nvPr/>
        </p:nvSpPr>
        <p:spPr>
          <a:xfrm>
            <a:off x="822960" y="2194560"/>
            <a:ext cx="10424160" cy="8229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Kafka hat den Brief nie übergeben.</a:t>
            </a:r>
            <a:endParaRPr lang="en-US" sz="3200" dirty="0"/>
          </a:p>
        </p:txBody>
      </p:sp>
      <p:sp>
        <p:nvSpPr>
          <p:cNvPr id="6" name="Text 4"/>
          <p:cNvSpPr txBox="1"/>
          <p:nvPr/>
        </p:nvSpPr>
        <p:spPr>
          <a:xfrm>
            <a:off x="822960" y="3291840"/>
            <a:ext cx="10424160" cy="1463040"/>
          </a:xfrm>
          <a:prstGeom prst="rect">
            <a:avLst/>
          </a:prstGeom>
          <a:noFill/>
          <a:ln/>
        </p:spPr>
        <p:txBody>
          <a:bodyPr wrap="square" lIns="0" tIns="0" rIns="0" bIns="0" rtlCol="0" anchor="t"/>
          <a:lstStyle/>
          <a:p>
            <a:pPr indent="0" marL="0">
              <a:spcAft>
                <a:spcPts val="1000"/>
              </a:spcAft>
              <a:buNone/>
            </a:pPr>
            <a:r>
              <a:rPr lang="en-US" sz="2700" dirty="0">
                <a:solidFill>
                  <a:srgbClr val="CADCFC"/>
                </a:solidFill>
                <a:latin typeface="Calibri" pitchFamily="34" charset="0"/>
                <a:ea typeface="Calibri" pitchFamily="34" charset="-122"/>
                <a:cs typeface="Calibri" pitchFamily="34" charset="-120"/>
              </a:rPr>
              <a:t>Warum appelliert er so vorsichtig und versteckt?</a:t>
            </a:r>
            <a:endParaRPr lang="en-US" sz="2700" dirty="0"/>
          </a:p>
          <a:p>
            <a:pPr indent="0" marL="0">
              <a:spcAft>
                <a:spcPts val="1000"/>
              </a:spcAft>
              <a:buNone/>
            </a:pPr>
            <a:r>
              <a:rPr lang="en-US" sz="2700" dirty="0">
                <a:solidFill>
                  <a:srgbClr val="CADCFC"/>
                </a:solidFill>
                <a:latin typeface="Calibri" pitchFamily="34" charset="0"/>
                <a:ea typeface="Calibri" pitchFamily="34" charset="-122"/>
                <a:cs typeface="Calibri" pitchFamily="34" charset="-120"/>
              </a:rPr>
              <a:t>Hätte der Vater die Bitte verstanden?</a:t>
            </a:r>
            <a:endParaRPr lang="en-US" sz="2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oundRect">
            <a:avLst/>
          </a:prstGeom>
          <a:solidFill>
            <a:srgbClr val="1E2761"/>
          </a:solidFill>
          <a:ln/>
        </p:spPr>
      </p:sp>
      <p:sp>
        <p:nvSpPr>
          <p:cNvPr id="3" name="Text 1"/>
          <p:cNvSpPr txBox="1"/>
          <p:nvPr/>
        </p:nvSpPr>
        <p:spPr>
          <a:xfrm>
            <a:off x="457200" y="0"/>
            <a:ext cx="932688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Transfer: Kafkas Rede an den Vater</a:t>
            </a:r>
            <a:endParaRPr lang="en-US" sz="3000" dirty="0"/>
          </a:p>
        </p:txBody>
      </p:sp>
      <p:sp>
        <p:nvSpPr>
          <p:cNvPr id="4" name="Shape 2"/>
          <p:cNvSpPr/>
          <p:nvPr/>
        </p:nvSpPr>
        <p:spPr>
          <a:xfrm>
            <a:off x="457200" y="1097280"/>
            <a:ext cx="11247120" cy="1783080"/>
          </a:xfrm>
          <a:prstGeom prst="roundRect">
            <a:avLst>
              <a:gd name="adj" fmla="val 4103"/>
            </a:avLst>
          </a:prstGeom>
          <a:solidFill>
            <a:srgbClr val="F4F7FD"/>
          </a:solidFill>
          <a:ln/>
        </p:spPr>
      </p:sp>
      <p:sp>
        <p:nvSpPr>
          <p:cNvPr id="5" name="Text 3"/>
          <p:cNvSpPr txBox="1"/>
          <p:nvPr/>
        </p:nvSpPr>
        <p:spPr>
          <a:xfrm>
            <a:off x="685800" y="1143000"/>
            <a:ext cx="10789920" cy="1691640"/>
          </a:xfrm>
          <a:prstGeom prst="rect">
            <a:avLst/>
          </a:prstGeom>
          <a:noFill/>
          <a:ln/>
        </p:spPr>
        <p:txBody>
          <a:bodyPr wrap="square" lIns="0" tIns="0" rIns="0" bIns="0" rtlCol="0" anchor="ctr"/>
          <a:lstStyle/>
          <a:p>
            <a:pPr indent="0" marL="0">
              <a:buNone/>
            </a:pPr>
            <a:r>
              <a:rPr lang="en-US" sz="2700" dirty="0">
                <a:solidFill>
                  <a:srgbClr val="1E2761"/>
                </a:solidFill>
                <a:latin typeface="Cambria" pitchFamily="34" charset="0"/>
                <a:ea typeface="Cambria" pitchFamily="34" charset="-122"/>
                <a:cs typeface="Cambria" pitchFamily="34" charset="-120"/>
              </a:rPr>
              <a:t>Max Brods Brief an Hermann Kafka war erfolgreich: Der Vater ist bereit, seinem Sohn zuzuhören.</a:t>
            </a:r>
            <a:endParaRPr lang="en-US" sz="2700" dirty="0"/>
          </a:p>
          <a:p>
            <a:pPr indent="0" marL="0">
              <a:buNone/>
            </a:pPr>
            <a:r>
              <a:rPr lang="en-US" sz="2700" b="1" dirty="0">
                <a:solidFill>
                  <a:srgbClr val="1E2761"/>
                </a:solidFill>
                <a:latin typeface="Cambria" pitchFamily="34" charset="0"/>
                <a:ea typeface="Cambria" pitchFamily="34" charset="-122"/>
                <a:cs typeface="Cambria" pitchFamily="34" charset="-120"/>
              </a:rPr>
              <a:t>Schreibe als Franz eine Rede an den Vater, in der du an ihn appellierst.</a:t>
            </a:r>
            <a:endParaRPr lang="en-US" sz="2700" dirty="0"/>
          </a:p>
        </p:txBody>
      </p:sp>
      <p:sp>
        <p:nvSpPr>
          <p:cNvPr id="6" name="Text 4"/>
          <p:cNvSpPr txBox="1"/>
          <p:nvPr/>
        </p:nvSpPr>
        <p:spPr>
          <a:xfrm>
            <a:off x="457200" y="2971800"/>
            <a:ext cx="11247120" cy="457200"/>
          </a:xfrm>
          <a:prstGeom prst="rect">
            <a:avLst/>
          </a:prstGeom>
          <a:noFill/>
          <a:ln/>
        </p:spPr>
        <p:txBody>
          <a:bodyPr wrap="square" lIns="0" tIns="0" rIns="0" bIns="0" rtlCol="0" anchor="t"/>
          <a:lstStyle/>
          <a:p>
            <a:pPr indent="0" marL="0">
              <a:buNone/>
            </a:pPr>
            <a:r>
              <a:rPr lang="en-US" sz="2700" i="1" dirty="0">
                <a:solidFill>
                  <a:srgbClr val="5B6B8C"/>
                </a:solidFill>
                <a:latin typeface="Calibri" pitchFamily="34" charset="0"/>
                <a:ea typeface="Calibri" pitchFamily="34" charset="-122"/>
                <a:cs typeface="Calibri" pitchFamily="34" charset="-120"/>
              </a:rPr>
              <a:t>ca. 100–150 Wörter · allein · in den Hefter</a:t>
            </a:r>
            <a:endParaRPr lang="en-US" sz="2700" dirty="0"/>
          </a:p>
        </p:txBody>
      </p:sp>
      <p:sp>
        <p:nvSpPr>
          <p:cNvPr id="7" name="Shape 5"/>
          <p:cNvSpPr/>
          <p:nvPr/>
        </p:nvSpPr>
        <p:spPr>
          <a:xfrm>
            <a:off x="457200" y="3547872"/>
            <a:ext cx="530352" cy="530352"/>
          </a:xfrm>
          <a:prstGeom prst="roundRect">
            <a:avLst>
              <a:gd name="adj" fmla="val 50000"/>
            </a:avLst>
          </a:prstGeom>
          <a:solidFill>
            <a:srgbClr val="1E2761"/>
          </a:solidFill>
          <a:ln/>
        </p:spPr>
      </p:sp>
      <p:sp>
        <p:nvSpPr>
          <p:cNvPr id="8" name="Text 6"/>
          <p:cNvSpPr txBox="1"/>
          <p:nvPr/>
        </p:nvSpPr>
        <p:spPr>
          <a:xfrm>
            <a:off x="457200" y="3547872"/>
            <a:ext cx="530352" cy="530352"/>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1</a:t>
            </a:r>
            <a:endParaRPr lang="en-US" sz="2700" dirty="0"/>
          </a:p>
        </p:txBody>
      </p:sp>
      <p:sp>
        <p:nvSpPr>
          <p:cNvPr id="9" name="Text 7"/>
          <p:cNvSpPr txBox="1"/>
          <p:nvPr/>
        </p:nvSpPr>
        <p:spPr>
          <a:xfrm>
            <a:off x="1188720" y="3520440"/>
            <a:ext cx="10515600" cy="585216"/>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Anrede:  </a:t>
            </a:r>
            <a:pPr indent="0" marL="0">
              <a:buNone/>
            </a:pPr>
            <a:r>
              <a:rPr lang="en-US" sz="2700" dirty="0">
                <a:solidFill>
                  <a:srgbClr val="1E2761"/>
                </a:solidFill>
                <a:latin typeface="Calibri" pitchFamily="34" charset="0"/>
                <a:ea typeface="Calibri" pitchFamily="34" charset="-122"/>
                <a:cs typeface="Calibri" pitchFamily="34" charset="-120"/>
              </a:rPr>
              <a:t>„Vater, …“</a:t>
            </a:r>
            <a:endParaRPr lang="en-US" sz="2700" dirty="0"/>
          </a:p>
        </p:txBody>
      </p:sp>
      <p:sp>
        <p:nvSpPr>
          <p:cNvPr id="10" name="Shape 8"/>
          <p:cNvSpPr/>
          <p:nvPr/>
        </p:nvSpPr>
        <p:spPr>
          <a:xfrm>
            <a:off x="457200" y="4187952"/>
            <a:ext cx="530352" cy="530352"/>
          </a:xfrm>
          <a:prstGeom prst="roundRect">
            <a:avLst>
              <a:gd name="adj" fmla="val 50000"/>
            </a:avLst>
          </a:prstGeom>
          <a:solidFill>
            <a:srgbClr val="1E2761"/>
          </a:solidFill>
          <a:ln/>
        </p:spPr>
      </p:sp>
      <p:sp>
        <p:nvSpPr>
          <p:cNvPr id="11" name="Text 9"/>
          <p:cNvSpPr txBox="1"/>
          <p:nvPr/>
        </p:nvSpPr>
        <p:spPr>
          <a:xfrm>
            <a:off x="457200" y="4187952"/>
            <a:ext cx="530352" cy="530352"/>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2</a:t>
            </a:r>
            <a:endParaRPr lang="en-US" sz="2700" dirty="0"/>
          </a:p>
        </p:txBody>
      </p:sp>
      <p:sp>
        <p:nvSpPr>
          <p:cNvPr id="12" name="Text 10"/>
          <p:cNvSpPr txBox="1"/>
          <p:nvPr/>
        </p:nvSpPr>
        <p:spPr>
          <a:xfrm>
            <a:off x="1188720" y="4160520"/>
            <a:ext cx="10515600" cy="585216"/>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Ich-Botschaften:  </a:t>
            </a:r>
            <a:pPr indent="0" marL="0">
              <a:buNone/>
            </a:pPr>
            <a:r>
              <a:rPr lang="en-US" sz="2700" dirty="0">
                <a:solidFill>
                  <a:srgbClr val="1E2761"/>
                </a:solidFill>
                <a:latin typeface="Calibri" pitchFamily="34" charset="0"/>
                <a:ea typeface="Calibri" pitchFamily="34" charset="-122"/>
                <a:cs typeface="Calibri" pitchFamily="34" charset="-120"/>
              </a:rPr>
              <a:t>mindestens zwei: Gefühl + Wirkung</a:t>
            </a:r>
            <a:endParaRPr lang="en-US" sz="2700" dirty="0"/>
          </a:p>
        </p:txBody>
      </p:sp>
      <p:sp>
        <p:nvSpPr>
          <p:cNvPr id="13" name="Shape 11"/>
          <p:cNvSpPr/>
          <p:nvPr/>
        </p:nvSpPr>
        <p:spPr>
          <a:xfrm>
            <a:off x="457200" y="4828032"/>
            <a:ext cx="530352" cy="530352"/>
          </a:xfrm>
          <a:prstGeom prst="roundRect">
            <a:avLst>
              <a:gd name="adj" fmla="val 50000"/>
            </a:avLst>
          </a:prstGeom>
          <a:solidFill>
            <a:srgbClr val="1E2761"/>
          </a:solidFill>
          <a:ln/>
        </p:spPr>
      </p:sp>
      <p:sp>
        <p:nvSpPr>
          <p:cNvPr id="14" name="Text 12"/>
          <p:cNvSpPr txBox="1"/>
          <p:nvPr/>
        </p:nvSpPr>
        <p:spPr>
          <a:xfrm>
            <a:off x="457200" y="4828032"/>
            <a:ext cx="530352" cy="530352"/>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3</a:t>
            </a:r>
            <a:endParaRPr lang="en-US" sz="2700" dirty="0"/>
          </a:p>
        </p:txBody>
      </p:sp>
      <p:sp>
        <p:nvSpPr>
          <p:cNvPr id="15" name="Text 13"/>
          <p:cNvSpPr txBox="1"/>
          <p:nvPr/>
        </p:nvSpPr>
        <p:spPr>
          <a:xfrm>
            <a:off x="1188720" y="4800600"/>
            <a:ext cx="10515600" cy="585216"/>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Offener Appell:  </a:t>
            </a:r>
            <a:pPr indent="0" marL="0">
              <a:buNone/>
            </a:pPr>
            <a:r>
              <a:rPr lang="en-US" sz="2700" dirty="0">
                <a:solidFill>
                  <a:srgbClr val="1E2761"/>
                </a:solidFill>
                <a:latin typeface="Calibri" pitchFamily="34" charset="0"/>
                <a:ea typeface="Calibri" pitchFamily="34" charset="-122"/>
                <a:cs typeface="Calibri" pitchFamily="34" charset="-120"/>
              </a:rPr>
              <a:t>mindestens eine klare Bitte</a:t>
            </a:r>
            <a:endParaRPr lang="en-US" sz="2700" dirty="0"/>
          </a:p>
        </p:txBody>
      </p:sp>
      <p:sp>
        <p:nvSpPr>
          <p:cNvPr id="16" name="Shape 14"/>
          <p:cNvSpPr/>
          <p:nvPr/>
        </p:nvSpPr>
        <p:spPr>
          <a:xfrm>
            <a:off x="457200" y="5468112"/>
            <a:ext cx="530352" cy="530352"/>
          </a:xfrm>
          <a:prstGeom prst="roundRect">
            <a:avLst>
              <a:gd name="adj" fmla="val 50000"/>
            </a:avLst>
          </a:prstGeom>
          <a:solidFill>
            <a:srgbClr val="1E2761"/>
          </a:solidFill>
          <a:ln/>
        </p:spPr>
      </p:sp>
      <p:sp>
        <p:nvSpPr>
          <p:cNvPr id="17" name="Text 15"/>
          <p:cNvSpPr txBox="1"/>
          <p:nvPr/>
        </p:nvSpPr>
        <p:spPr>
          <a:xfrm>
            <a:off x="457200" y="5468112"/>
            <a:ext cx="530352" cy="530352"/>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4</a:t>
            </a:r>
            <a:endParaRPr lang="en-US" sz="2700" dirty="0"/>
          </a:p>
        </p:txBody>
      </p:sp>
      <p:sp>
        <p:nvSpPr>
          <p:cNvPr id="18" name="Text 16"/>
          <p:cNvSpPr txBox="1"/>
          <p:nvPr/>
        </p:nvSpPr>
        <p:spPr>
          <a:xfrm>
            <a:off x="1188720" y="5440680"/>
            <a:ext cx="10515600" cy="585216"/>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Bezug zum Text:  </a:t>
            </a:r>
            <a:pPr indent="0" marL="0">
              <a:buNone/>
            </a:pPr>
            <a:r>
              <a:rPr lang="en-US" sz="2700" dirty="0">
                <a:solidFill>
                  <a:srgbClr val="1E2761"/>
                </a:solidFill>
                <a:latin typeface="Calibri" pitchFamily="34" charset="0"/>
                <a:ea typeface="Calibri" pitchFamily="34" charset="-122"/>
                <a:cs typeface="Calibri" pitchFamily="34" charset="-120"/>
              </a:rPr>
              <a:t>Kafkas Wünsche: Wort, Hand, Blick</a:t>
            </a:r>
            <a:endParaRPr lang="en-US" sz="2700" dirty="0"/>
          </a:p>
        </p:txBody>
      </p:sp>
      <p:sp>
        <p:nvSpPr>
          <p:cNvPr id="19" name="Shape 17"/>
          <p:cNvSpPr/>
          <p:nvPr/>
        </p:nvSpPr>
        <p:spPr>
          <a:xfrm>
            <a:off x="457200" y="6108192"/>
            <a:ext cx="530352" cy="530352"/>
          </a:xfrm>
          <a:prstGeom prst="roundRect">
            <a:avLst>
              <a:gd name="adj" fmla="val 50000"/>
            </a:avLst>
          </a:prstGeom>
          <a:solidFill>
            <a:srgbClr val="1E2761"/>
          </a:solidFill>
          <a:ln/>
        </p:spPr>
      </p:sp>
      <p:sp>
        <p:nvSpPr>
          <p:cNvPr id="20" name="Text 18"/>
          <p:cNvSpPr txBox="1"/>
          <p:nvPr/>
        </p:nvSpPr>
        <p:spPr>
          <a:xfrm>
            <a:off x="457200" y="6108192"/>
            <a:ext cx="530352" cy="530352"/>
          </a:xfrm>
          <a:prstGeom prst="rect">
            <a:avLst/>
          </a:prstGeom>
          <a:noFill/>
          <a:ln/>
        </p:spPr>
        <p:txBody>
          <a:bodyPr wrap="square" lIns="0" tIns="0" rIns="0" bIns="0" rtlCol="0" anchor="ctr"/>
          <a:lstStyle/>
          <a:p>
            <a:pPr algn="ctr" indent="0" marL="0">
              <a:buNone/>
            </a:pPr>
            <a:r>
              <a:rPr lang="en-US" sz="2700" b="1" dirty="0">
                <a:solidFill>
                  <a:srgbClr val="FFFFFF"/>
                </a:solidFill>
                <a:latin typeface="Calibri" pitchFamily="34" charset="0"/>
                <a:ea typeface="Calibri" pitchFamily="34" charset="-122"/>
                <a:cs typeface="Calibri" pitchFamily="34" charset="-120"/>
              </a:rPr>
              <a:t>5</a:t>
            </a:r>
            <a:endParaRPr lang="en-US" sz="2700" dirty="0"/>
          </a:p>
        </p:txBody>
      </p:sp>
      <p:sp>
        <p:nvSpPr>
          <p:cNvPr id="21" name="Text 19"/>
          <p:cNvSpPr txBox="1"/>
          <p:nvPr/>
        </p:nvSpPr>
        <p:spPr>
          <a:xfrm>
            <a:off x="1188720" y="6080760"/>
            <a:ext cx="10515600" cy="585216"/>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Ton:  </a:t>
            </a:r>
            <a:pPr indent="0" marL="0">
              <a:buNone/>
            </a:pPr>
            <a:r>
              <a:rPr lang="en-US" sz="2700" dirty="0">
                <a:solidFill>
                  <a:srgbClr val="1E2761"/>
                </a:solidFill>
                <a:latin typeface="Calibri" pitchFamily="34" charset="0"/>
                <a:ea typeface="Calibri" pitchFamily="34" charset="-122"/>
                <a:cs typeface="Calibri" pitchFamily="34" charset="-120"/>
              </a:rPr>
              <a:t>ehrlich, mutig, respektvoll – keine Vorwürfe</a:t>
            </a:r>
            <a:endParaRPr lang="en-US" sz="2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Rechtschreibtraining und Kafkas Appell</dc:title>
  <dc:subject>PptxGenJS Presentation</dc:subject>
  <dc:creator>PptxGenJS</dc:creator>
  <cp:lastModifiedBy>PptxGenJS</cp:lastModifiedBy>
  <cp:revision>1</cp:revision>
  <dcterms:created xsi:type="dcterms:W3CDTF">2026-10-14T12:52:31Z</dcterms:created>
  <dcterms:modified xsi:type="dcterms:W3CDTF">2026-10-14T12:52:31Z</dcterms:modified>
</cp:coreProperties>
</file>