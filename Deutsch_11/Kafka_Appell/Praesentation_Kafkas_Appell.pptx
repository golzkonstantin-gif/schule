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den Kontext vom Arbeitsblatt vorlesen (Kafka, 36 Jahre, Brief nie angekommen), dann den Auszug. Die Klasse liest 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drei spontane Antworten an die Tafel (oben links, „Vermutungen“). Nicht bewerten – wir prüfen sie gleich am Text. Überleitung: „Dafür brauchen wir den Fachbegriff – den schreibt ihr jetzt 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steht während des Diktats (Vorlesefassung). Erst einmal ganz vorlesen, dann diktieren, dann noch einmal vorlesen. Danach weiter zur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Fehler farbig anstreichen, Anzahl notieren. Keine Besprechung, nur Selbstkontrolle – dann die Stolperstellen kurz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Sätze vorlesen lassen, den treffendsten an die Tafel (Kernbotschaft). Mit den Vermutungen vom Anfang vergleichen.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Danach im Unterrichtsgespräch: Frage für Frage, Ergebnisse ins Kommunikationsquadrat an der Tafel (Appell-Feld groß). Kernfrage 3 führt zur Furcht: Kafka bittet vorsichtig, weil er Vorwürfe erwartet.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Überleitung: „Max Brods Brief hat gewirkt – der Vater hört zu. Jetzt spricht Franz selbst – und zwar offen.“ Kriterien stehen auch an der Tafel bzw. als Whiteboard-PDF. Timer 15 Minuten.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beide Reden ohne Unterbrechung. Dann Auswertung Kriterium für Kriterium: Wo genau war der offene Appell? Welche Ich-Botschaft war am stärksten?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Ziel: Rückbezug auf die Furcht – wer Angst hat, appelliert verdeckt und sichert sich ab. Merksatz an die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FRANZ KAFKA: „BRIEF AN DEN VATER“ (1919), S. 3</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Worum bittet Kafka?</a:t>
            </a:r>
            <a:endParaRPr lang="en-US" sz="2700" dirty="0"/>
          </a:p>
        </p:txBody>
      </p:sp>
      <p:sp>
        <p:nvSpPr>
          <p:cNvPr id="5" name="Text 3"/>
          <p:cNvSpPr txBox="1"/>
          <p:nvPr/>
        </p:nvSpPr>
        <p:spPr>
          <a:xfrm>
            <a:off x="548640" y="1325880"/>
            <a:ext cx="411480" cy="413385"/>
          </a:xfrm>
          <a:prstGeom prst="rect">
            <a:avLst/>
          </a:prstGeom>
          <a:noFill/>
          <a:ln/>
        </p:spPr>
        <p:txBody>
          <a:bodyPr wrap="square" lIns="0" tIns="0" rIns="0" bIns="0" rtlCol="0" anchor="ctr"/>
          <a:lstStyle/>
          <a:p>
            <a:pPr algn="r" indent="0" marL="0">
              <a:buNone/>
            </a:pPr>
            <a:r>
              <a:rPr lang="en-US" sz="1400" dirty="0">
                <a:solidFill>
                  <a:srgbClr val="5B6B8C"/>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43000" y="1325880"/>
            <a:ext cx="10469880" cy="413385"/>
          </a:xfrm>
          <a:prstGeom prst="rect">
            <a:avLst/>
          </a:prstGeom>
          <a:noFill/>
          <a:ln/>
        </p:spPr>
        <p:txBody>
          <a:bodyPr wrap="square" lIns="0" tIns="0" rIns="0" bIns="0" rtlCol="0" anchor="ctr"/>
          <a:lstStyle/>
          <a:p>
            <a:pPr indent="0" marL="0">
              <a:buNone/>
            </a:pPr>
            <a:r>
              <a:rPr lang="en-US" sz="2100" dirty="0">
                <a:solidFill>
                  <a:srgbClr val="1E2761"/>
                </a:solidFill>
                <a:latin typeface="Cambria" pitchFamily="34" charset="0"/>
                <a:ea typeface="Cambria" pitchFamily="34" charset="-122"/>
                <a:cs typeface="Cambria" pitchFamily="34" charset="-120"/>
              </a:rPr>
              <a:t>Wobei ich Dich aber immerfort bitte, nicht zu vergessen, daß ich</a:t>
            </a:r>
            <a:endParaRPr lang="en-US" sz="2100" dirty="0"/>
          </a:p>
        </p:txBody>
      </p:sp>
      <p:sp>
        <p:nvSpPr>
          <p:cNvPr id="7" name="Text 5"/>
          <p:cNvSpPr txBox="1"/>
          <p:nvPr/>
        </p:nvSpPr>
        <p:spPr>
          <a:xfrm>
            <a:off x="548640" y="1739265"/>
            <a:ext cx="411480" cy="413385"/>
          </a:xfrm>
          <a:prstGeom prst="rect">
            <a:avLst/>
          </a:prstGeom>
          <a:noFill/>
          <a:ln/>
        </p:spPr>
        <p:txBody>
          <a:bodyPr wrap="square" lIns="0" tIns="0" rIns="0" bIns="0" rtlCol="0" anchor="ctr"/>
          <a:lstStyle/>
          <a:p>
            <a:pPr algn="r" indent="0" marL="0">
              <a:buNone/>
            </a:pPr>
            <a:r>
              <a:rPr lang="en-US" sz="1400" dirty="0">
                <a:solidFill>
                  <a:srgbClr val="5B6B8C"/>
                </a:solidFill>
                <a:latin typeface="Calibri" pitchFamily="34" charset="0"/>
                <a:ea typeface="Calibri" pitchFamily="34" charset="-122"/>
                <a:cs typeface="Calibri" pitchFamily="34" charset="-120"/>
              </a:rPr>
              <a:t>2</a:t>
            </a:r>
            <a:endParaRPr lang="en-US" sz="1400" dirty="0"/>
          </a:p>
        </p:txBody>
      </p:sp>
      <p:sp>
        <p:nvSpPr>
          <p:cNvPr id="8" name="Text 6"/>
          <p:cNvSpPr txBox="1"/>
          <p:nvPr/>
        </p:nvSpPr>
        <p:spPr>
          <a:xfrm>
            <a:off x="1143000" y="1739265"/>
            <a:ext cx="10469880" cy="413385"/>
          </a:xfrm>
          <a:prstGeom prst="rect">
            <a:avLst/>
          </a:prstGeom>
          <a:noFill/>
          <a:ln/>
        </p:spPr>
        <p:txBody>
          <a:bodyPr wrap="square" lIns="0" tIns="0" rIns="0" bIns="0" rtlCol="0" anchor="ctr"/>
          <a:lstStyle/>
          <a:p>
            <a:pPr indent="0" marL="0">
              <a:buNone/>
            </a:pPr>
            <a:r>
              <a:rPr lang="en-US" sz="2100" dirty="0">
                <a:solidFill>
                  <a:srgbClr val="1E2761"/>
                </a:solidFill>
                <a:latin typeface="Cambria" pitchFamily="34" charset="0"/>
                <a:ea typeface="Cambria" pitchFamily="34" charset="-122"/>
                <a:cs typeface="Cambria" pitchFamily="34" charset="-120"/>
              </a:rPr>
              <a:t>niemals im entferntesten an eine Schuld Deinerseits glaube. Du</a:t>
            </a:r>
            <a:endParaRPr lang="en-US" sz="2100" dirty="0"/>
          </a:p>
        </p:txBody>
      </p:sp>
      <p:sp>
        <p:nvSpPr>
          <p:cNvPr id="9" name="Text 7"/>
          <p:cNvSpPr txBox="1"/>
          <p:nvPr/>
        </p:nvSpPr>
        <p:spPr>
          <a:xfrm>
            <a:off x="548640" y="2152650"/>
            <a:ext cx="411480" cy="413385"/>
          </a:xfrm>
          <a:prstGeom prst="rect">
            <a:avLst/>
          </a:prstGeom>
          <a:noFill/>
          <a:ln/>
        </p:spPr>
        <p:txBody>
          <a:bodyPr wrap="square" lIns="0" tIns="0" rIns="0" bIns="0" rtlCol="0" anchor="ctr"/>
          <a:lstStyle/>
          <a:p>
            <a:pPr algn="r" indent="0" marL="0">
              <a:buNone/>
            </a:pPr>
            <a:r>
              <a:rPr lang="en-US" sz="1400" dirty="0">
                <a:solidFill>
                  <a:srgbClr val="5B6B8C"/>
                </a:solidFill>
                <a:latin typeface="Calibri" pitchFamily="34" charset="0"/>
                <a:ea typeface="Calibri" pitchFamily="34" charset="-122"/>
                <a:cs typeface="Calibri" pitchFamily="34" charset="-120"/>
              </a:rPr>
              <a:t>3</a:t>
            </a:r>
            <a:endParaRPr lang="en-US" sz="1400" dirty="0"/>
          </a:p>
        </p:txBody>
      </p:sp>
      <p:sp>
        <p:nvSpPr>
          <p:cNvPr id="10" name="Text 8"/>
          <p:cNvSpPr txBox="1"/>
          <p:nvPr/>
        </p:nvSpPr>
        <p:spPr>
          <a:xfrm>
            <a:off x="1143000" y="2152650"/>
            <a:ext cx="10469880" cy="413385"/>
          </a:xfrm>
          <a:prstGeom prst="rect">
            <a:avLst/>
          </a:prstGeom>
          <a:noFill/>
          <a:ln/>
        </p:spPr>
        <p:txBody>
          <a:bodyPr wrap="square" lIns="0" tIns="0" rIns="0" bIns="0" rtlCol="0" anchor="ctr"/>
          <a:lstStyle/>
          <a:p>
            <a:pPr indent="0" marL="0">
              <a:buNone/>
            </a:pPr>
            <a:r>
              <a:rPr lang="en-US" sz="2100" dirty="0">
                <a:solidFill>
                  <a:srgbClr val="1E2761"/>
                </a:solidFill>
                <a:latin typeface="Cambria" pitchFamily="34" charset="0"/>
                <a:ea typeface="Cambria" pitchFamily="34" charset="-122"/>
                <a:cs typeface="Cambria" pitchFamily="34" charset="-120"/>
              </a:rPr>
              <a:t>wirktest so auf mich, wie Du wirken mußtest, nur sollst Du aufhören,</a:t>
            </a:r>
            <a:endParaRPr lang="en-US" sz="2100" dirty="0"/>
          </a:p>
        </p:txBody>
      </p:sp>
      <p:sp>
        <p:nvSpPr>
          <p:cNvPr id="11" name="Text 9"/>
          <p:cNvSpPr txBox="1"/>
          <p:nvPr/>
        </p:nvSpPr>
        <p:spPr>
          <a:xfrm>
            <a:off x="548640" y="2566035"/>
            <a:ext cx="411480" cy="413385"/>
          </a:xfrm>
          <a:prstGeom prst="rect">
            <a:avLst/>
          </a:prstGeom>
          <a:noFill/>
          <a:ln/>
        </p:spPr>
        <p:txBody>
          <a:bodyPr wrap="square" lIns="0" tIns="0" rIns="0" bIns="0" rtlCol="0" anchor="ctr"/>
          <a:lstStyle/>
          <a:p>
            <a:pPr algn="r" indent="0" marL="0">
              <a:buNone/>
            </a:pPr>
            <a:r>
              <a:rPr lang="en-US" sz="1400" dirty="0">
                <a:solidFill>
                  <a:srgbClr val="5B6B8C"/>
                </a:solidFill>
                <a:latin typeface="Calibri" pitchFamily="34" charset="0"/>
                <a:ea typeface="Calibri" pitchFamily="34" charset="-122"/>
                <a:cs typeface="Calibri" pitchFamily="34" charset="-120"/>
              </a:rPr>
              <a:t>4</a:t>
            </a:r>
            <a:endParaRPr lang="en-US" sz="1400" dirty="0"/>
          </a:p>
        </p:txBody>
      </p:sp>
      <p:sp>
        <p:nvSpPr>
          <p:cNvPr id="12" name="Text 10"/>
          <p:cNvSpPr txBox="1"/>
          <p:nvPr/>
        </p:nvSpPr>
        <p:spPr>
          <a:xfrm>
            <a:off x="1143000" y="2566035"/>
            <a:ext cx="10469880" cy="413385"/>
          </a:xfrm>
          <a:prstGeom prst="rect">
            <a:avLst/>
          </a:prstGeom>
          <a:noFill/>
          <a:ln/>
        </p:spPr>
        <p:txBody>
          <a:bodyPr wrap="square" lIns="0" tIns="0" rIns="0" bIns="0" rtlCol="0" anchor="ctr"/>
          <a:lstStyle/>
          <a:p>
            <a:pPr indent="0" marL="0">
              <a:buNone/>
            </a:pPr>
            <a:r>
              <a:rPr lang="en-US" sz="2100" dirty="0">
                <a:solidFill>
                  <a:srgbClr val="1E2761"/>
                </a:solidFill>
                <a:latin typeface="Cambria" pitchFamily="34" charset="0"/>
                <a:ea typeface="Cambria" pitchFamily="34" charset="-122"/>
                <a:cs typeface="Cambria" pitchFamily="34" charset="-120"/>
              </a:rPr>
              <a:t>es für eine besondere Bosheit meinerseits zu halten, daß ich dieser</a:t>
            </a:r>
            <a:endParaRPr lang="en-US" sz="2100" dirty="0"/>
          </a:p>
        </p:txBody>
      </p:sp>
      <p:sp>
        <p:nvSpPr>
          <p:cNvPr id="13" name="Text 11"/>
          <p:cNvSpPr txBox="1"/>
          <p:nvPr/>
        </p:nvSpPr>
        <p:spPr>
          <a:xfrm>
            <a:off x="548640" y="2979420"/>
            <a:ext cx="411480" cy="413385"/>
          </a:xfrm>
          <a:prstGeom prst="rect">
            <a:avLst/>
          </a:prstGeom>
          <a:noFill/>
          <a:ln/>
        </p:spPr>
        <p:txBody>
          <a:bodyPr wrap="square" lIns="0" tIns="0" rIns="0" bIns="0" rtlCol="0" anchor="ctr"/>
          <a:lstStyle/>
          <a:p>
            <a:pPr algn="r" indent="0" marL="0">
              <a:buNone/>
            </a:pPr>
            <a:r>
              <a:rPr lang="en-US" sz="1400" dirty="0">
                <a:solidFill>
                  <a:srgbClr val="5B6B8C"/>
                </a:solidFill>
                <a:latin typeface="Calibri" pitchFamily="34" charset="0"/>
                <a:ea typeface="Calibri" pitchFamily="34" charset="-122"/>
                <a:cs typeface="Calibri" pitchFamily="34" charset="-120"/>
              </a:rPr>
              <a:t>5</a:t>
            </a:r>
            <a:endParaRPr lang="en-US" sz="1400" dirty="0"/>
          </a:p>
        </p:txBody>
      </p:sp>
      <p:sp>
        <p:nvSpPr>
          <p:cNvPr id="14" name="Text 12"/>
          <p:cNvSpPr txBox="1"/>
          <p:nvPr/>
        </p:nvSpPr>
        <p:spPr>
          <a:xfrm>
            <a:off x="1143000" y="2979420"/>
            <a:ext cx="10469880" cy="413385"/>
          </a:xfrm>
          <a:prstGeom prst="rect">
            <a:avLst/>
          </a:prstGeom>
          <a:noFill/>
          <a:ln/>
        </p:spPr>
        <p:txBody>
          <a:bodyPr wrap="square" lIns="0" tIns="0" rIns="0" bIns="0" rtlCol="0" anchor="ctr"/>
          <a:lstStyle/>
          <a:p>
            <a:pPr indent="0" marL="0">
              <a:buNone/>
            </a:pPr>
            <a:r>
              <a:rPr lang="en-US" sz="2100" dirty="0">
                <a:solidFill>
                  <a:srgbClr val="1E2761"/>
                </a:solidFill>
                <a:latin typeface="Cambria" pitchFamily="34" charset="0"/>
                <a:ea typeface="Cambria" pitchFamily="34" charset="-122"/>
                <a:cs typeface="Cambria" pitchFamily="34" charset="-120"/>
              </a:rPr>
              <a:t>Wirkung erlegen bin. Ich war ein ängstliches Kind; trotzdem war ich</a:t>
            </a:r>
            <a:endParaRPr lang="en-US" sz="2100" dirty="0"/>
          </a:p>
        </p:txBody>
      </p:sp>
      <p:sp>
        <p:nvSpPr>
          <p:cNvPr id="15" name="Text 13"/>
          <p:cNvSpPr txBox="1"/>
          <p:nvPr/>
        </p:nvSpPr>
        <p:spPr>
          <a:xfrm>
            <a:off x="548640" y="3392805"/>
            <a:ext cx="411480" cy="413385"/>
          </a:xfrm>
          <a:prstGeom prst="rect">
            <a:avLst/>
          </a:prstGeom>
          <a:noFill/>
          <a:ln/>
        </p:spPr>
        <p:txBody>
          <a:bodyPr wrap="square" lIns="0" tIns="0" rIns="0" bIns="0" rtlCol="0" anchor="ctr"/>
          <a:lstStyle/>
          <a:p>
            <a:pPr algn="r" indent="0" marL="0">
              <a:buNone/>
            </a:pPr>
            <a:r>
              <a:rPr lang="en-US" sz="1400" dirty="0">
                <a:solidFill>
                  <a:srgbClr val="5B6B8C"/>
                </a:solidFill>
                <a:latin typeface="Calibri" pitchFamily="34" charset="0"/>
                <a:ea typeface="Calibri" pitchFamily="34" charset="-122"/>
                <a:cs typeface="Calibri" pitchFamily="34" charset="-120"/>
              </a:rPr>
              <a:t>6</a:t>
            </a:r>
            <a:endParaRPr lang="en-US" sz="1400" dirty="0"/>
          </a:p>
        </p:txBody>
      </p:sp>
      <p:sp>
        <p:nvSpPr>
          <p:cNvPr id="16" name="Text 14"/>
          <p:cNvSpPr txBox="1"/>
          <p:nvPr/>
        </p:nvSpPr>
        <p:spPr>
          <a:xfrm>
            <a:off x="1143000" y="3392805"/>
            <a:ext cx="10469880" cy="413385"/>
          </a:xfrm>
          <a:prstGeom prst="rect">
            <a:avLst/>
          </a:prstGeom>
          <a:noFill/>
          <a:ln/>
        </p:spPr>
        <p:txBody>
          <a:bodyPr wrap="square" lIns="0" tIns="0" rIns="0" bIns="0" rtlCol="0" anchor="ctr"/>
          <a:lstStyle/>
          <a:p>
            <a:pPr indent="0" marL="0">
              <a:buNone/>
            </a:pPr>
            <a:r>
              <a:rPr lang="en-US" sz="2100" dirty="0">
                <a:solidFill>
                  <a:srgbClr val="1E2761"/>
                </a:solidFill>
                <a:latin typeface="Cambria" pitchFamily="34" charset="0"/>
                <a:ea typeface="Cambria" pitchFamily="34" charset="-122"/>
                <a:cs typeface="Cambria" pitchFamily="34" charset="-120"/>
              </a:rPr>
              <a:t>gewiß auch störrisch, wie Kinder sind; gewiß verwöhnte mich die Mutter</a:t>
            </a:r>
            <a:endParaRPr lang="en-US" sz="2100" dirty="0"/>
          </a:p>
        </p:txBody>
      </p:sp>
      <p:sp>
        <p:nvSpPr>
          <p:cNvPr id="17" name="Text 15"/>
          <p:cNvSpPr txBox="1"/>
          <p:nvPr/>
        </p:nvSpPr>
        <p:spPr>
          <a:xfrm>
            <a:off x="548640" y="3806190"/>
            <a:ext cx="411480" cy="413385"/>
          </a:xfrm>
          <a:prstGeom prst="rect">
            <a:avLst/>
          </a:prstGeom>
          <a:noFill/>
          <a:ln/>
        </p:spPr>
        <p:txBody>
          <a:bodyPr wrap="square" lIns="0" tIns="0" rIns="0" bIns="0" rtlCol="0" anchor="ctr"/>
          <a:lstStyle/>
          <a:p>
            <a:pPr algn="r" indent="0" marL="0">
              <a:buNone/>
            </a:pPr>
            <a:r>
              <a:rPr lang="en-US" sz="1400" dirty="0">
                <a:solidFill>
                  <a:srgbClr val="5B6B8C"/>
                </a:solidFill>
                <a:latin typeface="Calibri" pitchFamily="34" charset="0"/>
                <a:ea typeface="Calibri" pitchFamily="34" charset="-122"/>
                <a:cs typeface="Calibri" pitchFamily="34" charset="-120"/>
              </a:rPr>
              <a:t>7</a:t>
            </a:r>
            <a:endParaRPr lang="en-US" sz="1400" dirty="0"/>
          </a:p>
        </p:txBody>
      </p:sp>
      <p:sp>
        <p:nvSpPr>
          <p:cNvPr id="18" name="Text 16"/>
          <p:cNvSpPr txBox="1"/>
          <p:nvPr/>
        </p:nvSpPr>
        <p:spPr>
          <a:xfrm>
            <a:off x="1143000" y="3806190"/>
            <a:ext cx="10469880" cy="413385"/>
          </a:xfrm>
          <a:prstGeom prst="rect">
            <a:avLst/>
          </a:prstGeom>
          <a:noFill/>
          <a:ln/>
        </p:spPr>
        <p:txBody>
          <a:bodyPr wrap="square" lIns="0" tIns="0" rIns="0" bIns="0" rtlCol="0" anchor="ctr"/>
          <a:lstStyle/>
          <a:p>
            <a:pPr indent="0" marL="0">
              <a:buNone/>
            </a:pPr>
            <a:r>
              <a:rPr lang="en-US" sz="2100" dirty="0">
                <a:solidFill>
                  <a:srgbClr val="1E2761"/>
                </a:solidFill>
                <a:latin typeface="Cambria" pitchFamily="34" charset="0"/>
                <a:ea typeface="Cambria" pitchFamily="34" charset="-122"/>
                <a:cs typeface="Cambria" pitchFamily="34" charset="-120"/>
              </a:rPr>
              <a:t>auch, aber ich kann nicht glauben, daß ich besonders schwer lenkbar</a:t>
            </a:r>
            <a:endParaRPr lang="en-US" sz="2100" dirty="0"/>
          </a:p>
        </p:txBody>
      </p:sp>
      <p:sp>
        <p:nvSpPr>
          <p:cNvPr id="19" name="Text 17"/>
          <p:cNvSpPr txBox="1"/>
          <p:nvPr/>
        </p:nvSpPr>
        <p:spPr>
          <a:xfrm>
            <a:off x="548640" y="4219575"/>
            <a:ext cx="411480" cy="413385"/>
          </a:xfrm>
          <a:prstGeom prst="rect">
            <a:avLst/>
          </a:prstGeom>
          <a:noFill/>
          <a:ln/>
        </p:spPr>
        <p:txBody>
          <a:bodyPr wrap="square" lIns="0" tIns="0" rIns="0" bIns="0" rtlCol="0" anchor="ctr"/>
          <a:lstStyle/>
          <a:p>
            <a:pPr algn="r" indent="0" marL="0">
              <a:buNone/>
            </a:pPr>
            <a:r>
              <a:rPr lang="en-US" sz="1400" dirty="0">
                <a:solidFill>
                  <a:srgbClr val="5B6B8C"/>
                </a:solidFill>
                <a:latin typeface="Calibri" pitchFamily="34" charset="0"/>
                <a:ea typeface="Calibri" pitchFamily="34" charset="-122"/>
                <a:cs typeface="Calibri" pitchFamily="34" charset="-120"/>
              </a:rPr>
              <a:t>8</a:t>
            </a:r>
            <a:endParaRPr lang="en-US" sz="1400" dirty="0"/>
          </a:p>
        </p:txBody>
      </p:sp>
      <p:sp>
        <p:nvSpPr>
          <p:cNvPr id="20" name="Text 18"/>
          <p:cNvSpPr txBox="1"/>
          <p:nvPr/>
        </p:nvSpPr>
        <p:spPr>
          <a:xfrm>
            <a:off x="1143000" y="4219575"/>
            <a:ext cx="10469880" cy="413385"/>
          </a:xfrm>
          <a:prstGeom prst="rect">
            <a:avLst/>
          </a:prstGeom>
          <a:noFill/>
          <a:ln/>
        </p:spPr>
        <p:txBody>
          <a:bodyPr wrap="square" lIns="0" tIns="0" rIns="0" bIns="0" rtlCol="0" anchor="ctr"/>
          <a:lstStyle/>
          <a:p>
            <a:pPr indent="0" marL="0">
              <a:buNone/>
            </a:pPr>
            <a:r>
              <a:rPr lang="en-US" sz="2100" dirty="0">
                <a:solidFill>
                  <a:srgbClr val="1E2761"/>
                </a:solidFill>
                <a:latin typeface="Cambria" pitchFamily="34" charset="0"/>
                <a:ea typeface="Cambria" pitchFamily="34" charset="-122"/>
                <a:cs typeface="Cambria" pitchFamily="34" charset="-120"/>
              </a:rPr>
              <a:t>war, ich kann nicht glauben, daß ein freundliches Wort, ein stilles</a:t>
            </a:r>
            <a:endParaRPr lang="en-US" sz="2100" dirty="0"/>
          </a:p>
        </p:txBody>
      </p:sp>
      <p:sp>
        <p:nvSpPr>
          <p:cNvPr id="21" name="Text 19"/>
          <p:cNvSpPr txBox="1"/>
          <p:nvPr/>
        </p:nvSpPr>
        <p:spPr>
          <a:xfrm>
            <a:off x="548640" y="4632960"/>
            <a:ext cx="411480" cy="413385"/>
          </a:xfrm>
          <a:prstGeom prst="rect">
            <a:avLst/>
          </a:prstGeom>
          <a:noFill/>
          <a:ln/>
        </p:spPr>
        <p:txBody>
          <a:bodyPr wrap="square" lIns="0" tIns="0" rIns="0" bIns="0" rtlCol="0" anchor="ctr"/>
          <a:lstStyle/>
          <a:p>
            <a:pPr algn="r" indent="0" marL="0">
              <a:buNone/>
            </a:pPr>
            <a:r>
              <a:rPr lang="en-US" sz="1400" dirty="0">
                <a:solidFill>
                  <a:srgbClr val="5B6B8C"/>
                </a:solidFill>
                <a:latin typeface="Calibri" pitchFamily="34" charset="0"/>
                <a:ea typeface="Calibri" pitchFamily="34" charset="-122"/>
                <a:cs typeface="Calibri" pitchFamily="34" charset="-120"/>
              </a:rPr>
              <a:t>9</a:t>
            </a:r>
            <a:endParaRPr lang="en-US" sz="1400" dirty="0"/>
          </a:p>
        </p:txBody>
      </p:sp>
      <p:sp>
        <p:nvSpPr>
          <p:cNvPr id="22" name="Text 20"/>
          <p:cNvSpPr txBox="1"/>
          <p:nvPr/>
        </p:nvSpPr>
        <p:spPr>
          <a:xfrm>
            <a:off x="1143000" y="4632960"/>
            <a:ext cx="10469880" cy="413385"/>
          </a:xfrm>
          <a:prstGeom prst="rect">
            <a:avLst/>
          </a:prstGeom>
          <a:noFill/>
          <a:ln/>
        </p:spPr>
        <p:txBody>
          <a:bodyPr wrap="square" lIns="0" tIns="0" rIns="0" bIns="0" rtlCol="0" anchor="ctr"/>
          <a:lstStyle/>
          <a:p>
            <a:pPr indent="0" marL="0">
              <a:buNone/>
            </a:pPr>
            <a:r>
              <a:rPr lang="en-US" sz="2100" dirty="0">
                <a:solidFill>
                  <a:srgbClr val="1E2761"/>
                </a:solidFill>
                <a:latin typeface="Cambria" pitchFamily="34" charset="0"/>
                <a:ea typeface="Cambria" pitchFamily="34" charset="-122"/>
                <a:cs typeface="Cambria" pitchFamily="34" charset="-120"/>
              </a:rPr>
              <a:t>Bei-der-Hand-Nehmen, ein guter Blick mir nicht alles hätten abfordern</a:t>
            </a:r>
            <a:endParaRPr lang="en-US" sz="2100" dirty="0"/>
          </a:p>
        </p:txBody>
      </p:sp>
      <p:sp>
        <p:nvSpPr>
          <p:cNvPr id="23" name="Text 21"/>
          <p:cNvSpPr txBox="1"/>
          <p:nvPr/>
        </p:nvSpPr>
        <p:spPr>
          <a:xfrm>
            <a:off x="548640" y="5046345"/>
            <a:ext cx="411480" cy="413385"/>
          </a:xfrm>
          <a:prstGeom prst="rect">
            <a:avLst/>
          </a:prstGeom>
          <a:noFill/>
          <a:ln/>
        </p:spPr>
        <p:txBody>
          <a:bodyPr wrap="square" lIns="0" tIns="0" rIns="0" bIns="0" rtlCol="0" anchor="ctr"/>
          <a:lstStyle/>
          <a:p>
            <a:pPr algn="r" indent="0" marL="0">
              <a:buNone/>
            </a:pPr>
            <a:r>
              <a:rPr lang="en-US" sz="1400" dirty="0">
                <a:solidFill>
                  <a:srgbClr val="5B6B8C"/>
                </a:solidFill>
                <a:latin typeface="Calibri" pitchFamily="34" charset="0"/>
                <a:ea typeface="Calibri" pitchFamily="34" charset="-122"/>
                <a:cs typeface="Calibri" pitchFamily="34" charset="-120"/>
              </a:rPr>
              <a:t>10</a:t>
            </a:r>
            <a:endParaRPr lang="en-US" sz="1400" dirty="0"/>
          </a:p>
        </p:txBody>
      </p:sp>
      <p:sp>
        <p:nvSpPr>
          <p:cNvPr id="24" name="Text 22"/>
          <p:cNvSpPr txBox="1"/>
          <p:nvPr/>
        </p:nvSpPr>
        <p:spPr>
          <a:xfrm>
            <a:off x="1143000" y="5046345"/>
            <a:ext cx="10469880" cy="413385"/>
          </a:xfrm>
          <a:prstGeom prst="rect">
            <a:avLst/>
          </a:prstGeom>
          <a:noFill/>
          <a:ln/>
        </p:spPr>
        <p:txBody>
          <a:bodyPr wrap="square" lIns="0" tIns="0" rIns="0" bIns="0" rtlCol="0" anchor="ctr"/>
          <a:lstStyle/>
          <a:p>
            <a:pPr indent="0" marL="0">
              <a:buNone/>
            </a:pPr>
            <a:r>
              <a:rPr lang="en-US" sz="2100" dirty="0">
                <a:solidFill>
                  <a:srgbClr val="1E2761"/>
                </a:solidFill>
                <a:latin typeface="Cambria" pitchFamily="34" charset="0"/>
                <a:ea typeface="Cambria" pitchFamily="34" charset="-122"/>
                <a:cs typeface="Cambria" pitchFamily="34" charset="-120"/>
              </a:rPr>
              <a:t>können, was man wollte.</a:t>
            </a:r>
            <a:endParaRPr lang="en-US" sz="2100" dirty="0"/>
          </a:p>
        </p:txBody>
      </p:sp>
      <p:sp>
        <p:nvSpPr>
          <p:cNvPr id="25" name="Shape 23"/>
          <p:cNvSpPr/>
          <p:nvPr/>
        </p:nvSpPr>
        <p:spPr>
          <a:xfrm>
            <a:off x="1051560" y="1325880"/>
            <a:ext cx="0" cy="4133850"/>
          </a:xfrm>
          <a:prstGeom prst="line">
            <a:avLst/>
          </a:prstGeom>
          <a:noFill/>
          <a:ln w="25400">
            <a:solidFill>
              <a:srgbClr val="3F7CC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Text 1"/>
          <p:cNvSpPr txBox="1"/>
          <p:nvPr/>
        </p:nvSpPr>
        <p:spPr>
          <a:xfrm>
            <a:off x="822960" y="1280160"/>
            <a:ext cx="10424160" cy="914400"/>
          </a:xfrm>
          <a:prstGeom prst="rect">
            <a:avLst/>
          </a:prstGeom>
          <a:noFill/>
          <a:ln/>
        </p:spPr>
        <p:txBody>
          <a:bodyPr wrap="square" lIns="0" tIns="0" rIns="0" bIns="0" rtlCol="0" anchor="t"/>
          <a:lstStyle/>
          <a:p>
            <a:pPr indent="0" marL="0">
              <a:buNone/>
            </a:pPr>
            <a:r>
              <a:rPr lang="en-US" sz="3200" i="1" dirty="0">
                <a:solidFill>
                  <a:srgbClr val="CADCFC"/>
                </a:solidFill>
                <a:latin typeface="Cambria" pitchFamily="34" charset="0"/>
                <a:ea typeface="Cambria" pitchFamily="34" charset="-122"/>
                <a:cs typeface="Cambria" pitchFamily="34" charset="-120"/>
              </a:rPr>
              <a:t>„Wobei ich Dich aber immerfort bitte …“</a:t>
            </a:r>
            <a:endParaRPr lang="en-US" sz="3200" dirty="0"/>
          </a:p>
        </p:txBody>
      </p:sp>
      <p:sp>
        <p:nvSpPr>
          <p:cNvPr id="4" name="Shape 2"/>
          <p:cNvSpPr/>
          <p:nvPr/>
        </p:nvSpPr>
        <p:spPr>
          <a:xfrm>
            <a:off x="822960" y="2651760"/>
            <a:ext cx="10515600" cy="1463040"/>
          </a:xfrm>
          <a:prstGeom prst="roundRect">
            <a:avLst>
              <a:gd name="adj" fmla="val 5000"/>
            </a:avLst>
          </a:prstGeom>
          <a:solidFill>
            <a:srgbClr val="D9534F"/>
          </a:solidFill>
          <a:ln/>
        </p:spPr>
      </p:sp>
      <p:sp>
        <p:nvSpPr>
          <p:cNvPr id="5" name="Text 3"/>
          <p:cNvSpPr txBox="1"/>
          <p:nvPr/>
        </p:nvSpPr>
        <p:spPr>
          <a:xfrm>
            <a:off x="1097280" y="2651760"/>
            <a:ext cx="10058400" cy="14630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Worum bittet Kafka seinen Vater?</a:t>
            </a:r>
            <a:endParaRPr lang="en-US" sz="3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828800"/>
            <a:ext cx="2377440" cy="402336"/>
          </a:xfrm>
          <a:prstGeom prst="roundRect">
            <a:avLst>
              <a:gd name="adj" fmla="val 50000"/>
            </a:avLst>
          </a:prstGeom>
          <a:solidFill>
            <a:srgbClr val="D9534F"/>
          </a:solidFill>
          <a:ln/>
        </p:spPr>
      </p:sp>
      <p:sp>
        <p:nvSpPr>
          <p:cNvPr id="4" name="Text 2"/>
          <p:cNvSpPr txBox="1"/>
          <p:nvPr/>
        </p:nvSpPr>
        <p:spPr>
          <a:xfrm>
            <a:off x="822960" y="1828800"/>
            <a:ext cx="2377440"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MINI-DIKTAT</a:t>
            </a:r>
            <a:endParaRPr lang="en-US" sz="1400" dirty="0"/>
          </a:p>
        </p:txBody>
      </p:sp>
      <p:sp>
        <p:nvSpPr>
          <p:cNvPr id="5" name="Text 3"/>
          <p:cNvSpPr txBox="1"/>
          <p:nvPr/>
        </p:nvSpPr>
        <p:spPr>
          <a:xfrm>
            <a:off x="822960" y="2468880"/>
            <a:ext cx="10789920" cy="82296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Der Appell – offen und verdeckt</a:t>
            </a:r>
            <a:endParaRPr lang="en-US" sz="3200" dirty="0"/>
          </a:p>
        </p:txBody>
      </p:sp>
      <p:sp>
        <p:nvSpPr>
          <p:cNvPr id="6" name="Text 4"/>
          <p:cNvSpPr txBox="1"/>
          <p:nvPr/>
        </p:nvSpPr>
        <p:spPr>
          <a:xfrm>
            <a:off x="822960" y="3566160"/>
            <a:ext cx="10515600" cy="548640"/>
          </a:xfrm>
          <a:prstGeom prst="rect">
            <a:avLst/>
          </a:prstGeom>
          <a:noFill/>
          <a:ln/>
        </p:spPr>
        <p:txBody>
          <a:bodyPr wrap="square" lIns="0" tIns="0" rIns="0" bIns="0" rtlCol="0" anchor="t"/>
          <a:lstStyle/>
          <a:p>
            <a:pPr indent="0" marL="0">
              <a:buNone/>
            </a:pPr>
            <a:r>
              <a:rPr lang="en-US" sz="2200" dirty="0">
                <a:solidFill>
                  <a:srgbClr val="CADCFC"/>
                </a:solidFill>
                <a:latin typeface="Calibri" pitchFamily="34" charset="0"/>
                <a:ea typeface="Calibri" pitchFamily="34" charset="-122"/>
                <a:cs typeface="Calibri" pitchFamily="34" charset="-120"/>
              </a:rPr>
              <a:t>Schreibe mit. Satzzeichen werden nicht angesagt – achte selbst auf die Kommas.</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MINI-DIKTAT · SELBSTKONTROLLE</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Vergleiche Wort für Wort</a:t>
            </a:r>
            <a:endParaRPr lang="en-US" sz="2700" dirty="0"/>
          </a:p>
        </p:txBody>
      </p:sp>
      <p:sp>
        <p:nvSpPr>
          <p:cNvPr id="5" name="Text 3"/>
          <p:cNvSpPr txBox="1"/>
          <p:nvPr/>
        </p:nvSpPr>
        <p:spPr>
          <a:xfrm>
            <a:off x="548640" y="1188720"/>
            <a:ext cx="11064240" cy="2377440"/>
          </a:xfrm>
          <a:prstGeom prst="rect">
            <a:avLst/>
          </a:prstGeom>
          <a:noFill/>
          <a:ln/>
        </p:spPr>
        <p:txBody>
          <a:bodyPr wrap="square" lIns="0" tIns="0" rIns="0" bIns="0" rtlCol="0" anchor="t"/>
          <a:lstStyle/>
          <a:p>
            <a:pPr indent="0" marL="0">
              <a:lnSpc>
                <a:spcPct val="125000"/>
              </a:lnSpc>
              <a:buNone/>
            </a:pPr>
            <a:r>
              <a:rPr lang="en-US" sz="2200" dirty="0">
                <a:solidFill>
                  <a:srgbClr val="1E2761"/>
                </a:solidFill>
                <a:latin typeface="Cambria" pitchFamily="34" charset="0"/>
                <a:ea typeface="Cambria" pitchFamily="34" charset="-122"/>
                <a:cs typeface="Cambria" pitchFamily="34" charset="-120"/>
              </a:rPr>
              <a:t>Der Appell ist eine der vier Seiten einer Nachricht. Mit ihm will der Sender erreichen, dass der Empfänger etwas tut, denkt oder fühlt. Ein offener Appell wird direkt ausgesprochen, zum Beispiel als Bitte. Ein verdeckter Appell versteckt sich in einem Wunsch, einer Frage oder einer Beschreibung.</a:t>
            </a:r>
            <a:endParaRPr lang="en-US" sz="2200" dirty="0"/>
          </a:p>
        </p:txBody>
      </p:sp>
      <p:sp>
        <p:nvSpPr>
          <p:cNvPr id="6" name="Shape 4"/>
          <p:cNvSpPr/>
          <p:nvPr/>
        </p:nvSpPr>
        <p:spPr>
          <a:xfrm>
            <a:off x="548640" y="3840480"/>
            <a:ext cx="5440680" cy="1097280"/>
          </a:xfrm>
          <a:prstGeom prst="roundRect">
            <a:avLst>
              <a:gd name="adj" fmla="val 6667"/>
            </a:avLst>
          </a:prstGeom>
          <a:solidFill>
            <a:srgbClr val="F4F7FD"/>
          </a:solidFill>
          <a:ln/>
        </p:spPr>
      </p:sp>
      <p:sp>
        <p:nvSpPr>
          <p:cNvPr id="7" name="Shape 5"/>
          <p:cNvSpPr/>
          <p:nvPr/>
        </p:nvSpPr>
        <p:spPr>
          <a:xfrm>
            <a:off x="548640" y="3840480"/>
            <a:ext cx="109728" cy="1097280"/>
          </a:xfrm>
          <a:prstGeom prst="roundRect">
            <a:avLst>
              <a:gd name="adj" fmla="val 16667"/>
            </a:avLst>
          </a:prstGeom>
          <a:solidFill>
            <a:srgbClr val="D9534F"/>
          </a:solidFill>
          <a:ln/>
        </p:spPr>
      </p:sp>
      <p:sp>
        <p:nvSpPr>
          <p:cNvPr id="8" name="Text 6"/>
          <p:cNvSpPr txBox="1"/>
          <p:nvPr/>
        </p:nvSpPr>
        <p:spPr>
          <a:xfrm>
            <a:off x="822960" y="3931920"/>
            <a:ext cx="5029200" cy="365760"/>
          </a:xfrm>
          <a:prstGeom prst="rect">
            <a:avLst/>
          </a:prstGeom>
          <a:noFill/>
          <a:ln/>
        </p:spPr>
        <p:txBody>
          <a:bodyPr wrap="square" lIns="0" tIns="0" rIns="0" bIns="0" rtlCol="0" anchor="t"/>
          <a:lstStyle/>
          <a:p>
            <a:pPr indent="0" marL="0">
              <a:buNone/>
            </a:pPr>
            <a:r>
              <a:rPr lang="en-US" sz="1700" b="1" dirty="0">
                <a:solidFill>
                  <a:srgbClr val="D9534F"/>
                </a:solidFill>
                <a:latin typeface="Calibri" pitchFamily="34" charset="0"/>
                <a:ea typeface="Calibri" pitchFamily="34" charset="-122"/>
                <a:cs typeface="Calibri" pitchFamily="34" charset="-120"/>
              </a:rPr>
              <a:t>Appell</a:t>
            </a:r>
            <a:endParaRPr lang="en-US" sz="1700" dirty="0"/>
          </a:p>
        </p:txBody>
      </p:sp>
      <p:sp>
        <p:nvSpPr>
          <p:cNvPr id="9" name="Text 7"/>
          <p:cNvSpPr txBox="1"/>
          <p:nvPr/>
        </p:nvSpPr>
        <p:spPr>
          <a:xfrm>
            <a:off x="822960" y="4297680"/>
            <a:ext cx="5029200" cy="59436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zwei p, zwei l – und groß, weil Nomen</a:t>
            </a:r>
            <a:endParaRPr lang="en-US" sz="1500" dirty="0"/>
          </a:p>
        </p:txBody>
      </p:sp>
      <p:sp>
        <p:nvSpPr>
          <p:cNvPr id="10" name="Shape 8"/>
          <p:cNvSpPr/>
          <p:nvPr/>
        </p:nvSpPr>
        <p:spPr>
          <a:xfrm>
            <a:off x="6172200" y="3840480"/>
            <a:ext cx="5440680" cy="1097280"/>
          </a:xfrm>
          <a:prstGeom prst="roundRect">
            <a:avLst>
              <a:gd name="adj" fmla="val 6667"/>
            </a:avLst>
          </a:prstGeom>
          <a:solidFill>
            <a:srgbClr val="F4F7FD"/>
          </a:solidFill>
          <a:ln/>
        </p:spPr>
      </p:sp>
      <p:sp>
        <p:nvSpPr>
          <p:cNvPr id="11" name="Shape 9"/>
          <p:cNvSpPr/>
          <p:nvPr/>
        </p:nvSpPr>
        <p:spPr>
          <a:xfrm>
            <a:off x="6172200" y="3840480"/>
            <a:ext cx="109728" cy="1097280"/>
          </a:xfrm>
          <a:prstGeom prst="roundRect">
            <a:avLst>
              <a:gd name="adj" fmla="val 16667"/>
            </a:avLst>
          </a:prstGeom>
          <a:solidFill>
            <a:srgbClr val="E8A33D"/>
          </a:solidFill>
          <a:ln/>
        </p:spPr>
      </p:sp>
      <p:sp>
        <p:nvSpPr>
          <p:cNvPr id="12" name="Text 10"/>
          <p:cNvSpPr txBox="1"/>
          <p:nvPr/>
        </p:nvSpPr>
        <p:spPr>
          <a:xfrm>
            <a:off x="6446520" y="3931920"/>
            <a:ext cx="5029200" cy="365760"/>
          </a:xfrm>
          <a:prstGeom prst="rect">
            <a:avLst/>
          </a:prstGeom>
          <a:noFill/>
          <a:ln/>
        </p:spPr>
        <p:txBody>
          <a:bodyPr wrap="square" lIns="0" tIns="0" rIns="0" bIns="0" rtlCol="0" anchor="t"/>
          <a:lstStyle/>
          <a:p>
            <a:pPr indent="0" marL="0">
              <a:buNone/>
            </a:pPr>
            <a:r>
              <a:rPr lang="en-US" sz="1700" b="1" dirty="0">
                <a:solidFill>
                  <a:srgbClr val="E8A33D"/>
                </a:solidFill>
                <a:latin typeface="Calibri" pitchFamily="34" charset="0"/>
                <a:ea typeface="Calibri" pitchFamily="34" charset="-122"/>
                <a:cs typeface="Calibri" pitchFamily="34" charset="-120"/>
              </a:rPr>
              <a:t>dass</a:t>
            </a:r>
            <a:endParaRPr lang="en-US" sz="1700" dirty="0"/>
          </a:p>
        </p:txBody>
      </p:sp>
      <p:sp>
        <p:nvSpPr>
          <p:cNvPr id="13" name="Text 11"/>
          <p:cNvSpPr txBox="1"/>
          <p:nvPr/>
        </p:nvSpPr>
        <p:spPr>
          <a:xfrm>
            <a:off x="6446520" y="4297680"/>
            <a:ext cx="5029200" cy="59436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leitet den Nebensatz ein: „…, dass der Empfänger …“ – davor ein Komma</a:t>
            </a:r>
            <a:endParaRPr lang="en-US" sz="1500" dirty="0"/>
          </a:p>
        </p:txBody>
      </p:sp>
      <p:sp>
        <p:nvSpPr>
          <p:cNvPr id="14" name="Shape 12"/>
          <p:cNvSpPr/>
          <p:nvPr/>
        </p:nvSpPr>
        <p:spPr>
          <a:xfrm>
            <a:off x="548640" y="5074920"/>
            <a:ext cx="5440680" cy="1097280"/>
          </a:xfrm>
          <a:prstGeom prst="roundRect">
            <a:avLst>
              <a:gd name="adj" fmla="val 6667"/>
            </a:avLst>
          </a:prstGeom>
          <a:solidFill>
            <a:srgbClr val="F4F7FD"/>
          </a:solidFill>
          <a:ln/>
        </p:spPr>
      </p:sp>
      <p:sp>
        <p:nvSpPr>
          <p:cNvPr id="15" name="Shape 13"/>
          <p:cNvSpPr/>
          <p:nvPr/>
        </p:nvSpPr>
        <p:spPr>
          <a:xfrm>
            <a:off x="548640" y="5074920"/>
            <a:ext cx="109728" cy="1097280"/>
          </a:xfrm>
          <a:prstGeom prst="roundRect">
            <a:avLst>
              <a:gd name="adj" fmla="val 16667"/>
            </a:avLst>
          </a:prstGeom>
          <a:solidFill>
            <a:srgbClr val="2E9E6B"/>
          </a:solidFill>
          <a:ln/>
        </p:spPr>
      </p:sp>
      <p:sp>
        <p:nvSpPr>
          <p:cNvPr id="16" name="Text 14"/>
          <p:cNvSpPr txBox="1"/>
          <p:nvPr/>
        </p:nvSpPr>
        <p:spPr>
          <a:xfrm>
            <a:off x="822960" y="5166360"/>
            <a:ext cx="5029200" cy="365760"/>
          </a:xfrm>
          <a:prstGeom prst="rect">
            <a:avLst/>
          </a:prstGeom>
          <a:noFill/>
          <a:ln/>
        </p:spPr>
        <p:txBody>
          <a:bodyPr wrap="square" lIns="0" tIns="0" rIns="0" bIns="0" rtlCol="0" anchor="t"/>
          <a:lstStyle/>
          <a:p>
            <a:pPr indent="0" marL="0">
              <a:buNone/>
            </a:pPr>
            <a:r>
              <a:rPr lang="en-US" sz="1700" b="1" dirty="0">
                <a:solidFill>
                  <a:srgbClr val="2E9E6B"/>
                </a:solidFill>
                <a:latin typeface="Calibri" pitchFamily="34" charset="0"/>
                <a:ea typeface="Calibri" pitchFamily="34" charset="-122"/>
                <a:cs typeface="Calibri" pitchFamily="34" charset="-120"/>
              </a:rPr>
              <a:t>Empfänger · ausgesprochen · versteckt</a:t>
            </a:r>
            <a:endParaRPr lang="en-US" sz="1700" dirty="0"/>
          </a:p>
        </p:txBody>
      </p:sp>
      <p:sp>
        <p:nvSpPr>
          <p:cNvPr id="17" name="Text 15"/>
          <p:cNvSpPr txBox="1"/>
          <p:nvPr/>
        </p:nvSpPr>
        <p:spPr>
          <a:xfrm>
            <a:off x="822960" y="5532120"/>
            <a:ext cx="5029200" cy="59436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ä in Empfänger (von empfangen); ck in versteckt</a:t>
            </a:r>
            <a:endParaRPr lang="en-US" sz="1500" dirty="0"/>
          </a:p>
        </p:txBody>
      </p:sp>
      <p:sp>
        <p:nvSpPr>
          <p:cNvPr id="18" name="Shape 16"/>
          <p:cNvSpPr/>
          <p:nvPr/>
        </p:nvSpPr>
        <p:spPr>
          <a:xfrm>
            <a:off x="6172200" y="5074920"/>
            <a:ext cx="5440680" cy="1097280"/>
          </a:xfrm>
          <a:prstGeom prst="roundRect">
            <a:avLst>
              <a:gd name="adj" fmla="val 6667"/>
            </a:avLst>
          </a:prstGeom>
          <a:solidFill>
            <a:srgbClr val="F4F7FD"/>
          </a:solidFill>
          <a:ln/>
        </p:spPr>
      </p:sp>
      <p:sp>
        <p:nvSpPr>
          <p:cNvPr id="19" name="Shape 17"/>
          <p:cNvSpPr/>
          <p:nvPr/>
        </p:nvSpPr>
        <p:spPr>
          <a:xfrm>
            <a:off x="6172200" y="5074920"/>
            <a:ext cx="109728" cy="1097280"/>
          </a:xfrm>
          <a:prstGeom prst="roundRect">
            <a:avLst>
              <a:gd name="adj" fmla="val 16667"/>
            </a:avLst>
          </a:prstGeom>
          <a:solidFill>
            <a:srgbClr val="3F7CC4"/>
          </a:solidFill>
          <a:ln/>
        </p:spPr>
      </p:sp>
      <p:sp>
        <p:nvSpPr>
          <p:cNvPr id="20" name="Text 18"/>
          <p:cNvSpPr txBox="1"/>
          <p:nvPr/>
        </p:nvSpPr>
        <p:spPr>
          <a:xfrm>
            <a:off x="6446520" y="5166360"/>
            <a:ext cx="5029200" cy="365760"/>
          </a:xfrm>
          <a:prstGeom prst="rect">
            <a:avLst/>
          </a:prstGeom>
          <a:noFill/>
          <a:ln/>
        </p:spPr>
        <p:txBody>
          <a:bodyPr wrap="square" lIns="0" tIns="0" rIns="0" bIns="0" rtlCol="0" anchor="t"/>
          <a:lstStyle/>
          <a:p>
            <a:pPr indent="0" marL="0">
              <a:buNone/>
            </a:pPr>
            <a:r>
              <a:rPr lang="en-US" sz="1700" b="1" dirty="0">
                <a:solidFill>
                  <a:srgbClr val="3F7CC4"/>
                </a:solidFill>
                <a:latin typeface="Calibri" pitchFamily="34" charset="0"/>
                <a:ea typeface="Calibri" pitchFamily="34" charset="-122"/>
                <a:cs typeface="Calibri" pitchFamily="34" charset="-120"/>
              </a:rPr>
              <a:t>Aufzählung</a:t>
            </a:r>
            <a:endParaRPr lang="en-US" sz="1700" dirty="0"/>
          </a:p>
        </p:txBody>
      </p:sp>
      <p:sp>
        <p:nvSpPr>
          <p:cNvPr id="21" name="Text 19"/>
          <p:cNvSpPr txBox="1"/>
          <p:nvPr/>
        </p:nvSpPr>
        <p:spPr>
          <a:xfrm>
            <a:off x="6446520" y="5532120"/>
            <a:ext cx="5029200" cy="59436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Komma zwischen „tut, denkt oder fühlt“ – aber keins vor „oder“</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AUFTRAG 1 · ALLEIN</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Kafkas Kernbotschaft</a:t>
            </a:r>
            <a:endParaRPr lang="en-US" sz="2700" dirty="0"/>
          </a:p>
        </p:txBody>
      </p:sp>
      <p:sp>
        <p:nvSpPr>
          <p:cNvPr id="5" name="Shape 3"/>
          <p:cNvSpPr/>
          <p:nvPr/>
        </p:nvSpPr>
        <p:spPr>
          <a:xfrm>
            <a:off x="10058400" y="164592"/>
            <a:ext cx="1737360" cy="640080"/>
          </a:xfrm>
          <a:prstGeom prst="roundRect">
            <a:avLst>
              <a:gd name="adj" fmla="val 17143"/>
            </a:avLst>
          </a:prstGeom>
          <a:solidFill>
            <a:srgbClr val="D9534F"/>
          </a:solidFill>
          <a:ln/>
        </p:spPr>
      </p:sp>
      <p:sp>
        <p:nvSpPr>
          <p:cNvPr id="6" name="Text 4"/>
          <p:cNvSpPr txBox="1"/>
          <p:nvPr/>
        </p:nvSpPr>
        <p:spPr>
          <a:xfrm>
            <a:off x="10058400" y="164592"/>
            <a:ext cx="173736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 Min.</a:t>
            </a:r>
            <a:endParaRPr lang="en-US" sz="2000" dirty="0"/>
          </a:p>
        </p:txBody>
      </p:sp>
      <p:sp>
        <p:nvSpPr>
          <p:cNvPr id="7" name="Text 5"/>
          <p:cNvSpPr txBox="1"/>
          <p:nvPr/>
        </p:nvSpPr>
        <p:spPr>
          <a:xfrm>
            <a:off x="548640" y="1371600"/>
            <a:ext cx="11064240" cy="914400"/>
          </a:xfrm>
          <a:prstGeom prst="rect">
            <a:avLst/>
          </a:prstGeom>
          <a:noFill/>
          <a:ln/>
        </p:spPr>
        <p:txBody>
          <a:bodyPr wrap="square" lIns="0" tIns="0" rIns="0" bIns="0" rtlCol="0" anchor="t"/>
          <a:lstStyle/>
          <a:p>
            <a:pPr indent="0" marL="0">
              <a:buNone/>
            </a:pPr>
            <a:r>
              <a:rPr lang="en-US" sz="2600" b="1" dirty="0">
                <a:solidFill>
                  <a:srgbClr val="1E2761"/>
                </a:solidFill>
                <a:latin typeface="Cambria" pitchFamily="34" charset="0"/>
                <a:ea typeface="Cambria" pitchFamily="34" charset="-122"/>
                <a:cs typeface="Cambria" pitchFamily="34" charset="-120"/>
              </a:rPr>
              <a:t>Fasse in einem eigenen Satz zusammen, worum Kafka seinen Vater bittet.</a:t>
            </a:r>
            <a:endParaRPr lang="en-US" sz="2600" dirty="0"/>
          </a:p>
        </p:txBody>
      </p:sp>
      <p:sp>
        <p:nvSpPr>
          <p:cNvPr id="8" name="Shape 6"/>
          <p:cNvSpPr/>
          <p:nvPr/>
        </p:nvSpPr>
        <p:spPr>
          <a:xfrm>
            <a:off x="548640" y="2651760"/>
            <a:ext cx="11064240" cy="1188720"/>
          </a:xfrm>
          <a:prstGeom prst="roundRect">
            <a:avLst>
              <a:gd name="adj" fmla="val 6154"/>
            </a:avLst>
          </a:prstGeom>
          <a:solidFill>
            <a:srgbClr val="F4F7FD"/>
          </a:solidFill>
          <a:ln/>
        </p:spPr>
      </p:sp>
      <p:sp>
        <p:nvSpPr>
          <p:cNvPr id="9" name="Text 7"/>
          <p:cNvSpPr txBox="1"/>
          <p:nvPr/>
        </p:nvSpPr>
        <p:spPr>
          <a:xfrm>
            <a:off x="822960" y="2651760"/>
            <a:ext cx="10607040" cy="1188720"/>
          </a:xfrm>
          <a:prstGeom prst="rect">
            <a:avLst/>
          </a:prstGeom>
          <a:noFill/>
          <a:ln/>
        </p:spPr>
        <p:txBody>
          <a:bodyPr wrap="square" lIns="0" tIns="0" rIns="0" bIns="0" rtlCol="0" anchor="ctr"/>
          <a:lstStyle/>
          <a:p>
            <a:pPr indent="0" marL="0">
              <a:buNone/>
            </a:pPr>
            <a:r>
              <a:rPr lang="en-US" sz="2400" i="1" dirty="0">
                <a:solidFill>
                  <a:srgbClr val="1E2761"/>
                </a:solidFill>
                <a:latin typeface="Calibri" pitchFamily="34" charset="0"/>
                <a:ea typeface="Calibri" pitchFamily="34" charset="-122"/>
                <a:cs typeface="Calibri" pitchFamily="34" charset="-120"/>
              </a:rPr>
              <a:t>Satzanfang:  „Kafka bittet seinen Vater, …“</a:t>
            </a:r>
            <a:endParaRPr lang="en-US" sz="2400" dirty="0"/>
          </a:p>
        </p:txBody>
      </p:sp>
      <p:sp>
        <p:nvSpPr>
          <p:cNvPr id="10" name="Text 8"/>
          <p:cNvSpPr txBox="1"/>
          <p:nvPr/>
        </p:nvSpPr>
        <p:spPr>
          <a:xfrm>
            <a:off x="548640" y="4206240"/>
            <a:ext cx="11064240" cy="548640"/>
          </a:xfrm>
          <a:prstGeom prst="rect">
            <a:avLst/>
          </a:prstGeom>
          <a:noFill/>
          <a:ln/>
        </p:spPr>
        <p:txBody>
          <a:bodyPr wrap="square" lIns="0" tIns="0" rIns="0" bIns="0" rtlCol="0" anchor="t"/>
          <a:lstStyle/>
          <a:p>
            <a:pPr indent="0" marL="0">
              <a:buNone/>
            </a:pPr>
            <a:r>
              <a:rPr lang="en-US" sz="2000" dirty="0">
                <a:solidFill>
                  <a:srgbClr val="5B6B8C"/>
                </a:solidFill>
                <a:latin typeface="Calibri" pitchFamily="34" charset="0"/>
                <a:ea typeface="Calibri" pitchFamily="34" charset="-122"/>
                <a:cs typeface="Calibri" pitchFamily="34" charset="-120"/>
              </a:rPr>
              <a:t>In den Hefter. Danach lesen zwei von euch ihren Satz vor.</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AUFTRAG 2 · ALLEIN</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Kafkas Appelle untersuchen</a:t>
            </a:r>
            <a:endParaRPr lang="en-US" sz="2700" dirty="0"/>
          </a:p>
        </p:txBody>
      </p:sp>
      <p:sp>
        <p:nvSpPr>
          <p:cNvPr id="5" name="Shape 3"/>
          <p:cNvSpPr/>
          <p:nvPr/>
        </p:nvSpPr>
        <p:spPr>
          <a:xfrm>
            <a:off x="10058400" y="164592"/>
            <a:ext cx="1737360" cy="640080"/>
          </a:xfrm>
          <a:prstGeom prst="roundRect">
            <a:avLst>
              <a:gd name="adj" fmla="val 17143"/>
            </a:avLst>
          </a:prstGeom>
          <a:solidFill>
            <a:srgbClr val="D9534F"/>
          </a:solidFill>
          <a:ln/>
        </p:spPr>
      </p:sp>
      <p:sp>
        <p:nvSpPr>
          <p:cNvPr id="6" name="Text 4"/>
          <p:cNvSpPr txBox="1"/>
          <p:nvPr/>
        </p:nvSpPr>
        <p:spPr>
          <a:xfrm>
            <a:off x="10058400" y="164592"/>
            <a:ext cx="173736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 Min.</a:t>
            </a:r>
            <a:endParaRPr lang="en-US" sz="2000" dirty="0"/>
          </a:p>
        </p:txBody>
      </p:sp>
      <p:sp>
        <p:nvSpPr>
          <p:cNvPr id="7" name="Text 5"/>
          <p:cNvSpPr txBox="1"/>
          <p:nvPr/>
        </p:nvSpPr>
        <p:spPr>
          <a:xfrm>
            <a:off x="548640" y="1188720"/>
            <a:ext cx="11064240" cy="502920"/>
          </a:xfrm>
          <a:prstGeom prst="rect">
            <a:avLst/>
          </a:prstGeom>
          <a:noFill/>
          <a:ln/>
        </p:spPr>
        <p:txBody>
          <a:bodyPr wrap="square" lIns="0" tIns="0" rIns="0" bIns="0" rtlCol="0" anchor="t"/>
          <a:lstStyle/>
          <a:p>
            <a:pPr indent="0" marL="0">
              <a:buNone/>
            </a:pPr>
            <a:r>
              <a:rPr lang="en-US" sz="2000" b="1" dirty="0">
                <a:solidFill>
                  <a:srgbClr val="1E2761"/>
                </a:solidFill>
                <a:latin typeface="Calibri" pitchFamily="34" charset="0"/>
                <a:ea typeface="Calibri" pitchFamily="34" charset="-122"/>
                <a:cs typeface="Calibri" pitchFamily="34" charset="-120"/>
              </a:rPr>
              <a:t>Beantworte die drei Fragen im Hefter. Notiere jeweils: offener oder verdeckter Appell?</a:t>
            </a:r>
            <a:endParaRPr lang="en-US" sz="2000" dirty="0"/>
          </a:p>
        </p:txBody>
      </p:sp>
      <p:sp>
        <p:nvSpPr>
          <p:cNvPr id="8" name="Shape 6"/>
          <p:cNvSpPr/>
          <p:nvPr/>
        </p:nvSpPr>
        <p:spPr>
          <a:xfrm>
            <a:off x="548640" y="1828800"/>
            <a:ext cx="11064240" cy="777240"/>
          </a:xfrm>
          <a:prstGeom prst="roundRect">
            <a:avLst>
              <a:gd name="adj" fmla="val 9412"/>
            </a:avLst>
          </a:prstGeom>
          <a:solidFill>
            <a:srgbClr val="F4F7FD"/>
          </a:solidFill>
          <a:ln w="9525">
            <a:solidFill>
              <a:srgbClr val="D5DCEC"/>
            </a:solidFill>
            <a:prstDash val="solid"/>
          </a:ln>
        </p:spPr>
      </p:sp>
      <p:sp>
        <p:nvSpPr>
          <p:cNvPr id="9" name="Text 7"/>
          <p:cNvSpPr txBox="1"/>
          <p:nvPr/>
        </p:nvSpPr>
        <p:spPr>
          <a:xfrm>
            <a:off x="685800" y="1828800"/>
            <a:ext cx="365760" cy="777240"/>
          </a:xfrm>
          <a:prstGeom prst="rect">
            <a:avLst/>
          </a:prstGeom>
          <a:noFill/>
          <a:ln/>
        </p:spPr>
        <p:txBody>
          <a:bodyPr wrap="square" lIns="0" tIns="0" rIns="0" bIns="0" rtlCol="0" anchor="ctr"/>
          <a:lstStyle/>
          <a:p>
            <a:pPr indent="0" marL="0">
              <a:buNone/>
            </a:pPr>
            <a:r>
              <a:rPr lang="en-US" sz="2200" b="1" dirty="0">
                <a:solidFill>
                  <a:srgbClr val="D9534F"/>
                </a:solidFill>
                <a:latin typeface="Calibri" pitchFamily="34" charset="0"/>
                <a:ea typeface="Calibri" pitchFamily="34" charset="-122"/>
                <a:cs typeface="Calibri" pitchFamily="34" charset="-120"/>
              </a:rPr>
              <a:t>1</a:t>
            </a:r>
            <a:endParaRPr lang="en-US" sz="2200" dirty="0"/>
          </a:p>
        </p:txBody>
      </p:sp>
      <p:sp>
        <p:nvSpPr>
          <p:cNvPr id="10" name="Text 8"/>
          <p:cNvSpPr txBox="1"/>
          <p:nvPr/>
        </p:nvSpPr>
        <p:spPr>
          <a:xfrm>
            <a:off x="1143000" y="1828800"/>
            <a:ext cx="5852160" cy="777240"/>
          </a:xfrm>
          <a:prstGeom prst="rect">
            <a:avLst/>
          </a:prstGeom>
          <a:noFill/>
          <a:ln/>
        </p:spPr>
        <p:txBody>
          <a:bodyPr wrap="square" lIns="0" tIns="0" rIns="0" bIns="0" rtlCol="0" anchor="ctr"/>
          <a:lstStyle/>
          <a:p>
            <a:pPr indent="0" marL="0">
              <a:buNone/>
            </a:pPr>
            <a:r>
              <a:rPr lang="en-US" sz="1600" i="1" dirty="0">
                <a:solidFill>
                  <a:srgbClr val="1E2761"/>
                </a:solidFill>
                <a:latin typeface="Cambria" pitchFamily="34" charset="0"/>
                <a:ea typeface="Cambria" pitchFamily="34" charset="-122"/>
                <a:cs typeface="Cambria" pitchFamily="34" charset="-120"/>
              </a:rPr>
              <a:t>„bitte“ (Z. 1) · „sollst Du aufhören“ (Z. 3)</a:t>
            </a:r>
            <a:endParaRPr lang="en-US" sz="1600" dirty="0"/>
          </a:p>
        </p:txBody>
      </p:sp>
      <p:sp>
        <p:nvSpPr>
          <p:cNvPr id="11" name="Text 9"/>
          <p:cNvSpPr txBox="1"/>
          <p:nvPr/>
        </p:nvSpPr>
        <p:spPr>
          <a:xfrm>
            <a:off x="7178040" y="1828800"/>
            <a:ext cx="4297680" cy="777240"/>
          </a:xfrm>
          <a:prstGeom prst="rect">
            <a:avLst/>
          </a:prstGeom>
          <a:noFill/>
          <a:ln/>
        </p:spPr>
        <p:txBody>
          <a:bodyPr wrap="square" lIns="0" tIns="0" rIns="0" bIns="0" rtlCol="0" anchor="ctr"/>
          <a:lstStyle/>
          <a:p>
            <a:pPr indent="0" marL="0">
              <a:buNone/>
            </a:pPr>
            <a:r>
              <a:rPr lang="en-US" sz="1800" b="1" dirty="0">
                <a:solidFill>
                  <a:srgbClr val="1E2761"/>
                </a:solidFill>
                <a:latin typeface="Calibri" pitchFamily="34" charset="0"/>
                <a:ea typeface="Calibri" pitchFamily="34" charset="-122"/>
                <a:cs typeface="Calibri" pitchFamily="34" charset="-120"/>
              </a:rPr>
              <a:t>Was genau soll der Vater tun?</a:t>
            </a:r>
            <a:endParaRPr lang="en-US" sz="1800" dirty="0"/>
          </a:p>
        </p:txBody>
      </p:sp>
      <p:sp>
        <p:nvSpPr>
          <p:cNvPr id="12" name="Shape 10"/>
          <p:cNvSpPr/>
          <p:nvPr/>
        </p:nvSpPr>
        <p:spPr>
          <a:xfrm>
            <a:off x="548640" y="2743200"/>
            <a:ext cx="11064240" cy="777240"/>
          </a:xfrm>
          <a:prstGeom prst="roundRect">
            <a:avLst>
              <a:gd name="adj" fmla="val 9412"/>
            </a:avLst>
          </a:prstGeom>
          <a:solidFill>
            <a:srgbClr val="FFFFFF"/>
          </a:solidFill>
          <a:ln w="9525">
            <a:solidFill>
              <a:srgbClr val="D5DCEC"/>
            </a:solidFill>
            <a:prstDash val="solid"/>
          </a:ln>
        </p:spPr>
      </p:sp>
      <p:sp>
        <p:nvSpPr>
          <p:cNvPr id="13" name="Text 11"/>
          <p:cNvSpPr txBox="1"/>
          <p:nvPr/>
        </p:nvSpPr>
        <p:spPr>
          <a:xfrm>
            <a:off x="685800" y="2743200"/>
            <a:ext cx="365760" cy="777240"/>
          </a:xfrm>
          <a:prstGeom prst="rect">
            <a:avLst/>
          </a:prstGeom>
          <a:noFill/>
          <a:ln/>
        </p:spPr>
        <p:txBody>
          <a:bodyPr wrap="square" lIns="0" tIns="0" rIns="0" bIns="0" rtlCol="0" anchor="ctr"/>
          <a:lstStyle/>
          <a:p>
            <a:pPr indent="0" marL="0">
              <a:buNone/>
            </a:pPr>
            <a:r>
              <a:rPr lang="en-US" sz="2200" b="1" dirty="0">
                <a:solidFill>
                  <a:srgbClr val="D9534F"/>
                </a:solidFill>
                <a:latin typeface="Calibri" pitchFamily="34" charset="0"/>
                <a:ea typeface="Calibri" pitchFamily="34" charset="-122"/>
                <a:cs typeface="Calibri" pitchFamily="34" charset="-120"/>
              </a:rPr>
              <a:t>2</a:t>
            </a:r>
            <a:endParaRPr lang="en-US" sz="2200" dirty="0"/>
          </a:p>
        </p:txBody>
      </p:sp>
      <p:sp>
        <p:nvSpPr>
          <p:cNvPr id="14" name="Text 12"/>
          <p:cNvSpPr txBox="1"/>
          <p:nvPr/>
        </p:nvSpPr>
        <p:spPr>
          <a:xfrm>
            <a:off x="1143000" y="2743200"/>
            <a:ext cx="5852160" cy="777240"/>
          </a:xfrm>
          <a:prstGeom prst="rect">
            <a:avLst/>
          </a:prstGeom>
          <a:noFill/>
          <a:ln/>
        </p:spPr>
        <p:txBody>
          <a:bodyPr wrap="square" lIns="0" tIns="0" rIns="0" bIns="0" rtlCol="0" anchor="ctr"/>
          <a:lstStyle/>
          <a:p>
            <a:pPr indent="0" marL="0">
              <a:buNone/>
            </a:pPr>
            <a:r>
              <a:rPr lang="en-US" sz="1600" i="1" dirty="0">
                <a:solidFill>
                  <a:srgbClr val="1E2761"/>
                </a:solidFill>
                <a:latin typeface="Cambria" pitchFamily="34" charset="0"/>
                <a:ea typeface="Cambria" pitchFamily="34" charset="-122"/>
                <a:cs typeface="Cambria" pitchFamily="34" charset="-120"/>
              </a:rPr>
              <a:t>„ein freundliches Wort, ein stilles Bei-der-Hand-Nehmen, ein guter Blick“ (Z. 8 f.)</a:t>
            </a:r>
            <a:endParaRPr lang="en-US" sz="1600" dirty="0"/>
          </a:p>
        </p:txBody>
      </p:sp>
      <p:sp>
        <p:nvSpPr>
          <p:cNvPr id="15" name="Text 13"/>
          <p:cNvSpPr txBox="1"/>
          <p:nvPr/>
        </p:nvSpPr>
        <p:spPr>
          <a:xfrm>
            <a:off x="7178040" y="2743200"/>
            <a:ext cx="4297680" cy="777240"/>
          </a:xfrm>
          <a:prstGeom prst="rect">
            <a:avLst/>
          </a:prstGeom>
          <a:noFill/>
          <a:ln/>
        </p:spPr>
        <p:txBody>
          <a:bodyPr wrap="square" lIns="0" tIns="0" rIns="0" bIns="0" rtlCol="0" anchor="ctr"/>
          <a:lstStyle/>
          <a:p>
            <a:pPr indent="0" marL="0">
              <a:buNone/>
            </a:pPr>
            <a:r>
              <a:rPr lang="en-US" sz="1800" b="1" dirty="0">
                <a:solidFill>
                  <a:srgbClr val="1E2761"/>
                </a:solidFill>
                <a:latin typeface="Calibri" pitchFamily="34" charset="0"/>
                <a:ea typeface="Calibri" pitchFamily="34" charset="-122"/>
                <a:cs typeface="Calibri" pitchFamily="34" charset="-120"/>
              </a:rPr>
              <a:t>Was wünscht sich Kafka – ohne es direkt zu fordern?</a:t>
            </a:r>
            <a:endParaRPr lang="en-US" sz="1800" dirty="0"/>
          </a:p>
        </p:txBody>
      </p:sp>
      <p:sp>
        <p:nvSpPr>
          <p:cNvPr id="16" name="Shape 14"/>
          <p:cNvSpPr/>
          <p:nvPr/>
        </p:nvSpPr>
        <p:spPr>
          <a:xfrm>
            <a:off x="548640" y="3657600"/>
            <a:ext cx="11064240" cy="777240"/>
          </a:xfrm>
          <a:prstGeom prst="roundRect">
            <a:avLst>
              <a:gd name="adj" fmla="val 9412"/>
            </a:avLst>
          </a:prstGeom>
          <a:solidFill>
            <a:srgbClr val="F4F7FD"/>
          </a:solidFill>
          <a:ln w="9525">
            <a:solidFill>
              <a:srgbClr val="D5DCEC"/>
            </a:solidFill>
            <a:prstDash val="solid"/>
          </a:ln>
        </p:spPr>
      </p:sp>
      <p:sp>
        <p:nvSpPr>
          <p:cNvPr id="17" name="Text 15"/>
          <p:cNvSpPr txBox="1"/>
          <p:nvPr/>
        </p:nvSpPr>
        <p:spPr>
          <a:xfrm>
            <a:off x="685800" y="3657600"/>
            <a:ext cx="365760" cy="777240"/>
          </a:xfrm>
          <a:prstGeom prst="rect">
            <a:avLst/>
          </a:prstGeom>
          <a:noFill/>
          <a:ln/>
        </p:spPr>
        <p:txBody>
          <a:bodyPr wrap="square" lIns="0" tIns="0" rIns="0" bIns="0" rtlCol="0" anchor="ctr"/>
          <a:lstStyle/>
          <a:p>
            <a:pPr indent="0" marL="0">
              <a:buNone/>
            </a:pPr>
            <a:r>
              <a:rPr lang="en-US" sz="2200" b="1" dirty="0">
                <a:solidFill>
                  <a:srgbClr val="D9534F"/>
                </a:solidFill>
                <a:latin typeface="Calibri" pitchFamily="34" charset="0"/>
                <a:ea typeface="Calibri" pitchFamily="34" charset="-122"/>
                <a:cs typeface="Calibri" pitchFamily="34" charset="-120"/>
              </a:rPr>
              <a:t>3</a:t>
            </a:r>
            <a:endParaRPr lang="en-US" sz="2200" dirty="0"/>
          </a:p>
        </p:txBody>
      </p:sp>
      <p:sp>
        <p:nvSpPr>
          <p:cNvPr id="18" name="Text 16"/>
          <p:cNvSpPr txBox="1"/>
          <p:nvPr/>
        </p:nvSpPr>
        <p:spPr>
          <a:xfrm>
            <a:off x="1143000" y="3657600"/>
            <a:ext cx="5852160" cy="777240"/>
          </a:xfrm>
          <a:prstGeom prst="rect">
            <a:avLst/>
          </a:prstGeom>
          <a:noFill/>
          <a:ln/>
        </p:spPr>
        <p:txBody>
          <a:bodyPr wrap="square" lIns="0" tIns="0" rIns="0" bIns="0" rtlCol="0" anchor="ctr"/>
          <a:lstStyle/>
          <a:p>
            <a:pPr indent="0" marL="0">
              <a:buNone/>
            </a:pPr>
            <a:r>
              <a:rPr lang="en-US" sz="1600" i="1" dirty="0">
                <a:solidFill>
                  <a:srgbClr val="1E2761"/>
                </a:solidFill>
                <a:latin typeface="Cambria" pitchFamily="34" charset="0"/>
                <a:ea typeface="Cambria" pitchFamily="34" charset="-122"/>
                <a:cs typeface="Cambria" pitchFamily="34" charset="-120"/>
              </a:rPr>
              <a:t>„niemals … an eine Schuld Deinerseits“ (Z. 2)</a:t>
            </a:r>
            <a:endParaRPr lang="en-US" sz="1600" dirty="0"/>
          </a:p>
        </p:txBody>
      </p:sp>
      <p:sp>
        <p:nvSpPr>
          <p:cNvPr id="19" name="Text 17"/>
          <p:cNvSpPr txBox="1"/>
          <p:nvPr/>
        </p:nvSpPr>
        <p:spPr>
          <a:xfrm>
            <a:off x="7178040" y="3657600"/>
            <a:ext cx="4297680" cy="777240"/>
          </a:xfrm>
          <a:prstGeom prst="rect">
            <a:avLst/>
          </a:prstGeom>
          <a:noFill/>
          <a:ln/>
        </p:spPr>
        <p:txBody>
          <a:bodyPr wrap="square" lIns="0" tIns="0" rIns="0" bIns="0" rtlCol="0" anchor="ctr"/>
          <a:lstStyle/>
          <a:p>
            <a:pPr indent="0" marL="0">
              <a:buNone/>
            </a:pPr>
            <a:r>
              <a:rPr lang="en-US" sz="1800" b="1" dirty="0">
                <a:solidFill>
                  <a:srgbClr val="1E2761"/>
                </a:solidFill>
                <a:latin typeface="Calibri" pitchFamily="34" charset="0"/>
                <a:ea typeface="Calibri" pitchFamily="34" charset="-122"/>
                <a:cs typeface="Calibri" pitchFamily="34" charset="-120"/>
              </a:rPr>
              <a:t>Warum sichert Kafka seine Bitte so ab?</a:t>
            </a:r>
            <a:endParaRPr lang="en-US" sz="1800" dirty="0"/>
          </a:p>
        </p:txBody>
      </p:sp>
      <p:sp>
        <p:nvSpPr>
          <p:cNvPr id="20" name="Shape 18"/>
          <p:cNvSpPr/>
          <p:nvPr/>
        </p:nvSpPr>
        <p:spPr>
          <a:xfrm>
            <a:off x="548640" y="4754880"/>
            <a:ext cx="11064240" cy="1783080"/>
          </a:xfrm>
          <a:prstGeom prst="roundRect">
            <a:avLst>
              <a:gd name="adj" fmla="val 4103"/>
            </a:avLst>
          </a:prstGeom>
          <a:solidFill>
            <a:srgbClr val="FFF8EC"/>
          </a:solidFill>
          <a:ln/>
        </p:spPr>
      </p:sp>
      <p:sp>
        <p:nvSpPr>
          <p:cNvPr id="21" name="Text 19"/>
          <p:cNvSpPr txBox="1"/>
          <p:nvPr/>
        </p:nvSpPr>
        <p:spPr>
          <a:xfrm>
            <a:off x="822960" y="4846320"/>
            <a:ext cx="5486400" cy="365760"/>
          </a:xfrm>
          <a:prstGeom prst="rect">
            <a:avLst/>
          </a:prstGeom>
          <a:noFill/>
          <a:ln/>
        </p:spPr>
        <p:txBody>
          <a:bodyPr wrap="square" lIns="0" tIns="0" rIns="0" bIns="0" rtlCol="0" anchor="t"/>
          <a:lstStyle/>
          <a:p>
            <a:pPr indent="0" marL="0">
              <a:buNone/>
            </a:pPr>
            <a:r>
              <a:rPr lang="en-US" sz="1800" b="1" dirty="0">
                <a:solidFill>
                  <a:srgbClr val="E8A33D"/>
                </a:solidFill>
                <a:latin typeface="Cambria" pitchFamily="34" charset="0"/>
                <a:ea typeface="Cambria" pitchFamily="34" charset="-122"/>
                <a:cs typeface="Cambria" pitchFamily="34" charset="-120"/>
              </a:rPr>
              <a:t>Formulierungshilfen</a:t>
            </a:r>
            <a:endParaRPr lang="en-US" sz="1800" dirty="0"/>
          </a:p>
        </p:txBody>
      </p:sp>
      <p:sp>
        <p:nvSpPr>
          <p:cNvPr id="22" name="Text 20"/>
          <p:cNvSpPr txBox="1"/>
          <p:nvPr/>
        </p:nvSpPr>
        <p:spPr>
          <a:xfrm>
            <a:off x="822960" y="5257800"/>
            <a:ext cx="10515600" cy="1188720"/>
          </a:xfrm>
          <a:prstGeom prst="rect">
            <a:avLst/>
          </a:prstGeom>
          <a:noFill/>
          <a:ln/>
        </p:spPr>
        <p:txBody>
          <a:bodyPr wrap="square" lIns="0" tIns="0" rIns="0" bIns="0" rtlCol="0" anchor="t"/>
          <a:lstStyle/>
          <a:p>
            <a:pPr indent="0" marL="0">
              <a:buNone/>
            </a:pPr>
            <a:r>
              <a:rPr lang="en-US" sz="1700" i="1" dirty="0">
                <a:solidFill>
                  <a:srgbClr val="1E2761"/>
                </a:solidFill>
                <a:latin typeface="Calibri" pitchFamily="34" charset="0"/>
                <a:ea typeface="Calibri" pitchFamily="34" charset="-122"/>
                <a:cs typeface="Calibri" pitchFamily="34" charset="-120"/>
              </a:rPr>
              <a:t>Ein offener Appell zeigt sich in … (Z. …).  ·  Verdeckt appelliert Kafka, wenn er …  ·  Damit will er erreichen, dass der Vater …  ·  Seine Bitte sichert er ab, indem er …</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TRANSFER · ALLEIN</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Kafkas Rede an den Vater</a:t>
            </a:r>
            <a:endParaRPr lang="en-US" sz="2700" dirty="0"/>
          </a:p>
        </p:txBody>
      </p:sp>
      <p:sp>
        <p:nvSpPr>
          <p:cNvPr id="5" name="Shape 3"/>
          <p:cNvSpPr/>
          <p:nvPr/>
        </p:nvSpPr>
        <p:spPr>
          <a:xfrm>
            <a:off x="10058400" y="164592"/>
            <a:ext cx="1737360" cy="640080"/>
          </a:xfrm>
          <a:prstGeom prst="roundRect">
            <a:avLst>
              <a:gd name="adj" fmla="val 17143"/>
            </a:avLst>
          </a:prstGeom>
          <a:solidFill>
            <a:srgbClr val="D9534F"/>
          </a:solidFill>
          <a:ln/>
        </p:spPr>
      </p:sp>
      <p:sp>
        <p:nvSpPr>
          <p:cNvPr id="6" name="Text 4"/>
          <p:cNvSpPr txBox="1"/>
          <p:nvPr/>
        </p:nvSpPr>
        <p:spPr>
          <a:xfrm>
            <a:off x="10058400" y="164592"/>
            <a:ext cx="173736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15 Min.</a:t>
            </a:r>
            <a:endParaRPr lang="en-US" sz="2000" dirty="0"/>
          </a:p>
        </p:txBody>
      </p:sp>
      <p:sp>
        <p:nvSpPr>
          <p:cNvPr id="7" name="Shape 5"/>
          <p:cNvSpPr/>
          <p:nvPr/>
        </p:nvSpPr>
        <p:spPr>
          <a:xfrm>
            <a:off x="548640" y="1188720"/>
            <a:ext cx="11064240" cy="1143000"/>
          </a:xfrm>
          <a:prstGeom prst="roundRect">
            <a:avLst>
              <a:gd name="adj" fmla="val 6400"/>
            </a:avLst>
          </a:prstGeom>
          <a:solidFill>
            <a:srgbClr val="F4F7FD"/>
          </a:solidFill>
          <a:ln/>
        </p:spPr>
      </p:sp>
      <p:sp>
        <p:nvSpPr>
          <p:cNvPr id="8" name="Text 6"/>
          <p:cNvSpPr txBox="1"/>
          <p:nvPr/>
        </p:nvSpPr>
        <p:spPr>
          <a:xfrm>
            <a:off x="777240" y="1261872"/>
            <a:ext cx="10607040" cy="77724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Max Brods Brief hat gewirkt: Hermann Kafka ist bereit, seinem Sohn zuzuhören. Schreibe die Rede, die Franz jetzt an seinen Vater hält.</a:t>
            </a:r>
            <a:endParaRPr lang="en-US" sz="2100" dirty="0"/>
          </a:p>
        </p:txBody>
      </p:sp>
      <p:sp>
        <p:nvSpPr>
          <p:cNvPr id="9" name="Text 7"/>
          <p:cNvSpPr txBox="1"/>
          <p:nvPr/>
        </p:nvSpPr>
        <p:spPr>
          <a:xfrm>
            <a:off x="777240" y="1965960"/>
            <a:ext cx="10607040" cy="320040"/>
          </a:xfrm>
          <a:prstGeom prst="rect">
            <a:avLst/>
          </a:prstGeom>
          <a:noFill/>
          <a:ln/>
        </p:spPr>
        <p:txBody>
          <a:bodyPr wrap="square" lIns="0" tIns="0" rIns="0" bIns="0" rtlCol="0" anchor="t"/>
          <a:lstStyle/>
          <a:p>
            <a:pPr indent="0" marL="0">
              <a:buNone/>
            </a:pPr>
            <a:r>
              <a:rPr lang="en-US" sz="1600" i="1" dirty="0">
                <a:solidFill>
                  <a:srgbClr val="5B6B8C"/>
                </a:solidFill>
                <a:latin typeface="Calibri" pitchFamily="34" charset="0"/>
                <a:ea typeface="Calibri" pitchFamily="34" charset="-122"/>
                <a:cs typeface="Calibri" pitchFamily="34" charset="-120"/>
              </a:rPr>
              <a:t>8–10 Sätze · allein · in den Hefter</a:t>
            </a:r>
            <a:endParaRPr lang="en-US" sz="1600" dirty="0"/>
          </a:p>
        </p:txBody>
      </p:sp>
      <p:sp>
        <p:nvSpPr>
          <p:cNvPr id="10" name="Text 8"/>
          <p:cNvSpPr txBox="1"/>
          <p:nvPr/>
        </p:nvSpPr>
        <p:spPr>
          <a:xfrm>
            <a:off x="548640" y="2514600"/>
            <a:ext cx="7315200" cy="411480"/>
          </a:xfrm>
          <a:prstGeom prst="rect">
            <a:avLst/>
          </a:prstGeom>
          <a:noFill/>
          <a:ln/>
        </p:spPr>
        <p:txBody>
          <a:bodyPr wrap="square" lIns="0" tIns="0" rIns="0" bIns="0" rtlCol="0" anchor="t"/>
          <a:lstStyle/>
          <a:p>
            <a:pPr indent="0" marL="0">
              <a:buNone/>
            </a:pPr>
            <a:r>
              <a:rPr lang="en-US" sz="2000" b="1" dirty="0">
                <a:solidFill>
                  <a:srgbClr val="D9534F"/>
                </a:solidFill>
                <a:latin typeface="Cambria" pitchFamily="34" charset="0"/>
                <a:ea typeface="Cambria" pitchFamily="34" charset="-122"/>
                <a:cs typeface="Cambria" pitchFamily="34" charset="-120"/>
              </a:rPr>
              <a:t>Deine Rede muss enthalten:</a:t>
            </a:r>
            <a:endParaRPr lang="en-US" sz="2000" dirty="0"/>
          </a:p>
        </p:txBody>
      </p:sp>
      <p:sp>
        <p:nvSpPr>
          <p:cNvPr id="11" name="Shape 9"/>
          <p:cNvSpPr/>
          <p:nvPr/>
        </p:nvSpPr>
        <p:spPr>
          <a:xfrm>
            <a:off x="548640" y="3017520"/>
            <a:ext cx="548640" cy="548640"/>
          </a:xfrm>
          <a:prstGeom prst="roundRect">
            <a:avLst>
              <a:gd name="adj" fmla="val 50000"/>
            </a:avLst>
          </a:prstGeom>
          <a:solidFill>
            <a:srgbClr val="1E2761"/>
          </a:solidFill>
          <a:ln/>
        </p:spPr>
      </p:sp>
      <p:sp>
        <p:nvSpPr>
          <p:cNvPr id="12" name="Text 10"/>
          <p:cNvSpPr txBox="1"/>
          <p:nvPr/>
        </p:nvSpPr>
        <p:spPr>
          <a:xfrm>
            <a:off x="548640" y="30175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3" name="Text 11"/>
          <p:cNvSpPr txBox="1"/>
          <p:nvPr/>
        </p:nvSpPr>
        <p:spPr>
          <a:xfrm>
            <a:off x="1280160" y="3017520"/>
            <a:ext cx="10332720" cy="548640"/>
          </a:xfrm>
          <a:prstGeom prst="rect">
            <a:avLst/>
          </a:prstGeom>
          <a:noFill/>
          <a:ln/>
        </p:spPr>
        <p:txBody>
          <a:bodyPr wrap="square" lIns="0" tIns="0" rIns="0" bIns="0" rtlCol="0" anchor="ctr"/>
          <a:lstStyle/>
          <a:p>
            <a:pPr indent="0" marL="0">
              <a:buNone/>
            </a:pPr>
            <a:r>
              <a:rPr lang="en-US" sz="1900" b="1" dirty="0">
                <a:solidFill>
                  <a:srgbClr val="1E2761"/>
                </a:solidFill>
                <a:latin typeface="Calibri" pitchFamily="34" charset="0"/>
                <a:ea typeface="Calibri" pitchFamily="34" charset="-122"/>
                <a:cs typeface="Calibri" pitchFamily="34" charset="-120"/>
              </a:rPr>
              <a:t>Anrede:  </a:t>
            </a:r>
            <a:pPr indent="0" marL="0">
              <a:buNone/>
            </a:pPr>
            <a:r>
              <a:rPr lang="en-US" sz="1900" dirty="0">
                <a:solidFill>
                  <a:srgbClr val="1E2761"/>
                </a:solidFill>
                <a:latin typeface="Calibri" pitchFamily="34" charset="0"/>
                <a:ea typeface="Calibri" pitchFamily="34" charset="-122"/>
                <a:cs typeface="Calibri" pitchFamily="34" charset="-120"/>
              </a:rPr>
              <a:t>Franz spricht den Vater direkt an („Vater, …“).</a:t>
            </a:r>
            <a:endParaRPr lang="en-US" sz="1900" dirty="0"/>
          </a:p>
        </p:txBody>
      </p:sp>
      <p:sp>
        <p:nvSpPr>
          <p:cNvPr id="14" name="Shape 12"/>
          <p:cNvSpPr/>
          <p:nvPr/>
        </p:nvSpPr>
        <p:spPr>
          <a:xfrm>
            <a:off x="548640" y="3703320"/>
            <a:ext cx="548640" cy="548640"/>
          </a:xfrm>
          <a:prstGeom prst="roundRect">
            <a:avLst>
              <a:gd name="adj" fmla="val 50000"/>
            </a:avLst>
          </a:prstGeom>
          <a:solidFill>
            <a:srgbClr val="1E2761"/>
          </a:solidFill>
          <a:ln/>
        </p:spPr>
      </p:sp>
      <p:sp>
        <p:nvSpPr>
          <p:cNvPr id="15" name="Text 13"/>
          <p:cNvSpPr txBox="1"/>
          <p:nvPr/>
        </p:nvSpPr>
        <p:spPr>
          <a:xfrm>
            <a:off x="548640" y="37033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6" name="Text 14"/>
          <p:cNvSpPr txBox="1"/>
          <p:nvPr/>
        </p:nvSpPr>
        <p:spPr>
          <a:xfrm>
            <a:off x="1280160" y="3703320"/>
            <a:ext cx="10332720" cy="548640"/>
          </a:xfrm>
          <a:prstGeom prst="rect">
            <a:avLst/>
          </a:prstGeom>
          <a:noFill/>
          <a:ln/>
        </p:spPr>
        <p:txBody>
          <a:bodyPr wrap="square" lIns="0" tIns="0" rIns="0" bIns="0" rtlCol="0" anchor="ctr"/>
          <a:lstStyle/>
          <a:p>
            <a:pPr indent="0" marL="0">
              <a:buNone/>
            </a:pPr>
            <a:r>
              <a:rPr lang="en-US" sz="1900" b="1" dirty="0">
                <a:solidFill>
                  <a:srgbClr val="1E2761"/>
                </a:solidFill>
                <a:latin typeface="Calibri" pitchFamily="34" charset="0"/>
                <a:ea typeface="Calibri" pitchFamily="34" charset="-122"/>
                <a:cs typeface="Calibri" pitchFamily="34" charset="-120"/>
              </a:rPr>
              <a:t>Ich-Botschaften:  </a:t>
            </a:r>
            <a:pPr indent="0" marL="0">
              <a:buNone/>
            </a:pPr>
            <a:r>
              <a:rPr lang="en-US" sz="1900" dirty="0">
                <a:solidFill>
                  <a:srgbClr val="1E2761"/>
                </a:solidFill>
                <a:latin typeface="Calibri" pitchFamily="34" charset="0"/>
                <a:ea typeface="Calibri" pitchFamily="34" charset="-122"/>
                <a:cs typeface="Calibri" pitchFamily="34" charset="-120"/>
              </a:rPr>
              <a:t>mindestens zwei: Gefühl + Wirkung („Ich fühle mich …, wenn Du …“).</a:t>
            </a:r>
            <a:endParaRPr lang="en-US" sz="1900" dirty="0"/>
          </a:p>
        </p:txBody>
      </p:sp>
      <p:sp>
        <p:nvSpPr>
          <p:cNvPr id="17" name="Shape 15"/>
          <p:cNvSpPr/>
          <p:nvPr/>
        </p:nvSpPr>
        <p:spPr>
          <a:xfrm>
            <a:off x="548640" y="4389120"/>
            <a:ext cx="548640" cy="548640"/>
          </a:xfrm>
          <a:prstGeom prst="roundRect">
            <a:avLst>
              <a:gd name="adj" fmla="val 50000"/>
            </a:avLst>
          </a:prstGeom>
          <a:solidFill>
            <a:srgbClr val="1E2761"/>
          </a:solidFill>
          <a:ln/>
        </p:spPr>
      </p:sp>
      <p:sp>
        <p:nvSpPr>
          <p:cNvPr id="18" name="Text 16"/>
          <p:cNvSpPr txBox="1"/>
          <p:nvPr/>
        </p:nvSpPr>
        <p:spPr>
          <a:xfrm>
            <a:off x="548640" y="43891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9" name="Text 17"/>
          <p:cNvSpPr txBox="1"/>
          <p:nvPr/>
        </p:nvSpPr>
        <p:spPr>
          <a:xfrm>
            <a:off x="1280160" y="4389120"/>
            <a:ext cx="10332720" cy="548640"/>
          </a:xfrm>
          <a:prstGeom prst="rect">
            <a:avLst/>
          </a:prstGeom>
          <a:noFill/>
          <a:ln/>
        </p:spPr>
        <p:txBody>
          <a:bodyPr wrap="square" lIns="0" tIns="0" rIns="0" bIns="0" rtlCol="0" anchor="ctr"/>
          <a:lstStyle/>
          <a:p>
            <a:pPr indent="0" marL="0">
              <a:buNone/>
            </a:pPr>
            <a:r>
              <a:rPr lang="en-US" sz="1900" b="1" dirty="0">
                <a:solidFill>
                  <a:srgbClr val="1E2761"/>
                </a:solidFill>
                <a:latin typeface="Calibri" pitchFamily="34" charset="0"/>
                <a:ea typeface="Calibri" pitchFamily="34" charset="-122"/>
                <a:cs typeface="Calibri" pitchFamily="34" charset="-120"/>
              </a:rPr>
              <a:t>Offener Appell:  </a:t>
            </a:r>
            <a:pPr indent="0" marL="0">
              <a:buNone/>
            </a:pPr>
            <a:r>
              <a:rPr lang="en-US" sz="1900" dirty="0">
                <a:solidFill>
                  <a:srgbClr val="1E2761"/>
                </a:solidFill>
                <a:latin typeface="Calibri" pitchFamily="34" charset="0"/>
                <a:ea typeface="Calibri" pitchFamily="34" charset="-122"/>
                <a:cs typeface="Calibri" pitchFamily="34" charset="-120"/>
              </a:rPr>
              <a:t>eine klare Bitte: Was soll der Vater künftig tun?</a:t>
            </a:r>
            <a:endParaRPr lang="en-US" sz="1900" dirty="0"/>
          </a:p>
        </p:txBody>
      </p:sp>
      <p:sp>
        <p:nvSpPr>
          <p:cNvPr id="20" name="Shape 18"/>
          <p:cNvSpPr/>
          <p:nvPr/>
        </p:nvSpPr>
        <p:spPr>
          <a:xfrm>
            <a:off x="548640" y="5074920"/>
            <a:ext cx="548640" cy="548640"/>
          </a:xfrm>
          <a:prstGeom prst="roundRect">
            <a:avLst>
              <a:gd name="adj" fmla="val 50000"/>
            </a:avLst>
          </a:prstGeom>
          <a:solidFill>
            <a:srgbClr val="1E2761"/>
          </a:solidFill>
          <a:ln/>
        </p:spPr>
      </p:sp>
      <p:sp>
        <p:nvSpPr>
          <p:cNvPr id="21" name="Text 19"/>
          <p:cNvSpPr txBox="1"/>
          <p:nvPr/>
        </p:nvSpPr>
        <p:spPr>
          <a:xfrm>
            <a:off x="548640" y="50749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2" name="Text 20"/>
          <p:cNvSpPr txBox="1"/>
          <p:nvPr/>
        </p:nvSpPr>
        <p:spPr>
          <a:xfrm>
            <a:off x="1280160" y="5074920"/>
            <a:ext cx="10332720" cy="548640"/>
          </a:xfrm>
          <a:prstGeom prst="rect">
            <a:avLst/>
          </a:prstGeom>
          <a:noFill/>
          <a:ln/>
        </p:spPr>
        <p:txBody>
          <a:bodyPr wrap="square" lIns="0" tIns="0" rIns="0" bIns="0" rtlCol="0" anchor="ctr"/>
          <a:lstStyle/>
          <a:p>
            <a:pPr indent="0" marL="0">
              <a:buNone/>
            </a:pPr>
            <a:r>
              <a:rPr lang="en-US" sz="1900" b="1" dirty="0">
                <a:solidFill>
                  <a:srgbClr val="1E2761"/>
                </a:solidFill>
                <a:latin typeface="Calibri" pitchFamily="34" charset="0"/>
                <a:ea typeface="Calibri" pitchFamily="34" charset="-122"/>
                <a:cs typeface="Calibri" pitchFamily="34" charset="-120"/>
              </a:rPr>
              <a:t>Bezug zum Text:  </a:t>
            </a:r>
            <a:pPr indent="0" marL="0">
              <a:buNone/>
            </a:pPr>
            <a:r>
              <a:rPr lang="en-US" sz="1900" dirty="0">
                <a:solidFill>
                  <a:srgbClr val="1E2761"/>
                </a:solidFill>
                <a:latin typeface="Calibri" pitchFamily="34" charset="0"/>
                <a:ea typeface="Calibri" pitchFamily="34" charset="-122"/>
                <a:cs typeface="Calibri" pitchFamily="34" charset="-120"/>
              </a:rPr>
              <a:t>Kafkas Wünsche aus dem Brief kommen vor (Wort, Hand, Blick).</a:t>
            </a:r>
            <a:endParaRPr lang="en-US" sz="1900" dirty="0"/>
          </a:p>
        </p:txBody>
      </p:sp>
      <p:sp>
        <p:nvSpPr>
          <p:cNvPr id="23" name="Shape 21"/>
          <p:cNvSpPr/>
          <p:nvPr/>
        </p:nvSpPr>
        <p:spPr>
          <a:xfrm>
            <a:off x="548640" y="5760720"/>
            <a:ext cx="548640" cy="548640"/>
          </a:xfrm>
          <a:prstGeom prst="roundRect">
            <a:avLst>
              <a:gd name="adj" fmla="val 50000"/>
            </a:avLst>
          </a:prstGeom>
          <a:solidFill>
            <a:srgbClr val="1E2761"/>
          </a:solidFill>
          <a:ln/>
        </p:spPr>
      </p:sp>
      <p:sp>
        <p:nvSpPr>
          <p:cNvPr id="24" name="Text 22"/>
          <p:cNvSpPr txBox="1"/>
          <p:nvPr/>
        </p:nvSpPr>
        <p:spPr>
          <a:xfrm>
            <a:off x="548640" y="57607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5" name="Text 23"/>
          <p:cNvSpPr txBox="1"/>
          <p:nvPr/>
        </p:nvSpPr>
        <p:spPr>
          <a:xfrm>
            <a:off x="1280160" y="5760720"/>
            <a:ext cx="10332720" cy="548640"/>
          </a:xfrm>
          <a:prstGeom prst="rect">
            <a:avLst/>
          </a:prstGeom>
          <a:noFill/>
          <a:ln/>
        </p:spPr>
        <p:txBody>
          <a:bodyPr wrap="square" lIns="0" tIns="0" rIns="0" bIns="0" rtlCol="0" anchor="ctr"/>
          <a:lstStyle/>
          <a:p>
            <a:pPr indent="0" marL="0">
              <a:buNone/>
            </a:pPr>
            <a:r>
              <a:rPr lang="en-US" sz="1900" b="1" dirty="0">
                <a:solidFill>
                  <a:srgbClr val="1E2761"/>
                </a:solidFill>
                <a:latin typeface="Calibri" pitchFamily="34" charset="0"/>
                <a:ea typeface="Calibri" pitchFamily="34" charset="-122"/>
                <a:cs typeface="Calibri" pitchFamily="34" charset="-120"/>
              </a:rPr>
              <a:t>Respektvoller Ton:  </a:t>
            </a:r>
            <a:pPr indent="0" marL="0">
              <a:buNone/>
            </a:pPr>
            <a:r>
              <a:rPr lang="en-US" sz="1900" dirty="0">
                <a:solidFill>
                  <a:srgbClr val="1E2761"/>
                </a:solidFill>
                <a:latin typeface="Calibri" pitchFamily="34" charset="0"/>
                <a:ea typeface="Calibri" pitchFamily="34" charset="-122"/>
                <a:cs typeface="Calibri" pitchFamily="34" charset="-120"/>
              </a:rPr>
              <a:t>keine Vorwürfe – Kafka sucht keine Schuld.</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VORTRAG · ZUHÖREN</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Hört Franz zu – und hakt ab</a:t>
            </a:r>
            <a:endParaRPr lang="en-US" sz="2700" dirty="0"/>
          </a:p>
        </p:txBody>
      </p:sp>
      <p:sp>
        <p:nvSpPr>
          <p:cNvPr id="5" name="Text 3"/>
          <p:cNvSpPr txBox="1"/>
          <p:nvPr/>
        </p:nvSpPr>
        <p:spPr>
          <a:xfrm>
            <a:off x="548640" y="1234440"/>
            <a:ext cx="11064240" cy="868680"/>
          </a:xfrm>
          <a:prstGeom prst="rect">
            <a:avLst/>
          </a:prstGeom>
          <a:noFill/>
          <a:ln/>
        </p:spPr>
        <p:txBody>
          <a:bodyPr wrap="square" lIns="0" tIns="0" rIns="0" bIns="0" rtlCol="0" anchor="t"/>
          <a:lstStyle/>
          <a:p>
            <a:pPr indent="0" marL="0">
              <a:buNone/>
            </a:pPr>
            <a:r>
              <a:rPr lang="en-US" sz="2100" dirty="0">
                <a:solidFill>
                  <a:srgbClr val="1E2761"/>
                </a:solidFill>
                <a:latin typeface="Calibri" pitchFamily="34" charset="0"/>
                <a:ea typeface="Calibri" pitchFamily="34" charset="-122"/>
                <a:cs typeface="Calibri" pitchFamily="34" charset="-120"/>
              </a:rPr>
              <a:t>Zwei Reden werden ohne Unterbrechung gehalten. Notiere für jede Rede im Hefter, welche Kriterien erfüllt sind.</a:t>
            </a:r>
            <a:endParaRPr lang="en-US" sz="2100" dirty="0"/>
          </a:p>
        </p:txBody>
      </p:sp>
      <p:sp>
        <p:nvSpPr>
          <p:cNvPr id="6" name="Shape 4"/>
          <p:cNvSpPr/>
          <p:nvPr/>
        </p:nvSpPr>
        <p:spPr>
          <a:xfrm>
            <a:off x="548640" y="2286000"/>
            <a:ext cx="6949440" cy="603504"/>
          </a:xfrm>
          <a:prstGeom prst="roundRect">
            <a:avLst>
              <a:gd name="adj" fmla="val 12121"/>
            </a:avLst>
          </a:prstGeom>
          <a:solidFill>
            <a:srgbClr val="F4F7FD"/>
          </a:solidFill>
          <a:ln w="9525">
            <a:solidFill>
              <a:srgbClr val="D5DCEC"/>
            </a:solidFill>
            <a:prstDash val="solid"/>
          </a:ln>
        </p:spPr>
      </p:sp>
      <p:sp>
        <p:nvSpPr>
          <p:cNvPr id="7" name="Text 5"/>
          <p:cNvSpPr txBox="1"/>
          <p:nvPr/>
        </p:nvSpPr>
        <p:spPr>
          <a:xfrm>
            <a:off x="777240" y="2286000"/>
            <a:ext cx="4754880" cy="603504"/>
          </a:xfrm>
          <a:prstGeom prst="rect">
            <a:avLst/>
          </a:prstGeom>
          <a:noFill/>
          <a:ln/>
        </p:spPr>
        <p:txBody>
          <a:bodyPr wrap="square" lIns="0" tIns="0" rIns="0" bIns="0" rtlCol="0" anchor="ctr"/>
          <a:lstStyle/>
          <a:p>
            <a:pPr indent="0" marL="0">
              <a:buNone/>
            </a:pPr>
            <a:r>
              <a:rPr lang="en-US" sz="2000" b="1" dirty="0">
                <a:solidFill>
                  <a:srgbClr val="1E2761"/>
                </a:solidFill>
                <a:latin typeface="Calibri" pitchFamily="34" charset="0"/>
                <a:ea typeface="Calibri" pitchFamily="34" charset="-122"/>
                <a:cs typeface="Calibri" pitchFamily="34" charset="-120"/>
              </a:rPr>
              <a:t>1  Anrede</a:t>
            </a:r>
            <a:endParaRPr lang="en-US" sz="2000" dirty="0"/>
          </a:p>
        </p:txBody>
      </p:sp>
      <p:sp>
        <p:nvSpPr>
          <p:cNvPr id="8" name="Shape 6"/>
          <p:cNvSpPr/>
          <p:nvPr/>
        </p:nvSpPr>
        <p:spPr>
          <a:xfrm>
            <a:off x="7772400" y="2286000"/>
            <a:ext cx="1783080" cy="603504"/>
          </a:xfrm>
          <a:prstGeom prst="roundRect">
            <a:avLst>
              <a:gd name="adj" fmla="val 12121"/>
            </a:avLst>
          </a:prstGeom>
          <a:solidFill>
            <a:srgbClr val="F4F7FD"/>
          </a:solidFill>
          <a:ln w="9525">
            <a:solidFill>
              <a:srgbClr val="D5DCEC"/>
            </a:solidFill>
            <a:prstDash val="solid"/>
          </a:ln>
        </p:spPr>
      </p:sp>
      <p:sp>
        <p:nvSpPr>
          <p:cNvPr id="9" name="Text 7"/>
          <p:cNvSpPr txBox="1"/>
          <p:nvPr/>
        </p:nvSpPr>
        <p:spPr>
          <a:xfrm>
            <a:off x="7772400" y="1874520"/>
            <a:ext cx="1783080" cy="365760"/>
          </a:xfrm>
          <a:prstGeom prst="rect">
            <a:avLst/>
          </a:prstGeom>
          <a:noFill/>
          <a:ln/>
        </p:spPr>
        <p:txBody>
          <a:bodyPr wrap="square" lIns="0" tIns="0" rIns="0" bIns="0" rtlCol="0" anchor="t"/>
          <a:lstStyle/>
          <a:p>
            <a:pPr algn="ctr" indent="0" marL="0">
              <a:buNone/>
            </a:pPr>
            <a:r>
              <a:rPr lang="en-US" sz="1500" b="1" dirty="0">
                <a:solidFill>
                  <a:srgbClr val="5B6B8C"/>
                </a:solidFill>
                <a:latin typeface="Calibri" pitchFamily="34" charset="0"/>
                <a:ea typeface="Calibri" pitchFamily="34" charset="-122"/>
                <a:cs typeface="Calibri" pitchFamily="34" charset="-120"/>
              </a:rPr>
              <a:t>Rede 1</a:t>
            </a:r>
            <a:endParaRPr lang="en-US" sz="1500" dirty="0"/>
          </a:p>
        </p:txBody>
      </p:sp>
      <p:sp>
        <p:nvSpPr>
          <p:cNvPr id="10" name="Text 8"/>
          <p:cNvSpPr txBox="1"/>
          <p:nvPr/>
        </p:nvSpPr>
        <p:spPr>
          <a:xfrm>
            <a:off x="7772400" y="2286000"/>
            <a:ext cx="1783080" cy="603504"/>
          </a:xfrm>
          <a:prstGeom prst="rect">
            <a:avLst/>
          </a:prstGeom>
          <a:noFill/>
          <a:ln/>
        </p:spPr>
        <p:txBody>
          <a:bodyPr wrap="square" lIns="0" tIns="0" rIns="0" bIns="0" rtlCol="0" anchor="ctr"/>
          <a:lstStyle/>
          <a:p>
            <a:pPr algn="ctr" indent="0" marL="0">
              <a:buNone/>
            </a:pPr>
            <a:r>
              <a:rPr lang="en-US" sz="2200" dirty="0">
                <a:solidFill>
                  <a:srgbClr val="5B6B8C"/>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9738360" y="2286000"/>
            <a:ext cx="1783080" cy="603504"/>
          </a:xfrm>
          <a:prstGeom prst="roundRect">
            <a:avLst>
              <a:gd name="adj" fmla="val 12121"/>
            </a:avLst>
          </a:prstGeom>
          <a:solidFill>
            <a:srgbClr val="F4F7FD"/>
          </a:solidFill>
          <a:ln w="9525">
            <a:solidFill>
              <a:srgbClr val="D5DCEC"/>
            </a:solidFill>
            <a:prstDash val="solid"/>
          </a:ln>
        </p:spPr>
      </p:sp>
      <p:sp>
        <p:nvSpPr>
          <p:cNvPr id="12" name="Text 10"/>
          <p:cNvSpPr txBox="1"/>
          <p:nvPr/>
        </p:nvSpPr>
        <p:spPr>
          <a:xfrm>
            <a:off x="9738360" y="1874520"/>
            <a:ext cx="1783080" cy="365760"/>
          </a:xfrm>
          <a:prstGeom prst="rect">
            <a:avLst/>
          </a:prstGeom>
          <a:noFill/>
          <a:ln/>
        </p:spPr>
        <p:txBody>
          <a:bodyPr wrap="square" lIns="0" tIns="0" rIns="0" bIns="0" rtlCol="0" anchor="t"/>
          <a:lstStyle/>
          <a:p>
            <a:pPr algn="ctr" indent="0" marL="0">
              <a:buNone/>
            </a:pPr>
            <a:r>
              <a:rPr lang="en-US" sz="1500" b="1" dirty="0">
                <a:solidFill>
                  <a:srgbClr val="5B6B8C"/>
                </a:solidFill>
                <a:latin typeface="Calibri" pitchFamily="34" charset="0"/>
                <a:ea typeface="Calibri" pitchFamily="34" charset="-122"/>
                <a:cs typeface="Calibri" pitchFamily="34" charset="-120"/>
              </a:rPr>
              <a:t>Rede 2</a:t>
            </a:r>
            <a:endParaRPr lang="en-US" sz="1500" dirty="0"/>
          </a:p>
        </p:txBody>
      </p:sp>
      <p:sp>
        <p:nvSpPr>
          <p:cNvPr id="13" name="Text 11"/>
          <p:cNvSpPr txBox="1"/>
          <p:nvPr/>
        </p:nvSpPr>
        <p:spPr>
          <a:xfrm>
            <a:off x="9738360" y="2286000"/>
            <a:ext cx="1783080" cy="603504"/>
          </a:xfrm>
          <a:prstGeom prst="rect">
            <a:avLst/>
          </a:prstGeom>
          <a:noFill/>
          <a:ln/>
        </p:spPr>
        <p:txBody>
          <a:bodyPr wrap="square" lIns="0" tIns="0" rIns="0" bIns="0" rtlCol="0" anchor="ctr"/>
          <a:lstStyle/>
          <a:p>
            <a:pPr algn="ctr" indent="0" marL="0">
              <a:buNone/>
            </a:pPr>
            <a:r>
              <a:rPr lang="en-US" sz="2200" dirty="0">
                <a:solidFill>
                  <a:srgbClr val="5B6B8C"/>
                </a:solidFill>
                <a:latin typeface="Calibri" pitchFamily="34" charset="0"/>
                <a:ea typeface="Calibri" pitchFamily="34" charset="-122"/>
                <a:cs typeface="Calibri" pitchFamily="34" charset="-120"/>
              </a:rPr>
              <a:t>☐</a:t>
            </a:r>
            <a:endParaRPr lang="en-US" sz="2200" dirty="0"/>
          </a:p>
        </p:txBody>
      </p:sp>
      <p:sp>
        <p:nvSpPr>
          <p:cNvPr id="14" name="Shape 12"/>
          <p:cNvSpPr/>
          <p:nvPr/>
        </p:nvSpPr>
        <p:spPr>
          <a:xfrm>
            <a:off x="548640" y="2999232"/>
            <a:ext cx="6949440" cy="603504"/>
          </a:xfrm>
          <a:prstGeom prst="roundRect">
            <a:avLst>
              <a:gd name="adj" fmla="val 12121"/>
            </a:avLst>
          </a:prstGeom>
          <a:solidFill>
            <a:srgbClr val="FFFFFF"/>
          </a:solidFill>
          <a:ln w="9525">
            <a:solidFill>
              <a:srgbClr val="D5DCEC"/>
            </a:solidFill>
            <a:prstDash val="solid"/>
          </a:ln>
        </p:spPr>
      </p:sp>
      <p:sp>
        <p:nvSpPr>
          <p:cNvPr id="15" name="Text 13"/>
          <p:cNvSpPr txBox="1"/>
          <p:nvPr/>
        </p:nvSpPr>
        <p:spPr>
          <a:xfrm>
            <a:off x="777240" y="2999232"/>
            <a:ext cx="4754880" cy="603504"/>
          </a:xfrm>
          <a:prstGeom prst="rect">
            <a:avLst/>
          </a:prstGeom>
          <a:noFill/>
          <a:ln/>
        </p:spPr>
        <p:txBody>
          <a:bodyPr wrap="square" lIns="0" tIns="0" rIns="0" bIns="0" rtlCol="0" anchor="ctr"/>
          <a:lstStyle/>
          <a:p>
            <a:pPr indent="0" marL="0">
              <a:buNone/>
            </a:pPr>
            <a:r>
              <a:rPr lang="en-US" sz="2000" b="1" dirty="0">
                <a:solidFill>
                  <a:srgbClr val="1E2761"/>
                </a:solidFill>
                <a:latin typeface="Calibri" pitchFamily="34" charset="0"/>
                <a:ea typeface="Calibri" pitchFamily="34" charset="-122"/>
                <a:cs typeface="Calibri" pitchFamily="34" charset="-120"/>
              </a:rPr>
              <a:t>2  Ich-Botschaften</a:t>
            </a:r>
            <a:endParaRPr lang="en-US" sz="2000" dirty="0"/>
          </a:p>
        </p:txBody>
      </p:sp>
      <p:sp>
        <p:nvSpPr>
          <p:cNvPr id="16" name="Shape 14"/>
          <p:cNvSpPr/>
          <p:nvPr/>
        </p:nvSpPr>
        <p:spPr>
          <a:xfrm>
            <a:off x="7772400" y="2999232"/>
            <a:ext cx="1783080" cy="603504"/>
          </a:xfrm>
          <a:prstGeom prst="roundRect">
            <a:avLst>
              <a:gd name="adj" fmla="val 12121"/>
            </a:avLst>
          </a:prstGeom>
          <a:solidFill>
            <a:srgbClr val="FFFFFF"/>
          </a:solidFill>
          <a:ln w="9525">
            <a:solidFill>
              <a:srgbClr val="D5DCEC"/>
            </a:solidFill>
            <a:prstDash val="solid"/>
          </a:ln>
        </p:spPr>
      </p:sp>
      <p:sp>
        <p:nvSpPr>
          <p:cNvPr id="17" name="Text 15"/>
          <p:cNvSpPr txBox="1"/>
          <p:nvPr/>
        </p:nvSpPr>
        <p:spPr>
          <a:xfrm>
            <a:off x="7772400" y="2999232"/>
            <a:ext cx="1783080" cy="603504"/>
          </a:xfrm>
          <a:prstGeom prst="rect">
            <a:avLst/>
          </a:prstGeom>
          <a:noFill/>
          <a:ln/>
        </p:spPr>
        <p:txBody>
          <a:bodyPr wrap="square" lIns="0" tIns="0" rIns="0" bIns="0" rtlCol="0" anchor="ctr"/>
          <a:lstStyle/>
          <a:p>
            <a:pPr algn="ctr" indent="0" marL="0">
              <a:buNone/>
            </a:pPr>
            <a:r>
              <a:rPr lang="en-US" sz="2200" dirty="0">
                <a:solidFill>
                  <a:srgbClr val="5B6B8C"/>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9738360" y="2999232"/>
            <a:ext cx="1783080" cy="603504"/>
          </a:xfrm>
          <a:prstGeom prst="roundRect">
            <a:avLst>
              <a:gd name="adj" fmla="val 12121"/>
            </a:avLst>
          </a:prstGeom>
          <a:solidFill>
            <a:srgbClr val="FFFFFF"/>
          </a:solidFill>
          <a:ln w="9525">
            <a:solidFill>
              <a:srgbClr val="D5DCEC"/>
            </a:solidFill>
            <a:prstDash val="solid"/>
          </a:ln>
        </p:spPr>
      </p:sp>
      <p:sp>
        <p:nvSpPr>
          <p:cNvPr id="19" name="Text 17"/>
          <p:cNvSpPr txBox="1"/>
          <p:nvPr/>
        </p:nvSpPr>
        <p:spPr>
          <a:xfrm>
            <a:off x="9738360" y="2999232"/>
            <a:ext cx="1783080" cy="603504"/>
          </a:xfrm>
          <a:prstGeom prst="rect">
            <a:avLst/>
          </a:prstGeom>
          <a:noFill/>
          <a:ln/>
        </p:spPr>
        <p:txBody>
          <a:bodyPr wrap="square" lIns="0" tIns="0" rIns="0" bIns="0" rtlCol="0" anchor="ctr"/>
          <a:lstStyle/>
          <a:p>
            <a:pPr algn="ctr" indent="0" marL="0">
              <a:buNone/>
            </a:pPr>
            <a:r>
              <a:rPr lang="en-US" sz="2200" dirty="0">
                <a:solidFill>
                  <a:srgbClr val="5B6B8C"/>
                </a:solidFill>
                <a:latin typeface="Calibri" pitchFamily="34" charset="0"/>
                <a:ea typeface="Calibri" pitchFamily="34" charset="-122"/>
                <a:cs typeface="Calibri" pitchFamily="34" charset="-120"/>
              </a:rPr>
              <a:t>☐</a:t>
            </a:r>
            <a:endParaRPr lang="en-US" sz="2200" dirty="0"/>
          </a:p>
        </p:txBody>
      </p:sp>
      <p:sp>
        <p:nvSpPr>
          <p:cNvPr id="20" name="Shape 18"/>
          <p:cNvSpPr/>
          <p:nvPr/>
        </p:nvSpPr>
        <p:spPr>
          <a:xfrm>
            <a:off x="548640" y="3712464"/>
            <a:ext cx="6949440" cy="603504"/>
          </a:xfrm>
          <a:prstGeom prst="roundRect">
            <a:avLst>
              <a:gd name="adj" fmla="val 12121"/>
            </a:avLst>
          </a:prstGeom>
          <a:solidFill>
            <a:srgbClr val="F4F7FD"/>
          </a:solidFill>
          <a:ln w="9525">
            <a:solidFill>
              <a:srgbClr val="D5DCEC"/>
            </a:solidFill>
            <a:prstDash val="solid"/>
          </a:ln>
        </p:spPr>
      </p:sp>
      <p:sp>
        <p:nvSpPr>
          <p:cNvPr id="21" name="Text 19"/>
          <p:cNvSpPr txBox="1"/>
          <p:nvPr/>
        </p:nvSpPr>
        <p:spPr>
          <a:xfrm>
            <a:off x="777240" y="3712464"/>
            <a:ext cx="4754880" cy="603504"/>
          </a:xfrm>
          <a:prstGeom prst="rect">
            <a:avLst/>
          </a:prstGeom>
          <a:noFill/>
          <a:ln/>
        </p:spPr>
        <p:txBody>
          <a:bodyPr wrap="square" lIns="0" tIns="0" rIns="0" bIns="0" rtlCol="0" anchor="ctr"/>
          <a:lstStyle/>
          <a:p>
            <a:pPr indent="0" marL="0">
              <a:buNone/>
            </a:pPr>
            <a:r>
              <a:rPr lang="en-US" sz="2000" b="1" dirty="0">
                <a:solidFill>
                  <a:srgbClr val="1E2761"/>
                </a:solidFill>
                <a:latin typeface="Calibri" pitchFamily="34" charset="0"/>
                <a:ea typeface="Calibri" pitchFamily="34" charset="-122"/>
                <a:cs typeface="Calibri" pitchFamily="34" charset="-120"/>
              </a:rPr>
              <a:t>3  Offener Appell</a:t>
            </a:r>
            <a:endParaRPr lang="en-US" sz="2000" dirty="0"/>
          </a:p>
        </p:txBody>
      </p:sp>
      <p:sp>
        <p:nvSpPr>
          <p:cNvPr id="22" name="Shape 20"/>
          <p:cNvSpPr/>
          <p:nvPr/>
        </p:nvSpPr>
        <p:spPr>
          <a:xfrm>
            <a:off x="7772400" y="3712464"/>
            <a:ext cx="1783080" cy="603504"/>
          </a:xfrm>
          <a:prstGeom prst="roundRect">
            <a:avLst>
              <a:gd name="adj" fmla="val 12121"/>
            </a:avLst>
          </a:prstGeom>
          <a:solidFill>
            <a:srgbClr val="F4F7FD"/>
          </a:solidFill>
          <a:ln w="9525">
            <a:solidFill>
              <a:srgbClr val="D5DCEC"/>
            </a:solidFill>
            <a:prstDash val="solid"/>
          </a:ln>
        </p:spPr>
      </p:sp>
      <p:sp>
        <p:nvSpPr>
          <p:cNvPr id="23" name="Text 21"/>
          <p:cNvSpPr txBox="1"/>
          <p:nvPr/>
        </p:nvSpPr>
        <p:spPr>
          <a:xfrm>
            <a:off x="7772400" y="3712464"/>
            <a:ext cx="1783080" cy="603504"/>
          </a:xfrm>
          <a:prstGeom prst="rect">
            <a:avLst/>
          </a:prstGeom>
          <a:noFill/>
          <a:ln/>
        </p:spPr>
        <p:txBody>
          <a:bodyPr wrap="square" lIns="0" tIns="0" rIns="0" bIns="0" rtlCol="0" anchor="ctr"/>
          <a:lstStyle/>
          <a:p>
            <a:pPr algn="ctr" indent="0" marL="0">
              <a:buNone/>
            </a:pPr>
            <a:r>
              <a:rPr lang="en-US" sz="2200" dirty="0">
                <a:solidFill>
                  <a:srgbClr val="5B6B8C"/>
                </a:solidFill>
                <a:latin typeface="Calibri" pitchFamily="34" charset="0"/>
                <a:ea typeface="Calibri" pitchFamily="34" charset="-122"/>
                <a:cs typeface="Calibri" pitchFamily="34" charset="-120"/>
              </a:rPr>
              <a:t>☐</a:t>
            </a:r>
            <a:endParaRPr lang="en-US" sz="2200" dirty="0"/>
          </a:p>
        </p:txBody>
      </p:sp>
      <p:sp>
        <p:nvSpPr>
          <p:cNvPr id="24" name="Shape 22"/>
          <p:cNvSpPr/>
          <p:nvPr/>
        </p:nvSpPr>
        <p:spPr>
          <a:xfrm>
            <a:off x="9738360" y="3712464"/>
            <a:ext cx="1783080" cy="603504"/>
          </a:xfrm>
          <a:prstGeom prst="roundRect">
            <a:avLst>
              <a:gd name="adj" fmla="val 12121"/>
            </a:avLst>
          </a:prstGeom>
          <a:solidFill>
            <a:srgbClr val="F4F7FD"/>
          </a:solidFill>
          <a:ln w="9525">
            <a:solidFill>
              <a:srgbClr val="D5DCEC"/>
            </a:solidFill>
            <a:prstDash val="solid"/>
          </a:ln>
        </p:spPr>
      </p:sp>
      <p:sp>
        <p:nvSpPr>
          <p:cNvPr id="25" name="Text 23"/>
          <p:cNvSpPr txBox="1"/>
          <p:nvPr/>
        </p:nvSpPr>
        <p:spPr>
          <a:xfrm>
            <a:off x="9738360" y="3712464"/>
            <a:ext cx="1783080" cy="603504"/>
          </a:xfrm>
          <a:prstGeom prst="rect">
            <a:avLst/>
          </a:prstGeom>
          <a:noFill/>
          <a:ln/>
        </p:spPr>
        <p:txBody>
          <a:bodyPr wrap="square" lIns="0" tIns="0" rIns="0" bIns="0" rtlCol="0" anchor="ctr"/>
          <a:lstStyle/>
          <a:p>
            <a:pPr algn="ctr" indent="0" marL="0">
              <a:buNone/>
            </a:pPr>
            <a:r>
              <a:rPr lang="en-US" sz="2200" dirty="0">
                <a:solidFill>
                  <a:srgbClr val="5B6B8C"/>
                </a:solidFill>
                <a:latin typeface="Calibri" pitchFamily="34" charset="0"/>
                <a:ea typeface="Calibri" pitchFamily="34" charset="-122"/>
                <a:cs typeface="Calibri" pitchFamily="34" charset="-120"/>
              </a:rPr>
              <a:t>☐</a:t>
            </a:r>
            <a:endParaRPr lang="en-US" sz="2200" dirty="0"/>
          </a:p>
        </p:txBody>
      </p:sp>
      <p:sp>
        <p:nvSpPr>
          <p:cNvPr id="26" name="Shape 24"/>
          <p:cNvSpPr/>
          <p:nvPr/>
        </p:nvSpPr>
        <p:spPr>
          <a:xfrm>
            <a:off x="548640" y="4425696"/>
            <a:ext cx="6949440" cy="603504"/>
          </a:xfrm>
          <a:prstGeom prst="roundRect">
            <a:avLst>
              <a:gd name="adj" fmla="val 12121"/>
            </a:avLst>
          </a:prstGeom>
          <a:solidFill>
            <a:srgbClr val="FFFFFF"/>
          </a:solidFill>
          <a:ln w="9525">
            <a:solidFill>
              <a:srgbClr val="D5DCEC"/>
            </a:solidFill>
            <a:prstDash val="solid"/>
          </a:ln>
        </p:spPr>
      </p:sp>
      <p:sp>
        <p:nvSpPr>
          <p:cNvPr id="27" name="Text 25"/>
          <p:cNvSpPr txBox="1"/>
          <p:nvPr/>
        </p:nvSpPr>
        <p:spPr>
          <a:xfrm>
            <a:off x="777240" y="4425696"/>
            <a:ext cx="4754880" cy="603504"/>
          </a:xfrm>
          <a:prstGeom prst="rect">
            <a:avLst/>
          </a:prstGeom>
          <a:noFill/>
          <a:ln/>
        </p:spPr>
        <p:txBody>
          <a:bodyPr wrap="square" lIns="0" tIns="0" rIns="0" bIns="0" rtlCol="0" anchor="ctr"/>
          <a:lstStyle/>
          <a:p>
            <a:pPr indent="0" marL="0">
              <a:buNone/>
            </a:pPr>
            <a:r>
              <a:rPr lang="en-US" sz="2000" b="1" dirty="0">
                <a:solidFill>
                  <a:srgbClr val="1E2761"/>
                </a:solidFill>
                <a:latin typeface="Calibri" pitchFamily="34" charset="0"/>
                <a:ea typeface="Calibri" pitchFamily="34" charset="-122"/>
                <a:cs typeface="Calibri" pitchFamily="34" charset="-120"/>
              </a:rPr>
              <a:t>4  Bezug zum Text</a:t>
            </a:r>
            <a:endParaRPr lang="en-US" sz="2000" dirty="0"/>
          </a:p>
        </p:txBody>
      </p:sp>
      <p:sp>
        <p:nvSpPr>
          <p:cNvPr id="28" name="Shape 26"/>
          <p:cNvSpPr/>
          <p:nvPr/>
        </p:nvSpPr>
        <p:spPr>
          <a:xfrm>
            <a:off x="7772400" y="4425696"/>
            <a:ext cx="1783080" cy="603504"/>
          </a:xfrm>
          <a:prstGeom prst="roundRect">
            <a:avLst>
              <a:gd name="adj" fmla="val 12121"/>
            </a:avLst>
          </a:prstGeom>
          <a:solidFill>
            <a:srgbClr val="FFFFFF"/>
          </a:solidFill>
          <a:ln w="9525">
            <a:solidFill>
              <a:srgbClr val="D5DCEC"/>
            </a:solidFill>
            <a:prstDash val="solid"/>
          </a:ln>
        </p:spPr>
      </p:sp>
      <p:sp>
        <p:nvSpPr>
          <p:cNvPr id="29" name="Text 27"/>
          <p:cNvSpPr txBox="1"/>
          <p:nvPr/>
        </p:nvSpPr>
        <p:spPr>
          <a:xfrm>
            <a:off x="7772400" y="4425696"/>
            <a:ext cx="1783080" cy="603504"/>
          </a:xfrm>
          <a:prstGeom prst="rect">
            <a:avLst/>
          </a:prstGeom>
          <a:noFill/>
          <a:ln/>
        </p:spPr>
        <p:txBody>
          <a:bodyPr wrap="square" lIns="0" tIns="0" rIns="0" bIns="0" rtlCol="0" anchor="ctr"/>
          <a:lstStyle/>
          <a:p>
            <a:pPr algn="ctr" indent="0" marL="0">
              <a:buNone/>
            </a:pPr>
            <a:r>
              <a:rPr lang="en-US" sz="2200" dirty="0">
                <a:solidFill>
                  <a:srgbClr val="5B6B8C"/>
                </a:solidFill>
                <a:latin typeface="Calibri" pitchFamily="34" charset="0"/>
                <a:ea typeface="Calibri" pitchFamily="34" charset="-122"/>
                <a:cs typeface="Calibri" pitchFamily="34" charset="-120"/>
              </a:rPr>
              <a:t>☐</a:t>
            </a:r>
            <a:endParaRPr lang="en-US" sz="2200" dirty="0"/>
          </a:p>
        </p:txBody>
      </p:sp>
      <p:sp>
        <p:nvSpPr>
          <p:cNvPr id="30" name="Shape 28"/>
          <p:cNvSpPr/>
          <p:nvPr/>
        </p:nvSpPr>
        <p:spPr>
          <a:xfrm>
            <a:off x="9738360" y="4425696"/>
            <a:ext cx="1783080" cy="603504"/>
          </a:xfrm>
          <a:prstGeom prst="roundRect">
            <a:avLst>
              <a:gd name="adj" fmla="val 12121"/>
            </a:avLst>
          </a:prstGeom>
          <a:solidFill>
            <a:srgbClr val="FFFFFF"/>
          </a:solidFill>
          <a:ln w="9525">
            <a:solidFill>
              <a:srgbClr val="D5DCEC"/>
            </a:solidFill>
            <a:prstDash val="solid"/>
          </a:ln>
        </p:spPr>
      </p:sp>
      <p:sp>
        <p:nvSpPr>
          <p:cNvPr id="31" name="Text 29"/>
          <p:cNvSpPr txBox="1"/>
          <p:nvPr/>
        </p:nvSpPr>
        <p:spPr>
          <a:xfrm>
            <a:off x="9738360" y="4425696"/>
            <a:ext cx="1783080" cy="603504"/>
          </a:xfrm>
          <a:prstGeom prst="rect">
            <a:avLst/>
          </a:prstGeom>
          <a:noFill/>
          <a:ln/>
        </p:spPr>
        <p:txBody>
          <a:bodyPr wrap="square" lIns="0" tIns="0" rIns="0" bIns="0" rtlCol="0" anchor="ctr"/>
          <a:lstStyle/>
          <a:p>
            <a:pPr algn="ctr" indent="0" marL="0">
              <a:buNone/>
            </a:pPr>
            <a:r>
              <a:rPr lang="en-US" sz="2200" dirty="0">
                <a:solidFill>
                  <a:srgbClr val="5B6B8C"/>
                </a:solidFill>
                <a:latin typeface="Calibri" pitchFamily="34" charset="0"/>
                <a:ea typeface="Calibri" pitchFamily="34" charset="-122"/>
                <a:cs typeface="Calibri" pitchFamily="34" charset="-120"/>
              </a:rPr>
              <a:t>☐</a:t>
            </a:r>
            <a:endParaRPr lang="en-US" sz="2200" dirty="0"/>
          </a:p>
        </p:txBody>
      </p:sp>
      <p:sp>
        <p:nvSpPr>
          <p:cNvPr id="32" name="Shape 30"/>
          <p:cNvSpPr/>
          <p:nvPr/>
        </p:nvSpPr>
        <p:spPr>
          <a:xfrm>
            <a:off x="548640" y="5138928"/>
            <a:ext cx="6949440" cy="603504"/>
          </a:xfrm>
          <a:prstGeom prst="roundRect">
            <a:avLst>
              <a:gd name="adj" fmla="val 12121"/>
            </a:avLst>
          </a:prstGeom>
          <a:solidFill>
            <a:srgbClr val="F4F7FD"/>
          </a:solidFill>
          <a:ln w="9525">
            <a:solidFill>
              <a:srgbClr val="D5DCEC"/>
            </a:solidFill>
            <a:prstDash val="solid"/>
          </a:ln>
        </p:spPr>
      </p:sp>
      <p:sp>
        <p:nvSpPr>
          <p:cNvPr id="33" name="Text 31"/>
          <p:cNvSpPr txBox="1"/>
          <p:nvPr/>
        </p:nvSpPr>
        <p:spPr>
          <a:xfrm>
            <a:off x="777240" y="5138928"/>
            <a:ext cx="4754880" cy="603504"/>
          </a:xfrm>
          <a:prstGeom prst="rect">
            <a:avLst/>
          </a:prstGeom>
          <a:noFill/>
          <a:ln/>
        </p:spPr>
        <p:txBody>
          <a:bodyPr wrap="square" lIns="0" tIns="0" rIns="0" bIns="0" rtlCol="0" anchor="ctr"/>
          <a:lstStyle/>
          <a:p>
            <a:pPr indent="0" marL="0">
              <a:buNone/>
            </a:pPr>
            <a:r>
              <a:rPr lang="en-US" sz="2000" b="1" dirty="0">
                <a:solidFill>
                  <a:srgbClr val="1E2761"/>
                </a:solidFill>
                <a:latin typeface="Calibri" pitchFamily="34" charset="0"/>
                <a:ea typeface="Calibri" pitchFamily="34" charset="-122"/>
                <a:cs typeface="Calibri" pitchFamily="34" charset="-120"/>
              </a:rPr>
              <a:t>5  Respektvoller Ton</a:t>
            </a:r>
            <a:endParaRPr lang="en-US" sz="2000" dirty="0"/>
          </a:p>
        </p:txBody>
      </p:sp>
      <p:sp>
        <p:nvSpPr>
          <p:cNvPr id="34" name="Shape 32"/>
          <p:cNvSpPr/>
          <p:nvPr/>
        </p:nvSpPr>
        <p:spPr>
          <a:xfrm>
            <a:off x="7772400" y="5138928"/>
            <a:ext cx="1783080" cy="603504"/>
          </a:xfrm>
          <a:prstGeom prst="roundRect">
            <a:avLst>
              <a:gd name="adj" fmla="val 12121"/>
            </a:avLst>
          </a:prstGeom>
          <a:solidFill>
            <a:srgbClr val="F4F7FD"/>
          </a:solidFill>
          <a:ln w="9525">
            <a:solidFill>
              <a:srgbClr val="D5DCEC"/>
            </a:solidFill>
            <a:prstDash val="solid"/>
          </a:ln>
        </p:spPr>
      </p:sp>
      <p:sp>
        <p:nvSpPr>
          <p:cNvPr id="35" name="Text 33"/>
          <p:cNvSpPr txBox="1"/>
          <p:nvPr/>
        </p:nvSpPr>
        <p:spPr>
          <a:xfrm>
            <a:off x="7772400" y="5138928"/>
            <a:ext cx="1783080" cy="603504"/>
          </a:xfrm>
          <a:prstGeom prst="rect">
            <a:avLst/>
          </a:prstGeom>
          <a:noFill/>
          <a:ln/>
        </p:spPr>
        <p:txBody>
          <a:bodyPr wrap="square" lIns="0" tIns="0" rIns="0" bIns="0" rtlCol="0" anchor="ctr"/>
          <a:lstStyle/>
          <a:p>
            <a:pPr algn="ctr" indent="0" marL="0">
              <a:buNone/>
            </a:pPr>
            <a:r>
              <a:rPr lang="en-US" sz="2200" dirty="0">
                <a:solidFill>
                  <a:srgbClr val="5B6B8C"/>
                </a:solidFill>
                <a:latin typeface="Calibri" pitchFamily="34" charset="0"/>
                <a:ea typeface="Calibri" pitchFamily="34" charset="-122"/>
                <a:cs typeface="Calibri" pitchFamily="34" charset="-120"/>
              </a:rPr>
              <a:t>☐</a:t>
            </a:r>
            <a:endParaRPr lang="en-US" sz="2200" dirty="0"/>
          </a:p>
        </p:txBody>
      </p:sp>
      <p:sp>
        <p:nvSpPr>
          <p:cNvPr id="36" name="Shape 34"/>
          <p:cNvSpPr/>
          <p:nvPr/>
        </p:nvSpPr>
        <p:spPr>
          <a:xfrm>
            <a:off x="9738360" y="5138928"/>
            <a:ext cx="1783080" cy="603504"/>
          </a:xfrm>
          <a:prstGeom prst="roundRect">
            <a:avLst>
              <a:gd name="adj" fmla="val 12121"/>
            </a:avLst>
          </a:prstGeom>
          <a:solidFill>
            <a:srgbClr val="F4F7FD"/>
          </a:solidFill>
          <a:ln w="9525">
            <a:solidFill>
              <a:srgbClr val="D5DCEC"/>
            </a:solidFill>
            <a:prstDash val="solid"/>
          </a:ln>
        </p:spPr>
      </p:sp>
      <p:sp>
        <p:nvSpPr>
          <p:cNvPr id="37" name="Text 35"/>
          <p:cNvSpPr txBox="1"/>
          <p:nvPr/>
        </p:nvSpPr>
        <p:spPr>
          <a:xfrm>
            <a:off x="9738360" y="5138928"/>
            <a:ext cx="1783080" cy="603504"/>
          </a:xfrm>
          <a:prstGeom prst="rect">
            <a:avLst/>
          </a:prstGeom>
          <a:noFill/>
          <a:ln/>
        </p:spPr>
        <p:txBody>
          <a:bodyPr wrap="square" lIns="0" tIns="0" rIns="0" bIns="0" rtlCol="0" anchor="ctr"/>
          <a:lstStyle/>
          <a:p>
            <a:pPr algn="ctr" indent="0" marL="0">
              <a:buNone/>
            </a:pPr>
            <a:r>
              <a:rPr lang="en-US" sz="2200" dirty="0">
                <a:solidFill>
                  <a:srgbClr val="5B6B8C"/>
                </a:solidFill>
                <a:latin typeface="Calibri" pitchFamily="34" charset="0"/>
                <a:ea typeface="Calibri" pitchFamily="34" charset="-122"/>
                <a:cs typeface="Calibri" pitchFamily="34" charset="-120"/>
              </a:rPr>
              <a:t>☐</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371600"/>
            <a:ext cx="2103120" cy="402336"/>
          </a:xfrm>
          <a:prstGeom prst="roundRect">
            <a:avLst>
              <a:gd name="adj" fmla="val 50000"/>
            </a:avLst>
          </a:prstGeom>
          <a:solidFill>
            <a:srgbClr val="D9534F"/>
          </a:solidFill>
          <a:ln/>
        </p:spPr>
      </p:sp>
      <p:sp>
        <p:nvSpPr>
          <p:cNvPr id="4" name="Text 2"/>
          <p:cNvSpPr txBox="1"/>
          <p:nvPr/>
        </p:nvSpPr>
        <p:spPr>
          <a:xfrm>
            <a:off x="822960" y="1371600"/>
            <a:ext cx="210312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REFLEXION</a:t>
            </a:r>
            <a:endParaRPr lang="en-US" sz="1300" dirty="0"/>
          </a:p>
        </p:txBody>
      </p:sp>
      <p:sp>
        <p:nvSpPr>
          <p:cNvPr id="5" name="Text 3"/>
          <p:cNvSpPr txBox="1"/>
          <p:nvPr/>
        </p:nvSpPr>
        <p:spPr>
          <a:xfrm>
            <a:off x="822960" y="2011680"/>
            <a:ext cx="1042416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Im Brief bittet Kafka vorsichtig und versteckt –</a:t>
            </a:r>
            <a:endParaRPr lang="en-US" sz="3000" dirty="0"/>
          </a:p>
          <a:p>
            <a:pPr indent="0" marL="0">
              <a:buNone/>
            </a:pPr>
            <a:r>
              <a:rPr lang="en-US" sz="3000" b="1" dirty="0">
                <a:solidFill>
                  <a:srgbClr val="FFFFFF"/>
                </a:solidFill>
                <a:latin typeface="Cambria" pitchFamily="34" charset="0"/>
                <a:ea typeface="Cambria" pitchFamily="34" charset="-122"/>
                <a:cs typeface="Cambria" pitchFamily="34" charset="-120"/>
              </a:rPr>
              <a:t>in der Rede offen.</a:t>
            </a:r>
            <a:endParaRPr lang="en-US" sz="3000" dirty="0"/>
          </a:p>
        </p:txBody>
      </p:sp>
      <p:sp>
        <p:nvSpPr>
          <p:cNvPr id="6" name="Text 4"/>
          <p:cNvSpPr txBox="1"/>
          <p:nvPr/>
        </p:nvSpPr>
        <p:spPr>
          <a:xfrm>
            <a:off x="822960" y="3749040"/>
            <a:ext cx="10424160" cy="1280160"/>
          </a:xfrm>
          <a:prstGeom prst="rect">
            <a:avLst/>
          </a:prstGeom>
          <a:noFill/>
          <a:ln/>
        </p:spPr>
        <p:txBody>
          <a:bodyPr wrap="square" lIns="0" tIns="0" rIns="0" bIns="0" rtlCol="0" anchor="t"/>
          <a:lstStyle/>
          <a:p>
            <a:pPr indent="0" marL="0">
              <a:spcAft>
                <a:spcPts val="600"/>
              </a:spcAft>
              <a:buNone/>
            </a:pPr>
            <a:r>
              <a:rPr lang="en-US" sz="2500" dirty="0">
                <a:solidFill>
                  <a:srgbClr val="CADCFC"/>
                </a:solidFill>
                <a:latin typeface="Calibri" pitchFamily="34" charset="0"/>
                <a:ea typeface="Calibri" pitchFamily="34" charset="-122"/>
                <a:cs typeface="Calibri" pitchFamily="34" charset="-120"/>
              </a:rPr>
              <a:t>Warum hat Kafka im Brief nicht so gesprochen?</a:t>
            </a:r>
            <a:endParaRPr lang="en-US" sz="2500" dirty="0"/>
          </a:p>
          <a:p>
            <a:pPr indent="0" marL="0">
              <a:spcAft>
                <a:spcPts val="600"/>
              </a:spcAft>
              <a:buNone/>
            </a:pPr>
            <a:r>
              <a:rPr lang="en-US" sz="2500" dirty="0">
                <a:solidFill>
                  <a:srgbClr val="CADCFC"/>
                </a:solidFill>
                <a:latin typeface="Calibri" pitchFamily="34" charset="0"/>
                <a:ea typeface="Calibri" pitchFamily="34" charset="-122"/>
                <a:cs typeface="Calibri" pitchFamily="34" charset="-120"/>
              </a:rPr>
              <a:t>Welche Fassung hätte der Vater eher gehört?</a:t>
            </a:r>
            <a:endParaRPr lang="en-US" sz="2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Kafkas Appell</dc:title>
  <dc:subject>PptxGenJS Presentation</dc:subject>
  <dc:creator>PptxGenJS</dc:creator>
  <cp:lastModifiedBy>PptxGenJS</cp:lastModifiedBy>
  <cp:revision>1</cp:revision>
  <dcterms:created xsi:type="dcterms:W3CDTF">2026-10-12T18:04:53Z</dcterms:created>
  <dcterms:modified xsi:type="dcterms:W3CDTF">2026-10-12T18:04:53Z</dcterms:modified>
</cp:coreProperties>
</file>