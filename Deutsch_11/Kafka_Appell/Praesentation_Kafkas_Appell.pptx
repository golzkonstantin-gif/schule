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Verlauf kurz vorstellen: erst die Auswertung des Briefs, dann Kafka – heute geht es um den Appell.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Lernziele vorlesen. Am Ende der Stunde darauf zurückkommen: Was davon kann ich jetzt?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Werte aus der Auswertung vom 08.10. (Deutsch_11/Auswertung_Brief) – vor der Stunde mit den endgültigen Punkten abgleichen. Lob zuerst: Beziehung und Metakommunikation gelingen. Dann: Der Appell war oft nur eine Hoffnung – genau das untersuchen wir heute bei Kafka.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„Inhaltlich wisst ihr viel – Punkte verliert ihr bei der Sprache. Die meisten Fehler sind immer dieselben zwei: Substantive klein und fehlende Kommas, z. B. bei ‚Ich hoffe, ihr …‘. Das trainieren wir in den nächsten Stunden.“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Kurz zeigen: Teil 1 ist geschafft, jetzt Kafka.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Antworten sammeln (z. B. „Achtet beim Schreiben auf Großschreibung und Kommas!“). Rückfrage: Offen oder versteckt? – „Ich habe nur gesagt, was schlecht war. Den Appell musstet ihr selbst heraushören.“ Überleitung zur Kommunikation.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Schnelle Abfrage, Antworten an die Tafel (Wiederholung links): verbal / paraverbal / nonverbal · vier Ohren: Sachinhalt, Selbstkundgabe, Beziehung, Appell · Inhalts- und Beziehungsebene (Beziehung bestimmt, wie der Inhalt ankommt).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Kurz an die letzte Stunde (Mentorin) anknüpfen: Selbstkundgabe, Brods Brief. Ziel der Stunde an die Tafel.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Steht auch auf dem Arbeitsblatt (2. Information). Rückbezug: „Mein Appell vorhin war verdeckt – ich habe nur beschrieben, was schlecht war.“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Kontext-Box vom Arbeitsblatt vorlesen, dann den Auszug. Die Klasse liest auf dem Arbeitsblatt mit (Zeilennummern, Fußnoten).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VERARBEITEN. Herumgehen. Wer bei Aufgabe 1 hängt: „Was soll der Vater nach diesem Satz anders machen?“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Während der Besprechung stehen lassen: Antworten in ganzen Sätzen einfordern. Ergebnisse ins Quadrat an der Tafel (Appell groß). Achtung Komma: „…, dass der Vater …“ – Regel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Aufgabe 4 im Gespräch. Ziel: Furcht → verdeckter, abgesicherter Appell. Merksatz an die Tafel.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Aufgabe 5. Überleitung: „Max Brods Brief war erfolgreich – der Vater hört zu. Jetzt spricht Franz selbst, und zwar offen.“ Timer 10 Minuten, danach ein bis zwei Reden ohne Unterbrechung vortragen und nach den Kriterien auswerten. Wer nicht fertig ist, schreibt nächste Stunde weiter (keine Hausaufgabe). Hinweis: Substantive groß, Komma vor dass – auch bei „Ich hoffe,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14400"/>
          </a:xfrm>
          <a:prstGeom prst="roundRect">
            <a:avLst/>
          </a:prstGeom>
          <a:solidFill>
            <a:srgbClr val="1E2761"/>
          </a:solidFill>
          <a:ln/>
        </p:spPr>
      </p:sp>
      <p:sp>
        <p:nvSpPr>
          <p:cNvPr id="3" name="Text 1"/>
          <p:cNvSpPr txBox="1"/>
          <p:nvPr/>
        </p:nvSpPr>
        <p:spPr>
          <a:xfrm>
            <a:off x="457200" y="0"/>
            <a:ext cx="9326880" cy="914400"/>
          </a:xfrm>
          <a:prstGeom prst="rect">
            <a:avLst/>
          </a:prstGeom>
          <a:noFill/>
          <a:ln/>
        </p:spPr>
        <p:txBody>
          <a:bodyPr wrap="square" lIns="0" tIns="0" rIns="0" bIns="0"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Heute</a:t>
            </a:r>
            <a:endParaRPr lang="en-US" sz="3000" dirty="0"/>
          </a:p>
        </p:txBody>
      </p:sp>
      <p:sp>
        <p:nvSpPr>
          <p:cNvPr id="4" name="Shape 2"/>
          <p:cNvSpPr/>
          <p:nvPr/>
        </p:nvSpPr>
        <p:spPr>
          <a:xfrm>
            <a:off x="457200" y="1280160"/>
            <a:ext cx="11247120" cy="1737360"/>
          </a:xfrm>
          <a:prstGeom prst="roundRect">
            <a:avLst>
              <a:gd name="adj" fmla="val 4211"/>
            </a:avLst>
          </a:prstGeom>
          <a:solidFill>
            <a:srgbClr val="E3F1E8"/>
          </a:solidFill>
          <a:ln w="25400">
            <a:solidFill>
              <a:srgbClr val="2E9E6B"/>
            </a:solidFill>
            <a:prstDash val="solid"/>
          </a:ln>
        </p:spPr>
      </p:sp>
      <p:sp>
        <p:nvSpPr>
          <p:cNvPr id="5" name="Text 3"/>
          <p:cNvSpPr txBox="1"/>
          <p:nvPr/>
        </p:nvSpPr>
        <p:spPr>
          <a:xfrm>
            <a:off x="777240" y="1280160"/>
            <a:ext cx="10698480" cy="1737360"/>
          </a:xfrm>
          <a:prstGeom prst="rect">
            <a:avLst/>
          </a:prstGeom>
          <a:noFill/>
          <a:ln/>
        </p:spPr>
        <p:txBody>
          <a:bodyPr wrap="square" lIns="0" tIns="0" rIns="0" bIns="0" rtlCol="0" anchor="ctr"/>
          <a:lstStyle/>
          <a:p>
            <a:pPr indent="0" marL="0">
              <a:buNone/>
            </a:pPr>
            <a:r>
              <a:rPr lang="en-US" sz="2700" b="1" dirty="0">
                <a:solidFill>
                  <a:srgbClr val="2E9E6B"/>
                </a:solidFill>
                <a:latin typeface="Calibri" pitchFamily="34" charset="0"/>
                <a:ea typeface="Calibri" pitchFamily="34" charset="-122"/>
                <a:cs typeface="Calibri" pitchFamily="34" charset="-120"/>
              </a:rPr>
              <a:t>Teil 1  ·  5 Min.</a:t>
            </a:r>
            <a:endParaRPr lang="en-US" sz="2700" dirty="0"/>
          </a:p>
          <a:p>
            <a:pPr indent="0" marL="0">
              <a:buNone/>
            </a:pPr>
            <a:r>
              <a:rPr lang="en-US" sz="2700" dirty="0">
                <a:solidFill>
                  <a:srgbClr val="1E2761"/>
                </a:solidFill>
                <a:latin typeface="Calibri" pitchFamily="34" charset="0"/>
                <a:ea typeface="Calibri" pitchFamily="34" charset="-122"/>
                <a:cs typeface="Calibri" pitchFamily="34" charset="-120"/>
              </a:rPr>
              <a:t>Auswertung des Briefs „Pressekonferenz“</a:t>
            </a:r>
            <a:endParaRPr lang="en-US" sz="2700" dirty="0"/>
          </a:p>
        </p:txBody>
      </p:sp>
      <p:sp>
        <p:nvSpPr>
          <p:cNvPr id="6" name="Shape 4"/>
          <p:cNvSpPr/>
          <p:nvPr/>
        </p:nvSpPr>
        <p:spPr>
          <a:xfrm>
            <a:off x="457200" y="3291840"/>
            <a:ext cx="11247120" cy="1737360"/>
          </a:xfrm>
          <a:prstGeom prst="roundRect">
            <a:avLst>
              <a:gd name="adj" fmla="val 4211"/>
            </a:avLst>
          </a:prstGeom>
          <a:solidFill>
            <a:srgbClr val="FDECEA"/>
          </a:solidFill>
          <a:ln w="25400">
            <a:solidFill>
              <a:srgbClr val="D9534F"/>
            </a:solidFill>
            <a:prstDash val="solid"/>
          </a:ln>
        </p:spPr>
      </p:sp>
      <p:sp>
        <p:nvSpPr>
          <p:cNvPr id="7" name="Text 5"/>
          <p:cNvSpPr txBox="1"/>
          <p:nvPr/>
        </p:nvSpPr>
        <p:spPr>
          <a:xfrm>
            <a:off x="777240" y="3291840"/>
            <a:ext cx="10698480" cy="1737360"/>
          </a:xfrm>
          <a:prstGeom prst="rect">
            <a:avLst/>
          </a:prstGeom>
          <a:noFill/>
          <a:ln/>
        </p:spPr>
        <p:txBody>
          <a:bodyPr wrap="square" lIns="0" tIns="0" rIns="0" bIns="0" rtlCol="0" anchor="ctr"/>
          <a:lstStyle/>
          <a:p>
            <a:pPr indent="0" marL="0">
              <a:buNone/>
            </a:pPr>
            <a:r>
              <a:rPr lang="en-US" sz="2700" b="1" dirty="0">
                <a:solidFill>
                  <a:srgbClr val="D9534F"/>
                </a:solidFill>
                <a:latin typeface="Calibri" pitchFamily="34" charset="0"/>
                <a:ea typeface="Calibri" pitchFamily="34" charset="-122"/>
                <a:cs typeface="Calibri" pitchFamily="34" charset="-120"/>
              </a:rPr>
              <a:t>Teil 2  ·  40 Min.</a:t>
            </a:r>
            <a:endParaRPr lang="en-US" sz="2700" dirty="0"/>
          </a:p>
          <a:p>
            <a:pPr indent="0" marL="0">
              <a:buNone/>
            </a:pPr>
            <a:r>
              <a:rPr lang="en-US" sz="2700" dirty="0">
                <a:solidFill>
                  <a:srgbClr val="1E2761"/>
                </a:solidFill>
                <a:latin typeface="Calibri" pitchFamily="34" charset="0"/>
                <a:ea typeface="Calibri" pitchFamily="34" charset="-122"/>
                <a:cs typeface="Calibri" pitchFamily="34" charset="-120"/>
              </a:rPr>
              <a:t>Kafka: Was will Kafka von seinem Vater? – der Appell</a:t>
            </a:r>
            <a:endParaRPr lang="en-US" sz="27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14400"/>
          </a:xfrm>
          <a:prstGeom prst="roundRect">
            <a:avLst/>
          </a:prstGeom>
          <a:solidFill>
            <a:srgbClr val="1E2761"/>
          </a:solidFill>
          <a:ln/>
        </p:spPr>
      </p:sp>
      <p:sp>
        <p:nvSpPr>
          <p:cNvPr id="3" name="Text 1"/>
          <p:cNvSpPr txBox="1"/>
          <p:nvPr/>
        </p:nvSpPr>
        <p:spPr>
          <a:xfrm>
            <a:off x="457200" y="0"/>
            <a:ext cx="9326880" cy="914400"/>
          </a:xfrm>
          <a:prstGeom prst="rect">
            <a:avLst/>
          </a:prstGeom>
          <a:noFill/>
          <a:ln/>
        </p:spPr>
        <p:txBody>
          <a:bodyPr wrap="square" lIns="0" tIns="0" rIns="0" bIns="0"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Lernziele</a:t>
            </a:r>
            <a:endParaRPr lang="en-US" sz="3000" dirty="0"/>
          </a:p>
        </p:txBody>
      </p:sp>
      <p:sp>
        <p:nvSpPr>
          <p:cNvPr id="4" name="Text 2"/>
          <p:cNvSpPr txBox="1"/>
          <p:nvPr/>
        </p:nvSpPr>
        <p:spPr>
          <a:xfrm>
            <a:off x="731520" y="1280160"/>
            <a:ext cx="10789920" cy="5120640"/>
          </a:xfrm>
          <a:prstGeom prst="rect">
            <a:avLst/>
          </a:prstGeom>
          <a:noFill/>
          <a:ln/>
        </p:spPr>
        <p:txBody>
          <a:bodyPr wrap="square" lIns="0" tIns="0" rIns="0" bIns="0" rtlCol="0" anchor="t"/>
          <a:lstStyle/>
          <a:p>
            <a:pPr marL="304800" indent="-304800">
              <a:spcAft>
                <a:spcPts val="1800"/>
              </a:spcAft>
              <a:buSzPct val="100000"/>
              <a:buChar char="•"/>
            </a:pPr>
            <a:r>
              <a:rPr lang="en-US" sz="2700" dirty="0">
                <a:solidFill>
                  <a:srgbClr val="1E2761"/>
                </a:solidFill>
                <a:latin typeface="Calibri" pitchFamily="34" charset="0"/>
                <a:ea typeface="Calibri" pitchFamily="34" charset="-122"/>
                <a:cs typeface="Calibri" pitchFamily="34" charset="-120"/>
              </a:rPr>
              <a:t>Ich weiß, wo ich im Brief Punkte gewonnen und verloren habe.</a:t>
            </a:r>
            <a:endParaRPr lang="en-US" sz="2700" dirty="0"/>
          </a:p>
          <a:p>
            <a:pPr marL="304800" indent="-304800">
              <a:spcAft>
                <a:spcPts val="1800"/>
              </a:spcAft>
              <a:buSzPct val="100000"/>
              <a:buChar char="•"/>
            </a:pPr>
            <a:r>
              <a:rPr lang="en-US" sz="2700" dirty="0">
                <a:solidFill>
                  <a:srgbClr val="1E2761"/>
                </a:solidFill>
                <a:latin typeface="Calibri" pitchFamily="34" charset="0"/>
                <a:ea typeface="Calibri" pitchFamily="34" charset="-122"/>
                <a:cs typeface="Calibri" pitchFamily="34" charset="-120"/>
              </a:rPr>
              <a:t>Ich erkenne offene und verdeckte Appelle in Kafkas Brief und belege sie.</a:t>
            </a:r>
            <a:endParaRPr lang="en-US" sz="2700" dirty="0"/>
          </a:p>
          <a:p>
            <a:pPr marL="304800" indent="-304800">
              <a:spcAft>
                <a:spcPts val="1800"/>
              </a:spcAft>
              <a:buSzPct val="100000"/>
              <a:buChar char="•"/>
            </a:pPr>
            <a:r>
              <a:rPr lang="en-US" sz="2700" dirty="0">
                <a:solidFill>
                  <a:srgbClr val="1E2761"/>
                </a:solidFill>
                <a:latin typeface="Calibri" pitchFamily="34" charset="0"/>
                <a:ea typeface="Calibri" pitchFamily="34" charset="-122"/>
                <a:cs typeface="Calibri" pitchFamily="34" charset="-120"/>
              </a:rPr>
              <a:t>Ich formuliere selbst einen offenen Appell in einer Rede.</a:t>
            </a:r>
            <a:endParaRPr lang="en-US" sz="27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14400"/>
          </a:xfrm>
          <a:prstGeom prst="roundRect">
            <a:avLst/>
          </a:prstGeom>
          <a:solidFill>
            <a:srgbClr val="1E2761"/>
          </a:solidFill>
          <a:ln/>
        </p:spPr>
      </p:sp>
      <p:sp>
        <p:nvSpPr>
          <p:cNvPr id="3" name="Text 1"/>
          <p:cNvSpPr txBox="1"/>
          <p:nvPr/>
        </p:nvSpPr>
        <p:spPr>
          <a:xfrm>
            <a:off x="457200" y="0"/>
            <a:ext cx="9326880" cy="914400"/>
          </a:xfrm>
          <a:prstGeom prst="rect">
            <a:avLst/>
          </a:prstGeom>
          <a:noFill/>
          <a:ln/>
        </p:spPr>
        <p:txBody>
          <a:bodyPr wrap="square" lIns="0" tIns="0" rIns="0" bIns="0"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Auswertung: Brief „Pressekonferenz“</a:t>
            </a:r>
            <a:endParaRPr lang="en-US" sz="3000" dirty="0"/>
          </a:p>
        </p:txBody>
      </p:sp>
      <p:sp>
        <p:nvSpPr>
          <p:cNvPr id="4" name="Shape 2"/>
          <p:cNvSpPr/>
          <p:nvPr/>
        </p:nvSpPr>
        <p:spPr>
          <a:xfrm>
            <a:off x="457200" y="1188720"/>
            <a:ext cx="3657600" cy="1554480"/>
          </a:xfrm>
          <a:prstGeom prst="roundRect">
            <a:avLst>
              <a:gd name="adj" fmla="val 4706"/>
            </a:avLst>
          </a:prstGeom>
          <a:solidFill>
            <a:srgbClr val="F4F7FD"/>
          </a:solidFill>
          <a:ln/>
        </p:spPr>
      </p:sp>
      <p:sp>
        <p:nvSpPr>
          <p:cNvPr id="5" name="Text 3"/>
          <p:cNvSpPr txBox="1"/>
          <p:nvPr/>
        </p:nvSpPr>
        <p:spPr>
          <a:xfrm>
            <a:off x="640080" y="1188720"/>
            <a:ext cx="3291840" cy="1554480"/>
          </a:xfrm>
          <a:prstGeom prst="rect">
            <a:avLst/>
          </a:prstGeom>
          <a:noFill/>
          <a:ln/>
        </p:spPr>
        <p:txBody>
          <a:bodyPr wrap="square" lIns="0" tIns="0" rIns="0" bIns="0" rtlCol="0" anchor="ctr"/>
          <a:lstStyle/>
          <a:p>
            <a:pPr algn="ctr" indent="0" marL="0">
              <a:buNone/>
            </a:pPr>
            <a:r>
              <a:rPr lang="en-US" sz="2700" dirty="0">
                <a:solidFill>
                  <a:srgbClr val="5B6B8C"/>
                </a:solidFill>
                <a:latin typeface="Calibri" pitchFamily="34" charset="0"/>
                <a:ea typeface="Calibri" pitchFamily="34" charset="-122"/>
                <a:cs typeface="Calibri" pitchFamily="34" charset="-120"/>
              </a:rPr>
              <a:t>Inhalt</a:t>
            </a:r>
            <a:endParaRPr lang="en-US" sz="2700" dirty="0"/>
          </a:p>
          <a:p>
            <a:pPr algn="ctr" indent="0" marL="0">
              <a:buNone/>
            </a:pPr>
            <a:r>
              <a:rPr lang="en-US" sz="3000" b="1" dirty="0">
                <a:solidFill>
                  <a:srgbClr val="1E2761"/>
                </a:solidFill>
                <a:latin typeface="Calibri" pitchFamily="34" charset="0"/>
                <a:ea typeface="Calibri" pitchFamily="34" charset="-122"/>
                <a:cs typeface="Calibri" pitchFamily="34" charset="-120"/>
              </a:rPr>
              <a:t>Ø 14,5 von 20</a:t>
            </a:r>
            <a:endParaRPr lang="en-US" sz="2700" dirty="0"/>
          </a:p>
        </p:txBody>
      </p:sp>
      <p:sp>
        <p:nvSpPr>
          <p:cNvPr id="6" name="Shape 4"/>
          <p:cNvSpPr/>
          <p:nvPr/>
        </p:nvSpPr>
        <p:spPr>
          <a:xfrm>
            <a:off x="4251960" y="1188720"/>
            <a:ext cx="3657600" cy="1554480"/>
          </a:xfrm>
          <a:prstGeom prst="roundRect">
            <a:avLst>
              <a:gd name="adj" fmla="val 4706"/>
            </a:avLst>
          </a:prstGeom>
          <a:solidFill>
            <a:srgbClr val="F4F7FD"/>
          </a:solidFill>
          <a:ln/>
        </p:spPr>
      </p:sp>
      <p:sp>
        <p:nvSpPr>
          <p:cNvPr id="7" name="Text 5"/>
          <p:cNvSpPr txBox="1"/>
          <p:nvPr/>
        </p:nvSpPr>
        <p:spPr>
          <a:xfrm>
            <a:off x="4434840" y="1188720"/>
            <a:ext cx="3291840" cy="1554480"/>
          </a:xfrm>
          <a:prstGeom prst="rect">
            <a:avLst/>
          </a:prstGeom>
          <a:noFill/>
          <a:ln/>
        </p:spPr>
        <p:txBody>
          <a:bodyPr wrap="square" lIns="0" tIns="0" rIns="0" bIns="0" rtlCol="0" anchor="ctr"/>
          <a:lstStyle/>
          <a:p>
            <a:pPr algn="ctr" indent="0" marL="0">
              <a:buNone/>
            </a:pPr>
            <a:r>
              <a:rPr lang="en-US" sz="2700" dirty="0">
                <a:solidFill>
                  <a:srgbClr val="5B6B8C"/>
                </a:solidFill>
                <a:latin typeface="Calibri" pitchFamily="34" charset="0"/>
                <a:ea typeface="Calibri" pitchFamily="34" charset="-122"/>
                <a:cs typeface="Calibri" pitchFamily="34" charset="-120"/>
              </a:rPr>
              <a:t>Sprache</a:t>
            </a:r>
            <a:endParaRPr lang="en-US" sz="2700" dirty="0"/>
          </a:p>
          <a:p>
            <a:pPr algn="ctr" indent="0" marL="0">
              <a:buNone/>
            </a:pPr>
            <a:r>
              <a:rPr lang="en-US" sz="3000" b="1" dirty="0">
                <a:solidFill>
                  <a:srgbClr val="1E2761"/>
                </a:solidFill>
                <a:latin typeface="Calibri" pitchFamily="34" charset="0"/>
                <a:ea typeface="Calibri" pitchFamily="34" charset="-122"/>
                <a:cs typeface="Calibri" pitchFamily="34" charset="-120"/>
              </a:rPr>
              <a:t>Ø 4,4 von 10</a:t>
            </a:r>
            <a:endParaRPr lang="en-US" sz="2700" dirty="0"/>
          </a:p>
        </p:txBody>
      </p:sp>
      <p:sp>
        <p:nvSpPr>
          <p:cNvPr id="8" name="Shape 6"/>
          <p:cNvSpPr/>
          <p:nvPr/>
        </p:nvSpPr>
        <p:spPr>
          <a:xfrm>
            <a:off x="8046720" y="1188720"/>
            <a:ext cx="3657600" cy="1554480"/>
          </a:xfrm>
          <a:prstGeom prst="roundRect">
            <a:avLst>
              <a:gd name="adj" fmla="val 4706"/>
            </a:avLst>
          </a:prstGeom>
          <a:solidFill>
            <a:srgbClr val="D8E1F3"/>
          </a:solidFill>
          <a:ln/>
        </p:spPr>
      </p:sp>
      <p:sp>
        <p:nvSpPr>
          <p:cNvPr id="9" name="Text 7"/>
          <p:cNvSpPr txBox="1"/>
          <p:nvPr/>
        </p:nvSpPr>
        <p:spPr>
          <a:xfrm>
            <a:off x="8229600" y="1188720"/>
            <a:ext cx="3291840" cy="1554480"/>
          </a:xfrm>
          <a:prstGeom prst="rect">
            <a:avLst/>
          </a:prstGeom>
          <a:noFill/>
          <a:ln/>
        </p:spPr>
        <p:txBody>
          <a:bodyPr wrap="square" lIns="0" tIns="0" rIns="0" bIns="0" rtlCol="0" anchor="ctr"/>
          <a:lstStyle/>
          <a:p>
            <a:pPr algn="ctr" indent="0" marL="0">
              <a:buNone/>
            </a:pPr>
            <a:r>
              <a:rPr lang="en-US" sz="2700" dirty="0">
                <a:solidFill>
                  <a:srgbClr val="5B6B8C"/>
                </a:solidFill>
                <a:latin typeface="Calibri" pitchFamily="34" charset="0"/>
                <a:ea typeface="Calibri" pitchFamily="34" charset="-122"/>
                <a:cs typeface="Calibri" pitchFamily="34" charset="-120"/>
              </a:rPr>
              <a:t>Gesamt</a:t>
            </a:r>
            <a:endParaRPr lang="en-US" sz="2700" dirty="0"/>
          </a:p>
          <a:p>
            <a:pPr algn="ctr" indent="0" marL="0">
              <a:buNone/>
            </a:pPr>
            <a:r>
              <a:rPr lang="en-US" sz="3000" b="1" dirty="0">
                <a:solidFill>
                  <a:srgbClr val="1E2761"/>
                </a:solidFill>
                <a:latin typeface="Calibri" pitchFamily="34" charset="0"/>
                <a:ea typeface="Calibri" pitchFamily="34" charset="-122"/>
                <a:cs typeface="Calibri" pitchFamily="34" charset="-120"/>
              </a:rPr>
              <a:t>Ø 18,9 von 30</a:t>
            </a:r>
            <a:endParaRPr lang="en-US" sz="2700" dirty="0"/>
          </a:p>
        </p:txBody>
      </p:sp>
      <p:sp>
        <p:nvSpPr>
          <p:cNvPr id="10" name="Text 8"/>
          <p:cNvSpPr txBox="1"/>
          <p:nvPr/>
        </p:nvSpPr>
        <p:spPr>
          <a:xfrm>
            <a:off x="457200" y="3063240"/>
            <a:ext cx="11247120" cy="1097280"/>
          </a:xfrm>
          <a:prstGeom prst="rect">
            <a:avLst/>
          </a:prstGeom>
          <a:noFill/>
          <a:ln/>
        </p:spPr>
        <p:txBody>
          <a:bodyPr wrap="square" lIns="0" tIns="0" rIns="0" bIns="0" rtlCol="0" anchor="t"/>
          <a:lstStyle/>
          <a:p>
            <a:pPr indent="0" marL="0">
              <a:buNone/>
            </a:pPr>
            <a:r>
              <a:rPr lang="en-US" sz="2700" b="1" dirty="0">
                <a:solidFill>
                  <a:srgbClr val="2E9E6B"/>
                </a:solidFill>
                <a:latin typeface="Calibri" pitchFamily="34" charset="0"/>
                <a:ea typeface="Calibri" pitchFamily="34" charset="-122"/>
                <a:cs typeface="Calibri" pitchFamily="34" charset="-120"/>
              </a:rPr>
              <a:t>Stark: </a:t>
            </a:r>
            <a:pPr indent="0" marL="0">
              <a:buNone/>
            </a:pPr>
            <a:r>
              <a:rPr lang="en-US" sz="2700" dirty="0">
                <a:solidFill>
                  <a:srgbClr val="1E2761"/>
                </a:solidFill>
                <a:latin typeface="Calibri" pitchFamily="34" charset="0"/>
                <a:ea typeface="Calibri" pitchFamily="34" charset="-122"/>
                <a:cs typeface="Calibri" pitchFamily="34" charset="-120"/>
              </a:rPr>
              <a:t>Beziehung reparieren und Metakommunikation</a:t>
            </a:r>
            <a:endParaRPr lang="en-US" sz="2700" dirty="0"/>
          </a:p>
        </p:txBody>
      </p:sp>
      <p:sp>
        <p:nvSpPr>
          <p:cNvPr id="11" name="Text 9"/>
          <p:cNvSpPr txBox="1"/>
          <p:nvPr/>
        </p:nvSpPr>
        <p:spPr>
          <a:xfrm>
            <a:off x="457200" y="4206240"/>
            <a:ext cx="11247120" cy="1280160"/>
          </a:xfrm>
          <a:prstGeom prst="rect">
            <a:avLst/>
          </a:prstGeom>
          <a:noFill/>
          <a:ln/>
        </p:spPr>
        <p:txBody>
          <a:bodyPr wrap="square" lIns="0" tIns="0" rIns="0" bIns="0" rtlCol="0" anchor="t"/>
          <a:lstStyle/>
          <a:p>
            <a:pPr indent="0" marL="0">
              <a:buNone/>
            </a:pPr>
            <a:r>
              <a:rPr lang="en-US" sz="2700" b="1" dirty="0">
                <a:solidFill>
                  <a:srgbClr val="D9534F"/>
                </a:solidFill>
                <a:latin typeface="Calibri" pitchFamily="34" charset="0"/>
                <a:ea typeface="Calibri" pitchFamily="34" charset="-122"/>
                <a:cs typeface="Calibri" pitchFamily="34" charset="-120"/>
              </a:rPr>
              <a:t>Schwach: </a:t>
            </a:r>
            <a:pPr indent="0" marL="0">
              <a:buNone/>
            </a:pPr>
            <a:r>
              <a:rPr lang="en-US" sz="2700" dirty="0">
                <a:solidFill>
                  <a:srgbClr val="1E2761"/>
                </a:solidFill>
                <a:latin typeface="Calibri" pitchFamily="34" charset="0"/>
                <a:ea typeface="Calibri" pitchFamily="34" charset="-122"/>
                <a:cs typeface="Calibri" pitchFamily="34" charset="-120"/>
              </a:rPr>
              <a:t>Appell: oft nur „Ich hoffe, ihr …“ statt einer klaren Bitte</a:t>
            </a:r>
            <a:endParaRPr lang="en-US" sz="2700" dirty="0"/>
          </a:p>
        </p:txBody>
      </p:sp>
      <p:sp>
        <p:nvSpPr>
          <p:cNvPr id="12" name="Text 10"/>
          <p:cNvSpPr txBox="1"/>
          <p:nvPr/>
        </p:nvSpPr>
        <p:spPr>
          <a:xfrm>
            <a:off x="457200" y="5669280"/>
            <a:ext cx="11247120" cy="548640"/>
          </a:xfrm>
          <a:prstGeom prst="rect">
            <a:avLst/>
          </a:prstGeom>
          <a:noFill/>
          <a:ln/>
        </p:spPr>
        <p:txBody>
          <a:bodyPr wrap="square" lIns="0" tIns="0" rIns="0" bIns="0" rtlCol="0" anchor="t"/>
          <a:lstStyle/>
          <a:p>
            <a:pPr indent="0" marL="0">
              <a:buNone/>
            </a:pPr>
            <a:r>
              <a:rPr lang="en-US" sz="2700" i="1" dirty="0">
                <a:solidFill>
                  <a:srgbClr val="5B6B8C"/>
                </a:solidFill>
                <a:latin typeface="Calibri" pitchFamily="34" charset="0"/>
                <a:ea typeface="Calibri" pitchFamily="34" charset="-122"/>
                <a:cs typeface="Calibri" pitchFamily="34" charset="-120"/>
              </a:rPr>
              <a:t>→ Darum geht es heute in Teil 2.</a:t>
            </a:r>
            <a:endParaRPr lang="en-US" sz="27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14400"/>
          </a:xfrm>
          <a:prstGeom prst="roundRect">
            <a:avLst/>
          </a:prstGeom>
          <a:solidFill>
            <a:srgbClr val="1E2761"/>
          </a:solidFill>
          <a:ln/>
        </p:spPr>
      </p:sp>
      <p:sp>
        <p:nvSpPr>
          <p:cNvPr id="3" name="Text 1"/>
          <p:cNvSpPr txBox="1"/>
          <p:nvPr/>
        </p:nvSpPr>
        <p:spPr>
          <a:xfrm>
            <a:off x="457200" y="0"/>
            <a:ext cx="9326880" cy="914400"/>
          </a:xfrm>
          <a:prstGeom prst="rect">
            <a:avLst/>
          </a:prstGeom>
          <a:noFill/>
          <a:ln/>
        </p:spPr>
        <p:txBody>
          <a:bodyPr wrap="square" lIns="0" tIns="0" rIns="0" bIns="0"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Wo die Punkte verloren gehen</a:t>
            </a:r>
            <a:endParaRPr lang="en-US" sz="3000" dirty="0"/>
          </a:p>
        </p:txBody>
      </p:sp>
      <p:sp>
        <p:nvSpPr>
          <p:cNvPr id="4" name="Shape 2"/>
          <p:cNvSpPr/>
          <p:nvPr/>
        </p:nvSpPr>
        <p:spPr>
          <a:xfrm>
            <a:off x="457200" y="1188720"/>
            <a:ext cx="11247120" cy="1188720"/>
          </a:xfrm>
          <a:prstGeom prst="roundRect">
            <a:avLst>
              <a:gd name="adj" fmla="val 6154"/>
            </a:avLst>
          </a:prstGeom>
          <a:solidFill>
            <a:srgbClr val="FDECEA"/>
          </a:solidFill>
          <a:ln/>
        </p:spPr>
      </p:sp>
      <p:sp>
        <p:nvSpPr>
          <p:cNvPr id="5" name="Text 3"/>
          <p:cNvSpPr txBox="1"/>
          <p:nvPr/>
        </p:nvSpPr>
        <p:spPr>
          <a:xfrm>
            <a:off x="731520" y="1188720"/>
            <a:ext cx="10789920" cy="1188720"/>
          </a:xfrm>
          <a:prstGeom prst="rect">
            <a:avLst/>
          </a:prstGeom>
          <a:noFill/>
          <a:ln/>
        </p:spPr>
        <p:txBody>
          <a:bodyPr wrap="square" lIns="0" tIns="0" rIns="0" bIns="0" rtlCol="0" anchor="ctr"/>
          <a:lstStyle/>
          <a:p>
            <a:pPr indent="0" marL="0">
              <a:buNone/>
            </a:pPr>
            <a:r>
              <a:rPr lang="en-US" sz="2700" b="1" dirty="0">
                <a:solidFill>
                  <a:srgbClr val="D9534F"/>
                </a:solidFill>
                <a:latin typeface="Calibri" pitchFamily="34" charset="0"/>
                <a:ea typeface="Calibri" pitchFamily="34" charset="-122"/>
                <a:cs typeface="Calibri" pitchFamily="34" charset="-120"/>
              </a:rPr>
              <a:t>Rechtschreibung Ø 0,4 von 2 · Zeichensetzung Ø 0,6 von 2</a:t>
            </a:r>
            <a:endParaRPr lang="en-US" sz="2700" dirty="0"/>
          </a:p>
        </p:txBody>
      </p:sp>
      <p:sp>
        <p:nvSpPr>
          <p:cNvPr id="6" name="Text 4"/>
          <p:cNvSpPr txBox="1"/>
          <p:nvPr/>
        </p:nvSpPr>
        <p:spPr>
          <a:xfrm>
            <a:off x="731520" y="2651760"/>
            <a:ext cx="10789920" cy="1645920"/>
          </a:xfrm>
          <a:prstGeom prst="rect">
            <a:avLst/>
          </a:prstGeom>
          <a:noFill/>
          <a:ln/>
        </p:spPr>
        <p:txBody>
          <a:bodyPr wrap="square" lIns="0" tIns="0" rIns="0" bIns="0" rtlCol="0" anchor="t"/>
          <a:lstStyle/>
          <a:p>
            <a:pPr marL="304800" indent="-304800">
              <a:spcAft>
                <a:spcPts val="1000"/>
              </a:spcAft>
              <a:buSzPct val="100000"/>
              <a:buChar char="•"/>
            </a:pPr>
            <a:r>
              <a:rPr lang="en-US" sz="2700" dirty="0">
                <a:solidFill>
                  <a:srgbClr val="1E2761"/>
                </a:solidFill>
                <a:latin typeface="Calibri" pitchFamily="34" charset="0"/>
                <a:ea typeface="Calibri" pitchFamily="34" charset="-122"/>
                <a:cs typeface="Calibri" pitchFamily="34" charset="-120"/>
              </a:rPr>
              <a:t>Substantive werden kleingeschrieben.</a:t>
            </a:r>
            <a:endParaRPr lang="en-US" sz="2700" dirty="0"/>
          </a:p>
          <a:p>
            <a:pPr marL="304800" indent="-304800">
              <a:spcAft>
                <a:spcPts val="1000"/>
              </a:spcAft>
              <a:buSzPct val="100000"/>
              <a:buChar char="•"/>
            </a:pPr>
            <a:r>
              <a:rPr lang="en-US" sz="2700" dirty="0">
                <a:solidFill>
                  <a:srgbClr val="1E2761"/>
                </a:solidFill>
                <a:latin typeface="Calibri" pitchFamily="34" charset="0"/>
                <a:ea typeface="Calibri" pitchFamily="34" charset="-122"/>
                <a:cs typeface="Calibri" pitchFamily="34" charset="-120"/>
              </a:rPr>
              <a:t>Kommas zwischen Sätzen fehlen – auch bei „Ich hoffe, ihr …“</a:t>
            </a:r>
            <a:endParaRPr lang="en-US" sz="2700" dirty="0"/>
          </a:p>
        </p:txBody>
      </p:sp>
      <p:sp>
        <p:nvSpPr>
          <p:cNvPr id="7" name="Shape 5"/>
          <p:cNvSpPr/>
          <p:nvPr/>
        </p:nvSpPr>
        <p:spPr>
          <a:xfrm>
            <a:off x="457200" y="4754880"/>
            <a:ext cx="11247120" cy="1188720"/>
          </a:xfrm>
          <a:prstGeom prst="roundRect">
            <a:avLst>
              <a:gd name="adj" fmla="val 6154"/>
            </a:avLst>
          </a:prstGeom>
          <a:solidFill>
            <a:srgbClr val="E3F1E8"/>
          </a:solidFill>
          <a:ln/>
        </p:spPr>
      </p:sp>
      <p:sp>
        <p:nvSpPr>
          <p:cNvPr id="8" name="Text 6"/>
          <p:cNvSpPr txBox="1"/>
          <p:nvPr/>
        </p:nvSpPr>
        <p:spPr>
          <a:xfrm>
            <a:off x="731520" y="4754880"/>
            <a:ext cx="10789920" cy="1188720"/>
          </a:xfrm>
          <a:prstGeom prst="rect">
            <a:avLst/>
          </a:prstGeom>
          <a:noFill/>
          <a:ln/>
        </p:spPr>
        <p:txBody>
          <a:bodyPr wrap="square" lIns="0" tIns="0" rIns="0" bIns="0" rtlCol="0" anchor="ctr"/>
          <a:lstStyle/>
          <a:p>
            <a:pPr indent="0" marL="0">
              <a:buNone/>
            </a:pPr>
            <a:r>
              <a:rPr lang="en-US" sz="2700" b="1" dirty="0">
                <a:solidFill>
                  <a:srgbClr val="2E9E6B"/>
                </a:solidFill>
                <a:latin typeface="Calibri" pitchFamily="34" charset="0"/>
                <a:ea typeface="Calibri" pitchFamily="34" charset="-122"/>
                <a:cs typeface="Calibri" pitchFamily="34" charset="-120"/>
              </a:rPr>
              <a:t>Training folgt in den nächsten Stunden – achtet schon heute beim Schreiben darauf.</a:t>
            </a:r>
            <a:endParaRPr lang="en-US" sz="27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14400"/>
          </a:xfrm>
          <a:prstGeom prst="roundRect">
            <a:avLst/>
          </a:prstGeom>
          <a:solidFill>
            <a:srgbClr val="1E2761"/>
          </a:solidFill>
          <a:ln/>
        </p:spPr>
      </p:sp>
      <p:sp>
        <p:nvSpPr>
          <p:cNvPr id="3" name="Text 1"/>
          <p:cNvSpPr txBox="1"/>
          <p:nvPr/>
        </p:nvSpPr>
        <p:spPr>
          <a:xfrm>
            <a:off x="457200" y="0"/>
            <a:ext cx="9326880" cy="914400"/>
          </a:xfrm>
          <a:prstGeom prst="rect">
            <a:avLst/>
          </a:prstGeom>
          <a:noFill/>
          <a:ln/>
        </p:spPr>
        <p:txBody>
          <a:bodyPr wrap="square" lIns="0" tIns="0" rIns="0" bIns="0"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Weiter geht’s</a:t>
            </a:r>
            <a:endParaRPr lang="en-US" sz="3000" dirty="0"/>
          </a:p>
        </p:txBody>
      </p:sp>
      <p:sp>
        <p:nvSpPr>
          <p:cNvPr id="4" name="Shape 2"/>
          <p:cNvSpPr/>
          <p:nvPr/>
        </p:nvSpPr>
        <p:spPr>
          <a:xfrm>
            <a:off x="457200" y="1280160"/>
            <a:ext cx="11247120" cy="1737360"/>
          </a:xfrm>
          <a:prstGeom prst="roundRect">
            <a:avLst>
              <a:gd name="adj" fmla="val 4211"/>
            </a:avLst>
          </a:prstGeom>
          <a:solidFill>
            <a:srgbClr val="F4F7FD"/>
          </a:solidFill>
          <a:ln/>
        </p:spPr>
      </p:sp>
      <p:sp>
        <p:nvSpPr>
          <p:cNvPr id="5" name="Text 3"/>
          <p:cNvSpPr txBox="1"/>
          <p:nvPr/>
        </p:nvSpPr>
        <p:spPr>
          <a:xfrm>
            <a:off x="777240" y="1280160"/>
            <a:ext cx="10698480" cy="1737360"/>
          </a:xfrm>
          <a:prstGeom prst="rect">
            <a:avLst/>
          </a:prstGeom>
          <a:noFill/>
          <a:ln/>
        </p:spPr>
        <p:txBody>
          <a:bodyPr wrap="square" lIns="0" tIns="0" rIns="0" bIns="0" rtlCol="0" anchor="ctr"/>
          <a:lstStyle/>
          <a:p>
            <a:pPr indent="0" marL="0">
              <a:buNone/>
            </a:pPr>
            <a:r>
              <a:rPr lang="en-US" sz="2700" b="1" dirty="0">
                <a:solidFill>
                  <a:srgbClr val="5B6B8C"/>
                </a:solidFill>
                <a:latin typeface="Calibri" pitchFamily="34" charset="0"/>
                <a:ea typeface="Calibri" pitchFamily="34" charset="-122"/>
                <a:cs typeface="Calibri" pitchFamily="34" charset="-120"/>
              </a:rPr>
              <a:t>Teil 1  ·  5 Min.</a:t>
            </a:r>
            <a:endParaRPr lang="en-US" sz="2700" dirty="0"/>
          </a:p>
          <a:p>
            <a:pPr indent="0" marL="0">
              <a:buNone/>
            </a:pPr>
            <a:r>
              <a:rPr lang="en-US" sz="2700" dirty="0">
                <a:solidFill>
                  <a:srgbClr val="5B6B8C"/>
                </a:solidFill>
                <a:latin typeface="Calibri" pitchFamily="34" charset="0"/>
                <a:ea typeface="Calibri" pitchFamily="34" charset="-122"/>
                <a:cs typeface="Calibri" pitchFamily="34" charset="-120"/>
              </a:rPr>
              <a:t>Auswertung des Briefs „Pressekonferenz“</a:t>
            </a:r>
            <a:endParaRPr lang="en-US" sz="2700" dirty="0"/>
          </a:p>
        </p:txBody>
      </p:sp>
      <p:sp>
        <p:nvSpPr>
          <p:cNvPr id="6" name="Shape 4"/>
          <p:cNvSpPr/>
          <p:nvPr/>
        </p:nvSpPr>
        <p:spPr>
          <a:xfrm>
            <a:off x="457200" y="3291840"/>
            <a:ext cx="11247120" cy="1737360"/>
          </a:xfrm>
          <a:prstGeom prst="roundRect">
            <a:avLst>
              <a:gd name="adj" fmla="val 4211"/>
            </a:avLst>
          </a:prstGeom>
          <a:solidFill>
            <a:srgbClr val="FDECEA"/>
          </a:solidFill>
          <a:ln w="25400">
            <a:solidFill>
              <a:srgbClr val="D9534F"/>
            </a:solidFill>
            <a:prstDash val="solid"/>
          </a:ln>
        </p:spPr>
      </p:sp>
      <p:sp>
        <p:nvSpPr>
          <p:cNvPr id="7" name="Text 5"/>
          <p:cNvSpPr txBox="1"/>
          <p:nvPr/>
        </p:nvSpPr>
        <p:spPr>
          <a:xfrm>
            <a:off x="777240" y="3291840"/>
            <a:ext cx="10698480" cy="1737360"/>
          </a:xfrm>
          <a:prstGeom prst="rect">
            <a:avLst/>
          </a:prstGeom>
          <a:noFill/>
          <a:ln/>
        </p:spPr>
        <p:txBody>
          <a:bodyPr wrap="square" lIns="0" tIns="0" rIns="0" bIns="0" rtlCol="0" anchor="ctr"/>
          <a:lstStyle/>
          <a:p>
            <a:pPr indent="0" marL="0">
              <a:buNone/>
            </a:pPr>
            <a:r>
              <a:rPr lang="en-US" sz="2700" b="1" dirty="0">
                <a:solidFill>
                  <a:srgbClr val="D9534F"/>
                </a:solidFill>
                <a:latin typeface="Calibri" pitchFamily="34" charset="0"/>
                <a:ea typeface="Calibri" pitchFamily="34" charset="-122"/>
                <a:cs typeface="Calibri" pitchFamily="34" charset="-120"/>
              </a:rPr>
              <a:t>Teil 2  ·  40 Min.</a:t>
            </a:r>
            <a:endParaRPr lang="en-US" sz="2700" dirty="0"/>
          </a:p>
          <a:p>
            <a:pPr indent="0" marL="0">
              <a:buNone/>
            </a:pPr>
            <a:r>
              <a:rPr lang="en-US" sz="2700" dirty="0">
                <a:solidFill>
                  <a:srgbClr val="1E2761"/>
                </a:solidFill>
                <a:latin typeface="Calibri" pitchFamily="34" charset="0"/>
                <a:ea typeface="Calibri" pitchFamily="34" charset="-122"/>
                <a:cs typeface="Calibri" pitchFamily="34" charset="-120"/>
              </a:rPr>
              <a:t>Kafka: Was will Kafka von seinem Vater? – der Appell</a:t>
            </a:r>
            <a:endParaRPr lang="en-US" sz="27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E2761"/>
        </a:solidFill>
      </p:bgPr>
    </p:bg>
    <p:spTree>
      <p:nvGrpSpPr>
        <p:cNvPr id="1" name=""/>
        <p:cNvGrpSpPr/>
        <p:nvPr/>
      </p:nvGrpSpPr>
      <p:grpSpPr>
        <a:xfrm>
          <a:off x="0" y="0"/>
          <a:ext cx="0" cy="0"/>
          <a:chOff x="0" y="0"/>
          <a:chExt cx="0" cy="0"/>
        </a:xfrm>
      </p:grpSpPr>
      <p:sp>
        <p:nvSpPr>
          <p:cNvPr id="2" name="Shape 0"/>
          <p:cNvSpPr/>
          <p:nvPr/>
        </p:nvSpPr>
        <p:spPr>
          <a:xfrm>
            <a:off x="9692640" y="-1463040"/>
            <a:ext cx="4206240" cy="4206240"/>
          </a:xfrm>
          <a:prstGeom prst="ellipse">
            <a:avLst/>
          </a:prstGeom>
          <a:solidFill>
            <a:srgbClr val="24306E"/>
          </a:solidFill>
          <a:ln/>
        </p:spPr>
      </p:sp>
      <p:sp>
        <p:nvSpPr>
          <p:cNvPr id="3" name="Shape 1"/>
          <p:cNvSpPr/>
          <p:nvPr/>
        </p:nvSpPr>
        <p:spPr>
          <a:xfrm>
            <a:off x="822960" y="1280160"/>
            <a:ext cx="2926080" cy="548640"/>
          </a:xfrm>
          <a:prstGeom prst="roundRect">
            <a:avLst>
              <a:gd name="adj" fmla="val 50000"/>
            </a:avLst>
          </a:prstGeom>
          <a:solidFill>
            <a:srgbClr val="D9534F"/>
          </a:solidFill>
          <a:ln/>
        </p:spPr>
      </p:sp>
      <p:sp>
        <p:nvSpPr>
          <p:cNvPr id="4" name="Text 2"/>
          <p:cNvSpPr txBox="1"/>
          <p:nvPr/>
        </p:nvSpPr>
        <p:spPr>
          <a:xfrm>
            <a:off x="822960" y="1280160"/>
            <a:ext cx="2926080" cy="548640"/>
          </a:xfrm>
          <a:prstGeom prst="rect">
            <a:avLst/>
          </a:prstGeom>
          <a:noFill/>
          <a:ln/>
        </p:spPr>
        <p:txBody>
          <a:bodyPr wrap="square" lIns="0" tIns="0" rIns="0" bIns="0" rtlCol="0" anchor="ctr"/>
          <a:lstStyle/>
          <a:p>
            <a:pPr algn="ctr" indent="0" marL="0">
              <a:buNone/>
            </a:pPr>
            <a:r>
              <a:rPr lang="en-US" sz="2700" b="1" dirty="0">
                <a:solidFill>
                  <a:srgbClr val="FFFFFF"/>
                </a:solidFill>
                <a:latin typeface="Calibri" pitchFamily="34" charset="0"/>
                <a:ea typeface="Calibri" pitchFamily="34" charset="-122"/>
                <a:cs typeface="Calibri" pitchFamily="34" charset="-120"/>
              </a:rPr>
              <a:t>ANKOMMEN</a:t>
            </a:r>
            <a:endParaRPr lang="en-US" sz="2700" dirty="0"/>
          </a:p>
        </p:txBody>
      </p:sp>
      <p:sp>
        <p:nvSpPr>
          <p:cNvPr id="5" name="Text 3"/>
          <p:cNvSpPr txBox="1"/>
          <p:nvPr/>
        </p:nvSpPr>
        <p:spPr>
          <a:xfrm>
            <a:off x="822960" y="2194560"/>
            <a:ext cx="10424160" cy="731520"/>
          </a:xfrm>
          <a:prstGeom prst="rect">
            <a:avLst/>
          </a:prstGeom>
          <a:noFill/>
          <a:ln/>
        </p:spPr>
        <p:txBody>
          <a:bodyPr wrap="square" lIns="0" tIns="0" rIns="0" bIns="0" rtlCol="0" anchor="t"/>
          <a:lstStyle/>
          <a:p>
            <a:pPr indent="0" marL="0">
              <a:buNone/>
            </a:pPr>
            <a:r>
              <a:rPr lang="en-US" sz="3200" dirty="0">
                <a:solidFill>
                  <a:srgbClr val="CADCFC"/>
                </a:solidFill>
                <a:latin typeface="Cambria" pitchFamily="34" charset="0"/>
                <a:ea typeface="Cambria" pitchFamily="34" charset="-122"/>
                <a:cs typeface="Cambria" pitchFamily="34" charset="-120"/>
              </a:rPr>
              <a:t>Ich habe euch eben Rückmeldung gegeben.</a:t>
            </a:r>
            <a:endParaRPr lang="en-US" sz="3200" dirty="0"/>
          </a:p>
        </p:txBody>
      </p:sp>
      <p:sp>
        <p:nvSpPr>
          <p:cNvPr id="6" name="Text 4"/>
          <p:cNvSpPr txBox="1"/>
          <p:nvPr/>
        </p:nvSpPr>
        <p:spPr>
          <a:xfrm>
            <a:off x="822960" y="3017520"/>
            <a:ext cx="10424160" cy="1097280"/>
          </a:xfrm>
          <a:prstGeom prst="rect">
            <a:avLst/>
          </a:prstGeom>
          <a:noFill/>
          <a:ln/>
        </p:spPr>
        <p:txBody>
          <a:bodyPr wrap="square" lIns="0" tIns="0" rIns="0" bIns="0" rtlCol="0" anchor="t"/>
          <a:lstStyle/>
          <a:p>
            <a:pPr indent="0" marL="0">
              <a:buNone/>
            </a:pPr>
            <a:r>
              <a:rPr lang="en-US" sz="4000" b="1" dirty="0">
                <a:solidFill>
                  <a:srgbClr val="FFFFFF"/>
                </a:solidFill>
                <a:latin typeface="Cambria" pitchFamily="34" charset="0"/>
                <a:ea typeface="Cambria" pitchFamily="34" charset="-122"/>
                <a:cs typeface="Cambria" pitchFamily="34" charset="-120"/>
              </a:rPr>
              <a:t>Was ist mein Appell an euch?</a:t>
            </a:r>
            <a:endParaRPr lang="en-US" sz="4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14400"/>
          </a:xfrm>
          <a:prstGeom prst="roundRect">
            <a:avLst/>
          </a:prstGeom>
          <a:solidFill>
            <a:srgbClr val="1E2761"/>
          </a:solidFill>
          <a:ln/>
        </p:spPr>
      </p:sp>
      <p:sp>
        <p:nvSpPr>
          <p:cNvPr id="3" name="Text 1"/>
          <p:cNvSpPr txBox="1"/>
          <p:nvPr/>
        </p:nvSpPr>
        <p:spPr>
          <a:xfrm>
            <a:off x="457200" y="0"/>
            <a:ext cx="9326880" cy="914400"/>
          </a:xfrm>
          <a:prstGeom prst="rect">
            <a:avLst/>
          </a:prstGeom>
          <a:noFill/>
          <a:ln/>
        </p:spPr>
        <p:txBody>
          <a:bodyPr wrap="square" lIns="0" tIns="0" rIns="0" bIns="0"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Was wisst ihr noch?</a:t>
            </a:r>
            <a:endParaRPr lang="en-US" sz="3000" dirty="0"/>
          </a:p>
        </p:txBody>
      </p:sp>
      <p:sp>
        <p:nvSpPr>
          <p:cNvPr id="4" name="Text 2"/>
          <p:cNvSpPr txBox="1"/>
          <p:nvPr/>
        </p:nvSpPr>
        <p:spPr>
          <a:xfrm>
            <a:off x="8503920" y="137160"/>
            <a:ext cx="3383280" cy="640080"/>
          </a:xfrm>
          <a:prstGeom prst="rect">
            <a:avLst/>
          </a:prstGeom>
          <a:noFill/>
          <a:ln/>
        </p:spPr>
        <p:txBody>
          <a:bodyPr wrap="square" lIns="0" tIns="0" rIns="0" bIns="0" rtlCol="0" anchor="ctr"/>
          <a:lstStyle/>
          <a:p>
            <a:pPr algn="r" indent="0" marL="0">
              <a:buNone/>
            </a:pPr>
            <a:r>
              <a:rPr lang="en-US" sz="2700" b="1" dirty="0">
                <a:solidFill>
                  <a:srgbClr val="CADCFC"/>
                </a:solidFill>
                <a:latin typeface="Calibri" pitchFamily="34" charset="0"/>
                <a:ea typeface="Calibri" pitchFamily="34" charset="-122"/>
                <a:cs typeface="Calibri" pitchFamily="34" charset="-120"/>
              </a:rPr>
              <a:t>VORWISSEN</a:t>
            </a:r>
            <a:endParaRPr lang="en-US" sz="2700" dirty="0"/>
          </a:p>
        </p:txBody>
      </p:sp>
      <p:sp>
        <p:nvSpPr>
          <p:cNvPr id="5" name="Shape 3"/>
          <p:cNvSpPr/>
          <p:nvPr/>
        </p:nvSpPr>
        <p:spPr>
          <a:xfrm>
            <a:off x="457200" y="1188720"/>
            <a:ext cx="11247120" cy="1508760"/>
          </a:xfrm>
          <a:prstGeom prst="roundRect">
            <a:avLst>
              <a:gd name="adj" fmla="val 4848"/>
            </a:avLst>
          </a:prstGeom>
          <a:solidFill>
            <a:srgbClr val="F4F7FD"/>
          </a:solidFill>
          <a:ln w="9525">
            <a:solidFill>
              <a:srgbClr val="D5DCEC"/>
            </a:solidFill>
            <a:prstDash val="solid"/>
          </a:ln>
        </p:spPr>
      </p:sp>
      <p:sp>
        <p:nvSpPr>
          <p:cNvPr id="6" name="Text 4"/>
          <p:cNvSpPr txBox="1"/>
          <p:nvPr/>
        </p:nvSpPr>
        <p:spPr>
          <a:xfrm>
            <a:off x="731520" y="1188720"/>
            <a:ext cx="10789920" cy="1508760"/>
          </a:xfrm>
          <a:prstGeom prst="rect">
            <a:avLst/>
          </a:prstGeom>
          <a:noFill/>
          <a:ln/>
        </p:spPr>
        <p:txBody>
          <a:bodyPr wrap="square" lIns="0" tIns="0" rIns="0" bIns="0" rtlCol="0" anchor="ctr"/>
          <a:lstStyle/>
          <a:p>
            <a:pPr indent="0" marL="0">
              <a:buNone/>
            </a:pPr>
            <a:r>
              <a:rPr lang="en-US" sz="2700" b="1" dirty="0">
                <a:solidFill>
                  <a:srgbClr val="1E2761"/>
                </a:solidFill>
                <a:latin typeface="Calibri" pitchFamily="34" charset="0"/>
                <a:ea typeface="Calibri" pitchFamily="34" charset="-122"/>
                <a:cs typeface="Calibri" pitchFamily="34" charset="-120"/>
              </a:rPr>
              <a:t>Wie kommunizieren wir?</a:t>
            </a:r>
            <a:endParaRPr lang="en-US" sz="2700" dirty="0"/>
          </a:p>
          <a:p>
            <a:pPr indent="0" marL="0">
              <a:buNone/>
            </a:pPr>
            <a:r>
              <a:rPr lang="en-US" sz="2700" i="1" dirty="0">
                <a:solidFill>
                  <a:srgbClr val="5B6B8C"/>
                </a:solidFill>
                <a:latin typeface="Calibri" pitchFamily="34" charset="0"/>
                <a:ea typeface="Calibri" pitchFamily="34" charset="-122"/>
                <a:cs typeface="Calibri" pitchFamily="34" charset="-120"/>
              </a:rPr>
              <a:t>verbal · paraverbal · nonverbal</a:t>
            </a:r>
            <a:endParaRPr lang="en-US" sz="2700" dirty="0"/>
          </a:p>
        </p:txBody>
      </p:sp>
      <p:sp>
        <p:nvSpPr>
          <p:cNvPr id="7" name="Shape 5"/>
          <p:cNvSpPr/>
          <p:nvPr/>
        </p:nvSpPr>
        <p:spPr>
          <a:xfrm>
            <a:off x="457200" y="2880360"/>
            <a:ext cx="11247120" cy="1508760"/>
          </a:xfrm>
          <a:prstGeom prst="roundRect">
            <a:avLst>
              <a:gd name="adj" fmla="val 4848"/>
            </a:avLst>
          </a:prstGeom>
          <a:solidFill>
            <a:srgbClr val="FFFFFF"/>
          </a:solidFill>
          <a:ln w="9525">
            <a:solidFill>
              <a:srgbClr val="D5DCEC"/>
            </a:solidFill>
            <a:prstDash val="solid"/>
          </a:ln>
        </p:spPr>
      </p:sp>
      <p:sp>
        <p:nvSpPr>
          <p:cNvPr id="8" name="Text 6"/>
          <p:cNvSpPr txBox="1"/>
          <p:nvPr/>
        </p:nvSpPr>
        <p:spPr>
          <a:xfrm>
            <a:off x="731520" y="2880360"/>
            <a:ext cx="10789920" cy="1508760"/>
          </a:xfrm>
          <a:prstGeom prst="rect">
            <a:avLst/>
          </a:prstGeom>
          <a:noFill/>
          <a:ln/>
        </p:spPr>
        <p:txBody>
          <a:bodyPr wrap="square" lIns="0" tIns="0" rIns="0" bIns="0" rtlCol="0" anchor="ctr"/>
          <a:lstStyle/>
          <a:p>
            <a:pPr indent="0" marL="0">
              <a:buNone/>
            </a:pPr>
            <a:r>
              <a:rPr lang="en-US" sz="2700" b="1" dirty="0">
                <a:solidFill>
                  <a:srgbClr val="1E2761"/>
                </a:solidFill>
                <a:latin typeface="Calibri" pitchFamily="34" charset="0"/>
                <a:ea typeface="Calibri" pitchFamily="34" charset="-122"/>
                <a:cs typeface="Calibri" pitchFamily="34" charset="-120"/>
              </a:rPr>
              <a:t>Wie viele Ohren hat eine Nachricht?</a:t>
            </a:r>
            <a:endParaRPr lang="en-US" sz="2700" dirty="0"/>
          </a:p>
          <a:p>
            <a:pPr indent="0" marL="0">
              <a:buNone/>
            </a:pPr>
            <a:r>
              <a:rPr lang="en-US" sz="2700" i="1" dirty="0">
                <a:solidFill>
                  <a:srgbClr val="5B6B8C"/>
                </a:solidFill>
                <a:latin typeface="Calibri" pitchFamily="34" charset="0"/>
                <a:ea typeface="Calibri" pitchFamily="34" charset="-122"/>
                <a:cs typeface="Calibri" pitchFamily="34" charset="-120"/>
              </a:rPr>
              <a:t>Schulz von Thun</a:t>
            </a:r>
            <a:endParaRPr lang="en-US" sz="2700" dirty="0"/>
          </a:p>
        </p:txBody>
      </p:sp>
      <p:sp>
        <p:nvSpPr>
          <p:cNvPr id="9" name="Shape 7"/>
          <p:cNvSpPr/>
          <p:nvPr/>
        </p:nvSpPr>
        <p:spPr>
          <a:xfrm>
            <a:off x="457200" y="4572000"/>
            <a:ext cx="11247120" cy="1508760"/>
          </a:xfrm>
          <a:prstGeom prst="roundRect">
            <a:avLst>
              <a:gd name="adj" fmla="val 4848"/>
            </a:avLst>
          </a:prstGeom>
          <a:solidFill>
            <a:srgbClr val="F4F7FD"/>
          </a:solidFill>
          <a:ln w="9525">
            <a:solidFill>
              <a:srgbClr val="D5DCEC"/>
            </a:solidFill>
            <a:prstDash val="solid"/>
          </a:ln>
        </p:spPr>
      </p:sp>
      <p:sp>
        <p:nvSpPr>
          <p:cNvPr id="10" name="Text 8"/>
          <p:cNvSpPr txBox="1"/>
          <p:nvPr/>
        </p:nvSpPr>
        <p:spPr>
          <a:xfrm>
            <a:off x="731520" y="4572000"/>
            <a:ext cx="10789920" cy="1508760"/>
          </a:xfrm>
          <a:prstGeom prst="rect">
            <a:avLst/>
          </a:prstGeom>
          <a:noFill/>
          <a:ln/>
        </p:spPr>
        <p:txBody>
          <a:bodyPr wrap="square" lIns="0" tIns="0" rIns="0" bIns="0" rtlCol="0" anchor="ctr"/>
          <a:lstStyle/>
          <a:p>
            <a:pPr indent="0" marL="0">
              <a:buNone/>
            </a:pPr>
            <a:r>
              <a:rPr lang="en-US" sz="2700" b="1" dirty="0">
                <a:solidFill>
                  <a:srgbClr val="1E2761"/>
                </a:solidFill>
                <a:latin typeface="Calibri" pitchFamily="34" charset="0"/>
                <a:ea typeface="Calibri" pitchFamily="34" charset="-122"/>
                <a:cs typeface="Calibri" pitchFamily="34" charset="-120"/>
              </a:rPr>
              <a:t>Welche zwei Ebenen hat jede Nachricht?</a:t>
            </a:r>
            <a:endParaRPr lang="en-US" sz="2700" dirty="0"/>
          </a:p>
          <a:p>
            <a:pPr indent="0" marL="0">
              <a:buNone/>
            </a:pPr>
            <a:r>
              <a:rPr lang="en-US" sz="2700" i="1" dirty="0">
                <a:solidFill>
                  <a:srgbClr val="5B6B8C"/>
                </a:solidFill>
                <a:latin typeface="Calibri" pitchFamily="34" charset="0"/>
                <a:ea typeface="Calibri" pitchFamily="34" charset="-122"/>
                <a:cs typeface="Calibri" pitchFamily="34" charset="-120"/>
              </a:rPr>
              <a:t>Watzlawick</a:t>
            </a:r>
            <a:endParaRPr lang="en-US" sz="27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14400"/>
          </a:xfrm>
          <a:prstGeom prst="roundRect">
            <a:avLst/>
          </a:prstGeom>
          <a:solidFill>
            <a:srgbClr val="1E2761"/>
          </a:solidFill>
          <a:ln/>
        </p:spPr>
      </p:sp>
      <p:sp>
        <p:nvSpPr>
          <p:cNvPr id="3" name="Text 1"/>
          <p:cNvSpPr txBox="1"/>
          <p:nvPr/>
        </p:nvSpPr>
        <p:spPr>
          <a:xfrm>
            <a:off x="457200" y="0"/>
            <a:ext cx="9326880" cy="914400"/>
          </a:xfrm>
          <a:prstGeom prst="rect">
            <a:avLst/>
          </a:prstGeom>
          <a:noFill/>
          <a:ln/>
        </p:spPr>
        <p:txBody>
          <a:bodyPr wrap="square" lIns="0" tIns="0" rIns="0" bIns="0"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Kafka und sein Vater</a:t>
            </a:r>
            <a:endParaRPr lang="en-US" sz="3000" dirty="0"/>
          </a:p>
        </p:txBody>
      </p:sp>
      <p:sp>
        <p:nvSpPr>
          <p:cNvPr id="4" name="Text 2"/>
          <p:cNvSpPr txBox="1"/>
          <p:nvPr/>
        </p:nvSpPr>
        <p:spPr>
          <a:xfrm>
            <a:off x="8503920" y="137160"/>
            <a:ext cx="3383280" cy="640080"/>
          </a:xfrm>
          <a:prstGeom prst="rect">
            <a:avLst/>
          </a:prstGeom>
          <a:noFill/>
          <a:ln/>
        </p:spPr>
        <p:txBody>
          <a:bodyPr wrap="square" lIns="0" tIns="0" rIns="0" bIns="0" rtlCol="0" anchor="ctr"/>
          <a:lstStyle/>
          <a:p>
            <a:pPr algn="r" indent="0" marL="0">
              <a:buNone/>
            </a:pPr>
            <a:r>
              <a:rPr lang="en-US" sz="2700" b="1" dirty="0">
                <a:solidFill>
                  <a:srgbClr val="CADCFC"/>
                </a:solidFill>
                <a:latin typeface="Calibri" pitchFamily="34" charset="0"/>
                <a:ea typeface="Calibri" pitchFamily="34" charset="-122"/>
                <a:cs typeface="Calibri" pitchFamily="34" charset="-120"/>
              </a:rPr>
              <a:t>VORWISSEN</a:t>
            </a:r>
            <a:endParaRPr lang="en-US" sz="2700" dirty="0"/>
          </a:p>
        </p:txBody>
      </p:sp>
      <p:sp>
        <p:nvSpPr>
          <p:cNvPr id="5" name="Text 3"/>
          <p:cNvSpPr txBox="1"/>
          <p:nvPr/>
        </p:nvSpPr>
        <p:spPr>
          <a:xfrm>
            <a:off x="731520" y="1280160"/>
            <a:ext cx="10789920" cy="3291840"/>
          </a:xfrm>
          <a:prstGeom prst="rect">
            <a:avLst/>
          </a:prstGeom>
          <a:noFill/>
          <a:ln/>
        </p:spPr>
        <p:txBody>
          <a:bodyPr wrap="square" lIns="0" tIns="0" rIns="0" bIns="0" rtlCol="0" anchor="t"/>
          <a:lstStyle/>
          <a:p>
            <a:pPr marL="304800" indent="-304800">
              <a:spcAft>
                <a:spcPts val="1600"/>
              </a:spcAft>
              <a:buSzPct val="100000"/>
              <a:buChar char="•"/>
            </a:pPr>
            <a:r>
              <a:rPr lang="en-US" sz="2700" dirty="0">
                <a:solidFill>
                  <a:srgbClr val="1E2761"/>
                </a:solidFill>
                <a:latin typeface="Calibri" pitchFamily="34" charset="0"/>
                <a:ea typeface="Calibri" pitchFamily="34" charset="-122"/>
                <a:cs typeface="Calibri" pitchFamily="34" charset="-120"/>
              </a:rPr>
              <a:t>Die Beziehung ist gestört – der Sohn hat Furcht, der Vater versteht ihn nicht.</a:t>
            </a:r>
            <a:endParaRPr lang="en-US" sz="2700" dirty="0"/>
          </a:p>
          <a:p>
            <a:pPr marL="304800" indent="-304800">
              <a:spcAft>
                <a:spcPts val="1600"/>
              </a:spcAft>
              <a:buSzPct val="100000"/>
              <a:buChar char="•"/>
            </a:pPr>
            <a:r>
              <a:rPr lang="en-US" sz="2700" dirty="0">
                <a:solidFill>
                  <a:srgbClr val="1E2761"/>
                </a:solidFill>
                <a:latin typeface="Calibri" pitchFamily="34" charset="0"/>
                <a:ea typeface="Calibri" pitchFamily="34" charset="-122"/>
                <a:cs typeface="Calibri" pitchFamily="34" charset="-120"/>
              </a:rPr>
              <a:t>Max Brod hat deshalb an den Vater geschrieben.</a:t>
            </a:r>
            <a:endParaRPr lang="en-US" sz="2700" dirty="0"/>
          </a:p>
          <a:p>
            <a:pPr marL="304800" indent="-304800">
              <a:buSzPct val="100000"/>
              <a:buChar char="•"/>
            </a:pPr>
            <a:r>
              <a:rPr lang="en-US" sz="2700" b="1" dirty="0">
                <a:solidFill>
                  <a:srgbClr val="1E2761"/>
                </a:solidFill>
                <a:latin typeface="Calibri" pitchFamily="34" charset="0"/>
                <a:ea typeface="Calibri" pitchFamily="34" charset="-122"/>
                <a:cs typeface="Calibri" pitchFamily="34" charset="-120"/>
              </a:rPr>
              <a:t>Heute: Was will Kafka selbst von seinem Vater?</a:t>
            </a:r>
            <a:endParaRPr lang="en-US" sz="2700" dirty="0"/>
          </a:p>
        </p:txBody>
      </p:sp>
      <p:sp>
        <p:nvSpPr>
          <p:cNvPr id="6" name="Shape 4"/>
          <p:cNvSpPr/>
          <p:nvPr/>
        </p:nvSpPr>
        <p:spPr>
          <a:xfrm>
            <a:off x="457200" y="4846320"/>
            <a:ext cx="11247120" cy="1097280"/>
          </a:xfrm>
          <a:prstGeom prst="roundRect">
            <a:avLst>
              <a:gd name="adj" fmla="val 6667"/>
            </a:avLst>
          </a:prstGeom>
          <a:solidFill>
            <a:srgbClr val="FDECEA"/>
          </a:solidFill>
          <a:ln/>
        </p:spPr>
      </p:sp>
      <p:sp>
        <p:nvSpPr>
          <p:cNvPr id="7" name="Text 5"/>
          <p:cNvSpPr txBox="1"/>
          <p:nvPr/>
        </p:nvSpPr>
        <p:spPr>
          <a:xfrm>
            <a:off x="731520" y="4846320"/>
            <a:ext cx="10789920" cy="1097280"/>
          </a:xfrm>
          <a:prstGeom prst="rect">
            <a:avLst/>
          </a:prstGeom>
          <a:noFill/>
          <a:ln/>
        </p:spPr>
        <p:txBody>
          <a:bodyPr wrap="square" lIns="0" tIns="0" rIns="0" bIns="0" rtlCol="0" anchor="ctr"/>
          <a:lstStyle/>
          <a:p>
            <a:pPr indent="0" marL="0">
              <a:buNone/>
            </a:pPr>
            <a:r>
              <a:rPr lang="en-US" sz="2700" b="1" dirty="0">
                <a:solidFill>
                  <a:srgbClr val="D9534F"/>
                </a:solidFill>
                <a:latin typeface="Cambria" pitchFamily="34" charset="0"/>
                <a:ea typeface="Cambria" pitchFamily="34" charset="-122"/>
                <a:cs typeface="Cambria" pitchFamily="34" charset="-120"/>
              </a:rPr>
              <a:t>Wir untersuchen die Appell-Ebene.</a:t>
            </a:r>
            <a:endParaRPr lang="en-US" sz="27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14400"/>
          </a:xfrm>
          <a:prstGeom prst="roundRect">
            <a:avLst/>
          </a:prstGeom>
          <a:solidFill>
            <a:srgbClr val="1E2761"/>
          </a:solidFill>
          <a:ln/>
        </p:spPr>
      </p:sp>
      <p:sp>
        <p:nvSpPr>
          <p:cNvPr id="3" name="Text 1"/>
          <p:cNvSpPr txBox="1"/>
          <p:nvPr/>
        </p:nvSpPr>
        <p:spPr>
          <a:xfrm>
            <a:off x="457200" y="0"/>
            <a:ext cx="9326880" cy="914400"/>
          </a:xfrm>
          <a:prstGeom prst="rect">
            <a:avLst/>
          </a:prstGeom>
          <a:noFill/>
          <a:ln/>
        </p:spPr>
        <p:txBody>
          <a:bodyPr wrap="square" lIns="0" tIns="0" rIns="0" bIns="0"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Information: Der Appell</a:t>
            </a:r>
            <a:endParaRPr lang="en-US" sz="3000" dirty="0"/>
          </a:p>
        </p:txBody>
      </p:sp>
      <p:sp>
        <p:nvSpPr>
          <p:cNvPr id="4" name="Text 2"/>
          <p:cNvSpPr txBox="1"/>
          <p:nvPr/>
        </p:nvSpPr>
        <p:spPr>
          <a:xfrm>
            <a:off x="8503920" y="137160"/>
            <a:ext cx="3383280" cy="640080"/>
          </a:xfrm>
          <a:prstGeom prst="rect">
            <a:avLst/>
          </a:prstGeom>
          <a:noFill/>
          <a:ln/>
        </p:spPr>
        <p:txBody>
          <a:bodyPr wrap="square" lIns="0" tIns="0" rIns="0" bIns="0" rtlCol="0" anchor="ctr"/>
          <a:lstStyle/>
          <a:p>
            <a:pPr algn="r" indent="0" marL="0">
              <a:buNone/>
            </a:pPr>
            <a:r>
              <a:rPr lang="en-US" sz="2700" b="1" dirty="0">
                <a:solidFill>
                  <a:srgbClr val="CADCFC"/>
                </a:solidFill>
                <a:latin typeface="Calibri" pitchFamily="34" charset="0"/>
                <a:ea typeface="Calibri" pitchFamily="34" charset="-122"/>
                <a:cs typeface="Calibri" pitchFamily="34" charset="-120"/>
              </a:rPr>
              <a:t>INFORMIEREN</a:t>
            </a:r>
            <a:endParaRPr lang="en-US" sz="2700" dirty="0"/>
          </a:p>
        </p:txBody>
      </p:sp>
      <p:sp>
        <p:nvSpPr>
          <p:cNvPr id="5" name="Shape 3"/>
          <p:cNvSpPr/>
          <p:nvPr/>
        </p:nvSpPr>
        <p:spPr>
          <a:xfrm>
            <a:off x="457200" y="1188720"/>
            <a:ext cx="11247120" cy="1508760"/>
          </a:xfrm>
          <a:prstGeom prst="roundRect">
            <a:avLst>
              <a:gd name="adj" fmla="val 4848"/>
            </a:avLst>
          </a:prstGeom>
          <a:solidFill>
            <a:srgbClr val="FDECEA"/>
          </a:solidFill>
          <a:ln/>
        </p:spPr>
      </p:sp>
      <p:sp>
        <p:nvSpPr>
          <p:cNvPr id="6" name="Text 4"/>
          <p:cNvSpPr txBox="1"/>
          <p:nvPr/>
        </p:nvSpPr>
        <p:spPr>
          <a:xfrm>
            <a:off x="731520" y="1188720"/>
            <a:ext cx="10789920" cy="1508760"/>
          </a:xfrm>
          <a:prstGeom prst="rect">
            <a:avLst/>
          </a:prstGeom>
          <a:noFill/>
          <a:ln/>
        </p:spPr>
        <p:txBody>
          <a:bodyPr wrap="square" lIns="0" tIns="0" rIns="0" bIns="0" rtlCol="0" anchor="ctr"/>
          <a:lstStyle/>
          <a:p>
            <a:pPr indent="0" marL="0">
              <a:buNone/>
            </a:pPr>
            <a:r>
              <a:rPr lang="en-US" sz="2700" b="1" dirty="0">
                <a:solidFill>
                  <a:srgbClr val="D9534F"/>
                </a:solidFill>
                <a:latin typeface="Calibri" pitchFamily="34" charset="0"/>
                <a:ea typeface="Calibri" pitchFamily="34" charset="-122"/>
                <a:cs typeface="Calibri" pitchFamily="34" charset="-120"/>
              </a:rPr>
              <a:t>Appell: </a:t>
            </a:r>
            <a:pPr indent="0" marL="0">
              <a:buNone/>
            </a:pPr>
            <a:r>
              <a:rPr lang="en-US" sz="2700" dirty="0">
                <a:solidFill>
                  <a:srgbClr val="1E2761"/>
                </a:solidFill>
                <a:latin typeface="Calibri" pitchFamily="34" charset="0"/>
                <a:ea typeface="Calibri" pitchFamily="34" charset="-122"/>
                <a:cs typeface="Calibri" pitchFamily="34" charset="-120"/>
              </a:rPr>
              <a:t>Mit dieser Seite einer Nachricht will der Sender erreichen, dass der Empfänger etwas tut, denkt oder fühlt.</a:t>
            </a:r>
            <a:endParaRPr lang="en-US" sz="2700" dirty="0"/>
          </a:p>
        </p:txBody>
      </p:sp>
      <p:sp>
        <p:nvSpPr>
          <p:cNvPr id="7" name="Shape 5"/>
          <p:cNvSpPr/>
          <p:nvPr/>
        </p:nvSpPr>
        <p:spPr>
          <a:xfrm>
            <a:off x="457200" y="2880360"/>
            <a:ext cx="11247120" cy="1508760"/>
          </a:xfrm>
          <a:prstGeom prst="roundRect">
            <a:avLst>
              <a:gd name="adj" fmla="val 4848"/>
            </a:avLst>
          </a:prstGeom>
          <a:solidFill>
            <a:srgbClr val="F4F7FD"/>
          </a:solidFill>
          <a:ln/>
        </p:spPr>
      </p:sp>
      <p:sp>
        <p:nvSpPr>
          <p:cNvPr id="8" name="Text 6"/>
          <p:cNvSpPr txBox="1"/>
          <p:nvPr/>
        </p:nvSpPr>
        <p:spPr>
          <a:xfrm>
            <a:off x="731520" y="2880360"/>
            <a:ext cx="10789920" cy="1508760"/>
          </a:xfrm>
          <a:prstGeom prst="rect">
            <a:avLst/>
          </a:prstGeom>
          <a:noFill/>
          <a:ln/>
        </p:spPr>
        <p:txBody>
          <a:bodyPr wrap="square" lIns="0" tIns="0" rIns="0" bIns="0" rtlCol="0" anchor="ctr"/>
          <a:lstStyle/>
          <a:p>
            <a:pPr indent="0" marL="0">
              <a:buNone/>
            </a:pPr>
            <a:r>
              <a:rPr lang="en-US" sz="2700" b="1" dirty="0">
                <a:solidFill>
                  <a:srgbClr val="1E2761"/>
                </a:solidFill>
                <a:latin typeface="Calibri" pitchFamily="34" charset="0"/>
                <a:ea typeface="Calibri" pitchFamily="34" charset="-122"/>
                <a:cs typeface="Calibri" pitchFamily="34" charset="-120"/>
              </a:rPr>
              <a:t>offen: </a:t>
            </a:r>
            <a:pPr indent="0" marL="0">
              <a:buNone/>
            </a:pPr>
            <a:r>
              <a:rPr lang="en-US" sz="2700" dirty="0">
                <a:solidFill>
                  <a:srgbClr val="1E2761"/>
                </a:solidFill>
                <a:latin typeface="Calibri" pitchFamily="34" charset="0"/>
                <a:ea typeface="Calibri" pitchFamily="34" charset="-122"/>
                <a:cs typeface="Calibri" pitchFamily="34" charset="-120"/>
              </a:rPr>
              <a:t>direkt ausgesprochen, z. B. als Bitte: „Hör mir bitte zu!“</a:t>
            </a:r>
            <a:endParaRPr lang="en-US" sz="2700" dirty="0"/>
          </a:p>
        </p:txBody>
      </p:sp>
      <p:sp>
        <p:nvSpPr>
          <p:cNvPr id="9" name="Shape 7"/>
          <p:cNvSpPr/>
          <p:nvPr/>
        </p:nvSpPr>
        <p:spPr>
          <a:xfrm>
            <a:off x="457200" y="4572000"/>
            <a:ext cx="11247120" cy="1508760"/>
          </a:xfrm>
          <a:prstGeom prst="roundRect">
            <a:avLst>
              <a:gd name="adj" fmla="val 4848"/>
            </a:avLst>
          </a:prstGeom>
          <a:solidFill>
            <a:srgbClr val="F4F7FD"/>
          </a:solidFill>
          <a:ln/>
        </p:spPr>
      </p:sp>
      <p:sp>
        <p:nvSpPr>
          <p:cNvPr id="10" name="Text 8"/>
          <p:cNvSpPr txBox="1"/>
          <p:nvPr/>
        </p:nvSpPr>
        <p:spPr>
          <a:xfrm>
            <a:off x="731520" y="4572000"/>
            <a:ext cx="10789920" cy="1508760"/>
          </a:xfrm>
          <a:prstGeom prst="rect">
            <a:avLst/>
          </a:prstGeom>
          <a:noFill/>
          <a:ln/>
        </p:spPr>
        <p:txBody>
          <a:bodyPr wrap="square" lIns="0" tIns="0" rIns="0" bIns="0" rtlCol="0" anchor="ctr"/>
          <a:lstStyle/>
          <a:p>
            <a:pPr indent="0" marL="0">
              <a:buNone/>
            </a:pPr>
            <a:r>
              <a:rPr lang="en-US" sz="2700" b="1" dirty="0">
                <a:solidFill>
                  <a:srgbClr val="1E2761"/>
                </a:solidFill>
                <a:latin typeface="Calibri" pitchFamily="34" charset="0"/>
                <a:ea typeface="Calibri" pitchFamily="34" charset="-122"/>
                <a:cs typeface="Calibri" pitchFamily="34" charset="-120"/>
              </a:rPr>
              <a:t>verdeckt: </a:t>
            </a:r>
            <a:pPr indent="0" marL="0">
              <a:buNone/>
            </a:pPr>
            <a:r>
              <a:rPr lang="en-US" sz="2700" dirty="0">
                <a:solidFill>
                  <a:srgbClr val="1E2761"/>
                </a:solidFill>
                <a:latin typeface="Calibri" pitchFamily="34" charset="0"/>
                <a:ea typeface="Calibri" pitchFamily="34" charset="-122"/>
                <a:cs typeface="Calibri" pitchFamily="34" charset="-120"/>
              </a:rPr>
              <a:t>versteckt in einem Wunsch, einer Frage oder einer Beschreibung: „Du hörst mir nie zu.“</a:t>
            </a:r>
            <a:endParaRPr lang="en-US" sz="27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14400"/>
          </a:xfrm>
          <a:prstGeom prst="roundRect">
            <a:avLst/>
          </a:prstGeom>
          <a:solidFill>
            <a:srgbClr val="1E2761"/>
          </a:solidFill>
          <a:ln/>
        </p:spPr>
      </p:sp>
      <p:sp>
        <p:nvSpPr>
          <p:cNvPr id="3" name="Text 1"/>
          <p:cNvSpPr txBox="1"/>
          <p:nvPr/>
        </p:nvSpPr>
        <p:spPr>
          <a:xfrm>
            <a:off x="457200" y="0"/>
            <a:ext cx="9326880" cy="914400"/>
          </a:xfrm>
          <a:prstGeom prst="rect">
            <a:avLst/>
          </a:prstGeom>
          <a:noFill/>
          <a:ln/>
        </p:spPr>
        <p:txBody>
          <a:bodyPr wrap="square" lIns="0" tIns="0" rIns="0" bIns="0"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Worum bittet Kafka?</a:t>
            </a:r>
            <a:endParaRPr lang="en-US" sz="3000" dirty="0"/>
          </a:p>
        </p:txBody>
      </p:sp>
      <p:sp>
        <p:nvSpPr>
          <p:cNvPr id="4" name="Text 2"/>
          <p:cNvSpPr txBox="1"/>
          <p:nvPr/>
        </p:nvSpPr>
        <p:spPr>
          <a:xfrm>
            <a:off x="8503920" y="137160"/>
            <a:ext cx="3383280" cy="640080"/>
          </a:xfrm>
          <a:prstGeom prst="rect">
            <a:avLst/>
          </a:prstGeom>
          <a:noFill/>
          <a:ln/>
        </p:spPr>
        <p:txBody>
          <a:bodyPr wrap="square" lIns="0" tIns="0" rIns="0" bIns="0" rtlCol="0" anchor="ctr"/>
          <a:lstStyle/>
          <a:p>
            <a:pPr algn="r" indent="0" marL="0">
              <a:buNone/>
            </a:pPr>
            <a:r>
              <a:rPr lang="en-US" sz="2700" b="1" dirty="0">
                <a:solidFill>
                  <a:srgbClr val="CADCFC"/>
                </a:solidFill>
                <a:latin typeface="Calibri" pitchFamily="34" charset="0"/>
                <a:ea typeface="Calibri" pitchFamily="34" charset="-122"/>
                <a:cs typeface="Calibri" pitchFamily="34" charset="-120"/>
              </a:rPr>
              <a:t>INFORMIEREN</a:t>
            </a:r>
            <a:endParaRPr lang="en-US" sz="2700" dirty="0"/>
          </a:p>
        </p:txBody>
      </p:sp>
      <p:sp>
        <p:nvSpPr>
          <p:cNvPr id="5" name="Text 3"/>
          <p:cNvSpPr txBox="1"/>
          <p:nvPr/>
        </p:nvSpPr>
        <p:spPr>
          <a:xfrm>
            <a:off x="457200" y="1143000"/>
            <a:ext cx="11247120" cy="4937760"/>
          </a:xfrm>
          <a:prstGeom prst="rect">
            <a:avLst/>
          </a:prstGeom>
          <a:noFill/>
          <a:ln/>
        </p:spPr>
        <p:txBody>
          <a:bodyPr wrap="square" lIns="0" tIns="0" rIns="0" bIns="0" rtlCol="0" anchor="t"/>
          <a:lstStyle/>
          <a:p>
            <a:pPr indent="0" marL="0">
              <a:lnSpc>
                <a:spcPct val="110000"/>
              </a:lnSpc>
              <a:buNone/>
            </a:pPr>
            <a:r>
              <a:rPr lang="en-US" sz="2700" dirty="0">
                <a:solidFill>
                  <a:srgbClr val="1E2761"/>
                </a:solidFill>
                <a:latin typeface="Cambria" pitchFamily="34" charset="0"/>
                <a:ea typeface="Cambria" pitchFamily="34" charset="-122"/>
                <a:cs typeface="Cambria" pitchFamily="34" charset="-120"/>
              </a:rPr>
              <a:t>Wobei ich Dich aber immerfort bitte, nicht zu vergessen, daß ich niemals im entferntesten an eine Schuld Deinerseits glaube. Du wirktest so auf mich, wie Du wirken mußtest, nur sollst Du aufhören, es für eine besondere Bosheit meinerseits zu halten, daß ich dieser Wirkung erlegen bin. […] ich kann nicht glauben, daß ein freundliches Wort, ein stilles Bei-der-Hand-Nehmen, ein guter Blick mir nicht alles hätten abfordern können, was man wollte.</a:t>
            </a:r>
            <a:endParaRPr lang="en-US" sz="2700" dirty="0"/>
          </a:p>
        </p:txBody>
      </p:sp>
      <p:sp>
        <p:nvSpPr>
          <p:cNvPr id="6" name="Text 4"/>
          <p:cNvSpPr txBox="1"/>
          <p:nvPr/>
        </p:nvSpPr>
        <p:spPr>
          <a:xfrm>
            <a:off x="457200" y="6263640"/>
            <a:ext cx="11247120" cy="457200"/>
          </a:xfrm>
          <a:prstGeom prst="rect">
            <a:avLst/>
          </a:prstGeom>
          <a:noFill/>
          <a:ln/>
        </p:spPr>
        <p:txBody>
          <a:bodyPr wrap="square" lIns="0" tIns="0" rIns="0" bIns="0" rtlCol="0" anchor="t"/>
          <a:lstStyle/>
          <a:p>
            <a:pPr algn="r" indent="0" marL="0">
              <a:buNone/>
            </a:pPr>
            <a:r>
              <a:rPr lang="en-US" sz="2700" dirty="0">
                <a:solidFill>
                  <a:srgbClr val="5B6B8C"/>
                </a:solidFill>
                <a:latin typeface="Calibri" pitchFamily="34" charset="0"/>
                <a:ea typeface="Calibri" pitchFamily="34" charset="-122"/>
                <a:cs typeface="Calibri" pitchFamily="34" charset="-120"/>
              </a:rPr>
              <a:t>Franz Kafka: „Brief an den Vater“ (1919), S. 3</a:t>
            </a:r>
            <a:endParaRPr lang="en-US" sz="27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14400"/>
          </a:xfrm>
          <a:prstGeom prst="roundRect">
            <a:avLst/>
          </a:prstGeom>
          <a:solidFill>
            <a:srgbClr val="1E2761"/>
          </a:solidFill>
          <a:ln/>
        </p:spPr>
      </p:sp>
      <p:sp>
        <p:nvSpPr>
          <p:cNvPr id="3" name="Text 1"/>
          <p:cNvSpPr txBox="1"/>
          <p:nvPr/>
        </p:nvSpPr>
        <p:spPr>
          <a:xfrm>
            <a:off x="457200" y="0"/>
            <a:ext cx="9326880" cy="914400"/>
          </a:xfrm>
          <a:prstGeom prst="rect">
            <a:avLst/>
          </a:prstGeom>
          <a:noFill/>
          <a:ln/>
        </p:spPr>
        <p:txBody>
          <a:bodyPr wrap="square" lIns="0" tIns="0" rIns="0" bIns="0"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Arbeitsblatt: Aufgaben 1–3</a:t>
            </a:r>
            <a:endParaRPr lang="en-US" sz="3000" dirty="0"/>
          </a:p>
        </p:txBody>
      </p:sp>
      <p:sp>
        <p:nvSpPr>
          <p:cNvPr id="4" name="Shape 2"/>
          <p:cNvSpPr/>
          <p:nvPr/>
        </p:nvSpPr>
        <p:spPr>
          <a:xfrm>
            <a:off x="9966960" y="137160"/>
            <a:ext cx="1920240" cy="640080"/>
          </a:xfrm>
          <a:prstGeom prst="roundRect">
            <a:avLst>
              <a:gd name="adj" fmla="val 17143"/>
            </a:avLst>
          </a:prstGeom>
          <a:solidFill>
            <a:srgbClr val="D9534F"/>
          </a:solidFill>
          <a:ln/>
        </p:spPr>
      </p:sp>
      <p:sp>
        <p:nvSpPr>
          <p:cNvPr id="5" name="Text 3"/>
          <p:cNvSpPr txBox="1"/>
          <p:nvPr/>
        </p:nvSpPr>
        <p:spPr>
          <a:xfrm>
            <a:off x="9966960" y="137160"/>
            <a:ext cx="1920240" cy="640080"/>
          </a:xfrm>
          <a:prstGeom prst="rect">
            <a:avLst/>
          </a:prstGeom>
          <a:noFill/>
          <a:ln/>
        </p:spPr>
        <p:txBody>
          <a:bodyPr wrap="square" lIns="0" tIns="0" rIns="0" bIns="0" rtlCol="0" anchor="ctr"/>
          <a:lstStyle/>
          <a:p>
            <a:pPr algn="ctr" indent="0" marL="0">
              <a:buNone/>
            </a:pPr>
            <a:r>
              <a:rPr lang="en-US" sz="2700" b="1" dirty="0">
                <a:solidFill>
                  <a:srgbClr val="FFFFFF"/>
                </a:solidFill>
                <a:latin typeface="Calibri" pitchFamily="34" charset="0"/>
                <a:ea typeface="Calibri" pitchFamily="34" charset="-122"/>
                <a:cs typeface="Calibri" pitchFamily="34" charset="-120"/>
              </a:rPr>
              <a:t>9 Min.</a:t>
            </a:r>
            <a:endParaRPr lang="en-US" sz="2700" dirty="0"/>
          </a:p>
        </p:txBody>
      </p:sp>
      <p:sp>
        <p:nvSpPr>
          <p:cNvPr id="6" name="Shape 4"/>
          <p:cNvSpPr/>
          <p:nvPr/>
        </p:nvSpPr>
        <p:spPr>
          <a:xfrm>
            <a:off x="457200" y="1234440"/>
            <a:ext cx="11247120" cy="1280160"/>
          </a:xfrm>
          <a:prstGeom prst="roundRect">
            <a:avLst>
              <a:gd name="adj" fmla="val 5714"/>
            </a:avLst>
          </a:prstGeom>
          <a:solidFill>
            <a:srgbClr val="F4F7FD"/>
          </a:solidFill>
          <a:ln w="9525">
            <a:solidFill>
              <a:srgbClr val="D5DCEC"/>
            </a:solidFill>
            <a:prstDash val="solid"/>
          </a:ln>
        </p:spPr>
      </p:sp>
      <p:sp>
        <p:nvSpPr>
          <p:cNvPr id="7" name="Text 5"/>
          <p:cNvSpPr txBox="1"/>
          <p:nvPr/>
        </p:nvSpPr>
        <p:spPr>
          <a:xfrm>
            <a:off x="731520" y="1234440"/>
            <a:ext cx="10789920" cy="1280160"/>
          </a:xfrm>
          <a:prstGeom prst="rect">
            <a:avLst/>
          </a:prstGeom>
          <a:noFill/>
          <a:ln/>
        </p:spPr>
        <p:txBody>
          <a:bodyPr wrap="square" lIns="0" tIns="0" rIns="0" bIns="0" rtlCol="0" anchor="ctr"/>
          <a:lstStyle/>
          <a:p>
            <a:pPr indent="0" marL="0">
              <a:buNone/>
            </a:pPr>
            <a:r>
              <a:rPr lang="en-US" sz="2700" b="1" dirty="0">
                <a:solidFill>
                  <a:srgbClr val="1E2761"/>
                </a:solidFill>
                <a:latin typeface="Calibri" pitchFamily="34" charset="0"/>
                <a:ea typeface="Calibri" pitchFamily="34" charset="-122"/>
                <a:cs typeface="Calibri" pitchFamily="34" charset="-120"/>
              </a:rPr>
              <a:t>Aufgabe 1: Vorarbeit</a:t>
            </a:r>
            <a:endParaRPr lang="en-US" sz="2700" dirty="0"/>
          </a:p>
          <a:p>
            <a:pPr indent="0" marL="0">
              <a:buNone/>
            </a:pPr>
            <a:r>
              <a:rPr lang="en-US" sz="2700" dirty="0">
                <a:solidFill>
                  <a:srgbClr val="5B6B8C"/>
                </a:solidFill>
                <a:latin typeface="Calibri" pitchFamily="34" charset="0"/>
                <a:ea typeface="Calibri" pitchFamily="34" charset="-122"/>
                <a:cs typeface="Calibri" pitchFamily="34" charset="-120"/>
              </a:rPr>
              <a:t>Worum bittet Kafka? (ein Satz)</a:t>
            </a:r>
            <a:endParaRPr lang="en-US" sz="2700" dirty="0"/>
          </a:p>
        </p:txBody>
      </p:sp>
      <p:sp>
        <p:nvSpPr>
          <p:cNvPr id="8" name="Shape 6"/>
          <p:cNvSpPr/>
          <p:nvPr/>
        </p:nvSpPr>
        <p:spPr>
          <a:xfrm>
            <a:off x="457200" y="2697480"/>
            <a:ext cx="11247120" cy="1280160"/>
          </a:xfrm>
          <a:prstGeom prst="roundRect">
            <a:avLst>
              <a:gd name="adj" fmla="val 5714"/>
            </a:avLst>
          </a:prstGeom>
          <a:solidFill>
            <a:srgbClr val="FFFFFF"/>
          </a:solidFill>
          <a:ln w="9525">
            <a:solidFill>
              <a:srgbClr val="D5DCEC"/>
            </a:solidFill>
            <a:prstDash val="solid"/>
          </a:ln>
        </p:spPr>
      </p:sp>
      <p:sp>
        <p:nvSpPr>
          <p:cNvPr id="9" name="Text 7"/>
          <p:cNvSpPr txBox="1"/>
          <p:nvPr/>
        </p:nvSpPr>
        <p:spPr>
          <a:xfrm>
            <a:off x="731520" y="2697480"/>
            <a:ext cx="10789920" cy="1280160"/>
          </a:xfrm>
          <a:prstGeom prst="rect">
            <a:avLst/>
          </a:prstGeom>
          <a:noFill/>
          <a:ln/>
        </p:spPr>
        <p:txBody>
          <a:bodyPr wrap="square" lIns="0" tIns="0" rIns="0" bIns="0" rtlCol="0" anchor="ctr"/>
          <a:lstStyle/>
          <a:p>
            <a:pPr indent="0" marL="0">
              <a:buNone/>
            </a:pPr>
            <a:r>
              <a:rPr lang="en-US" sz="2700" b="1" dirty="0">
                <a:solidFill>
                  <a:srgbClr val="1E2761"/>
                </a:solidFill>
                <a:latin typeface="Calibri" pitchFamily="34" charset="0"/>
                <a:ea typeface="Calibri" pitchFamily="34" charset="-122"/>
                <a:cs typeface="Calibri" pitchFamily="34" charset="-120"/>
              </a:rPr>
              <a:t>Aufgabe 2: Analyse</a:t>
            </a:r>
            <a:endParaRPr lang="en-US" sz="2700" dirty="0"/>
          </a:p>
          <a:p>
            <a:pPr indent="0" marL="0">
              <a:buNone/>
            </a:pPr>
            <a:r>
              <a:rPr lang="en-US" sz="2700" dirty="0">
                <a:solidFill>
                  <a:srgbClr val="5B6B8C"/>
                </a:solidFill>
                <a:latin typeface="Calibri" pitchFamily="34" charset="0"/>
                <a:ea typeface="Calibri" pitchFamily="34" charset="-122"/>
                <a:cs typeface="Calibri" pitchFamily="34" charset="-120"/>
              </a:rPr>
              <a:t>drei Leitfragen, mit Zitat und Zeile</a:t>
            </a:r>
            <a:endParaRPr lang="en-US" sz="2700" dirty="0"/>
          </a:p>
        </p:txBody>
      </p:sp>
      <p:sp>
        <p:nvSpPr>
          <p:cNvPr id="10" name="Shape 8"/>
          <p:cNvSpPr/>
          <p:nvPr/>
        </p:nvSpPr>
        <p:spPr>
          <a:xfrm>
            <a:off x="457200" y="4160520"/>
            <a:ext cx="11247120" cy="1280160"/>
          </a:xfrm>
          <a:prstGeom prst="roundRect">
            <a:avLst>
              <a:gd name="adj" fmla="val 5714"/>
            </a:avLst>
          </a:prstGeom>
          <a:solidFill>
            <a:srgbClr val="F4F7FD"/>
          </a:solidFill>
          <a:ln w="9525">
            <a:solidFill>
              <a:srgbClr val="D5DCEC"/>
            </a:solidFill>
            <a:prstDash val="solid"/>
          </a:ln>
        </p:spPr>
      </p:sp>
      <p:sp>
        <p:nvSpPr>
          <p:cNvPr id="11" name="Text 9"/>
          <p:cNvSpPr txBox="1"/>
          <p:nvPr/>
        </p:nvSpPr>
        <p:spPr>
          <a:xfrm>
            <a:off x="731520" y="4160520"/>
            <a:ext cx="10789920" cy="1280160"/>
          </a:xfrm>
          <a:prstGeom prst="rect">
            <a:avLst/>
          </a:prstGeom>
          <a:noFill/>
          <a:ln/>
        </p:spPr>
        <p:txBody>
          <a:bodyPr wrap="square" lIns="0" tIns="0" rIns="0" bIns="0" rtlCol="0" anchor="ctr"/>
          <a:lstStyle/>
          <a:p>
            <a:pPr indent="0" marL="0">
              <a:buNone/>
            </a:pPr>
            <a:r>
              <a:rPr lang="en-US" sz="2700" b="1" dirty="0">
                <a:solidFill>
                  <a:srgbClr val="1E2761"/>
                </a:solidFill>
                <a:latin typeface="Calibri" pitchFamily="34" charset="0"/>
                <a:ea typeface="Calibri" pitchFamily="34" charset="-122"/>
                <a:cs typeface="Calibri" pitchFamily="34" charset="-120"/>
              </a:rPr>
              <a:t>Aufgabe 3: Visualisierung</a:t>
            </a:r>
            <a:endParaRPr lang="en-US" sz="2700" dirty="0"/>
          </a:p>
          <a:p>
            <a:pPr indent="0" marL="0">
              <a:buNone/>
            </a:pPr>
            <a:r>
              <a:rPr lang="en-US" sz="2700" dirty="0">
                <a:solidFill>
                  <a:srgbClr val="5B6B8C"/>
                </a:solidFill>
                <a:latin typeface="Calibri" pitchFamily="34" charset="0"/>
                <a:ea typeface="Calibri" pitchFamily="34" charset="-122"/>
                <a:cs typeface="Calibri" pitchFamily="34" charset="-120"/>
              </a:rPr>
              <a:t>Kommunikationsquadrat, Fokus Appell</a:t>
            </a:r>
            <a:endParaRPr lang="en-US" sz="2700" dirty="0"/>
          </a:p>
        </p:txBody>
      </p:sp>
      <p:sp>
        <p:nvSpPr>
          <p:cNvPr id="12" name="Text 10"/>
          <p:cNvSpPr txBox="1"/>
          <p:nvPr/>
        </p:nvSpPr>
        <p:spPr>
          <a:xfrm>
            <a:off x="457200" y="5760720"/>
            <a:ext cx="11247120" cy="548640"/>
          </a:xfrm>
          <a:prstGeom prst="rect">
            <a:avLst/>
          </a:prstGeom>
          <a:noFill/>
          <a:ln/>
        </p:spPr>
        <p:txBody>
          <a:bodyPr wrap="square" lIns="0" tIns="0" rIns="0" bIns="0" rtlCol="0" anchor="t"/>
          <a:lstStyle/>
          <a:p>
            <a:pPr indent="0" marL="0">
              <a:buNone/>
            </a:pPr>
            <a:r>
              <a:rPr lang="en-US" sz="2700" i="1" dirty="0">
                <a:solidFill>
                  <a:srgbClr val="5B6B8C"/>
                </a:solidFill>
                <a:latin typeface="Calibri" pitchFamily="34" charset="0"/>
                <a:ea typeface="Calibri" pitchFamily="34" charset="-122"/>
                <a:cs typeface="Calibri" pitchFamily="34" charset="-120"/>
              </a:rPr>
              <a:t>Allein, direkt auf dem Arbeitsblatt. Formulierungshilfen stehen dort.</a:t>
            </a:r>
            <a:endParaRPr lang="en-US" sz="27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14400"/>
          </a:xfrm>
          <a:prstGeom prst="roundRect">
            <a:avLst/>
          </a:prstGeom>
          <a:solidFill>
            <a:srgbClr val="1E2761"/>
          </a:solidFill>
          <a:ln/>
        </p:spPr>
      </p:sp>
      <p:sp>
        <p:nvSpPr>
          <p:cNvPr id="3" name="Text 1"/>
          <p:cNvSpPr txBox="1"/>
          <p:nvPr/>
        </p:nvSpPr>
        <p:spPr>
          <a:xfrm>
            <a:off x="457200" y="0"/>
            <a:ext cx="9326880" cy="914400"/>
          </a:xfrm>
          <a:prstGeom prst="rect">
            <a:avLst/>
          </a:prstGeom>
          <a:noFill/>
          <a:ln/>
        </p:spPr>
        <p:txBody>
          <a:bodyPr wrap="square" lIns="0" tIns="0" rIns="0" bIns="0"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Formulierungshilfen</a:t>
            </a:r>
            <a:endParaRPr lang="en-US" sz="3000" dirty="0"/>
          </a:p>
        </p:txBody>
      </p:sp>
      <p:sp>
        <p:nvSpPr>
          <p:cNvPr id="4" name="Text 2"/>
          <p:cNvSpPr txBox="1"/>
          <p:nvPr/>
        </p:nvSpPr>
        <p:spPr>
          <a:xfrm>
            <a:off x="8503920" y="137160"/>
            <a:ext cx="3383280" cy="640080"/>
          </a:xfrm>
          <a:prstGeom prst="rect">
            <a:avLst/>
          </a:prstGeom>
          <a:noFill/>
          <a:ln/>
        </p:spPr>
        <p:txBody>
          <a:bodyPr wrap="square" lIns="0" tIns="0" rIns="0" bIns="0" rtlCol="0" anchor="ctr"/>
          <a:lstStyle/>
          <a:p>
            <a:pPr algn="r" indent="0" marL="0">
              <a:buNone/>
            </a:pPr>
            <a:r>
              <a:rPr lang="en-US" sz="2700" b="1" dirty="0">
                <a:solidFill>
                  <a:srgbClr val="CADCFC"/>
                </a:solidFill>
                <a:latin typeface="Calibri" pitchFamily="34" charset="0"/>
                <a:ea typeface="Calibri" pitchFamily="34" charset="-122"/>
                <a:cs typeface="Calibri" pitchFamily="34" charset="-120"/>
              </a:rPr>
              <a:t>AUSWERTEN</a:t>
            </a:r>
            <a:endParaRPr lang="en-US" sz="2700" dirty="0"/>
          </a:p>
        </p:txBody>
      </p:sp>
      <p:sp>
        <p:nvSpPr>
          <p:cNvPr id="5" name="Text 3"/>
          <p:cNvSpPr txBox="1"/>
          <p:nvPr/>
        </p:nvSpPr>
        <p:spPr>
          <a:xfrm>
            <a:off x="731520" y="1280160"/>
            <a:ext cx="10789920" cy="4572000"/>
          </a:xfrm>
          <a:prstGeom prst="rect">
            <a:avLst/>
          </a:prstGeom>
          <a:noFill/>
          <a:ln/>
        </p:spPr>
        <p:txBody>
          <a:bodyPr wrap="square" lIns="0" tIns="0" rIns="0" bIns="0" rtlCol="0" anchor="t"/>
          <a:lstStyle/>
          <a:p>
            <a:pPr marL="304800" indent="-304800">
              <a:spcAft>
                <a:spcPts val="1600"/>
              </a:spcAft>
              <a:buSzPct val="100000"/>
              <a:buChar char="•"/>
            </a:pPr>
            <a:r>
              <a:rPr lang="en-US" sz="2700" i="1" dirty="0">
                <a:solidFill>
                  <a:srgbClr val="1E2761"/>
                </a:solidFill>
                <a:latin typeface="Calibri" pitchFamily="34" charset="0"/>
                <a:ea typeface="Calibri" pitchFamily="34" charset="-122"/>
                <a:cs typeface="Calibri" pitchFamily="34" charset="-120"/>
              </a:rPr>
              <a:t>Ein offener Appell zeigt sich in … (Z. …).</a:t>
            </a:r>
            <a:endParaRPr lang="en-US" sz="2700" dirty="0"/>
          </a:p>
          <a:p>
            <a:pPr marL="304800" indent="-304800">
              <a:spcAft>
                <a:spcPts val="1600"/>
              </a:spcAft>
              <a:buSzPct val="100000"/>
              <a:buChar char="•"/>
            </a:pPr>
            <a:r>
              <a:rPr lang="en-US" sz="2700" i="1" dirty="0">
                <a:solidFill>
                  <a:srgbClr val="1E2761"/>
                </a:solidFill>
                <a:latin typeface="Calibri" pitchFamily="34" charset="0"/>
                <a:ea typeface="Calibri" pitchFamily="34" charset="-122"/>
                <a:cs typeface="Calibri" pitchFamily="34" charset="-120"/>
              </a:rPr>
              <a:t>Verdeckt appelliert Kafka, wenn er …</a:t>
            </a:r>
            <a:endParaRPr lang="en-US" sz="2700" dirty="0"/>
          </a:p>
          <a:p>
            <a:pPr marL="304800" indent="-304800">
              <a:spcAft>
                <a:spcPts val="1600"/>
              </a:spcAft>
              <a:buSzPct val="100000"/>
              <a:buChar char="•"/>
            </a:pPr>
            <a:r>
              <a:rPr lang="en-US" sz="2700" i="1" dirty="0">
                <a:solidFill>
                  <a:srgbClr val="1E2761"/>
                </a:solidFill>
                <a:latin typeface="Calibri" pitchFamily="34" charset="0"/>
                <a:ea typeface="Calibri" pitchFamily="34" charset="-122"/>
                <a:cs typeface="Calibri" pitchFamily="34" charset="-120"/>
              </a:rPr>
              <a:t>Damit will er erreichen, dass der Vater …</a:t>
            </a:r>
            <a:endParaRPr lang="en-US" sz="2700" dirty="0"/>
          </a:p>
          <a:p>
            <a:pPr marL="304800" indent="-304800">
              <a:spcAft>
                <a:spcPts val="1600"/>
              </a:spcAft>
              <a:buSzPct val="100000"/>
              <a:buChar char="•"/>
            </a:pPr>
            <a:r>
              <a:rPr lang="en-US" sz="2700" i="1" dirty="0">
                <a:solidFill>
                  <a:srgbClr val="1E2761"/>
                </a:solidFill>
                <a:latin typeface="Calibri" pitchFamily="34" charset="0"/>
                <a:ea typeface="Calibri" pitchFamily="34" charset="-122"/>
                <a:cs typeface="Calibri" pitchFamily="34" charset="-120"/>
              </a:rPr>
              <a:t>Seine Bitte sichert er ab, indem er …</a:t>
            </a:r>
            <a:endParaRPr lang="en-US" sz="27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E2761"/>
        </a:solidFill>
      </p:bgPr>
    </p:bg>
    <p:spTree>
      <p:nvGrpSpPr>
        <p:cNvPr id="1" name=""/>
        <p:cNvGrpSpPr/>
        <p:nvPr/>
      </p:nvGrpSpPr>
      <p:grpSpPr>
        <a:xfrm>
          <a:off x="0" y="0"/>
          <a:ext cx="0" cy="0"/>
          <a:chOff x="0" y="0"/>
          <a:chExt cx="0" cy="0"/>
        </a:xfrm>
      </p:grpSpPr>
      <p:sp>
        <p:nvSpPr>
          <p:cNvPr id="2" name="Shape 0"/>
          <p:cNvSpPr/>
          <p:nvPr/>
        </p:nvSpPr>
        <p:spPr>
          <a:xfrm>
            <a:off x="9692640" y="-1463040"/>
            <a:ext cx="4206240" cy="4206240"/>
          </a:xfrm>
          <a:prstGeom prst="ellipse">
            <a:avLst/>
          </a:prstGeom>
          <a:solidFill>
            <a:srgbClr val="24306E"/>
          </a:solidFill>
          <a:ln/>
        </p:spPr>
      </p:sp>
      <p:sp>
        <p:nvSpPr>
          <p:cNvPr id="3" name="Shape 1"/>
          <p:cNvSpPr/>
          <p:nvPr/>
        </p:nvSpPr>
        <p:spPr>
          <a:xfrm>
            <a:off x="822960" y="1280160"/>
            <a:ext cx="2926080" cy="548640"/>
          </a:xfrm>
          <a:prstGeom prst="roundRect">
            <a:avLst>
              <a:gd name="adj" fmla="val 50000"/>
            </a:avLst>
          </a:prstGeom>
          <a:solidFill>
            <a:srgbClr val="D9534F"/>
          </a:solidFill>
          <a:ln/>
        </p:spPr>
      </p:sp>
      <p:sp>
        <p:nvSpPr>
          <p:cNvPr id="4" name="Text 2"/>
          <p:cNvSpPr txBox="1"/>
          <p:nvPr/>
        </p:nvSpPr>
        <p:spPr>
          <a:xfrm>
            <a:off x="822960" y="1280160"/>
            <a:ext cx="2926080" cy="548640"/>
          </a:xfrm>
          <a:prstGeom prst="rect">
            <a:avLst/>
          </a:prstGeom>
          <a:noFill/>
          <a:ln/>
        </p:spPr>
        <p:txBody>
          <a:bodyPr wrap="square" lIns="0" tIns="0" rIns="0" bIns="0" rtlCol="0" anchor="ctr"/>
          <a:lstStyle/>
          <a:p>
            <a:pPr algn="ctr" indent="0" marL="0">
              <a:buNone/>
            </a:pPr>
            <a:r>
              <a:rPr lang="en-US" sz="2700" b="1" dirty="0">
                <a:solidFill>
                  <a:srgbClr val="FFFFFF"/>
                </a:solidFill>
                <a:latin typeface="Calibri" pitchFamily="34" charset="0"/>
                <a:ea typeface="Calibri" pitchFamily="34" charset="-122"/>
                <a:cs typeface="Calibri" pitchFamily="34" charset="-120"/>
              </a:rPr>
              <a:t>REFLEXION</a:t>
            </a:r>
            <a:endParaRPr lang="en-US" sz="2700" dirty="0"/>
          </a:p>
        </p:txBody>
      </p:sp>
      <p:sp>
        <p:nvSpPr>
          <p:cNvPr id="5" name="Text 3"/>
          <p:cNvSpPr txBox="1"/>
          <p:nvPr/>
        </p:nvSpPr>
        <p:spPr>
          <a:xfrm>
            <a:off x="822960" y="2194560"/>
            <a:ext cx="10424160" cy="822960"/>
          </a:xfrm>
          <a:prstGeom prst="rect">
            <a:avLst/>
          </a:prstGeom>
          <a:noFill/>
          <a:ln/>
        </p:spPr>
        <p:txBody>
          <a:bodyPr wrap="square" lIns="0" tIns="0" rIns="0" bIns="0" rtlCol="0" anchor="t"/>
          <a:lstStyle/>
          <a:p>
            <a:pPr indent="0" marL="0">
              <a:buNone/>
            </a:pPr>
            <a:r>
              <a:rPr lang="en-US" sz="3200" b="1" dirty="0">
                <a:solidFill>
                  <a:srgbClr val="FFFFFF"/>
                </a:solidFill>
                <a:latin typeface="Cambria" pitchFamily="34" charset="0"/>
                <a:ea typeface="Cambria" pitchFamily="34" charset="-122"/>
                <a:cs typeface="Cambria" pitchFamily="34" charset="-120"/>
              </a:rPr>
              <a:t>Kafka hat den Brief nie übergeben.</a:t>
            </a:r>
            <a:endParaRPr lang="en-US" sz="3200" dirty="0"/>
          </a:p>
        </p:txBody>
      </p:sp>
      <p:sp>
        <p:nvSpPr>
          <p:cNvPr id="6" name="Text 4"/>
          <p:cNvSpPr txBox="1"/>
          <p:nvPr/>
        </p:nvSpPr>
        <p:spPr>
          <a:xfrm>
            <a:off x="822960" y="3291840"/>
            <a:ext cx="10424160" cy="1463040"/>
          </a:xfrm>
          <a:prstGeom prst="rect">
            <a:avLst/>
          </a:prstGeom>
          <a:noFill/>
          <a:ln/>
        </p:spPr>
        <p:txBody>
          <a:bodyPr wrap="square" lIns="0" tIns="0" rIns="0" bIns="0" rtlCol="0" anchor="t"/>
          <a:lstStyle/>
          <a:p>
            <a:pPr indent="0" marL="0">
              <a:spcAft>
                <a:spcPts val="1000"/>
              </a:spcAft>
              <a:buNone/>
            </a:pPr>
            <a:r>
              <a:rPr lang="en-US" sz="2700" dirty="0">
                <a:solidFill>
                  <a:srgbClr val="CADCFC"/>
                </a:solidFill>
                <a:latin typeface="Calibri" pitchFamily="34" charset="0"/>
                <a:ea typeface="Calibri" pitchFamily="34" charset="-122"/>
                <a:cs typeface="Calibri" pitchFamily="34" charset="-120"/>
              </a:rPr>
              <a:t>Warum appelliert er so vorsichtig und versteckt?</a:t>
            </a:r>
            <a:endParaRPr lang="en-US" sz="2700" dirty="0"/>
          </a:p>
          <a:p>
            <a:pPr indent="0" marL="0">
              <a:spcAft>
                <a:spcPts val="1000"/>
              </a:spcAft>
              <a:buNone/>
            </a:pPr>
            <a:r>
              <a:rPr lang="en-US" sz="2700" dirty="0">
                <a:solidFill>
                  <a:srgbClr val="CADCFC"/>
                </a:solidFill>
                <a:latin typeface="Calibri" pitchFamily="34" charset="0"/>
                <a:ea typeface="Calibri" pitchFamily="34" charset="-122"/>
                <a:cs typeface="Calibri" pitchFamily="34" charset="-120"/>
              </a:rPr>
              <a:t>Hätte der Vater die Bitte verstanden?</a:t>
            </a:r>
            <a:endParaRPr lang="en-US" sz="27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14400"/>
          </a:xfrm>
          <a:prstGeom prst="roundRect">
            <a:avLst/>
          </a:prstGeom>
          <a:solidFill>
            <a:srgbClr val="1E2761"/>
          </a:solidFill>
          <a:ln/>
        </p:spPr>
      </p:sp>
      <p:sp>
        <p:nvSpPr>
          <p:cNvPr id="3" name="Text 1"/>
          <p:cNvSpPr txBox="1"/>
          <p:nvPr/>
        </p:nvSpPr>
        <p:spPr>
          <a:xfrm>
            <a:off x="457200" y="0"/>
            <a:ext cx="9326880" cy="914400"/>
          </a:xfrm>
          <a:prstGeom prst="rect">
            <a:avLst/>
          </a:prstGeom>
          <a:noFill/>
          <a:ln/>
        </p:spPr>
        <p:txBody>
          <a:bodyPr wrap="square" lIns="0" tIns="0" rIns="0" bIns="0"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Transfer: Kafkas Rede an den Vater</a:t>
            </a:r>
            <a:endParaRPr lang="en-US" sz="3000" dirty="0"/>
          </a:p>
        </p:txBody>
      </p:sp>
      <p:sp>
        <p:nvSpPr>
          <p:cNvPr id="4" name="Shape 2"/>
          <p:cNvSpPr/>
          <p:nvPr/>
        </p:nvSpPr>
        <p:spPr>
          <a:xfrm>
            <a:off x="457200" y="1097280"/>
            <a:ext cx="11247120" cy="1783080"/>
          </a:xfrm>
          <a:prstGeom prst="roundRect">
            <a:avLst>
              <a:gd name="adj" fmla="val 4103"/>
            </a:avLst>
          </a:prstGeom>
          <a:solidFill>
            <a:srgbClr val="F4F7FD"/>
          </a:solidFill>
          <a:ln/>
        </p:spPr>
      </p:sp>
      <p:sp>
        <p:nvSpPr>
          <p:cNvPr id="5" name="Text 3"/>
          <p:cNvSpPr txBox="1"/>
          <p:nvPr/>
        </p:nvSpPr>
        <p:spPr>
          <a:xfrm>
            <a:off x="685800" y="1143000"/>
            <a:ext cx="10789920" cy="1691640"/>
          </a:xfrm>
          <a:prstGeom prst="rect">
            <a:avLst/>
          </a:prstGeom>
          <a:noFill/>
          <a:ln/>
        </p:spPr>
        <p:txBody>
          <a:bodyPr wrap="square" lIns="0" tIns="0" rIns="0" bIns="0" rtlCol="0" anchor="ctr"/>
          <a:lstStyle/>
          <a:p>
            <a:pPr indent="0" marL="0">
              <a:buNone/>
            </a:pPr>
            <a:r>
              <a:rPr lang="en-US" sz="2700" dirty="0">
                <a:solidFill>
                  <a:srgbClr val="1E2761"/>
                </a:solidFill>
                <a:latin typeface="Cambria" pitchFamily="34" charset="0"/>
                <a:ea typeface="Cambria" pitchFamily="34" charset="-122"/>
                <a:cs typeface="Cambria" pitchFamily="34" charset="-120"/>
              </a:rPr>
              <a:t>Max Brods Brief an Hermann Kafka war erfolgreich: Der Vater ist bereit, seinem Sohn zuzuhören.</a:t>
            </a:r>
            <a:endParaRPr lang="en-US" sz="2700" dirty="0"/>
          </a:p>
          <a:p>
            <a:pPr indent="0" marL="0">
              <a:buNone/>
            </a:pPr>
            <a:r>
              <a:rPr lang="en-US" sz="2700" b="1" dirty="0">
                <a:solidFill>
                  <a:srgbClr val="1E2761"/>
                </a:solidFill>
                <a:latin typeface="Cambria" pitchFamily="34" charset="0"/>
                <a:ea typeface="Cambria" pitchFamily="34" charset="-122"/>
                <a:cs typeface="Cambria" pitchFamily="34" charset="-120"/>
              </a:rPr>
              <a:t>Schreibe als Franz eine Rede an den Vater, in der du an ihn appellierst.</a:t>
            </a:r>
            <a:endParaRPr lang="en-US" sz="2700" dirty="0"/>
          </a:p>
        </p:txBody>
      </p:sp>
      <p:sp>
        <p:nvSpPr>
          <p:cNvPr id="6" name="Text 4"/>
          <p:cNvSpPr txBox="1"/>
          <p:nvPr/>
        </p:nvSpPr>
        <p:spPr>
          <a:xfrm>
            <a:off x="457200" y="2971800"/>
            <a:ext cx="11247120" cy="457200"/>
          </a:xfrm>
          <a:prstGeom prst="rect">
            <a:avLst/>
          </a:prstGeom>
          <a:noFill/>
          <a:ln/>
        </p:spPr>
        <p:txBody>
          <a:bodyPr wrap="square" lIns="0" tIns="0" rIns="0" bIns="0" rtlCol="0" anchor="t"/>
          <a:lstStyle/>
          <a:p>
            <a:pPr indent="0" marL="0">
              <a:buNone/>
            </a:pPr>
            <a:r>
              <a:rPr lang="en-US" sz="2700" i="1" dirty="0">
                <a:solidFill>
                  <a:srgbClr val="5B6B8C"/>
                </a:solidFill>
                <a:latin typeface="Calibri" pitchFamily="34" charset="0"/>
                <a:ea typeface="Calibri" pitchFamily="34" charset="-122"/>
                <a:cs typeface="Calibri" pitchFamily="34" charset="-120"/>
              </a:rPr>
              <a:t>ca. 100–150 Wörter · allein · in den Hefter</a:t>
            </a:r>
            <a:endParaRPr lang="en-US" sz="2700" dirty="0"/>
          </a:p>
        </p:txBody>
      </p:sp>
      <p:sp>
        <p:nvSpPr>
          <p:cNvPr id="7" name="Shape 5"/>
          <p:cNvSpPr/>
          <p:nvPr/>
        </p:nvSpPr>
        <p:spPr>
          <a:xfrm>
            <a:off x="457200" y="3547872"/>
            <a:ext cx="530352" cy="530352"/>
          </a:xfrm>
          <a:prstGeom prst="roundRect">
            <a:avLst>
              <a:gd name="adj" fmla="val 50000"/>
            </a:avLst>
          </a:prstGeom>
          <a:solidFill>
            <a:srgbClr val="1E2761"/>
          </a:solidFill>
          <a:ln/>
        </p:spPr>
      </p:sp>
      <p:sp>
        <p:nvSpPr>
          <p:cNvPr id="8" name="Text 6"/>
          <p:cNvSpPr txBox="1"/>
          <p:nvPr/>
        </p:nvSpPr>
        <p:spPr>
          <a:xfrm>
            <a:off x="457200" y="3547872"/>
            <a:ext cx="530352" cy="530352"/>
          </a:xfrm>
          <a:prstGeom prst="rect">
            <a:avLst/>
          </a:prstGeom>
          <a:noFill/>
          <a:ln/>
        </p:spPr>
        <p:txBody>
          <a:bodyPr wrap="square" lIns="0" tIns="0" rIns="0" bIns="0" rtlCol="0" anchor="ctr"/>
          <a:lstStyle/>
          <a:p>
            <a:pPr algn="ctr" indent="0" marL="0">
              <a:buNone/>
            </a:pPr>
            <a:r>
              <a:rPr lang="en-US" sz="2700" b="1" dirty="0">
                <a:solidFill>
                  <a:srgbClr val="FFFFFF"/>
                </a:solidFill>
                <a:latin typeface="Calibri" pitchFamily="34" charset="0"/>
                <a:ea typeface="Calibri" pitchFamily="34" charset="-122"/>
                <a:cs typeface="Calibri" pitchFamily="34" charset="-120"/>
              </a:rPr>
              <a:t>1</a:t>
            </a:r>
            <a:endParaRPr lang="en-US" sz="2700" dirty="0"/>
          </a:p>
        </p:txBody>
      </p:sp>
      <p:sp>
        <p:nvSpPr>
          <p:cNvPr id="9" name="Text 7"/>
          <p:cNvSpPr txBox="1"/>
          <p:nvPr/>
        </p:nvSpPr>
        <p:spPr>
          <a:xfrm>
            <a:off x="1188720" y="3520440"/>
            <a:ext cx="10515600" cy="585216"/>
          </a:xfrm>
          <a:prstGeom prst="rect">
            <a:avLst/>
          </a:prstGeom>
          <a:noFill/>
          <a:ln/>
        </p:spPr>
        <p:txBody>
          <a:bodyPr wrap="square" lIns="0" tIns="0" rIns="0" bIns="0" rtlCol="0" anchor="ctr"/>
          <a:lstStyle/>
          <a:p>
            <a:pPr indent="0" marL="0">
              <a:buNone/>
            </a:pPr>
            <a:r>
              <a:rPr lang="en-US" sz="2700" b="1" dirty="0">
                <a:solidFill>
                  <a:srgbClr val="1E2761"/>
                </a:solidFill>
                <a:latin typeface="Calibri" pitchFamily="34" charset="0"/>
                <a:ea typeface="Calibri" pitchFamily="34" charset="-122"/>
                <a:cs typeface="Calibri" pitchFamily="34" charset="-120"/>
              </a:rPr>
              <a:t>Anrede:  </a:t>
            </a:r>
            <a:pPr indent="0" marL="0">
              <a:buNone/>
            </a:pPr>
            <a:r>
              <a:rPr lang="en-US" sz="2700" dirty="0">
                <a:solidFill>
                  <a:srgbClr val="1E2761"/>
                </a:solidFill>
                <a:latin typeface="Calibri" pitchFamily="34" charset="0"/>
                <a:ea typeface="Calibri" pitchFamily="34" charset="-122"/>
                <a:cs typeface="Calibri" pitchFamily="34" charset="-120"/>
              </a:rPr>
              <a:t>„Vater, …“</a:t>
            </a:r>
            <a:endParaRPr lang="en-US" sz="2700" dirty="0"/>
          </a:p>
        </p:txBody>
      </p:sp>
      <p:sp>
        <p:nvSpPr>
          <p:cNvPr id="10" name="Shape 8"/>
          <p:cNvSpPr/>
          <p:nvPr/>
        </p:nvSpPr>
        <p:spPr>
          <a:xfrm>
            <a:off x="457200" y="4187952"/>
            <a:ext cx="530352" cy="530352"/>
          </a:xfrm>
          <a:prstGeom prst="roundRect">
            <a:avLst>
              <a:gd name="adj" fmla="val 50000"/>
            </a:avLst>
          </a:prstGeom>
          <a:solidFill>
            <a:srgbClr val="1E2761"/>
          </a:solidFill>
          <a:ln/>
        </p:spPr>
      </p:sp>
      <p:sp>
        <p:nvSpPr>
          <p:cNvPr id="11" name="Text 9"/>
          <p:cNvSpPr txBox="1"/>
          <p:nvPr/>
        </p:nvSpPr>
        <p:spPr>
          <a:xfrm>
            <a:off x="457200" y="4187952"/>
            <a:ext cx="530352" cy="530352"/>
          </a:xfrm>
          <a:prstGeom prst="rect">
            <a:avLst/>
          </a:prstGeom>
          <a:noFill/>
          <a:ln/>
        </p:spPr>
        <p:txBody>
          <a:bodyPr wrap="square" lIns="0" tIns="0" rIns="0" bIns="0" rtlCol="0" anchor="ctr"/>
          <a:lstStyle/>
          <a:p>
            <a:pPr algn="ctr" indent="0" marL="0">
              <a:buNone/>
            </a:pPr>
            <a:r>
              <a:rPr lang="en-US" sz="2700" b="1" dirty="0">
                <a:solidFill>
                  <a:srgbClr val="FFFFFF"/>
                </a:solidFill>
                <a:latin typeface="Calibri" pitchFamily="34" charset="0"/>
                <a:ea typeface="Calibri" pitchFamily="34" charset="-122"/>
                <a:cs typeface="Calibri" pitchFamily="34" charset="-120"/>
              </a:rPr>
              <a:t>2</a:t>
            </a:r>
            <a:endParaRPr lang="en-US" sz="2700" dirty="0"/>
          </a:p>
        </p:txBody>
      </p:sp>
      <p:sp>
        <p:nvSpPr>
          <p:cNvPr id="12" name="Text 10"/>
          <p:cNvSpPr txBox="1"/>
          <p:nvPr/>
        </p:nvSpPr>
        <p:spPr>
          <a:xfrm>
            <a:off x="1188720" y="4160520"/>
            <a:ext cx="10515600" cy="585216"/>
          </a:xfrm>
          <a:prstGeom prst="rect">
            <a:avLst/>
          </a:prstGeom>
          <a:noFill/>
          <a:ln/>
        </p:spPr>
        <p:txBody>
          <a:bodyPr wrap="square" lIns="0" tIns="0" rIns="0" bIns="0" rtlCol="0" anchor="ctr"/>
          <a:lstStyle/>
          <a:p>
            <a:pPr indent="0" marL="0">
              <a:buNone/>
            </a:pPr>
            <a:r>
              <a:rPr lang="en-US" sz="2700" b="1" dirty="0">
                <a:solidFill>
                  <a:srgbClr val="1E2761"/>
                </a:solidFill>
                <a:latin typeface="Calibri" pitchFamily="34" charset="0"/>
                <a:ea typeface="Calibri" pitchFamily="34" charset="-122"/>
                <a:cs typeface="Calibri" pitchFamily="34" charset="-120"/>
              </a:rPr>
              <a:t>Ich-Botschaften:  </a:t>
            </a:r>
            <a:pPr indent="0" marL="0">
              <a:buNone/>
            </a:pPr>
            <a:r>
              <a:rPr lang="en-US" sz="2700" dirty="0">
                <a:solidFill>
                  <a:srgbClr val="1E2761"/>
                </a:solidFill>
                <a:latin typeface="Calibri" pitchFamily="34" charset="0"/>
                <a:ea typeface="Calibri" pitchFamily="34" charset="-122"/>
                <a:cs typeface="Calibri" pitchFamily="34" charset="-120"/>
              </a:rPr>
              <a:t>mindestens zwei: Gefühl + Wirkung</a:t>
            </a:r>
            <a:endParaRPr lang="en-US" sz="2700" dirty="0"/>
          </a:p>
        </p:txBody>
      </p:sp>
      <p:sp>
        <p:nvSpPr>
          <p:cNvPr id="13" name="Shape 11"/>
          <p:cNvSpPr/>
          <p:nvPr/>
        </p:nvSpPr>
        <p:spPr>
          <a:xfrm>
            <a:off x="457200" y="4828032"/>
            <a:ext cx="530352" cy="530352"/>
          </a:xfrm>
          <a:prstGeom prst="roundRect">
            <a:avLst>
              <a:gd name="adj" fmla="val 50000"/>
            </a:avLst>
          </a:prstGeom>
          <a:solidFill>
            <a:srgbClr val="1E2761"/>
          </a:solidFill>
          <a:ln/>
        </p:spPr>
      </p:sp>
      <p:sp>
        <p:nvSpPr>
          <p:cNvPr id="14" name="Text 12"/>
          <p:cNvSpPr txBox="1"/>
          <p:nvPr/>
        </p:nvSpPr>
        <p:spPr>
          <a:xfrm>
            <a:off x="457200" y="4828032"/>
            <a:ext cx="530352" cy="530352"/>
          </a:xfrm>
          <a:prstGeom prst="rect">
            <a:avLst/>
          </a:prstGeom>
          <a:noFill/>
          <a:ln/>
        </p:spPr>
        <p:txBody>
          <a:bodyPr wrap="square" lIns="0" tIns="0" rIns="0" bIns="0" rtlCol="0" anchor="ctr"/>
          <a:lstStyle/>
          <a:p>
            <a:pPr algn="ctr" indent="0" marL="0">
              <a:buNone/>
            </a:pPr>
            <a:r>
              <a:rPr lang="en-US" sz="2700" b="1" dirty="0">
                <a:solidFill>
                  <a:srgbClr val="FFFFFF"/>
                </a:solidFill>
                <a:latin typeface="Calibri" pitchFamily="34" charset="0"/>
                <a:ea typeface="Calibri" pitchFamily="34" charset="-122"/>
                <a:cs typeface="Calibri" pitchFamily="34" charset="-120"/>
              </a:rPr>
              <a:t>3</a:t>
            </a:r>
            <a:endParaRPr lang="en-US" sz="2700" dirty="0"/>
          </a:p>
        </p:txBody>
      </p:sp>
      <p:sp>
        <p:nvSpPr>
          <p:cNvPr id="15" name="Text 13"/>
          <p:cNvSpPr txBox="1"/>
          <p:nvPr/>
        </p:nvSpPr>
        <p:spPr>
          <a:xfrm>
            <a:off x="1188720" y="4800600"/>
            <a:ext cx="10515600" cy="585216"/>
          </a:xfrm>
          <a:prstGeom prst="rect">
            <a:avLst/>
          </a:prstGeom>
          <a:noFill/>
          <a:ln/>
        </p:spPr>
        <p:txBody>
          <a:bodyPr wrap="square" lIns="0" tIns="0" rIns="0" bIns="0" rtlCol="0" anchor="ctr"/>
          <a:lstStyle/>
          <a:p>
            <a:pPr indent="0" marL="0">
              <a:buNone/>
            </a:pPr>
            <a:r>
              <a:rPr lang="en-US" sz="2700" b="1" dirty="0">
                <a:solidFill>
                  <a:srgbClr val="1E2761"/>
                </a:solidFill>
                <a:latin typeface="Calibri" pitchFamily="34" charset="0"/>
                <a:ea typeface="Calibri" pitchFamily="34" charset="-122"/>
                <a:cs typeface="Calibri" pitchFamily="34" charset="-120"/>
              </a:rPr>
              <a:t>Offener Appell:  </a:t>
            </a:r>
            <a:pPr indent="0" marL="0">
              <a:buNone/>
            </a:pPr>
            <a:r>
              <a:rPr lang="en-US" sz="2700" dirty="0">
                <a:solidFill>
                  <a:srgbClr val="1E2761"/>
                </a:solidFill>
                <a:latin typeface="Calibri" pitchFamily="34" charset="0"/>
                <a:ea typeface="Calibri" pitchFamily="34" charset="-122"/>
                <a:cs typeface="Calibri" pitchFamily="34" charset="-120"/>
              </a:rPr>
              <a:t>mindestens eine klare Bitte</a:t>
            </a:r>
            <a:endParaRPr lang="en-US" sz="2700" dirty="0"/>
          </a:p>
        </p:txBody>
      </p:sp>
      <p:sp>
        <p:nvSpPr>
          <p:cNvPr id="16" name="Shape 14"/>
          <p:cNvSpPr/>
          <p:nvPr/>
        </p:nvSpPr>
        <p:spPr>
          <a:xfrm>
            <a:off x="457200" y="5468112"/>
            <a:ext cx="530352" cy="530352"/>
          </a:xfrm>
          <a:prstGeom prst="roundRect">
            <a:avLst>
              <a:gd name="adj" fmla="val 50000"/>
            </a:avLst>
          </a:prstGeom>
          <a:solidFill>
            <a:srgbClr val="1E2761"/>
          </a:solidFill>
          <a:ln/>
        </p:spPr>
      </p:sp>
      <p:sp>
        <p:nvSpPr>
          <p:cNvPr id="17" name="Text 15"/>
          <p:cNvSpPr txBox="1"/>
          <p:nvPr/>
        </p:nvSpPr>
        <p:spPr>
          <a:xfrm>
            <a:off x="457200" y="5468112"/>
            <a:ext cx="530352" cy="530352"/>
          </a:xfrm>
          <a:prstGeom prst="rect">
            <a:avLst/>
          </a:prstGeom>
          <a:noFill/>
          <a:ln/>
        </p:spPr>
        <p:txBody>
          <a:bodyPr wrap="square" lIns="0" tIns="0" rIns="0" bIns="0" rtlCol="0" anchor="ctr"/>
          <a:lstStyle/>
          <a:p>
            <a:pPr algn="ctr" indent="0" marL="0">
              <a:buNone/>
            </a:pPr>
            <a:r>
              <a:rPr lang="en-US" sz="2700" b="1" dirty="0">
                <a:solidFill>
                  <a:srgbClr val="FFFFFF"/>
                </a:solidFill>
                <a:latin typeface="Calibri" pitchFamily="34" charset="0"/>
                <a:ea typeface="Calibri" pitchFamily="34" charset="-122"/>
                <a:cs typeface="Calibri" pitchFamily="34" charset="-120"/>
              </a:rPr>
              <a:t>4</a:t>
            </a:r>
            <a:endParaRPr lang="en-US" sz="2700" dirty="0"/>
          </a:p>
        </p:txBody>
      </p:sp>
      <p:sp>
        <p:nvSpPr>
          <p:cNvPr id="18" name="Text 16"/>
          <p:cNvSpPr txBox="1"/>
          <p:nvPr/>
        </p:nvSpPr>
        <p:spPr>
          <a:xfrm>
            <a:off x="1188720" y="5440680"/>
            <a:ext cx="10515600" cy="585216"/>
          </a:xfrm>
          <a:prstGeom prst="rect">
            <a:avLst/>
          </a:prstGeom>
          <a:noFill/>
          <a:ln/>
        </p:spPr>
        <p:txBody>
          <a:bodyPr wrap="square" lIns="0" tIns="0" rIns="0" bIns="0" rtlCol="0" anchor="ctr"/>
          <a:lstStyle/>
          <a:p>
            <a:pPr indent="0" marL="0">
              <a:buNone/>
            </a:pPr>
            <a:r>
              <a:rPr lang="en-US" sz="2700" b="1" dirty="0">
                <a:solidFill>
                  <a:srgbClr val="1E2761"/>
                </a:solidFill>
                <a:latin typeface="Calibri" pitchFamily="34" charset="0"/>
                <a:ea typeface="Calibri" pitchFamily="34" charset="-122"/>
                <a:cs typeface="Calibri" pitchFamily="34" charset="-120"/>
              </a:rPr>
              <a:t>Bezug zum Text:  </a:t>
            </a:r>
            <a:pPr indent="0" marL="0">
              <a:buNone/>
            </a:pPr>
            <a:r>
              <a:rPr lang="en-US" sz="2700" dirty="0">
                <a:solidFill>
                  <a:srgbClr val="1E2761"/>
                </a:solidFill>
                <a:latin typeface="Calibri" pitchFamily="34" charset="0"/>
                <a:ea typeface="Calibri" pitchFamily="34" charset="-122"/>
                <a:cs typeface="Calibri" pitchFamily="34" charset="-120"/>
              </a:rPr>
              <a:t>Kafkas Wünsche: Wort, Hand, Blick</a:t>
            </a:r>
            <a:endParaRPr lang="en-US" sz="2700" dirty="0"/>
          </a:p>
        </p:txBody>
      </p:sp>
      <p:sp>
        <p:nvSpPr>
          <p:cNvPr id="19" name="Shape 17"/>
          <p:cNvSpPr/>
          <p:nvPr/>
        </p:nvSpPr>
        <p:spPr>
          <a:xfrm>
            <a:off x="457200" y="6108192"/>
            <a:ext cx="530352" cy="530352"/>
          </a:xfrm>
          <a:prstGeom prst="roundRect">
            <a:avLst>
              <a:gd name="adj" fmla="val 50000"/>
            </a:avLst>
          </a:prstGeom>
          <a:solidFill>
            <a:srgbClr val="1E2761"/>
          </a:solidFill>
          <a:ln/>
        </p:spPr>
      </p:sp>
      <p:sp>
        <p:nvSpPr>
          <p:cNvPr id="20" name="Text 18"/>
          <p:cNvSpPr txBox="1"/>
          <p:nvPr/>
        </p:nvSpPr>
        <p:spPr>
          <a:xfrm>
            <a:off x="457200" y="6108192"/>
            <a:ext cx="530352" cy="530352"/>
          </a:xfrm>
          <a:prstGeom prst="rect">
            <a:avLst/>
          </a:prstGeom>
          <a:noFill/>
          <a:ln/>
        </p:spPr>
        <p:txBody>
          <a:bodyPr wrap="square" lIns="0" tIns="0" rIns="0" bIns="0" rtlCol="0" anchor="ctr"/>
          <a:lstStyle/>
          <a:p>
            <a:pPr algn="ctr" indent="0" marL="0">
              <a:buNone/>
            </a:pPr>
            <a:r>
              <a:rPr lang="en-US" sz="2700" b="1" dirty="0">
                <a:solidFill>
                  <a:srgbClr val="FFFFFF"/>
                </a:solidFill>
                <a:latin typeface="Calibri" pitchFamily="34" charset="0"/>
                <a:ea typeface="Calibri" pitchFamily="34" charset="-122"/>
                <a:cs typeface="Calibri" pitchFamily="34" charset="-120"/>
              </a:rPr>
              <a:t>5</a:t>
            </a:r>
            <a:endParaRPr lang="en-US" sz="2700" dirty="0"/>
          </a:p>
        </p:txBody>
      </p:sp>
      <p:sp>
        <p:nvSpPr>
          <p:cNvPr id="21" name="Text 19"/>
          <p:cNvSpPr txBox="1"/>
          <p:nvPr/>
        </p:nvSpPr>
        <p:spPr>
          <a:xfrm>
            <a:off x="1188720" y="6080760"/>
            <a:ext cx="10515600" cy="585216"/>
          </a:xfrm>
          <a:prstGeom prst="rect">
            <a:avLst/>
          </a:prstGeom>
          <a:noFill/>
          <a:ln/>
        </p:spPr>
        <p:txBody>
          <a:bodyPr wrap="square" lIns="0" tIns="0" rIns="0" bIns="0" rtlCol="0" anchor="ctr"/>
          <a:lstStyle/>
          <a:p>
            <a:pPr indent="0" marL="0">
              <a:buNone/>
            </a:pPr>
            <a:r>
              <a:rPr lang="en-US" sz="2700" b="1" dirty="0">
                <a:solidFill>
                  <a:srgbClr val="1E2761"/>
                </a:solidFill>
                <a:latin typeface="Calibri" pitchFamily="34" charset="0"/>
                <a:ea typeface="Calibri" pitchFamily="34" charset="-122"/>
                <a:cs typeface="Calibri" pitchFamily="34" charset="-120"/>
              </a:rPr>
              <a:t>Ton:  </a:t>
            </a:r>
            <a:pPr indent="0" marL="0">
              <a:buNone/>
            </a:pPr>
            <a:r>
              <a:rPr lang="en-US" sz="2700" dirty="0">
                <a:solidFill>
                  <a:srgbClr val="1E2761"/>
                </a:solidFill>
                <a:latin typeface="Calibri" pitchFamily="34" charset="0"/>
                <a:ea typeface="Calibri" pitchFamily="34" charset="-122"/>
                <a:cs typeface="Calibri" pitchFamily="34" charset="-120"/>
              </a:rPr>
              <a:t>ehrlich, mutig, respektvoll – keine Vorwürfe</a:t>
            </a:r>
            <a:endParaRPr lang="en-US" sz="27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Rechtschreibtraining und Kafkas Appell</dc:title>
  <dc:subject>PptxGenJS Presentation</dc:subject>
  <dc:creator>PptxGenJS</dc:creator>
  <cp:lastModifiedBy>PptxGenJS</cp:lastModifiedBy>
  <cp:revision>1</cp:revision>
  <dcterms:created xsi:type="dcterms:W3CDTF">2026-10-14T20:28:40Z</dcterms:created>
  <dcterms:modified xsi:type="dcterms:W3CDTF">2026-10-14T20:28:40Z</dcterms:modified>
</cp:coreProperties>
</file>