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läuft beim Ankommen. Alles liegt bereits: Arbeitsblatt auf jedem Platz, pro Gruppentisch ein Umschlag (Rollenkarten, Expertenkarten A–D, Exit-Tickets). Aufs Pult: Tippkarten und Lösungsblätter. Bei Ihnen: Umschlag mit Notfall-Ideen, Moderationskarten. Einziger Satz: „Heute steht alles auf den Folien – schaut einfach dorthin.“ Dann Folie 2 und Timer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Nicht erklären, nur Timer starten. Nach 3 Minuten ein Handzeichen oder Gong, dann 2 Minuten Partnervergleich. Es gibt hier keine Plenumsrunde – direkt weiter mit Folie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Partnerarbeit herumgehen und nur zuhören. Wer fertig ist, holt sich das Lösungsblatt „Kipppunkte“ selbst vom Pult. Erwartung: Z. 3 (★ Du-Botschaft/Beziehungsohr), Z. 4 (Gegenangriff, symmetrische Eskalation), Z. 5 (Verallgemeinerung, Interpunktion), Z. 7 (Ironie, inkongruent), Z. 8–9 (nonverbaler Rückzug, man kann nicht nicht kommunizieren). Die Klasse sitzt bereits in den Vierergruppen – kein Umbau nötig.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auf 17 Minuten, die Zeit-Person der Gruppe achtet auf die Teilphasen. Nach 1 Minute prüfen, ob alle Gruppen Rollen verteilt haben. Ab ca. Minute 24 Folie 5 (Werkzeugkasten) einblenden und stehen lassen. Musterlösung liegt am Pult.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Überblicksfolie, kein Vortrag. Sie kann während Aufgabe 3 und 4 stehen bleiben und dient als Gedächtnisstütze beim Schreiben der eigenen Szene.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5 Minuten eine Runde gehen: Hat jede Gruppe eine eigene Situation? Notfall-Ideen nur ausgeben, wenn Tippkarte 1 nicht geholfen hat. Um ca. Minute 42 eine Person als Moderation gewinnen (z. B. aus der Gruppe, die zuerst fertig ist) und ihr die Moderationskarte geben. Reihenfolge der Auftritte steht an der Tafel. Zum Proben dürfen Gruppen in Flur oder Ecken.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 sitzen im Publikum und notieren gelungene Formulierungen. Die Moderation leitet mit der Moderationskarte. Pro Gruppe ca. 3,5 Minuten (2 × 90 Sek. + Notizzeit). Zeit knapp? Die restlichen Gruppen spielen zu Beginn der nächsten Stunde, die Auswertung findet trotzdem heute statt.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Moderation führt durch die drei Schritte; Schritt 3 können Sie auch selbst moderieren. Nur zum Schluss (höchstens 1 Minute): zwei gelungene Formulierungen aus Ihren Notizen vorlesen. Wenn eine Gruppe den Kipppunkt anders sieht als die Spielgruppe, ist das ein produktiver Moment – kurz beide Sichtweisen stehen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Exit-Tickets an der Tür einsammeln. Erwartungshorizont: Lehrermaterial, Musterlösung Aufgabe 3. Zwei oder drei gelungene Formulierungen können die nächste Stunde eröffnen.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874520"/>
            <a:ext cx="2194560" cy="384048"/>
          </a:xfrm>
          <a:prstGeom prst="roundRect">
            <a:avLst>
              <a:gd name="adj" fmla="val 50000"/>
            </a:avLst>
          </a:prstGeom>
          <a:solidFill>
            <a:srgbClr val="D9534F"/>
          </a:solidFill>
          <a:ln/>
        </p:spPr>
      </p:sp>
      <p:sp>
        <p:nvSpPr>
          <p:cNvPr id="5" name="Text 3"/>
          <p:cNvSpPr txBox="1"/>
          <p:nvPr/>
        </p:nvSpPr>
        <p:spPr>
          <a:xfrm>
            <a:off x="822960" y="187452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DOPPELSTUNDE</a:t>
            </a:r>
            <a:endParaRPr lang="en-US" sz="1200" dirty="0"/>
          </a:p>
        </p:txBody>
      </p:sp>
      <p:sp>
        <p:nvSpPr>
          <p:cNvPr id="6" name="Text 4"/>
          <p:cNvSpPr txBox="1"/>
          <p:nvPr/>
        </p:nvSpPr>
        <p:spPr>
          <a:xfrm>
            <a:off x="822960" y="242316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Kommunikationsstörungen lösen</a:t>
            </a:r>
            <a:endParaRPr lang="en-US" sz="3800" dirty="0"/>
          </a:p>
        </p:txBody>
      </p:sp>
      <p:sp>
        <p:nvSpPr>
          <p:cNvPr id="7" name="Text 5"/>
          <p:cNvSpPr txBox="1"/>
          <p:nvPr/>
        </p:nvSpPr>
        <p:spPr>
          <a:xfrm>
            <a:off x="822960" y="3383280"/>
            <a:ext cx="10515600" cy="457200"/>
          </a:xfrm>
          <a:prstGeom prst="rect">
            <a:avLst/>
          </a:prstGeom>
          <a:noFill/>
          <a:ln/>
        </p:spPr>
        <p:txBody>
          <a:bodyPr wrap="square" lIns="0" tIns="0" rIns="0" bIns="0" rtlCol="0" anchor="t"/>
          <a:lstStyle/>
          <a:p>
            <a:pPr indent="0" marL="0">
              <a:buNone/>
            </a:pPr>
            <a:r>
              <a:rPr lang="en-US" sz="2000" i="1" dirty="0">
                <a:solidFill>
                  <a:srgbClr val="CADCFC"/>
                </a:solidFill>
                <a:latin typeface="Calibri" pitchFamily="34" charset="0"/>
                <a:ea typeface="Calibri" pitchFamily="34" charset="-122"/>
                <a:cs typeface="Calibri" pitchFamily="34" charset="-120"/>
              </a:rPr>
              <a:t>Wo kippt ein Gespräch – und wie rettet man es?</a:t>
            </a:r>
            <a:endParaRPr lang="en-US" sz="2000" dirty="0"/>
          </a:p>
        </p:txBody>
      </p:sp>
      <p:sp>
        <p:nvSpPr>
          <p:cNvPr id="8" name="Shape 6"/>
          <p:cNvSpPr/>
          <p:nvPr/>
        </p:nvSpPr>
        <p:spPr>
          <a:xfrm>
            <a:off x="822960" y="4160520"/>
            <a:ext cx="2194560" cy="384048"/>
          </a:xfrm>
          <a:prstGeom prst="roundRect">
            <a:avLst>
              <a:gd name="adj" fmla="val 50000"/>
            </a:avLst>
          </a:prstGeom>
          <a:solidFill>
            <a:srgbClr val="3F7CC4"/>
          </a:solidFill>
          <a:ln/>
        </p:spPr>
      </p:sp>
      <p:sp>
        <p:nvSpPr>
          <p:cNvPr id="9" name="Text 7"/>
          <p:cNvSpPr txBox="1"/>
          <p:nvPr/>
        </p:nvSpPr>
        <p:spPr>
          <a:xfrm>
            <a:off x="822960" y="416052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 Ich-Botschaft</a:t>
            </a:r>
            <a:endParaRPr lang="en-US" sz="1200" dirty="0"/>
          </a:p>
        </p:txBody>
      </p:sp>
      <p:sp>
        <p:nvSpPr>
          <p:cNvPr id="10" name="Shape 8"/>
          <p:cNvSpPr/>
          <p:nvPr/>
        </p:nvSpPr>
        <p:spPr>
          <a:xfrm>
            <a:off x="3154680" y="4160520"/>
            <a:ext cx="2194560" cy="384048"/>
          </a:xfrm>
          <a:prstGeom prst="roundRect">
            <a:avLst>
              <a:gd name="adj" fmla="val 50000"/>
            </a:avLst>
          </a:prstGeom>
          <a:solidFill>
            <a:srgbClr val="2E9E6B"/>
          </a:solidFill>
          <a:ln/>
        </p:spPr>
      </p:sp>
      <p:sp>
        <p:nvSpPr>
          <p:cNvPr id="11" name="Text 9"/>
          <p:cNvSpPr txBox="1"/>
          <p:nvPr/>
        </p:nvSpPr>
        <p:spPr>
          <a:xfrm>
            <a:off x="3154680" y="416052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 Empathie</a:t>
            </a:r>
            <a:endParaRPr lang="en-US" sz="1200" dirty="0"/>
          </a:p>
        </p:txBody>
      </p:sp>
      <p:sp>
        <p:nvSpPr>
          <p:cNvPr id="12" name="Shape 10"/>
          <p:cNvSpPr/>
          <p:nvPr/>
        </p:nvSpPr>
        <p:spPr>
          <a:xfrm>
            <a:off x="5486400" y="4160520"/>
            <a:ext cx="2194560" cy="384048"/>
          </a:xfrm>
          <a:prstGeom prst="roundRect">
            <a:avLst>
              <a:gd name="adj" fmla="val 50000"/>
            </a:avLst>
          </a:prstGeom>
          <a:solidFill>
            <a:srgbClr val="E8A33D"/>
          </a:solidFill>
          <a:ln/>
        </p:spPr>
      </p:sp>
      <p:sp>
        <p:nvSpPr>
          <p:cNvPr id="13" name="Text 11"/>
          <p:cNvSpPr txBox="1"/>
          <p:nvPr/>
        </p:nvSpPr>
        <p:spPr>
          <a:xfrm>
            <a:off x="5486400" y="416052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Wunsch &amp; Bitte</a:t>
            </a:r>
            <a:endParaRPr lang="en-US" sz="1200" dirty="0"/>
          </a:p>
        </p:txBody>
      </p:sp>
      <p:sp>
        <p:nvSpPr>
          <p:cNvPr id="14" name="Shape 12"/>
          <p:cNvSpPr/>
          <p:nvPr/>
        </p:nvSpPr>
        <p:spPr>
          <a:xfrm>
            <a:off x="7818120" y="4160520"/>
            <a:ext cx="2194560" cy="384048"/>
          </a:xfrm>
          <a:prstGeom prst="roundRect">
            <a:avLst>
              <a:gd name="adj" fmla="val 50000"/>
            </a:avLst>
          </a:prstGeom>
          <a:solidFill>
            <a:srgbClr val="8E5BB5"/>
          </a:solidFill>
          <a:ln/>
        </p:spPr>
      </p:sp>
      <p:sp>
        <p:nvSpPr>
          <p:cNvPr id="15" name="Text 13"/>
          <p:cNvSpPr txBox="1"/>
          <p:nvPr/>
        </p:nvSpPr>
        <p:spPr>
          <a:xfrm>
            <a:off x="7818120" y="416052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 Metakommunikation</a:t>
            </a:r>
            <a:endParaRPr lang="en-US" sz="1200" dirty="0"/>
          </a:p>
        </p:txBody>
      </p:sp>
      <p:sp>
        <p:nvSpPr>
          <p:cNvPr id="16" name="Text 14"/>
          <p:cNvSpPr txBox="1"/>
          <p:nvPr/>
        </p:nvSpPr>
        <p:spPr>
          <a:xfrm>
            <a:off x="822960" y="6035040"/>
            <a:ext cx="4572000" cy="27432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Deutsch, Klasse 11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EINSTIEG · STILL</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Ab welcher Zeile geht es schief?</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M1 auf deinem Arbeitsblatt · erst allein, dann mit dem Nachbarn</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5"/>
          <p:cNvSpPr/>
          <p:nvPr/>
        </p:nvSpPr>
        <p:spPr>
          <a:xfrm>
            <a:off x="9966960" y="411480"/>
            <a:ext cx="1691640" cy="914400"/>
          </a:xfrm>
          <a:prstGeom prst="roundRect">
            <a:avLst>
              <a:gd name="adj" fmla="val 8000"/>
            </a:avLst>
          </a:prstGeom>
          <a:solidFill>
            <a:srgbClr val="1E2761"/>
          </a:solidFill>
          <a:ln/>
        </p:spPr>
      </p:sp>
      <p:sp>
        <p:nvSpPr>
          <p:cNvPr id="8" name="Text 6"/>
          <p:cNvSpPr txBox="1"/>
          <p:nvPr/>
        </p:nvSpPr>
        <p:spPr>
          <a:xfrm>
            <a:off x="9966960" y="457200"/>
            <a:ext cx="1691640"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5 Min.</a:t>
            </a:r>
            <a:endParaRPr lang="en-US" sz="2600" dirty="0"/>
          </a:p>
        </p:txBody>
      </p:sp>
      <p:sp>
        <p:nvSpPr>
          <p:cNvPr id="9" name="Text 7"/>
          <p:cNvSpPr txBox="1"/>
          <p:nvPr/>
        </p:nvSpPr>
        <p:spPr>
          <a:xfrm>
            <a:off x="9966960" y="932688"/>
            <a:ext cx="169164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allein → zu zweit</a:t>
            </a:r>
            <a:endParaRPr lang="en-US" sz="1200" dirty="0"/>
          </a:p>
        </p:txBody>
      </p:sp>
      <p:sp>
        <p:nvSpPr>
          <p:cNvPr id="10" name="Shape 8"/>
          <p:cNvSpPr/>
          <p:nvPr/>
        </p:nvSpPr>
        <p:spPr>
          <a:xfrm>
            <a:off x="548640" y="1783080"/>
            <a:ext cx="8138160" cy="384048"/>
          </a:xfrm>
          <a:prstGeom prst="roundRect">
            <a:avLst>
              <a:gd name="adj" fmla="val 9524"/>
            </a:avLst>
          </a:prstGeom>
          <a:solidFill>
            <a:srgbClr val="F4F7FD"/>
          </a:solidFill>
          <a:ln/>
        </p:spPr>
      </p:sp>
      <p:sp>
        <p:nvSpPr>
          <p:cNvPr id="11" name="Text 9"/>
          <p:cNvSpPr txBox="1"/>
          <p:nvPr/>
        </p:nvSpPr>
        <p:spPr>
          <a:xfrm>
            <a:off x="640080" y="1783080"/>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1</a:t>
            </a:r>
            <a:endParaRPr lang="en-US" sz="1300" dirty="0"/>
          </a:p>
        </p:txBody>
      </p:sp>
      <p:sp>
        <p:nvSpPr>
          <p:cNvPr id="12" name="Text 10"/>
          <p:cNvSpPr txBox="1"/>
          <p:nvPr/>
        </p:nvSpPr>
        <p:spPr>
          <a:xfrm>
            <a:off x="1051560" y="1783080"/>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Lena</a:t>
            </a:r>
            <a:endParaRPr lang="en-US" sz="1400" dirty="0"/>
          </a:p>
        </p:txBody>
      </p:sp>
      <p:sp>
        <p:nvSpPr>
          <p:cNvPr id="13" name="Text 11"/>
          <p:cNvSpPr txBox="1"/>
          <p:nvPr/>
        </p:nvSpPr>
        <p:spPr>
          <a:xfrm>
            <a:off x="1783080" y="1783080"/>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Hey, hast du die Folien fertig? Wir sind morgen dran.</a:t>
            </a:r>
            <a:endParaRPr lang="en-US" sz="1400" dirty="0"/>
          </a:p>
        </p:txBody>
      </p:sp>
      <p:sp>
        <p:nvSpPr>
          <p:cNvPr id="14" name="Shape 12"/>
          <p:cNvSpPr/>
          <p:nvPr/>
        </p:nvSpPr>
        <p:spPr>
          <a:xfrm>
            <a:off x="548640" y="2212848"/>
            <a:ext cx="8138160" cy="384048"/>
          </a:xfrm>
          <a:prstGeom prst="roundRect">
            <a:avLst>
              <a:gd name="adj" fmla="val 9524"/>
            </a:avLst>
          </a:prstGeom>
          <a:solidFill>
            <a:srgbClr val="FFFFFF"/>
          </a:solidFill>
          <a:ln/>
        </p:spPr>
      </p:sp>
      <p:sp>
        <p:nvSpPr>
          <p:cNvPr id="15" name="Text 13"/>
          <p:cNvSpPr txBox="1"/>
          <p:nvPr/>
        </p:nvSpPr>
        <p:spPr>
          <a:xfrm>
            <a:off x="640080" y="2212848"/>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2</a:t>
            </a:r>
            <a:endParaRPr lang="en-US" sz="1300" dirty="0"/>
          </a:p>
        </p:txBody>
      </p:sp>
      <p:sp>
        <p:nvSpPr>
          <p:cNvPr id="16" name="Text 14"/>
          <p:cNvSpPr txBox="1"/>
          <p:nvPr/>
        </p:nvSpPr>
        <p:spPr>
          <a:xfrm>
            <a:off x="1051560" y="2212848"/>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Tom</a:t>
            </a:r>
            <a:endParaRPr lang="en-US" sz="1400" dirty="0"/>
          </a:p>
        </p:txBody>
      </p:sp>
      <p:sp>
        <p:nvSpPr>
          <p:cNvPr id="17" name="Text 15"/>
          <p:cNvSpPr txBox="1"/>
          <p:nvPr/>
        </p:nvSpPr>
        <p:spPr>
          <a:xfrm>
            <a:off x="1783080" y="2212848"/>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Fast. Den Rest mach ich heute Abend.</a:t>
            </a:r>
            <a:endParaRPr lang="en-US" sz="1400" dirty="0"/>
          </a:p>
        </p:txBody>
      </p:sp>
      <p:sp>
        <p:nvSpPr>
          <p:cNvPr id="18" name="Shape 16"/>
          <p:cNvSpPr/>
          <p:nvPr/>
        </p:nvSpPr>
        <p:spPr>
          <a:xfrm>
            <a:off x="548640" y="2642616"/>
            <a:ext cx="8138160" cy="384048"/>
          </a:xfrm>
          <a:prstGeom prst="roundRect">
            <a:avLst>
              <a:gd name="adj" fmla="val 9524"/>
            </a:avLst>
          </a:prstGeom>
          <a:solidFill>
            <a:srgbClr val="F4F7FD"/>
          </a:solidFill>
          <a:ln/>
        </p:spPr>
      </p:sp>
      <p:sp>
        <p:nvSpPr>
          <p:cNvPr id="19" name="Text 17"/>
          <p:cNvSpPr txBox="1"/>
          <p:nvPr/>
        </p:nvSpPr>
        <p:spPr>
          <a:xfrm>
            <a:off x="640080" y="2642616"/>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1051560" y="2642616"/>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Lena</a:t>
            </a:r>
            <a:endParaRPr lang="en-US" sz="1400" dirty="0"/>
          </a:p>
        </p:txBody>
      </p:sp>
      <p:sp>
        <p:nvSpPr>
          <p:cNvPr id="21" name="Text 19"/>
          <p:cNvSpPr txBox="1"/>
          <p:nvPr/>
        </p:nvSpPr>
        <p:spPr>
          <a:xfrm>
            <a:off x="1783080" y="2642616"/>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Heute Abend? Du hattest eine ganze Woche Zeit.</a:t>
            </a:r>
            <a:endParaRPr lang="en-US" sz="1400" dirty="0"/>
          </a:p>
        </p:txBody>
      </p:sp>
      <p:sp>
        <p:nvSpPr>
          <p:cNvPr id="22" name="Shape 20"/>
          <p:cNvSpPr/>
          <p:nvPr/>
        </p:nvSpPr>
        <p:spPr>
          <a:xfrm>
            <a:off x="548640" y="3072384"/>
            <a:ext cx="8138160" cy="384048"/>
          </a:xfrm>
          <a:prstGeom prst="roundRect">
            <a:avLst>
              <a:gd name="adj" fmla="val 9524"/>
            </a:avLst>
          </a:prstGeom>
          <a:solidFill>
            <a:srgbClr val="FFFFFF"/>
          </a:solidFill>
          <a:ln/>
        </p:spPr>
      </p:sp>
      <p:sp>
        <p:nvSpPr>
          <p:cNvPr id="23" name="Text 21"/>
          <p:cNvSpPr txBox="1"/>
          <p:nvPr/>
        </p:nvSpPr>
        <p:spPr>
          <a:xfrm>
            <a:off x="640080" y="3072384"/>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051560" y="3072384"/>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Tom</a:t>
            </a:r>
            <a:endParaRPr lang="en-US" sz="1400" dirty="0"/>
          </a:p>
        </p:txBody>
      </p:sp>
      <p:sp>
        <p:nvSpPr>
          <p:cNvPr id="25" name="Text 23"/>
          <p:cNvSpPr txBox="1"/>
          <p:nvPr/>
        </p:nvSpPr>
        <p:spPr>
          <a:xfrm>
            <a:off x="1783080" y="3072384"/>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Ich hatte halt dreimal Training. Nicht jeder hat so viel Freizeit wie du.</a:t>
            </a:r>
            <a:endParaRPr lang="en-US" sz="1400" dirty="0"/>
          </a:p>
        </p:txBody>
      </p:sp>
      <p:sp>
        <p:nvSpPr>
          <p:cNvPr id="26" name="Shape 24"/>
          <p:cNvSpPr/>
          <p:nvPr/>
        </p:nvSpPr>
        <p:spPr>
          <a:xfrm>
            <a:off x="548640" y="3502152"/>
            <a:ext cx="8138160" cy="384048"/>
          </a:xfrm>
          <a:prstGeom prst="roundRect">
            <a:avLst>
              <a:gd name="adj" fmla="val 9524"/>
            </a:avLst>
          </a:prstGeom>
          <a:solidFill>
            <a:srgbClr val="F4F7FD"/>
          </a:solidFill>
          <a:ln/>
        </p:spPr>
      </p:sp>
      <p:sp>
        <p:nvSpPr>
          <p:cNvPr id="27" name="Text 25"/>
          <p:cNvSpPr txBox="1"/>
          <p:nvPr/>
        </p:nvSpPr>
        <p:spPr>
          <a:xfrm>
            <a:off x="640080" y="3502152"/>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5</a:t>
            </a:r>
            <a:endParaRPr lang="en-US" sz="1300" dirty="0"/>
          </a:p>
        </p:txBody>
      </p:sp>
      <p:sp>
        <p:nvSpPr>
          <p:cNvPr id="28" name="Text 26"/>
          <p:cNvSpPr txBox="1"/>
          <p:nvPr/>
        </p:nvSpPr>
        <p:spPr>
          <a:xfrm>
            <a:off x="1051560" y="3502152"/>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Lena</a:t>
            </a:r>
            <a:endParaRPr lang="en-US" sz="1400" dirty="0"/>
          </a:p>
        </p:txBody>
      </p:sp>
      <p:sp>
        <p:nvSpPr>
          <p:cNvPr id="29" name="Text 27"/>
          <p:cNvSpPr txBox="1"/>
          <p:nvPr/>
        </p:nvSpPr>
        <p:spPr>
          <a:xfrm>
            <a:off x="1783080" y="3502152"/>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Freizeit? Ich hab die komplette Gliederung gemacht! Immer bleibt alles an mir hängen.</a:t>
            </a:r>
            <a:endParaRPr lang="en-US" sz="1400" dirty="0"/>
          </a:p>
        </p:txBody>
      </p:sp>
      <p:sp>
        <p:nvSpPr>
          <p:cNvPr id="30" name="Shape 28"/>
          <p:cNvSpPr/>
          <p:nvPr/>
        </p:nvSpPr>
        <p:spPr>
          <a:xfrm>
            <a:off x="548640" y="3931920"/>
            <a:ext cx="8138160" cy="384048"/>
          </a:xfrm>
          <a:prstGeom prst="roundRect">
            <a:avLst>
              <a:gd name="adj" fmla="val 9524"/>
            </a:avLst>
          </a:prstGeom>
          <a:solidFill>
            <a:srgbClr val="FFFFFF"/>
          </a:solidFill>
          <a:ln/>
        </p:spPr>
      </p:sp>
      <p:sp>
        <p:nvSpPr>
          <p:cNvPr id="31" name="Text 29"/>
          <p:cNvSpPr txBox="1"/>
          <p:nvPr/>
        </p:nvSpPr>
        <p:spPr>
          <a:xfrm>
            <a:off x="640080" y="3931920"/>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1051560" y="3931920"/>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Tom</a:t>
            </a:r>
            <a:endParaRPr lang="en-US" sz="1400" dirty="0"/>
          </a:p>
        </p:txBody>
      </p:sp>
      <p:sp>
        <p:nvSpPr>
          <p:cNvPr id="33" name="Text 31"/>
          <p:cNvSpPr txBox="1"/>
          <p:nvPr/>
        </p:nvSpPr>
        <p:spPr>
          <a:xfrm>
            <a:off x="1783080" y="3931920"/>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Dann mach’s doch allein, wenn du eh alles besser kannst.</a:t>
            </a:r>
            <a:endParaRPr lang="en-US" sz="1400" dirty="0"/>
          </a:p>
        </p:txBody>
      </p:sp>
      <p:sp>
        <p:nvSpPr>
          <p:cNvPr id="34" name="Shape 32"/>
          <p:cNvSpPr/>
          <p:nvPr/>
        </p:nvSpPr>
        <p:spPr>
          <a:xfrm>
            <a:off x="548640" y="4361688"/>
            <a:ext cx="8138160" cy="384048"/>
          </a:xfrm>
          <a:prstGeom prst="roundRect">
            <a:avLst>
              <a:gd name="adj" fmla="val 9524"/>
            </a:avLst>
          </a:prstGeom>
          <a:solidFill>
            <a:srgbClr val="F4F7FD"/>
          </a:solidFill>
          <a:ln/>
        </p:spPr>
      </p:sp>
      <p:sp>
        <p:nvSpPr>
          <p:cNvPr id="35" name="Text 33"/>
          <p:cNvSpPr txBox="1"/>
          <p:nvPr/>
        </p:nvSpPr>
        <p:spPr>
          <a:xfrm>
            <a:off x="640080" y="4361688"/>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7</a:t>
            </a:r>
            <a:endParaRPr lang="en-US" sz="1300" dirty="0"/>
          </a:p>
        </p:txBody>
      </p:sp>
      <p:sp>
        <p:nvSpPr>
          <p:cNvPr id="36" name="Text 34"/>
          <p:cNvSpPr txBox="1"/>
          <p:nvPr/>
        </p:nvSpPr>
        <p:spPr>
          <a:xfrm>
            <a:off x="1051560" y="4361688"/>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Lena</a:t>
            </a:r>
            <a:endParaRPr lang="en-US" sz="1400" dirty="0"/>
          </a:p>
        </p:txBody>
      </p:sp>
      <p:sp>
        <p:nvSpPr>
          <p:cNvPr id="37" name="Text 35"/>
          <p:cNvSpPr txBox="1"/>
          <p:nvPr/>
        </p:nvSpPr>
        <p:spPr>
          <a:xfrm>
            <a:off x="1783080" y="4361688"/>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(verdreht die Augen) Super. Genau das hab ich von dir erwartet.</a:t>
            </a:r>
            <a:endParaRPr lang="en-US" sz="1400" dirty="0"/>
          </a:p>
        </p:txBody>
      </p:sp>
      <p:sp>
        <p:nvSpPr>
          <p:cNvPr id="38" name="Shape 36"/>
          <p:cNvSpPr/>
          <p:nvPr/>
        </p:nvSpPr>
        <p:spPr>
          <a:xfrm>
            <a:off x="548640" y="4791456"/>
            <a:ext cx="8138160" cy="384048"/>
          </a:xfrm>
          <a:prstGeom prst="roundRect">
            <a:avLst>
              <a:gd name="adj" fmla="val 9524"/>
            </a:avLst>
          </a:prstGeom>
          <a:solidFill>
            <a:srgbClr val="FFFFFF"/>
          </a:solidFill>
          <a:ln/>
        </p:spPr>
      </p:sp>
      <p:sp>
        <p:nvSpPr>
          <p:cNvPr id="39" name="Text 37"/>
          <p:cNvSpPr txBox="1"/>
          <p:nvPr/>
        </p:nvSpPr>
        <p:spPr>
          <a:xfrm>
            <a:off x="640080" y="4791456"/>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8</a:t>
            </a:r>
            <a:endParaRPr lang="en-US" sz="1300" dirty="0"/>
          </a:p>
        </p:txBody>
      </p:sp>
      <p:sp>
        <p:nvSpPr>
          <p:cNvPr id="40" name="Text 38"/>
          <p:cNvSpPr txBox="1"/>
          <p:nvPr/>
        </p:nvSpPr>
        <p:spPr>
          <a:xfrm>
            <a:off x="1051560" y="4791456"/>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Tom</a:t>
            </a:r>
            <a:endParaRPr lang="en-US" sz="1400" dirty="0"/>
          </a:p>
        </p:txBody>
      </p:sp>
      <p:sp>
        <p:nvSpPr>
          <p:cNvPr id="41" name="Text 39"/>
          <p:cNvSpPr txBox="1"/>
          <p:nvPr/>
        </p:nvSpPr>
        <p:spPr>
          <a:xfrm>
            <a:off x="1783080" y="4791456"/>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(zuckt mit den Schultern, schaut aufs Handy) Wie du meinst.</a:t>
            </a:r>
            <a:endParaRPr lang="en-US" sz="1400" dirty="0"/>
          </a:p>
        </p:txBody>
      </p:sp>
      <p:sp>
        <p:nvSpPr>
          <p:cNvPr id="42" name="Shape 40"/>
          <p:cNvSpPr/>
          <p:nvPr/>
        </p:nvSpPr>
        <p:spPr>
          <a:xfrm>
            <a:off x="548640" y="5221224"/>
            <a:ext cx="8138160" cy="384048"/>
          </a:xfrm>
          <a:prstGeom prst="roundRect">
            <a:avLst>
              <a:gd name="adj" fmla="val 9524"/>
            </a:avLst>
          </a:prstGeom>
          <a:solidFill>
            <a:srgbClr val="F4F7FD"/>
          </a:solidFill>
          <a:ln/>
        </p:spPr>
      </p:sp>
      <p:sp>
        <p:nvSpPr>
          <p:cNvPr id="43" name="Text 41"/>
          <p:cNvSpPr txBox="1"/>
          <p:nvPr/>
        </p:nvSpPr>
        <p:spPr>
          <a:xfrm>
            <a:off x="640080" y="5221224"/>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9</a:t>
            </a:r>
            <a:endParaRPr lang="en-US" sz="1300" dirty="0"/>
          </a:p>
        </p:txBody>
      </p:sp>
      <p:sp>
        <p:nvSpPr>
          <p:cNvPr id="44" name="Text 42"/>
          <p:cNvSpPr txBox="1"/>
          <p:nvPr/>
        </p:nvSpPr>
        <p:spPr>
          <a:xfrm>
            <a:off x="1051560" y="5221224"/>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Lena</a:t>
            </a:r>
            <a:endParaRPr lang="en-US" sz="1400" dirty="0"/>
          </a:p>
        </p:txBody>
      </p:sp>
      <p:sp>
        <p:nvSpPr>
          <p:cNvPr id="45" name="Text 43"/>
          <p:cNvSpPr txBox="1"/>
          <p:nvPr/>
        </p:nvSpPr>
        <p:spPr>
          <a:xfrm>
            <a:off x="1783080" y="5221224"/>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Ja, schau ruhig aufs Handy. Ist ja auch wichtiger.</a:t>
            </a:r>
            <a:endParaRPr lang="en-US" sz="1400" dirty="0"/>
          </a:p>
        </p:txBody>
      </p:sp>
      <p:sp>
        <p:nvSpPr>
          <p:cNvPr id="46" name="Shape 44"/>
          <p:cNvSpPr/>
          <p:nvPr/>
        </p:nvSpPr>
        <p:spPr>
          <a:xfrm>
            <a:off x="548640" y="5650992"/>
            <a:ext cx="8138160" cy="384048"/>
          </a:xfrm>
          <a:prstGeom prst="roundRect">
            <a:avLst>
              <a:gd name="adj" fmla="val 9524"/>
            </a:avLst>
          </a:prstGeom>
          <a:solidFill>
            <a:srgbClr val="FFFFFF"/>
          </a:solidFill>
          <a:ln/>
        </p:spPr>
      </p:sp>
      <p:sp>
        <p:nvSpPr>
          <p:cNvPr id="47" name="Text 45"/>
          <p:cNvSpPr txBox="1"/>
          <p:nvPr/>
        </p:nvSpPr>
        <p:spPr>
          <a:xfrm>
            <a:off x="640080" y="5650992"/>
            <a:ext cx="365760" cy="384048"/>
          </a:xfrm>
          <a:prstGeom prst="rect">
            <a:avLst/>
          </a:prstGeom>
          <a:noFill/>
          <a:ln/>
        </p:spPr>
        <p:txBody>
          <a:bodyPr wrap="square" lIns="0" tIns="0" rIns="0" bIns="0" rtlCol="0" anchor="ctr"/>
          <a:lstStyle/>
          <a:p>
            <a:pPr algn="ctr" indent="0" marL="0">
              <a:buNone/>
            </a:pPr>
            <a:r>
              <a:rPr lang="en-US" sz="1300" b="1" dirty="0">
                <a:solidFill>
                  <a:srgbClr val="5B6B8C"/>
                </a:solidFill>
                <a:latin typeface="Calibri" pitchFamily="34" charset="0"/>
                <a:ea typeface="Calibri" pitchFamily="34" charset="-122"/>
                <a:cs typeface="Calibri" pitchFamily="34" charset="-120"/>
              </a:rPr>
              <a:t>10</a:t>
            </a:r>
            <a:endParaRPr lang="en-US" sz="1300" dirty="0"/>
          </a:p>
        </p:txBody>
      </p:sp>
      <p:sp>
        <p:nvSpPr>
          <p:cNvPr id="48" name="Text 46"/>
          <p:cNvSpPr txBox="1"/>
          <p:nvPr/>
        </p:nvSpPr>
        <p:spPr>
          <a:xfrm>
            <a:off x="1051560" y="5650992"/>
            <a:ext cx="731520" cy="38404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Tom</a:t>
            </a:r>
            <a:endParaRPr lang="en-US" sz="1400" dirty="0"/>
          </a:p>
        </p:txBody>
      </p:sp>
      <p:sp>
        <p:nvSpPr>
          <p:cNvPr id="49" name="Text 47"/>
          <p:cNvSpPr txBox="1"/>
          <p:nvPr/>
        </p:nvSpPr>
        <p:spPr>
          <a:xfrm>
            <a:off x="1783080" y="5650992"/>
            <a:ext cx="6858000" cy="384048"/>
          </a:xfrm>
          <a:prstGeom prst="rect">
            <a:avLst/>
          </a:prstGeom>
          <a:noFill/>
          <a:ln/>
        </p:spPr>
        <p:txBody>
          <a:bodyPr wrap="square" lIns="0" tIns="0" rIns="0" bIns="0" rtlCol="0" anchor="ctr"/>
          <a:lstStyle/>
          <a:p>
            <a:pPr indent="0" marL="0">
              <a:buNone/>
            </a:pPr>
            <a:r>
              <a:rPr lang="en-US" sz="1400" dirty="0">
                <a:solidFill>
                  <a:srgbClr val="1E2761"/>
                </a:solidFill>
                <a:latin typeface="Cambria" pitchFamily="34" charset="0"/>
                <a:ea typeface="Cambria" pitchFamily="34" charset="-122"/>
                <a:cs typeface="Cambria" pitchFamily="34" charset="-120"/>
              </a:rPr>
              <a:t>(steht auf und geht) Boah, du nervst echt.</a:t>
            </a:r>
            <a:endParaRPr lang="en-US" sz="1400" dirty="0"/>
          </a:p>
        </p:txBody>
      </p:sp>
      <p:sp>
        <p:nvSpPr>
          <p:cNvPr id="50" name="Shape 48"/>
          <p:cNvSpPr/>
          <p:nvPr/>
        </p:nvSpPr>
        <p:spPr>
          <a:xfrm>
            <a:off x="9052560" y="1783080"/>
            <a:ext cx="2606040" cy="4206240"/>
          </a:xfrm>
          <a:prstGeom prst="roundRect">
            <a:avLst>
              <a:gd name="adj" fmla="val 2807"/>
            </a:avLst>
          </a:prstGeom>
          <a:solidFill>
            <a:srgbClr val="D9534F"/>
          </a:solidFill>
          <a:ln/>
        </p:spPr>
      </p:sp>
      <p:sp>
        <p:nvSpPr>
          <p:cNvPr id="51" name="Text 49"/>
          <p:cNvSpPr txBox="1"/>
          <p:nvPr/>
        </p:nvSpPr>
        <p:spPr>
          <a:xfrm>
            <a:off x="9052560" y="1920240"/>
            <a:ext cx="26060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libri" pitchFamily="34" charset="0"/>
                <a:ea typeface="Calibri" pitchFamily="34" charset="-122"/>
                <a:cs typeface="Calibri" pitchFamily="34" charset="-120"/>
              </a:rPr>
              <a:t>↯</a:t>
            </a:r>
            <a:endParaRPr lang="en-US" sz="4800" dirty="0"/>
          </a:p>
        </p:txBody>
      </p:sp>
      <p:sp>
        <p:nvSpPr>
          <p:cNvPr id="52" name="Text 50"/>
          <p:cNvSpPr txBox="1"/>
          <p:nvPr/>
        </p:nvSpPr>
        <p:spPr>
          <a:xfrm>
            <a:off x="9235440" y="2834640"/>
            <a:ext cx="2240280" cy="3017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Markiere jede Stelle, an der das Gespräch kippt.</a:t>
            </a:r>
            <a:endParaRPr lang="en-US" sz="16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3 Min. still.</a:t>
            </a:r>
            <a:endParaRPr lang="en-US" sz="1600" dirty="0"/>
          </a:p>
          <a:p>
            <a:pPr indent="0" marL="0">
              <a:buNone/>
            </a:pPr>
            <a:r>
              <a:rPr lang="en-US" sz="1600" dirty="0">
                <a:solidFill>
                  <a:srgbClr val="FFFFFF"/>
                </a:solidFill>
                <a:latin typeface="Calibri" pitchFamily="34" charset="0"/>
                <a:ea typeface="Calibri" pitchFamily="34" charset="-122"/>
                <a:cs typeface="Calibri" pitchFamily="34" charset="-120"/>
              </a:rPr>
              <a:t>Dann 2 Min. vergleichen: Wo seid ihr euch uneinig?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AUFGABE 2 · PARTNERARBEIT</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Kipppunkte benennen</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Arbeitsblatt S. 2</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5"/>
          <p:cNvSpPr/>
          <p:nvPr/>
        </p:nvSpPr>
        <p:spPr>
          <a:xfrm>
            <a:off x="9966960" y="411480"/>
            <a:ext cx="1691640" cy="914400"/>
          </a:xfrm>
          <a:prstGeom prst="roundRect">
            <a:avLst>
              <a:gd name="adj" fmla="val 8000"/>
            </a:avLst>
          </a:prstGeom>
          <a:solidFill>
            <a:srgbClr val="1E2761"/>
          </a:solidFill>
          <a:ln/>
        </p:spPr>
      </p:sp>
      <p:sp>
        <p:nvSpPr>
          <p:cNvPr id="8" name="Text 6"/>
          <p:cNvSpPr txBox="1"/>
          <p:nvPr/>
        </p:nvSpPr>
        <p:spPr>
          <a:xfrm>
            <a:off x="9966960" y="457200"/>
            <a:ext cx="1691640"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8 Min.</a:t>
            </a:r>
            <a:endParaRPr lang="en-US" sz="2600" dirty="0"/>
          </a:p>
        </p:txBody>
      </p:sp>
      <p:sp>
        <p:nvSpPr>
          <p:cNvPr id="9" name="Text 7"/>
          <p:cNvSpPr txBox="1"/>
          <p:nvPr/>
        </p:nvSpPr>
        <p:spPr>
          <a:xfrm>
            <a:off x="9966960" y="932688"/>
            <a:ext cx="169164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zu zweit</a:t>
            </a:r>
            <a:endParaRPr lang="en-US" sz="1200" dirty="0"/>
          </a:p>
        </p:txBody>
      </p:sp>
      <p:sp>
        <p:nvSpPr>
          <p:cNvPr id="10" name="Shape 8"/>
          <p:cNvSpPr/>
          <p:nvPr/>
        </p:nvSpPr>
        <p:spPr>
          <a:xfrm>
            <a:off x="548640" y="1847088"/>
            <a:ext cx="384048" cy="384048"/>
          </a:xfrm>
          <a:prstGeom prst="ellipse">
            <a:avLst/>
          </a:prstGeom>
          <a:solidFill>
            <a:srgbClr val="1E2761"/>
          </a:solidFill>
          <a:ln/>
        </p:spPr>
      </p:sp>
      <p:sp>
        <p:nvSpPr>
          <p:cNvPr id="11" name="Text 9"/>
          <p:cNvSpPr txBox="1"/>
          <p:nvPr/>
        </p:nvSpPr>
        <p:spPr>
          <a:xfrm>
            <a:off x="54864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1097280" y="1828800"/>
            <a:ext cx="6035040" cy="868680"/>
          </a:xfrm>
          <a:prstGeom prst="rect">
            <a:avLst/>
          </a:prstGeom>
          <a:noFill/>
          <a:ln/>
        </p:spPr>
        <p:txBody>
          <a:bodyPr wrap="square" lIns="0" tIns="0" rIns="0" bIns="0" rtlCol="0" anchor="t"/>
          <a:lstStyle/>
          <a:p>
            <a:pPr indent="0" marL="0">
              <a:buNone/>
            </a:pPr>
            <a:r>
              <a:rPr lang="en-US" sz="1700" dirty="0">
                <a:solidFill>
                  <a:srgbClr val="1E2761"/>
                </a:solidFill>
                <a:latin typeface="Calibri" pitchFamily="34" charset="0"/>
                <a:ea typeface="Calibri" pitchFamily="34" charset="-122"/>
                <a:cs typeface="Calibri" pitchFamily="34" charset="-120"/>
              </a:rPr>
              <a:t>Tragt </a:t>
            </a:r>
            <a:pPr indent="0" marL="0">
              <a:buNone/>
            </a:pPr>
            <a:r>
              <a:rPr lang="en-US" sz="1700" b="1" dirty="0">
                <a:solidFill>
                  <a:srgbClr val="1E2761"/>
                </a:solidFill>
                <a:latin typeface="Calibri" pitchFamily="34" charset="0"/>
                <a:ea typeface="Calibri" pitchFamily="34" charset="-122"/>
                <a:cs typeface="Calibri" pitchFamily="34" charset="-120"/>
              </a:rPr>
              <a:t>mindestens drei</a:t>
            </a:r>
            <a:pPr indent="0" marL="0">
              <a:buNone/>
            </a:pPr>
            <a:r>
              <a:rPr lang="en-US" sz="1700" dirty="0">
                <a:solidFill>
                  <a:srgbClr val="1E2761"/>
                </a:solidFill>
                <a:latin typeface="Calibri" pitchFamily="34" charset="0"/>
                <a:ea typeface="Calibri" pitchFamily="34" charset="-122"/>
                <a:cs typeface="Calibri" pitchFamily="34" charset="-120"/>
              </a:rPr>
              <a:t> Kipppunkte in die Tabelle ein: Zeile, Zitat, Fachbegriff.</a:t>
            </a:r>
            <a:endParaRPr lang="en-US" sz="1700" dirty="0"/>
          </a:p>
        </p:txBody>
      </p:sp>
      <p:sp>
        <p:nvSpPr>
          <p:cNvPr id="13" name="Shape 11"/>
          <p:cNvSpPr/>
          <p:nvPr/>
        </p:nvSpPr>
        <p:spPr>
          <a:xfrm>
            <a:off x="548640" y="2715768"/>
            <a:ext cx="384048" cy="384048"/>
          </a:xfrm>
          <a:prstGeom prst="ellipse">
            <a:avLst/>
          </a:prstGeom>
          <a:solidFill>
            <a:srgbClr val="1E2761"/>
          </a:solidFill>
          <a:ln/>
        </p:spPr>
      </p:sp>
      <p:sp>
        <p:nvSpPr>
          <p:cNvPr id="14" name="Text 12"/>
          <p:cNvSpPr txBox="1"/>
          <p:nvPr/>
        </p:nvSpPr>
        <p:spPr>
          <a:xfrm>
            <a:off x="548640" y="2715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097280" y="2697480"/>
            <a:ext cx="6035040" cy="868680"/>
          </a:xfrm>
          <a:prstGeom prst="rect">
            <a:avLst/>
          </a:prstGeom>
          <a:noFill/>
          <a:ln/>
        </p:spPr>
        <p:txBody>
          <a:bodyPr wrap="square" lIns="0" tIns="0" rIns="0" bIns="0" rtlCol="0" anchor="t"/>
          <a:lstStyle/>
          <a:p>
            <a:pPr indent="0" marL="0">
              <a:buNone/>
            </a:pPr>
            <a:r>
              <a:rPr lang="en-US" sz="1700" dirty="0">
                <a:solidFill>
                  <a:srgbClr val="1E2761"/>
                </a:solidFill>
                <a:latin typeface="Calibri" pitchFamily="34" charset="0"/>
                <a:ea typeface="Calibri" pitchFamily="34" charset="-122"/>
                <a:cs typeface="Calibri" pitchFamily="34" charset="-120"/>
              </a:rPr>
              <a:t>Markiert mit ★ den Kipppunkt, an dem man das Gespräch </a:t>
            </a:r>
            <a:pPr indent="0" marL="0">
              <a:buNone/>
            </a:pPr>
            <a:r>
              <a:rPr lang="en-US" sz="1700" b="1" dirty="0">
                <a:solidFill>
                  <a:srgbClr val="1E2761"/>
                </a:solidFill>
                <a:latin typeface="Calibri" pitchFamily="34" charset="0"/>
                <a:ea typeface="Calibri" pitchFamily="34" charset="-122"/>
                <a:cs typeface="Calibri" pitchFamily="34" charset="-120"/>
              </a:rPr>
              <a:t>am leichtesten</a:t>
            </a:r>
            <a:pPr indent="0" marL="0">
              <a:buNone/>
            </a:pPr>
            <a:r>
              <a:rPr lang="en-US" sz="1700" dirty="0">
                <a:solidFill>
                  <a:srgbClr val="1E2761"/>
                </a:solidFill>
                <a:latin typeface="Calibri" pitchFamily="34" charset="0"/>
                <a:ea typeface="Calibri" pitchFamily="34" charset="-122"/>
                <a:cs typeface="Calibri" pitchFamily="34" charset="-120"/>
              </a:rPr>
              <a:t> hätte retten können.</a:t>
            </a:r>
            <a:endParaRPr lang="en-US" sz="1700" dirty="0"/>
          </a:p>
        </p:txBody>
      </p:sp>
      <p:sp>
        <p:nvSpPr>
          <p:cNvPr id="16" name="Shape 14"/>
          <p:cNvSpPr/>
          <p:nvPr/>
        </p:nvSpPr>
        <p:spPr>
          <a:xfrm>
            <a:off x="548640" y="3584448"/>
            <a:ext cx="384048" cy="384048"/>
          </a:xfrm>
          <a:prstGeom prst="ellipse">
            <a:avLst/>
          </a:prstGeom>
          <a:solidFill>
            <a:srgbClr val="1E2761"/>
          </a:solidFill>
          <a:ln/>
        </p:spPr>
      </p:sp>
      <p:sp>
        <p:nvSpPr>
          <p:cNvPr id="17" name="Text 15"/>
          <p:cNvSpPr txBox="1"/>
          <p:nvPr/>
        </p:nvSpPr>
        <p:spPr>
          <a:xfrm>
            <a:off x="54864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1097280" y="3566160"/>
            <a:ext cx="6035040" cy="868680"/>
          </a:xfrm>
          <a:prstGeom prst="rect">
            <a:avLst/>
          </a:prstGeom>
          <a:noFill/>
          <a:ln/>
        </p:spPr>
        <p:txBody>
          <a:bodyPr wrap="square" lIns="0" tIns="0" rIns="0" bIns="0" rtlCol="0" anchor="t"/>
          <a:lstStyle/>
          <a:p>
            <a:pPr indent="0" marL="0">
              <a:buNone/>
            </a:pPr>
            <a:r>
              <a:rPr lang="en-US" sz="1700" dirty="0">
                <a:solidFill>
                  <a:srgbClr val="1E2761"/>
                </a:solidFill>
                <a:latin typeface="Calibri" pitchFamily="34" charset="0"/>
                <a:ea typeface="Calibri" pitchFamily="34" charset="-122"/>
                <a:cs typeface="Calibri" pitchFamily="34" charset="-120"/>
              </a:rPr>
              <a:t>Vergleicht mit dem </a:t>
            </a:r>
            <a:pPr indent="0" marL="0">
              <a:buNone/>
            </a:pPr>
            <a:r>
              <a:rPr lang="en-US" sz="1700" b="1" dirty="0">
                <a:solidFill>
                  <a:srgbClr val="1E2761"/>
                </a:solidFill>
                <a:latin typeface="Calibri" pitchFamily="34" charset="0"/>
                <a:ea typeface="Calibri" pitchFamily="34" charset="-122"/>
                <a:cs typeface="Calibri" pitchFamily="34" charset="-120"/>
              </a:rPr>
              <a:t>Lösungsblatt am Pult</a:t>
            </a:r>
            <a:pPr indent="0" marL="0">
              <a:buNone/>
            </a:pPr>
            <a:r>
              <a:rPr lang="en-US" sz="1700" dirty="0">
                <a:solidFill>
                  <a:srgbClr val="1E2761"/>
                </a:solidFill>
                <a:latin typeface="Calibri" pitchFamily="34" charset="0"/>
                <a:ea typeface="Calibri" pitchFamily="34" charset="-122"/>
                <a:cs typeface="Calibri" pitchFamily="34" charset="-120"/>
              </a:rPr>
              <a:t>. Ergänzt in einer anderen Farbe.</a:t>
            </a:r>
            <a:endParaRPr lang="en-US" sz="1700" dirty="0"/>
          </a:p>
        </p:txBody>
      </p:sp>
      <p:sp>
        <p:nvSpPr>
          <p:cNvPr id="19" name="Shape 17"/>
          <p:cNvSpPr/>
          <p:nvPr/>
        </p:nvSpPr>
        <p:spPr>
          <a:xfrm>
            <a:off x="7589520" y="1783080"/>
            <a:ext cx="4069080" cy="2834640"/>
          </a:xfrm>
          <a:prstGeom prst="roundRect">
            <a:avLst>
              <a:gd name="adj" fmla="val 2581"/>
            </a:avLst>
          </a:prstGeom>
          <a:solidFill>
            <a:srgbClr val="EAF0FA"/>
          </a:solidFill>
          <a:ln/>
        </p:spPr>
      </p:sp>
      <p:sp>
        <p:nvSpPr>
          <p:cNvPr id="20" name="Text 18"/>
          <p:cNvSpPr txBox="1"/>
          <p:nvPr/>
        </p:nvSpPr>
        <p:spPr>
          <a:xfrm>
            <a:off x="7818120" y="1920240"/>
            <a:ext cx="3657600" cy="36576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Werkzeuge aus den Modellen</a:t>
            </a:r>
            <a:endParaRPr lang="en-US" sz="1700" dirty="0"/>
          </a:p>
        </p:txBody>
      </p:sp>
      <p:sp>
        <p:nvSpPr>
          <p:cNvPr id="21" name="Text 19"/>
          <p:cNvSpPr txBox="1"/>
          <p:nvPr/>
        </p:nvSpPr>
        <p:spPr>
          <a:xfrm>
            <a:off x="7818120" y="2377440"/>
            <a:ext cx="3657600" cy="219456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rgbClr val="1E2761"/>
                </a:solidFill>
                <a:latin typeface="Calibri" pitchFamily="34" charset="0"/>
                <a:ea typeface="Calibri" pitchFamily="34" charset="-122"/>
                <a:cs typeface="Calibri" pitchFamily="34" charset="-120"/>
              </a:rPr>
              <a:t>Sach- / Beziehungsebene</a:t>
            </a:r>
            <a:endParaRPr lang="en-US" sz="1500" dirty="0"/>
          </a:p>
          <a:p>
            <a:pPr marL="342900" indent="-342900">
              <a:spcAft>
                <a:spcPts val="400"/>
              </a:spcAft>
              <a:buSzPct val="100000"/>
              <a:buChar char="•"/>
            </a:pPr>
            <a:r>
              <a:rPr lang="en-US" sz="1500" dirty="0">
                <a:solidFill>
                  <a:srgbClr val="1E2761"/>
                </a:solidFill>
                <a:latin typeface="Calibri" pitchFamily="34" charset="0"/>
                <a:ea typeface="Calibri" pitchFamily="34" charset="-122"/>
                <a:cs typeface="Calibri" pitchFamily="34" charset="-120"/>
              </a:rPr>
              <a:t>Selbstkundgabe · Appell</a:t>
            </a:r>
            <a:endParaRPr lang="en-US" sz="1500" dirty="0"/>
          </a:p>
          <a:p>
            <a:pPr marL="342900" indent="-342900">
              <a:spcAft>
                <a:spcPts val="400"/>
              </a:spcAft>
              <a:buSzPct val="100000"/>
              <a:buChar char="•"/>
            </a:pPr>
            <a:r>
              <a:rPr lang="en-US" sz="1500" dirty="0">
                <a:solidFill>
                  <a:srgbClr val="1E2761"/>
                </a:solidFill>
                <a:latin typeface="Calibri" pitchFamily="34" charset="0"/>
                <a:ea typeface="Calibri" pitchFamily="34" charset="-122"/>
                <a:cs typeface="Calibri" pitchFamily="34" charset="-120"/>
              </a:rPr>
              <a:t>Du-Botschaft · „immer“ / „nie“</a:t>
            </a:r>
            <a:endParaRPr lang="en-US" sz="1500" dirty="0"/>
          </a:p>
          <a:p>
            <a:pPr marL="342900" indent="-342900">
              <a:spcAft>
                <a:spcPts val="400"/>
              </a:spcAft>
              <a:buSzPct val="100000"/>
              <a:buChar char="•"/>
            </a:pPr>
            <a:r>
              <a:rPr lang="en-US" sz="1500" dirty="0">
                <a:solidFill>
                  <a:srgbClr val="1E2761"/>
                </a:solidFill>
                <a:latin typeface="Calibri" pitchFamily="34" charset="0"/>
                <a:ea typeface="Calibri" pitchFamily="34" charset="-122"/>
                <a:cs typeface="Calibri" pitchFamily="34" charset="-120"/>
              </a:rPr>
              <a:t>Ironie = inkongruente Botschaft</a:t>
            </a:r>
            <a:endParaRPr lang="en-US" sz="1500" dirty="0"/>
          </a:p>
          <a:p>
            <a:pPr marL="342900" indent="-342900">
              <a:spcAft>
                <a:spcPts val="400"/>
              </a:spcAft>
              <a:buSzPct val="100000"/>
              <a:buChar char="•"/>
            </a:pPr>
            <a:r>
              <a:rPr lang="en-US" sz="1500" dirty="0">
                <a:solidFill>
                  <a:srgbClr val="1E2761"/>
                </a:solidFill>
                <a:latin typeface="Calibri" pitchFamily="34" charset="0"/>
                <a:ea typeface="Calibri" pitchFamily="34" charset="-122"/>
                <a:cs typeface="Calibri" pitchFamily="34" charset="-120"/>
              </a:rPr>
              <a:t>symmetrische Eskalation</a:t>
            </a:r>
            <a:endParaRPr lang="en-US" sz="1500" dirty="0"/>
          </a:p>
          <a:p>
            <a:pPr marL="342900" indent="-342900">
              <a:spcAft>
                <a:spcPts val="400"/>
              </a:spcAft>
              <a:buSzPct val="100000"/>
              <a:buChar char="•"/>
            </a:pPr>
            <a:r>
              <a:rPr lang="en-US" sz="1500" dirty="0">
                <a:solidFill>
                  <a:srgbClr val="1E2761"/>
                </a:solidFill>
                <a:latin typeface="Calibri" pitchFamily="34" charset="0"/>
                <a:ea typeface="Calibri" pitchFamily="34" charset="-122"/>
                <a:cs typeface="Calibri" pitchFamily="34" charset="-120"/>
              </a:rPr>
              <a:t>Interpunktion</a:t>
            </a:r>
            <a:endParaRPr lang="en-US" sz="1500" dirty="0"/>
          </a:p>
        </p:txBody>
      </p:sp>
      <p:sp>
        <p:nvSpPr>
          <p:cNvPr id="22" name="Shape 20"/>
          <p:cNvSpPr/>
          <p:nvPr/>
        </p:nvSpPr>
        <p:spPr>
          <a:xfrm>
            <a:off x="548640" y="4937760"/>
            <a:ext cx="11109960" cy="1097280"/>
          </a:xfrm>
          <a:prstGeom prst="roundRect">
            <a:avLst>
              <a:gd name="adj" fmla="val 6667"/>
            </a:avLst>
          </a:prstGeom>
          <a:solidFill>
            <a:srgbClr val="FFF8EC"/>
          </a:solidFill>
          <a:ln/>
        </p:spPr>
      </p:sp>
      <p:sp>
        <p:nvSpPr>
          <p:cNvPr id="23" name="Text 21"/>
          <p:cNvSpPr txBox="1"/>
          <p:nvPr/>
        </p:nvSpPr>
        <p:spPr>
          <a:xfrm>
            <a:off x="822960" y="5047488"/>
            <a:ext cx="3657600" cy="365760"/>
          </a:xfrm>
          <a:prstGeom prst="rect">
            <a:avLst/>
          </a:prstGeom>
          <a:noFill/>
          <a:ln/>
        </p:spPr>
        <p:txBody>
          <a:bodyPr wrap="square" lIns="0" tIns="0" rIns="0" bIns="0" rtlCol="0" anchor="t"/>
          <a:lstStyle/>
          <a:p>
            <a:pPr indent="0" marL="0">
              <a:buNone/>
            </a:pPr>
            <a:r>
              <a:rPr lang="en-US" sz="1700" b="1" dirty="0">
                <a:solidFill>
                  <a:srgbClr val="E8A33D"/>
                </a:solidFill>
                <a:latin typeface="Cambria" pitchFamily="34" charset="0"/>
                <a:ea typeface="Cambria" pitchFamily="34" charset="-122"/>
                <a:cs typeface="Cambria" pitchFamily="34" charset="-120"/>
              </a:rPr>
              <a:t>Nicht weitergekommen?</a:t>
            </a:r>
            <a:endParaRPr lang="en-US" sz="1700" dirty="0"/>
          </a:p>
        </p:txBody>
      </p:sp>
      <p:sp>
        <p:nvSpPr>
          <p:cNvPr id="24" name="Text 22"/>
          <p:cNvSpPr txBox="1"/>
          <p:nvPr/>
        </p:nvSpPr>
        <p:spPr>
          <a:xfrm>
            <a:off x="822960" y="5440680"/>
            <a:ext cx="10515600" cy="411480"/>
          </a:xfrm>
          <a:prstGeom prst="rect">
            <a:avLst/>
          </a:prstGeom>
          <a:noFill/>
          <a:ln/>
        </p:spPr>
        <p:txBody>
          <a:bodyPr wrap="square" lIns="0" tIns="0" rIns="0" bIns="0" rtlCol="0" anchor="t"/>
          <a:lstStyle/>
          <a:p>
            <a:pPr indent="0" marL="0">
              <a:buNone/>
            </a:pPr>
            <a:r>
              <a:rPr lang="en-US" sz="1700" dirty="0">
                <a:solidFill>
                  <a:srgbClr val="1E2761"/>
                </a:solidFill>
                <a:latin typeface="Calibri" pitchFamily="34" charset="0"/>
                <a:ea typeface="Calibri" pitchFamily="34" charset="-122"/>
                <a:cs typeface="Calibri" pitchFamily="34" charset="-120"/>
              </a:rPr>
              <a:t>1. Nachbarn fragen   →   2. Tippkarte vom Pult holen   →   3. erst dann die Lehrkraft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AUFGABE 3 · GRUPPENPUZZLE</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Das Gespräch retten</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Arbeitsblatt S. 3 · Vierergruppen</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7" name="Shape 5"/>
          <p:cNvSpPr/>
          <p:nvPr/>
        </p:nvSpPr>
        <p:spPr>
          <a:xfrm>
            <a:off x="9966960" y="411480"/>
            <a:ext cx="1691640" cy="914400"/>
          </a:xfrm>
          <a:prstGeom prst="roundRect">
            <a:avLst>
              <a:gd name="adj" fmla="val 8000"/>
            </a:avLst>
          </a:prstGeom>
          <a:solidFill>
            <a:srgbClr val="1E2761"/>
          </a:solidFill>
          <a:ln/>
        </p:spPr>
      </p:sp>
      <p:sp>
        <p:nvSpPr>
          <p:cNvPr id="8" name="Text 6"/>
          <p:cNvSpPr txBox="1"/>
          <p:nvPr/>
        </p:nvSpPr>
        <p:spPr>
          <a:xfrm>
            <a:off x="9966960" y="457200"/>
            <a:ext cx="1691640"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17 Min.</a:t>
            </a:r>
            <a:endParaRPr lang="en-US" sz="2600" dirty="0"/>
          </a:p>
        </p:txBody>
      </p:sp>
      <p:sp>
        <p:nvSpPr>
          <p:cNvPr id="9" name="Text 7"/>
          <p:cNvSpPr txBox="1"/>
          <p:nvPr/>
        </p:nvSpPr>
        <p:spPr>
          <a:xfrm>
            <a:off x="9966960" y="932688"/>
            <a:ext cx="169164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Gruppe</a:t>
            </a:r>
            <a:endParaRPr lang="en-US" sz="1200" dirty="0"/>
          </a:p>
        </p:txBody>
      </p:sp>
      <p:sp>
        <p:nvSpPr>
          <p:cNvPr id="10" name="Text 8"/>
          <p:cNvSpPr txBox="1"/>
          <p:nvPr/>
        </p:nvSpPr>
        <p:spPr>
          <a:xfrm>
            <a:off x="548640" y="1783080"/>
            <a:ext cx="91440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Zuerst: Umschlag öffnen, Rollen verteilen</a:t>
            </a:r>
            <a:endParaRPr lang="en-US" sz="1800" dirty="0"/>
          </a:p>
        </p:txBody>
      </p:sp>
      <p:sp>
        <p:nvSpPr>
          <p:cNvPr id="11" name="Shape 9"/>
          <p:cNvSpPr/>
          <p:nvPr/>
        </p:nvSpPr>
        <p:spPr>
          <a:xfrm>
            <a:off x="548640" y="2240280"/>
            <a:ext cx="2651760" cy="960120"/>
          </a:xfrm>
          <a:prstGeom prst="roundRect">
            <a:avLst>
              <a:gd name="adj" fmla="val 7619"/>
            </a:avLst>
          </a:prstGeom>
          <a:solidFill>
            <a:srgbClr val="F4F7FD"/>
          </a:solidFill>
          <a:ln/>
        </p:spPr>
      </p:sp>
      <p:sp>
        <p:nvSpPr>
          <p:cNvPr id="12" name="Text 10"/>
          <p:cNvSpPr txBox="1"/>
          <p:nvPr/>
        </p:nvSpPr>
        <p:spPr>
          <a:xfrm>
            <a:off x="731520" y="2304288"/>
            <a:ext cx="2286000" cy="36576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Zeit</a:t>
            </a:r>
            <a:endParaRPr lang="en-US" sz="1700" dirty="0"/>
          </a:p>
        </p:txBody>
      </p:sp>
      <p:sp>
        <p:nvSpPr>
          <p:cNvPr id="13" name="Text 11"/>
          <p:cNvSpPr txBox="1"/>
          <p:nvPr/>
        </p:nvSpPr>
        <p:spPr>
          <a:xfrm>
            <a:off x="731520" y="2670048"/>
            <a:ext cx="2286000" cy="502920"/>
          </a:xfrm>
          <a:prstGeom prst="rect">
            <a:avLst/>
          </a:prstGeom>
          <a:noFill/>
          <a:ln/>
        </p:spPr>
        <p:txBody>
          <a:bodyPr wrap="square" lIns="0" tIns="0" rIns="0" bIns="0" rtlCol="0" anchor="t"/>
          <a:lstStyle/>
          <a:p>
            <a:pPr indent="0" marL="0">
              <a:buNone/>
            </a:pPr>
            <a:r>
              <a:rPr lang="en-US" sz="1300" dirty="0">
                <a:solidFill>
                  <a:srgbClr val="5B6B8C"/>
                </a:solidFill>
                <a:latin typeface="Calibri" pitchFamily="34" charset="0"/>
                <a:ea typeface="Calibri" pitchFamily="34" charset="-122"/>
                <a:cs typeface="Calibri" pitchFamily="34" charset="-120"/>
              </a:rPr>
              <a:t>hat den Timer im Blick</a:t>
            </a:r>
            <a:endParaRPr lang="en-US" sz="1300" dirty="0"/>
          </a:p>
        </p:txBody>
      </p:sp>
      <p:sp>
        <p:nvSpPr>
          <p:cNvPr id="14" name="Shape 12"/>
          <p:cNvSpPr/>
          <p:nvPr/>
        </p:nvSpPr>
        <p:spPr>
          <a:xfrm>
            <a:off x="3364992" y="2240280"/>
            <a:ext cx="2651760" cy="960120"/>
          </a:xfrm>
          <a:prstGeom prst="roundRect">
            <a:avLst>
              <a:gd name="adj" fmla="val 7619"/>
            </a:avLst>
          </a:prstGeom>
          <a:solidFill>
            <a:srgbClr val="F4F7FD"/>
          </a:solidFill>
          <a:ln/>
        </p:spPr>
      </p:sp>
      <p:sp>
        <p:nvSpPr>
          <p:cNvPr id="15" name="Text 13"/>
          <p:cNvSpPr txBox="1"/>
          <p:nvPr/>
        </p:nvSpPr>
        <p:spPr>
          <a:xfrm>
            <a:off x="3547872" y="2304288"/>
            <a:ext cx="2286000" cy="36576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Protokoll</a:t>
            </a:r>
            <a:endParaRPr lang="en-US" sz="1700" dirty="0"/>
          </a:p>
        </p:txBody>
      </p:sp>
      <p:sp>
        <p:nvSpPr>
          <p:cNvPr id="16" name="Text 14"/>
          <p:cNvSpPr txBox="1"/>
          <p:nvPr/>
        </p:nvSpPr>
        <p:spPr>
          <a:xfrm>
            <a:off x="3547872" y="2670048"/>
            <a:ext cx="2286000" cy="502920"/>
          </a:xfrm>
          <a:prstGeom prst="rect">
            <a:avLst/>
          </a:prstGeom>
          <a:noFill/>
          <a:ln/>
        </p:spPr>
        <p:txBody>
          <a:bodyPr wrap="square" lIns="0" tIns="0" rIns="0" bIns="0" rtlCol="0" anchor="t"/>
          <a:lstStyle/>
          <a:p>
            <a:pPr indent="0" marL="0">
              <a:buNone/>
            </a:pPr>
            <a:r>
              <a:rPr lang="en-US" sz="1300" dirty="0">
                <a:solidFill>
                  <a:srgbClr val="5B6B8C"/>
                </a:solidFill>
                <a:latin typeface="Calibri" pitchFamily="34" charset="0"/>
                <a:ea typeface="Calibri" pitchFamily="34" charset="-122"/>
                <a:cs typeface="Calibri" pitchFamily="34" charset="-120"/>
              </a:rPr>
              <a:t>schreibt auf</a:t>
            </a:r>
            <a:endParaRPr lang="en-US" sz="1300" dirty="0"/>
          </a:p>
        </p:txBody>
      </p:sp>
      <p:sp>
        <p:nvSpPr>
          <p:cNvPr id="17" name="Shape 15"/>
          <p:cNvSpPr/>
          <p:nvPr/>
        </p:nvSpPr>
        <p:spPr>
          <a:xfrm>
            <a:off x="6181344" y="2240280"/>
            <a:ext cx="2651760" cy="960120"/>
          </a:xfrm>
          <a:prstGeom prst="roundRect">
            <a:avLst>
              <a:gd name="adj" fmla="val 7619"/>
            </a:avLst>
          </a:prstGeom>
          <a:solidFill>
            <a:srgbClr val="F4F7FD"/>
          </a:solidFill>
          <a:ln/>
        </p:spPr>
      </p:sp>
      <p:sp>
        <p:nvSpPr>
          <p:cNvPr id="18" name="Text 16"/>
          <p:cNvSpPr txBox="1"/>
          <p:nvPr/>
        </p:nvSpPr>
        <p:spPr>
          <a:xfrm>
            <a:off x="6364224" y="2304288"/>
            <a:ext cx="2286000" cy="36576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Regie</a:t>
            </a:r>
            <a:endParaRPr lang="en-US" sz="1700" dirty="0"/>
          </a:p>
        </p:txBody>
      </p:sp>
      <p:sp>
        <p:nvSpPr>
          <p:cNvPr id="19" name="Text 17"/>
          <p:cNvSpPr txBox="1"/>
          <p:nvPr/>
        </p:nvSpPr>
        <p:spPr>
          <a:xfrm>
            <a:off x="6364224" y="2670048"/>
            <a:ext cx="2286000" cy="502920"/>
          </a:xfrm>
          <a:prstGeom prst="rect">
            <a:avLst/>
          </a:prstGeom>
          <a:noFill/>
          <a:ln/>
        </p:spPr>
        <p:txBody>
          <a:bodyPr wrap="square" lIns="0" tIns="0" rIns="0" bIns="0" rtlCol="0" anchor="t"/>
          <a:lstStyle/>
          <a:p>
            <a:pPr indent="0" marL="0">
              <a:buNone/>
            </a:pPr>
            <a:r>
              <a:rPr lang="en-US" sz="1300" dirty="0">
                <a:solidFill>
                  <a:srgbClr val="5B6B8C"/>
                </a:solidFill>
                <a:latin typeface="Calibri" pitchFamily="34" charset="0"/>
                <a:ea typeface="Calibri" pitchFamily="34" charset="-122"/>
                <a:cs typeface="Calibri" pitchFamily="34" charset="-120"/>
              </a:rPr>
              <a:t>alle kommen zu Wort</a:t>
            </a:r>
            <a:endParaRPr lang="en-US" sz="1300" dirty="0"/>
          </a:p>
        </p:txBody>
      </p:sp>
      <p:sp>
        <p:nvSpPr>
          <p:cNvPr id="20" name="Shape 18"/>
          <p:cNvSpPr/>
          <p:nvPr/>
        </p:nvSpPr>
        <p:spPr>
          <a:xfrm>
            <a:off x="8997696" y="2240280"/>
            <a:ext cx="2651760" cy="960120"/>
          </a:xfrm>
          <a:prstGeom prst="roundRect">
            <a:avLst>
              <a:gd name="adj" fmla="val 7619"/>
            </a:avLst>
          </a:prstGeom>
          <a:solidFill>
            <a:srgbClr val="F4F7FD"/>
          </a:solidFill>
          <a:ln/>
        </p:spPr>
      </p:sp>
      <p:sp>
        <p:nvSpPr>
          <p:cNvPr id="21" name="Text 19"/>
          <p:cNvSpPr txBox="1"/>
          <p:nvPr/>
        </p:nvSpPr>
        <p:spPr>
          <a:xfrm>
            <a:off x="9180576" y="2304288"/>
            <a:ext cx="2286000" cy="36576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Material</a:t>
            </a:r>
            <a:endParaRPr lang="en-US" sz="1700" dirty="0"/>
          </a:p>
        </p:txBody>
      </p:sp>
      <p:sp>
        <p:nvSpPr>
          <p:cNvPr id="22" name="Text 20"/>
          <p:cNvSpPr txBox="1"/>
          <p:nvPr/>
        </p:nvSpPr>
        <p:spPr>
          <a:xfrm>
            <a:off x="9180576" y="2670048"/>
            <a:ext cx="2286000" cy="502920"/>
          </a:xfrm>
          <a:prstGeom prst="rect">
            <a:avLst/>
          </a:prstGeom>
          <a:noFill/>
          <a:ln/>
        </p:spPr>
        <p:txBody>
          <a:bodyPr wrap="square" lIns="0" tIns="0" rIns="0" bIns="0" rtlCol="0" anchor="t"/>
          <a:lstStyle/>
          <a:p>
            <a:pPr indent="0" marL="0">
              <a:buNone/>
            </a:pPr>
            <a:r>
              <a:rPr lang="en-US" sz="1300" dirty="0">
                <a:solidFill>
                  <a:srgbClr val="5B6B8C"/>
                </a:solidFill>
                <a:latin typeface="Calibri" pitchFamily="34" charset="0"/>
                <a:ea typeface="Calibri" pitchFamily="34" charset="-122"/>
                <a:cs typeface="Calibri" pitchFamily="34" charset="-120"/>
              </a:rPr>
              <a:t>holt Karten · fragt als Einzige die Lehrkraft</a:t>
            </a:r>
            <a:endParaRPr lang="en-US" sz="1300" dirty="0"/>
          </a:p>
        </p:txBody>
      </p:sp>
      <p:sp>
        <p:nvSpPr>
          <p:cNvPr id="23" name="Shape 21"/>
          <p:cNvSpPr/>
          <p:nvPr/>
        </p:nvSpPr>
        <p:spPr>
          <a:xfrm>
            <a:off x="548640" y="3520440"/>
            <a:ext cx="3566160" cy="1828800"/>
          </a:xfrm>
          <a:prstGeom prst="roundRect">
            <a:avLst>
              <a:gd name="adj" fmla="val 4000"/>
            </a:avLst>
          </a:prstGeom>
          <a:solidFill>
            <a:srgbClr val="FFFFFF"/>
          </a:solidFill>
          <a:ln w="15240">
            <a:solidFill>
              <a:srgbClr val="B9C6E8"/>
            </a:solidFill>
            <a:prstDash val="solid"/>
          </a:ln>
        </p:spPr>
      </p:sp>
      <p:sp>
        <p:nvSpPr>
          <p:cNvPr id="24" name="Text 22"/>
          <p:cNvSpPr txBox="1"/>
          <p:nvPr/>
        </p:nvSpPr>
        <p:spPr>
          <a:xfrm>
            <a:off x="777240" y="3657600"/>
            <a:ext cx="914400" cy="457200"/>
          </a:xfrm>
          <a:prstGeom prst="rect">
            <a:avLst/>
          </a:prstGeom>
          <a:noFill/>
          <a:ln/>
        </p:spPr>
        <p:txBody>
          <a:bodyPr wrap="square" lIns="0" tIns="0" rIns="0" bIns="0" rtlCol="0" anchor="t"/>
          <a:lstStyle/>
          <a:p>
            <a:pPr indent="0" marL="0">
              <a:buNone/>
            </a:pPr>
            <a:r>
              <a:rPr lang="en-US" sz="2400" b="1" dirty="0">
                <a:solidFill>
                  <a:srgbClr val="D9534F"/>
                </a:solidFill>
                <a:latin typeface="Cambria" pitchFamily="34" charset="0"/>
                <a:ea typeface="Cambria" pitchFamily="34" charset="-122"/>
                <a:cs typeface="Cambria" pitchFamily="34" charset="-120"/>
              </a:rPr>
              <a:t>4'</a:t>
            </a:r>
            <a:endParaRPr lang="en-US" sz="2400" dirty="0"/>
          </a:p>
        </p:txBody>
      </p:sp>
      <p:sp>
        <p:nvSpPr>
          <p:cNvPr id="25" name="Text 23"/>
          <p:cNvSpPr txBox="1"/>
          <p:nvPr/>
        </p:nvSpPr>
        <p:spPr>
          <a:xfrm>
            <a:off x="1645920" y="3703320"/>
            <a:ext cx="2286000"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Lesen</a:t>
            </a:r>
            <a:endParaRPr lang="en-US" sz="1900" dirty="0"/>
          </a:p>
        </p:txBody>
      </p:sp>
      <p:sp>
        <p:nvSpPr>
          <p:cNvPr id="26" name="Text 24"/>
          <p:cNvSpPr txBox="1"/>
          <p:nvPr/>
        </p:nvSpPr>
        <p:spPr>
          <a:xfrm>
            <a:off x="777240" y="4206240"/>
            <a:ext cx="3154680" cy="10972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Jede Person liest allein eine Expertenkarte A–D.</a:t>
            </a:r>
            <a:endParaRPr lang="en-US" sz="1500" dirty="0"/>
          </a:p>
        </p:txBody>
      </p:sp>
      <p:sp>
        <p:nvSpPr>
          <p:cNvPr id="27" name="Shape 25"/>
          <p:cNvSpPr/>
          <p:nvPr/>
        </p:nvSpPr>
        <p:spPr>
          <a:xfrm>
            <a:off x="4297680" y="3520440"/>
            <a:ext cx="3566160" cy="1828800"/>
          </a:xfrm>
          <a:prstGeom prst="roundRect">
            <a:avLst>
              <a:gd name="adj" fmla="val 4000"/>
            </a:avLst>
          </a:prstGeom>
          <a:solidFill>
            <a:srgbClr val="FFFFFF"/>
          </a:solidFill>
          <a:ln w="15240">
            <a:solidFill>
              <a:srgbClr val="B9C6E8"/>
            </a:solidFill>
            <a:prstDash val="solid"/>
          </a:ln>
        </p:spPr>
      </p:sp>
      <p:sp>
        <p:nvSpPr>
          <p:cNvPr id="28" name="Text 26"/>
          <p:cNvSpPr txBox="1"/>
          <p:nvPr/>
        </p:nvSpPr>
        <p:spPr>
          <a:xfrm>
            <a:off x="4526280" y="3657600"/>
            <a:ext cx="914400" cy="457200"/>
          </a:xfrm>
          <a:prstGeom prst="rect">
            <a:avLst/>
          </a:prstGeom>
          <a:noFill/>
          <a:ln/>
        </p:spPr>
        <p:txBody>
          <a:bodyPr wrap="square" lIns="0" tIns="0" rIns="0" bIns="0" rtlCol="0" anchor="t"/>
          <a:lstStyle/>
          <a:p>
            <a:pPr indent="0" marL="0">
              <a:buNone/>
            </a:pPr>
            <a:r>
              <a:rPr lang="en-US" sz="2400" b="1" dirty="0">
                <a:solidFill>
                  <a:srgbClr val="D9534F"/>
                </a:solidFill>
                <a:latin typeface="Cambria" pitchFamily="34" charset="0"/>
                <a:ea typeface="Cambria" pitchFamily="34" charset="-122"/>
                <a:cs typeface="Cambria" pitchFamily="34" charset="-120"/>
              </a:rPr>
              <a:t>7'</a:t>
            </a:r>
            <a:endParaRPr lang="en-US" sz="2400" dirty="0"/>
          </a:p>
        </p:txBody>
      </p:sp>
      <p:sp>
        <p:nvSpPr>
          <p:cNvPr id="29" name="Text 27"/>
          <p:cNvSpPr txBox="1"/>
          <p:nvPr/>
        </p:nvSpPr>
        <p:spPr>
          <a:xfrm>
            <a:off x="5394960" y="3703320"/>
            <a:ext cx="2286000"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Erklären</a:t>
            </a:r>
            <a:endParaRPr lang="en-US" sz="1900" dirty="0"/>
          </a:p>
        </p:txBody>
      </p:sp>
      <p:sp>
        <p:nvSpPr>
          <p:cNvPr id="30" name="Text 28"/>
          <p:cNvSpPr txBox="1"/>
          <p:nvPr/>
        </p:nvSpPr>
        <p:spPr>
          <a:xfrm>
            <a:off x="4526280" y="4206240"/>
            <a:ext cx="3154680" cy="10972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Reihum: jede Strategie in höchstens 90 Sekunden – mit Beispiel.</a:t>
            </a:r>
            <a:endParaRPr lang="en-US" sz="1500" dirty="0"/>
          </a:p>
        </p:txBody>
      </p:sp>
      <p:sp>
        <p:nvSpPr>
          <p:cNvPr id="31" name="Shape 29"/>
          <p:cNvSpPr/>
          <p:nvPr/>
        </p:nvSpPr>
        <p:spPr>
          <a:xfrm>
            <a:off x="8046720" y="3520440"/>
            <a:ext cx="3566160" cy="1828800"/>
          </a:xfrm>
          <a:prstGeom prst="roundRect">
            <a:avLst>
              <a:gd name="adj" fmla="val 4000"/>
            </a:avLst>
          </a:prstGeom>
          <a:solidFill>
            <a:srgbClr val="FFFFFF"/>
          </a:solidFill>
          <a:ln w="15240">
            <a:solidFill>
              <a:srgbClr val="B9C6E8"/>
            </a:solidFill>
            <a:prstDash val="solid"/>
          </a:ln>
        </p:spPr>
      </p:sp>
      <p:sp>
        <p:nvSpPr>
          <p:cNvPr id="32" name="Text 30"/>
          <p:cNvSpPr txBox="1"/>
          <p:nvPr/>
        </p:nvSpPr>
        <p:spPr>
          <a:xfrm>
            <a:off x="8275320" y="3657600"/>
            <a:ext cx="914400" cy="457200"/>
          </a:xfrm>
          <a:prstGeom prst="rect">
            <a:avLst/>
          </a:prstGeom>
          <a:noFill/>
          <a:ln/>
        </p:spPr>
        <p:txBody>
          <a:bodyPr wrap="square" lIns="0" tIns="0" rIns="0" bIns="0" rtlCol="0" anchor="t"/>
          <a:lstStyle/>
          <a:p>
            <a:pPr indent="0" marL="0">
              <a:buNone/>
            </a:pPr>
            <a:r>
              <a:rPr lang="en-US" sz="2400" b="1" dirty="0">
                <a:solidFill>
                  <a:srgbClr val="D9534F"/>
                </a:solidFill>
                <a:latin typeface="Cambria" pitchFamily="34" charset="0"/>
                <a:ea typeface="Cambria" pitchFamily="34" charset="-122"/>
                <a:cs typeface="Cambria" pitchFamily="34" charset="-120"/>
              </a:rPr>
              <a:t>6'</a:t>
            </a:r>
            <a:endParaRPr lang="en-US" sz="2400" dirty="0"/>
          </a:p>
        </p:txBody>
      </p:sp>
      <p:sp>
        <p:nvSpPr>
          <p:cNvPr id="33" name="Text 31"/>
          <p:cNvSpPr txBox="1"/>
          <p:nvPr/>
        </p:nvSpPr>
        <p:spPr>
          <a:xfrm>
            <a:off x="9144000" y="3703320"/>
            <a:ext cx="2286000" cy="411480"/>
          </a:xfrm>
          <a:prstGeom prst="rect">
            <a:avLst/>
          </a:prstGeom>
          <a:noFill/>
          <a:ln/>
        </p:spPr>
        <p:txBody>
          <a:bodyPr wrap="square" lIns="0" tIns="0" rIns="0" bIns="0" rtlCol="0" anchor="t"/>
          <a:lstStyle/>
          <a:p>
            <a:pPr indent="0" marL="0">
              <a:buNone/>
            </a:pPr>
            <a:r>
              <a:rPr lang="en-US" sz="1900" b="1" dirty="0">
                <a:solidFill>
                  <a:srgbClr val="1E2761"/>
                </a:solidFill>
                <a:latin typeface="Cambria" pitchFamily="34" charset="0"/>
                <a:ea typeface="Cambria" pitchFamily="34" charset="-122"/>
                <a:cs typeface="Cambria" pitchFamily="34" charset="-120"/>
              </a:rPr>
              <a:t>Umschreiben</a:t>
            </a:r>
            <a:endParaRPr lang="en-US" sz="1900" dirty="0"/>
          </a:p>
        </p:txBody>
      </p:sp>
      <p:sp>
        <p:nvSpPr>
          <p:cNvPr id="34" name="Text 32"/>
          <p:cNvSpPr txBox="1"/>
          <p:nvPr/>
        </p:nvSpPr>
        <p:spPr>
          <a:xfrm>
            <a:off x="8275320" y="4206240"/>
            <a:ext cx="3154680" cy="10972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Dialog ab Zeile 3 neu schreiben, mindestens 3 Strategien. Checkliste prüfen.</a:t>
            </a:r>
            <a:endParaRPr lang="en-US" sz="1500" dirty="0"/>
          </a:p>
        </p:txBody>
      </p:sp>
      <p:sp>
        <p:nvSpPr>
          <p:cNvPr id="35" name="Shape 33"/>
          <p:cNvSpPr/>
          <p:nvPr/>
        </p:nvSpPr>
        <p:spPr>
          <a:xfrm>
            <a:off x="548640" y="5577840"/>
            <a:ext cx="11109960" cy="548640"/>
          </a:xfrm>
          <a:prstGeom prst="roundRect">
            <a:avLst>
              <a:gd name="adj" fmla="val 13333"/>
            </a:avLst>
          </a:prstGeom>
          <a:solidFill>
            <a:srgbClr val="1E2761"/>
          </a:solidFill>
          <a:ln/>
        </p:spPr>
      </p:sp>
      <p:sp>
        <p:nvSpPr>
          <p:cNvPr id="36" name="Text 34"/>
          <p:cNvSpPr txBox="1"/>
          <p:nvPr/>
        </p:nvSpPr>
        <p:spPr>
          <a:xfrm>
            <a:off x="822960" y="5577840"/>
            <a:ext cx="106070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Wer fertig ist: Musterlösung am Pult vergleichen und die letzte Spalte von Aufgabe 2 ausfüllen.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ÜBERBLICK</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Der Werkzeugkasten</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Vier Strategien, um ein kippendes Gespräch zu retten</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7" name="Shape 5"/>
          <p:cNvSpPr/>
          <p:nvPr/>
        </p:nvSpPr>
        <p:spPr>
          <a:xfrm>
            <a:off x="548640" y="1783080"/>
            <a:ext cx="2651760" cy="3749040"/>
          </a:xfrm>
          <a:prstGeom prst="roundRect">
            <a:avLst>
              <a:gd name="adj" fmla="val 2759"/>
            </a:avLst>
          </a:prstGeom>
          <a:solidFill>
            <a:srgbClr val="F4F7FD"/>
          </a:solidFill>
          <a:ln/>
        </p:spPr>
      </p:sp>
      <p:sp>
        <p:nvSpPr>
          <p:cNvPr id="8" name="Shape 6"/>
          <p:cNvSpPr/>
          <p:nvPr/>
        </p:nvSpPr>
        <p:spPr>
          <a:xfrm>
            <a:off x="777240" y="1965960"/>
            <a:ext cx="640080" cy="640080"/>
          </a:xfrm>
          <a:prstGeom prst="ellipse">
            <a:avLst/>
          </a:prstGeom>
          <a:solidFill>
            <a:srgbClr val="3F7CC4"/>
          </a:solidFill>
          <a:ln/>
        </p:spPr>
      </p:sp>
      <p:sp>
        <p:nvSpPr>
          <p:cNvPr id="9" name="Text 7"/>
          <p:cNvSpPr txBox="1"/>
          <p:nvPr/>
        </p:nvSpPr>
        <p:spPr>
          <a:xfrm>
            <a:off x="777240" y="19659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endParaRPr lang="en-US" sz="2400" dirty="0"/>
          </a:p>
        </p:txBody>
      </p:sp>
      <p:sp>
        <p:nvSpPr>
          <p:cNvPr id="10" name="Text 8"/>
          <p:cNvSpPr txBox="1"/>
          <p:nvPr/>
        </p:nvSpPr>
        <p:spPr>
          <a:xfrm>
            <a:off x="731520" y="2697480"/>
            <a:ext cx="2377440" cy="457200"/>
          </a:xfrm>
          <a:prstGeom prst="rect">
            <a:avLst/>
          </a:prstGeom>
          <a:noFill/>
          <a:ln/>
        </p:spPr>
        <p:txBody>
          <a:bodyPr wrap="square" lIns="0" tIns="0" rIns="0" bIns="0" rtlCol="0" anchor="t"/>
          <a:lstStyle/>
          <a:p>
            <a:pPr indent="0" marL="0">
              <a:buNone/>
            </a:pPr>
            <a:r>
              <a:rPr lang="en-US" sz="1500" b="1" dirty="0">
                <a:solidFill>
                  <a:srgbClr val="3F7CC4"/>
                </a:solidFill>
                <a:latin typeface="Cambria" pitchFamily="34" charset="0"/>
                <a:ea typeface="Cambria" pitchFamily="34" charset="-122"/>
                <a:cs typeface="Cambria" pitchFamily="34" charset="-120"/>
              </a:rPr>
              <a:t>Ich-Botschaft</a:t>
            </a:r>
            <a:endParaRPr lang="en-US" sz="1500" dirty="0"/>
          </a:p>
        </p:txBody>
      </p:sp>
      <p:sp>
        <p:nvSpPr>
          <p:cNvPr id="11" name="Text 9"/>
          <p:cNvSpPr txBox="1"/>
          <p:nvPr/>
        </p:nvSpPr>
        <p:spPr>
          <a:xfrm>
            <a:off x="777240" y="3200400"/>
            <a:ext cx="2194560" cy="10058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Wenn … fühle ich mich …, weil …</a:t>
            </a:r>
            <a:endParaRPr lang="en-US" sz="1500" dirty="0"/>
          </a:p>
        </p:txBody>
      </p:sp>
      <p:sp>
        <p:nvSpPr>
          <p:cNvPr id="12" name="Text 10"/>
          <p:cNvSpPr txBox="1"/>
          <p:nvPr/>
        </p:nvSpPr>
        <p:spPr>
          <a:xfrm>
            <a:off x="777240" y="4297680"/>
            <a:ext cx="2194560" cy="1097280"/>
          </a:xfrm>
          <a:prstGeom prst="rect">
            <a:avLst/>
          </a:prstGeom>
          <a:noFill/>
          <a:ln/>
        </p:spPr>
        <p:txBody>
          <a:bodyPr wrap="square" lIns="0" tIns="0" rIns="0" bIns="0" rtlCol="0" anchor="t"/>
          <a:lstStyle/>
          <a:p>
            <a:pPr indent="0" marL="0">
              <a:buNone/>
            </a:pPr>
            <a:r>
              <a:rPr lang="en-US" sz="1400" i="1" dirty="0">
                <a:solidFill>
                  <a:srgbClr val="5B6B8C"/>
                </a:solidFill>
                <a:latin typeface="Cambria" pitchFamily="34" charset="0"/>
                <a:ea typeface="Cambria" pitchFamily="34" charset="-122"/>
                <a:cs typeface="Cambria" pitchFamily="34" charset="-120"/>
              </a:rPr>
              <a:t>„Ich werde nervös, weil wir morgen schon dran sind.“</a:t>
            </a:r>
            <a:endParaRPr lang="en-US" sz="1400" dirty="0"/>
          </a:p>
        </p:txBody>
      </p:sp>
      <p:sp>
        <p:nvSpPr>
          <p:cNvPr id="13" name="Shape 11"/>
          <p:cNvSpPr/>
          <p:nvPr/>
        </p:nvSpPr>
        <p:spPr>
          <a:xfrm>
            <a:off x="3364992" y="1783080"/>
            <a:ext cx="2651760" cy="3749040"/>
          </a:xfrm>
          <a:prstGeom prst="roundRect">
            <a:avLst>
              <a:gd name="adj" fmla="val 2759"/>
            </a:avLst>
          </a:prstGeom>
          <a:solidFill>
            <a:srgbClr val="F4F7FD"/>
          </a:solidFill>
          <a:ln/>
        </p:spPr>
      </p:sp>
      <p:sp>
        <p:nvSpPr>
          <p:cNvPr id="14" name="Shape 12"/>
          <p:cNvSpPr/>
          <p:nvPr/>
        </p:nvSpPr>
        <p:spPr>
          <a:xfrm>
            <a:off x="3593592" y="1965960"/>
            <a:ext cx="640080" cy="640080"/>
          </a:xfrm>
          <a:prstGeom prst="ellipse">
            <a:avLst/>
          </a:prstGeom>
          <a:solidFill>
            <a:srgbClr val="2E9E6B"/>
          </a:solidFill>
          <a:ln/>
        </p:spPr>
      </p:sp>
      <p:sp>
        <p:nvSpPr>
          <p:cNvPr id="15" name="Text 13"/>
          <p:cNvSpPr txBox="1"/>
          <p:nvPr/>
        </p:nvSpPr>
        <p:spPr>
          <a:xfrm>
            <a:off x="3593592" y="19659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B</a:t>
            </a:r>
            <a:endParaRPr lang="en-US" sz="2400" dirty="0"/>
          </a:p>
        </p:txBody>
      </p:sp>
      <p:sp>
        <p:nvSpPr>
          <p:cNvPr id="16" name="Text 14"/>
          <p:cNvSpPr txBox="1"/>
          <p:nvPr/>
        </p:nvSpPr>
        <p:spPr>
          <a:xfrm>
            <a:off x="3547872" y="2697480"/>
            <a:ext cx="2377440" cy="457200"/>
          </a:xfrm>
          <a:prstGeom prst="rect">
            <a:avLst/>
          </a:prstGeom>
          <a:noFill/>
          <a:ln/>
        </p:spPr>
        <p:txBody>
          <a:bodyPr wrap="square" lIns="0" tIns="0" rIns="0" bIns="0" rtlCol="0" anchor="t"/>
          <a:lstStyle/>
          <a:p>
            <a:pPr indent="0" marL="0">
              <a:buNone/>
            </a:pPr>
            <a:r>
              <a:rPr lang="en-US" sz="1500" b="1" dirty="0">
                <a:solidFill>
                  <a:srgbClr val="2E9E6B"/>
                </a:solidFill>
                <a:latin typeface="Cambria" pitchFamily="34" charset="0"/>
                <a:ea typeface="Cambria" pitchFamily="34" charset="-122"/>
                <a:cs typeface="Cambria" pitchFamily="34" charset="-120"/>
              </a:rPr>
              <a:t>Empathie</a:t>
            </a:r>
            <a:endParaRPr lang="en-US" sz="1500" dirty="0"/>
          </a:p>
        </p:txBody>
      </p:sp>
      <p:sp>
        <p:nvSpPr>
          <p:cNvPr id="17" name="Text 15"/>
          <p:cNvSpPr txBox="1"/>
          <p:nvPr/>
        </p:nvSpPr>
        <p:spPr>
          <a:xfrm>
            <a:off x="3593592" y="3200400"/>
            <a:ext cx="2194560" cy="10058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Du meinst also … ? · Das klingt, als ob du … bist.</a:t>
            </a:r>
            <a:endParaRPr lang="en-US" sz="1500" dirty="0"/>
          </a:p>
        </p:txBody>
      </p:sp>
      <p:sp>
        <p:nvSpPr>
          <p:cNvPr id="18" name="Text 16"/>
          <p:cNvSpPr txBox="1"/>
          <p:nvPr/>
        </p:nvSpPr>
        <p:spPr>
          <a:xfrm>
            <a:off x="3593592" y="4297680"/>
            <a:ext cx="2194560" cy="1097280"/>
          </a:xfrm>
          <a:prstGeom prst="rect">
            <a:avLst/>
          </a:prstGeom>
          <a:noFill/>
          <a:ln/>
        </p:spPr>
        <p:txBody>
          <a:bodyPr wrap="square" lIns="0" tIns="0" rIns="0" bIns="0" rtlCol="0" anchor="t"/>
          <a:lstStyle/>
          <a:p>
            <a:pPr indent="0" marL="0">
              <a:buNone/>
            </a:pPr>
            <a:r>
              <a:rPr lang="en-US" sz="1400" i="1" dirty="0">
                <a:solidFill>
                  <a:srgbClr val="5B6B8C"/>
                </a:solidFill>
                <a:latin typeface="Cambria" pitchFamily="34" charset="0"/>
                <a:ea typeface="Cambria" pitchFamily="34" charset="-122"/>
                <a:cs typeface="Cambria" pitchFamily="34" charset="-120"/>
              </a:rPr>
              <a:t>„Du bist gestresst, weil alles klappen soll, oder?“</a:t>
            </a:r>
            <a:endParaRPr lang="en-US" sz="1400" dirty="0"/>
          </a:p>
        </p:txBody>
      </p:sp>
      <p:sp>
        <p:nvSpPr>
          <p:cNvPr id="19" name="Shape 17"/>
          <p:cNvSpPr/>
          <p:nvPr/>
        </p:nvSpPr>
        <p:spPr>
          <a:xfrm>
            <a:off x="6181344" y="1783080"/>
            <a:ext cx="2651760" cy="3749040"/>
          </a:xfrm>
          <a:prstGeom prst="roundRect">
            <a:avLst>
              <a:gd name="adj" fmla="val 2759"/>
            </a:avLst>
          </a:prstGeom>
          <a:solidFill>
            <a:srgbClr val="F4F7FD"/>
          </a:solidFill>
          <a:ln/>
        </p:spPr>
      </p:sp>
      <p:sp>
        <p:nvSpPr>
          <p:cNvPr id="20" name="Shape 18"/>
          <p:cNvSpPr/>
          <p:nvPr/>
        </p:nvSpPr>
        <p:spPr>
          <a:xfrm>
            <a:off x="6409944" y="1965960"/>
            <a:ext cx="640080" cy="640080"/>
          </a:xfrm>
          <a:prstGeom prst="ellipse">
            <a:avLst/>
          </a:prstGeom>
          <a:solidFill>
            <a:srgbClr val="E8A33D"/>
          </a:solidFill>
          <a:ln/>
        </p:spPr>
      </p:sp>
      <p:sp>
        <p:nvSpPr>
          <p:cNvPr id="21" name="Text 19"/>
          <p:cNvSpPr txBox="1"/>
          <p:nvPr/>
        </p:nvSpPr>
        <p:spPr>
          <a:xfrm>
            <a:off x="6409944" y="19659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t>
            </a:r>
            <a:endParaRPr lang="en-US" sz="2400" dirty="0"/>
          </a:p>
        </p:txBody>
      </p:sp>
      <p:sp>
        <p:nvSpPr>
          <p:cNvPr id="22" name="Text 20"/>
          <p:cNvSpPr txBox="1"/>
          <p:nvPr/>
        </p:nvSpPr>
        <p:spPr>
          <a:xfrm>
            <a:off x="6364224" y="2697480"/>
            <a:ext cx="2377440" cy="457200"/>
          </a:xfrm>
          <a:prstGeom prst="rect">
            <a:avLst/>
          </a:prstGeom>
          <a:noFill/>
          <a:ln/>
        </p:spPr>
        <p:txBody>
          <a:bodyPr wrap="square" lIns="0" tIns="0" rIns="0" bIns="0" rtlCol="0" anchor="t"/>
          <a:lstStyle/>
          <a:p>
            <a:pPr indent="0" marL="0">
              <a:buNone/>
            </a:pPr>
            <a:r>
              <a:rPr lang="en-US" sz="1500" b="1" dirty="0">
                <a:solidFill>
                  <a:srgbClr val="E8A33D"/>
                </a:solidFill>
                <a:latin typeface="Cambria" pitchFamily="34" charset="0"/>
                <a:ea typeface="Cambria" pitchFamily="34" charset="-122"/>
                <a:cs typeface="Cambria" pitchFamily="34" charset="-120"/>
              </a:rPr>
              <a:t>Wunsch &amp; Bitte</a:t>
            </a:r>
            <a:endParaRPr lang="en-US" sz="1500" dirty="0"/>
          </a:p>
        </p:txBody>
      </p:sp>
      <p:sp>
        <p:nvSpPr>
          <p:cNvPr id="23" name="Text 21"/>
          <p:cNvSpPr txBox="1"/>
          <p:nvPr/>
        </p:nvSpPr>
        <p:spPr>
          <a:xfrm>
            <a:off x="6409944" y="3200400"/>
            <a:ext cx="2194560" cy="10058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Beobachtung → Gefühl → Bedürfnis → Bitte</a:t>
            </a:r>
            <a:endParaRPr lang="en-US" sz="1500" dirty="0"/>
          </a:p>
        </p:txBody>
      </p:sp>
      <p:sp>
        <p:nvSpPr>
          <p:cNvPr id="24" name="Text 22"/>
          <p:cNvSpPr txBox="1"/>
          <p:nvPr/>
        </p:nvSpPr>
        <p:spPr>
          <a:xfrm>
            <a:off x="6409944" y="4297680"/>
            <a:ext cx="2194560" cy="1097280"/>
          </a:xfrm>
          <a:prstGeom prst="rect">
            <a:avLst/>
          </a:prstGeom>
          <a:noFill/>
          <a:ln/>
        </p:spPr>
        <p:txBody>
          <a:bodyPr wrap="square" lIns="0" tIns="0" rIns="0" bIns="0" rtlCol="0" anchor="t"/>
          <a:lstStyle/>
          <a:p>
            <a:pPr indent="0" marL="0">
              <a:buNone/>
            </a:pPr>
            <a:r>
              <a:rPr lang="en-US" sz="1400" i="1" dirty="0">
                <a:solidFill>
                  <a:srgbClr val="5B6B8C"/>
                </a:solidFill>
                <a:latin typeface="Cambria" pitchFamily="34" charset="0"/>
                <a:ea typeface="Cambria" pitchFamily="34" charset="-122"/>
                <a:cs typeface="Cambria" pitchFamily="34" charset="-120"/>
              </a:rPr>
              <a:t>„Kannst du mir die Folien bis 19 Uhr schicken?“</a:t>
            </a:r>
            <a:endParaRPr lang="en-US" sz="1400" dirty="0"/>
          </a:p>
        </p:txBody>
      </p:sp>
      <p:sp>
        <p:nvSpPr>
          <p:cNvPr id="25" name="Shape 23"/>
          <p:cNvSpPr/>
          <p:nvPr/>
        </p:nvSpPr>
        <p:spPr>
          <a:xfrm>
            <a:off x="8997696" y="1783080"/>
            <a:ext cx="2651760" cy="3749040"/>
          </a:xfrm>
          <a:prstGeom prst="roundRect">
            <a:avLst>
              <a:gd name="adj" fmla="val 2759"/>
            </a:avLst>
          </a:prstGeom>
          <a:solidFill>
            <a:srgbClr val="F4F7FD"/>
          </a:solidFill>
          <a:ln/>
        </p:spPr>
      </p:sp>
      <p:sp>
        <p:nvSpPr>
          <p:cNvPr id="26" name="Shape 24"/>
          <p:cNvSpPr/>
          <p:nvPr/>
        </p:nvSpPr>
        <p:spPr>
          <a:xfrm>
            <a:off x="9226296" y="1965960"/>
            <a:ext cx="640080" cy="640080"/>
          </a:xfrm>
          <a:prstGeom prst="ellipse">
            <a:avLst/>
          </a:prstGeom>
          <a:solidFill>
            <a:srgbClr val="8E5BB5"/>
          </a:solidFill>
          <a:ln/>
        </p:spPr>
      </p:sp>
      <p:sp>
        <p:nvSpPr>
          <p:cNvPr id="27" name="Text 25"/>
          <p:cNvSpPr txBox="1"/>
          <p:nvPr/>
        </p:nvSpPr>
        <p:spPr>
          <a:xfrm>
            <a:off x="9226296" y="19659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endParaRPr lang="en-US" sz="2400" dirty="0"/>
          </a:p>
        </p:txBody>
      </p:sp>
      <p:sp>
        <p:nvSpPr>
          <p:cNvPr id="28" name="Text 26"/>
          <p:cNvSpPr txBox="1"/>
          <p:nvPr/>
        </p:nvSpPr>
        <p:spPr>
          <a:xfrm>
            <a:off x="9180576" y="2697480"/>
            <a:ext cx="2377440" cy="457200"/>
          </a:xfrm>
          <a:prstGeom prst="rect">
            <a:avLst/>
          </a:prstGeom>
          <a:noFill/>
          <a:ln/>
        </p:spPr>
        <p:txBody>
          <a:bodyPr wrap="square" lIns="0" tIns="0" rIns="0" bIns="0" rtlCol="0" anchor="t"/>
          <a:lstStyle/>
          <a:p>
            <a:pPr indent="0" marL="0">
              <a:buNone/>
            </a:pPr>
            <a:r>
              <a:rPr lang="en-US" sz="1500" b="1" dirty="0">
                <a:solidFill>
                  <a:srgbClr val="8E5BB5"/>
                </a:solidFill>
                <a:latin typeface="Cambria" pitchFamily="34" charset="0"/>
                <a:ea typeface="Cambria" pitchFamily="34" charset="-122"/>
                <a:cs typeface="Cambria" pitchFamily="34" charset="-120"/>
              </a:rPr>
              <a:t>Metakommunikation</a:t>
            </a:r>
            <a:endParaRPr lang="en-US" sz="1500" dirty="0"/>
          </a:p>
        </p:txBody>
      </p:sp>
      <p:sp>
        <p:nvSpPr>
          <p:cNvPr id="29" name="Text 27"/>
          <p:cNvSpPr txBox="1"/>
          <p:nvPr/>
        </p:nvSpPr>
        <p:spPr>
          <a:xfrm>
            <a:off x="9226296" y="3200400"/>
            <a:ext cx="2194560" cy="10058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Stopp – wie reden wir gerade miteinander?</a:t>
            </a:r>
            <a:endParaRPr lang="en-US" sz="1500" dirty="0"/>
          </a:p>
        </p:txBody>
      </p:sp>
      <p:sp>
        <p:nvSpPr>
          <p:cNvPr id="30" name="Text 28"/>
          <p:cNvSpPr txBox="1"/>
          <p:nvPr/>
        </p:nvSpPr>
        <p:spPr>
          <a:xfrm>
            <a:off x="9226296" y="4297680"/>
            <a:ext cx="2194560" cy="1097280"/>
          </a:xfrm>
          <a:prstGeom prst="rect">
            <a:avLst/>
          </a:prstGeom>
          <a:noFill/>
          <a:ln/>
        </p:spPr>
        <p:txBody>
          <a:bodyPr wrap="square" lIns="0" tIns="0" rIns="0" bIns="0" rtlCol="0" anchor="t"/>
          <a:lstStyle/>
          <a:p>
            <a:pPr indent="0" marL="0">
              <a:buNone/>
            </a:pPr>
            <a:r>
              <a:rPr lang="en-US" sz="1400" i="1" dirty="0">
                <a:solidFill>
                  <a:srgbClr val="5B6B8C"/>
                </a:solidFill>
                <a:latin typeface="Cambria" pitchFamily="34" charset="0"/>
                <a:ea typeface="Cambria" pitchFamily="34" charset="-122"/>
                <a:cs typeface="Cambria" pitchFamily="34" charset="-120"/>
              </a:rPr>
              <a:t>„Wir werfen uns nur noch Sachen an den Kopf.“</a:t>
            </a:r>
            <a:endParaRPr lang="en-US" sz="1400" dirty="0"/>
          </a:p>
        </p:txBody>
      </p:sp>
      <p:sp>
        <p:nvSpPr>
          <p:cNvPr id="31" name="Shape 29"/>
          <p:cNvSpPr/>
          <p:nvPr/>
        </p:nvSpPr>
        <p:spPr>
          <a:xfrm>
            <a:off x="548640" y="5669280"/>
            <a:ext cx="11109960" cy="502920"/>
          </a:xfrm>
          <a:prstGeom prst="roundRect">
            <a:avLst>
              <a:gd name="adj" fmla="val 14545"/>
            </a:avLst>
          </a:prstGeom>
          <a:solidFill>
            <a:srgbClr val="FBECEB"/>
          </a:solidFill>
          <a:ln/>
        </p:spPr>
      </p:sp>
      <p:sp>
        <p:nvSpPr>
          <p:cNvPr id="32" name="Text 30"/>
          <p:cNvSpPr txBox="1"/>
          <p:nvPr/>
        </p:nvSpPr>
        <p:spPr>
          <a:xfrm>
            <a:off x="822960" y="5669280"/>
            <a:ext cx="10607040" cy="502920"/>
          </a:xfrm>
          <a:prstGeom prst="rect">
            <a:avLst/>
          </a:prstGeom>
          <a:noFill/>
          <a:ln/>
        </p:spPr>
        <p:txBody>
          <a:bodyPr wrap="square" lIns="0" tIns="0" rIns="0" bIns="0" rtlCol="0" anchor="ctr"/>
          <a:lstStyle/>
          <a:p>
            <a:pPr indent="0" marL="0">
              <a:buNone/>
            </a:pPr>
            <a:r>
              <a:rPr lang="en-US" sz="1500" b="1" dirty="0">
                <a:solidFill>
                  <a:srgbClr val="D9534F"/>
                </a:solidFill>
                <a:latin typeface="Calibri" pitchFamily="34" charset="0"/>
                <a:ea typeface="Calibri" pitchFamily="34" charset="-122"/>
                <a:cs typeface="Calibri" pitchFamily="34" charset="-120"/>
              </a:rPr>
              <a:t>Tabu: Du-Vorwürfe · „immer“ und „nie“ · Ironie · Gegenangriff · „Ja, aber …“</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AUFGABE 4 · GRUPPE</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Eure eigene Szene</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Arbeitsblatt S. 4 · Denkt euch selbst eine Situation aus!</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7" name="Shape 5"/>
          <p:cNvSpPr/>
          <p:nvPr/>
        </p:nvSpPr>
        <p:spPr>
          <a:xfrm>
            <a:off x="9966960" y="411480"/>
            <a:ext cx="1691640" cy="914400"/>
          </a:xfrm>
          <a:prstGeom prst="roundRect">
            <a:avLst>
              <a:gd name="adj" fmla="val 8000"/>
            </a:avLst>
          </a:prstGeom>
          <a:solidFill>
            <a:srgbClr val="1E2761"/>
          </a:solidFill>
          <a:ln/>
        </p:spPr>
      </p:sp>
      <p:sp>
        <p:nvSpPr>
          <p:cNvPr id="8" name="Text 6"/>
          <p:cNvSpPr txBox="1"/>
          <p:nvPr/>
        </p:nvSpPr>
        <p:spPr>
          <a:xfrm>
            <a:off x="9966960" y="457200"/>
            <a:ext cx="1691640"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17 Min.</a:t>
            </a:r>
            <a:endParaRPr lang="en-US" sz="2600" dirty="0"/>
          </a:p>
        </p:txBody>
      </p:sp>
      <p:sp>
        <p:nvSpPr>
          <p:cNvPr id="9" name="Text 7"/>
          <p:cNvSpPr txBox="1"/>
          <p:nvPr/>
        </p:nvSpPr>
        <p:spPr>
          <a:xfrm>
            <a:off x="9966960" y="932688"/>
            <a:ext cx="169164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Gruppe</a:t>
            </a:r>
            <a:endParaRPr lang="en-US" sz="1200" dirty="0"/>
          </a:p>
        </p:txBody>
      </p:sp>
      <p:sp>
        <p:nvSpPr>
          <p:cNvPr id="10" name="Shape 8"/>
          <p:cNvSpPr/>
          <p:nvPr/>
        </p:nvSpPr>
        <p:spPr>
          <a:xfrm>
            <a:off x="548640" y="1783080"/>
            <a:ext cx="5394960" cy="2148840"/>
          </a:xfrm>
          <a:prstGeom prst="roundRect">
            <a:avLst>
              <a:gd name="adj" fmla="val 3404"/>
            </a:avLst>
          </a:prstGeom>
          <a:solidFill>
            <a:srgbClr val="FBECEB"/>
          </a:solidFill>
          <a:ln/>
        </p:spPr>
      </p:sp>
      <p:sp>
        <p:nvSpPr>
          <p:cNvPr id="11" name="Text 9"/>
          <p:cNvSpPr txBox="1"/>
          <p:nvPr/>
        </p:nvSpPr>
        <p:spPr>
          <a:xfrm>
            <a:off x="822960" y="1901952"/>
            <a:ext cx="4846320" cy="411480"/>
          </a:xfrm>
          <a:prstGeom prst="rect">
            <a:avLst/>
          </a:prstGeom>
          <a:noFill/>
          <a:ln/>
        </p:spPr>
        <p:txBody>
          <a:bodyPr wrap="square" lIns="0" tIns="0" rIns="0" bIns="0" rtlCol="0" anchor="t"/>
          <a:lstStyle/>
          <a:p>
            <a:pPr indent="0" marL="0">
              <a:buNone/>
            </a:pPr>
            <a:r>
              <a:rPr lang="en-US" sz="2000" b="1" dirty="0">
                <a:solidFill>
                  <a:srgbClr val="D9534F"/>
                </a:solidFill>
                <a:latin typeface="Cambria" pitchFamily="34" charset="0"/>
                <a:ea typeface="Cambria" pitchFamily="34" charset="-122"/>
                <a:cs typeface="Cambria" pitchFamily="34" charset="-120"/>
              </a:rPr>
              <a:t>Version A – es kippt</a:t>
            </a:r>
            <a:endParaRPr lang="en-US" sz="2000" dirty="0"/>
          </a:p>
        </p:txBody>
      </p:sp>
      <p:sp>
        <p:nvSpPr>
          <p:cNvPr id="12" name="Text 10"/>
          <p:cNvSpPr txBox="1"/>
          <p:nvPr/>
        </p:nvSpPr>
        <p:spPr>
          <a:xfrm>
            <a:off x="822960" y="2423160"/>
            <a:ext cx="4846320" cy="137160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harmloser Anfang  →  ein Satz mit Du-Vorwurf, „immer“ oder Ironie  →  Gegenangriff  →  Abbruch</a:t>
            </a:r>
            <a:endParaRPr lang="en-US" sz="1600" dirty="0"/>
          </a:p>
        </p:txBody>
      </p:sp>
      <p:sp>
        <p:nvSpPr>
          <p:cNvPr id="13" name="Shape 11"/>
          <p:cNvSpPr/>
          <p:nvPr/>
        </p:nvSpPr>
        <p:spPr>
          <a:xfrm>
            <a:off x="6263640" y="1783080"/>
            <a:ext cx="5394960" cy="2148840"/>
          </a:xfrm>
          <a:prstGeom prst="roundRect">
            <a:avLst>
              <a:gd name="adj" fmla="val 3404"/>
            </a:avLst>
          </a:prstGeom>
          <a:solidFill>
            <a:srgbClr val="E6F4EC"/>
          </a:solidFill>
          <a:ln/>
        </p:spPr>
      </p:sp>
      <p:sp>
        <p:nvSpPr>
          <p:cNvPr id="14" name="Text 12"/>
          <p:cNvSpPr txBox="1"/>
          <p:nvPr/>
        </p:nvSpPr>
        <p:spPr>
          <a:xfrm>
            <a:off x="6537960" y="1901952"/>
            <a:ext cx="4846320" cy="411480"/>
          </a:xfrm>
          <a:prstGeom prst="rect">
            <a:avLst/>
          </a:prstGeom>
          <a:noFill/>
          <a:ln/>
        </p:spPr>
        <p:txBody>
          <a:bodyPr wrap="square" lIns="0" tIns="0" rIns="0" bIns="0" rtlCol="0" anchor="t"/>
          <a:lstStyle/>
          <a:p>
            <a:pPr indent="0" marL="0">
              <a:buNone/>
            </a:pPr>
            <a:r>
              <a:rPr lang="en-US" sz="2000" b="1" dirty="0">
                <a:solidFill>
                  <a:srgbClr val="2E9E6B"/>
                </a:solidFill>
                <a:latin typeface="Cambria" pitchFamily="34" charset="0"/>
                <a:ea typeface="Cambria" pitchFamily="34" charset="-122"/>
                <a:cs typeface="Cambria" pitchFamily="34" charset="-120"/>
              </a:rPr>
              <a:t>Version B – es wird gelöst</a:t>
            </a:r>
            <a:endParaRPr lang="en-US" sz="2000" dirty="0"/>
          </a:p>
        </p:txBody>
      </p:sp>
      <p:sp>
        <p:nvSpPr>
          <p:cNvPr id="15" name="Text 13"/>
          <p:cNvSpPr txBox="1"/>
          <p:nvPr/>
        </p:nvSpPr>
        <p:spPr>
          <a:xfrm>
            <a:off x="6537960" y="2423160"/>
            <a:ext cx="4846320" cy="1371600"/>
          </a:xfrm>
          <a:prstGeom prst="rect">
            <a:avLst/>
          </a:prstGeom>
          <a:noFill/>
          <a:ln/>
        </p:spPr>
        <p:txBody>
          <a:bodyPr wrap="square" lIns="0" tIns="0" rIns="0" bIns="0" rtlCol="0" anchor="t"/>
          <a:lstStyle/>
          <a:p>
            <a:pPr indent="0" marL="0">
              <a:buNone/>
            </a:pPr>
            <a:r>
              <a:rPr lang="en-US" sz="1600" dirty="0">
                <a:solidFill>
                  <a:srgbClr val="1E2761"/>
                </a:solidFill>
                <a:latin typeface="Calibri" pitchFamily="34" charset="0"/>
                <a:ea typeface="Calibri" pitchFamily="34" charset="-122"/>
                <a:cs typeface="Calibri" pitchFamily="34" charset="-120"/>
              </a:rPr>
              <a:t>gleicher Anfang  →  am Kipppunkt reagiert jemand anders (A · B · C · D)  →  Lösung</a:t>
            </a:r>
            <a:endParaRPr lang="en-US" sz="1600" dirty="0"/>
          </a:p>
        </p:txBody>
      </p:sp>
      <p:sp>
        <p:nvSpPr>
          <p:cNvPr id="16" name="Text 14"/>
          <p:cNvSpPr txBox="1"/>
          <p:nvPr/>
        </p:nvSpPr>
        <p:spPr>
          <a:xfrm>
            <a:off x="548640" y="4206240"/>
            <a:ext cx="45720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Spielregeln</a:t>
            </a:r>
            <a:endParaRPr lang="en-US" sz="1800" dirty="0"/>
          </a:p>
        </p:txBody>
      </p:sp>
      <p:sp>
        <p:nvSpPr>
          <p:cNvPr id="17" name="Text 15"/>
          <p:cNvSpPr txBox="1"/>
          <p:nvPr/>
        </p:nvSpPr>
        <p:spPr>
          <a:xfrm>
            <a:off x="548640" y="4617720"/>
            <a:ext cx="6858000" cy="146304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1E2761"/>
                </a:solidFill>
                <a:latin typeface="Calibri" pitchFamily="34" charset="0"/>
                <a:ea typeface="Calibri" pitchFamily="34" charset="-122"/>
                <a:cs typeface="Calibri" pitchFamily="34" charset="-120"/>
              </a:rPr>
              <a:t>2–4 Rollen, jede Version höchstens 90 Sekunden</a:t>
            </a:r>
            <a:endParaRPr lang="en-US" sz="1600" dirty="0"/>
          </a:p>
          <a:p>
            <a:pPr marL="342900" indent="-342900">
              <a:spcAft>
                <a:spcPts val="600"/>
              </a:spcAft>
              <a:buSzPct val="100000"/>
              <a:buChar char="•"/>
            </a:pPr>
            <a:r>
              <a:rPr lang="en-US" sz="1600" dirty="0">
                <a:solidFill>
                  <a:srgbClr val="1E2761"/>
                </a:solidFill>
                <a:latin typeface="Calibri" pitchFamily="34" charset="0"/>
                <a:ea typeface="Calibri" pitchFamily="34" charset="-122"/>
                <a:cs typeface="Calibri" pitchFamily="34" charset="-120"/>
              </a:rPr>
              <a:t>Der Kipppunkt muss für das Publikum erkennbar sein</a:t>
            </a:r>
            <a:endParaRPr lang="en-US" sz="1600" dirty="0"/>
          </a:p>
          <a:p>
            <a:pPr marL="342900" indent="-342900">
              <a:spcAft>
                <a:spcPts val="600"/>
              </a:spcAft>
              <a:buSzPct val="100000"/>
              <a:buChar char="•"/>
            </a:pPr>
            <a:r>
              <a:rPr lang="en-US" sz="1600" dirty="0">
                <a:solidFill>
                  <a:srgbClr val="1E2761"/>
                </a:solidFill>
                <a:latin typeface="Calibri" pitchFamily="34" charset="0"/>
                <a:ea typeface="Calibri" pitchFamily="34" charset="-122"/>
                <a:cs typeface="Calibri" pitchFamily="34" charset="-120"/>
              </a:rPr>
              <a:t>Letzte 5 Minuten: einmal durchproben</a:t>
            </a:r>
            <a:endParaRPr lang="en-US" sz="1600" dirty="0"/>
          </a:p>
        </p:txBody>
      </p:sp>
      <p:sp>
        <p:nvSpPr>
          <p:cNvPr id="18" name="Shape 16"/>
          <p:cNvSpPr/>
          <p:nvPr/>
        </p:nvSpPr>
        <p:spPr>
          <a:xfrm>
            <a:off x="7863840" y="4206240"/>
            <a:ext cx="3794760" cy="1874520"/>
          </a:xfrm>
          <a:prstGeom prst="roundRect">
            <a:avLst>
              <a:gd name="adj" fmla="val 3902"/>
            </a:avLst>
          </a:prstGeom>
          <a:solidFill>
            <a:srgbClr val="EAF0FA"/>
          </a:solidFill>
          <a:ln/>
        </p:spPr>
      </p:sp>
      <p:sp>
        <p:nvSpPr>
          <p:cNvPr id="19" name="Text 17"/>
          <p:cNvSpPr txBox="1"/>
          <p:nvPr/>
        </p:nvSpPr>
        <p:spPr>
          <a:xfrm>
            <a:off x="8092440" y="4315968"/>
            <a:ext cx="3383280" cy="36576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Nach 5 Min. keine Idee?</a:t>
            </a:r>
            <a:endParaRPr lang="en-US" sz="1700" dirty="0"/>
          </a:p>
        </p:txBody>
      </p:sp>
      <p:sp>
        <p:nvSpPr>
          <p:cNvPr id="20" name="Text 18"/>
          <p:cNvSpPr txBox="1"/>
          <p:nvPr/>
        </p:nvSpPr>
        <p:spPr>
          <a:xfrm>
            <a:off x="8092440" y="4709160"/>
            <a:ext cx="3383280" cy="1280160"/>
          </a:xfrm>
          <a:prstGeom prst="rect">
            <a:avLst/>
          </a:prstGeom>
          <a:noFill/>
          <a:ln/>
        </p:spPr>
        <p:txBody>
          <a:bodyPr wrap="square" lIns="0" tIns="0" rIns="0" bIns="0" rtlCol="0" anchor="t"/>
          <a:lstStyle/>
          <a:p>
            <a:pPr indent="0" marL="0">
              <a:buNone/>
            </a:pPr>
            <a:r>
              <a:rPr lang="en-US" sz="1400" dirty="0">
                <a:solidFill>
                  <a:srgbClr val="1E2761"/>
                </a:solidFill>
                <a:latin typeface="Calibri" pitchFamily="34" charset="0"/>
                <a:ea typeface="Calibri" pitchFamily="34" charset="-122"/>
                <a:cs typeface="Calibri" pitchFamily="34" charset="-120"/>
              </a:rPr>
              <a:t>1. Tippkarte 1 zu Aufgabe 4 vom Pult</a:t>
            </a:r>
            <a:endParaRPr lang="en-US" sz="1400" dirty="0"/>
          </a:p>
          <a:p>
            <a:pPr indent="0" marL="0">
              <a:buNone/>
            </a:pPr>
            <a:r>
              <a:rPr lang="en-US" sz="1400" dirty="0">
                <a:solidFill>
                  <a:srgbClr val="1E2761"/>
                </a:solidFill>
                <a:latin typeface="Calibri" pitchFamily="34" charset="0"/>
                <a:ea typeface="Calibri" pitchFamily="34" charset="-122"/>
                <a:cs typeface="Calibri" pitchFamily="34" charset="-120"/>
              </a:rPr>
              <a:t>2. Hilft nicht? Material-Person holt eine Notfall-Idee bei der Lehrkraft.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AUFGABE 5 · BÜHNE FREI</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Spielen – ohne Unterbrechung</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Arbeitsblatt S. 5 · Beobachtungsbogen</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7" name="Shape 5"/>
          <p:cNvSpPr/>
          <p:nvPr/>
        </p:nvSpPr>
        <p:spPr>
          <a:xfrm>
            <a:off x="9966960" y="411480"/>
            <a:ext cx="1691640" cy="914400"/>
          </a:xfrm>
          <a:prstGeom prst="roundRect">
            <a:avLst>
              <a:gd name="adj" fmla="val 8000"/>
            </a:avLst>
          </a:prstGeom>
          <a:solidFill>
            <a:srgbClr val="1E2761"/>
          </a:solidFill>
          <a:ln/>
        </p:spPr>
      </p:sp>
      <p:sp>
        <p:nvSpPr>
          <p:cNvPr id="8" name="Text 6"/>
          <p:cNvSpPr txBox="1"/>
          <p:nvPr/>
        </p:nvSpPr>
        <p:spPr>
          <a:xfrm>
            <a:off x="9966960" y="457200"/>
            <a:ext cx="1691640"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25 Min.</a:t>
            </a:r>
            <a:endParaRPr lang="en-US" sz="2600" dirty="0"/>
          </a:p>
        </p:txBody>
      </p:sp>
      <p:sp>
        <p:nvSpPr>
          <p:cNvPr id="9" name="Text 7"/>
          <p:cNvSpPr txBox="1"/>
          <p:nvPr/>
        </p:nvSpPr>
        <p:spPr>
          <a:xfrm>
            <a:off x="9966960" y="932688"/>
            <a:ext cx="169164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Plenum</a:t>
            </a:r>
            <a:endParaRPr lang="en-US" sz="1200" dirty="0"/>
          </a:p>
        </p:txBody>
      </p:sp>
      <p:sp>
        <p:nvSpPr>
          <p:cNvPr id="10" name="Shape 8"/>
          <p:cNvSpPr/>
          <p:nvPr/>
        </p:nvSpPr>
        <p:spPr>
          <a:xfrm>
            <a:off x="548640" y="1847088"/>
            <a:ext cx="384048" cy="384048"/>
          </a:xfrm>
          <a:prstGeom prst="ellipse">
            <a:avLst/>
          </a:prstGeom>
          <a:solidFill>
            <a:srgbClr val="1E2761"/>
          </a:solidFill>
          <a:ln/>
        </p:spPr>
      </p:sp>
      <p:sp>
        <p:nvSpPr>
          <p:cNvPr id="11" name="Text 9"/>
          <p:cNvSpPr txBox="1"/>
          <p:nvPr/>
        </p:nvSpPr>
        <p:spPr>
          <a:xfrm>
            <a:off x="54864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1097280" y="1828800"/>
            <a:ext cx="6949440" cy="868680"/>
          </a:xfrm>
          <a:prstGeom prst="rect">
            <a:avLst/>
          </a:prstGeom>
          <a:noFill/>
          <a:ln/>
        </p:spPr>
        <p:txBody>
          <a:bodyPr wrap="square" lIns="0" tIns="0" rIns="0" bIns="0" rtlCol="0" anchor="t"/>
          <a:lstStyle/>
          <a:p>
            <a:pPr indent="0" marL="0">
              <a:buNone/>
            </a:pPr>
            <a:r>
              <a:rPr lang="en-US" sz="1700" dirty="0">
                <a:solidFill>
                  <a:srgbClr val="1E2761"/>
                </a:solidFill>
                <a:latin typeface="Calibri" pitchFamily="34" charset="0"/>
                <a:ea typeface="Calibri" pitchFamily="34" charset="-122"/>
                <a:cs typeface="Calibri" pitchFamily="34" charset="-120"/>
              </a:rPr>
              <a:t>Die Moderation ruft die Gruppen in der Reihenfolge an der Tafel auf.</a:t>
            </a:r>
            <a:endParaRPr lang="en-US" sz="1700" dirty="0"/>
          </a:p>
        </p:txBody>
      </p:sp>
      <p:sp>
        <p:nvSpPr>
          <p:cNvPr id="13" name="Shape 11"/>
          <p:cNvSpPr/>
          <p:nvPr/>
        </p:nvSpPr>
        <p:spPr>
          <a:xfrm>
            <a:off x="548640" y="2715768"/>
            <a:ext cx="384048" cy="384048"/>
          </a:xfrm>
          <a:prstGeom prst="ellipse">
            <a:avLst/>
          </a:prstGeom>
          <a:solidFill>
            <a:srgbClr val="1E2761"/>
          </a:solidFill>
          <a:ln/>
        </p:spPr>
      </p:sp>
      <p:sp>
        <p:nvSpPr>
          <p:cNvPr id="14" name="Text 12"/>
          <p:cNvSpPr txBox="1"/>
          <p:nvPr/>
        </p:nvSpPr>
        <p:spPr>
          <a:xfrm>
            <a:off x="548640" y="2715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097280" y="2697480"/>
            <a:ext cx="6949440" cy="868680"/>
          </a:xfrm>
          <a:prstGeom prst="rect">
            <a:avLst/>
          </a:prstGeom>
          <a:noFill/>
          <a:ln/>
        </p:spPr>
        <p:txBody>
          <a:bodyPr wrap="square" lIns="0" tIns="0" rIns="0" bIns="0" rtlCol="0" anchor="t"/>
          <a:lstStyle/>
          <a:p>
            <a:pPr indent="0" marL="0">
              <a:buNone/>
            </a:pPr>
            <a:r>
              <a:rPr lang="en-US" sz="1700" b="1" dirty="0">
                <a:solidFill>
                  <a:srgbClr val="1E2761"/>
                </a:solidFill>
                <a:latin typeface="Calibri" pitchFamily="34" charset="0"/>
                <a:ea typeface="Calibri" pitchFamily="34" charset="-122"/>
                <a:cs typeface="Calibri" pitchFamily="34" charset="-120"/>
              </a:rPr>
              <a:t>Version A</a:t>
            </a:r>
            <a:pPr indent="0" marL="0">
              <a:buNone/>
            </a:pPr>
            <a:r>
              <a:rPr lang="en-US" sz="1700" dirty="0">
                <a:solidFill>
                  <a:srgbClr val="1E2761"/>
                </a:solidFill>
                <a:latin typeface="Calibri" pitchFamily="34" charset="0"/>
                <a:ea typeface="Calibri" pitchFamily="34" charset="-122"/>
                <a:cs typeface="Calibri" pitchFamily="34" charset="-120"/>
              </a:rPr>
              <a:t>, direkt danach </a:t>
            </a:r>
            <a:pPr indent="0" marL="0">
              <a:buNone/>
            </a:pPr>
            <a:r>
              <a:rPr lang="en-US" sz="1700" b="1" dirty="0">
                <a:solidFill>
                  <a:srgbClr val="1E2761"/>
                </a:solidFill>
                <a:latin typeface="Calibri" pitchFamily="34" charset="0"/>
                <a:ea typeface="Calibri" pitchFamily="34" charset="-122"/>
                <a:cs typeface="Calibri" pitchFamily="34" charset="-120"/>
              </a:rPr>
              <a:t>Version B</a:t>
            </a:r>
            <a:pPr indent="0" marL="0">
              <a:buNone/>
            </a:pPr>
            <a:r>
              <a:rPr lang="en-US" sz="1700" dirty="0">
                <a:solidFill>
                  <a:srgbClr val="1E2761"/>
                </a:solidFill>
                <a:latin typeface="Calibri" pitchFamily="34" charset="0"/>
                <a:ea typeface="Calibri" pitchFamily="34" charset="-122"/>
                <a:cs typeface="Calibri" pitchFamily="34" charset="-120"/>
              </a:rPr>
              <a:t> – je höchstens 90 Sekunden.</a:t>
            </a:r>
            <a:endParaRPr lang="en-US" sz="1700" dirty="0"/>
          </a:p>
        </p:txBody>
      </p:sp>
      <p:sp>
        <p:nvSpPr>
          <p:cNvPr id="16" name="Shape 14"/>
          <p:cNvSpPr/>
          <p:nvPr/>
        </p:nvSpPr>
        <p:spPr>
          <a:xfrm>
            <a:off x="548640" y="3584448"/>
            <a:ext cx="384048" cy="384048"/>
          </a:xfrm>
          <a:prstGeom prst="ellipse">
            <a:avLst/>
          </a:prstGeom>
          <a:solidFill>
            <a:srgbClr val="1E2761"/>
          </a:solidFill>
          <a:ln/>
        </p:spPr>
      </p:sp>
      <p:sp>
        <p:nvSpPr>
          <p:cNvPr id="17" name="Text 15"/>
          <p:cNvSpPr txBox="1"/>
          <p:nvPr/>
        </p:nvSpPr>
        <p:spPr>
          <a:xfrm>
            <a:off x="54864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1097280" y="3566160"/>
            <a:ext cx="6949440" cy="868680"/>
          </a:xfrm>
          <a:prstGeom prst="rect">
            <a:avLst/>
          </a:prstGeom>
          <a:noFill/>
          <a:ln/>
        </p:spPr>
        <p:txBody>
          <a:bodyPr wrap="square" lIns="0" tIns="0" rIns="0" bIns="0" rtlCol="0" anchor="t"/>
          <a:lstStyle/>
          <a:p>
            <a:pPr indent="0" marL="0">
              <a:buNone/>
            </a:pPr>
            <a:r>
              <a:rPr lang="en-US" sz="1700" b="1" dirty="0">
                <a:solidFill>
                  <a:srgbClr val="1E2761"/>
                </a:solidFill>
                <a:latin typeface="Calibri" pitchFamily="34" charset="0"/>
                <a:ea typeface="Calibri" pitchFamily="34" charset="-122"/>
                <a:cs typeface="Calibri" pitchFamily="34" charset="-120"/>
              </a:rPr>
              <a:t>Niemand unterbricht.</a:t>
            </a:r>
            <a:pPr indent="0" marL="0">
              <a:buNone/>
            </a:pPr>
            <a:r>
              <a:rPr lang="en-US" sz="1700" dirty="0">
                <a:solidFill>
                  <a:srgbClr val="1E2761"/>
                </a:solidFill>
                <a:latin typeface="Calibri" pitchFamily="34" charset="0"/>
                <a:ea typeface="Calibri" pitchFamily="34" charset="-122"/>
                <a:cs typeface="Calibri" pitchFamily="34" charset="-120"/>
              </a:rPr>
              <a:t> Das Publikum schaut genau hin: Wo kippt es? Was ist in B anders?</a:t>
            </a:r>
            <a:endParaRPr lang="en-US" sz="1700" dirty="0"/>
          </a:p>
        </p:txBody>
      </p:sp>
      <p:sp>
        <p:nvSpPr>
          <p:cNvPr id="19" name="Shape 17"/>
          <p:cNvSpPr/>
          <p:nvPr/>
        </p:nvSpPr>
        <p:spPr>
          <a:xfrm>
            <a:off x="548640" y="4453128"/>
            <a:ext cx="384048" cy="384048"/>
          </a:xfrm>
          <a:prstGeom prst="ellipse">
            <a:avLst/>
          </a:prstGeom>
          <a:solidFill>
            <a:srgbClr val="1E2761"/>
          </a:solidFill>
          <a:ln/>
        </p:spPr>
      </p:sp>
      <p:sp>
        <p:nvSpPr>
          <p:cNvPr id="20" name="Text 18"/>
          <p:cNvSpPr txBox="1"/>
          <p:nvPr/>
        </p:nvSpPr>
        <p:spPr>
          <a:xfrm>
            <a:off x="548640" y="4453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1097280" y="4434840"/>
            <a:ext cx="6949440" cy="868680"/>
          </a:xfrm>
          <a:prstGeom prst="rect">
            <a:avLst/>
          </a:prstGeom>
          <a:noFill/>
          <a:ln/>
        </p:spPr>
        <p:txBody>
          <a:bodyPr wrap="square" lIns="0" tIns="0" rIns="0" bIns="0" rtlCol="0" anchor="t"/>
          <a:lstStyle/>
          <a:p>
            <a:pPr indent="0" marL="0">
              <a:buNone/>
            </a:pPr>
            <a:r>
              <a:rPr lang="en-US" sz="1700" dirty="0">
                <a:solidFill>
                  <a:srgbClr val="1E2761"/>
                </a:solidFill>
                <a:latin typeface="Calibri" pitchFamily="34" charset="0"/>
                <a:ea typeface="Calibri" pitchFamily="34" charset="-122"/>
                <a:cs typeface="Calibri" pitchFamily="34" charset="-120"/>
              </a:rPr>
              <a:t>Applaus – dann </a:t>
            </a:r>
            <a:pPr indent="0" marL="0">
              <a:buNone/>
            </a:pPr>
            <a:r>
              <a:rPr lang="en-US" sz="1700" b="1" dirty="0">
                <a:solidFill>
                  <a:srgbClr val="1E2761"/>
                </a:solidFill>
                <a:latin typeface="Calibri" pitchFamily="34" charset="0"/>
                <a:ea typeface="Calibri" pitchFamily="34" charset="-122"/>
                <a:cs typeface="Calibri" pitchFamily="34" charset="-120"/>
              </a:rPr>
              <a:t>30 Sekunden</a:t>
            </a:r>
            <a:pPr indent="0" marL="0">
              <a:buNone/>
            </a:pPr>
            <a:r>
              <a:rPr lang="en-US" sz="1700" dirty="0">
                <a:solidFill>
                  <a:srgbClr val="1E2761"/>
                </a:solidFill>
                <a:latin typeface="Calibri" pitchFamily="34" charset="0"/>
                <a:ea typeface="Calibri" pitchFamily="34" charset="-122"/>
                <a:cs typeface="Calibri" pitchFamily="34" charset="-120"/>
              </a:rPr>
              <a:t>, um die Zeile im Beobachtungsbogen auszufüllen.</a:t>
            </a:r>
            <a:endParaRPr lang="en-US" sz="1700" dirty="0"/>
          </a:p>
        </p:txBody>
      </p:sp>
      <p:sp>
        <p:nvSpPr>
          <p:cNvPr id="22" name="Shape 20"/>
          <p:cNvSpPr/>
          <p:nvPr/>
        </p:nvSpPr>
        <p:spPr>
          <a:xfrm>
            <a:off x="8503920" y="1783080"/>
            <a:ext cx="3154680" cy="2377440"/>
          </a:xfrm>
          <a:prstGeom prst="roundRect">
            <a:avLst>
              <a:gd name="adj" fmla="val 3077"/>
            </a:avLst>
          </a:prstGeom>
          <a:solidFill>
            <a:srgbClr val="1E2761"/>
          </a:solidFill>
          <a:ln/>
        </p:spPr>
      </p:sp>
      <p:sp>
        <p:nvSpPr>
          <p:cNvPr id="23" name="Text 21"/>
          <p:cNvSpPr txBox="1"/>
          <p:nvPr/>
        </p:nvSpPr>
        <p:spPr>
          <a:xfrm>
            <a:off x="8686800" y="1920240"/>
            <a:ext cx="278892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Patenszene ★</a:t>
            </a:r>
            <a:endParaRPr lang="en-US" sz="2000" dirty="0"/>
          </a:p>
        </p:txBody>
      </p:sp>
      <p:sp>
        <p:nvSpPr>
          <p:cNvPr id="24" name="Text 22"/>
          <p:cNvSpPr txBox="1"/>
          <p:nvPr/>
        </p:nvSpPr>
        <p:spPr>
          <a:xfrm>
            <a:off x="8686800" y="2423160"/>
            <a:ext cx="2788920" cy="1645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Die Gruppe, die nach euch spielt, beobachtet ihr besonders genau. Die letzte Gruppe beobachtet Gruppe 1.</a:t>
            </a:r>
            <a:endParaRPr lang="en-US" sz="1500" dirty="0"/>
          </a:p>
        </p:txBody>
      </p:sp>
      <p:sp>
        <p:nvSpPr>
          <p:cNvPr id="25" name="Shape 23"/>
          <p:cNvSpPr/>
          <p:nvPr/>
        </p:nvSpPr>
        <p:spPr>
          <a:xfrm>
            <a:off x="8503920" y="4389120"/>
            <a:ext cx="3154680" cy="1691640"/>
          </a:xfrm>
          <a:prstGeom prst="roundRect">
            <a:avLst>
              <a:gd name="adj" fmla="val 4324"/>
            </a:avLst>
          </a:prstGeom>
          <a:solidFill>
            <a:srgbClr val="EAF0FA"/>
          </a:solidFill>
          <a:ln/>
        </p:spPr>
      </p:sp>
      <p:sp>
        <p:nvSpPr>
          <p:cNvPr id="26" name="Text 24"/>
          <p:cNvSpPr txBox="1"/>
          <p:nvPr/>
        </p:nvSpPr>
        <p:spPr>
          <a:xfrm>
            <a:off x="8686800" y="4498848"/>
            <a:ext cx="2788920" cy="36576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Im Bogen notieren</a:t>
            </a:r>
            <a:endParaRPr lang="en-US" sz="1600" dirty="0"/>
          </a:p>
        </p:txBody>
      </p:sp>
      <p:sp>
        <p:nvSpPr>
          <p:cNvPr id="27" name="Text 25"/>
          <p:cNvSpPr txBox="1"/>
          <p:nvPr/>
        </p:nvSpPr>
        <p:spPr>
          <a:xfrm>
            <a:off x="8686800" y="4892040"/>
            <a:ext cx="2788920" cy="109728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Kipppunkt · Ursache · Strategie in B · Wirkt 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274320"/>
          </a:xfrm>
          <a:prstGeom prst="rect">
            <a:avLst/>
          </a:prstGeom>
          <a:noFill/>
          <a:ln/>
        </p:spPr>
        <p:txBody>
          <a:bodyPr wrap="square" lIns="0" tIns="0" rIns="0" bIns="0" rtlCol="0" anchor="t"/>
          <a:lstStyle/>
          <a:p>
            <a:pPr indent="0" marL="0">
              <a:buNone/>
            </a:pPr>
            <a:r>
              <a:rPr lang="en-US" sz="1200" spc="200" kern="0" dirty="0">
                <a:solidFill>
                  <a:srgbClr val="5B6B8C"/>
                </a:solidFill>
                <a:latin typeface="Calibri" pitchFamily="34" charset="0"/>
                <a:ea typeface="Calibri" pitchFamily="34" charset="-122"/>
                <a:cs typeface="Calibri" pitchFamily="34" charset="-120"/>
              </a:rPr>
              <a:t>AUSWERTUNG</a:t>
            </a:r>
            <a:endParaRPr lang="en-US" sz="1200" dirty="0"/>
          </a:p>
        </p:txBody>
      </p:sp>
      <p:sp>
        <p:nvSpPr>
          <p:cNvPr id="3" name="Text 1"/>
          <p:cNvSpPr txBox="1"/>
          <p:nvPr/>
        </p:nvSpPr>
        <p:spPr>
          <a:xfrm>
            <a:off x="548640" y="658368"/>
            <a:ext cx="9326880" cy="64008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Was haben wir gesehen?</a:t>
            </a:r>
            <a:endParaRPr lang="en-US" sz="3200" dirty="0"/>
          </a:p>
        </p:txBody>
      </p:sp>
      <p:sp>
        <p:nvSpPr>
          <p:cNvPr id="4" name="Text 2"/>
          <p:cNvSpPr txBox="1"/>
          <p:nvPr/>
        </p:nvSpPr>
        <p:spPr>
          <a:xfrm>
            <a:off x="548640" y="1298448"/>
            <a:ext cx="9326880" cy="320040"/>
          </a:xfrm>
          <a:prstGeom prst="rect">
            <a:avLst/>
          </a:prstGeom>
          <a:noFill/>
          <a:ln/>
        </p:spPr>
        <p:txBody>
          <a:bodyPr wrap="square" lIns="0" tIns="0" rIns="0" bIns="0" rtlCol="0" anchor="t"/>
          <a:lstStyle/>
          <a:p>
            <a:pPr indent="0" marL="0">
              <a:buNone/>
            </a:pPr>
            <a:r>
              <a:rPr lang="en-US" sz="1400" i="1" dirty="0">
                <a:solidFill>
                  <a:srgbClr val="5B6B8C"/>
                </a:solidFill>
                <a:latin typeface="Calibri" pitchFamily="34" charset="0"/>
                <a:ea typeface="Calibri" pitchFamily="34" charset="-122"/>
                <a:cs typeface="Calibri" pitchFamily="34" charset="-120"/>
              </a:rPr>
              <a:t>Beobachtungsbogen · eure Patenszene</a:t>
            </a:r>
            <a:endParaRPr lang="en-US" sz="1400" dirty="0"/>
          </a:p>
        </p:txBody>
      </p:sp>
      <p:sp>
        <p:nvSpPr>
          <p:cNvPr id="5" name="Text 3"/>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Kommunikationsstörungen lösen · Deutsch 11</a:t>
            </a:r>
            <a:endParaRPr lang="en-US" sz="1000" dirty="0"/>
          </a:p>
        </p:txBody>
      </p:sp>
      <p:sp>
        <p:nvSpPr>
          <p:cNvPr id="6" name="Text 4"/>
          <p:cNvSpPr txBox="1"/>
          <p:nvPr/>
        </p:nvSpPr>
        <p:spPr>
          <a:xfrm>
            <a:off x="11155680" y="6400800"/>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7" name="Shape 5"/>
          <p:cNvSpPr/>
          <p:nvPr/>
        </p:nvSpPr>
        <p:spPr>
          <a:xfrm>
            <a:off x="9966960" y="411480"/>
            <a:ext cx="1691640" cy="914400"/>
          </a:xfrm>
          <a:prstGeom prst="roundRect">
            <a:avLst>
              <a:gd name="adj" fmla="val 8000"/>
            </a:avLst>
          </a:prstGeom>
          <a:solidFill>
            <a:srgbClr val="1E2761"/>
          </a:solidFill>
          <a:ln/>
        </p:spPr>
      </p:sp>
      <p:sp>
        <p:nvSpPr>
          <p:cNvPr id="8" name="Text 6"/>
          <p:cNvSpPr txBox="1"/>
          <p:nvPr/>
        </p:nvSpPr>
        <p:spPr>
          <a:xfrm>
            <a:off x="9966960" y="457200"/>
            <a:ext cx="1691640"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13 Min.</a:t>
            </a:r>
            <a:endParaRPr lang="en-US" sz="2600" dirty="0"/>
          </a:p>
        </p:txBody>
      </p:sp>
      <p:sp>
        <p:nvSpPr>
          <p:cNvPr id="9" name="Text 7"/>
          <p:cNvSpPr txBox="1"/>
          <p:nvPr/>
        </p:nvSpPr>
        <p:spPr>
          <a:xfrm>
            <a:off x="9966960" y="932688"/>
            <a:ext cx="1691640" cy="320040"/>
          </a:xfrm>
          <a:prstGeom prst="rect">
            <a:avLst/>
          </a:prstGeom>
          <a:noFill/>
          <a:ln/>
        </p:spPr>
        <p:txBody>
          <a:bodyPr wrap="square" lIns="0" tIns="0" rIns="0" bIns="0"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still → Gruppe → Plenum</a:t>
            </a:r>
            <a:endParaRPr lang="en-US" sz="1200" dirty="0"/>
          </a:p>
        </p:txBody>
      </p:sp>
      <p:sp>
        <p:nvSpPr>
          <p:cNvPr id="10" name="Shape 8"/>
          <p:cNvSpPr/>
          <p:nvPr/>
        </p:nvSpPr>
        <p:spPr>
          <a:xfrm>
            <a:off x="548640" y="1783080"/>
            <a:ext cx="3566160" cy="3291840"/>
          </a:xfrm>
          <a:prstGeom prst="roundRect">
            <a:avLst>
              <a:gd name="adj" fmla="val 2222"/>
            </a:avLst>
          </a:prstGeom>
          <a:solidFill>
            <a:srgbClr val="F4F7FD"/>
          </a:solidFill>
          <a:ln/>
        </p:spPr>
      </p:sp>
      <p:sp>
        <p:nvSpPr>
          <p:cNvPr id="11" name="Text 9"/>
          <p:cNvSpPr txBox="1"/>
          <p:nvPr/>
        </p:nvSpPr>
        <p:spPr>
          <a:xfrm>
            <a:off x="777240" y="1920240"/>
            <a:ext cx="1097280" cy="640080"/>
          </a:xfrm>
          <a:prstGeom prst="rect">
            <a:avLst/>
          </a:prstGeom>
          <a:noFill/>
          <a:ln/>
        </p:spPr>
        <p:txBody>
          <a:bodyPr wrap="square" lIns="0" tIns="0" rIns="0" bIns="0" rtlCol="0" anchor="t"/>
          <a:lstStyle/>
          <a:p>
            <a:pPr indent="0" marL="0">
              <a:buNone/>
            </a:pPr>
            <a:r>
              <a:rPr lang="en-US" sz="3200" b="1" dirty="0">
                <a:solidFill>
                  <a:srgbClr val="D9534F"/>
                </a:solidFill>
                <a:latin typeface="Cambria" pitchFamily="34" charset="0"/>
                <a:ea typeface="Cambria" pitchFamily="34" charset="-122"/>
                <a:cs typeface="Cambria" pitchFamily="34" charset="-120"/>
              </a:rPr>
              <a:t>2'</a:t>
            </a:r>
            <a:endParaRPr lang="en-US" sz="3200" dirty="0"/>
          </a:p>
        </p:txBody>
      </p:sp>
      <p:sp>
        <p:nvSpPr>
          <p:cNvPr id="12" name="Text 10"/>
          <p:cNvSpPr txBox="1"/>
          <p:nvPr/>
        </p:nvSpPr>
        <p:spPr>
          <a:xfrm>
            <a:off x="777240" y="2606040"/>
            <a:ext cx="3108960" cy="457200"/>
          </a:xfrm>
          <a:prstGeom prst="rect">
            <a:avLst/>
          </a:prstGeom>
          <a:noFill/>
          <a:ln/>
        </p:spPr>
        <p:txBody>
          <a:bodyPr wrap="square" lIns="0" tIns="0" rIns="0" bIns="0" rtlCol="0" anchor="t"/>
          <a:lstStyle/>
          <a:p>
            <a:pPr indent="0" marL="0">
              <a:buNone/>
            </a:pPr>
            <a:r>
              <a:rPr lang="en-US" sz="2000" b="1" dirty="0">
                <a:solidFill>
                  <a:srgbClr val="1E2761"/>
                </a:solidFill>
                <a:latin typeface="Cambria" pitchFamily="34" charset="0"/>
                <a:ea typeface="Cambria" pitchFamily="34" charset="-122"/>
                <a:cs typeface="Cambria" pitchFamily="34" charset="-120"/>
              </a:rPr>
              <a:t>Still</a:t>
            </a:r>
            <a:endParaRPr lang="en-US" sz="2000" dirty="0"/>
          </a:p>
        </p:txBody>
      </p:sp>
      <p:sp>
        <p:nvSpPr>
          <p:cNvPr id="13" name="Text 11"/>
          <p:cNvSpPr txBox="1"/>
          <p:nvPr/>
        </p:nvSpPr>
        <p:spPr>
          <a:xfrm>
            <a:off x="777240" y="3154680"/>
            <a:ext cx="3108960" cy="182880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Ergänze deinen Beobachtungsbogen. Was ist dir bei deiner Patenszene aufgefallen?</a:t>
            </a:r>
            <a:endParaRPr lang="en-US" sz="1500" dirty="0"/>
          </a:p>
        </p:txBody>
      </p:sp>
      <p:sp>
        <p:nvSpPr>
          <p:cNvPr id="14" name="Shape 12"/>
          <p:cNvSpPr/>
          <p:nvPr/>
        </p:nvSpPr>
        <p:spPr>
          <a:xfrm>
            <a:off x="4297680" y="1783080"/>
            <a:ext cx="3566160" cy="3291840"/>
          </a:xfrm>
          <a:prstGeom prst="roundRect">
            <a:avLst>
              <a:gd name="adj" fmla="val 2222"/>
            </a:avLst>
          </a:prstGeom>
          <a:solidFill>
            <a:srgbClr val="F4F7FD"/>
          </a:solidFill>
          <a:ln/>
        </p:spPr>
      </p:sp>
      <p:sp>
        <p:nvSpPr>
          <p:cNvPr id="15" name="Text 13"/>
          <p:cNvSpPr txBox="1"/>
          <p:nvPr/>
        </p:nvSpPr>
        <p:spPr>
          <a:xfrm>
            <a:off x="4526280" y="1920240"/>
            <a:ext cx="1097280" cy="640080"/>
          </a:xfrm>
          <a:prstGeom prst="rect">
            <a:avLst/>
          </a:prstGeom>
          <a:noFill/>
          <a:ln/>
        </p:spPr>
        <p:txBody>
          <a:bodyPr wrap="square" lIns="0" tIns="0" rIns="0" bIns="0" rtlCol="0" anchor="t"/>
          <a:lstStyle/>
          <a:p>
            <a:pPr indent="0" marL="0">
              <a:buNone/>
            </a:pPr>
            <a:r>
              <a:rPr lang="en-US" sz="3200" b="1" dirty="0">
                <a:solidFill>
                  <a:srgbClr val="D9534F"/>
                </a:solidFill>
                <a:latin typeface="Cambria" pitchFamily="34" charset="0"/>
                <a:ea typeface="Cambria" pitchFamily="34" charset="-122"/>
                <a:cs typeface="Cambria" pitchFamily="34" charset="-120"/>
              </a:rPr>
              <a:t>4'</a:t>
            </a:r>
            <a:endParaRPr lang="en-US" sz="3200" dirty="0"/>
          </a:p>
        </p:txBody>
      </p:sp>
      <p:sp>
        <p:nvSpPr>
          <p:cNvPr id="16" name="Text 14"/>
          <p:cNvSpPr txBox="1"/>
          <p:nvPr/>
        </p:nvSpPr>
        <p:spPr>
          <a:xfrm>
            <a:off x="4526280" y="2606040"/>
            <a:ext cx="3108960" cy="457200"/>
          </a:xfrm>
          <a:prstGeom prst="rect">
            <a:avLst/>
          </a:prstGeom>
          <a:noFill/>
          <a:ln/>
        </p:spPr>
        <p:txBody>
          <a:bodyPr wrap="square" lIns="0" tIns="0" rIns="0" bIns="0" rtlCol="0" anchor="t"/>
          <a:lstStyle/>
          <a:p>
            <a:pPr indent="0" marL="0">
              <a:buNone/>
            </a:pPr>
            <a:r>
              <a:rPr lang="en-US" sz="2000" b="1" dirty="0">
                <a:solidFill>
                  <a:srgbClr val="1E2761"/>
                </a:solidFill>
                <a:latin typeface="Cambria" pitchFamily="34" charset="0"/>
                <a:ea typeface="Cambria" pitchFamily="34" charset="-122"/>
                <a:cs typeface="Cambria" pitchFamily="34" charset="-120"/>
              </a:rPr>
              <a:t>Tischgruppe</a:t>
            </a:r>
            <a:endParaRPr lang="en-US" sz="2000" dirty="0"/>
          </a:p>
        </p:txBody>
      </p:sp>
      <p:sp>
        <p:nvSpPr>
          <p:cNvPr id="17" name="Text 15"/>
          <p:cNvSpPr txBox="1"/>
          <p:nvPr/>
        </p:nvSpPr>
        <p:spPr>
          <a:xfrm>
            <a:off x="4526280" y="3154680"/>
            <a:ext cx="3108960" cy="182880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Einigt euch zu eurer Patenszene: Wo genau kippt es? Warum (Fachbegriff)? Welche Strategie hat in Version B am besten gewirkt?</a:t>
            </a:r>
            <a:endParaRPr lang="en-US" sz="1500" dirty="0"/>
          </a:p>
        </p:txBody>
      </p:sp>
      <p:sp>
        <p:nvSpPr>
          <p:cNvPr id="18" name="Shape 16"/>
          <p:cNvSpPr/>
          <p:nvPr/>
        </p:nvSpPr>
        <p:spPr>
          <a:xfrm>
            <a:off x="8046720" y="1783080"/>
            <a:ext cx="3566160" cy="3291840"/>
          </a:xfrm>
          <a:prstGeom prst="roundRect">
            <a:avLst>
              <a:gd name="adj" fmla="val 2222"/>
            </a:avLst>
          </a:prstGeom>
          <a:solidFill>
            <a:srgbClr val="EAF0FA"/>
          </a:solidFill>
          <a:ln/>
        </p:spPr>
      </p:sp>
      <p:sp>
        <p:nvSpPr>
          <p:cNvPr id="19" name="Text 17"/>
          <p:cNvSpPr txBox="1"/>
          <p:nvPr/>
        </p:nvSpPr>
        <p:spPr>
          <a:xfrm>
            <a:off x="8275320" y="1920240"/>
            <a:ext cx="1097280" cy="640080"/>
          </a:xfrm>
          <a:prstGeom prst="rect">
            <a:avLst/>
          </a:prstGeom>
          <a:noFill/>
          <a:ln/>
        </p:spPr>
        <p:txBody>
          <a:bodyPr wrap="square" lIns="0" tIns="0" rIns="0" bIns="0" rtlCol="0" anchor="t"/>
          <a:lstStyle/>
          <a:p>
            <a:pPr indent="0" marL="0">
              <a:buNone/>
            </a:pPr>
            <a:r>
              <a:rPr lang="en-US" sz="3200" b="1" dirty="0">
                <a:solidFill>
                  <a:srgbClr val="D9534F"/>
                </a:solidFill>
                <a:latin typeface="Cambria" pitchFamily="34" charset="0"/>
                <a:ea typeface="Cambria" pitchFamily="34" charset="-122"/>
                <a:cs typeface="Cambria" pitchFamily="34" charset="-120"/>
              </a:rPr>
              <a:t>7'</a:t>
            </a:r>
            <a:endParaRPr lang="en-US" sz="3200" dirty="0"/>
          </a:p>
        </p:txBody>
      </p:sp>
      <p:sp>
        <p:nvSpPr>
          <p:cNvPr id="20" name="Text 18"/>
          <p:cNvSpPr txBox="1"/>
          <p:nvPr/>
        </p:nvSpPr>
        <p:spPr>
          <a:xfrm>
            <a:off x="8275320" y="2606040"/>
            <a:ext cx="3108960" cy="457200"/>
          </a:xfrm>
          <a:prstGeom prst="rect">
            <a:avLst/>
          </a:prstGeom>
          <a:noFill/>
          <a:ln/>
        </p:spPr>
        <p:txBody>
          <a:bodyPr wrap="square" lIns="0" tIns="0" rIns="0" bIns="0" rtlCol="0" anchor="t"/>
          <a:lstStyle/>
          <a:p>
            <a:pPr indent="0" marL="0">
              <a:buNone/>
            </a:pPr>
            <a:r>
              <a:rPr lang="en-US" sz="2000" b="1" dirty="0">
                <a:solidFill>
                  <a:srgbClr val="1E2761"/>
                </a:solidFill>
                <a:latin typeface="Cambria" pitchFamily="34" charset="0"/>
                <a:ea typeface="Cambria" pitchFamily="34" charset="-122"/>
                <a:cs typeface="Cambria" pitchFamily="34" charset="-120"/>
              </a:rPr>
              <a:t>Plenum</a:t>
            </a:r>
            <a:endParaRPr lang="en-US" sz="2000" dirty="0"/>
          </a:p>
        </p:txBody>
      </p:sp>
      <p:sp>
        <p:nvSpPr>
          <p:cNvPr id="21" name="Text 19"/>
          <p:cNvSpPr txBox="1"/>
          <p:nvPr/>
        </p:nvSpPr>
        <p:spPr>
          <a:xfrm>
            <a:off x="8275320" y="3154680"/>
            <a:ext cx="3108960" cy="1828800"/>
          </a:xfrm>
          <a:prstGeom prst="rect">
            <a:avLst/>
          </a:prstGeom>
          <a:noFill/>
          <a:ln/>
        </p:spPr>
        <p:txBody>
          <a:bodyPr wrap="square" lIns="0" tIns="0" rIns="0" bIns="0" rtlCol="0" anchor="t"/>
          <a:lstStyle/>
          <a:p>
            <a:pPr indent="0" marL="0">
              <a:buNone/>
            </a:pPr>
            <a:r>
              <a:rPr lang="en-US" sz="1500" dirty="0">
                <a:solidFill>
                  <a:srgbClr val="1E2761"/>
                </a:solidFill>
                <a:latin typeface="Calibri" pitchFamily="34" charset="0"/>
                <a:ea typeface="Calibri" pitchFamily="34" charset="-122"/>
                <a:cs typeface="Calibri" pitchFamily="34" charset="-120"/>
              </a:rPr>
              <a:t>Jede Gruppe: 1 Minute Rückmeldung zu ihrer Patenszene. Die Spielgruppe darf mit einem Satz ergänzen.</a:t>
            </a:r>
            <a:endParaRPr lang="en-US" sz="1500" dirty="0"/>
          </a:p>
        </p:txBody>
      </p:sp>
      <p:sp>
        <p:nvSpPr>
          <p:cNvPr id="22" name="Shape 20"/>
          <p:cNvSpPr/>
          <p:nvPr/>
        </p:nvSpPr>
        <p:spPr>
          <a:xfrm>
            <a:off x="548640" y="5349240"/>
            <a:ext cx="11109960" cy="731520"/>
          </a:xfrm>
          <a:prstGeom prst="roundRect">
            <a:avLst>
              <a:gd name="adj" fmla="val 10000"/>
            </a:avLst>
          </a:prstGeom>
          <a:solidFill>
            <a:srgbClr val="1E2761"/>
          </a:solidFill>
          <a:ln/>
        </p:spPr>
      </p:sp>
      <p:sp>
        <p:nvSpPr>
          <p:cNvPr id="23" name="Text 21"/>
          <p:cNvSpPr txBox="1"/>
          <p:nvPr/>
        </p:nvSpPr>
        <p:spPr>
          <a:xfrm>
            <a:off x="822960" y="5349240"/>
            <a:ext cx="1060704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Sprechende Person im Plenum: die Regie-Person der Gruppe.   Die Moderation ruft auf.</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Shape 2"/>
          <p:cNvSpPr/>
          <p:nvPr/>
        </p:nvSpPr>
        <p:spPr>
          <a:xfrm>
            <a:off x="822960" y="1097280"/>
            <a:ext cx="2926080" cy="384048"/>
          </a:xfrm>
          <a:prstGeom prst="roundRect">
            <a:avLst>
              <a:gd name="adj" fmla="val 50000"/>
            </a:avLst>
          </a:prstGeom>
          <a:solidFill>
            <a:srgbClr val="D9534F"/>
          </a:solidFill>
          <a:ln/>
        </p:spPr>
      </p:sp>
      <p:sp>
        <p:nvSpPr>
          <p:cNvPr id="5" name="Text 3"/>
          <p:cNvSpPr txBox="1"/>
          <p:nvPr/>
        </p:nvSpPr>
        <p:spPr>
          <a:xfrm>
            <a:off x="822960" y="1097280"/>
            <a:ext cx="29260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EXIT-TICKET · 4 MIN.</a:t>
            </a:r>
            <a:endParaRPr lang="en-US" sz="1200" dirty="0"/>
          </a:p>
        </p:txBody>
      </p:sp>
      <p:sp>
        <p:nvSpPr>
          <p:cNvPr id="6" name="Text 4"/>
          <p:cNvSpPr txBox="1"/>
          <p:nvPr/>
        </p:nvSpPr>
        <p:spPr>
          <a:xfrm>
            <a:off x="822960" y="1645920"/>
            <a:ext cx="914400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Bevor du gehst …</a:t>
            </a:r>
            <a:endParaRPr lang="en-US" sz="3600" dirty="0"/>
          </a:p>
        </p:txBody>
      </p:sp>
      <p:sp>
        <p:nvSpPr>
          <p:cNvPr id="7" name="Shape 5"/>
          <p:cNvSpPr/>
          <p:nvPr/>
        </p:nvSpPr>
        <p:spPr>
          <a:xfrm>
            <a:off x="822960" y="2743200"/>
            <a:ext cx="502920" cy="502920"/>
          </a:xfrm>
          <a:prstGeom prst="ellipse">
            <a:avLst/>
          </a:prstGeom>
          <a:solidFill>
            <a:srgbClr val="D9534F"/>
          </a:solidFill>
          <a:ln/>
        </p:spPr>
      </p:sp>
      <p:sp>
        <p:nvSpPr>
          <p:cNvPr id="8" name="Text 6"/>
          <p:cNvSpPr txBox="1"/>
          <p:nvPr/>
        </p:nvSpPr>
        <p:spPr>
          <a:xfrm>
            <a:off x="822960" y="2743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9" name="Text 7"/>
          <p:cNvSpPr txBox="1"/>
          <p:nvPr/>
        </p:nvSpPr>
        <p:spPr>
          <a:xfrm>
            <a:off x="1554480" y="2761488"/>
            <a:ext cx="9144000" cy="457200"/>
          </a:xfrm>
          <a:prstGeom prst="rect">
            <a:avLst/>
          </a:prstGeom>
          <a:noFill/>
          <a:ln/>
        </p:spPr>
        <p:txBody>
          <a:bodyPr wrap="square" lIns="0" tIns="0" rIns="0" bIns="0" rtlCol="0" anchor="t"/>
          <a:lstStyle/>
          <a:p>
            <a:pPr indent="0" marL="0">
              <a:buNone/>
            </a:pPr>
            <a:r>
              <a:rPr lang="en-US" sz="2000" dirty="0">
                <a:solidFill>
                  <a:srgbClr val="CADCFC"/>
                </a:solidFill>
                <a:latin typeface="Calibri" pitchFamily="34" charset="0"/>
                <a:ea typeface="Calibri" pitchFamily="34" charset="-122"/>
                <a:cs typeface="Calibri" pitchFamily="34" charset="-120"/>
              </a:rPr>
              <a:t>Formuliere als Ich-Botschaft mit Bitte:</a:t>
            </a:r>
            <a:endParaRPr lang="en-US" sz="2000" dirty="0"/>
          </a:p>
        </p:txBody>
      </p:sp>
      <p:sp>
        <p:nvSpPr>
          <p:cNvPr id="10" name="Text 8"/>
          <p:cNvSpPr txBox="1"/>
          <p:nvPr/>
        </p:nvSpPr>
        <p:spPr>
          <a:xfrm>
            <a:off x="1554480" y="3246120"/>
            <a:ext cx="914400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„Nie hörst du mir zu!“</a:t>
            </a:r>
            <a:endParaRPr lang="en-US" sz="3200" dirty="0"/>
          </a:p>
        </p:txBody>
      </p:sp>
      <p:sp>
        <p:nvSpPr>
          <p:cNvPr id="11" name="Shape 9"/>
          <p:cNvSpPr/>
          <p:nvPr/>
        </p:nvSpPr>
        <p:spPr>
          <a:xfrm>
            <a:off x="822960" y="4343400"/>
            <a:ext cx="502920" cy="502920"/>
          </a:xfrm>
          <a:prstGeom prst="ellipse">
            <a:avLst/>
          </a:prstGeom>
          <a:solidFill>
            <a:srgbClr val="D9534F"/>
          </a:solidFill>
          <a:ln/>
        </p:spPr>
      </p:sp>
      <p:sp>
        <p:nvSpPr>
          <p:cNvPr id="12" name="Text 10"/>
          <p:cNvSpPr txBox="1"/>
          <p:nvPr/>
        </p:nvSpPr>
        <p:spPr>
          <a:xfrm>
            <a:off x="822960" y="43434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554480" y="4361688"/>
            <a:ext cx="9601200" cy="548640"/>
          </a:xfrm>
          <a:prstGeom prst="rect">
            <a:avLst/>
          </a:prstGeom>
          <a:noFill/>
          <a:ln/>
        </p:spPr>
        <p:txBody>
          <a:bodyPr wrap="square" lIns="0" tIns="0" rIns="0" bIns="0" rtlCol="0" anchor="t"/>
          <a:lstStyle/>
          <a:p>
            <a:pPr indent="0" marL="0">
              <a:buNone/>
            </a:pPr>
            <a:r>
              <a:rPr lang="en-US" sz="2000" dirty="0">
                <a:solidFill>
                  <a:srgbClr val="CADCFC"/>
                </a:solidFill>
                <a:latin typeface="Calibri" pitchFamily="34" charset="0"/>
                <a:ea typeface="Calibri" pitchFamily="34" charset="-122"/>
                <a:cs typeface="Calibri" pitchFamily="34" charset="-120"/>
              </a:rPr>
              <a:t>Woran erkennst du, dass ein Gespräch gerade kippt? Nenne zwei Signale.</a:t>
            </a:r>
            <a:endParaRPr lang="en-US" sz="2000" dirty="0"/>
          </a:p>
        </p:txBody>
      </p:sp>
      <p:sp>
        <p:nvSpPr>
          <p:cNvPr id="14" name="Text 12"/>
          <p:cNvSpPr txBox="1"/>
          <p:nvPr/>
        </p:nvSpPr>
        <p:spPr>
          <a:xfrm>
            <a:off x="822960" y="5852160"/>
            <a:ext cx="5486400" cy="365760"/>
          </a:xfrm>
          <a:prstGeom prst="rect">
            <a:avLst/>
          </a:prstGeom>
          <a:noFill/>
          <a:ln/>
        </p:spPr>
        <p:txBody>
          <a:bodyPr wrap="square" lIns="0" tIns="0" rIns="0" bIns="0" rtlCol="0" anchor="t"/>
          <a:lstStyle/>
          <a:p>
            <a:pPr indent="0" marL="0">
              <a:buNone/>
            </a:pPr>
            <a:r>
              <a:rPr lang="en-US" sz="1600" i="1" dirty="0">
                <a:solidFill>
                  <a:srgbClr val="CADCFC"/>
                </a:solidFill>
                <a:latin typeface="Calibri" pitchFamily="34" charset="0"/>
                <a:ea typeface="Calibri" pitchFamily="34" charset="-122"/>
                <a:cs typeface="Calibri" pitchFamily="34" charset="-120"/>
              </a:rPr>
              <a:t>Ticket liegt im Gruppenumschlag · Abgabe an der Tür.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Kommunikationsstörungen lösen</dc:title>
  <dc:subject>PptxGenJS Presentation</dc:subject>
  <dc:creator>PptxGenJS</dc:creator>
  <cp:lastModifiedBy>PptxGenJS</cp:lastModifiedBy>
  <cp:revision>1</cp:revision>
  <dcterms:created xsi:type="dcterms:W3CDTF">2026-09-25T18:42:55Z</dcterms:created>
  <dcterms:modified xsi:type="dcterms:W3CDTF">2026-09-25T18:42:55Z</dcterms:modified>
</cp:coreProperties>
</file>