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Folie läuft beim Ankommen. Die Klasse sitzt normal in den drei Reihen. Alles liegt bereits: Arbeitsblatt auf jedem Platz, je ein geschlossener Umschlag auf dem ersten Tisch jeder Reihe (4 Rollenkarten, 7 Exit-Tickets) – geöffnet wird er erst in Minute 43. Aufs Pult: Tippkarten. Bei Ihnen: Notfall-Ideen und Moderationskarten. Einziger Satz: „Heute steht alles auf den Folien – schaut einfach dorthin.“ Dann Folie 2 und Timer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Nicht erklären, nur Timer starten. Nach 3 Minuten ein Handzeichen oder Gong, dann 2 Minuten Partnervergleich. Es gibt hier keine Plenumsrunde – direkt weiter mit Folie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Während der Partnerarbeit herumgehen und zuhören: Welche Paare finden Zeile 3? Danach 5 Minuten Unterrichtsgespräch: „In welcher Zeile kippt es zum ersten Mal – und warum?“ Wer geantwortet hat, nimmt die nächste Person dran. Zum Schluss Folie 4 als Sicherung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nach dem Unterrichtsgespräch zeigen. ★ Zeile 3 ist der Kipppunkt, an dem man am leichtesten hätte eingreifen können. Überleitung: Genau diese Zeilen 3, 4, 5 und 7 formulieren wir gleich um – Technik für Technik.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kurz zeigen (30 Sekunden), damit der Takt klar ist. Dann direkt zu Technik A. Pro Technik ca. 5,5 Minuten: 1,5' Kontrastpaar besprechen, 2' allein umformulieren, 1,5' Daumenprobe.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diese eine Frage stellen, dann Meldungen sammeln (Drannehmekette). Erwartete Merkmale: Ich statt Du · beschreibt nur, was passiert (keine Bewertung, kein „immer“) · nennt das eigene Gefühl (ärgere mich) · nennt den Grund. Dann die nächste Folie mit der Formel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einblenden, alle ergänzen die Lücke auf dem Arbeitsblatt (ca. 30 Sekunden). Dann sofort zur nächsten Folie: M1 umschreiben.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Jetzt schreibt jede und jeder allein den Originaldialog um: Zeile 3 aus M1. Timer 2 Minuten. Herumgehen und mitlesen, eine gelungene Lösung vormerken. Dann diese Person vorlesen lassen, Klasse zeigt Daumen hoch/runter. Bei „runter“: „Was fehlt noch?“ – die Klasse verbessert gemeinsam. Mögliche Lösung: Lehrermaterial S. 4. Danach weiter mit Technik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diese eine Frage stellen, dann Meldungen sammeln (Drannehmekette). Erwartete Merkmale: spricht das Gefühl des anderen an (genervt) · zeigt, dass der Grund verstanden wurde · fragt nach („oder?“) · wertet nicht ab, rechtfertigt sich nicht. Dann die nächste Folie mit der Formel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einblenden, alle ergänzen die Lücke auf dem Arbeitsblatt (ca. 30 Sekunden). Dann sofort zur nächsten Folie: M1 umschreiben.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Jetzt schreibt jede und jeder allein den Originaldialog um: Zeile 4 aus M1. Timer 2 Minuten. Herumgehen und mitlesen, eine gelungene Lösung vormerken. Dann diese Person vorlesen lassen, Klasse zeigt Daumen hoch/runter. Bei „runter“: „Was fehlt noch?“ – die Klasse verbessert gemeinsam. Mögliche Lösung: Lehrermaterial S. 4. Danach weiter mit Technik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diese eine Frage stellen, dann Meldungen sammeln (Drannehmekette). Erwartete Merkmale: statt Vorwurf („nie“) ein Bedürfnis („mir ist wichtig“) · konkrete, erfüllbare Bitte mit Uhrzeit · als Frage formuliert. Dann die nächste Folie mit der Formel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einblenden, alle ergänzen die Lücke auf dem Arbeitsblatt (ca. 30 Sekunden). Dann sofort zur nächsten Folie: M1 umschreiben.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Jetzt schreibt jede und jeder allein den Originaldialog um: Zeile 5 aus M1. Timer 2 Minuten. Herumgehen und mitlesen, eine gelungene Lösung vormerken. Dann diese Person vorlesen lassen, Klasse zeigt Daumen hoch/runter. Bei „runter“: „Was fehlt noch?“ – die Klasse verbessert gemeinsam. Mögliche Lösung: Lehrermaterial S. 4. Danach weiter mit Technik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diese eine Frage stellen, dann Meldungen sammeln (Drannehmekette). Erwartete Merkmale: keine Ironie mehr · benennt, was im Gespräch passiert (wir zicken uns an) · erinnert an das gemeinsame Ziel · schlägt einen Neustart vor. Dann die nächste Folie mit der Formel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einblenden, alle ergänzen die Lücke auf dem Arbeitsblatt (ca. 30 Sekunden). Dann sofort zur nächsten Folie: M1 umschreiben.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Jetzt schreibt jede und jeder allein den Originaldialog um: Zeile 7 aus M1. Timer 2 Minuten. Herumgehen und mitlesen, eine gelungene Lösung vormerken. Dann diese Person vorlesen lassen, Klasse zeigt Daumen hoch/runter. Bei „runter“: „Was fehlt noch?“ – die Klasse verbessert gemeinsam. Mögliche Lösung: Lehrermaterial S. 4. Danach Folie 18: Werkzeugkasten.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 Zusammenfassung (ca. 2 Minuten): Alle vier Techniken auf einen Blick, die Beispiele sind mögliche Lösungen für M1. Die Klasse vergleicht mit ihren eigenen Lösungen. Folie 19 (ganzer Dialog) nur, wenn Zeit bleibt.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Optional, wenn Zeit bleibt: Hier sieht man, wie die Techniken im ganzen Gespräch zusammenspielen. Als eine mögliche Lösung zeigen, nicht als die richtige.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3 Minuten Umsetzen: Wand-, Mittel- und Fensterreihe rücken zu je einer Gruppe zusammen, öffnen den Umschlag und verteilen die Rollen. Dann Timer 16 Minuten. Nach 5 Minuten eine Runde: Hat jede Gruppe eine eigene Situation? Notfall-Ideen nur ausgeben, wenn Tippkarte 1 nicht geholfen hat. Besetzung A (2–4), Besetzung B (2–4), Rest Regie. Um ca. Minute 57 eine Person als Moderation gewinnen und ihr die Moderationskarte geben.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Sie sitzen im Publikum und notieren gelungene Formulierungen. Die Moderation leitet mit der Moderationskarte. Pro Gruppe ca. 4 Minuten (2 × höchstens 2 Min. + Notizzeit). Achten Sie darauf, dass die Versionen kurz bleiben.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Moderation führt durch die drei Schritte; Schritt 3 können Sie auch selbst moderieren. Nur zum Schluss (höchstens 1 Minute): zwei gelungene Formulierungen aus Ihren Notizen vorlesen. Wenn eine Gruppe den Kipppunkt anders sieht als die Spielgruppe, ist das ein produktiver Moment – kurz beide Sichtweisen stehen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Einzelarbeit, 6 Minuten, ohne Hilfe – das Format entspricht der späteren Testaufgabe. An der Tür einsammeln. Erwartungshorizont und Bewertungskriterien: Lehrermaterial S. 4. Die Auswertung zeigt, welche Technik in der nächsten Stunde noch einmal geübt werden muss.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DOPPELSTUNDE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Kommunikationsstörungen lösen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kippt ein Gespräch – und wie rettet man es?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5468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Empathie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Wunsch &amp; Bitte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1812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8E5BB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Metakommunikation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Deutsch, Klasse 11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IMPULS · EINZELARBEIT → PARTNERARBEIT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 welcher Zeile geht es schief?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auf deinem Arbeitsblatt · erst allein, dann mit deinem Sitznachbarn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 → zu zweit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1783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17830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178308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Hey, hast du die Folien fertig? Wir sind morgen dran.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212848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1284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21284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221284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Fast. Den Rest mach ich heute Abend.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642616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264261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64261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783080" y="26426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Heute Abend? Du hattest eine ganze Woche Zeit.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072384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07238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07238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783080" y="307238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hatte halt dreimal Training. Nicht jeder hat so viel Freizeit wie du.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502152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" y="350215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350215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783080" y="350215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Freizeit? Ich hab die komplette Gliederung gemacht! Immer bleibt alles an mir hängen.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39319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51560" y="3931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783080" y="393192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Dann mach’s doch allein, wenn du eh alles besser kannst.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4361688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43616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051560" y="436168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83080" y="436168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(verdreht die Augen) Super. Genau das hab ich von dir erwartet.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" y="4791456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479145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1051560" y="479145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783080" y="479145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(zuckt mit den Schultern, schaut aufs Handy) Wie du meinst.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5221224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522122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1560" y="522122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783080" y="522122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Ja, schau ruhig aufs Handy. Ist ja auch wichtiger.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48640" y="5650992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0080" y="56509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1051560" y="565099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1783080" y="56509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(steht auf und geht) Boah, du nervst echt.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9052560" y="1783080"/>
            <a:ext cx="2606040" cy="4206240"/>
          </a:xfrm>
          <a:prstGeom prst="roundRect">
            <a:avLst>
              <a:gd name="adj" fmla="val 2807"/>
            </a:avLst>
          </a:prstGeom>
          <a:solidFill>
            <a:srgbClr val="D9534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052560" y="19202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↯</a:t>
            </a:r>
            <a:endParaRPr lang="en-US" sz="4800" dirty="0"/>
          </a:p>
        </p:txBody>
      </p:sp>
      <p:sp>
        <p:nvSpPr>
          <p:cNvPr id="52" name="Text 50"/>
          <p:cNvSpPr txBox="1"/>
          <p:nvPr/>
        </p:nvSpPr>
        <p:spPr>
          <a:xfrm>
            <a:off x="9235440" y="2834640"/>
            <a:ext cx="2240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Markiere jede Stelle, an der das Gespräch kippt.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Min. still.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2 Min. vergleichen: Wo seid ihr euch uneinig?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 · PARTNERARBEIT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Kipppunkte benennen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zweit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8288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Tragt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drei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Kipppunkte in die Tabelle ein: Zeile, Zitat, Fachbegriff.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69748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Markiert mit ★ den Kipppunkt, an dem man das Gespräch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leichtesten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hätte retten können.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6616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 vergleichen wir im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Unterrichtsgespräch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Ergänzt in einer anderen Farbe.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589520" y="1783080"/>
            <a:ext cx="4069080" cy="2834640"/>
          </a:xfrm>
          <a:prstGeom prst="roundRect">
            <a:avLst>
              <a:gd name="adj" fmla="val 2581"/>
            </a:avLst>
          </a:prstGeom>
          <a:solidFill>
            <a:srgbClr val="EAF0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181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Werkzeuge aus den Modellen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237744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Sach- / Beziehungsebene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Selbstkundgabe · Appell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Du-Botschaft · „immer“ / „nie“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Ironie = inkongruente Botschaft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symmetrische Eskalation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Interpunktion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FFF8E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047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Nicht weitergekommen?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Tippkarte 1 vom Pult   →   2. Tippkarte 2   →   3. erst dann die Lehrkraft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UNTERRICHTSGESPRÄCH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Hier kippt das Gespräch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besprechen, dann diese Folie zeigen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1783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★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17830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hattest eine ganze Woche Zeit.“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1783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Du-Botschaft statt Selbstkundgabe · Tom hört mit dem Beziehungsohr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60604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606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26060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„Nicht jeder hat so viel Freizeit wie du.“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26060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Gegenangriff · symmetrische Eskalation beginnt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4290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737360" y="34290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„Immer bleibt alles an mir hängen.“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34290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Verallgemeinerung · Interpunktion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25196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4251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737360" y="4251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„Super. Genau das hab ich von dir erwartet.“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0" y="42519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Ironie = inkongruente Botschaft · Abwertung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48640" y="507492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5074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8–9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1737360" y="50749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Tom schaut aufs Handy – „Ist ja auch wichtiger.“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675120" y="50749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 kann nicht nicht kommunizieren · Rückzug wird als Desinteresse gedeutet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 · VIER WERKZEUGE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Technik für Technik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3–4 · immer im gleichen Takt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 + allein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4F7FD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19842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Ansehen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198424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1,5'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6517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gemeinsam: Was macht den zweiten Satz besser? Formel in die Lücke.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297680" y="178308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4F7FD"/>
          </a:solidFill>
          <a:ln/>
        </p:spPr>
      </p:sp>
      <p:sp>
        <p:nvSpPr>
          <p:cNvPr id="17" name="Shape 15"/>
          <p:cNvSpPr/>
          <p:nvPr/>
        </p:nvSpPr>
        <p:spPr>
          <a:xfrm>
            <a:off x="452628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19842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Umformulieren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198424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2'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26280" y="26517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allein: den Kipppunkt aus M1 umschreiben.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046720" y="178308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4F7FD"/>
          </a:solidFill>
          <a:ln/>
        </p:spPr>
      </p:sp>
      <p:sp>
        <p:nvSpPr>
          <p:cNvPr id="23" name="Shape 21"/>
          <p:cNvSpPr/>
          <p:nvPr/>
        </p:nvSpPr>
        <p:spPr>
          <a:xfrm>
            <a:off x="827532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7532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869680" y="19842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Prüfen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0789920" y="198424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1,5'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6517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Person liest vor – Daumenprobe mit der Checkliste.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" y="40233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3F7C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4206240"/>
            <a:ext cx="457200" cy="457200"/>
          </a:xfrm>
          <a:prstGeom prst="ellipse">
            <a:avLst/>
          </a:prstGeom>
          <a:solidFill>
            <a:srgbClr val="3F7CC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234440" y="413308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Ich-Botschaft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280160" y="4526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Zeile 3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3364992" y="40233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2E9E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47872" y="4206240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547872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4050792" y="413308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Empathie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4096512" y="4526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Zeile 4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181344" y="40233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E8A33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64224" y="420624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364224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6867144" y="413308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Wunsch &amp; Bitte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912864" y="4526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Zeile 5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997696" y="40233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8E5B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180576" y="4206240"/>
            <a:ext cx="457200" cy="457200"/>
          </a:xfrm>
          <a:prstGeom prst="ellipse">
            <a:avLst/>
          </a:prstGeom>
          <a:solidFill>
            <a:srgbClr val="8E5BB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180576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9683496" y="413308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E5B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Metakommunikation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729216" y="4526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Zeile 7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548640" y="5486400"/>
            <a:ext cx="11109960" cy="594360"/>
          </a:xfrm>
          <a:prstGeom prst="roundRect">
            <a:avLst>
              <a:gd name="adj" fmla="val 12308"/>
            </a:avLst>
          </a:prstGeom>
          <a:solidFill>
            <a:srgbClr val="1E276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22960" y="54864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wenn eine Technik geprüft ist, kommt die nächste.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A · 1 ANSEHEN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Ich-Botschaft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 aus der WG-Küche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874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194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lässt immer alles stehen!“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EAF0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246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7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besser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5661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„Wenn ich abends in die Küche komme und die Spüle voll ist, ärgere ich mich, weil ich dann erst aufräumen muss.“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3F7C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377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macht den zweiten Satz besser?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A · 1 ANSEHEN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Ich-Botschaft: die Formel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Ergänze die Formel auf dem Arbeitsblatt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3F7C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7830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Wenn … , fühle ich mich … , weil … .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Daran erkennt man die Technik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03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statt Du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97680" y="37033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3703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 ohne Bewertung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46720" y="37033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0" y="3703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Gefühl + Grund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11109960" cy="1280160"/>
          </a:xfrm>
          <a:prstGeom prst="roundRect">
            <a:avLst>
              <a:gd name="adj" fmla="val 5714"/>
            </a:avLst>
          </a:prstGeom>
          <a:solidFill>
            <a:srgbClr val="EAF0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75488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Gleich wendest du sie an: Du schreibst Zeile 3 aus M1 um.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A · 2 M1 UMSCHREIBEN · 3 PRÜFEN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✍  Jetzt du: M1, Zeile 3 umschreiben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 · Arbeitsblatt S. 3, Feld A 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· so war 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103120"/>
            <a:ext cx="11109960" cy="4572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Fast. Den Rest mach ich heute Abend.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2651760"/>
            <a:ext cx="11109960" cy="685800"/>
          </a:xfrm>
          <a:prstGeom prst="roundRect">
            <a:avLst>
              <a:gd name="adj" fmla="val 5333"/>
            </a:avLst>
          </a:prstGeom>
          <a:solidFill>
            <a:srgbClr val="FBECEB"/>
          </a:solidFill>
          <a:ln w="25400">
            <a:solidFill>
              <a:srgbClr val="D953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517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26517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26517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Heute Abend? Du hattest eine ganze Woche Zeit.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1018520" y="26517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↯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7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soll es werden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1110996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3F7C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840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7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 sagt stattdessen …   ✍  (Ich-Botschaft: Wenn … , fühle ich mich … , weil … .)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800600"/>
            <a:ext cx="11109960" cy="1280160"/>
          </a:xfrm>
          <a:prstGeom prst="roundRect">
            <a:avLst>
              <a:gd name="adj" fmla="val 5714"/>
            </a:avLst>
          </a:prstGeom>
          <a:solidFill>
            <a:srgbClr val="F4F7F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8646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F7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Prüfen · Daumenprobe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230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kein Satz beginnt mit „Du …“        ☐ Gefühl + Grund genannt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6418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Person liest vor – Daumen hoch, wenn beide Punkte erfüllt sind.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B · 1 ANSEHEN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 aus der WG-Küche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874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194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„Chill mal, ist doch nur Geschirr.“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EAF0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246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besser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5661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bist genervt, weil du nach der Arbeit einfach kochen willst, oder? Das verstehe ich.“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2E9E6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377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macht den zweiten Satz besser?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B · 1 ANSEHEN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Empathie: die Formel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Ergänze die Formel auf dem Arbeitsblatt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2E9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7830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meinst also … ?  ·  Das klingt, als ob du … bist.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Daran erkennt man die Technik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03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Gefühl des anderen benannt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97680" y="37033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3703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verstehen, dann antworten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46720" y="37033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0" y="3703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Gegenangriff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11109960" cy="1280160"/>
          </a:xfrm>
          <a:prstGeom prst="roundRect">
            <a:avLst>
              <a:gd name="adj" fmla="val 5714"/>
            </a:avLst>
          </a:prstGeom>
          <a:solidFill>
            <a:srgbClr val="EAF0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75488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Gleich wendest du sie an: Du schreibst Zeile 4 aus M1 um.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B · 2 M1 UMSCHREIBEN · 3 PRÜFEN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✍  Jetzt du: M1, Zeile 4 umschreiben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 · Arbeitsblatt S. 3, Feld B 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· so war 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103120"/>
            <a:ext cx="11109960" cy="4572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Heute Abend? Du hattest eine ganze Woche Zeit.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2651760"/>
            <a:ext cx="11109960" cy="685800"/>
          </a:xfrm>
          <a:prstGeom prst="roundRect">
            <a:avLst>
              <a:gd name="adj" fmla="val 5333"/>
            </a:avLst>
          </a:prstGeom>
          <a:solidFill>
            <a:srgbClr val="FBECEB"/>
          </a:solidFill>
          <a:ln w="25400">
            <a:solidFill>
              <a:srgbClr val="D953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517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26517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26517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hatte halt dreimal Training. Nicht jeder hat so viel Freizeit wie du.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1018520" y="26517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↯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soll es werden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1110996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2E9E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840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sagt stattdessen …   ✍  (Empathie: Du meinst also … ?  ·  Das klingt, als ob du … bist.)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800600"/>
            <a:ext cx="11109960" cy="1280160"/>
          </a:xfrm>
          <a:prstGeom prst="roundRect">
            <a:avLst>
              <a:gd name="adj" fmla="val 5714"/>
            </a:avLst>
          </a:prstGeom>
          <a:solidFill>
            <a:srgbClr val="F4F7F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8646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Prüfen · Daumenprobe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230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Lenas Gefühl benannt        ☐ kein Gegenangriff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6418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Person liest vor – Daumen hoch, wenn beide Punkte erfüllt sind.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C · 1 ANSEHEN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Wunsch &amp; Bitte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 aus der WG-Küche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874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194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„Nie machst du was im Haushalt!“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EAF0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246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besser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5661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„Mir ist wichtig, dass die Küche abends frei ist. Kannst du dein Geschirr bis 18 Uhr spülen?“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E8A3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377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macht den zweiten Satz besser?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C · 1 ANSEHEN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Wunsch &amp; Bitte: die Formel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Ergänze die Formel auf dem Arbeitsblatt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7830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Beobachtung → Gefühl → Bedürfnis → Bitte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Daran erkennt man die Technik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03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sagt, was wichtig ist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97680" y="37033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3703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konkret: wer, was, bis wann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46720" y="37033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0" y="3703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Frage – Nein ist erlaubt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11109960" cy="1280160"/>
          </a:xfrm>
          <a:prstGeom prst="roundRect">
            <a:avLst>
              <a:gd name="adj" fmla="val 5714"/>
            </a:avLst>
          </a:prstGeom>
          <a:solidFill>
            <a:srgbClr val="EAF0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75488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Gleich wendest du sie an: Du schreibst Zeile 5 aus M1 um.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C · 2 M1 UMSCHREIBEN · 3 PRÜFEN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✍  Jetzt du: M1, Zeile 5 umschreiben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 · Arbeitsblatt S. 4, Feld C 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· so war 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103120"/>
            <a:ext cx="11109960" cy="4572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hatte halt dreimal Training. Nicht jeder hat so viel Freizeit wie du.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2651760"/>
            <a:ext cx="11109960" cy="685800"/>
          </a:xfrm>
          <a:prstGeom prst="roundRect">
            <a:avLst>
              <a:gd name="adj" fmla="val 5333"/>
            </a:avLst>
          </a:prstGeom>
          <a:solidFill>
            <a:srgbClr val="FBECEB"/>
          </a:solidFill>
          <a:ln w="25400">
            <a:solidFill>
              <a:srgbClr val="D953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517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26517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26517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Freizeit? Ich hab die komplette Gliederung gemacht! Immer bleibt alles an mir hängen.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1018520" y="26517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↯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soll es werden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1110996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E8A3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840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 sagt stattdessen …   ✍  (Wunsch &amp; Bitte: Beobachtung → Gefühl → Bedürfnis → Bitte)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800600"/>
            <a:ext cx="11109960" cy="1280160"/>
          </a:xfrm>
          <a:prstGeom prst="roundRect">
            <a:avLst>
              <a:gd name="adj" fmla="val 5714"/>
            </a:avLst>
          </a:prstGeom>
          <a:solidFill>
            <a:srgbClr val="F4F7F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8646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Prüfen · Daumenprobe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230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kein „immer“ / „nie“        ☐ Bitte mit wer, was, bis wann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6418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Person liest vor – Daumen hoch, wenn beide Punkte erfüllt sind.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D · 1 ANSEHEN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Metakommunikation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 aus der WG-Küche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874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194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„Toll. Wirklich super. Danke auch.“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EAF0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246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E5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besser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5661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„Stopp, wir zicken uns gerade nur an. Eigentlich wollen wir doch beide, dass es in der WG entspannt ist – lass uns einen Plan machen.“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8E5BB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377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macht den zweiten Satz besser?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D · 1 ANSEHEN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Metakommunikation: die Formel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Ergänze die Formel auf dem Arbeitsblatt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8E5BB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7830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Stopp – ich merke, wir … . Eigentlich wollen wir beide … .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Daran erkennt man die Technik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03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spricht über das Gespräch selbst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97680" y="37033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3703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gemeinsames Ziel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46720" y="370332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0" y="37033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Neustart statt Vorwurf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11109960" cy="1280160"/>
          </a:xfrm>
          <a:prstGeom prst="roundRect">
            <a:avLst>
              <a:gd name="adj" fmla="val 5714"/>
            </a:avLst>
          </a:prstGeom>
          <a:solidFill>
            <a:srgbClr val="EAF0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75488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Gleich wendest du sie an: Du schreibst Zeile 7 aus M1 um.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D · 2 M1 UMSCHREIBEN · 3 PRÜFEN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✍  Jetzt du: M1, Zeile 7 umschreiben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 · Arbeitsblatt S. 4, Feld D 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· so war 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103120"/>
            <a:ext cx="11109960" cy="4572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Dann mach’s doch allein, wenn du eh alles besser kannst.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2651760"/>
            <a:ext cx="11109960" cy="685800"/>
          </a:xfrm>
          <a:prstGeom prst="roundRect">
            <a:avLst>
              <a:gd name="adj" fmla="val 5333"/>
            </a:avLst>
          </a:prstGeom>
          <a:solidFill>
            <a:srgbClr val="FBECEB"/>
          </a:solidFill>
          <a:ln w="25400">
            <a:solidFill>
              <a:srgbClr val="D953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517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26517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26517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Super. Genau das hab ich von dir erwartet.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1018520" y="26517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↯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E5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soll es werden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1110996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8E5BB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840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E5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 sagt stattdessen …   ✍  (Metakommunikation: Stopp – ich merke, wir … . Eigentlich wollen wir beide … .)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800600"/>
            <a:ext cx="11109960" cy="1280160"/>
          </a:xfrm>
          <a:prstGeom prst="roundRect">
            <a:avLst>
              <a:gd name="adj" fmla="val 5714"/>
            </a:avLst>
          </a:prstGeom>
          <a:solidFill>
            <a:srgbClr val="F4F7F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8646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E5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Prüfen · Daumenprobe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230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benennt, was im Gespräch passiert        ☐ gemeinsames Ziel genannt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6418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Person liest vor – Daumen hoch, wenn beide Punkte erfüllt sind.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ZUSAMMENFASSUNG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Werkzeugkasten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Vergleicht mit euren Formeln und Lösungen auf S. 3–4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3F7C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Ich-Botschaft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… fühle ich mich …, weil …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„Ich werde nervös, weil wir morgen schon dran sind.“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364992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17" name="Shape 15"/>
          <p:cNvSpPr/>
          <p:nvPr/>
        </p:nvSpPr>
        <p:spPr>
          <a:xfrm>
            <a:off x="3593592" y="1965960"/>
            <a:ext cx="640080" cy="6400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93592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3547872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593592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meinst also … ? · Das klingt, als ob du … bist.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593592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bist gestresst, weil alles klappen soll, oder?“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81344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9944" y="196596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9944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6364224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Wunsch &amp; Bitte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09944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 → Gefühl → Bedürfnis → Bitte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09944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„Kannst du mir die Folien bis 19 Uhr schicken?“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997696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29" name="Shape 27"/>
          <p:cNvSpPr/>
          <p:nvPr/>
        </p:nvSpPr>
        <p:spPr>
          <a:xfrm>
            <a:off x="9226296" y="1965960"/>
            <a:ext cx="640080" cy="640080"/>
          </a:xfrm>
          <a:prstGeom prst="ellipse">
            <a:avLst/>
          </a:prstGeom>
          <a:solidFill>
            <a:srgbClr val="8E5BB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2629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9180576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E5B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Metakommunikation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226296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 – wie reden wir gerade miteinander?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226296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„Wir werfen uns nur noch Sachen an den Kopf.“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5669280"/>
            <a:ext cx="11109960" cy="502920"/>
          </a:xfrm>
          <a:prstGeom prst="roundRect">
            <a:avLst>
              <a:gd name="adj" fmla="val 14545"/>
            </a:avLst>
          </a:prstGeom>
          <a:solidFill>
            <a:srgbClr val="FBECE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6692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Tabu: Du-Vorwürfe · „immer“ und „nie“ · Ironie · Gegenangriff · „Ja, aber …“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UNTERRICHTSGESPRÄCH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hätte es laufen können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mögliche Version B – eure darf ganz anders klingen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68580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68580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17830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1783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Heute Abend? Ehrlich gesagt macht mich das nervös, weil wir morgen schon dran sind.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464040" y="195681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464040" y="195681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0604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26060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2606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Verstehe ich. Du willst sicher sein, dass alles passt, oder? Ich hab’s unterschätzt.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464040" y="277977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464040" y="277977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Empathie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342900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34290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hab schon die Gliederung gemacht und fühl mich gerade ein bisschen allein damit.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464040" y="360273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464040" y="36027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25196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42519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600200" y="42519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Kannst du mir die Folien bis 19 Uhr schicken? Dann proben wir morgen früh einmal.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464040" y="442569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464040" y="44256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Bitte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07492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50749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50749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Uhr schaffe ich. Und nächstes Mal sagen wir uns früher Bescheid, wenn’s eng wird?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464040" y="524865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8E5BB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464040" y="524865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Metakomm.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 · REIHEN-GRUPPE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Eure eigene Szene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5 · Zuerst: als Reihe zusammenrücken, Umschlag öffnen, Rollen verteilen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 Min. Umsetzen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901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A – es kippt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harmloser Anfang  →  ein Satz mit Du-Vorwurf, „immer“ oder Ironie  →  Gegenangriff  →  Abbruch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6F4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1901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B – es wird gelöst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gleicher Anfang  →  am Kipppunkt reagiert jemand anders (A · B · C · D)  →  Lösung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Spielregeln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6177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Rollen pro Version, jede Version höchstens 2 Minuten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und B spielen verschiedene Personen – wer nicht spielt, führt Regie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Kipppunkt muss für das Publikum erkennbar sein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Letzte 5 Minuten: einmal durchproben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863840" y="4206240"/>
            <a:ext cx="3794760" cy="1874520"/>
          </a:xfrm>
          <a:prstGeom prst="roundRect">
            <a:avLst>
              <a:gd name="adj" fmla="val 3902"/>
            </a:avLst>
          </a:prstGeom>
          <a:solidFill>
            <a:srgbClr val="EAF0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92440" y="43159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Nach 5 Min. keine Idee?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092440" y="470916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Tippkarte 1 zu Aufgabe 4 vom Pult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Hilft nicht? Material-Person holt eine Notfall-Idee bei der Lehrkraft.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5 · BÜHNE FREI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Spielen – ohne Unterbrechung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6 · Beobachtungsbogen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82880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Reihenfolge: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Wandreihe → Mittelreihe → Fensterreihe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6974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A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direkt danach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B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mit anderer Besetzung – je höchstens 2 Minuten.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6616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Niemand unterbricht.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Das Publikum schaut genau hin: Wo kippt es? Was ist in B anders?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4531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4348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Applaus – dann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Sekunden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um die Zeile im Beobachtungsbogen auszufüllen.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8503920" y="1783080"/>
            <a:ext cx="3154680" cy="237744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86800" y="19202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Patenszene ★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0" y="242316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 beobachtet Mitte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beobachtet Fenster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Fenster beobachtet Wand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03920" y="4389120"/>
            <a:ext cx="3154680" cy="1691640"/>
          </a:xfrm>
          <a:prstGeom prst="roundRect">
            <a:avLst>
              <a:gd name="adj" fmla="val 4324"/>
            </a:avLst>
          </a:prstGeom>
          <a:solidFill>
            <a:srgbClr val="EAF0F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86800" y="449884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 Bogen notieren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0" y="48920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Kipppunkt · Ursache · Strategie in B · Wirkt es?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AUSWERTUNG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haben wir gesehen?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Beobachtungsbogen · eure Patenszene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→ Gruppe → 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2'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Ergänze deinen Beobachtungsbogen. Was ist dir bei deiner Patenszene aufgefallen?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29768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628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2'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Gruppe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Einigt euch zu eurer Patenszene: Wo genau kippt es? Warum (Fachbegriff)? Welche Strategie hat in Version B am besten gewirkt?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4672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AF0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7532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5'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Plenum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Gruppe: ca. 1,5 Minuten Rückmeldung zu ihrer Patenszene. Die Spielgruppe darf ergänzen.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Sprechende Person im Plenum: die Regie-Person der Gruppe.   Die Moderation ruft auf.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31520"/>
            <a:ext cx="4572000" cy="384048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7315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EXIT-TICKET · MINI-TEST · 6 MIN. · ALLEIN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2801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Jetzt allein: Kipppunkt finden und retten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2402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2402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Papa, kann ich am Samstag auf Leons Party?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6974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194560" y="26974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lange geht die denn?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1546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1546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1546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Keine Ahnung, bis eins vielleicht.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6118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611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Vater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36118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bist doch sowieso immer die Letzte, die nach Hause kommt.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0690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069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40690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Boah, du vertraust mir echt nie!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2960" y="47091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7091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welcher Zeile kippt es? Warum? (Fachbegriff)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22960" y="53035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303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diese Zeile mit zwei Techniken um und notiere die Buchstaben.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liegt im Gruppenumschlag · Abgabe an der Tür.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Kommunikationsstörungen lösen</dc:title>
  <dc:subject>PptxGenJS Presentation</dc:subject>
  <dc:creator>PptxGenJS</dc:creator>
  <cp:lastModifiedBy>PptxGenJS</cp:lastModifiedBy>
  <cp:revision>1</cp:revision>
  <dcterms:created xsi:type="dcterms:W3CDTF">2026-09-27T16:55:13Z</dcterms:created>
  <dcterms:modified xsi:type="dcterms:W3CDTF">2026-09-27T16:55:13Z</dcterms:modified>
</cp:coreProperties>
</file>