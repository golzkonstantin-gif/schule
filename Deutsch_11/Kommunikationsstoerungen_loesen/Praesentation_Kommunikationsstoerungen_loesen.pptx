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Die Klasse sitzt normal in den drei Reihen. Alles liegt bereits: Arbeitsblatt auf jedem Platz, je ein geschlossener Umschlag auf dem ersten Tisch jeder Reihe (4 Rollenkarten, 7 Exit-Tickets) – geöffnet wird er erst in Minute 43. Aufs Pult: Tippkarten. Bei Ihnen: Notfall-Ideen und Moderationskarten. Einziger Satz: „Heute steht alles auf den Folien – schaut einfach dorthin.“ Dann Folie 2 und Timer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erklären, nur Timer starten. Nach 3 Minuten ein Handzeichen oder Gong, dann 2 Minuten Partnervergleich. Es gibt hier keine Plenumsrunde – direkt weiter mit Folie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Während der Partnerarbeit herumgehen und zuhören: Welche Paare finden Zeile 3? Danach 5 Minuten Unterrichtsgespräch: „In welcher Zeile kippt es zum ersten Mal – und warum?“ Wer geantwortet hat, nimmt die nächste Person dran. Zum Schluss Folie 4 als Sicherung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dem Unterrichtsgespräch zeigen. ★ Zeile 3 ist der Kipppunkt, an dem man am leichtesten hätte eingreifen können. Überleitung: Genau diese Zeilen 3, 4, 5 und 7 schreibt gleich jede und jeder allein um – mit je einer Technik.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 4 Minuten, bei jedem Gong neu starten (22', 26', 30', 34'), dann 2 Minuten Partnervergleich. Herumgehen und mitlesen: Wer schreibt noch Du-Botschaften oder ‚immer‘? Pro Technik ein bis zwei gelungene Lösungen für das Unterrichtsgespräch vormerken. Schnelle Schülerinnen und Schüler: eine zweite Technik am selben Kipppunkt ausprobieren.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Unterrichtsgespräch 2 (7 Min.): Technik für Technik lesen ein bis zwei Personen ihre Lösung vor (gezielt die vorgemerkten drannehmen). Impuls: „Was ist daran gelungen – was sagt die Checkliste?“ Erst danach diese Folie zum Vergleich zeigen. Folie 7 (ganzer Dialog) nur, wenn Zeit bleibt.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Optional, wenn Zeit bleibt: Hier sieht man, wie die Techniken im ganzen Gespräch zusammenspielen. Als eine mögliche Lösung zeigen, nicht als die richtige.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3 Minuten Umsetzen: Wand-, Mittel- und Fensterreihe rücken zu je einer Gruppe zusammen, öffnen den Umschlag und verteilen die Rollen. Dann Timer 16 Minuten. Nach 5 Minuten eine Runde: Hat jede Gruppe eine eigene Situation? Notfall-Ideen nur ausgeben, wenn Tippkarte 1 nicht geholfen hat. Besetzung A (2–4), Besetzung B (2–4), Rest Regie. Um ca. Minute 57 eine Person als Moderation gewinnen und ihr die Moderationskarte geben.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 sitzen im Publikum und notieren gelungene Formulierungen. Die Moderation leitet mit der Moderationskarte. Pro Gruppe ca. 4 Minuten (2 × höchstens 2 Min. + Notizzeit). Achten Sie darauf, dass die Versionen kurz bleiben.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Moderation führt durch die drei Schritte; Schritt 3 können Sie auch selbst moderieren. Nur zum Schluss (höchstens 1 Minute): zwei gelungene Formulierungen aus Ihren Notizen vorlesen. Wenn eine Gruppe den Kipppunkt anders sieht als die Spielgruppe, ist das ein produktiver Moment – kurz beide Sichtweisen stehen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Einzelarbeit, 6 Minuten, ohne Hilfe – das Format entspricht der späteren Testaufgabe. An der Tür einsammeln. Erwartungshorizont und Bewertungskriterien: Lehrermaterial S. 4. Die Auswertung zeigt, welche Technik in der nächsten Stunde noch einmal geübt werden muss.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DOPPELSTUNDE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Kommunikationsstörungen lösen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kippt ein Gespräch – und wie rettet man es?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5468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Wunsch &amp; Bitte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18120" y="416052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41605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Metakommunikation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Deutsch, Klasse 11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 · EINZELARBEIT →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 welcher Zeile geht es schief?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auf deinem Arbeitsblatt · erst allein, dann mit deinem Sitznachbarn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→ 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78308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78308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Hey, hast du die Folien fertig? Wir sind morgen dran.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221284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1284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21284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2128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Fast. Den Rest mach ich heute Abend.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64261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264261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64261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264261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Du hattest eine ganze Woche Zeit.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07238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307238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07238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783080" y="307238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hatte halt dreimal Training. Nicht jeder hat so viel Freizeit wie du.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50215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0080" y="350215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350215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83080" y="350215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Freizeit? Ich hab die komplette Gliederung gemacht! Immer bleibt alles an mir hängen.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9319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39319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393192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Dann mach’s doch allein, wenn du eh alles besser kannst.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4361688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436168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4361688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83080" y="436168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(verdreht die Augen) Super. Genau das hab ich von dir erwartet.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48640" y="4791456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479145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4791456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783080" y="479145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(zuckt mit den Schultern, schaut aufs Handy) Wie du meinst.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5221224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4F7F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522122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1560" y="5221224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783080" y="5221224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Ja, schau ruhig aufs Handy. Ist ja auch wichtiger.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548640" y="5650992"/>
            <a:ext cx="8138160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080" y="565099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" y="5650992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1783080" y="5650992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(steht auf und geht) Boah, du nervst echt.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9052560" y="1783080"/>
            <a:ext cx="2606040" cy="4206240"/>
          </a:xfrm>
          <a:prstGeom prst="roundRect">
            <a:avLst>
              <a:gd name="adj" fmla="val 2807"/>
            </a:avLst>
          </a:prstGeom>
          <a:solidFill>
            <a:srgbClr val="D9534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052560" y="19202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↯</a:t>
            </a:r>
            <a:endParaRPr lang="en-US" sz="4800" dirty="0"/>
          </a:p>
        </p:txBody>
      </p:sp>
      <p:sp>
        <p:nvSpPr>
          <p:cNvPr id="52" name="Text 50"/>
          <p:cNvSpPr txBox="1"/>
          <p:nvPr/>
        </p:nvSpPr>
        <p:spPr>
          <a:xfrm>
            <a:off x="9235440" y="2834640"/>
            <a:ext cx="2240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 jede Stelle, an der das Gespräch kippt.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Min. still.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2 Min. vergleichen: Wo seid ihr euch uneinig?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 · PARTNERARBEIT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Kipppunkte benennen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 zweit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Tragt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drei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Kipppunkte in die Tabelle ein: Zeile, Zitat, Fachbegriff.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Markiert mit ★ den Kipppunkt, an dem man das Gespräch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leichtesten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hätte retten können.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vergleichen wir im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Unterrichtsgespräch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Ergänzt in einer anderen Farbe.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589520" y="1783080"/>
            <a:ext cx="4069080" cy="2834640"/>
          </a:xfrm>
          <a:prstGeom prst="roundRect">
            <a:avLst>
              <a:gd name="adj" fmla="val 2581"/>
            </a:avLst>
          </a:prstGeom>
          <a:solidFill>
            <a:srgbClr val="EAF0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Werkzeuge aus den Modellen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23774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Sach- / Beziehungsebene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Selbstkundgabe · Appell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· „immer“ / „nie“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symmetrische Eskalation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109728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047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 weitergekommen?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vom Pult   →   2. Tippkarte 2   →   3. erst dann die Lehrkraft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 kippt das Gespräch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besprechen, dann diese Folie zeigen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★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17830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hattest eine ganze Woche Zeit.“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17830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Du-Botschaft statt Selbstkundgabe · Tom hört mit dem Beziehungsohr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26060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„Nicht jeder hat so viel Freizeit wie du.“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6060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Gegenangriff · symmetrische Eskalation beginnt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3429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„Immer bleibt alles an mir hängen.“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34290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Verallgemeinerung · Interpunktion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4251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251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„Super. Genau das hab ich von dir erwartet.“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2519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Ironie = inkongruente Botschaft · Abwertung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5074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8–9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737360" y="50749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 schaut aufs Handy – „Ist ja auch wichtiger.“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675120" y="50749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 kann nicht nicht kommunizieren · Rückzug wird als Desinteresse gedeutet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 · EINZELARBEIT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Technik-Training: Schritt für Schritt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3–4 · jede Technik an einem Kipppunkt aus M1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4' + 2' PA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38528"/>
            <a:ext cx="566928" cy="566928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19385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3 umschreiben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38528"/>
            <a:ext cx="566928" cy="566928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233672" y="19385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4 umschreiben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38528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050024" y="19385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5 umschreiben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38528"/>
            <a:ext cx="566928" cy="566928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385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866376" y="193852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2697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Zeile 7 umschreiben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31089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 jeder Technik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548640" y="4389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51560" y="4370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Lesen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105156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Formel, So geht’s, WG-Beispiel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297680" y="4389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29768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4800600" y="4370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Anwenden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480060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Kipppunkt aus M1 umschreiben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046720" y="438912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04672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549640" y="4370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Prüfen</a:t>
            </a:r>
            <a:endParaRPr lang="en-US" sz="1800" dirty="0"/>
          </a:p>
        </p:txBody>
      </p:sp>
      <p:sp>
        <p:nvSpPr>
          <p:cNvPr id="46" name="Text 44"/>
          <p:cNvSpPr txBox="1"/>
          <p:nvPr/>
        </p:nvSpPr>
        <p:spPr>
          <a:xfrm>
            <a:off x="854964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Mini-Checkliste abhaken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548640" y="5486400"/>
            <a:ext cx="11109960" cy="594360"/>
          </a:xfrm>
          <a:prstGeom prst="roundRect">
            <a:avLst>
              <a:gd name="adj" fmla="val 12308"/>
            </a:avLst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" y="54864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Gong = nächste Technik.   Zum Schluss 2 Minuten: Vergleich mit dem Sitznachbarn.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Werkzeugkasten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mit euren eigenen Lösungen auf S. 3–4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3F7C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7C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Ich-Botschaft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fühle ich mich …, weil 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„Ich werde nervös, weil wir morgen schon dran sind.“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364992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3593592" y="1965960"/>
            <a:ext cx="640080" cy="6400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93592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Empathie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meinst also … ? · Das klingt, als ob du … bist.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93592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„Du bist gestresst, weil alles klappen soll, oder?“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181344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9944" y="1965960"/>
            <a:ext cx="640080" cy="6400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9944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Wunsch &amp; Bitte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 → Gefühl → Bedürfnis → Bitte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„Kannst du mir die Folien bis 19 Uhr schicken?“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997696" y="1783080"/>
            <a:ext cx="2651760" cy="3749040"/>
          </a:xfrm>
          <a:prstGeom prst="roundRect">
            <a:avLst>
              <a:gd name="adj" fmla="val 2759"/>
            </a:avLst>
          </a:prstGeom>
          <a:solidFill>
            <a:srgbClr val="F4F7FD"/>
          </a:solidFill>
          <a:ln/>
        </p:spPr>
      </p:sp>
      <p:sp>
        <p:nvSpPr>
          <p:cNvPr id="29" name="Shape 27"/>
          <p:cNvSpPr/>
          <p:nvPr/>
        </p:nvSpPr>
        <p:spPr>
          <a:xfrm>
            <a:off x="9226296" y="1965960"/>
            <a:ext cx="640080" cy="640080"/>
          </a:xfrm>
          <a:prstGeom prst="ellipse">
            <a:avLst/>
          </a:prstGeom>
          <a:solidFill>
            <a:srgbClr val="8E5BB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2629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9180576" y="2697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E5B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Metakommunikation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226296" y="32004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– wie reden wir gerade miteinander?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9226296" y="4297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„Wir werfen uns nur noch Sachen an den Kopf.“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5669280"/>
            <a:ext cx="11109960" cy="502920"/>
          </a:xfrm>
          <a:prstGeom prst="roundRect">
            <a:avLst>
              <a:gd name="adj" fmla="val 14545"/>
            </a:avLst>
          </a:prstGeom>
          <a:solidFill>
            <a:srgbClr val="FBECE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66928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Tabu: Du-Vorwürfe · „immer“ und „nie“ · Ironie · Gegenangriff · „Ja, aber …“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 · UNTERRICHTSGESPRÄCH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hätte es laufen können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mögliche Version B – eure darf ganz anders klingen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68580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6858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1783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Heute Abend? Ehrlich gesagt macht mich das nervös, weil wir morgen schon dran sind.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464040" y="195681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464040" y="195681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0604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6060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 ich. Du willst sicher sein, dass alles passt, oder? Ich hab’s unterschätzt.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464040" y="277977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464040" y="277977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Empathie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2900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42900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34290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hab schon die Gliederung gemacht und fühl mich gerade ein bisschen allein damit.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64040" y="360273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7C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464040" y="360273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Ich-Botschaft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5196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251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Kannst du mir die Folien bis 19 Uhr schicken? Dann proben wir morgen früh einmal.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464040" y="442569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464040" y="44256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Bitte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109960" cy="731520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0" y="507492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0749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Uhr schaffe ich. Und nächstes Mal sagen wir uns früher Bescheid, wenn’s eng wird?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9464040" y="5248656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8E5BB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46404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Metakomm.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 · REIHEN-GRUPPE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Eure eigene Szene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5 · Zuerst: als Reihe zusammenrücken, Umschlag öffnen, Rollen verteilen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 Min. Umsetzen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BEC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A – es kippt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harmloser Anfang  →  ein Satz mit Du-Vorwurf, „immer“ oder Ironie  →  Gegenangriff  →  Abbruch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63640" y="1783080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E6F4E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0195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B – es wird gelöst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4231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gleicher Anfang  →  am Kipppunkt reagiert jemand anders (A · B · C · D)  →  Lösung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Spielregeln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1772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Rollen pro Version, jede Version höchstens 2 Minuten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und B spielen verschiedene Personen – wer nicht spielt, führt Regie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Kipppunkt muss für das Publikum erkennbar sein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5 Minuten: einmal durchproben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863840" y="4206240"/>
            <a:ext cx="37947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92440" y="431596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5 Min. keine Idee?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092440" y="47091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Tippkarte 1 zu Aufgabe 4 vom Pult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Hilft nicht? Material-Person holt eine Notfall-Idee bei der Lehrkraft.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5 · BÜHNE FREI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Spielen – ohne Unterbrechung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Arbeitsblatt S. 6 · Beobachtungsbogen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4708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2880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Reihenfolge: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Wandreihe → Mittelreihe → Fensterreihe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697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A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direkt danach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B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mit anderer Besetzung – je höchstens 2 Minuten.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5661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Niemand unterbricht.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 Publikum schaut genau hin: Wo kippt es? Was ist in B anders?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4531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43484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Applaus – dann </a:t>
            </a:r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Sekunden</a:t>
            </a:r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 die Zeile im Beobachtungsbogen auszufüllen.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8503920" y="178308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86800" y="1920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Patenszene ★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0" y="2423160"/>
            <a:ext cx="2788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Wand beobachtet Mitte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 beobachtet Fenster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Fenster beobachtet Wand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503920" y="4389120"/>
            <a:ext cx="3154680" cy="1691640"/>
          </a:xfrm>
          <a:prstGeom prst="roundRect">
            <a:avLst>
              <a:gd name="adj" fmla="val 4324"/>
            </a:avLst>
          </a:prstGeom>
          <a:solidFill>
            <a:srgbClr val="EAF0F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686800" y="449884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Bogen notieren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0" y="48920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Kipppunkt · Ursache · Strategie in B · Wirkt es?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haben wir gesehen?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Beobachtungsbogen · eure Patenszene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Kommunikationsstörungen lösen · Deutsch 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0" y="41148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0" y="4572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Min.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932688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→ Gruppe → Plenum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Ergänze deinen Beobachtungsbogen. Was ist dir bei deiner Patenszene aufgefallen?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768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4F7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628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2'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Gruppe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Einigt euch zu eurer Patenszene: Wo genau kippt es? Warum (Fachbegriff)? Welche Strategie hat in Version B am besten gewirkt?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AF0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75320" y="1920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5'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Plenum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15468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Gruppe: ca. 1,5 Minuten Rückmeldung zu ihrer Patenszene. Die Spielgruppe darf ergänzen.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Sprechende Person im Plenum: die Regie-Person der Gruppe.   Die Moderation ruft auf.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0" cy="384048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731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EXIT-TICKET · MINI-TEST · 6 MIN. · ALLEIN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2801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Jetzt allein: Kipppunkt finden und retten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402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22402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Papa, kann ich am Samstag auf Leons Party?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6974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6974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lange geht die denn?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154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1546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1546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Ahnung, bis eins vielleicht.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6118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11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Vater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bist doch sowieso immer die Letzte, die nach Hause kommt.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0690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069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0690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Boah, du vertraust mir echt nie!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22960" y="47091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7091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welcher Zeile kippt es? Warum? (Fachbegriff)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22960" y="53035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303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diese Zeile mit zwei Techniken um und notiere die Buchstaben.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liegt im Gruppenumschlag · Abgabe an der Tür.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Kommunikationsstörungen lösen</dc:title>
  <dc:subject>PptxGenJS Presentation</dc:subject>
  <dc:creator>PptxGenJS</dc:creator>
  <cp:lastModifiedBy>PptxGenJS</cp:lastModifiedBy>
  <cp:revision>1</cp:revision>
  <dcterms:created xsi:type="dcterms:W3CDTF">2026-09-25T19:44:01Z</dcterms:created>
  <dcterms:modified xsi:type="dcterms:W3CDTF">2026-09-25T19:44:01Z</dcterms:modified>
</cp:coreProperties>
</file>