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läuft beim Ankommen. Die Klasse sitzt normal in den drei Reihen. Alles liegt bereits: Arbeitsblatt auf jedem Platz, je ein geschlossener Umschlag auf dem ersten Tisch jeder Reihe (Rollenkarten, 2 Sätze Expertenkarten, 7 Exit-Tickets). Aufs Pult: Tippkarten und Lösungsblätter. Bei Ihnen: Notfall-Ideen und Moderationskarten. Einziger Satz: „Heute steht alles auf den Folien – schaut einfach dorthin.“ Dann Folie 2 und Timer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erklären, nur Timer starten. Nach 3 Minuten ein Handzeichen oder Gong, dann 2 Minuten Partnervergleich. Es gibt hier keine Plenumsrunde – direkt weiter mit Folie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Während der Partnerarbeit herumgehen und zuhören: Welche Paare finden Zeile 3? Danach 5 Minuten Unterrichtsgespräch: „In welcher Zeile kippt es zum ersten Mal – und warum?“ Wer geantwortet hat, nimmt die nächste Person dran. Zum Schluss Folie 4 als Sicherung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dem Unterrichtsgespräch zeigen. ★ Zeile 3 ist der Kipppunkt, an dem man am leichtesten hätte eingreifen können: Lena will eigentlich nur Sicherheit für morgen. Ausführlicher Erwartungshorizont: Lehrermaterial S.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3 Minuten Umsetzen: Wand-, Mittel- und Fensterreihe rücken zu je einer Gruppe (7 Personen) zusammen. Dann Timer auf 17 Minuten, die Zeit-Person achtet auf die Teilphasen. Tandems: B, C, D werden zu zweit gelesen, A allein. Folie 6 (Werkzeugkasten) noch nicht zeigen – sie ist der Vergleich für den Merkkasten im Unterrichtsgespräch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Unterrichtsgespräch 2 (7 Min.): Erst lesen die Protokoll-Personen der drei Gruppen ihre Version B vor, die Klasse benennt die Strategien (Impuls: „Welche Strategie erkennt ihr – und an welcher Formulierung?“). Alle füllen dabei den Merkkasten auf Arbeitsblatt S. 4 aus, Strategie für Strategie. Erst danach diese Folie zum Vergleich zeigen, zuletzt Folie 7 (Musterlösung).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nachdem alle drei Gruppen ihre Version vorgelesen haben – als eine mögliche Lösung, nicht als die richtige. Vollständige Musterlösung: Lehrermaterial S.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Nach 5 Minuten eine Runde gehen: Hat jede Gruppe eine eigene Situation? Notfall-Ideen nur ausgeben, wenn Tippkarte 1 nicht geholfen hat. Mit 7 Personen: Besetzung A (2–4), Besetzung B (2–4), Rest Regie – so steht fast jede Person einmal auf der Bühne. Um ca. Minute 57 eine Person als Moderation gewinnen und ihr die Moderationskarte geben. Zum Proben dürfen Gruppen in Flur oder Ecken.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 sitzen im Publikum und notieren gelungene Formulierungen. Die Moderation leitet mit der Moderationskarte. Pro Gruppe ca. 4 Minuten (2 × höchstens 2 Min. + Notizzeit). Achten Sie darauf, dass die Versionen kurz bleiben.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Moderation führt durch die drei Schritte; Schritt 3 können Sie auch selbst moderieren. Nur zum Schluss (höchstens 1 Minute): zwei gelungene Formulierungen aus Ihren Notizen vorlesen. Wenn eine Gruppe den Kipppunkt anders sieht als die Spielgruppe, ist das ein produktiver Moment – kurz beide Sichtweisen stehen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Exit-Tickets an der Tür einsammeln. Erwartungshorizont: Lehrermaterial S. 4. Zwei oder drei gelungene Formulierungen können die nächste Stunde eröffnen.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DOPPELSTUNDE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Kommunikationsstörungen lösen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kippt ein Gespräch – und wie rettet man es?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Wunsch &amp; Bitte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1812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Metakommunikation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Deutsch, Klasse 11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 · EINZELARBEIT →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 welcher Zeile geht es schief?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auf deinem Arbeitsblatt · erst allein, dann mit deinem Sitznachbarn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→ 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78308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Hey, hast du die Folien fertig? Wir sind morgen dran.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21284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128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2128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21284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Fast. Den Rest mach ich heute Abend.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64261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6426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642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26426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Du hattest eine ganze Woche Zeit.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07238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07238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30723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halt dreimal Training. Nicht jeder hat so viel Freizeit wie du.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50215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50215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350215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783080" y="350215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Freizeit? Ich hab die komplette Gliederung gemacht! Immer bleibt alles an mir hängen.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9319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783080" y="393192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mach’s doch allein, wenn du eh alles besser kannst.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436168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361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43616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83080" y="436168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(verdreht die Augen) Super. Genau das hab ich von dir erwartet.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79145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47914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479145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783080" y="479145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(zuckt mit den Schultern, schaut aufs Handy) Wie du meinst.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522122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5221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1560" y="522122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783080" y="5221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Ja, schau ruhig aufs Handy. Ist ja auch wichtiger.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48640" y="565099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" y="56509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051560" y="56509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783080" y="5650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(steht auf und geht) Boah, du nervst echt.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052560" y="1783080"/>
            <a:ext cx="2606040" cy="4206240"/>
          </a:xfrm>
          <a:prstGeom prst="roundRect">
            <a:avLst>
              <a:gd name="adj" fmla="val 2807"/>
            </a:avLst>
          </a:prstGeom>
          <a:solidFill>
            <a:srgbClr val="D9534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52560" y="1920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4800" dirty="0"/>
          </a:p>
        </p:txBody>
      </p:sp>
      <p:sp>
        <p:nvSpPr>
          <p:cNvPr id="52" name="Text 50"/>
          <p:cNvSpPr txBox="1"/>
          <p:nvPr/>
        </p:nvSpPr>
        <p:spPr>
          <a:xfrm>
            <a:off x="9235440" y="283464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jede Stelle, an der das Gespräch kippt.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Min. still.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2 Min. vergleichen: Wo seid ihr euch uneinig?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 ·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Kipppunkte benennen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Tragt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drei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Kipppunkte in die Tabelle ein: Zeile, Zitat, Fachbegriff.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Markiert mit ★ den Kipppunkt, an dem man das Gespräch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leichtesten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hätte retten können.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vergleichen wir im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Unterrichtsgespräch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Ergänzt in einer anderen Farbe.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589520" y="1783080"/>
            <a:ext cx="4069080" cy="2834640"/>
          </a:xfrm>
          <a:prstGeom prst="roundRect">
            <a:avLst>
              <a:gd name="adj" fmla="val 2581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181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aus den Modellen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Sach- / Beziehungsebene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Selbstkundgabe · Appell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· „immer“ / „nie“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symmetrische Eskalation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8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weitergekommen?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vom Pult   →   2. Tippkarte 2   →   3. erst dann die Lehrkraft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 kippt das Gespräch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besprechen, dann diese Folie zeigen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★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1783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hattest eine ganze Woche Zeit.“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783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statt Selbstkundgabe · Tom hört mit dem Beziehungsohr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6060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„Nicht jeder hat so viel Freizeit wie du.“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606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Gegenangriff · symmetrische Eskalation beginnt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4290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3429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„Immer bleibt alles an mir hängen.“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34290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Verallgemeinerung · 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251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4251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„Super. Genau das hab ich von dir erwartet.“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2519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 · Abwertung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5074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8–9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5074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 schaut aufs Handy – „Ist ja auch wichtiger.“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5074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 kann nicht nicht kommunizieren · Rückzug wird als Desinteresse gedeutet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 · GRUPPENPUZZLE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Gespräch retten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3 · drei Gruppen à 7: Wandreihe · Mittelreihe · Fensterreihe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Min. Umsetzen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Zuerst (3 Min.): als Reihe zusammenrücken, Umschlag öffnen, Rollen verteilen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den Timer im Blick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64992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47872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Protokoll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 auf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1344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64224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kommen zu Wort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97696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80576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180576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 Karten · fragt als Einzige die Lehrkraft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4'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64592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Lesen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liest eine Person allein, B, C und D je ein Tandem.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29768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2628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7'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539496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Erklären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Reihum: jede Strategie in höchstens 90 Sekunden – mit Beispiel.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04672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6'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Umschreiben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 ab Zeile 3 gemeinsam neu schreiben, alle schreiben mit. Checkliste prüfen.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48640" y="557784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960" y="5577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Danach: Die Protokoll-Person liest eure Version im Unterrichtsgespräch vor.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VERGLEICH MIT EUREM MERKKASTEN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Werkzeugkasten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Strategien, um ein kippendes Gespräch zu retten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… fühle ich mich …, weil …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„Ich werde nervös, weil wir morgen schon dran sind.“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364992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3593592" y="1965960"/>
            <a:ext cx="640080" cy="6400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9359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547872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meinst also … ? · Das klingt, als ob du … bist.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593592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bist gestresst, weil alles klappen soll, oder?“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9944" y="19659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994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09944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 → Gefühl → Bedürfnis → Bitte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„Kannst du mir die Folien bis 19 Uhr schicken?“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97696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9" name="Shape 27"/>
          <p:cNvSpPr/>
          <p:nvPr/>
        </p:nvSpPr>
        <p:spPr>
          <a:xfrm>
            <a:off x="9226296" y="1965960"/>
            <a:ext cx="640080" cy="640080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262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9180576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226296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 – wie reden wir gerade miteinander?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„Wir werfen uns nur noch Sachen an den Kopf.“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5669280"/>
            <a:ext cx="11109960" cy="502920"/>
          </a:xfrm>
          <a:prstGeom prst="roundRect">
            <a:avLst>
              <a:gd name="adj" fmla="val 14545"/>
            </a:avLst>
          </a:prstGeom>
          <a:solidFill>
            <a:srgbClr val="FBECE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6692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Du-Vorwürfe · „immer“ und „nie“ · Ironie · Gegenangriff · „Ja, aber …“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hätte es laufen können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mögliche Version B – eure darf ganz anders klingen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17830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783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Ehrlich gesagt macht mich das nervös, weil wir morgen schon dran sind.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464040" y="195681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464040" y="19568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26060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Verstehe ich. Du willst sicher sein, dass alles passt, oder? Ich hab’s unterschätzt.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64040" y="277977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27797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4290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429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hab schon die Gliederung gemacht und fühl mich gerade ein bisschen allein damit.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464040" y="360273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464040" y="36027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251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Kannst du mir die Folien bis 19 Uhr schicken? Dann proben wir morgen früh einmal.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464040" y="442569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464040" y="44256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Bitte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31520" y="50749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50749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Uhr schaffe ich. Und nächstes Mal sagen wir uns früher Bescheid, wenn’s eng wird?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464040" y="524865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464040" y="524865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 · REIHEN-GRUPPE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Eure eigene Szene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5 · Denkt euch selbst eine Situation aus! Euer Merkkasten (S. 4) hilft.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A – es kippt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harmloser Anfang  →  ein Satz mit Du-Vorwurf, „immer“ oder Ironie  →  Gegenangriff  →  Abbruch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6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B – es wird gelöst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gleicher Anfang  →  am Kipppunkt reagiert jemand anders (A · B · C · D)  →  Lösung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Spielregeln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177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Rollen pro Version, jede Version höchstens 2 Minuten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und B spielen verschiedene Personen – wer nicht spielt, führt Regie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Kipppunkt muss für das Publikum erkennbar sein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5 Minuten: einmal durchproben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3840" y="4206240"/>
            <a:ext cx="37947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92440" y="43159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 5 Min. keine Idee?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47091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zu Aufgabe 4 vom Pult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Hilft nicht? Material-Person holt eine Notfall-Idee bei der Lehrkraft.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 · BÜHNE FREI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Spielen – ohne Unterbrechung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6 · Beobachtungsbogen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Reihenfolge: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Wandreihe → Mittelreihe → Fensterreihe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A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direkt danach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B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anderer Besetzung – je höchstens 2 Minuten.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Niemand unterbricht.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 Publikum schaut genau hin: Wo kippt es? Was ist in B anders?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4531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4348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Applaus – dann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Sekunden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um die Zeile im Beobachtungsbogen auszufüllen.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503920" y="1783080"/>
            <a:ext cx="3154680" cy="237744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0" y="1920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Patenszene ★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242316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beobachtet Mitte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beobachtet Fenster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Fenster beobachtet Wand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03920" y="4389120"/>
            <a:ext cx="3154680" cy="1691640"/>
          </a:xfrm>
          <a:prstGeom prst="roundRect">
            <a:avLst>
              <a:gd name="adj" fmla="val 4324"/>
            </a:avLst>
          </a:prstGeom>
          <a:solidFill>
            <a:srgbClr val="EAF0F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0" y="44988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Bogen notieren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48920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Kipppunkt · Ursache · Strategie in B · Wirkt es?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haben wir gesehen?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Beobachtungsbogen · eure Patenszene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→ Gruppe → 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deinen Beobachtungsbogen. Was ist dir bei deiner Patenszene aufgefallen?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3'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Einigt euch zu eurer Patenszene: Wo genau kippt es? Warum (Fachbegriff)? Welche Strategie hat in Version B am besten gewirkt?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6'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Plenum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Gruppe: ca. 2 Minuten Rückmeldung zu ihrer Patenszene. Die Spielgruppe darf ergänzen.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Sprechende Person im Plenum: die Regie-Person der Gruppe.   Die Moderation ruft auf.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09728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0972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EXIT-TICKET · 4 MIN.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459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Bevor du gehst …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502920" cy="5029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7614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Formuliere als Ich-Botschaft mit Bitte: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2461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„Nie hörst du mir zu!“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822960" y="4343400"/>
            <a:ext cx="502920" cy="5029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36168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Woran erkennst du, dass ein Gespräch gerade kippt? Nenne zwei Signale.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liegt im Gruppenumschlag · Abgabe an der Tür.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Kommunikationsstörungen lösen</dc:title>
  <dc:subject>PptxGenJS Presentation</dc:subject>
  <dc:creator>PptxGenJS</dc:creator>
  <cp:lastModifiedBy>PptxGenJS</cp:lastModifiedBy>
  <cp:revision>1</cp:revision>
  <dcterms:created xsi:type="dcterms:W3CDTF">2026-09-25T19:26:54Z</dcterms:created>
  <dcterms:modified xsi:type="dcterms:W3CDTF">2026-09-25T19:26:54Z</dcterms:modified>
</cp:coreProperties>
</file>