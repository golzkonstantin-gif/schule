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Folie läuft beim Ankommen. Die Klasse sitzt normal in den drei Reihen. Alles liegt bereits: Arbeitsblatt auf jedem Platz, je ein geschlossener Umschlag auf dem ersten Tisch jeder Reihe (Rollenkarten, 2 Sätze Expertenkarten, 7 Exit-Tickets). Aufs Pult: Tippkarten und Lösungsblätter. Bei Ihnen: Notfall-Ideen und Moderationskarten. Einziger Satz: „Heute steht alles auf den Folien – schaut einfach dorthin.“ Dann Folie 2 und Timer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Nicht erklären, nur Timer starten. Nach 3 Minuten ein Handzeichen oder Gong, dann 2 Minuten Partnervergleich. Es gibt hier keine Plenumsrunde – direkt weiter mit Folie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Während der Partnerarbeit herumgehen und nur zuhören. Wer fertig ist, holt sich das Lösungsblatt „Kipppunkte“ selbst vom Pult. Erwartung: Z. 3 (★ Du-Botschaft/Beziehungsohr), Z. 4 (Gegenangriff, symmetrische Eskalation), Z. 5 (Verallgemeinerung, Interpunktion), Z. 7 (Ironie, inkongruent), Z. 8–9 (nonverbaler Rückzug, man kann nicht nicht kommunizieren). Danach Folie 4: Die drei Reihen setzen sich als Gruppen zusammen.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3 Minuten Umsetzen: Wand-, Mittel- und Fensterreihe rücken zu je einer Gruppe (7 Personen) zusammen. Dann Timer auf 20 Minuten, die Zeit-Person achtet auf die Teilphasen. Tandems: B, C, D werden zu zweit gelesen, A allein. Ab ca. Minute 31 Folie 5 (Werkzeugkasten) einblenden und stehen lassen. Musterlösung liegt am Pult.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Überblicksfolie, kein Vortrag. Sie kann während Aufgabe 3 und 4 stehen bleiben und dient als Gedächtnisstütze beim Schreiben der eigenen Szene.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Nach 5 Minuten eine Runde gehen: Hat jede Gruppe eine eigene Situation? Notfall-Ideen nur ausgeben, wenn Tippkarte 1 nicht geholfen hat. Mit 7 Personen: Besetzung A (2–4), Besetzung B (2–4), Rest Regie – so steht fast jede Person einmal auf der Bühne. Um ca. Minute 53 eine Person als Moderation gewinnen und ihr die Moderationskarte geben. Zum Proben dürfen Gruppen in Flur oder Ecken.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Sie sitzen im Publikum und notieren gelungene Formulierungen. Die Moderation leitet mit der Moderationskarte. Pro Gruppe ca. 4,5 Minuten (2 × 2 Min. + Notizzeit), insgesamt knapp 15 Minuten.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Moderation führt durch die drei Schritte; Schritt 3 können Sie auch selbst moderieren. Nur zum Schluss (höchstens 1 Minute): zwei gelungene Formulierungen aus Ihren Notizen vorlesen. Wenn eine Gruppe den Kipppunkt anders sieht als die Spielgruppe, ist das ein produktiver Moment – kurz beide Sichtweisen stehen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Exit-Tickets an der Tür einsammeln. Erwartungshorizont: Lehrermaterial, Musterlösung Aufgabe 3. Zwei oder drei gelungene Formulierungen können die nächste Stunde eröffnen.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DOPPELSTUNDE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Kommunikationsstörungen lösen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kippt ein Gespräch – und wie rettet man es?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3F7C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Ich-Botschaft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15468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Empathie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Wunsch &amp; Bitte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81812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8E5BB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1812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Metakommunikation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Deutsch, Klasse 11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IMPULS · EINZELARBEIT → PARTNERARBEIT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 welcher Zeile geht es schief?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auf deinem Arbeitsblatt · erst allein, dann mit deinem Sitznachbarn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 → zu zweit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17830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178308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178308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Hey, hast du die Folien fertig? Wir sind morgen dran.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2212848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221284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21284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221284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Fast. Den Rest mach ich heute Abend.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2642616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264261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264261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783080" y="264261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Heute Abend? Du hattest eine ganze Woche Zeit.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072384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307238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3072384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783080" y="307238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hatte halt dreimal Training. Nicht jeder hat so viel Freizeit wie du.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3502152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0080" y="350215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51560" y="350215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783080" y="350215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Freizeit? Ich hab die komplette Gliederung gemacht! Immer bleibt alles an mir hängen.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3931920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" y="39319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51560" y="39319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783080" y="393192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Dann mach’s doch allein, wenn du eh alles besser kannst.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4361688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436168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051560" y="436168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83080" y="436168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(verdreht die Augen) Super. Genau das hab ich von dir erwartet.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48640" y="4791456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" y="479145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1051560" y="479145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783080" y="479145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(zuckt mit den Schultern, schaut aufs Handy) Wie du meinst.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5221224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0080" y="522122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51560" y="5221224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1783080" y="522122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Ja, schau ruhig aufs Handy. Ist ja auch wichtiger.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48640" y="5650992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0080" y="565099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1051560" y="565099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1783080" y="56509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(steht auf und geht) Boah, du nervst echt.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9052560" y="1783080"/>
            <a:ext cx="2606040" cy="4206240"/>
          </a:xfrm>
          <a:prstGeom prst="roundRect">
            <a:avLst>
              <a:gd name="adj" fmla="val 2807"/>
            </a:avLst>
          </a:prstGeom>
          <a:solidFill>
            <a:srgbClr val="D9534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052560" y="192024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↯</a:t>
            </a:r>
            <a:endParaRPr lang="en-US" sz="4800" dirty="0"/>
          </a:p>
        </p:txBody>
      </p:sp>
      <p:sp>
        <p:nvSpPr>
          <p:cNvPr id="52" name="Text 50"/>
          <p:cNvSpPr txBox="1"/>
          <p:nvPr/>
        </p:nvSpPr>
        <p:spPr>
          <a:xfrm>
            <a:off x="9235440" y="2834640"/>
            <a:ext cx="2240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Markiere jede Stelle, an der das Gespräch kippt.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Min. still.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 2 Min. vergleichen: Wo seid ihr euch uneinig?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2 · PARTNERARBEIT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Kipppunkte benennen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zweit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847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18288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Tragt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drei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Kipppunkte in die Tabelle ein: Zeile, Zitat, Fachbegriff.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69748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Markiert mit ★ den Kipppunkt, an dem man das Gespräch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leichtesten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hätte retten können.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56616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Vergleicht mit dem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Lösungsblatt am Pult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Ergänzt in einer anderen Farbe.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589520" y="1783080"/>
            <a:ext cx="4069080" cy="2834640"/>
          </a:xfrm>
          <a:prstGeom prst="roundRect">
            <a:avLst>
              <a:gd name="adj" fmla="val 2581"/>
            </a:avLst>
          </a:prstGeom>
          <a:solidFill>
            <a:srgbClr val="EAF0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181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Werkzeuge aus den Modellen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237744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Sach- / Beziehungsebene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Selbstkundgabe · Appell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Du-Botschaft · „immer“ / „nie“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Ironie = inkongruente Botschaft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symmetrische Eskalation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Interpunktion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937760"/>
            <a:ext cx="11109960" cy="1097280"/>
          </a:xfrm>
          <a:prstGeom prst="roundRect">
            <a:avLst>
              <a:gd name="adj" fmla="val 6667"/>
            </a:avLst>
          </a:prstGeom>
          <a:solidFill>
            <a:srgbClr val="FFF8E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047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Nicht weitergekommen?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440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Tippkarte 1 vom Pult   →   2. Tippkarte 2   →   3. erst dann die Lehrkraft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3 · GRUPPENPUZZLE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Gespräch retten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3 · drei Gruppen à 7: Wandreihe · Mittelreihe · Fensterreihe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+ 3 Min. Umsetzen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Zuerst (3 Min.): als Reihe zusammenrücken, Umschlag öffnen, Rollen verteilen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24028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304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Zeit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26700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 den Timer im Blick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64992" y="224028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47872" y="2304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Protokoll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26700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schreibt auf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81344" y="224028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64224" y="2304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364224" y="26700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kommen zu Wort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997696" y="224028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80576" y="23042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180576" y="26700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holt Karten · fragt als Einzige die Lehrkraft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52044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B9C6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3657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5'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164592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Lesen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20624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liest eine Person allein, B, C und D je ein Tandem.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4297680" y="352044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B9C6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26280" y="3657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8'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539496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Erklären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4526280" y="420624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Reihum: jede Strategie in höchstens 2 Minuten – mit Beispiel.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8046720" y="352044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B9C6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75320" y="3657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7'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914400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Umschreiben</a:t>
            </a:r>
            <a:endParaRPr lang="en-US" sz="1900" dirty="0"/>
          </a:p>
        </p:txBody>
      </p:sp>
      <p:sp>
        <p:nvSpPr>
          <p:cNvPr id="34" name="Text 32"/>
          <p:cNvSpPr txBox="1"/>
          <p:nvPr/>
        </p:nvSpPr>
        <p:spPr>
          <a:xfrm>
            <a:off x="8275320" y="420624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 ab Zeile 3 gemeinsam neu schreiben, alle schreiben mit. Checkliste prüfen.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48640" y="557784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2960" y="55778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fertig ist: Musterlösung am Pult vergleichen und die letzte Spalte von Aufgabe 2 ausfüllen.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ÜBERBLICK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Werkzeugkasten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Strategien, um ein kippendes Gespräch zu retten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1965960"/>
            <a:ext cx="640080" cy="640080"/>
          </a:xfrm>
          <a:prstGeom prst="ellipse">
            <a:avLst/>
          </a:prstGeom>
          <a:solidFill>
            <a:srgbClr val="3F7C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Ich-Botschaft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… fühle ich mich …, weil …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„Ich werde nervös, weil wir morgen schon dran sind.“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364992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14" name="Shape 12"/>
          <p:cNvSpPr/>
          <p:nvPr/>
        </p:nvSpPr>
        <p:spPr>
          <a:xfrm>
            <a:off x="3593592" y="1965960"/>
            <a:ext cx="640080" cy="64008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93592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Empathie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meinst also … ? · Das klingt, als ob du … bist.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93592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„Du bist gestresst, weil alles klappen soll, oder?“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81344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9944" y="196596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9944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6364224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Wunsch &amp; Bitte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409944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 → Gefühl → Bedürfnis → Bitte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09944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„Kannst du mir die Folien bis 19 Uhr schicken?“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997696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26" name="Shape 24"/>
          <p:cNvSpPr/>
          <p:nvPr/>
        </p:nvSpPr>
        <p:spPr>
          <a:xfrm>
            <a:off x="9226296" y="1965960"/>
            <a:ext cx="640080" cy="640080"/>
          </a:xfrm>
          <a:prstGeom prst="ellipse">
            <a:avLst/>
          </a:prstGeom>
          <a:solidFill>
            <a:srgbClr val="8E5BB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226296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9180576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E5B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Metakommunikation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226296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 – wie reden wir gerade miteinander?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„Wir werfen uns nur noch Sachen an den Kopf.“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48640" y="5669280"/>
            <a:ext cx="11109960" cy="502920"/>
          </a:xfrm>
          <a:prstGeom prst="roundRect">
            <a:avLst>
              <a:gd name="adj" fmla="val 14545"/>
            </a:avLst>
          </a:prstGeom>
          <a:solidFill>
            <a:srgbClr val="FBECE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960" y="56692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Tabu: Du-Vorwürfe · „immer“ und „nie“ · Ironie · Gegenangriff · „Ja, aber …“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 · REIHEN-GRUPPE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Eure eigene Szene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4 · Denkt euch selbst eine Situation aus!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BEC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9019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A – es kippt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4231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harmloser Anfang  →  ein Satz mit Du-Vorwurf, „immer“ oder Ironie  →  Gegenangriff  →  Abbruch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E6F4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19019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B – es wird gelöst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24231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gleicher Anfang  →  am Kipppunkt reagiert jemand anders (A · B · C · D)  →  Lösung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Spielregeln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61772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Rollen pro Version, jede Version höchstens 2 Minuten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und B spielen verschiedene Personen – wer nicht spielt, führt Regie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Kipppunkt muss für das Publikum erkennbar sein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Letzte 5 Minuten: einmal durchproben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863840" y="4206240"/>
            <a:ext cx="3794760" cy="1874520"/>
          </a:xfrm>
          <a:prstGeom prst="roundRect">
            <a:avLst>
              <a:gd name="adj" fmla="val 3902"/>
            </a:avLst>
          </a:prstGeom>
          <a:solidFill>
            <a:srgbClr val="EAF0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92440" y="43159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Nach 5 Min. keine Idee?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092440" y="470916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Tippkarte 1 zu Aufgabe 4 vom Pult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Hilft nicht? Material-Person holt eine Notfall-Idee bei der Lehrkraft.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5 · BÜHNE FREI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Spielen – ohne Unterbrechung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5 · Beobachtungsbogen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847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182880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Reihenfolge: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Wandreihe → Mittelreihe → Fensterreihe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6974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A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direkt danach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B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mit anderer Besetzung – je höchstens 2 Minuten.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56616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Niemand unterbricht.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Das Publikum schaut genau hin: Wo kippt es? Was ist in B anders?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44531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453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4348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Applaus – dann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Sekunden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um die Zeile im Beobachtungsbogen auszufüllen.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8503920" y="1783080"/>
            <a:ext cx="3154680" cy="2377440"/>
          </a:xfrm>
          <a:prstGeom prst="roundRect">
            <a:avLst>
              <a:gd name="adj" fmla="val 3077"/>
            </a:avLst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86800" y="19202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Patenszene ★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0" y="242316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 beobachtet Mitte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 beobachtet Fenster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Fenster beobachtet Wand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03920" y="4389120"/>
            <a:ext cx="3154680" cy="1691640"/>
          </a:xfrm>
          <a:prstGeom prst="roundRect">
            <a:avLst>
              <a:gd name="adj" fmla="val 4324"/>
            </a:avLst>
          </a:prstGeom>
          <a:solidFill>
            <a:srgbClr val="EAF0F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686800" y="449884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 Bogen notieren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0" y="48920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Kipppunkt · Ursache · Strategie in B · Wirkt es?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AUSWERTUNG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haben wir gesehen?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Beobachtungsbogen · eure Patenszene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→ Gruppe → 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4F7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1920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2'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Ergänze deinen Beobachtungsbogen. Was ist dir bei deiner Patenszene aufgefallen?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297680" y="17830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4F7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26280" y="1920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4'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Gruppe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Einigt euch zu eurer Patenszene: Wo genau kippt es? Warum (Fachbegriff)? Welche Strategie hat in Version B am besten gewirkt?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46720" y="17830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AF0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75320" y="1920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7'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Plenum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Gruppe: ca. 2 Minuten Rückmeldung zu ihrer Patenszene. Die Spielgruppe darf ergänzen.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534924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349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Sprechende Person im Plenum: die Regie-Person der Gruppe.   Die Moderation ruft auf.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09728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09728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EXIT-TICKET · 4 MIN.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459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Bevor du gehst …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822960" y="2743200"/>
            <a:ext cx="502920" cy="50292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76148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Formuliere als Ich-Botschaft mit Bitte: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32461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„Nie hörst du mir zu!“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822960" y="4343400"/>
            <a:ext cx="502920" cy="50292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436168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Woran erkennst du, dass ein Gespräch gerade kippt? Nenne zwei Signale.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liegt im Gruppenumschlag · Abgabe an der Tür.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Kommunikationsstörungen lösen</dc:title>
  <dc:subject>PptxGenJS Presentation</dc:subject>
  <dc:creator>PptxGenJS</dc:creator>
  <cp:lastModifiedBy>PptxGenJS</cp:lastModifiedBy>
  <cp:revision>1</cp:revision>
  <dcterms:created xsi:type="dcterms:W3CDTF">2026-09-25T18:50:16Z</dcterms:created>
  <dcterms:modified xsi:type="dcterms:W3CDTF">2026-09-25T18:50:16Z</dcterms:modified>
</cp:coreProperties>
</file>