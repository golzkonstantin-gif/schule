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Diese Folie läuft beim Ankommen. Vorher austeilen: Arbeitsblatt (1 pro Person), Stopp-Karten (1 pro Person). Pro Gruppentisch: Rollen- und Expertenkarten. Aufs Pult: Tippkarten, Situationskarten, Lösungsblätter (Lehrermaterial S. 2–3). Timer sichtbar einblenden (z. B. Handy unter der Dokumentenkamera oder ein Online-Timer). Möglichst ohne Einführung direkt zu Folie 2 wechseln.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Nicht erklären, nur Timer starten. Nach 3 Minuten ein Handzeichen oder Gong, dann 2 Minuten Partnervergleich. Es gibt hier keine Plenumsrunde – direkt weiter mit Folie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Während der Partnerarbeit herumgehen und nur zuhören. Wer fertig ist, holt sich das Lösungsblatt selbst (Lehrermaterial S. 2). Erwartung: Z. 3 (★ Du-Botschaft/Beziehungsohr), Z. 4 (Gegenangriff, symmetrische Eskalation), Z. 5 (Verallgemeinerung, Interpunktion), Z. 7 (Ironie, inkongruent), Z. 8–9 (nonverbaler Rückzug, man kann nicht nicht kommunizieren). Jetzt Vierergruppen bilden lassen (z. B. zwei Paare zusammen).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Timer auf 20 Minuten, die Zeit-Person der Gruppe achtet auf die Teilphasen. Folie 5 (Werkzeugkasten) kann parallel als Überblick eingeblendet werden, sobald die Gruppen mit dem Umschreiben beginnen. Musterlösung: Lehrermaterial S.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Überblicksfolie, kein Vortrag. Sie kann während Aufgabe 3 und 4 stehen bleiben und dient als Gedächtnisstütze beim Schreiben der eigenen Szene.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Gruppen verteilen sich zum Proben ggf. auf Flur oder Ecken. Reihenfolge der Auftritte schon jetzt festlegen (z. B. Zettel an der Tafel), damit jede Gruppe weiß, wann sie moderiert: immer die Gruppe, die als nächste spielt.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Sie setzen sich ins Publikum und notieren nur. Pro Gruppe etwa 4 Minuten. Wird zu früh oder zu spät gestoppt, ist das ein guter Anlass: Die Moderation fragt „Wer sieht es anders?“. Zeit knapp? Nur 3–4 Gruppen spielen, die übrigen zu Beginn der nächsten Stunde. Alternative: Alle spielen nur Version A mit Freeze, und das Publikum schlägt am Kipppunkt spontan eine bessere Reaktion vor.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Exit-Tickets an der Tür einsammeln. Erwartungshorizont: Lehrermaterial S. 3. Zwei oder drei gelungene Formulierungen können die nächste Stunde eröffnen.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206240" cy="4206240"/>
          </a:xfrm>
          <a:prstGeom prst="ellipse">
            <a:avLst/>
          </a:prstGeom>
          <a:solidFill>
            <a:srgbClr val="24306E"/>
          </a:solidFill>
          <a:ln/>
        </p:spPr>
      </p:sp>
      <p:sp>
        <p:nvSpPr>
          <p:cNvPr id="3" name="Shape 1"/>
          <p:cNvSpPr/>
          <p:nvPr/>
        </p:nvSpPr>
        <p:spPr>
          <a:xfrm>
            <a:off x="-1371600" y="4206240"/>
            <a:ext cx="3657600" cy="3657600"/>
          </a:xfrm>
          <a:prstGeom prst="ellipse">
            <a:avLst/>
          </a:prstGeom>
          <a:solidFill>
            <a:srgbClr val="24306E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1874520"/>
            <a:ext cx="2194560" cy="384048"/>
          </a:xfrm>
          <a:prstGeom prst="roundRect">
            <a:avLst>
              <a:gd name="adj" fmla="val 50000"/>
            </a:avLst>
          </a:prstGeom>
          <a:solidFill>
            <a:srgbClr val="D9534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87452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DOPPELSTUNDE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2316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Kommunikationsstörungen lösen</a:t>
            </a:r>
            <a:endParaRPr lang="en-US" sz="38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3832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 kippt ein Gespräch – und wie rettet man es?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822960" y="4160520"/>
            <a:ext cx="2194560" cy="384048"/>
          </a:xfrm>
          <a:prstGeom prst="roundRect">
            <a:avLst>
              <a:gd name="adj" fmla="val 50000"/>
            </a:avLst>
          </a:prstGeom>
          <a:solidFill>
            <a:srgbClr val="3F7CC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22960" y="416052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Ich-Botschaft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154680" y="4160520"/>
            <a:ext cx="2194560" cy="384048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154680" y="416052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Empathie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0" y="4160520"/>
            <a:ext cx="2194560" cy="384048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0" y="416052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Wunsch &amp; Bitte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818120" y="4160520"/>
            <a:ext cx="2194560" cy="384048"/>
          </a:xfrm>
          <a:prstGeom prst="roundRect">
            <a:avLst>
              <a:gd name="adj" fmla="val 50000"/>
            </a:avLst>
          </a:prstGeom>
          <a:solidFill>
            <a:srgbClr val="8E5BB5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818120" y="416052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Metakommunikation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60350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Deutsch, Klasse 11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EINSTIEG · STILL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 welcher Zeile geht es schief?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9326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 auf deinem Arbeitsblatt · erst allein, dann mit dem Nachbarn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Kommunikationsstörungen lösen · Deutsch 11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966960" y="411480"/>
            <a:ext cx="1691640" cy="9144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966960" y="45720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Min.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9966960" y="932688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allein → zu zweit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1783080"/>
            <a:ext cx="8138160" cy="384048"/>
          </a:xfrm>
          <a:prstGeom prst="roundRect">
            <a:avLst>
              <a:gd name="adj" fmla="val 9524"/>
            </a:avLst>
          </a:prstGeom>
          <a:solidFill>
            <a:srgbClr val="F4F7F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1783080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1783080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Lena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783080" y="1783080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Hey, hast du die Folien fertig? Wir sind morgen dran.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2212848"/>
            <a:ext cx="8138160" cy="384048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0080" y="2212848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051560" y="2212848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783080" y="2212848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Fast. Den Rest mach ich heute Abend.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48640" y="2642616"/>
            <a:ext cx="8138160" cy="384048"/>
          </a:xfrm>
          <a:prstGeom prst="roundRect">
            <a:avLst>
              <a:gd name="adj" fmla="val 9524"/>
            </a:avLst>
          </a:prstGeom>
          <a:solidFill>
            <a:srgbClr val="F4F7FD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40080" y="2642616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051560" y="2642616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Lena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783080" y="2642616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Heute Abend? Du hattest eine ganze Woche Zeit.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48640" y="3072384"/>
            <a:ext cx="8138160" cy="384048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40080" y="3072384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1051560" y="3072384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1783080" y="3072384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Ich hatte halt dreimal Training. Nicht jeder hat so viel Freizeit wie du.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548640" y="3502152"/>
            <a:ext cx="8138160" cy="384048"/>
          </a:xfrm>
          <a:prstGeom prst="roundRect">
            <a:avLst>
              <a:gd name="adj" fmla="val 9524"/>
            </a:avLst>
          </a:prstGeom>
          <a:solidFill>
            <a:srgbClr val="F4F7FD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40080" y="3502152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1051560" y="3502152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Lena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1783080" y="3502152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Freizeit? Ich hab die komplette Gliederung gemacht! Immer bleibt alles an mir hängen.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548640" y="3931920"/>
            <a:ext cx="8138160" cy="384048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40080" y="3931920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1051560" y="3931920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1783080" y="3931920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Dann mach’s doch allein, wenn du eh alles besser kannst.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548640" y="4361688"/>
            <a:ext cx="8138160" cy="384048"/>
          </a:xfrm>
          <a:prstGeom prst="roundRect">
            <a:avLst>
              <a:gd name="adj" fmla="val 9524"/>
            </a:avLst>
          </a:prstGeom>
          <a:solidFill>
            <a:srgbClr val="F4F7FD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40080" y="4361688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1051560" y="4361688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Lena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783080" y="4361688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(verdreht die Augen) Super. Genau das hab ich von dir erwartet.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548640" y="4791456"/>
            <a:ext cx="8138160" cy="384048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40080" y="4791456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1051560" y="4791456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1783080" y="4791456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(zuckt mit den Schultern, schaut aufs Handy) Wie du meinst.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548640" y="5221224"/>
            <a:ext cx="8138160" cy="384048"/>
          </a:xfrm>
          <a:prstGeom prst="roundRect">
            <a:avLst>
              <a:gd name="adj" fmla="val 9524"/>
            </a:avLst>
          </a:prstGeom>
          <a:solidFill>
            <a:srgbClr val="F4F7FD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640080" y="5221224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1051560" y="5221224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Lena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1783080" y="5221224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Ja, schau ruhig aufs Handy. Ist ja auch wichtiger.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548640" y="5650992"/>
            <a:ext cx="8138160" cy="384048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640080" y="5650992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1051560" y="5650992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</a:t>
            </a:r>
            <a:endParaRPr lang="en-US" sz="1400" dirty="0"/>
          </a:p>
        </p:txBody>
      </p:sp>
      <p:sp>
        <p:nvSpPr>
          <p:cNvPr id="49" name="Text 47"/>
          <p:cNvSpPr txBox="1"/>
          <p:nvPr/>
        </p:nvSpPr>
        <p:spPr>
          <a:xfrm>
            <a:off x="1783080" y="5650992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(steht auf und geht) Boah, du nervst echt.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9052560" y="1783080"/>
            <a:ext cx="2606040" cy="4206240"/>
          </a:xfrm>
          <a:prstGeom prst="roundRect">
            <a:avLst>
              <a:gd name="adj" fmla="val 2807"/>
            </a:avLst>
          </a:prstGeom>
          <a:solidFill>
            <a:srgbClr val="D9534F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9052560" y="1920240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↯</a:t>
            </a:r>
            <a:endParaRPr lang="en-US" sz="4800" dirty="0"/>
          </a:p>
        </p:txBody>
      </p:sp>
      <p:sp>
        <p:nvSpPr>
          <p:cNvPr id="52" name="Text 50"/>
          <p:cNvSpPr txBox="1"/>
          <p:nvPr/>
        </p:nvSpPr>
        <p:spPr>
          <a:xfrm>
            <a:off x="9235440" y="2834640"/>
            <a:ext cx="22402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Markiere jede Stelle, an der das Gespräch kippt.</a:t>
            </a:r>
            <a:endParaRPr lang="en-US" sz="1600" dirty="0"/>
          </a:p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Min. still.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Dann 2 Min. vergleichen: Wo seid ihr euch uneinig?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AUFGABE 2 · PARTNERARBEIT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Kipppunkte benennen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9326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Arbeitsblatt S. 2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Kommunikationsstörungen lösen · Deutsch 11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966960" y="411480"/>
            <a:ext cx="1691640" cy="9144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966960" y="45720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 Min.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9966960" y="932688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 zweit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1847088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1847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1828800"/>
            <a:ext cx="6035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Tragt </a:t>
            </a:r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mindestens drei</a:t>
            </a:r>
            <a:pPr indent="0" marL="0">
              <a:buNone/>
            </a:pPr>
            <a:r>
              <a:rPr lang="en-US" sz="17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Kipppunkte in die Tabelle ein: Zeile, Zitat, Fachbegriff.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548640" y="2715768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2715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2697480"/>
            <a:ext cx="6035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Markiert mit ★ den Kipppunkt, an dem man das Gespräch </a:t>
            </a:r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 leichtesten</a:t>
            </a:r>
            <a:pPr indent="0" marL="0">
              <a:buNone/>
            </a:pPr>
            <a:r>
              <a:rPr lang="en-US" sz="17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hätte retten können.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548640" y="3584448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3584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3566160"/>
            <a:ext cx="6035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Vergleicht mit dem </a:t>
            </a:r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Lösungsblatt am Pult</a:t>
            </a:r>
            <a:pPr indent="0" marL="0">
              <a:buNone/>
            </a:pPr>
            <a:r>
              <a:rPr lang="en-US" sz="17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Ergänzt in einer anderen Farbe.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7589520" y="1783080"/>
            <a:ext cx="4069080" cy="2834640"/>
          </a:xfrm>
          <a:prstGeom prst="roundRect">
            <a:avLst>
              <a:gd name="adj" fmla="val 2581"/>
            </a:avLst>
          </a:prstGeom>
          <a:solidFill>
            <a:srgbClr val="EAF0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818120" y="19202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Werkzeuge aus den Modellen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7818120" y="2377440"/>
            <a:ext cx="3657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Sach- / Beziehungsebene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Selbstkundgabe · Appell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Du-Botschaft · „immer“ / „nie“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Ironie = inkongruente Botschaft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symmetrische Eskalation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Interpunktion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548640" y="4937760"/>
            <a:ext cx="11109960" cy="1097280"/>
          </a:xfrm>
          <a:prstGeom prst="roundRect">
            <a:avLst>
              <a:gd name="adj" fmla="val 6667"/>
            </a:avLst>
          </a:prstGeom>
          <a:solidFill>
            <a:srgbClr val="FFF8EC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22960" y="50474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Nicht weitergekommen?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822960" y="54406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Nachbarn fragen   →   2. Tippkarte vom Pult holen   →   3. erst dann die Lehrkraft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AUFGABE 3 · GRUPPENPUZZLE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 Gespräch retten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9326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Arbeitsblatt S. 3 · Vierergruppen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Kommunikationsstörungen lösen · Deutsch 11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966960" y="411480"/>
            <a:ext cx="1691640" cy="9144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966960" y="45720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 Min.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9966960" y="932688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Gruppe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1783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Zuerst: Rollen verteilen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548640" y="2240280"/>
            <a:ext cx="2651760" cy="960120"/>
          </a:xfrm>
          <a:prstGeom prst="roundRect">
            <a:avLst>
              <a:gd name="adj" fmla="val 7619"/>
            </a:avLst>
          </a:prstGeom>
          <a:solidFill>
            <a:srgbClr val="F4F7F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31520" y="230428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Zeit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267004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 den Timer im Blick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364992" y="2240280"/>
            <a:ext cx="2651760" cy="960120"/>
          </a:xfrm>
          <a:prstGeom prst="roundRect">
            <a:avLst>
              <a:gd name="adj" fmla="val 7619"/>
            </a:avLst>
          </a:prstGeom>
          <a:solidFill>
            <a:srgbClr val="F4F7F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547872" y="230428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Protokoll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3547872" y="267004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schreibt auf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181344" y="2240280"/>
            <a:ext cx="2651760" cy="960120"/>
          </a:xfrm>
          <a:prstGeom prst="roundRect">
            <a:avLst>
              <a:gd name="adj" fmla="val 7619"/>
            </a:avLst>
          </a:prstGeom>
          <a:solidFill>
            <a:srgbClr val="F4F7FD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364224" y="230428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Regie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6364224" y="267004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 kommen zu Wort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8997696" y="2240280"/>
            <a:ext cx="2651760" cy="960120"/>
          </a:xfrm>
          <a:prstGeom prst="roundRect">
            <a:avLst>
              <a:gd name="adj" fmla="val 7619"/>
            </a:avLst>
          </a:prstGeom>
          <a:solidFill>
            <a:srgbClr val="F4F7FD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180576" y="230428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Material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9180576" y="267004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holt Karten · fragt als Einzige die Lehrkraft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48640" y="3520440"/>
            <a:ext cx="35661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B9C6E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77240" y="36576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5'</a:t>
            </a:r>
            <a:endParaRPr lang="en-US" sz="2400" dirty="0"/>
          </a:p>
        </p:txBody>
      </p:sp>
      <p:sp>
        <p:nvSpPr>
          <p:cNvPr id="25" name="Text 23"/>
          <p:cNvSpPr txBox="1"/>
          <p:nvPr/>
        </p:nvSpPr>
        <p:spPr>
          <a:xfrm>
            <a:off x="1645920" y="37033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Lesen</a:t>
            </a:r>
            <a:endParaRPr lang="en-US" sz="1900" dirty="0"/>
          </a:p>
        </p:txBody>
      </p:sp>
      <p:sp>
        <p:nvSpPr>
          <p:cNvPr id="26" name="Text 24"/>
          <p:cNvSpPr txBox="1"/>
          <p:nvPr/>
        </p:nvSpPr>
        <p:spPr>
          <a:xfrm>
            <a:off x="777240" y="4206240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Jede Person liest allein eine Expertenkarte A–D.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4297680" y="3520440"/>
            <a:ext cx="35661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B9C6E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526280" y="36576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8'</a:t>
            </a:r>
            <a:endParaRPr lang="en-US" sz="2400" dirty="0"/>
          </a:p>
        </p:txBody>
      </p:sp>
      <p:sp>
        <p:nvSpPr>
          <p:cNvPr id="29" name="Text 27"/>
          <p:cNvSpPr txBox="1"/>
          <p:nvPr/>
        </p:nvSpPr>
        <p:spPr>
          <a:xfrm>
            <a:off x="5394960" y="37033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Erklären</a:t>
            </a:r>
            <a:endParaRPr lang="en-US" sz="1900" dirty="0"/>
          </a:p>
        </p:txBody>
      </p:sp>
      <p:sp>
        <p:nvSpPr>
          <p:cNvPr id="30" name="Text 28"/>
          <p:cNvSpPr txBox="1"/>
          <p:nvPr/>
        </p:nvSpPr>
        <p:spPr>
          <a:xfrm>
            <a:off x="4526280" y="4206240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Reihum: jede Strategie in höchstens 2 Minuten – mit Beispiel.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8046720" y="3520440"/>
            <a:ext cx="35661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B9C6E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275320" y="36576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7'</a:t>
            </a:r>
            <a:endParaRPr lang="en-US" sz="2400" dirty="0"/>
          </a:p>
        </p:txBody>
      </p:sp>
      <p:sp>
        <p:nvSpPr>
          <p:cNvPr id="33" name="Text 31"/>
          <p:cNvSpPr txBox="1"/>
          <p:nvPr/>
        </p:nvSpPr>
        <p:spPr>
          <a:xfrm>
            <a:off x="9144000" y="37033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Umschreiben</a:t>
            </a:r>
            <a:endParaRPr lang="en-US" sz="1900" dirty="0"/>
          </a:p>
        </p:txBody>
      </p:sp>
      <p:sp>
        <p:nvSpPr>
          <p:cNvPr id="34" name="Text 32"/>
          <p:cNvSpPr txBox="1"/>
          <p:nvPr/>
        </p:nvSpPr>
        <p:spPr>
          <a:xfrm>
            <a:off x="8275320" y="4206240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Dialog ab Zeile 3 neu schreiben, mindestens 3 Strategien. Checkliste prüfen.</a:t>
            </a:r>
            <a:endParaRPr lang="en-US" sz="1500" dirty="0"/>
          </a:p>
        </p:txBody>
      </p:sp>
      <p:sp>
        <p:nvSpPr>
          <p:cNvPr id="35" name="Shape 33"/>
          <p:cNvSpPr/>
          <p:nvPr/>
        </p:nvSpPr>
        <p:spPr>
          <a:xfrm>
            <a:off x="548640" y="5577840"/>
            <a:ext cx="11109960" cy="548640"/>
          </a:xfrm>
          <a:prstGeom prst="roundRect">
            <a:avLst>
              <a:gd name="adj" fmla="val 13333"/>
            </a:avLst>
          </a:prstGeom>
          <a:solidFill>
            <a:srgbClr val="1E2761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22960" y="557784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 fertig ist: Musterlösung am Pult vergleichen und die letzte Spalte von Aufgabe 2 ausfüllen.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ÜBERBLICK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Der Werkzeugkasten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9326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Vier Strategien, um ein kippendes Gespräch zu retten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Kommunikationsstörungen lösen · Deutsch 11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783080"/>
            <a:ext cx="2651760" cy="3749040"/>
          </a:xfrm>
          <a:prstGeom prst="roundRect">
            <a:avLst>
              <a:gd name="adj" fmla="val 2759"/>
            </a:avLst>
          </a:prstGeom>
          <a:solidFill>
            <a:srgbClr val="F4F7FD"/>
          </a:solidFill>
          <a:ln/>
        </p:spPr>
      </p:sp>
      <p:sp>
        <p:nvSpPr>
          <p:cNvPr id="8" name="Shape 6"/>
          <p:cNvSpPr/>
          <p:nvPr/>
        </p:nvSpPr>
        <p:spPr>
          <a:xfrm>
            <a:off x="777240" y="1965960"/>
            <a:ext cx="640080" cy="640080"/>
          </a:xfrm>
          <a:prstGeom prst="ellipse">
            <a:avLst/>
          </a:prstGeom>
          <a:solidFill>
            <a:srgbClr val="3F7CC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77240" y="19659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6974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F7CC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Ich-Botschaft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320040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Wenn … fühle ich mich …, weil …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429768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B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„Ich werde nervös, weil wir morgen schon dran sind.“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364992" y="1783080"/>
            <a:ext cx="2651760" cy="3749040"/>
          </a:xfrm>
          <a:prstGeom prst="roundRect">
            <a:avLst>
              <a:gd name="adj" fmla="val 2759"/>
            </a:avLst>
          </a:prstGeom>
          <a:solidFill>
            <a:srgbClr val="F4F7FD"/>
          </a:solidFill>
          <a:ln/>
        </p:spPr>
      </p:sp>
      <p:sp>
        <p:nvSpPr>
          <p:cNvPr id="14" name="Shape 12"/>
          <p:cNvSpPr/>
          <p:nvPr/>
        </p:nvSpPr>
        <p:spPr>
          <a:xfrm>
            <a:off x="3593592" y="1965960"/>
            <a:ext cx="640080" cy="640080"/>
          </a:xfrm>
          <a:prstGeom prst="ellipse">
            <a:avLst/>
          </a:prstGeom>
          <a:solidFill>
            <a:srgbClr val="2E9E6B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593592" y="19659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3547872" y="26974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E9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Empathie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3593592" y="320040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 meinst also … ? · Das klingt, als ob du … bist.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3593592" y="429768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B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„Du bist gestresst, weil alles klappen soll, oder?“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181344" y="1783080"/>
            <a:ext cx="2651760" cy="3749040"/>
          </a:xfrm>
          <a:prstGeom prst="roundRect">
            <a:avLst>
              <a:gd name="adj" fmla="val 2759"/>
            </a:avLst>
          </a:prstGeom>
          <a:solidFill>
            <a:srgbClr val="F4F7FD"/>
          </a:solidFill>
          <a:ln/>
        </p:spPr>
      </p:sp>
      <p:sp>
        <p:nvSpPr>
          <p:cNvPr id="20" name="Shape 18"/>
          <p:cNvSpPr/>
          <p:nvPr/>
        </p:nvSpPr>
        <p:spPr>
          <a:xfrm>
            <a:off x="6409944" y="1965960"/>
            <a:ext cx="640080" cy="64008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409944" y="19659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2400" dirty="0"/>
          </a:p>
        </p:txBody>
      </p:sp>
      <p:sp>
        <p:nvSpPr>
          <p:cNvPr id="22" name="Text 20"/>
          <p:cNvSpPr txBox="1"/>
          <p:nvPr/>
        </p:nvSpPr>
        <p:spPr>
          <a:xfrm>
            <a:off x="6364224" y="26974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Wunsch &amp; Bitte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6409944" y="320040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Beobachtung → Gefühl → Bedürfnis → Bitte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409944" y="429768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B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„Kannst du mir die Folien bis 19 Uhr schicken?“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8997696" y="1783080"/>
            <a:ext cx="2651760" cy="3749040"/>
          </a:xfrm>
          <a:prstGeom prst="roundRect">
            <a:avLst>
              <a:gd name="adj" fmla="val 2759"/>
            </a:avLst>
          </a:prstGeom>
          <a:solidFill>
            <a:srgbClr val="F4F7FD"/>
          </a:solidFill>
          <a:ln/>
        </p:spPr>
      </p:sp>
      <p:sp>
        <p:nvSpPr>
          <p:cNvPr id="26" name="Shape 24"/>
          <p:cNvSpPr/>
          <p:nvPr/>
        </p:nvSpPr>
        <p:spPr>
          <a:xfrm>
            <a:off x="9226296" y="1965960"/>
            <a:ext cx="640080" cy="640080"/>
          </a:xfrm>
          <a:prstGeom prst="ellipse">
            <a:avLst/>
          </a:prstGeom>
          <a:solidFill>
            <a:srgbClr val="8E5BB5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9226296" y="19659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2400" dirty="0"/>
          </a:p>
        </p:txBody>
      </p:sp>
      <p:sp>
        <p:nvSpPr>
          <p:cNvPr id="28" name="Text 26"/>
          <p:cNvSpPr txBox="1"/>
          <p:nvPr/>
        </p:nvSpPr>
        <p:spPr>
          <a:xfrm>
            <a:off x="9180576" y="26974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8E5B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Metakommunikation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9226296" y="320040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Stopp – wie reden wir gerade miteinander?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9226296" y="429768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B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„Wir werfen uns nur noch Sachen an den Kopf.“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548640" y="5669280"/>
            <a:ext cx="11109960" cy="502920"/>
          </a:xfrm>
          <a:prstGeom prst="roundRect">
            <a:avLst>
              <a:gd name="adj" fmla="val 14545"/>
            </a:avLst>
          </a:prstGeom>
          <a:solidFill>
            <a:srgbClr val="FBECEB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22960" y="566928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5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Tabu: Du-Vorwürfe · „immer“ und „nie“ · Ironie · Gegenangriff · „Ja, aber …“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AUFGABE 4 · GRUPPE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Eure eigene Szene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9326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Arbeitsblatt S. 4 · Planungsbogen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Kommunikationsstörungen lösen · Deutsch 11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966960" y="411480"/>
            <a:ext cx="1691640" cy="9144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966960" y="45720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 Min.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9966960" y="932688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Gruppe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1783080"/>
            <a:ext cx="5394960" cy="2148840"/>
          </a:xfrm>
          <a:prstGeom prst="roundRect">
            <a:avLst>
              <a:gd name="adj" fmla="val 3404"/>
            </a:avLst>
          </a:prstGeom>
          <a:solidFill>
            <a:srgbClr val="FBECE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1901952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Version A – es kippt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2423160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harmloser Anfang  →  ein Satz mit Du-Vorwurf, „immer“ oder Ironie  →  Gegenangriff  →  Abbruch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263640" y="1783080"/>
            <a:ext cx="5394960" cy="2148840"/>
          </a:xfrm>
          <a:prstGeom prst="roundRect">
            <a:avLst>
              <a:gd name="adj" fmla="val 3404"/>
            </a:avLst>
          </a:prstGeom>
          <a:solidFill>
            <a:srgbClr val="E6F4EC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537960" y="1901952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E9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Version B – es wird gelöst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537960" y="2423160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gleicher Anfang  →  am Kipppunkt reagiert jemand anders (A · B · C · D)  →  Lösung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2062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Spielregeln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617720"/>
            <a:ext cx="6858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2–4 Rollen, jede Version höchstens 2 Minuten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Kipppunkt muss für das Publikum erkennbar sein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Letzte 5 Minuten: einmal durchproben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863840" y="4206240"/>
            <a:ext cx="3794760" cy="1874520"/>
          </a:xfrm>
          <a:prstGeom prst="roundRect">
            <a:avLst>
              <a:gd name="adj" fmla="val 3902"/>
            </a:avLst>
          </a:prstGeom>
          <a:solidFill>
            <a:srgbClr val="EAF0F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092440" y="4315968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Keine Idee?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8092440" y="4709160"/>
            <a:ext cx="3383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Material-Person zieht eine Situationskarte: Gruppenarbeit · Party · Chat · Nebenjob · Verein …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AUFGABE 5 · BÜHNE FREI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Freeze! Hier kippt es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9326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Arbeitsblatt S. 5 · Beobachtungsbogen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Kommunikationsstörungen lösen · Deutsch 11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966960" y="411480"/>
            <a:ext cx="1691640" cy="9144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966960" y="45720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 Min.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9966960" y="932688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Plenum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1847088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1847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1828800"/>
            <a:ext cx="6949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A</a:t>
            </a:r>
            <a:pPr indent="0" marL="0">
              <a:buNone/>
            </a:pPr>
            <a:r>
              <a:rPr lang="en-US" sz="17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wird gespielt.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548640" y="2624328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26243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2606040"/>
            <a:ext cx="6949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 erkennst den Kipppunkt? </a:t>
            </a:r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STOPP-Karte hoch!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548640" y="3401568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34015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3383280"/>
            <a:ext cx="6949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Moderation ruft </a:t>
            </a:r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„Freeze!“</a:t>
            </a:r>
            <a:pPr indent="0" marL="0">
              <a:buNone/>
            </a:pPr>
            <a:r>
              <a:rPr lang="en-US" sz="17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eine Person erklärt in einem Satz, was passiert ist.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548640" y="4178808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41788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97280" y="4160520"/>
            <a:ext cx="6949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B</a:t>
            </a:r>
            <a:pPr indent="0" marL="0">
              <a:buNone/>
            </a:pPr>
            <a:r>
              <a:rPr lang="en-US" sz="17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folgt direkt. Welche Strategie erkennst du?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548640" y="4956048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48640" y="49560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1097280" y="4937760"/>
            <a:ext cx="6949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Notiere alles im </a:t>
            </a:r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Beobachtungsbogen</a:t>
            </a:r>
            <a:pPr indent="0" marL="0">
              <a:buNone/>
            </a:pPr>
            <a:r>
              <a:rPr lang="en-US" sz="17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8503920" y="1783080"/>
            <a:ext cx="3154680" cy="3154680"/>
          </a:xfrm>
          <a:prstGeom prst="roundRect">
            <a:avLst>
              <a:gd name="adj" fmla="val 2319"/>
            </a:avLst>
          </a:prstGeom>
          <a:solidFill>
            <a:srgbClr val="D9534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503920" y="1965960"/>
            <a:ext cx="3154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✋</a:t>
            </a:r>
            <a:endParaRPr lang="en-US" sz="4800" dirty="0"/>
          </a:p>
        </p:txBody>
      </p:sp>
      <p:sp>
        <p:nvSpPr>
          <p:cNvPr id="27" name="Text 25"/>
          <p:cNvSpPr txBox="1"/>
          <p:nvPr/>
        </p:nvSpPr>
        <p:spPr>
          <a:xfrm>
            <a:off x="8503920" y="2880360"/>
            <a:ext cx="3154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STOPP</a:t>
            </a:r>
            <a:endParaRPr lang="en-US" sz="4800" dirty="0"/>
          </a:p>
        </p:txBody>
      </p:sp>
      <p:sp>
        <p:nvSpPr>
          <p:cNvPr id="28" name="Text 26"/>
          <p:cNvSpPr txBox="1"/>
          <p:nvPr/>
        </p:nvSpPr>
        <p:spPr>
          <a:xfrm>
            <a:off x="8503920" y="384048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Hier kippt es!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8503920" y="5120640"/>
            <a:ext cx="3154680" cy="960120"/>
          </a:xfrm>
          <a:prstGeom prst="roundRect">
            <a:avLst>
              <a:gd name="adj" fmla="val 7619"/>
            </a:avLst>
          </a:prstGeom>
          <a:solidFill>
            <a:srgbClr val="1E2761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686800" y="5120640"/>
            <a:ext cx="2788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Moderation = die Gruppe, die als nächste spielt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206240" cy="4206240"/>
          </a:xfrm>
          <a:prstGeom prst="ellipse">
            <a:avLst/>
          </a:prstGeom>
          <a:solidFill>
            <a:srgbClr val="24306E"/>
          </a:solidFill>
          <a:ln/>
        </p:spPr>
      </p:sp>
      <p:sp>
        <p:nvSpPr>
          <p:cNvPr id="3" name="Shape 1"/>
          <p:cNvSpPr/>
          <p:nvPr/>
        </p:nvSpPr>
        <p:spPr>
          <a:xfrm>
            <a:off x="-1371600" y="4206240"/>
            <a:ext cx="3657600" cy="3657600"/>
          </a:xfrm>
          <a:prstGeom prst="ellipse">
            <a:avLst/>
          </a:prstGeom>
          <a:solidFill>
            <a:srgbClr val="24306E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1097280"/>
            <a:ext cx="2926080" cy="384048"/>
          </a:xfrm>
          <a:prstGeom prst="roundRect">
            <a:avLst>
              <a:gd name="adj" fmla="val 50000"/>
            </a:avLst>
          </a:prstGeom>
          <a:solidFill>
            <a:srgbClr val="D9534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09728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EXIT-TICKET · 5 MIN.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64592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Bevor du gehst …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822960" y="2743200"/>
            <a:ext cx="502920" cy="50292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2743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554480" y="2761488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Formuliere als Ich-Botschaft mit Bitte: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1554480" y="324612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„Nie hörst du mir zu!“</a:t>
            </a:r>
            <a:endParaRPr lang="en-US" sz="3200" dirty="0"/>
          </a:p>
        </p:txBody>
      </p:sp>
      <p:sp>
        <p:nvSpPr>
          <p:cNvPr id="11" name="Shape 9"/>
          <p:cNvSpPr/>
          <p:nvPr/>
        </p:nvSpPr>
        <p:spPr>
          <a:xfrm>
            <a:off x="822960" y="4343400"/>
            <a:ext cx="502920" cy="50292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22960" y="43434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554480" y="4361688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Woran erkennst du, dass ein Gespräch gerade kippt? Nenne zwei Signale.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5852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Abgabe an der Tür.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Kommunikationsstörungen lösen</dc:title>
  <dc:subject>PptxGenJS Presentation</dc:subject>
  <dc:creator>PptxGenJS</dc:creator>
  <cp:lastModifiedBy>PptxGenJS</cp:lastModifiedBy>
  <cp:revision>1</cp:revision>
  <dcterms:created xsi:type="dcterms:W3CDTF">2026-09-25T17:47:35Z</dcterms:created>
  <dcterms:modified xsi:type="dcterms:W3CDTF">2026-09-25T17:47:35Z</dcterms:modified>
</cp:coreProperties>
</file>