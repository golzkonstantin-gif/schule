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Briefanfang vorlesen, die Klasse liest mit. Dann weiter zur Impulsfrage.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drei Vermutungen sammeln. Dann die These an die Tafel: „Kafkas ‚Furcht‘ gründet auf Kommunikationsproblemen.“ Überleitung: „Bevor wir das prüfen, brauchen wir den Hintergrund – den schreibt ihr jetzt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steht während des Diktats. Diktieren nach der Vorlesefassung. Danach weiter zur Lösungsfolie.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stehen lassen, bis alle verglichen haben. Keine Besprechung – nur Selbstkontrolle.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stehen lassen, bis alle verglichen haben. Keine Besprechung – nur Selbstkontrolle.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Danach den Fahrplan an die Tafel und das Arbeitsblatt austeilen.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3 Minuten still lesen lassen. Dann im Gespräch Zeile für Zeile die Matrix entwickeln (Impulse im Tafelscript). Stellen am Whiteboard markieren, über die gerade gesprochen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13 Minuten. Herumgehen, zwei gute Zeilen für das Zusammentragen vormerken.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Zusammentragen stehen lassen, damit alle die genannten Zeilen finden. Matrix C an der Tafel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fragen: „Bestätigen A und C die These?“ Diese Folie nur zeigen, wenn die Gegenstimme nicht von selbst kommt. Ergebnis: Die These trägt, braucht aber eine Ergänzung (Machtgefälle).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Operatoren kurz klären: Analysiere = untersuchen und geordnet, belegt darstellen; unter Berücksichtigung der Modelle = Fachbegriffe zur Erklärung nutzen; Beurteile abschließend, inwieweit = begründetes Urteil, auch „ja, aber“ ist möglich. Timer 15 Minuten. Wer nach 5 Minuten keinen Anfang hat: nächste Folie (Musteranfang). Wer nicht fertig wird, schreibt zu Beginn der nächsten Stunde weiter – keine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frühestens nach 5 Minuten Schreibzeit zeigen. Nur Einleitung und erster Satz zu A – den Rest schreiben die Schülerinnen und Schüler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zwei Einleitungen vorlesen lassen, dann Ausblick auf die Übungsklausur (Tischregeln, S.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FRANZ KAFKA · „BRIEF AN DEN VATER“ · 1919</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Der Anfang des Briefs</a:t>
            </a:r>
            <a:endParaRPr lang="en-US" sz="2700" dirty="0"/>
          </a:p>
        </p:txBody>
      </p:sp>
      <p:sp>
        <p:nvSpPr>
          <p:cNvPr id="5" name="Text 3"/>
          <p:cNvSpPr txBox="1"/>
          <p:nvPr/>
        </p:nvSpPr>
        <p:spPr>
          <a:xfrm>
            <a:off x="640080" y="1280160"/>
            <a:ext cx="10881360" cy="4937760"/>
          </a:xfrm>
          <a:prstGeom prst="rect">
            <a:avLst/>
          </a:prstGeom>
          <a:noFill/>
          <a:ln/>
        </p:spPr>
        <p:txBody>
          <a:bodyPr wrap="square" lIns="0" tIns="0" rIns="0" bIns="0" rtlCol="0" anchor="t"/>
          <a:lstStyle/>
          <a:p>
            <a:pPr indent="0" marL="0">
              <a:lnSpc>
                <a:spcPct val="125000"/>
              </a:lnSpc>
              <a:spcAft>
                <a:spcPts val="800"/>
              </a:spcAft>
              <a:buNone/>
            </a:pPr>
            <a:r>
              <a:rPr lang="en-US" sz="2500" dirty="0">
                <a:solidFill>
                  <a:srgbClr val="1E2761"/>
                </a:solidFill>
                <a:latin typeface="Cambria" pitchFamily="34" charset="0"/>
                <a:ea typeface="Cambria" pitchFamily="34" charset="-122"/>
                <a:cs typeface="Cambria" pitchFamily="34" charset="-120"/>
              </a:rPr>
              <a:t>Liebster Vater,</a:t>
            </a:r>
            <a:endParaRPr lang="en-US" sz="2500" dirty="0"/>
          </a:p>
          <a:p>
            <a:pPr indent="0" marL="0">
              <a:lnSpc>
                <a:spcPct val="125000"/>
              </a:lnSpc>
              <a:spcAft>
                <a:spcPts val="800"/>
              </a:spcAft>
              <a:buNone/>
            </a:pPr>
            <a:r>
              <a:rPr lang="en-US" sz="2500" dirty="0">
                <a:solidFill>
                  <a:srgbClr val="1E2761"/>
                </a:solidFill>
                <a:latin typeface="Cambria" pitchFamily="34" charset="0"/>
                <a:ea typeface="Cambria" pitchFamily="34" charset="-122"/>
                <a:cs typeface="Cambria" pitchFamily="34" charset="-120"/>
              </a:rPr>
              <a:t>Du hast mich letzthin einmal gefragt, warum ich behaupte, ich hätte Furcht vor Dir. Ich wußte Dir, wie gewöhnlich, nichts zu antworten, zum Teil eben aus der Furcht, die ich vor Dir habe, zum Teil deshalb, weil zur Begründung dieser Furcht zu viele Einzelheiten gehören, als daß ich sie im Reden halbwegs zusammenhalten könnte. Und wenn ich hier versuche, Dir schriftlich zu antworten, so wird es doch nur sehr unvollständig sein, weil auch im Schreiben die Furcht und ihre Folgen mich Dir gegenüber behindern und weil die Größe des Stoffs über mein Gedächtnis und meinen Verstand weit hinausgeht.</a:t>
            </a:r>
            <a:endParaRPr lang="en-US" sz="2500" dirty="0"/>
          </a:p>
        </p:txBody>
      </p:sp>
      <p:sp>
        <p:nvSpPr>
          <p:cNvPr id="6" name="Text 4"/>
          <p:cNvSpPr txBox="1"/>
          <p:nvPr/>
        </p:nvSpPr>
        <p:spPr>
          <a:xfrm>
            <a:off x="10241280" y="6263640"/>
            <a:ext cx="1371600" cy="320040"/>
          </a:xfrm>
          <a:prstGeom prst="rect">
            <a:avLst/>
          </a:prstGeom>
          <a:noFill/>
          <a:ln/>
        </p:spPr>
        <p:txBody>
          <a:bodyPr wrap="square" lIns="0" tIns="0" rIns="0" bIns="0" rtlCol="0" anchor="t"/>
          <a:lstStyle/>
          <a:p>
            <a:pPr algn="r" indent="0" marL="0">
              <a:buNone/>
            </a:pPr>
            <a:r>
              <a:rPr lang="en-US" sz="1400" dirty="0">
                <a:solidFill>
                  <a:srgbClr val="5B6B8C"/>
                </a:solidFill>
                <a:latin typeface="Calibri" pitchFamily="34" charset="0"/>
                <a:ea typeface="Calibri" pitchFamily="34" charset="-122"/>
                <a:cs typeface="Calibri" pitchFamily="34" charset="-120"/>
              </a:rPr>
              <a:t>S. 2</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Text 1"/>
          <p:cNvSpPr txBox="1"/>
          <p:nvPr/>
        </p:nvSpPr>
        <p:spPr>
          <a:xfrm>
            <a:off x="822960" y="1280160"/>
            <a:ext cx="10424160" cy="914400"/>
          </a:xfrm>
          <a:prstGeom prst="rect">
            <a:avLst/>
          </a:prstGeom>
          <a:noFill/>
          <a:ln/>
        </p:spPr>
        <p:txBody>
          <a:bodyPr wrap="square" lIns="0" tIns="0" rIns="0" bIns="0" rtlCol="0" anchor="t"/>
          <a:lstStyle/>
          <a:p>
            <a:pPr indent="0" marL="0">
              <a:buNone/>
            </a:pPr>
            <a:r>
              <a:rPr lang="en-US" sz="3200" i="1" dirty="0">
                <a:solidFill>
                  <a:srgbClr val="CADCFC"/>
                </a:solidFill>
                <a:latin typeface="Cambria" pitchFamily="34" charset="0"/>
                <a:ea typeface="Cambria" pitchFamily="34" charset="-122"/>
                <a:cs typeface="Cambria" pitchFamily="34" charset="-120"/>
              </a:rPr>
              <a:t>„… ich hätte Furcht vor Dir.“</a:t>
            </a:r>
            <a:endParaRPr lang="en-US" sz="3200" dirty="0"/>
          </a:p>
        </p:txBody>
      </p:sp>
      <p:sp>
        <p:nvSpPr>
          <p:cNvPr id="4" name="Shape 2"/>
          <p:cNvSpPr/>
          <p:nvPr/>
        </p:nvSpPr>
        <p:spPr>
          <a:xfrm>
            <a:off x="822960" y="2651760"/>
            <a:ext cx="10515600" cy="1463040"/>
          </a:xfrm>
          <a:prstGeom prst="roundRect">
            <a:avLst>
              <a:gd name="adj" fmla="val 5000"/>
            </a:avLst>
          </a:prstGeom>
          <a:solidFill>
            <a:srgbClr val="D9534F"/>
          </a:solidFill>
          <a:ln/>
        </p:spPr>
      </p:sp>
      <p:sp>
        <p:nvSpPr>
          <p:cNvPr id="5" name="Text 3"/>
          <p:cNvSpPr txBox="1"/>
          <p:nvPr/>
        </p:nvSpPr>
        <p:spPr>
          <a:xfrm>
            <a:off x="1097280" y="2651760"/>
            <a:ext cx="10058400"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Wovor hat ein 36-Jähriger Furcht – und warum schreibt er, statt zu reden?</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371600" y="4206240"/>
            <a:ext cx="3657600" cy="3657600"/>
          </a:xfrm>
          <a:prstGeom prst="ellipse">
            <a:avLst/>
          </a:prstGeom>
          <a:solidFill>
            <a:srgbClr val="24306E"/>
          </a:solidFill>
          <a:ln/>
        </p:spPr>
      </p:sp>
      <p:sp>
        <p:nvSpPr>
          <p:cNvPr id="3" name="Shape 1"/>
          <p:cNvSpPr/>
          <p:nvPr/>
        </p:nvSpPr>
        <p:spPr>
          <a:xfrm>
            <a:off x="822960" y="1828800"/>
            <a:ext cx="1828800" cy="402336"/>
          </a:xfrm>
          <a:prstGeom prst="roundRect">
            <a:avLst>
              <a:gd name="adj" fmla="val 50000"/>
            </a:avLst>
          </a:prstGeom>
          <a:solidFill>
            <a:srgbClr val="D9534F"/>
          </a:solidFill>
          <a:ln/>
        </p:spPr>
      </p:sp>
      <p:sp>
        <p:nvSpPr>
          <p:cNvPr id="4" name="Text 2"/>
          <p:cNvSpPr txBox="1"/>
          <p:nvPr/>
        </p:nvSpPr>
        <p:spPr>
          <a:xfrm>
            <a:off x="822960" y="1828800"/>
            <a:ext cx="182880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DIKTAT</a:t>
            </a:r>
            <a:endParaRPr lang="en-US" sz="1400" dirty="0"/>
          </a:p>
        </p:txBody>
      </p:sp>
      <p:sp>
        <p:nvSpPr>
          <p:cNvPr id="5" name="Text 3"/>
          <p:cNvSpPr txBox="1"/>
          <p:nvPr/>
        </p:nvSpPr>
        <p:spPr>
          <a:xfrm>
            <a:off x="822960" y="2468880"/>
            <a:ext cx="10789920" cy="8229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 – Kontext und Fachbegriffe</a:t>
            </a:r>
            <a:endParaRPr lang="en-US" sz="3000" dirty="0"/>
          </a:p>
        </p:txBody>
      </p:sp>
      <p:sp>
        <p:nvSpPr>
          <p:cNvPr id="6" name="Text 4"/>
          <p:cNvSpPr txBox="1"/>
          <p:nvPr/>
        </p:nvSpPr>
        <p:spPr>
          <a:xfrm>
            <a:off x="822960" y="3566160"/>
            <a:ext cx="10515600" cy="54864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Schreibe mit. Satzzeichen werden nicht angesagt – achte selbst auf die Kommas.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DIKTAT · SELBSTKONTROLLE · TEIL 1 · KONTEXT</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Vergleiche Wort für Wort</a:t>
            </a:r>
            <a:endParaRPr lang="en-US" sz="2700" dirty="0"/>
          </a:p>
        </p:txBody>
      </p:sp>
      <p:sp>
        <p:nvSpPr>
          <p:cNvPr id="5" name="Text 3"/>
          <p:cNvSpPr txBox="1"/>
          <p:nvPr/>
        </p:nvSpPr>
        <p:spPr>
          <a:xfrm>
            <a:off x="548640" y="1188720"/>
            <a:ext cx="11064240" cy="4663440"/>
          </a:xfrm>
          <a:prstGeom prst="rect">
            <a:avLst/>
          </a:prstGeom>
          <a:noFill/>
          <a:ln/>
        </p:spPr>
        <p:txBody>
          <a:bodyPr wrap="square" lIns="0" tIns="0" rIns="0" bIns="0" rtlCol="0" anchor="t"/>
          <a:lstStyle/>
          <a:p>
            <a:pPr indent="0" marL="0">
              <a:lnSpc>
                <a:spcPct val="125000"/>
              </a:lnSpc>
              <a:buNone/>
            </a:pPr>
            <a:r>
              <a:rPr lang="en-US" sz="2300" dirty="0">
                <a:solidFill>
                  <a:srgbClr val="1E2761"/>
                </a:solidFill>
                <a:latin typeface="Cambria" pitchFamily="34" charset="0"/>
                <a:ea typeface="Cambria" pitchFamily="34" charset="-122"/>
                <a:cs typeface="Cambria" pitchFamily="34" charset="-120"/>
              </a:rPr>
              <a:t>Franz Kafka wurde 1883 in Prag geboren. Sein Vater Hermann war ein Kaufmann, der sich aus ärmlichen Verhältnissen hochgearbeitet hatte. Er erwartete von seinem Sohn, dass er stark, fleißig und dankbar ist. Im November 1919 schrieb der sechsunddreißigjährige Kafka seinem Vater einen Brief, der über hundert handschriftliche Seiten lang ist. Darin versucht er zu erklären, warum er Angst vor ihm hat. Das Besondere daran ist, dass er schreibt, weil er mit seinem Vater nicht reden kann. Kafka gab den Brief seiner Mutter, damit sie ihn weitergibt. Sie tat das aber nicht, sodass der Vater ihn nie gelesen hat. Veröffentlicht wurde der Brief erst nach Kafkas Tod.</a:t>
            </a:r>
            <a:endParaRPr lang="en-US" sz="2300" dirty="0"/>
          </a:p>
        </p:txBody>
      </p:sp>
      <p:sp>
        <p:nvSpPr>
          <p:cNvPr id="6" name="Shape 4"/>
          <p:cNvSpPr/>
          <p:nvPr/>
        </p:nvSpPr>
        <p:spPr>
          <a:xfrm>
            <a:off x="548640" y="5989320"/>
            <a:ext cx="11064240" cy="548640"/>
          </a:xfrm>
          <a:prstGeom prst="roundRect">
            <a:avLst>
              <a:gd name="adj" fmla="val 13333"/>
            </a:avLst>
          </a:prstGeom>
          <a:solidFill>
            <a:srgbClr val="EAF0FA"/>
          </a:solidFill>
          <a:ln/>
        </p:spPr>
      </p:sp>
      <p:sp>
        <p:nvSpPr>
          <p:cNvPr id="7" name="Text 5"/>
          <p:cNvSpPr txBox="1"/>
          <p:nvPr/>
        </p:nvSpPr>
        <p:spPr>
          <a:xfrm>
            <a:off x="777240" y="5989320"/>
            <a:ext cx="10607040" cy="54864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Fehler farbig anstreichen · Anzahl notieren · Kommafehler extra zählen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DIKTAT · SELBSTKONTROLLE · TEIL 2 · FACHBEGRIFFE</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Vergleiche Wort für Wort</a:t>
            </a:r>
            <a:endParaRPr lang="en-US" sz="2700" dirty="0"/>
          </a:p>
        </p:txBody>
      </p:sp>
      <p:sp>
        <p:nvSpPr>
          <p:cNvPr id="5" name="Text 3"/>
          <p:cNvSpPr txBox="1"/>
          <p:nvPr/>
        </p:nvSpPr>
        <p:spPr>
          <a:xfrm>
            <a:off x="548640" y="1188720"/>
            <a:ext cx="11064240" cy="4663440"/>
          </a:xfrm>
          <a:prstGeom prst="rect">
            <a:avLst/>
          </a:prstGeom>
          <a:noFill/>
          <a:ln/>
        </p:spPr>
        <p:txBody>
          <a:bodyPr wrap="square" lIns="0" tIns="0" rIns="0" bIns="0" rtlCol="0" anchor="t"/>
          <a:lstStyle/>
          <a:p>
            <a:pPr indent="0" marL="0">
              <a:lnSpc>
                <a:spcPct val="125000"/>
              </a:lnSpc>
              <a:buNone/>
            </a:pPr>
            <a:r>
              <a:rPr lang="en-US" sz="2400" dirty="0">
                <a:solidFill>
                  <a:srgbClr val="1E2761"/>
                </a:solidFill>
                <a:latin typeface="Cambria" pitchFamily="34" charset="0"/>
                <a:ea typeface="Cambria" pitchFamily="34" charset="-122"/>
                <a:cs typeface="Cambria" pitchFamily="34" charset="-120"/>
              </a:rPr>
              <a:t>Nach Paul Watzlawick ist zwischenmenschliche Kommunikation entweder symmetrisch oder komplementär. Symmetrisch ist sie, wenn die Beziehung auf Gleichheit beruht und beide Partner auf derselben Stufe stehen. Komplementär ist sie, wenn die Beziehung auf Unterschiedlichkeit beruht: Einer ist überlegen, der andere ist unterlegen. Wird dieses Verhältnis so starr, dass niemand die Rolle wechseln kann, ist kein Gespräch auf Augenhöhe mehr möglich. Von einem Generationenkonflikt spricht man, wenn Eltern und Kinder unterschiedliche Werte, Erfahrungen und Erwartungen haben und sich deshalb nicht verstehen.</a:t>
            </a:r>
            <a:endParaRPr lang="en-US" sz="2400" dirty="0"/>
          </a:p>
        </p:txBody>
      </p:sp>
      <p:sp>
        <p:nvSpPr>
          <p:cNvPr id="6" name="Shape 4"/>
          <p:cNvSpPr/>
          <p:nvPr/>
        </p:nvSpPr>
        <p:spPr>
          <a:xfrm>
            <a:off x="548640" y="5989320"/>
            <a:ext cx="11064240" cy="548640"/>
          </a:xfrm>
          <a:prstGeom prst="roundRect">
            <a:avLst>
              <a:gd name="adj" fmla="val 13333"/>
            </a:avLst>
          </a:prstGeom>
          <a:solidFill>
            <a:srgbClr val="EAF0FA"/>
          </a:solidFill>
          <a:ln/>
        </p:spPr>
      </p:sp>
      <p:sp>
        <p:nvSpPr>
          <p:cNvPr id="7" name="Text 5"/>
          <p:cNvSpPr txBox="1"/>
          <p:nvPr/>
        </p:nvSpPr>
        <p:spPr>
          <a:xfrm>
            <a:off x="777240" y="5989320"/>
            <a:ext cx="10607040" cy="54864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Fehler farbig anstreichen · Anzahl notieren · Kommafehler extra zählen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DIKTAT · SELBSTKONTROLLE</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Darauf achten – auch in jeder Klausur</a:t>
            </a:r>
            <a:endParaRPr lang="en-US" sz="2700" dirty="0"/>
          </a:p>
        </p:txBody>
      </p:sp>
      <p:sp>
        <p:nvSpPr>
          <p:cNvPr id="5" name="Shape 3"/>
          <p:cNvSpPr/>
          <p:nvPr/>
        </p:nvSpPr>
        <p:spPr>
          <a:xfrm>
            <a:off x="457200" y="1143000"/>
            <a:ext cx="5486400" cy="2560320"/>
          </a:xfrm>
          <a:prstGeom prst="roundRect">
            <a:avLst>
              <a:gd name="adj" fmla="val 2857"/>
            </a:avLst>
          </a:prstGeom>
          <a:solidFill>
            <a:srgbClr val="F4F7FD"/>
          </a:solidFill>
          <a:ln/>
        </p:spPr>
      </p:sp>
      <p:sp>
        <p:nvSpPr>
          <p:cNvPr id="6" name="Shape 4"/>
          <p:cNvSpPr/>
          <p:nvPr/>
        </p:nvSpPr>
        <p:spPr>
          <a:xfrm>
            <a:off x="457200" y="1143000"/>
            <a:ext cx="128016" cy="2560320"/>
          </a:xfrm>
          <a:prstGeom prst="roundRect">
            <a:avLst>
              <a:gd name="adj" fmla="val 14286"/>
            </a:avLst>
          </a:prstGeom>
          <a:solidFill>
            <a:srgbClr val="D9534F"/>
          </a:solidFill>
          <a:ln/>
        </p:spPr>
      </p:sp>
      <p:sp>
        <p:nvSpPr>
          <p:cNvPr id="7" name="Text 5"/>
          <p:cNvSpPr txBox="1"/>
          <p:nvPr/>
        </p:nvSpPr>
        <p:spPr>
          <a:xfrm>
            <a:off x="777240" y="1252728"/>
            <a:ext cx="5029200" cy="411480"/>
          </a:xfrm>
          <a:prstGeom prst="rect">
            <a:avLst/>
          </a:prstGeom>
          <a:noFill/>
          <a:ln/>
        </p:spPr>
        <p:txBody>
          <a:bodyPr wrap="square" lIns="0" tIns="0" rIns="0" bIns="0" rtlCol="0" anchor="t"/>
          <a:lstStyle/>
          <a:p>
            <a:pPr indent="0" marL="0">
              <a:buNone/>
            </a:pPr>
            <a:r>
              <a:rPr lang="en-US" sz="2000" b="1" dirty="0">
                <a:solidFill>
                  <a:srgbClr val="D9534F"/>
                </a:solidFill>
                <a:latin typeface="Cambria" pitchFamily="34" charset="0"/>
                <a:ea typeface="Cambria" pitchFamily="34" charset="-122"/>
                <a:cs typeface="Cambria" pitchFamily="34" charset="-120"/>
              </a:rPr>
              <a:t>das oder dass?</a:t>
            </a:r>
            <a:endParaRPr lang="en-US" sz="2000" dirty="0"/>
          </a:p>
        </p:txBody>
      </p:sp>
      <p:sp>
        <p:nvSpPr>
          <p:cNvPr id="8" name="Text 6"/>
          <p:cNvSpPr txBox="1"/>
          <p:nvPr/>
        </p:nvSpPr>
        <p:spPr>
          <a:xfrm>
            <a:off x="777240" y="169164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„dass“ leitet einen Nebensatz ein und lässt sich nicht durch „dieses“ oder „welches“ ersetzen.</a:t>
            </a:r>
            <a:endParaRPr lang="en-US" sz="1600" dirty="0"/>
          </a:p>
        </p:txBody>
      </p:sp>
      <p:sp>
        <p:nvSpPr>
          <p:cNvPr id="9" name="Text 7"/>
          <p:cNvSpPr txBox="1"/>
          <p:nvPr/>
        </p:nvSpPr>
        <p:spPr>
          <a:xfrm>
            <a:off x="777240" y="246888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erwartete von seinem Sohn, dass er stark … ist.</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Das Besondere daran ist, dass er schreibt …</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Sie tat das aber nicht …  (das = dieses)</a:t>
            </a:r>
            <a:endParaRPr lang="en-US" sz="1600" dirty="0"/>
          </a:p>
        </p:txBody>
      </p:sp>
      <p:sp>
        <p:nvSpPr>
          <p:cNvPr id="10" name="Shape 8"/>
          <p:cNvSpPr/>
          <p:nvPr/>
        </p:nvSpPr>
        <p:spPr>
          <a:xfrm>
            <a:off x="6126480" y="1143000"/>
            <a:ext cx="5486400" cy="2560320"/>
          </a:xfrm>
          <a:prstGeom prst="roundRect">
            <a:avLst>
              <a:gd name="adj" fmla="val 2857"/>
            </a:avLst>
          </a:prstGeom>
          <a:solidFill>
            <a:srgbClr val="F4F7FD"/>
          </a:solidFill>
          <a:ln/>
        </p:spPr>
      </p:sp>
      <p:sp>
        <p:nvSpPr>
          <p:cNvPr id="11" name="Shape 9"/>
          <p:cNvSpPr/>
          <p:nvPr/>
        </p:nvSpPr>
        <p:spPr>
          <a:xfrm>
            <a:off x="6126480" y="1143000"/>
            <a:ext cx="128016" cy="2560320"/>
          </a:xfrm>
          <a:prstGeom prst="roundRect">
            <a:avLst>
              <a:gd name="adj" fmla="val 14286"/>
            </a:avLst>
          </a:prstGeom>
          <a:solidFill>
            <a:srgbClr val="E8A33D"/>
          </a:solidFill>
          <a:ln/>
        </p:spPr>
      </p:sp>
      <p:sp>
        <p:nvSpPr>
          <p:cNvPr id="12" name="Text 10"/>
          <p:cNvSpPr txBox="1"/>
          <p:nvPr/>
        </p:nvSpPr>
        <p:spPr>
          <a:xfrm>
            <a:off x="6446520" y="1252728"/>
            <a:ext cx="5029200" cy="411480"/>
          </a:xfrm>
          <a:prstGeom prst="rect">
            <a:avLst/>
          </a:prstGeom>
          <a:noFill/>
          <a:ln/>
        </p:spPr>
        <p:txBody>
          <a:bodyPr wrap="square" lIns="0" tIns="0" rIns="0" bIns="0" rtlCol="0" anchor="t"/>
          <a:lstStyle/>
          <a:p>
            <a:pPr indent="0" marL="0">
              <a:buNone/>
            </a:pPr>
            <a:r>
              <a:rPr lang="en-US" sz="2000" b="1" dirty="0">
                <a:solidFill>
                  <a:srgbClr val="E8A33D"/>
                </a:solidFill>
                <a:latin typeface="Cambria" pitchFamily="34" charset="0"/>
                <a:ea typeface="Cambria" pitchFamily="34" charset="-122"/>
                <a:cs typeface="Cambria" pitchFamily="34" charset="-120"/>
              </a:rPr>
              <a:t>Komma vor Nebensätzen</a:t>
            </a:r>
            <a:endParaRPr lang="en-US" sz="2000" dirty="0"/>
          </a:p>
        </p:txBody>
      </p:sp>
      <p:sp>
        <p:nvSpPr>
          <p:cNvPr id="13" name="Text 11"/>
          <p:cNvSpPr txBox="1"/>
          <p:nvPr/>
        </p:nvSpPr>
        <p:spPr>
          <a:xfrm>
            <a:off x="6446520" y="169164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Vor dass, weil, wenn, damit, sodass, warum und vor Relativsätzen (der, die, das) steht ein Komma.</a:t>
            </a:r>
            <a:endParaRPr lang="en-US" sz="1600" dirty="0"/>
          </a:p>
        </p:txBody>
      </p:sp>
      <p:sp>
        <p:nvSpPr>
          <p:cNvPr id="14" name="Text 12"/>
          <p:cNvSpPr txBox="1"/>
          <p:nvPr/>
        </p:nvSpPr>
        <p:spPr>
          <a:xfrm>
            <a:off x="6446520" y="246888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einen Brief, der über hundert … Seiten lang ist.</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zu erklären, warum er Angst vor ihm hat.</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 der Mutter, damit sie ihn weitergibt.</a:t>
            </a:r>
            <a:endParaRPr lang="en-US" sz="1600" dirty="0"/>
          </a:p>
        </p:txBody>
      </p:sp>
      <p:sp>
        <p:nvSpPr>
          <p:cNvPr id="15" name="Shape 13"/>
          <p:cNvSpPr/>
          <p:nvPr/>
        </p:nvSpPr>
        <p:spPr>
          <a:xfrm>
            <a:off x="457200" y="3840480"/>
            <a:ext cx="5486400" cy="2560320"/>
          </a:xfrm>
          <a:prstGeom prst="roundRect">
            <a:avLst>
              <a:gd name="adj" fmla="val 2857"/>
            </a:avLst>
          </a:prstGeom>
          <a:solidFill>
            <a:srgbClr val="F4F7FD"/>
          </a:solidFill>
          <a:ln/>
        </p:spPr>
      </p:sp>
      <p:sp>
        <p:nvSpPr>
          <p:cNvPr id="16" name="Shape 14"/>
          <p:cNvSpPr/>
          <p:nvPr/>
        </p:nvSpPr>
        <p:spPr>
          <a:xfrm>
            <a:off x="457200" y="3840480"/>
            <a:ext cx="128016" cy="2560320"/>
          </a:xfrm>
          <a:prstGeom prst="roundRect">
            <a:avLst>
              <a:gd name="adj" fmla="val 14286"/>
            </a:avLst>
          </a:prstGeom>
          <a:solidFill>
            <a:srgbClr val="2E9E6B"/>
          </a:solidFill>
          <a:ln/>
        </p:spPr>
      </p:sp>
      <p:sp>
        <p:nvSpPr>
          <p:cNvPr id="17" name="Text 15"/>
          <p:cNvSpPr txBox="1"/>
          <p:nvPr/>
        </p:nvSpPr>
        <p:spPr>
          <a:xfrm>
            <a:off x="777240" y="3950208"/>
            <a:ext cx="5029200" cy="411480"/>
          </a:xfrm>
          <a:prstGeom prst="rect">
            <a:avLst/>
          </a:prstGeom>
          <a:noFill/>
          <a:ln/>
        </p:spPr>
        <p:txBody>
          <a:bodyPr wrap="square" lIns="0" tIns="0" rIns="0" bIns="0" rtlCol="0" anchor="t"/>
          <a:lstStyle/>
          <a:p>
            <a:pPr indent="0" marL="0">
              <a:buNone/>
            </a:pPr>
            <a:r>
              <a:rPr lang="en-US" sz="2000" b="1" dirty="0">
                <a:solidFill>
                  <a:srgbClr val="2E9E6B"/>
                </a:solidFill>
                <a:latin typeface="Cambria" pitchFamily="34" charset="0"/>
                <a:ea typeface="Cambria" pitchFamily="34" charset="-122"/>
                <a:cs typeface="Cambria" pitchFamily="34" charset="-120"/>
              </a:rPr>
              <a:t>Groß oder klein?</a:t>
            </a:r>
            <a:endParaRPr lang="en-US" sz="2000" dirty="0"/>
          </a:p>
        </p:txBody>
      </p:sp>
      <p:sp>
        <p:nvSpPr>
          <p:cNvPr id="18" name="Text 16"/>
          <p:cNvSpPr txBox="1"/>
          <p:nvPr/>
        </p:nvSpPr>
        <p:spPr>
          <a:xfrm>
            <a:off x="777240" y="438912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Nominalisierte Adjektive groß, Zahlwörter und Zahladjektive klein und zusammen.</a:t>
            </a:r>
            <a:endParaRPr lang="en-US" sz="1600" dirty="0"/>
          </a:p>
        </p:txBody>
      </p:sp>
      <p:sp>
        <p:nvSpPr>
          <p:cNvPr id="19" name="Text 17"/>
          <p:cNvSpPr txBox="1"/>
          <p:nvPr/>
        </p:nvSpPr>
        <p:spPr>
          <a:xfrm>
            <a:off x="777240" y="516636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groß: das Besondere</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klein: der sechsunddreißigjährige Kafka</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klein: über hundert Seiten  ·  einer … der andere</a:t>
            </a:r>
            <a:endParaRPr lang="en-US" sz="1600" dirty="0"/>
          </a:p>
        </p:txBody>
      </p:sp>
      <p:sp>
        <p:nvSpPr>
          <p:cNvPr id="20" name="Shape 18"/>
          <p:cNvSpPr/>
          <p:nvPr/>
        </p:nvSpPr>
        <p:spPr>
          <a:xfrm>
            <a:off x="6126480" y="3840480"/>
            <a:ext cx="5486400" cy="2560320"/>
          </a:xfrm>
          <a:prstGeom prst="roundRect">
            <a:avLst>
              <a:gd name="adj" fmla="val 2857"/>
            </a:avLst>
          </a:prstGeom>
          <a:solidFill>
            <a:srgbClr val="F4F7FD"/>
          </a:solidFill>
          <a:ln/>
        </p:spPr>
      </p:sp>
      <p:sp>
        <p:nvSpPr>
          <p:cNvPr id="21" name="Shape 19"/>
          <p:cNvSpPr/>
          <p:nvPr/>
        </p:nvSpPr>
        <p:spPr>
          <a:xfrm>
            <a:off x="6126480" y="3840480"/>
            <a:ext cx="128016" cy="2560320"/>
          </a:xfrm>
          <a:prstGeom prst="roundRect">
            <a:avLst>
              <a:gd name="adj" fmla="val 14286"/>
            </a:avLst>
          </a:prstGeom>
          <a:solidFill>
            <a:srgbClr val="3F7CC4"/>
          </a:solidFill>
          <a:ln/>
        </p:spPr>
      </p:sp>
      <p:sp>
        <p:nvSpPr>
          <p:cNvPr id="22" name="Text 20"/>
          <p:cNvSpPr txBox="1"/>
          <p:nvPr/>
        </p:nvSpPr>
        <p:spPr>
          <a:xfrm>
            <a:off x="6446520" y="3950208"/>
            <a:ext cx="5029200" cy="411480"/>
          </a:xfrm>
          <a:prstGeom prst="rect">
            <a:avLst/>
          </a:prstGeom>
          <a:noFill/>
          <a:ln/>
        </p:spPr>
        <p:txBody>
          <a:bodyPr wrap="square" lIns="0" tIns="0" rIns="0" bIns="0" rtlCol="0" anchor="t"/>
          <a:lstStyle/>
          <a:p>
            <a:pPr indent="0" marL="0">
              <a:buNone/>
            </a:pPr>
            <a:r>
              <a:rPr lang="en-US" sz="2000" b="1" dirty="0">
                <a:solidFill>
                  <a:srgbClr val="3F7CC4"/>
                </a:solidFill>
                <a:latin typeface="Cambria" pitchFamily="34" charset="0"/>
                <a:ea typeface="Cambria" pitchFamily="34" charset="-122"/>
                <a:cs typeface="Cambria" pitchFamily="34" charset="-120"/>
              </a:rPr>
              <a:t>Fachwörter</a:t>
            </a:r>
            <a:endParaRPr lang="en-US" sz="2000" dirty="0"/>
          </a:p>
        </p:txBody>
      </p:sp>
      <p:sp>
        <p:nvSpPr>
          <p:cNvPr id="23" name="Text 21"/>
          <p:cNvSpPr txBox="1"/>
          <p:nvPr/>
        </p:nvSpPr>
        <p:spPr>
          <a:xfrm>
            <a:off x="6446520" y="4389120"/>
            <a:ext cx="4983480" cy="77724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Diese Wörter müssen sitzen – sie kommen in jeder Analyse vor.</a:t>
            </a:r>
            <a:endParaRPr lang="en-US" sz="1600" dirty="0"/>
          </a:p>
        </p:txBody>
      </p:sp>
      <p:sp>
        <p:nvSpPr>
          <p:cNvPr id="24" name="Text 22"/>
          <p:cNvSpPr txBox="1"/>
          <p:nvPr/>
        </p:nvSpPr>
        <p:spPr>
          <a:xfrm>
            <a:off x="6446520" y="5166360"/>
            <a:ext cx="4983480" cy="1188720"/>
          </a:xfrm>
          <a:prstGeom prst="rect">
            <a:avLst/>
          </a:prstGeom>
          <a:noFill/>
          <a:ln/>
        </p:spPr>
        <p:txBody>
          <a:bodyPr wrap="square" lIns="0" tIns="0" rIns="0" bIns="0" rtlCol="0" anchor="t"/>
          <a:lstStyle/>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symmetrisch  ·  komplementär</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Generationenkonflikt  ·  Watzlawick</a:t>
            </a:r>
            <a:endParaRPr lang="en-US" sz="1600" dirty="0"/>
          </a:p>
          <a:p>
            <a:pPr indent="0" marL="0">
              <a:spcAft>
                <a:spcPts val="300"/>
              </a:spcAft>
              <a:buNone/>
            </a:pPr>
            <a:r>
              <a:rPr lang="en-US" sz="1600" i="1" dirty="0">
                <a:solidFill>
                  <a:srgbClr val="5B6B8C"/>
                </a:solidFill>
                <a:latin typeface="Calibri" pitchFamily="34" charset="0"/>
                <a:ea typeface="Calibri" pitchFamily="34" charset="-122"/>
                <a:cs typeface="Calibri" pitchFamily="34" charset="-120"/>
              </a:rPr>
              <a:t>handschriftlich  ·  veröffentlicht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ABSCHNITT A · GEMEINSAM · MATRIX IN DEN HEFTER</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„ich verlernte das Reden“ (S. 5 f.)</a:t>
            </a:r>
            <a:endParaRPr lang="en-US" sz="2700" dirty="0"/>
          </a:p>
        </p:txBody>
      </p:sp>
      <p:sp>
        <p:nvSpPr>
          <p:cNvPr id="5" name="Text 3"/>
          <p:cNvSpPr txBox="1"/>
          <p:nvPr/>
        </p:nvSpPr>
        <p:spPr>
          <a:xfrm>
            <a:off x="365760" y="11430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914400" y="11430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Die Unmöglichkeit des ruhigen Verkehrs hatte noch eine weitere eigentlich sehr</a:t>
            </a:r>
            <a:endParaRPr lang="en-US" sz="2000" dirty="0"/>
          </a:p>
        </p:txBody>
      </p:sp>
      <p:sp>
        <p:nvSpPr>
          <p:cNvPr id="7" name="Text 5"/>
          <p:cNvSpPr txBox="1"/>
          <p:nvPr/>
        </p:nvSpPr>
        <p:spPr>
          <a:xfrm>
            <a:off x="365760" y="14782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914400" y="14782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natürliche Folge: ich verlernte das Reden. Ich wäre ja wohl auch sonst kein</a:t>
            </a:r>
            <a:endParaRPr lang="en-US" sz="2000" dirty="0"/>
          </a:p>
        </p:txBody>
      </p:sp>
      <p:sp>
        <p:nvSpPr>
          <p:cNvPr id="9" name="Text 7"/>
          <p:cNvSpPr txBox="1"/>
          <p:nvPr/>
        </p:nvSpPr>
        <p:spPr>
          <a:xfrm>
            <a:off x="365760" y="18135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3</a:t>
            </a:r>
            <a:endParaRPr lang="en-US" sz="1500" dirty="0"/>
          </a:p>
        </p:txBody>
      </p:sp>
      <p:sp>
        <p:nvSpPr>
          <p:cNvPr id="10" name="Text 8"/>
          <p:cNvSpPr txBox="1"/>
          <p:nvPr/>
        </p:nvSpPr>
        <p:spPr>
          <a:xfrm>
            <a:off x="914400" y="18135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großer Redner geworden, aber die gewöhnlich fließende menschliche Sprache</a:t>
            </a:r>
            <a:endParaRPr lang="en-US" sz="2000" dirty="0"/>
          </a:p>
        </p:txBody>
      </p:sp>
      <p:sp>
        <p:nvSpPr>
          <p:cNvPr id="11" name="Text 9"/>
          <p:cNvSpPr txBox="1"/>
          <p:nvPr/>
        </p:nvSpPr>
        <p:spPr>
          <a:xfrm>
            <a:off x="365760" y="21488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4</a:t>
            </a:r>
            <a:endParaRPr lang="en-US" sz="1500" dirty="0"/>
          </a:p>
        </p:txBody>
      </p:sp>
      <p:sp>
        <p:nvSpPr>
          <p:cNvPr id="12" name="Text 10"/>
          <p:cNvSpPr txBox="1"/>
          <p:nvPr/>
        </p:nvSpPr>
        <p:spPr>
          <a:xfrm>
            <a:off x="914400" y="21488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hätte ich doch beherrscht. Du hast mir aber schon früh das Wort verboten.</a:t>
            </a:r>
            <a:endParaRPr lang="en-US" sz="2000" dirty="0"/>
          </a:p>
        </p:txBody>
      </p:sp>
      <p:sp>
        <p:nvSpPr>
          <p:cNvPr id="13" name="Text 11"/>
          <p:cNvSpPr txBox="1"/>
          <p:nvPr/>
        </p:nvSpPr>
        <p:spPr>
          <a:xfrm>
            <a:off x="365760" y="24841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5</a:t>
            </a:r>
            <a:endParaRPr lang="en-US" sz="1500" dirty="0"/>
          </a:p>
        </p:txBody>
      </p:sp>
      <p:sp>
        <p:nvSpPr>
          <p:cNvPr id="14" name="Text 12"/>
          <p:cNvSpPr txBox="1"/>
          <p:nvPr/>
        </p:nvSpPr>
        <p:spPr>
          <a:xfrm>
            <a:off x="914400" y="24841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Deine Drohung: »kein Wort der Widerrede!« und die dazu erhobene Hand begleiten</a:t>
            </a:r>
            <a:endParaRPr lang="en-US" sz="2000" dirty="0"/>
          </a:p>
        </p:txBody>
      </p:sp>
      <p:sp>
        <p:nvSpPr>
          <p:cNvPr id="15" name="Text 13"/>
          <p:cNvSpPr txBox="1"/>
          <p:nvPr/>
        </p:nvSpPr>
        <p:spPr>
          <a:xfrm>
            <a:off x="365760" y="28194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6</a:t>
            </a:r>
            <a:endParaRPr lang="en-US" sz="1500" dirty="0"/>
          </a:p>
        </p:txBody>
      </p:sp>
      <p:sp>
        <p:nvSpPr>
          <p:cNvPr id="16" name="Text 14"/>
          <p:cNvSpPr txBox="1"/>
          <p:nvPr/>
        </p:nvSpPr>
        <p:spPr>
          <a:xfrm>
            <a:off x="914400" y="28194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mich schon seit jeher. Ich bekam vor Dir – Du bist, sobald es um Deine Dinge</a:t>
            </a:r>
            <a:endParaRPr lang="en-US" sz="2000" dirty="0"/>
          </a:p>
        </p:txBody>
      </p:sp>
      <p:sp>
        <p:nvSpPr>
          <p:cNvPr id="17" name="Text 15"/>
          <p:cNvSpPr txBox="1"/>
          <p:nvPr/>
        </p:nvSpPr>
        <p:spPr>
          <a:xfrm>
            <a:off x="365760" y="31546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7</a:t>
            </a:r>
            <a:endParaRPr lang="en-US" sz="1500" dirty="0"/>
          </a:p>
        </p:txBody>
      </p:sp>
      <p:sp>
        <p:nvSpPr>
          <p:cNvPr id="18" name="Text 16"/>
          <p:cNvSpPr txBox="1"/>
          <p:nvPr/>
        </p:nvSpPr>
        <p:spPr>
          <a:xfrm>
            <a:off x="914400" y="31546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geht, ein ausgezeichneter Redner – eine stockende, stotternde Art des</a:t>
            </a:r>
            <a:endParaRPr lang="en-US" sz="2000" dirty="0"/>
          </a:p>
        </p:txBody>
      </p:sp>
      <p:sp>
        <p:nvSpPr>
          <p:cNvPr id="19" name="Text 17"/>
          <p:cNvSpPr txBox="1"/>
          <p:nvPr/>
        </p:nvSpPr>
        <p:spPr>
          <a:xfrm>
            <a:off x="365760" y="34899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8</a:t>
            </a:r>
            <a:endParaRPr lang="en-US" sz="1500" dirty="0"/>
          </a:p>
        </p:txBody>
      </p:sp>
      <p:sp>
        <p:nvSpPr>
          <p:cNvPr id="20" name="Text 18"/>
          <p:cNvSpPr txBox="1"/>
          <p:nvPr/>
        </p:nvSpPr>
        <p:spPr>
          <a:xfrm>
            <a:off x="914400" y="34899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Sprechens, auch das war Dir noch zu viel, schließlich schwieg ich, zuerst</a:t>
            </a:r>
            <a:endParaRPr lang="en-US" sz="2000" dirty="0"/>
          </a:p>
        </p:txBody>
      </p:sp>
      <p:sp>
        <p:nvSpPr>
          <p:cNvPr id="21" name="Text 19"/>
          <p:cNvSpPr txBox="1"/>
          <p:nvPr/>
        </p:nvSpPr>
        <p:spPr>
          <a:xfrm>
            <a:off x="365760" y="38252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9</a:t>
            </a:r>
            <a:endParaRPr lang="en-US" sz="1500" dirty="0"/>
          </a:p>
        </p:txBody>
      </p:sp>
      <p:sp>
        <p:nvSpPr>
          <p:cNvPr id="22" name="Text 20"/>
          <p:cNvSpPr txBox="1"/>
          <p:nvPr/>
        </p:nvSpPr>
        <p:spPr>
          <a:xfrm>
            <a:off x="914400" y="38252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vielleicht aus Trotz, dann, weil ich vor Dir weder denken noch reden konnte.</a:t>
            </a:r>
            <a:endParaRPr lang="en-US" sz="2000" dirty="0"/>
          </a:p>
        </p:txBody>
      </p:sp>
      <p:sp>
        <p:nvSpPr>
          <p:cNvPr id="23" name="Text 21"/>
          <p:cNvSpPr txBox="1"/>
          <p:nvPr/>
        </p:nvSpPr>
        <p:spPr>
          <a:xfrm>
            <a:off x="365760" y="41605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10</a:t>
            </a:r>
            <a:endParaRPr lang="en-US" sz="1500" dirty="0"/>
          </a:p>
        </p:txBody>
      </p:sp>
      <p:sp>
        <p:nvSpPr>
          <p:cNvPr id="24" name="Text 22"/>
          <p:cNvSpPr txBox="1"/>
          <p:nvPr/>
        </p:nvSpPr>
        <p:spPr>
          <a:xfrm>
            <a:off x="914400" y="41605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 Du sagtest: »Kein Wort der Widerrede!« und wolltest damit die Dir</a:t>
            </a:r>
            <a:endParaRPr lang="en-US" sz="2000" dirty="0"/>
          </a:p>
        </p:txBody>
      </p:sp>
      <p:sp>
        <p:nvSpPr>
          <p:cNvPr id="25" name="Text 23"/>
          <p:cNvSpPr txBox="1"/>
          <p:nvPr/>
        </p:nvSpPr>
        <p:spPr>
          <a:xfrm>
            <a:off x="365760" y="44958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11</a:t>
            </a:r>
            <a:endParaRPr lang="en-US" sz="1500" dirty="0"/>
          </a:p>
        </p:txBody>
      </p:sp>
      <p:sp>
        <p:nvSpPr>
          <p:cNvPr id="26" name="Text 24"/>
          <p:cNvSpPr txBox="1"/>
          <p:nvPr/>
        </p:nvSpPr>
        <p:spPr>
          <a:xfrm>
            <a:off x="914400" y="44958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unangenehmen Gegenkräfte in mir zum Schweigen bringen, diese Einwirkung war</a:t>
            </a:r>
            <a:endParaRPr lang="en-US" sz="2000" dirty="0"/>
          </a:p>
        </p:txBody>
      </p:sp>
      <p:sp>
        <p:nvSpPr>
          <p:cNvPr id="27" name="Text 25"/>
          <p:cNvSpPr txBox="1"/>
          <p:nvPr/>
        </p:nvSpPr>
        <p:spPr>
          <a:xfrm>
            <a:off x="365760" y="48310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12</a:t>
            </a:r>
            <a:endParaRPr lang="en-US" sz="1500" dirty="0"/>
          </a:p>
        </p:txBody>
      </p:sp>
      <p:sp>
        <p:nvSpPr>
          <p:cNvPr id="28" name="Text 26"/>
          <p:cNvSpPr txBox="1"/>
          <p:nvPr/>
        </p:nvSpPr>
        <p:spPr>
          <a:xfrm>
            <a:off x="914400" y="48310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aber für mich zu stark, ich war zu folgsam, ich verstummte gänzlich, verkroch</a:t>
            </a:r>
            <a:endParaRPr lang="en-US" sz="2000" dirty="0"/>
          </a:p>
        </p:txBody>
      </p:sp>
      <p:sp>
        <p:nvSpPr>
          <p:cNvPr id="29" name="Text 27"/>
          <p:cNvSpPr txBox="1"/>
          <p:nvPr/>
        </p:nvSpPr>
        <p:spPr>
          <a:xfrm>
            <a:off x="365760" y="51663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13</a:t>
            </a:r>
            <a:endParaRPr lang="en-US" sz="1500" dirty="0"/>
          </a:p>
        </p:txBody>
      </p:sp>
      <p:sp>
        <p:nvSpPr>
          <p:cNvPr id="30" name="Text 28"/>
          <p:cNvSpPr txBox="1"/>
          <p:nvPr/>
        </p:nvSpPr>
        <p:spPr>
          <a:xfrm>
            <a:off x="914400" y="51663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mich vor Dir und wagte mich erst zu regen, wenn ich so weit von Dir entfernt</a:t>
            </a:r>
            <a:endParaRPr lang="en-US" sz="2000" dirty="0"/>
          </a:p>
        </p:txBody>
      </p:sp>
      <p:sp>
        <p:nvSpPr>
          <p:cNvPr id="31" name="Text 29"/>
          <p:cNvSpPr txBox="1"/>
          <p:nvPr/>
        </p:nvSpPr>
        <p:spPr>
          <a:xfrm>
            <a:off x="365760" y="55016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14</a:t>
            </a:r>
            <a:endParaRPr lang="en-US" sz="1500" dirty="0"/>
          </a:p>
        </p:txBody>
      </p:sp>
      <p:sp>
        <p:nvSpPr>
          <p:cNvPr id="32" name="Text 30"/>
          <p:cNvSpPr txBox="1"/>
          <p:nvPr/>
        </p:nvSpPr>
        <p:spPr>
          <a:xfrm>
            <a:off x="914400" y="55016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war, daß Deine Macht, wenigstens direkt, nicht mehr hinreichte. Du aber</a:t>
            </a:r>
            <a:endParaRPr lang="en-US" sz="2000" dirty="0"/>
          </a:p>
        </p:txBody>
      </p:sp>
      <p:sp>
        <p:nvSpPr>
          <p:cNvPr id="33" name="Text 31"/>
          <p:cNvSpPr txBox="1"/>
          <p:nvPr/>
        </p:nvSpPr>
        <p:spPr>
          <a:xfrm>
            <a:off x="365760" y="58369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15</a:t>
            </a:r>
            <a:endParaRPr lang="en-US" sz="1500" dirty="0"/>
          </a:p>
        </p:txBody>
      </p:sp>
      <p:sp>
        <p:nvSpPr>
          <p:cNvPr id="34" name="Text 32"/>
          <p:cNvSpPr txBox="1"/>
          <p:nvPr/>
        </p:nvSpPr>
        <p:spPr>
          <a:xfrm>
            <a:off x="914400" y="58369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standst davor, und alles schien Dir wieder »contra« zu sein, während es nur</a:t>
            </a:r>
            <a:endParaRPr lang="en-US" sz="2000" dirty="0"/>
          </a:p>
        </p:txBody>
      </p:sp>
      <p:sp>
        <p:nvSpPr>
          <p:cNvPr id="35" name="Text 33"/>
          <p:cNvSpPr txBox="1"/>
          <p:nvPr/>
        </p:nvSpPr>
        <p:spPr>
          <a:xfrm>
            <a:off x="365760" y="61722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16</a:t>
            </a:r>
            <a:endParaRPr lang="en-US" sz="1500" dirty="0"/>
          </a:p>
        </p:txBody>
      </p:sp>
      <p:sp>
        <p:nvSpPr>
          <p:cNvPr id="36" name="Text 34"/>
          <p:cNvSpPr txBox="1"/>
          <p:nvPr/>
        </p:nvSpPr>
        <p:spPr>
          <a:xfrm>
            <a:off x="914400" y="61722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selbstverständliche Folge Deiner Stärke und meiner Schwäche war.</a:t>
            </a:r>
            <a:endParaRPr lang="en-US" sz="2000" dirty="0"/>
          </a:p>
        </p:txBody>
      </p:sp>
      <p:sp>
        <p:nvSpPr>
          <p:cNvPr id="37" name="Shape 35"/>
          <p:cNvSpPr/>
          <p:nvPr/>
        </p:nvSpPr>
        <p:spPr>
          <a:xfrm>
            <a:off x="841248" y="1143000"/>
            <a:ext cx="0" cy="5364480"/>
          </a:xfrm>
          <a:prstGeom prst="line">
            <a:avLst/>
          </a:prstGeom>
          <a:noFill/>
          <a:ln w="25400">
            <a:solidFill>
              <a:srgbClr val="3F7CC4"/>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AUFTRAG 1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Untersuche Abschnitt C wie Abschnitt A</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 Min.</a:t>
            </a:r>
            <a:endParaRPr lang="en-US" sz="2000" dirty="0"/>
          </a:p>
        </p:txBody>
      </p:sp>
      <p:sp>
        <p:nvSpPr>
          <p:cNvPr id="7" name="Text 5"/>
          <p:cNvSpPr txBox="1"/>
          <p:nvPr/>
        </p:nvSpPr>
        <p:spPr>
          <a:xfrm>
            <a:off x="548640" y="1234440"/>
            <a:ext cx="10972800" cy="411480"/>
          </a:xfrm>
          <a:prstGeom prst="rect">
            <a:avLst/>
          </a:prstGeom>
          <a:noFill/>
          <a:ln/>
        </p:spPr>
        <p:txBody>
          <a:bodyPr wrap="square" lIns="0" tIns="0" rIns="0" bIns="0" rtlCol="0" anchor="t"/>
          <a:lstStyle/>
          <a:p>
            <a:pPr indent="0" marL="0">
              <a:buNone/>
            </a:pPr>
            <a:r>
              <a:rPr lang="en-US" sz="2100" dirty="0">
                <a:solidFill>
                  <a:srgbClr val="1E2761"/>
                </a:solidFill>
                <a:latin typeface="Calibri" pitchFamily="34" charset="0"/>
                <a:ea typeface="Calibri" pitchFamily="34" charset="-122"/>
                <a:cs typeface="Calibri" pitchFamily="34" charset="-120"/>
              </a:rPr>
              <a:t>Lege in deinem Hefter die Matrix an und fülle sie aus:</a:t>
            </a:r>
            <a:endParaRPr lang="en-US" sz="2100" dirty="0"/>
          </a:p>
        </p:txBody>
      </p:sp>
      <p:sp>
        <p:nvSpPr>
          <p:cNvPr id="8" name="Shape 6"/>
          <p:cNvSpPr/>
          <p:nvPr/>
        </p:nvSpPr>
        <p:spPr>
          <a:xfrm>
            <a:off x="548640" y="1783080"/>
            <a:ext cx="1024128" cy="594360"/>
          </a:xfrm>
          <a:prstGeom prst="roundRect">
            <a:avLst>
              <a:gd name="adj" fmla="val 6154"/>
            </a:avLst>
          </a:prstGeom>
          <a:solidFill>
            <a:srgbClr val="1E2761"/>
          </a:solidFill>
          <a:ln/>
        </p:spPr>
      </p:sp>
      <p:sp>
        <p:nvSpPr>
          <p:cNvPr id="9" name="Text 7"/>
          <p:cNvSpPr txBox="1"/>
          <p:nvPr/>
        </p:nvSpPr>
        <p:spPr>
          <a:xfrm>
            <a:off x="658368" y="1783080"/>
            <a:ext cx="82296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Z.</a:t>
            </a:r>
            <a:endParaRPr lang="en-US" sz="1700" dirty="0"/>
          </a:p>
        </p:txBody>
      </p:sp>
      <p:sp>
        <p:nvSpPr>
          <p:cNvPr id="10" name="Shape 8"/>
          <p:cNvSpPr/>
          <p:nvPr/>
        </p:nvSpPr>
        <p:spPr>
          <a:xfrm>
            <a:off x="1645920" y="1783080"/>
            <a:ext cx="3310128" cy="594360"/>
          </a:xfrm>
          <a:prstGeom prst="roundRect">
            <a:avLst>
              <a:gd name="adj" fmla="val 6154"/>
            </a:avLst>
          </a:prstGeom>
          <a:solidFill>
            <a:srgbClr val="1E2761"/>
          </a:solidFill>
          <a:ln/>
        </p:spPr>
      </p:sp>
      <p:sp>
        <p:nvSpPr>
          <p:cNvPr id="11" name="Text 9"/>
          <p:cNvSpPr txBox="1"/>
          <p:nvPr/>
        </p:nvSpPr>
        <p:spPr>
          <a:xfrm>
            <a:off x="1755648" y="1783080"/>
            <a:ext cx="310896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Handlung des Vaters</a:t>
            </a:r>
            <a:endParaRPr lang="en-US" sz="1700" dirty="0"/>
          </a:p>
        </p:txBody>
      </p:sp>
      <p:sp>
        <p:nvSpPr>
          <p:cNvPr id="12" name="Shape 10"/>
          <p:cNvSpPr/>
          <p:nvPr/>
        </p:nvSpPr>
        <p:spPr>
          <a:xfrm>
            <a:off x="5029200" y="1783080"/>
            <a:ext cx="3218688" cy="594360"/>
          </a:xfrm>
          <a:prstGeom prst="roundRect">
            <a:avLst>
              <a:gd name="adj" fmla="val 6154"/>
            </a:avLst>
          </a:prstGeom>
          <a:solidFill>
            <a:srgbClr val="1E2761"/>
          </a:solidFill>
          <a:ln/>
        </p:spPr>
      </p:sp>
      <p:sp>
        <p:nvSpPr>
          <p:cNvPr id="13" name="Text 11"/>
          <p:cNvSpPr txBox="1"/>
          <p:nvPr/>
        </p:nvSpPr>
        <p:spPr>
          <a:xfrm>
            <a:off x="5138928" y="1783080"/>
            <a:ext cx="301752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Modell (Seite / Axiom)</a:t>
            </a:r>
            <a:endParaRPr lang="en-US" sz="1700" dirty="0"/>
          </a:p>
        </p:txBody>
      </p:sp>
      <p:sp>
        <p:nvSpPr>
          <p:cNvPr id="14" name="Shape 12"/>
          <p:cNvSpPr/>
          <p:nvPr/>
        </p:nvSpPr>
        <p:spPr>
          <a:xfrm>
            <a:off x="8321040" y="1783080"/>
            <a:ext cx="3218688" cy="594360"/>
          </a:xfrm>
          <a:prstGeom prst="roundRect">
            <a:avLst>
              <a:gd name="adj" fmla="val 6154"/>
            </a:avLst>
          </a:prstGeom>
          <a:solidFill>
            <a:srgbClr val="1E2761"/>
          </a:solidFill>
          <a:ln/>
        </p:spPr>
      </p:sp>
      <p:sp>
        <p:nvSpPr>
          <p:cNvPr id="15" name="Text 13"/>
          <p:cNvSpPr txBox="1"/>
          <p:nvPr/>
        </p:nvSpPr>
        <p:spPr>
          <a:xfrm>
            <a:off x="8430768" y="1783080"/>
            <a:ext cx="301752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Wirkung auf den Sohn (Zitat)</a:t>
            </a:r>
            <a:endParaRPr lang="en-US" sz="1700" dirty="0"/>
          </a:p>
        </p:txBody>
      </p:sp>
      <p:sp>
        <p:nvSpPr>
          <p:cNvPr id="16" name="Text 14"/>
          <p:cNvSpPr txBox="1"/>
          <p:nvPr/>
        </p:nvSpPr>
        <p:spPr>
          <a:xfrm>
            <a:off x="548640" y="2514600"/>
            <a:ext cx="10972800" cy="411480"/>
          </a:xfrm>
          <a:prstGeom prst="rect">
            <a:avLst/>
          </a:prstGeom>
          <a:noFill/>
          <a:ln/>
        </p:spPr>
        <p:txBody>
          <a:bodyPr wrap="square" lIns="0" tIns="0" rIns="0" bIns="0" rtlCol="0" anchor="t"/>
          <a:lstStyle/>
          <a:p>
            <a:pPr indent="0" marL="0">
              <a:buNone/>
            </a:pPr>
            <a:r>
              <a:rPr lang="en-US" sz="1900" b="1" dirty="0">
                <a:solidFill>
                  <a:srgbClr val="D9534F"/>
                </a:solidFill>
                <a:latin typeface="Calibri" pitchFamily="34" charset="0"/>
                <a:ea typeface="Calibri" pitchFamily="34" charset="-122"/>
                <a:cs typeface="Calibri" pitchFamily="34" charset="-120"/>
              </a:rPr>
              <a:t>mindestens vier Zeilen · jede mit Zitat und Zeilenangabe</a:t>
            </a:r>
            <a:endParaRPr lang="en-US" sz="1900" dirty="0"/>
          </a:p>
        </p:txBody>
      </p:sp>
      <p:sp>
        <p:nvSpPr>
          <p:cNvPr id="17" name="Shape 15"/>
          <p:cNvSpPr/>
          <p:nvPr/>
        </p:nvSpPr>
        <p:spPr>
          <a:xfrm>
            <a:off x="548640" y="3200400"/>
            <a:ext cx="11064240" cy="3246120"/>
          </a:xfrm>
          <a:prstGeom prst="roundRect">
            <a:avLst>
              <a:gd name="adj" fmla="val 2254"/>
            </a:avLst>
          </a:prstGeom>
          <a:solidFill>
            <a:srgbClr val="FFF8EC"/>
          </a:solidFill>
          <a:ln/>
        </p:spPr>
      </p:sp>
      <p:sp>
        <p:nvSpPr>
          <p:cNvPr id="18" name="Text 16"/>
          <p:cNvSpPr txBox="1"/>
          <p:nvPr/>
        </p:nvSpPr>
        <p:spPr>
          <a:xfrm>
            <a:off x="822960" y="3337560"/>
            <a:ext cx="10058400" cy="411480"/>
          </a:xfrm>
          <a:prstGeom prst="rect">
            <a:avLst/>
          </a:prstGeom>
          <a:noFill/>
          <a:ln/>
        </p:spPr>
        <p:txBody>
          <a:bodyPr wrap="square" lIns="0" tIns="0" rIns="0" bIns="0" rtlCol="0" anchor="t"/>
          <a:lstStyle/>
          <a:p>
            <a:pPr indent="0" marL="0">
              <a:buNone/>
            </a:pPr>
            <a:r>
              <a:rPr lang="en-US" sz="2000" b="1" dirty="0">
                <a:solidFill>
                  <a:srgbClr val="E8A33D"/>
                </a:solidFill>
                <a:latin typeface="Cambria" pitchFamily="34" charset="0"/>
                <a:ea typeface="Cambria" pitchFamily="34" charset="-122"/>
                <a:cs typeface="Cambria" pitchFamily="34" charset="-120"/>
              </a:rPr>
              <a:t>Wenn du nicht weiterkommst</a:t>
            </a:r>
            <a:endParaRPr lang="en-US" sz="2000" dirty="0"/>
          </a:p>
        </p:txBody>
      </p:sp>
      <p:sp>
        <p:nvSpPr>
          <p:cNvPr id="19" name="Text 17"/>
          <p:cNvSpPr txBox="1"/>
          <p:nvPr/>
        </p:nvSpPr>
        <p:spPr>
          <a:xfrm>
            <a:off x="822960" y="3840480"/>
            <a:ext cx="10515600" cy="2468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Wie klingen die Fragen des Vaters – und wie sind sie gemeint? (Z. 3–5)</a:t>
            </a:r>
            <a:endParaRPr lang="en-US" sz="1900" dirty="0"/>
          </a:p>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Was sagen Lachen und Gesicht? (Z. 5)</a:t>
            </a:r>
            <a:endParaRPr lang="en-US" sz="1900" dirty="0"/>
          </a:p>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Mit wem spricht der Vater eigentlich? (Z. 9–10)</a:t>
            </a:r>
            <a:endParaRPr lang="en-US" sz="1900" dirty="0"/>
          </a:p>
          <a:p>
            <a:pPr marL="342900" indent="-342900">
              <a:spcAft>
                <a:spcPts val="800"/>
              </a:spcAft>
              <a:buSzPct val="100000"/>
              <a:buChar char="•"/>
            </a:pPr>
            <a:r>
              <a:rPr lang="en-US" sz="1900" dirty="0">
                <a:solidFill>
                  <a:srgbClr val="1E2761"/>
                </a:solidFill>
                <a:latin typeface="Calibri" pitchFamily="34" charset="0"/>
                <a:ea typeface="Calibri" pitchFamily="34" charset="-122"/>
                <a:cs typeface="Calibri" pitchFamily="34" charset="-120"/>
              </a:rPr>
              <a:t>Was macht der Sohn daraus? (Z. 11–15)</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ABSCHNITT C · ZUSAMMENTRAGEN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Ironie (S. 6)</a:t>
            </a:r>
            <a:endParaRPr lang="en-US" sz="2700" dirty="0"/>
          </a:p>
        </p:txBody>
      </p:sp>
      <p:sp>
        <p:nvSpPr>
          <p:cNvPr id="5" name="Text 3"/>
          <p:cNvSpPr txBox="1"/>
          <p:nvPr/>
        </p:nvSpPr>
        <p:spPr>
          <a:xfrm>
            <a:off x="365760" y="11430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914400" y="11430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Ein besonderes Vertrauen hattest Du zur Erziehung durch Ironie, sie entsprach</a:t>
            </a:r>
            <a:endParaRPr lang="en-US" sz="2000" dirty="0"/>
          </a:p>
        </p:txBody>
      </p:sp>
      <p:sp>
        <p:nvSpPr>
          <p:cNvPr id="7" name="Text 5"/>
          <p:cNvSpPr txBox="1"/>
          <p:nvPr/>
        </p:nvSpPr>
        <p:spPr>
          <a:xfrm>
            <a:off x="365760" y="14782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914400" y="14782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auch am besten Deiner Überlegenheit über mich. Eine Ermahnung hatte bei Dir</a:t>
            </a:r>
            <a:endParaRPr lang="en-US" sz="2000" dirty="0"/>
          </a:p>
        </p:txBody>
      </p:sp>
      <p:sp>
        <p:nvSpPr>
          <p:cNvPr id="9" name="Text 7"/>
          <p:cNvSpPr txBox="1"/>
          <p:nvPr/>
        </p:nvSpPr>
        <p:spPr>
          <a:xfrm>
            <a:off x="365760" y="18135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3</a:t>
            </a:r>
            <a:endParaRPr lang="en-US" sz="1500" dirty="0"/>
          </a:p>
        </p:txBody>
      </p:sp>
      <p:sp>
        <p:nvSpPr>
          <p:cNvPr id="10" name="Text 8"/>
          <p:cNvSpPr txBox="1"/>
          <p:nvPr/>
        </p:nvSpPr>
        <p:spPr>
          <a:xfrm>
            <a:off x="914400" y="18135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gewöhnlich diese Form: »Kannst Du das nicht so und so machen? Das ist Dir wohl</a:t>
            </a:r>
            <a:endParaRPr lang="en-US" sz="2000" dirty="0"/>
          </a:p>
        </p:txBody>
      </p:sp>
      <p:sp>
        <p:nvSpPr>
          <p:cNvPr id="11" name="Text 9"/>
          <p:cNvSpPr txBox="1"/>
          <p:nvPr/>
        </p:nvSpPr>
        <p:spPr>
          <a:xfrm>
            <a:off x="365760" y="21488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4</a:t>
            </a:r>
            <a:endParaRPr lang="en-US" sz="1500" dirty="0"/>
          </a:p>
        </p:txBody>
      </p:sp>
      <p:sp>
        <p:nvSpPr>
          <p:cNvPr id="12" name="Text 10"/>
          <p:cNvSpPr txBox="1"/>
          <p:nvPr/>
        </p:nvSpPr>
        <p:spPr>
          <a:xfrm>
            <a:off x="914400" y="21488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schon zu viel? Dazu hast Du natürlich keine Zeit?« und ähnlich. Dabei jede</a:t>
            </a:r>
            <a:endParaRPr lang="en-US" sz="2000" dirty="0"/>
          </a:p>
        </p:txBody>
      </p:sp>
      <p:sp>
        <p:nvSpPr>
          <p:cNvPr id="13" name="Text 11"/>
          <p:cNvSpPr txBox="1"/>
          <p:nvPr/>
        </p:nvSpPr>
        <p:spPr>
          <a:xfrm>
            <a:off x="365760" y="24841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5</a:t>
            </a:r>
            <a:endParaRPr lang="en-US" sz="1500" dirty="0"/>
          </a:p>
        </p:txBody>
      </p:sp>
      <p:sp>
        <p:nvSpPr>
          <p:cNvPr id="14" name="Text 12"/>
          <p:cNvSpPr txBox="1"/>
          <p:nvPr/>
        </p:nvSpPr>
        <p:spPr>
          <a:xfrm>
            <a:off x="914400" y="24841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solche Frage begleitet von bösem Lachen und bösem Gesicht. Man wurde</a:t>
            </a:r>
            <a:endParaRPr lang="en-US" sz="2000" dirty="0"/>
          </a:p>
        </p:txBody>
      </p:sp>
      <p:sp>
        <p:nvSpPr>
          <p:cNvPr id="15" name="Text 13"/>
          <p:cNvSpPr txBox="1"/>
          <p:nvPr/>
        </p:nvSpPr>
        <p:spPr>
          <a:xfrm>
            <a:off x="365760" y="28194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6</a:t>
            </a:r>
            <a:endParaRPr lang="en-US" sz="1500" dirty="0"/>
          </a:p>
        </p:txBody>
      </p:sp>
      <p:sp>
        <p:nvSpPr>
          <p:cNvPr id="16" name="Text 14"/>
          <p:cNvSpPr txBox="1"/>
          <p:nvPr/>
        </p:nvSpPr>
        <p:spPr>
          <a:xfrm>
            <a:off x="914400" y="28194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gewissermaßen schon bestraft, ehe man noch wußte, daß man etwas Schlechtes</a:t>
            </a:r>
            <a:endParaRPr lang="en-US" sz="2000" dirty="0"/>
          </a:p>
        </p:txBody>
      </p:sp>
      <p:sp>
        <p:nvSpPr>
          <p:cNvPr id="17" name="Text 15"/>
          <p:cNvSpPr txBox="1"/>
          <p:nvPr/>
        </p:nvSpPr>
        <p:spPr>
          <a:xfrm>
            <a:off x="365760" y="31546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7</a:t>
            </a:r>
            <a:endParaRPr lang="en-US" sz="1500" dirty="0"/>
          </a:p>
        </p:txBody>
      </p:sp>
      <p:sp>
        <p:nvSpPr>
          <p:cNvPr id="18" name="Text 16"/>
          <p:cNvSpPr txBox="1"/>
          <p:nvPr/>
        </p:nvSpPr>
        <p:spPr>
          <a:xfrm>
            <a:off x="914400" y="31546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getan hatte. Aufreizend waren auch jene Zurechtweisungen, wo man als dritte</a:t>
            </a:r>
            <a:endParaRPr lang="en-US" sz="2000" dirty="0"/>
          </a:p>
        </p:txBody>
      </p:sp>
      <p:sp>
        <p:nvSpPr>
          <p:cNvPr id="19" name="Text 17"/>
          <p:cNvSpPr txBox="1"/>
          <p:nvPr/>
        </p:nvSpPr>
        <p:spPr>
          <a:xfrm>
            <a:off x="365760" y="34899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8</a:t>
            </a:r>
            <a:endParaRPr lang="en-US" sz="1500" dirty="0"/>
          </a:p>
        </p:txBody>
      </p:sp>
      <p:sp>
        <p:nvSpPr>
          <p:cNvPr id="20" name="Text 18"/>
          <p:cNvSpPr txBox="1"/>
          <p:nvPr/>
        </p:nvSpPr>
        <p:spPr>
          <a:xfrm>
            <a:off x="914400" y="34899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Person behandelt, also nicht einmal des bösen Ansprechens gewürdigt wurde; wo</a:t>
            </a:r>
            <a:endParaRPr lang="en-US" sz="2000" dirty="0"/>
          </a:p>
        </p:txBody>
      </p:sp>
      <p:sp>
        <p:nvSpPr>
          <p:cNvPr id="21" name="Text 19"/>
          <p:cNvSpPr txBox="1"/>
          <p:nvPr/>
        </p:nvSpPr>
        <p:spPr>
          <a:xfrm>
            <a:off x="365760" y="38252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9</a:t>
            </a:r>
            <a:endParaRPr lang="en-US" sz="1500" dirty="0"/>
          </a:p>
        </p:txBody>
      </p:sp>
      <p:sp>
        <p:nvSpPr>
          <p:cNvPr id="22" name="Text 20"/>
          <p:cNvSpPr txBox="1"/>
          <p:nvPr/>
        </p:nvSpPr>
        <p:spPr>
          <a:xfrm>
            <a:off x="914400" y="38252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Du also etwa formell zur Mutter sprachst, aber eigentlich zu mir, der dabei</a:t>
            </a:r>
            <a:endParaRPr lang="en-US" sz="2000" dirty="0"/>
          </a:p>
        </p:txBody>
      </p:sp>
      <p:sp>
        <p:nvSpPr>
          <p:cNvPr id="23" name="Text 21"/>
          <p:cNvSpPr txBox="1"/>
          <p:nvPr/>
        </p:nvSpPr>
        <p:spPr>
          <a:xfrm>
            <a:off x="365760" y="41605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10</a:t>
            </a:r>
            <a:endParaRPr lang="en-US" sz="1500" dirty="0"/>
          </a:p>
        </p:txBody>
      </p:sp>
      <p:sp>
        <p:nvSpPr>
          <p:cNvPr id="24" name="Text 22"/>
          <p:cNvSpPr txBox="1"/>
          <p:nvPr/>
        </p:nvSpPr>
        <p:spPr>
          <a:xfrm>
            <a:off x="914400" y="41605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saß, zum Beispiel: »Das kann man vom Herrn Sohn natürlich nicht haben« und</a:t>
            </a:r>
            <a:endParaRPr lang="en-US" sz="2000" dirty="0"/>
          </a:p>
        </p:txBody>
      </p:sp>
      <p:sp>
        <p:nvSpPr>
          <p:cNvPr id="25" name="Text 23"/>
          <p:cNvSpPr txBox="1"/>
          <p:nvPr/>
        </p:nvSpPr>
        <p:spPr>
          <a:xfrm>
            <a:off x="365760" y="449580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11</a:t>
            </a:r>
            <a:endParaRPr lang="en-US" sz="1500" dirty="0"/>
          </a:p>
        </p:txBody>
      </p:sp>
      <p:sp>
        <p:nvSpPr>
          <p:cNvPr id="26" name="Text 24"/>
          <p:cNvSpPr txBox="1"/>
          <p:nvPr/>
        </p:nvSpPr>
        <p:spPr>
          <a:xfrm>
            <a:off x="914400" y="449580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dergleichen. (Das bekam dann sein Gegenspiel darin, daß ich zum Beispiel nicht</a:t>
            </a:r>
            <a:endParaRPr lang="en-US" sz="2000" dirty="0"/>
          </a:p>
        </p:txBody>
      </p:sp>
      <p:sp>
        <p:nvSpPr>
          <p:cNvPr id="27" name="Text 25"/>
          <p:cNvSpPr txBox="1"/>
          <p:nvPr/>
        </p:nvSpPr>
        <p:spPr>
          <a:xfrm>
            <a:off x="365760" y="483108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12</a:t>
            </a:r>
            <a:endParaRPr lang="en-US" sz="1500" dirty="0"/>
          </a:p>
        </p:txBody>
      </p:sp>
      <p:sp>
        <p:nvSpPr>
          <p:cNvPr id="28" name="Text 26"/>
          <p:cNvSpPr txBox="1"/>
          <p:nvPr/>
        </p:nvSpPr>
        <p:spPr>
          <a:xfrm>
            <a:off x="914400" y="483108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wagte und später aus Gewohnheit gar nicht mehr daran dachte, Dich direkt zu</a:t>
            </a:r>
            <a:endParaRPr lang="en-US" sz="2000" dirty="0"/>
          </a:p>
        </p:txBody>
      </p:sp>
      <p:sp>
        <p:nvSpPr>
          <p:cNvPr id="29" name="Text 27"/>
          <p:cNvSpPr txBox="1"/>
          <p:nvPr/>
        </p:nvSpPr>
        <p:spPr>
          <a:xfrm>
            <a:off x="365760" y="516636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13</a:t>
            </a:r>
            <a:endParaRPr lang="en-US" sz="1500" dirty="0"/>
          </a:p>
        </p:txBody>
      </p:sp>
      <p:sp>
        <p:nvSpPr>
          <p:cNvPr id="30" name="Text 28"/>
          <p:cNvSpPr txBox="1"/>
          <p:nvPr/>
        </p:nvSpPr>
        <p:spPr>
          <a:xfrm>
            <a:off x="914400" y="516636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fragen, wenn die Mutter dabei war. Es war dem Kind viel ungefährlicher, die</a:t>
            </a:r>
            <a:endParaRPr lang="en-US" sz="2000" dirty="0"/>
          </a:p>
        </p:txBody>
      </p:sp>
      <p:sp>
        <p:nvSpPr>
          <p:cNvPr id="31" name="Text 29"/>
          <p:cNvSpPr txBox="1"/>
          <p:nvPr/>
        </p:nvSpPr>
        <p:spPr>
          <a:xfrm>
            <a:off x="365760" y="550164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14</a:t>
            </a:r>
            <a:endParaRPr lang="en-US" sz="1500" dirty="0"/>
          </a:p>
        </p:txBody>
      </p:sp>
      <p:sp>
        <p:nvSpPr>
          <p:cNvPr id="32" name="Text 30"/>
          <p:cNvSpPr txBox="1"/>
          <p:nvPr/>
        </p:nvSpPr>
        <p:spPr>
          <a:xfrm>
            <a:off x="914400" y="550164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neben Dir sitzende Mutter nach Dir auszufragen, man fragte dann die Mutter:</a:t>
            </a:r>
            <a:endParaRPr lang="en-US" sz="2000" dirty="0"/>
          </a:p>
        </p:txBody>
      </p:sp>
      <p:sp>
        <p:nvSpPr>
          <p:cNvPr id="33" name="Text 31"/>
          <p:cNvSpPr txBox="1"/>
          <p:nvPr/>
        </p:nvSpPr>
        <p:spPr>
          <a:xfrm>
            <a:off x="365760" y="5836920"/>
            <a:ext cx="411480" cy="335280"/>
          </a:xfrm>
          <a:prstGeom prst="rect">
            <a:avLst/>
          </a:prstGeom>
          <a:noFill/>
          <a:ln/>
        </p:spPr>
        <p:txBody>
          <a:bodyPr wrap="square" lIns="0" tIns="0" rIns="0" bIns="0" rtlCol="0" anchor="ctr"/>
          <a:lstStyle/>
          <a:p>
            <a:pPr algn="r" indent="0" marL="0">
              <a:buNone/>
            </a:pPr>
            <a:r>
              <a:rPr lang="en-US" sz="1500" dirty="0">
                <a:solidFill>
                  <a:srgbClr val="5B6B8C"/>
                </a:solidFill>
                <a:latin typeface="Calibri" pitchFamily="34" charset="0"/>
                <a:ea typeface="Calibri" pitchFamily="34" charset="-122"/>
                <a:cs typeface="Calibri" pitchFamily="34" charset="-120"/>
              </a:rPr>
              <a:t>15</a:t>
            </a:r>
            <a:endParaRPr lang="en-US" sz="1500" dirty="0"/>
          </a:p>
        </p:txBody>
      </p:sp>
      <p:sp>
        <p:nvSpPr>
          <p:cNvPr id="34" name="Text 32"/>
          <p:cNvSpPr txBox="1"/>
          <p:nvPr/>
        </p:nvSpPr>
        <p:spPr>
          <a:xfrm>
            <a:off x="914400" y="5836920"/>
            <a:ext cx="10972800" cy="335280"/>
          </a:xfrm>
          <a:prstGeom prst="rect">
            <a:avLst/>
          </a:prstGeom>
          <a:noFill/>
          <a:ln/>
        </p:spPr>
        <p:txBody>
          <a:bodyPr wrap="square" lIns="0" tIns="0" rIns="0" bIns="0" rtlCol="0" anchor="ctr"/>
          <a:lstStyle/>
          <a:p>
            <a:pPr indent="0" marL="0">
              <a:buNone/>
            </a:pPr>
            <a:r>
              <a:rPr lang="en-US" sz="2000" dirty="0">
                <a:solidFill>
                  <a:srgbClr val="1E2761"/>
                </a:solidFill>
                <a:latin typeface="Cambria" pitchFamily="34" charset="0"/>
                <a:ea typeface="Cambria" pitchFamily="34" charset="-122"/>
                <a:cs typeface="Cambria" pitchFamily="34" charset="-120"/>
              </a:rPr>
              <a:t>»Wie geht es dem Vater?« und sicherte sich so vor Überraschungen.)</a:t>
            </a:r>
            <a:endParaRPr lang="en-US" sz="2000" dirty="0"/>
          </a:p>
        </p:txBody>
      </p:sp>
      <p:sp>
        <p:nvSpPr>
          <p:cNvPr id="35" name="Shape 33"/>
          <p:cNvSpPr/>
          <p:nvPr/>
        </p:nvSpPr>
        <p:spPr>
          <a:xfrm>
            <a:off x="841248" y="1143000"/>
            <a:ext cx="0" cy="5029200"/>
          </a:xfrm>
          <a:prstGeom prst="line">
            <a:avLst/>
          </a:prstGeom>
          <a:noFill/>
          <a:ln w="25400">
            <a:solidFill>
              <a:srgbClr val="D9534F"/>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THESE PRÜFEN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Stimmt die These?</a:t>
            </a:r>
            <a:endParaRPr lang="en-US" sz="2700" dirty="0"/>
          </a:p>
        </p:txBody>
      </p:sp>
      <p:sp>
        <p:nvSpPr>
          <p:cNvPr id="5" name="Shape 3"/>
          <p:cNvSpPr/>
          <p:nvPr/>
        </p:nvSpPr>
        <p:spPr>
          <a:xfrm>
            <a:off x="548640" y="1280160"/>
            <a:ext cx="11064240" cy="914400"/>
          </a:xfrm>
          <a:prstGeom prst="roundRect">
            <a:avLst>
              <a:gd name="adj" fmla="val 8000"/>
            </a:avLst>
          </a:prstGeom>
          <a:solidFill>
            <a:srgbClr val="EAF0FA"/>
          </a:solidFill>
          <a:ln/>
        </p:spPr>
      </p:sp>
      <p:sp>
        <p:nvSpPr>
          <p:cNvPr id="6" name="Text 4"/>
          <p:cNvSpPr txBox="1"/>
          <p:nvPr/>
        </p:nvSpPr>
        <p:spPr>
          <a:xfrm>
            <a:off x="822960" y="1280160"/>
            <a:ext cx="10607040" cy="914400"/>
          </a:xfrm>
          <a:prstGeom prst="rect">
            <a:avLst/>
          </a:prstGeom>
          <a:noFill/>
          <a:ln/>
        </p:spPr>
        <p:txBody>
          <a:bodyPr wrap="square" lIns="0" tIns="0" rIns="0" bIns="0"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These: Kafkas „Furcht“ gründet auf Kommunikationsproblemen.</a:t>
            </a:r>
            <a:endParaRPr lang="en-US" sz="2300" dirty="0"/>
          </a:p>
        </p:txBody>
      </p:sp>
      <p:sp>
        <p:nvSpPr>
          <p:cNvPr id="7" name="Text 5"/>
          <p:cNvSpPr txBox="1"/>
          <p:nvPr/>
        </p:nvSpPr>
        <p:spPr>
          <a:xfrm>
            <a:off x="548640" y="2514600"/>
            <a:ext cx="10972800" cy="411480"/>
          </a:xfrm>
          <a:prstGeom prst="rect">
            <a:avLst/>
          </a:prstGeom>
          <a:noFill/>
          <a:ln/>
        </p:spPr>
        <p:txBody>
          <a:bodyPr wrap="square" lIns="0" tIns="0" rIns="0" bIns="0" rtlCol="0" anchor="t"/>
          <a:lstStyle/>
          <a:p>
            <a:pPr indent="0" marL="0">
              <a:buNone/>
            </a:pPr>
            <a:r>
              <a:rPr lang="en-US" sz="2000" b="1" dirty="0">
                <a:solidFill>
                  <a:srgbClr val="5B6B8C"/>
                </a:solidFill>
                <a:latin typeface="Calibri" pitchFamily="34" charset="0"/>
                <a:ea typeface="Calibri" pitchFamily="34" charset="-122"/>
                <a:cs typeface="Calibri" pitchFamily="34" charset="-120"/>
              </a:rPr>
              <a:t>Kafka schreibt aber auch:</a:t>
            </a:r>
            <a:endParaRPr lang="en-US" sz="2000" dirty="0"/>
          </a:p>
        </p:txBody>
      </p:sp>
      <p:sp>
        <p:nvSpPr>
          <p:cNvPr id="8" name="Shape 6"/>
          <p:cNvSpPr/>
          <p:nvPr/>
        </p:nvSpPr>
        <p:spPr>
          <a:xfrm>
            <a:off x="548640" y="3017520"/>
            <a:ext cx="11064240" cy="1417320"/>
          </a:xfrm>
          <a:prstGeom prst="roundRect">
            <a:avLst>
              <a:gd name="adj" fmla="val 5161"/>
            </a:avLst>
          </a:prstGeom>
          <a:solidFill>
            <a:srgbClr val="FBECEB"/>
          </a:solidFill>
          <a:ln/>
        </p:spPr>
      </p:sp>
      <p:sp>
        <p:nvSpPr>
          <p:cNvPr id="9" name="Text 7"/>
          <p:cNvSpPr txBox="1"/>
          <p:nvPr/>
        </p:nvSpPr>
        <p:spPr>
          <a:xfrm>
            <a:off x="822960" y="3127248"/>
            <a:ext cx="9418320" cy="1188720"/>
          </a:xfrm>
          <a:prstGeom prst="rect">
            <a:avLst/>
          </a:prstGeom>
          <a:noFill/>
          <a:ln/>
        </p:spPr>
        <p:txBody>
          <a:bodyPr wrap="square" lIns="0" tIns="0" rIns="0" bIns="0" rtlCol="0" anchor="ctr"/>
          <a:lstStyle/>
          <a:p>
            <a:pPr indent="0" marL="0">
              <a:buNone/>
            </a:pPr>
            <a:r>
              <a:rPr lang="en-US" sz="2100" i="1" dirty="0">
                <a:solidFill>
                  <a:srgbClr val="1E2761"/>
                </a:solidFill>
                <a:latin typeface="Cambria" pitchFamily="34" charset="0"/>
                <a:ea typeface="Cambria" pitchFamily="34" charset="-122"/>
                <a:cs typeface="Cambria" pitchFamily="34" charset="-120"/>
              </a:rPr>
              <a:t>„Wieder hüte ich mich zu behaupten, daß ich nur durch Dich so wurde; Du verstärktest nur, was war, aber Du verstärktest es sehr …“</a:t>
            </a:r>
            <a:endParaRPr lang="en-US" sz="2100" dirty="0"/>
          </a:p>
        </p:txBody>
      </p:sp>
      <p:sp>
        <p:nvSpPr>
          <p:cNvPr id="10" name="Text 8"/>
          <p:cNvSpPr txBox="1"/>
          <p:nvPr/>
        </p:nvSpPr>
        <p:spPr>
          <a:xfrm>
            <a:off x="10241280" y="3127248"/>
            <a:ext cx="1188720" cy="1188720"/>
          </a:xfrm>
          <a:prstGeom prst="rect">
            <a:avLst/>
          </a:prstGeom>
          <a:noFill/>
          <a:ln/>
        </p:spPr>
        <p:txBody>
          <a:bodyPr wrap="square" lIns="0" tIns="0" rIns="0" bIns="0" rtlCol="0" anchor="ctr"/>
          <a:lstStyle/>
          <a:p>
            <a:pPr algn="r" indent="0" marL="0">
              <a:buNone/>
            </a:pPr>
            <a:r>
              <a:rPr lang="en-US" sz="1600" b="1" dirty="0">
                <a:solidFill>
                  <a:srgbClr val="D9534F"/>
                </a:solidFill>
                <a:latin typeface="Calibri" pitchFamily="34" charset="0"/>
                <a:ea typeface="Calibri" pitchFamily="34" charset="-122"/>
                <a:cs typeface="Calibri" pitchFamily="34" charset="-120"/>
              </a:rPr>
              <a:t>S. 6</a:t>
            </a:r>
            <a:endParaRPr lang="en-US" sz="1600" dirty="0"/>
          </a:p>
        </p:txBody>
      </p:sp>
      <p:sp>
        <p:nvSpPr>
          <p:cNvPr id="11" name="Shape 9"/>
          <p:cNvSpPr/>
          <p:nvPr/>
        </p:nvSpPr>
        <p:spPr>
          <a:xfrm>
            <a:off x="548640" y="4617720"/>
            <a:ext cx="11064240" cy="1417320"/>
          </a:xfrm>
          <a:prstGeom prst="roundRect">
            <a:avLst>
              <a:gd name="adj" fmla="val 5161"/>
            </a:avLst>
          </a:prstGeom>
          <a:solidFill>
            <a:srgbClr val="FBECEB"/>
          </a:solidFill>
          <a:ln/>
        </p:spPr>
      </p:sp>
      <p:sp>
        <p:nvSpPr>
          <p:cNvPr id="12" name="Text 10"/>
          <p:cNvSpPr txBox="1"/>
          <p:nvPr/>
        </p:nvSpPr>
        <p:spPr>
          <a:xfrm>
            <a:off x="822960" y="4727448"/>
            <a:ext cx="9418320" cy="1188720"/>
          </a:xfrm>
          <a:prstGeom prst="rect">
            <a:avLst/>
          </a:prstGeom>
          <a:noFill/>
          <a:ln/>
        </p:spPr>
        <p:txBody>
          <a:bodyPr wrap="square" lIns="0" tIns="0" rIns="0" bIns="0" rtlCol="0" anchor="ctr"/>
          <a:lstStyle/>
          <a:p>
            <a:pPr indent="0" marL="0">
              <a:buNone/>
            </a:pPr>
            <a:r>
              <a:rPr lang="en-US" sz="2100" i="1" dirty="0">
                <a:solidFill>
                  <a:srgbClr val="1E2761"/>
                </a:solidFill>
                <a:latin typeface="Cambria" pitchFamily="34" charset="0"/>
                <a:ea typeface="Cambria" pitchFamily="34" charset="-122"/>
                <a:cs typeface="Cambria" pitchFamily="34" charset="-120"/>
              </a:rPr>
              <a:t>„… während es nur selbstverständliche Folge Deiner Stärke und meiner Schwäche war.“</a:t>
            </a:r>
            <a:endParaRPr lang="en-US" sz="2100" dirty="0"/>
          </a:p>
        </p:txBody>
      </p:sp>
      <p:sp>
        <p:nvSpPr>
          <p:cNvPr id="13" name="Text 11"/>
          <p:cNvSpPr txBox="1"/>
          <p:nvPr/>
        </p:nvSpPr>
        <p:spPr>
          <a:xfrm>
            <a:off x="10241280" y="4727448"/>
            <a:ext cx="1188720" cy="1188720"/>
          </a:xfrm>
          <a:prstGeom prst="rect">
            <a:avLst/>
          </a:prstGeom>
          <a:noFill/>
          <a:ln/>
        </p:spPr>
        <p:txBody>
          <a:bodyPr wrap="square" lIns="0" tIns="0" rIns="0" bIns="0" rtlCol="0" anchor="ctr"/>
          <a:lstStyle/>
          <a:p>
            <a:pPr algn="r" indent="0" marL="0">
              <a:buNone/>
            </a:pPr>
            <a:r>
              <a:rPr lang="en-US" sz="1600" b="1" dirty="0">
                <a:solidFill>
                  <a:srgbClr val="D9534F"/>
                </a:solidFill>
                <a:latin typeface="Calibri" pitchFamily="34" charset="0"/>
                <a:ea typeface="Calibri" pitchFamily="34" charset="-122"/>
                <a:cs typeface="Calibri" pitchFamily="34" charset="-120"/>
              </a:rPr>
              <a:t>A, Z. 16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AUFTRAG 2 · ALLEIN</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Vom Tafelbild zum Fließtext</a:t>
            </a:r>
            <a:endParaRPr lang="en-US" sz="2700" dirty="0"/>
          </a:p>
        </p:txBody>
      </p:sp>
      <p:sp>
        <p:nvSpPr>
          <p:cNvPr id="5" name="Shape 3"/>
          <p:cNvSpPr/>
          <p:nvPr/>
        </p:nvSpPr>
        <p:spPr>
          <a:xfrm>
            <a:off x="10058400" y="164592"/>
            <a:ext cx="1737360" cy="640080"/>
          </a:xfrm>
          <a:prstGeom prst="roundRect">
            <a:avLst>
              <a:gd name="adj" fmla="val 17143"/>
            </a:avLst>
          </a:prstGeom>
          <a:solidFill>
            <a:srgbClr val="D9534F"/>
          </a:solidFill>
          <a:ln/>
        </p:spPr>
      </p:sp>
      <p:sp>
        <p:nvSpPr>
          <p:cNvPr id="6" name="Text 4"/>
          <p:cNvSpPr txBox="1"/>
          <p:nvPr/>
        </p:nvSpPr>
        <p:spPr>
          <a:xfrm>
            <a:off x="10058400" y="164592"/>
            <a:ext cx="173736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15 Min.</a:t>
            </a:r>
            <a:endParaRPr lang="en-US" sz="2000" dirty="0"/>
          </a:p>
        </p:txBody>
      </p:sp>
      <p:sp>
        <p:nvSpPr>
          <p:cNvPr id="7" name="Shape 5"/>
          <p:cNvSpPr/>
          <p:nvPr/>
        </p:nvSpPr>
        <p:spPr>
          <a:xfrm>
            <a:off x="548640" y="1188720"/>
            <a:ext cx="11064240" cy="1600200"/>
          </a:xfrm>
          <a:prstGeom prst="roundRect">
            <a:avLst>
              <a:gd name="adj" fmla="val 4571"/>
            </a:avLst>
          </a:prstGeom>
          <a:solidFill>
            <a:srgbClr val="F4F7FD"/>
          </a:solidFill>
          <a:ln/>
        </p:spPr>
      </p:sp>
      <p:sp>
        <p:nvSpPr>
          <p:cNvPr id="8" name="Text 6"/>
          <p:cNvSpPr txBox="1"/>
          <p:nvPr/>
        </p:nvSpPr>
        <p:spPr>
          <a:xfrm>
            <a:off x="777240" y="1261872"/>
            <a:ext cx="10607040" cy="1463040"/>
          </a:xfrm>
          <a:prstGeom prst="rect">
            <a:avLst/>
          </a:prstGeom>
          <a:noFill/>
          <a:ln/>
        </p:spPr>
        <p:txBody>
          <a:bodyPr wrap="square" lIns="0" tIns="0" rIns="0" bIns="0" rtlCol="0" anchor="ctr"/>
          <a:lstStyle/>
          <a:p>
            <a:pPr indent="0" marL="0">
              <a:lnSpc>
                <a:spcPct val="110000"/>
              </a:lnSpc>
              <a:buNone/>
            </a:pPr>
            <a:r>
              <a:rPr lang="en-US" sz="1900" b="1" dirty="0">
                <a:solidFill>
                  <a:srgbClr val="D9534F"/>
                </a:solidFill>
                <a:latin typeface="Cambria" pitchFamily="34" charset="0"/>
                <a:ea typeface="Cambria" pitchFamily="34" charset="-122"/>
                <a:cs typeface="Cambria" pitchFamily="34" charset="-120"/>
              </a:rPr>
              <a:t>Analysiere</a:t>
            </a:r>
            <a:pPr indent="0" marL="0">
              <a:lnSpc>
                <a:spcPct val="110000"/>
              </a:lnSpc>
              <a:buNone/>
            </a:pPr>
            <a:r>
              <a:rPr lang="en-US" sz="1900" dirty="0">
                <a:solidFill>
                  <a:srgbClr val="1E2761"/>
                </a:solidFill>
                <a:latin typeface="Cambria" pitchFamily="34" charset="0"/>
                <a:ea typeface="Cambria" pitchFamily="34" charset="-122"/>
                <a:cs typeface="Cambria" pitchFamily="34" charset="-120"/>
              </a:rPr>
              <a:t> die Kommunikation zwischen Vater und Sohn in den Abschnitten A und C aus Franz Kafkas „Brief an den Vater“ (1919) unter Berücksichtigung der Kommunikationsmodelle von Schulz von Thun und Watzlawick. </a:t>
            </a:r>
            <a:pPr indent="0" marL="0">
              <a:lnSpc>
                <a:spcPct val="110000"/>
              </a:lnSpc>
              <a:buNone/>
            </a:pPr>
            <a:r>
              <a:rPr lang="en-US" sz="1900" b="1" dirty="0">
                <a:solidFill>
                  <a:srgbClr val="D9534F"/>
                </a:solidFill>
                <a:latin typeface="Cambria" pitchFamily="34" charset="0"/>
                <a:ea typeface="Cambria" pitchFamily="34" charset="-122"/>
                <a:cs typeface="Cambria" pitchFamily="34" charset="-120"/>
              </a:rPr>
              <a:t>Beurteile</a:t>
            </a:r>
            <a:pPr indent="0" marL="0">
              <a:lnSpc>
                <a:spcPct val="110000"/>
              </a:lnSpc>
              <a:buNone/>
            </a:pPr>
            <a:r>
              <a:rPr lang="en-US" sz="1900" dirty="0">
                <a:solidFill>
                  <a:srgbClr val="1E2761"/>
                </a:solidFill>
                <a:latin typeface="Cambria" pitchFamily="34" charset="0"/>
                <a:ea typeface="Cambria" pitchFamily="34" charset="-122"/>
                <a:cs typeface="Cambria" pitchFamily="34" charset="-120"/>
              </a:rPr>
              <a:t> abschließend, inwieweit die These zutrifft, dass Kafkas „Furcht“ auf Kommunikationsproblemen gründet.</a:t>
            </a:r>
            <a:endParaRPr lang="en-US" sz="1900" dirty="0"/>
          </a:p>
        </p:txBody>
      </p:sp>
      <p:sp>
        <p:nvSpPr>
          <p:cNvPr id="9" name="Text 7"/>
          <p:cNvSpPr txBox="1"/>
          <p:nvPr/>
        </p:nvSpPr>
        <p:spPr>
          <a:xfrm>
            <a:off x="548640" y="2971800"/>
            <a:ext cx="5486400"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So gehst du vor</a:t>
            </a:r>
            <a:endParaRPr lang="en-US" sz="1900" dirty="0"/>
          </a:p>
        </p:txBody>
      </p:sp>
      <p:sp>
        <p:nvSpPr>
          <p:cNvPr id="10" name="Shape 8"/>
          <p:cNvSpPr/>
          <p:nvPr/>
        </p:nvSpPr>
        <p:spPr>
          <a:xfrm>
            <a:off x="548640" y="3547872"/>
            <a:ext cx="1600200" cy="402336"/>
          </a:xfrm>
          <a:prstGeom prst="roundRect">
            <a:avLst>
              <a:gd name="adj" fmla="val 50000"/>
            </a:avLst>
          </a:prstGeom>
          <a:solidFill>
            <a:srgbClr val="1E2761"/>
          </a:solidFill>
          <a:ln/>
        </p:spPr>
      </p:sp>
      <p:sp>
        <p:nvSpPr>
          <p:cNvPr id="11" name="Text 9"/>
          <p:cNvSpPr txBox="1"/>
          <p:nvPr/>
        </p:nvSpPr>
        <p:spPr>
          <a:xfrm>
            <a:off x="548640" y="3547872"/>
            <a:ext cx="160020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Einleitung</a:t>
            </a:r>
            <a:endParaRPr lang="en-US" sz="1400" dirty="0"/>
          </a:p>
        </p:txBody>
      </p:sp>
      <p:sp>
        <p:nvSpPr>
          <p:cNvPr id="12" name="Text 10"/>
          <p:cNvSpPr txBox="1"/>
          <p:nvPr/>
        </p:nvSpPr>
        <p:spPr>
          <a:xfrm>
            <a:off x="2286000" y="3474720"/>
            <a:ext cx="3749040" cy="566928"/>
          </a:xfrm>
          <a:prstGeom prst="rect">
            <a:avLst/>
          </a:prstGeom>
          <a:noFill/>
          <a:ln/>
        </p:spPr>
        <p:txBody>
          <a:bodyPr wrap="square" lIns="0" tIns="0" rIns="0" bIns="0" rtlCol="0" anchor="ctr"/>
          <a:lstStyle/>
          <a:p>
            <a:pPr indent="0" marL="0">
              <a:buNone/>
            </a:pPr>
            <a:r>
              <a:rPr lang="en-US" sz="1500" dirty="0">
                <a:solidFill>
                  <a:srgbClr val="1E2761"/>
                </a:solidFill>
                <a:latin typeface="Calibri" pitchFamily="34" charset="0"/>
                <a:ea typeface="Calibri" pitchFamily="34" charset="-122"/>
                <a:cs typeface="Calibri" pitchFamily="34" charset="-120"/>
              </a:rPr>
              <a:t>Autor, Titel, Entstehungsjahr, Thema</a:t>
            </a:r>
            <a:endParaRPr lang="en-US" sz="1500" dirty="0"/>
          </a:p>
        </p:txBody>
      </p:sp>
      <p:sp>
        <p:nvSpPr>
          <p:cNvPr id="13" name="Shape 11"/>
          <p:cNvSpPr/>
          <p:nvPr/>
        </p:nvSpPr>
        <p:spPr>
          <a:xfrm>
            <a:off x="548640" y="4206240"/>
            <a:ext cx="1600200" cy="402336"/>
          </a:xfrm>
          <a:prstGeom prst="roundRect">
            <a:avLst>
              <a:gd name="adj" fmla="val 50000"/>
            </a:avLst>
          </a:prstGeom>
          <a:solidFill>
            <a:srgbClr val="1E2761"/>
          </a:solidFill>
          <a:ln/>
        </p:spPr>
      </p:sp>
      <p:sp>
        <p:nvSpPr>
          <p:cNvPr id="14" name="Text 12"/>
          <p:cNvSpPr txBox="1"/>
          <p:nvPr/>
        </p:nvSpPr>
        <p:spPr>
          <a:xfrm>
            <a:off x="548640" y="4206240"/>
            <a:ext cx="160020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Hauptteil</a:t>
            </a:r>
            <a:endParaRPr lang="en-US" sz="1400" dirty="0"/>
          </a:p>
        </p:txBody>
      </p:sp>
      <p:sp>
        <p:nvSpPr>
          <p:cNvPr id="15" name="Text 13"/>
          <p:cNvSpPr txBox="1"/>
          <p:nvPr/>
        </p:nvSpPr>
        <p:spPr>
          <a:xfrm>
            <a:off x="2286000" y="4133088"/>
            <a:ext cx="3749040" cy="566928"/>
          </a:xfrm>
          <a:prstGeom prst="rect">
            <a:avLst/>
          </a:prstGeom>
          <a:noFill/>
          <a:ln/>
        </p:spPr>
        <p:txBody>
          <a:bodyPr wrap="square" lIns="0" tIns="0" rIns="0" bIns="0" rtlCol="0" anchor="ctr"/>
          <a:lstStyle/>
          <a:p>
            <a:pPr indent="0" marL="0">
              <a:buNone/>
            </a:pPr>
            <a:r>
              <a:rPr lang="en-US" sz="1500" dirty="0">
                <a:solidFill>
                  <a:srgbClr val="1E2761"/>
                </a:solidFill>
                <a:latin typeface="Calibri" pitchFamily="34" charset="0"/>
                <a:ea typeface="Calibri" pitchFamily="34" charset="-122"/>
                <a:cs typeface="Calibri" pitchFamily="34" charset="-120"/>
              </a:rPr>
              <a:t>je Zeile der Matrix: Behauptung → Beleg → Erklärung · erst A, dann C</a:t>
            </a:r>
            <a:endParaRPr lang="en-US" sz="1500" dirty="0"/>
          </a:p>
        </p:txBody>
      </p:sp>
      <p:sp>
        <p:nvSpPr>
          <p:cNvPr id="16" name="Shape 14"/>
          <p:cNvSpPr/>
          <p:nvPr/>
        </p:nvSpPr>
        <p:spPr>
          <a:xfrm>
            <a:off x="548640" y="4864608"/>
            <a:ext cx="1600200" cy="402336"/>
          </a:xfrm>
          <a:prstGeom prst="roundRect">
            <a:avLst>
              <a:gd name="adj" fmla="val 50000"/>
            </a:avLst>
          </a:prstGeom>
          <a:solidFill>
            <a:srgbClr val="1E2761"/>
          </a:solidFill>
          <a:ln/>
        </p:spPr>
      </p:sp>
      <p:sp>
        <p:nvSpPr>
          <p:cNvPr id="17" name="Text 15"/>
          <p:cNvSpPr txBox="1"/>
          <p:nvPr/>
        </p:nvSpPr>
        <p:spPr>
          <a:xfrm>
            <a:off x="548640" y="4864608"/>
            <a:ext cx="160020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Schluss</a:t>
            </a:r>
            <a:endParaRPr lang="en-US" sz="1400" dirty="0"/>
          </a:p>
        </p:txBody>
      </p:sp>
      <p:sp>
        <p:nvSpPr>
          <p:cNvPr id="18" name="Text 16"/>
          <p:cNvSpPr txBox="1"/>
          <p:nvPr/>
        </p:nvSpPr>
        <p:spPr>
          <a:xfrm>
            <a:off x="2286000" y="4791456"/>
            <a:ext cx="3749040" cy="566928"/>
          </a:xfrm>
          <a:prstGeom prst="rect">
            <a:avLst/>
          </a:prstGeom>
          <a:noFill/>
          <a:ln/>
        </p:spPr>
        <p:txBody>
          <a:bodyPr wrap="square" lIns="0" tIns="0" rIns="0" bIns="0" rtlCol="0" anchor="ctr"/>
          <a:lstStyle/>
          <a:p>
            <a:pPr indent="0" marL="0">
              <a:buNone/>
            </a:pPr>
            <a:r>
              <a:rPr lang="en-US" sz="1500" dirty="0">
                <a:solidFill>
                  <a:srgbClr val="1E2761"/>
                </a:solidFill>
                <a:latin typeface="Calibri" pitchFamily="34" charset="0"/>
                <a:ea typeface="Calibri" pitchFamily="34" charset="-122"/>
                <a:cs typeface="Calibri" pitchFamily="34" charset="-120"/>
              </a:rPr>
              <a:t>begründetes Urteil zur These (auch „ja, aber …“)</a:t>
            </a:r>
            <a:endParaRPr lang="en-US" sz="1500" dirty="0"/>
          </a:p>
        </p:txBody>
      </p:sp>
      <p:sp>
        <p:nvSpPr>
          <p:cNvPr id="19" name="Text 17"/>
          <p:cNvSpPr txBox="1"/>
          <p:nvPr/>
        </p:nvSpPr>
        <p:spPr>
          <a:xfrm>
            <a:off x="548640" y="5486400"/>
            <a:ext cx="5486400" cy="868680"/>
          </a:xfrm>
          <a:prstGeom prst="rect">
            <a:avLst/>
          </a:prstGeom>
          <a:noFill/>
          <a:ln/>
        </p:spPr>
        <p:txBody>
          <a:bodyPr wrap="square" lIns="0" tIns="0" rIns="0" bIns="0" rtlCol="0" anchor="t"/>
          <a:lstStyle/>
          <a:p>
            <a:pPr indent="0" marL="0">
              <a:buNone/>
            </a:pPr>
            <a:r>
              <a:rPr lang="en-US" sz="1500" i="1" dirty="0">
                <a:solidFill>
                  <a:srgbClr val="5B6B8C"/>
                </a:solidFill>
                <a:latin typeface="Calibri" pitchFamily="34" charset="0"/>
                <a:ea typeface="Calibri" pitchFamily="34" charset="-122"/>
                <a:cs typeface="Calibri" pitchFamily="34" charset="-120"/>
              </a:rPr>
              <a:t>Belege jede Aussage mit Zitat und Zeile (A, Z. … bzw. C, Z. …). Grundlage ist deine Matrix im Hefter.</a:t>
            </a:r>
            <a:endParaRPr lang="en-US" sz="1500" dirty="0"/>
          </a:p>
        </p:txBody>
      </p:sp>
      <p:sp>
        <p:nvSpPr>
          <p:cNvPr id="20" name="Shape 18"/>
          <p:cNvSpPr/>
          <p:nvPr/>
        </p:nvSpPr>
        <p:spPr>
          <a:xfrm>
            <a:off x="6309360" y="2971800"/>
            <a:ext cx="5303520" cy="3429000"/>
          </a:xfrm>
          <a:prstGeom prst="roundRect">
            <a:avLst>
              <a:gd name="adj" fmla="val 2133"/>
            </a:avLst>
          </a:prstGeom>
          <a:solidFill>
            <a:srgbClr val="FFF8EC"/>
          </a:solidFill>
          <a:ln/>
        </p:spPr>
      </p:sp>
      <p:sp>
        <p:nvSpPr>
          <p:cNvPr id="21" name="Text 19"/>
          <p:cNvSpPr txBox="1"/>
          <p:nvPr/>
        </p:nvSpPr>
        <p:spPr>
          <a:xfrm>
            <a:off x="6537960" y="3063240"/>
            <a:ext cx="4572000" cy="411480"/>
          </a:xfrm>
          <a:prstGeom prst="rect">
            <a:avLst/>
          </a:prstGeom>
          <a:noFill/>
          <a:ln/>
        </p:spPr>
        <p:txBody>
          <a:bodyPr wrap="square" lIns="0" tIns="0" rIns="0" bIns="0" rtlCol="0" anchor="t"/>
          <a:lstStyle/>
          <a:p>
            <a:pPr indent="0" marL="0">
              <a:buNone/>
            </a:pPr>
            <a:r>
              <a:rPr lang="en-US" sz="1900" b="1" dirty="0">
                <a:solidFill>
                  <a:srgbClr val="E8A33D"/>
                </a:solidFill>
                <a:latin typeface="Cambria" pitchFamily="34" charset="0"/>
                <a:ea typeface="Cambria" pitchFamily="34" charset="-122"/>
                <a:cs typeface="Cambria" pitchFamily="34" charset="-120"/>
              </a:rPr>
              <a:t>Satzbausteine</a:t>
            </a:r>
            <a:endParaRPr lang="en-US" sz="1900" dirty="0"/>
          </a:p>
        </p:txBody>
      </p:sp>
      <p:sp>
        <p:nvSpPr>
          <p:cNvPr id="22" name="Text 20"/>
          <p:cNvSpPr txBox="1"/>
          <p:nvPr/>
        </p:nvSpPr>
        <p:spPr>
          <a:xfrm>
            <a:off x="6537960" y="3520440"/>
            <a:ext cx="4937760" cy="2788920"/>
          </a:xfrm>
          <a:prstGeom prst="rect">
            <a:avLst/>
          </a:prstGeom>
          <a:noFill/>
          <a:ln/>
        </p:spPr>
        <p:txBody>
          <a:bodyPr wrap="square" lIns="0" tIns="0" rIns="0" bIns="0" rtlCol="0" anchor="t"/>
          <a:lstStyle/>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In seinem „Brief an den Vater“ (1919) …</a:t>
            </a:r>
            <a:endParaRPr lang="en-US" sz="1500" dirty="0"/>
          </a:p>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Indem der Vater …, sendet er …</a:t>
            </a:r>
            <a:endParaRPr lang="en-US" sz="1500" dirty="0"/>
          </a:p>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Dies zeigt sich in … (Z. …)</a:t>
            </a:r>
            <a:endParaRPr lang="en-US" sz="1500" dirty="0"/>
          </a:p>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Hinzu kommt, dass …  ·  Die Folge ist …</a:t>
            </a:r>
            <a:endParaRPr lang="en-US" sz="1500" dirty="0"/>
          </a:p>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Besonders deutlich wird dies, wenn …</a:t>
            </a:r>
            <a:endParaRPr lang="en-US" sz="1500" dirty="0"/>
          </a:p>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Insgesamt stützt die Stelle die These, weil …</a:t>
            </a:r>
            <a:endParaRPr lang="en-US" sz="1500" dirty="0"/>
          </a:p>
          <a:p>
            <a:pPr indent="0" marL="0">
              <a:spcAft>
                <a:spcPts val="300"/>
              </a:spcAft>
              <a:buNone/>
            </a:pPr>
            <a:r>
              <a:rPr lang="en-US" sz="1500" i="1" dirty="0">
                <a:solidFill>
                  <a:srgbClr val="1E2761"/>
                </a:solidFill>
                <a:latin typeface="Calibri" pitchFamily="34" charset="0"/>
                <a:ea typeface="Calibri" pitchFamily="34" charset="-122"/>
                <a:cs typeface="Calibri" pitchFamily="34" charset="-120"/>
              </a:rPr>
              <a:t>Allerdings …</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oundRect">
            <a:avLst/>
          </a:prstGeom>
          <a:solidFill>
            <a:srgbClr val="1E2761"/>
          </a:solidFill>
          <a:ln/>
        </p:spPr>
      </p:sp>
      <p:sp>
        <p:nvSpPr>
          <p:cNvPr id="3" name="Text 1"/>
          <p:cNvSpPr txBox="1"/>
          <p:nvPr/>
        </p:nvSpPr>
        <p:spPr>
          <a:xfrm>
            <a:off x="457200" y="109728"/>
            <a:ext cx="8686800" cy="274320"/>
          </a:xfrm>
          <a:prstGeom prst="rect">
            <a:avLst/>
          </a:prstGeom>
          <a:noFill/>
          <a:ln/>
        </p:spPr>
        <p:txBody>
          <a:bodyPr wrap="square" lIns="0" tIns="0" rIns="0" bIns="0" rtlCol="0" anchor="t"/>
          <a:lstStyle/>
          <a:p>
            <a:pPr indent="0" marL="0">
              <a:buNone/>
            </a:pPr>
            <a:r>
              <a:rPr lang="en-US" sz="1300" b="1" spc="200" kern="0" dirty="0">
                <a:solidFill>
                  <a:srgbClr val="CADCFC"/>
                </a:solidFill>
                <a:latin typeface="Calibri" pitchFamily="34" charset="0"/>
                <a:ea typeface="Calibri" pitchFamily="34" charset="-122"/>
                <a:cs typeface="Calibri" pitchFamily="34" charset="-120"/>
              </a:rPr>
              <a:t>HILFE ZUM START</a:t>
            </a:r>
            <a:endParaRPr lang="en-US" sz="1300" dirty="0"/>
          </a:p>
        </p:txBody>
      </p:sp>
      <p:sp>
        <p:nvSpPr>
          <p:cNvPr id="4" name="Text 2"/>
          <p:cNvSpPr txBox="1"/>
          <p:nvPr/>
        </p:nvSpPr>
        <p:spPr>
          <a:xfrm>
            <a:off x="457200" y="384048"/>
            <a:ext cx="9418320" cy="530352"/>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So könnte dein Text beginnen</a:t>
            </a:r>
            <a:endParaRPr lang="en-US" sz="2700" dirty="0"/>
          </a:p>
        </p:txBody>
      </p:sp>
      <p:sp>
        <p:nvSpPr>
          <p:cNvPr id="5" name="Shape 3"/>
          <p:cNvSpPr/>
          <p:nvPr/>
        </p:nvSpPr>
        <p:spPr>
          <a:xfrm>
            <a:off x="548640" y="1280160"/>
            <a:ext cx="11064240" cy="5120640"/>
          </a:xfrm>
          <a:prstGeom prst="roundRect">
            <a:avLst>
              <a:gd name="adj" fmla="val 1429"/>
            </a:avLst>
          </a:prstGeom>
          <a:solidFill>
            <a:srgbClr val="F4F7FD"/>
          </a:solidFill>
          <a:ln/>
        </p:spPr>
      </p:sp>
      <p:sp>
        <p:nvSpPr>
          <p:cNvPr id="6" name="Text 4"/>
          <p:cNvSpPr txBox="1"/>
          <p:nvPr/>
        </p:nvSpPr>
        <p:spPr>
          <a:xfrm>
            <a:off x="868680" y="1463040"/>
            <a:ext cx="10424160" cy="4754880"/>
          </a:xfrm>
          <a:prstGeom prst="rect">
            <a:avLst/>
          </a:prstGeom>
          <a:noFill/>
          <a:ln/>
        </p:spPr>
        <p:txBody>
          <a:bodyPr wrap="square" lIns="0" tIns="0" rIns="0" bIns="0" rtlCol="0" anchor="t"/>
          <a:lstStyle/>
          <a:p>
            <a:pPr indent="0" marL="0">
              <a:lnSpc>
                <a:spcPct val="120000"/>
              </a:lnSpc>
              <a:buNone/>
            </a:pPr>
            <a:r>
              <a:rPr lang="en-US" sz="2100" dirty="0">
                <a:solidFill>
                  <a:srgbClr val="1E2761"/>
                </a:solidFill>
                <a:latin typeface="Cambria" pitchFamily="34" charset="0"/>
                <a:ea typeface="Cambria" pitchFamily="34" charset="-122"/>
                <a:cs typeface="Cambria" pitchFamily="34" charset="-120"/>
              </a:rPr>
              <a:t>In seinem „Brief an den Vater“ (1919) versucht Franz Kafka, seinem Vater zu erklären, warum er Furcht vor ihm hat. In den beiden Abschnitten beschreibt er, wie der Vater mit ihm gesprochen hat: durch Redeverbote (A) und durch Ironie (C).</a:t>
            </a:r>
            <a:endParaRPr lang="en-US" sz="2100" dirty="0"/>
          </a:p>
          <a:p>
            <a:pPr indent="0" marL="0">
              <a:lnSpc>
                <a:spcPct val="120000"/>
              </a:lnSpc>
              <a:buNone/>
            </a:pPr>
            <a:r>
              <a:rPr lang="en-US" sz="1000" dirty="0">
                <a:solidFill>
                  <a:srgbClr val="1E2761"/>
                </a:solidFill>
                <a:latin typeface="Cambria" pitchFamily="34" charset="0"/>
                <a:ea typeface="Cambria" pitchFamily="34" charset="-122"/>
                <a:cs typeface="Cambria" pitchFamily="34" charset="-120"/>
              </a:rPr>
              <a:t> </a:t>
            </a:r>
            <a:endParaRPr lang="en-US" sz="2100" dirty="0"/>
          </a:p>
          <a:p>
            <a:pPr indent="0" marL="0">
              <a:lnSpc>
                <a:spcPct val="120000"/>
              </a:lnSpc>
              <a:buNone/>
            </a:pPr>
            <a:r>
              <a:rPr lang="en-US" sz="2100" dirty="0">
                <a:solidFill>
                  <a:srgbClr val="1E2761"/>
                </a:solidFill>
                <a:latin typeface="Cambria" pitchFamily="34" charset="0"/>
                <a:ea typeface="Cambria" pitchFamily="34" charset="-122"/>
                <a:cs typeface="Cambria" pitchFamily="34" charset="-120"/>
              </a:rPr>
              <a:t>Indem der Vater jede Widerrede verbietet, sendet er kaum eine Sachinformation, sondern einen Appell – „Schweig!“ – und vor allem eine Beziehungsbotschaft: Er allein bestimmt. Seine Drohung „kein Wort der Widerrede!“ (A, Z. 5) unterstreicht er nonverbal mit der „erhobene[n] Hand“ (Z. 5). …</a:t>
            </a:r>
            <a:endParaRPr lang="en-US"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463040"/>
            <a:ext cx="2011680" cy="402336"/>
          </a:xfrm>
          <a:prstGeom prst="roundRect">
            <a:avLst>
              <a:gd name="adj" fmla="val 50000"/>
            </a:avLst>
          </a:prstGeom>
          <a:solidFill>
            <a:srgbClr val="D9534F"/>
          </a:solidFill>
          <a:ln/>
        </p:spPr>
      </p:sp>
      <p:sp>
        <p:nvSpPr>
          <p:cNvPr id="4" name="Text 2"/>
          <p:cNvSpPr txBox="1"/>
          <p:nvPr/>
        </p:nvSpPr>
        <p:spPr>
          <a:xfrm>
            <a:off x="822960" y="1463040"/>
            <a:ext cx="201168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AUSBLICK</a:t>
            </a:r>
            <a:endParaRPr lang="en-US" sz="1300" dirty="0"/>
          </a:p>
        </p:txBody>
      </p:sp>
      <p:sp>
        <p:nvSpPr>
          <p:cNvPr id="5" name="Text 3"/>
          <p:cNvSpPr txBox="1"/>
          <p:nvPr/>
        </p:nvSpPr>
        <p:spPr>
          <a:xfrm>
            <a:off x="822960" y="210312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Übungsklausur</a:t>
            </a:r>
            <a:endParaRPr lang="en-US" sz="4000" dirty="0"/>
          </a:p>
        </p:txBody>
      </p:sp>
      <p:sp>
        <p:nvSpPr>
          <p:cNvPr id="6" name="Text 4"/>
          <p:cNvSpPr txBox="1"/>
          <p:nvPr/>
        </p:nvSpPr>
        <p:spPr>
          <a:xfrm>
            <a:off x="822960" y="3108960"/>
            <a:ext cx="10424160" cy="1463040"/>
          </a:xfrm>
          <a:prstGeom prst="rect">
            <a:avLst/>
          </a:prstGeom>
          <a:noFill/>
          <a:ln/>
        </p:spPr>
        <p:txBody>
          <a:bodyPr wrap="square" lIns="0" tIns="0" rIns="0" bIns="0" rtlCol="0" anchor="t"/>
          <a:lstStyle/>
          <a:p>
            <a:pPr indent="0" marL="0">
              <a:spcAft>
                <a:spcPts val="600"/>
              </a:spcAft>
              <a:buNone/>
            </a:pPr>
            <a:r>
              <a:rPr lang="en-US" sz="2400" dirty="0">
                <a:solidFill>
                  <a:srgbClr val="CADCFC"/>
                </a:solidFill>
                <a:latin typeface="Calibri" pitchFamily="34" charset="0"/>
                <a:ea typeface="Calibri" pitchFamily="34" charset="-122"/>
                <a:cs typeface="Calibri" pitchFamily="34" charset="-120"/>
              </a:rPr>
              <a:t>Dieselben Schritte an einem neuen Ausschnitt aus dem „Brief an den Vater“:</a:t>
            </a:r>
            <a:endParaRPr lang="en-US" sz="2400" dirty="0"/>
          </a:p>
          <a:p>
            <a:pPr indent="0" marL="0">
              <a:spcAft>
                <a:spcPts val="600"/>
              </a:spcAft>
              <a:buNone/>
            </a:pPr>
            <a:r>
              <a:rPr lang="en-US" sz="2400" dirty="0">
                <a:solidFill>
                  <a:srgbClr val="CADCFC"/>
                </a:solidFill>
                <a:latin typeface="Calibri" pitchFamily="34" charset="0"/>
                <a:ea typeface="Calibri" pitchFamily="34" charset="-122"/>
                <a:cs typeface="Calibri" pitchFamily="34" charset="-120"/>
              </a:rPr>
              <a:t>verstehen → untersuchen → schreiben.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Kafka – Brief an den Vater</dc:title>
  <dc:subject>PptxGenJS Presentation</dc:subject>
  <dc:creator>PptxGenJS</dc:creator>
  <cp:lastModifiedBy>PptxGenJS</cp:lastModifiedBy>
  <cp:revision>1</cp:revision>
  <dcterms:created xsi:type="dcterms:W3CDTF">2026-10-04T19:26:27Z</dcterms:created>
  <dcterms:modified xsi:type="dcterms:W3CDTF">2026-10-04T19:26:27Z</dcterms:modified>
</cp:coreProperties>
</file>