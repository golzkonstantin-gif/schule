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Merksätze zum Abschreiben und Übungen. Die Erarbeitung (Sätze ohne Hilfsverb, Klammer) passiert an der Tafel – siehe Tafelskript. Lösungen stehen in den Notizen.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Lösung: Infinitiv: spielen, gehen, lesen · finit: spielst, war, hat, bist, hatten · Partizip II: gespielt, gegangen, gelesen, gekauft. Danach fragen: Woran habt ihr das Partizip II erkannt?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Ansage: „Heft auf. Datum nach rechts. Neue Überschrift: Hilfsverben erkennen. Dann schreibt ihr von der Folie ab: Merksatz 5.“ „Aber nie allein“ ist die Brücke zur Erarbeitung des Hilfsverbs an der Tafel.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Vorher an der Tafel: vier Sätze ohne Hilfsverb, Kreide-Kette setzt die roten Wörter ein, Klammern einzeichnen. Ansage: „Jetzt schreibt ihr von der Folie ab: Merksatz 6 mit dem Beispielsatz. Zeichnet die Klammer ein.“ werden nur erwähnen – kommt beim Futur.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Lösung: 1 hat – gezockt · 2 sind – gefahren · 3 habt – vergessen · 4 ist – hingefallen · 5 habe – gekauft · 6 hat – begonnen (kein ge-). Vergleich per Kreide-Kette: unterstreichen und Klammer zeichnen.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Vorher an der Tafel: „Ich habe Hunger.“ / „Ich habe gegessen.“ – Ist es beide Male ein Hilfsverb? Ansage: „Jetzt schreibt ihr von der Folie ab: Merksatz 7 mit den beiden Beispielsätzen.“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Lösung: 1 V · 2 H · 3 V · 4 H · 5 V · 6 H. Begründung 2: Am Satzende steht das Partizip II runtergefallen. Vergleich per Kreide-Kette: H oder V hinter den Satz schreiben und Grund sagen.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Lösung: 1 nein (Vollverb) · 2 ja – gegangen · 3 nein (Vollverb). Erklärung z. B.: haben, sein oder werden; finit; bildet mit dem Partizip II eine Zeitform. Auswertung: „ja“ bei 1 oder 3 → Merksatz 7 nächste Stunde wiederholen.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463040"/>
            <a:ext cx="4206240" cy="4206240"/>
          </a:xfrm>
          <a:prstGeom prst="ellipse">
            <a:avLst/>
          </a:prstGeom>
          <a:solidFill>
            <a:srgbClr val="24306E"/>
          </a:solidFill>
          <a:ln/>
        </p:spPr>
      </p:sp>
      <p:sp>
        <p:nvSpPr>
          <p:cNvPr id="3" name="Shape 1"/>
          <p:cNvSpPr/>
          <p:nvPr/>
        </p:nvSpPr>
        <p:spPr>
          <a:xfrm>
            <a:off x="-1371600" y="4206240"/>
            <a:ext cx="3657600" cy="3657600"/>
          </a:xfrm>
          <a:prstGeom prst="ellipse">
            <a:avLst/>
          </a:prstGeom>
          <a:solidFill>
            <a:srgbClr val="24306E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22960" y="2286000"/>
            <a:ext cx="10058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Hilfsverben erkennen</a:t>
            </a:r>
            <a:endParaRPr lang="en-US" sz="48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324612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Merksätze und Übungen der Stunde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60350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Deutsch, Klasse 7A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WIEDERHOLUNG · KREIDE-KETTE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9436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Welche Verbform ist das?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11109960" cy="1655064"/>
          </a:xfrm>
          <a:prstGeom prst="roundRect">
            <a:avLst>
              <a:gd name="adj" fmla="val 4420"/>
            </a:avLst>
          </a:prstGeom>
          <a:solidFill>
            <a:srgbClr val="EAF0FA"/>
          </a:solidFill>
          <a:ln/>
        </p:spPr>
      </p:sp>
      <p:sp>
        <p:nvSpPr>
          <p:cNvPr id="5" name="Shape 3"/>
          <p:cNvSpPr/>
          <p:nvPr/>
        </p:nvSpPr>
        <p:spPr>
          <a:xfrm>
            <a:off x="731520" y="1568196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31520" y="15681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1280160" y="1554480"/>
            <a:ext cx="10241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Nimm ein Wort von der Liste.</a:t>
            </a:r>
            <a:endParaRPr lang="en-US" sz="2100" dirty="0"/>
          </a:p>
        </p:txBody>
      </p:sp>
      <p:sp>
        <p:nvSpPr>
          <p:cNvPr id="8" name="Shape 6"/>
          <p:cNvSpPr/>
          <p:nvPr/>
        </p:nvSpPr>
        <p:spPr>
          <a:xfrm>
            <a:off x="731520" y="2052828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731520" y="20528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1280160" y="2039112"/>
            <a:ext cx="10241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Schreibe es an der Tafel in die richtige Spalte.</a:t>
            </a:r>
            <a:endParaRPr lang="en-US" sz="2100" dirty="0"/>
          </a:p>
        </p:txBody>
      </p:sp>
      <p:sp>
        <p:nvSpPr>
          <p:cNvPr id="11" name="Shape 9"/>
          <p:cNvSpPr/>
          <p:nvPr/>
        </p:nvSpPr>
        <p:spPr>
          <a:xfrm>
            <a:off x="731520" y="2537460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731520" y="25374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1280160" y="2523744"/>
            <a:ext cx="10241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Gib die Kreide weiter.</a:t>
            </a:r>
            <a:endParaRPr lang="en-US" sz="2100" dirty="0"/>
          </a:p>
        </p:txBody>
      </p:sp>
      <p:sp>
        <p:nvSpPr>
          <p:cNvPr id="14" name="Shape 12"/>
          <p:cNvSpPr/>
          <p:nvPr/>
        </p:nvSpPr>
        <p:spPr>
          <a:xfrm>
            <a:off x="548640" y="5897880"/>
            <a:ext cx="11109960" cy="548640"/>
          </a:xfrm>
          <a:prstGeom prst="roundRect">
            <a:avLst>
              <a:gd name="adj" fmla="val 13333"/>
            </a:avLst>
          </a:prstGeom>
          <a:solidFill>
            <a:srgbClr val="1E2761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822960" y="589788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Zeit: </a:t>
            </a:r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Minuten · Kreide-Kette      </a:t>
            </a:r>
            <a:pPr indent="0" marL="0">
              <a:buNone/>
            </a:pPr>
            <a:r>
              <a:rPr lang="en-US" sz="17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Alle anderen prüfen mit.</a:t>
            </a:r>
            <a:endParaRPr lang="en-US" sz="170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651052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Hilfsverben erkennen · Deutsch 7A</a:t>
            </a:r>
            <a:endParaRPr lang="en-US" sz="1000" dirty="0"/>
          </a:p>
        </p:txBody>
      </p:sp>
      <p:sp>
        <p:nvSpPr>
          <p:cNvPr id="17" name="Text 15"/>
          <p:cNvSpPr txBox="1"/>
          <p:nvPr/>
        </p:nvSpPr>
        <p:spPr>
          <a:xfrm>
            <a:off x="11155680" y="651052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548640" y="3346704"/>
            <a:ext cx="169164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9050">
            <a:solidFill>
              <a:srgbClr val="1E2761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548640" y="3346704"/>
            <a:ext cx="1691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spielen</a:t>
            </a:r>
            <a:endParaRPr lang="en-US" sz="2100" dirty="0"/>
          </a:p>
        </p:txBody>
      </p:sp>
      <p:sp>
        <p:nvSpPr>
          <p:cNvPr id="21" name="Shape 18"/>
          <p:cNvSpPr/>
          <p:nvPr/>
        </p:nvSpPr>
        <p:spPr>
          <a:xfrm>
            <a:off x="2432304" y="3346704"/>
            <a:ext cx="169164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9050">
            <a:solidFill>
              <a:srgbClr val="1E2761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2432304" y="3346704"/>
            <a:ext cx="1691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gespielt</a:t>
            </a:r>
            <a:endParaRPr lang="en-US" sz="2100" dirty="0"/>
          </a:p>
        </p:txBody>
      </p:sp>
      <p:sp>
        <p:nvSpPr>
          <p:cNvPr id="23" name="Shape 20"/>
          <p:cNvSpPr/>
          <p:nvPr/>
        </p:nvSpPr>
        <p:spPr>
          <a:xfrm>
            <a:off x="4315968" y="3346704"/>
            <a:ext cx="169164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9050">
            <a:solidFill>
              <a:srgbClr val="1E2761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4315968" y="3346704"/>
            <a:ext cx="1691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spielst</a:t>
            </a:r>
            <a:endParaRPr lang="en-US" sz="2100" dirty="0"/>
          </a:p>
        </p:txBody>
      </p:sp>
      <p:sp>
        <p:nvSpPr>
          <p:cNvPr id="25" name="Shape 22"/>
          <p:cNvSpPr/>
          <p:nvPr/>
        </p:nvSpPr>
        <p:spPr>
          <a:xfrm>
            <a:off x="6199632" y="3346704"/>
            <a:ext cx="169164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9050">
            <a:solidFill>
              <a:srgbClr val="1E2761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6199632" y="3346704"/>
            <a:ext cx="1691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war</a:t>
            </a:r>
            <a:endParaRPr lang="en-US" sz="2100" dirty="0"/>
          </a:p>
        </p:txBody>
      </p:sp>
      <p:sp>
        <p:nvSpPr>
          <p:cNvPr id="27" name="Shape 24"/>
          <p:cNvSpPr/>
          <p:nvPr/>
        </p:nvSpPr>
        <p:spPr>
          <a:xfrm>
            <a:off x="8083296" y="3346704"/>
            <a:ext cx="169164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9050">
            <a:solidFill>
              <a:srgbClr val="1E2761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8083296" y="3346704"/>
            <a:ext cx="1691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gegangen</a:t>
            </a:r>
            <a:endParaRPr lang="en-US" sz="2100" dirty="0"/>
          </a:p>
        </p:txBody>
      </p:sp>
      <p:sp>
        <p:nvSpPr>
          <p:cNvPr id="29" name="Shape 26"/>
          <p:cNvSpPr/>
          <p:nvPr/>
        </p:nvSpPr>
        <p:spPr>
          <a:xfrm>
            <a:off x="9966960" y="3346704"/>
            <a:ext cx="169164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9050">
            <a:solidFill>
              <a:srgbClr val="1E2761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9966960" y="3346704"/>
            <a:ext cx="1691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gehen</a:t>
            </a:r>
            <a:endParaRPr lang="en-US" sz="2100" dirty="0"/>
          </a:p>
        </p:txBody>
      </p:sp>
      <p:sp>
        <p:nvSpPr>
          <p:cNvPr id="31" name="Shape 28"/>
          <p:cNvSpPr/>
          <p:nvPr/>
        </p:nvSpPr>
        <p:spPr>
          <a:xfrm>
            <a:off x="548640" y="4050792"/>
            <a:ext cx="169164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9050">
            <a:solidFill>
              <a:srgbClr val="1E2761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548640" y="4050792"/>
            <a:ext cx="1691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hat</a:t>
            </a:r>
            <a:endParaRPr lang="en-US" sz="2100" dirty="0"/>
          </a:p>
        </p:txBody>
      </p:sp>
      <p:sp>
        <p:nvSpPr>
          <p:cNvPr id="33" name="Shape 30"/>
          <p:cNvSpPr/>
          <p:nvPr/>
        </p:nvSpPr>
        <p:spPr>
          <a:xfrm>
            <a:off x="2432304" y="4050792"/>
            <a:ext cx="169164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9050">
            <a:solidFill>
              <a:srgbClr val="1E2761"/>
            </a:solidFill>
            <a:prstDash val="solid"/>
          </a:ln>
        </p:spPr>
      </p:sp>
      <p:sp>
        <p:nvSpPr>
          <p:cNvPr id="34" name="Text 31"/>
          <p:cNvSpPr txBox="1"/>
          <p:nvPr/>
        </p:nvSpPr>
        <p:spPr>
          <a:xfrm>
            <a:off x="2432304" y="4050792"/>
            <a:ext cx="1691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gelesen</a:t>
            </a:r>
            <a:endParaRPr lang="en-US" sz="2100" dirty="0"/>
          </a:p>
        </p:txBody>
      </p:sp>
      <p:sp>
        <p:nvSpPr>
          <p:cNvPr id="35" name="Shape 32"/>
          <p:cNvSpPr/>
          <p:nvPr/>
        </p:nvSpPr>
        <p:spPr>
          <a:xfrm>
            <a:off x="4315968" y="4050792"/>
            <a:ext cx="169164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9050">
            <a:solidFill>
              <a:srgbClr val="1E2761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4315968" y="4050792"/>
            <a:ext cx="1691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lesen</a:t>
            </a:r>
            <a:endParaRPr lang="en-US" sz="2100" dirty="0"/>
          </a:p>
        </p:txBody>
      </p:sp>
      <p:sp>
        <p:nvSpPr>
          <p:cNvPr id="37" name="Shape 34"/>
          <p:cNvSpPr/>
          <p:nvPr/>
        </p:nvSpPr>
        <p:spPr>
          <a:xfrm>
            <a:off x="6199632" y="4050792"/>
            <a:ext cx="169164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9050">
            <a:solidFill>
              <a:srgbClr val="1E2761"/>
            </a:solidFill>
            <a:prstDash val="solid"/>
          </a:ln>
        </p:spPr>
      </p:sp>
      <p:sp>
        <p:nvSpPr>
          <p:cNvPr id="38" name="Text 35"/>
          <p:cNvSpPr txBox="1"/>
          <p:nvPr/>
        </p:nvSpPr>
        <p:spPr>
          <a:xfrm>
            <a:off x="6199632" y="4050792"/>
            <a:ext cx="1691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bist</a:t>
            </a:r>
            <a:endParaRPr lang="en-US" sz="2100" dirty="0"/>
          </a:p>
        </p:txBody>
      </p:sp>
      <p:sp>
        <p:nvSpPr>
          <p:cNvPr id="39" name="Shape 36"/>
          <p:cNvSpPr/>
          <p:nvPr/>
        </p:nvSpPr>
        <p:spPr>
          <a:xfrm>
            <a:off x="8083296" y="4050792"/>
            <a:ext cx="169164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9050">
            <a:solidFill>
              <a:srgbClr val="1E2761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8083296" y="4050792"/>
            <a:ext cx="1691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hatten</a:t>
            </a:r>
            <a:endParaRPr lang="en-US" sz="2100" dirty="0"/>
          </a:p>
        </p:txBody>
      </p:sp>
      <p:sp>
        <p:nvSpPr>
          <p:cNvPr id="41" name="Shape 38"/>
          <p:cNvSpPr/>
          <p:nvPr/>
        </p:nvSpPr>
        <p:spPr>
          <a:xfrm>
            <a:off x="9966960" y="4050792"/>
            <a:ext cx="169164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9050">
            <a:solidFill>
              <a:srgbClr val="1E2761"/>
            </a:solidFill>
            <a:prstDash val="solid"/>
          </a:ln>
        </p:spPr>
      </p:sp>
      <p:sp>
        <p:nvSpPr>
          <p:cNvPr id="42" name="Text 39"/>
          <p:cNvSpPr txBox="1"/>
          <p:nvPr/>
        </p:nvSpPr>
        <p:spPr>
          <a:xfrm>
            <a:off x="9966960" y="4050792"/>
            <a:ext cx="1691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gekauft</a:t>
            </a:r>
            <a:endParaRPr lang="en-US" sz="2100" dirty="0"/>
          </a:p>
        </p:txBody>
      </p:sp>
      <p:sp>
        <p:nvSpPr>
          <p:cNvPr id="43" name="Shape 40"/>
          <p:cNvSpPr/>
          <p:nvPr/>
        </p:nvSpPr>
        <p:spPr>
          <a:xfrm>
            <a:off x="548640" y="4846320"/>
            <a:ext cx="3611880" cy="457200"/>
          </a:xfrm>
          <a:prstGeom prst="roundRect">
            <a:avLst>
              <a:gd name="adj" fmla="val 10000"/>
            </a:avLst>
          </a:prstGeom>
          <a:solidFill>
            <a:srgbClr val="3F7CC4"/>
          </a:solidFill>
          <a:ln/>
        </p:spPr>
      </p:sp>
      <p:sp>
        <p:nvSpPr>
          <p:cNvPr id="44" name="Text 41"/>
          <p:cNvSpPr txBox="1"/>
          <p:nvPr/>
        </p:nvSpPr>
        <p:spPr>
          <a:xfrm>
            <a:off x="548640" y="4846320"/>
            <a:ext cx="3611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Infinitiv</a:t>
            </a:r>
            <a:endParaRPr lang="en-US" sz="1800" dirty="0"/>
          </a:p>
        </p:txBody>
      </p:sp>
      <p:sp>
        <p:nvSpPr>
          <p:cNvPr id="45" name="Shape 42"/>
          <p:cNvSpPr/>
          <p:nvPr/>
        </p:nvSpPr>
        <p:spPr>
          <a:xfrm>
            <a:off x="4297680" y="4846320"/>
            <a:ext cx="3611880" cy="457200"/>
          </a:xfrm>
          <a:prstGeom prst="roundRect">
            <a:avLst>
              <a:gd name="adj" fmla="val 10000"/>
            </a:avLst>
          </a:prstGeom>
          <a:solidFill>
            <a:srgbClr val="1E2761"/>
          </a:solidFill>
          <a:ln/>
        </p:spPr>
      </p:sp>
      <p:sp>
        <p:nvSpPr>
          <p:cNvPr id="46" name="Text 43"/>
          <p:cNvSpPr txBox="1"/>
          <p:nvPr/>
        </p:nvSpPr>
        <p:spPr>
          <a:xfrm>
            <a:off x="4297680" y="4846320"/>
            <a:ext cx="3611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finite Form</a:t>
            </a:r>
            <a:endParaRPr lang="en-US" sz="1800" dirty="0"/>
          </a:p>
        </p:txBody>
      </p:sp>
      <p:sp>
        <p:nvSpPr>
          <p:cNvPr id="47" name="Shape 44"/>
          <p:cNvSpPr/>
          <p:nvPr/>
        </p:nvSpPr>
        <p:spPr>
          <a:xfrm>
            <a:off x="8046720" y="4846320"/>
            <a:ext cx="3611880" cy="457200"/>
          </a:xfrm>
          <a:prstGeom prst="roundRect">
            <a:avLst>
              <a:gd name="adj" fmla="val 10000"/>
            </a:avLst>
          </a:prstGeom>
          <a:solidFill>
            <a:srgbClr val="C98A1E"/>
          </a:solidFill>
          <a:ln/>
        </p:spPr>
      </p:sp>
      <p:sp>
        <p:nvSpPr>
          <p:cNvPr id="48" name="Text 45"/>
          <p:cNvSpPr txBox="1"/>
          <p:nvPr/>
        </p:nvSpPr>
        <p:spPr>
          <a:xfrm>
            <a:off x="8046720" y="4846320"/>
            <a:ext cx="3611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Partizip II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D953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MERKSATZ 5 · ABSCHREIBEN UND ROT UMRAHMEN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9436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Partizip II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1110996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38100">
            <a:solidFill>
              <a:srgbClr val="D9534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68680" y="1508760"/>
            <a:ext cx="104698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Das </a:t>
            </a:r>
            <a:pPr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Partizip II</a:t>
            </a:r>
            <a:pPr indent="0" marL="0">
              <a:buNone/>
            </a:pPr>
            <a:r>
              <a:rPr lang="en-US" sz="2200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ist infinit und verändert sich </a:t>
            </a:r>
            <a:pPr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nie</a:t>
            </a:r>
            <a:pPr indent="0" marL="0">
              <a:buNone/>
            </a:pPr>
            <a:r>
              <a:rPr lang="en-US" sz="2200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. Man bildet es meist mit </a:t>
            </a:r>
            <a:pPr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ge-…-t</a:t>
            </a:r>
            <a:pPr indent="0" marL="0">
              <a:buNone/>
            </a:pPr>
            <a:r>
              <a:rPr lang="en-US" sz="2200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oder </a:t>
            </a:r>
            <a:pPr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ge-…-en</a:t>
            </a:r>
            <a:pPr indent="0" marL="0">
              <a:buNone/>
            </a:pPr>
            <a:r>
              <a:rPr lang="en-US" sz="2200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. Verben auf be-, ver-, -ieren bekommen kein ge-.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548640" y="3383280"/>
            <a:ext cx="11109960" cy="548640"/>
          </a:xfrm>
          <a:prstGeom prst="roundRect">
            <a:avLst>
              <a:gd name="adj" fmla="val 13333"/>
            </a:avLst>
          </a:prstGeom>
          <a:solidFill>
            <a:srgbClr val="EAF0FA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22960" y="338328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Beispiel:   </a:t>
            </a:r>
            <a:pPr indent="0" marL="0">
              <a:buNone/>
            </a:pPr>
            <a:r>
              <a:rPr lang="en-US" sz="2000" b="1" dirty="0">
                <a:solidFill>
                  <a:srgbClr val="C98A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gespielt</a:t>
            </a:r>
            <a:pPr indent="0" marL="0">
              <a:buNone/>
            </a:pPr>
            <a:r>
              <a:rPr lang="en-US" sz="2000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 ·  </a:t>
            </a:r>
            <a:pPr indent="0" marL="0">
              <a:buNone/>
            </a:pPr>
            <a:r>
              <a:rPr lang="en-US" sz="2000" b="1" dirty="0">
                <a:solidFill>
                  <a:srgbClr val="C98A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gelaufen</a:t>
            </a:r>
            <a:pPr indent="0" marL="0">
              <a:buNone/>
            </a:pPr>
            <a:r>
              <a:rPr lang="en-US" sz="2000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 ·  </a:t>
            </a:r>
            <a:pPr indent="0" marL="0">
              <a:buNone/>
            </a:pPr>
            <a:r>
              <a:rPr lang="en-US" sz="2000" b="1" dirty="0">
                <a:solidFill>
                  <a:srgbClr val="C98A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bestellt</a:t>
            </a:r>
            <a:pPr indent="0" marL="0">
              <a:buNone/>
            </a:pPr>
            <a:r>
              <a:rPr lang="en-US" sz="2000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 ·  </a:t>
            </a:r>
            <a:pPr indent="0" marL="0">
              <a:buNone/>
            </a:pPr>
            <a:r>
              <a:rPr lang="en-US" sz="2000" b="1" dirty="0">
                <a:solidFill>
                  <a:srgbClr val="C98A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verstanden</a:t>
            </a:r>
            <a:pPr indent="0" marL="0">
              <a:buNone/>
            </a:pPr>
            <a:r>
              <a:rPr lang="en-US" sz="2000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 ·  </a:t>
            </a:r>
            <a:pPr indent="0" marL="0">
              <a:buNone/>
            </a:pPr>
            <a:r>
              <a:rPr lang="en-US" sz="2000" b="1" dirty="0">
                <a:solidFill>
                  <a:srgbClr val="C98A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telefoniert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548640" y="4069080"/>
            <a:ext cx="5440680" cy="1645920"/>
          </a:xfrm>
          <a:prstGeom prst="roundRect">
            <a:avLst>
              <a:gd name="adj" fmla="val 4444"/>
            </a:avLst>
          </a:prstGeom>
          <a:solidFill>
            <a:srgbClr val="F4F7FD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777240" y="4187952"/>
            <a:ext cx="4983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D953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Wofür brauche ich das?</a:t>
            </a:r>
            <a:endParaRPr lang="en-US" sz="1900" dirty="0"/>
          </a:p>
        </p:txBody>
      </p:sp>
      <p:sp>
        <p:nvSpPr>
          <p:cNvPr id="10" name="Text 8"/>
          <p:cNvSpPr txBox="1"/>
          <p:nvPr/>
        </p:nvSpPr>
        <p:spPr>
          <a:xfrm>
            <a:off x="777240" y="4572000"/>
            <a:ext cx="49834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 dem Partizip II erzählt man, was schon passiert ist – aber </a:t>
            </a:r>
            <a:pPr indent="0" marL="0">
              <a:buNone/>
            </a:pPr>
            <a:r>
              <a:rPr lang="en-US" sz="19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nie allein</a:t>
            </a:r>
            <a:pPr indent="0" marL="0">
              <a:buNone/>
            </a:pPr>
            <a:r>
              <a:rPr lang="en-US" sz="19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900" dirty="0"/>
          </a:p>
        </p:txBody>
      </p:sp>
      <p:sp>
        <p:nvSpPr>
          <p:cNvPr id="11" name="Shape 9"/>
          <p:cNvSpPr/>
          <p:nvPr/>
        </p:nvSpPr>
        <p:spPr>
          <a:xfrm>
            <a:off x="6217920" y="4069080"/>
            <a:ext cx="5440680" cy="1645920"/>
          </a:xfrm>
          <a:prstGeom prst="roundRect">
            <a:avLst>
              <a:gd name="adj" fmla="val 4444"/>
            </a:avLst>
          </a:prstGeom>
          <a:solidFill>
            <a:srgbClr val="F4F7FD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446520" y="4187952"/>
            <a:ext cx="4983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D953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</a:t>
            </a:r>
            <a:endParaRPr lang="en-US" sz="1900" dirty="0"/>
          </a:p>
        </p:txBody>
      </p:sp>
      <p:sp>
        <p:nvSpPr>
          <p:cNvPr id="13" name="Text 11"/>
          <p:cNvSpPr txBox="1"/>
          <p:nvPr/>
        </p:nvSpPr>
        <p:spPr>
          <a:xfrm>
            <a:off x="6446520" y="4572000"/>
            <a:ext cx="49834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Passt </a:t>
            </a:r>
            <a:pPr indent="0" marL="0">
              <a:buNone/>
            </a:pPr>
            <a:r>
              <a:rPr lang="en-US" sz="19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„ich habe …“</a:t>
            </a:r>
            <a:pPr indent="0" marL="0">
              <a:buNone/>
            </a:pPr>
            <a:r>
              <a:rPr lang="en-US" sz="19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oder </a:t>
            </a:r>
            <a:pPr indent="0" marL="0">
              <a:buNone/>
            </a:pPr>
            <a:r>
              <a:rPr lang="en-US" sz="19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„ich bin …“</a:t>
            </a:r>
            <a:pPr indent="0" marL="0">
              <a:buNone/>
            </a:pPr>
            <a:r>
              <a:rPr lang="en-US" sz="19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davor?</a:t>
            </a:r>
            <a:endParaRPr lang="en-US" sz="1900" dirty="0"/>
          </a:p>
        </p:txBody>
      </p:sp>
      <p:sp>
        <p:nvSpPr>
          <p:cNvPr id="14" name="Shape 12"/>
          <p:cNvSpPr/>
          <p:nvPr/>
        </p:nvSpPr>
        <p:spPr>
          <a:xfrm>
            <a:off x="548640" y="5897880"/>
            <a:ext cx="11109960" cy="548640"/>
          </a:xfrm>
          <a:prstGeom prst="roundRect">
            <a:avLst>
              <a:gd name="adj" fmla="val 13333"/>
            </a:avLst>
          </a:prstGeom>
          <a:solidFill>
            <a:srgbClr val="1E2761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822960" y="589788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Jetzt: </a:t>
            </a:r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Schreibe den Merksatz mit Beispiel ab und rahme ihn rot ein.      </a:t>
            </a:r>
            <a:pPr indent="0" marL="0">
              <a:buNone/>
            </a:pPr>
            <a:r>
              <a:rPr lang="en-US" sz="17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Fertig? Stift hinlegen.</a:t>
            </a:r>
            <a:endParaRPr lang="en-US" sz="170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651052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Hilfsverben erkennen · Deutsch 7A</a:t>
            </a:r>
            <a:endParaRPr lang="en-US" sz="1000" dirty="0"/>
          </a:p>
        </p:txBody>
      </p:sp>
      <p:sp>
        <p:nvSpPr>
          <p:cNvPr id="17" name="Text 15"/>
          <p:cNvSpPr txBox="1"/>
          <p:nvPr/>
        </p:nvSpPr>
        <p:spPr>
          <a:xfrm>
            <a:off x="11155680" y="651052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D953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MERKSATZ 6 · ABSCHREIBEN UND ROT UMRAHMEN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9436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Das Hilfsverb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1110996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38100">
            <a:solidFill>
              <a:srgbClr val="D9534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68680" y="1508760"/>
            <a:ext cx="104698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Hilfsverben sind </a:t>
            </a:r>
            <a:pPr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haben, sein und werden</a:t>
            </a:r>
            <a:pPr indent="0" marL="0">
              <a:buNone/>
            </a:pPr>
            <a:r>
              <a:rPr lang="en-US" sz="2200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. Das Hilfsverb ist </a:t>
            </a:r>
            <a:pPr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finit</a:t>
            </a:r>
            <a:pPr indent="0" marL="0">
              <a:buNone/>
            </a:pPr>
            <a:r>
              <a:rPr lang="en-US" sz="2200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und steht an </a:t>
            </a:r>
            <a:pPr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Position 2</a:t>
            </a:r>
            <a:pPr indent="0" marL="0">
              <a:buNone/>
            </a:pPr>
            <a:r>
              <a:rPr lang="en-US" sz="2200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. Mit dem Partizip II am Satzende bildet es eine </a:t>
            </a:r>
            <a:pPr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Klammer</a:t>
            </a:r>
            <a:pPr indent="0" marL="0">
              <a:buNone/>
            </a:pPr>
            <a:r>
              <a:rPr lang="en-US" sz="2200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.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548640" y="3383280"/>
            <a:ext cx="11109960" cy="548640"/>
          </a:xfrm>
          <a:prstGeom prst="roundRect">
            <a:avLst>
              <a:gd name="adj" fmla="val 13333"/>
            </a:avLst>
          </a:prstGeom>
          <a:solidFill>
            <a:srgbClr val="EAF0FA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22960" y="338328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Beispiel:   </a:t>
            </a:r>
            <a:pPr indent="0" marL="0">
              <a:buNone/>
            </a:pPr>
            <a:r>
              <a:rPr lang="en-US" sz="2000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Ich </a:t>
            </a:r>
            <a:pPr indent="0" marL="0">
              <a:buNone/>
            </a:pPr>
            <a:r>
              <a:rPr lang="en-US" sz="2000" b="1" dirty="0">
                <a:solidFill>
                  <a:srgbClr val="D953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habe</a:t>
            </a:r>
            <a:pPr indent="0" marL="0">
              <a:buNone/>
            </a:pPr>
            <a:r>
              <a:rPr lang="en-US" sz="2000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Fußball </a:t>
            </a:r>
            <a:pPr indent="0" marL="0">
              <a:buNone/>
            </a:pPr>
            <a:r>
              <a:rPr lang="en-US" sz="2000" b="1" dirty="0">
                <a:solidFill>
                  <a:srgbClr val="C98A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gespielt</a:t>
            </a:r>
            <a:pPr indent="0" marL="0">
              <a:buNone/>
            </a:pPr>
            <a:r>
              <a:rPr lang="en-US" sz="2000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.   ·   Wir </a:t>
            </a:r>
            <a:pPr indent="0" marL="0">
              <a:buNone/>
            </a:pPr>
            <a:r>
              <a:rPr lang="en-US" sz="2000" b="1" dirty="0">
                <a:solidFill>
                  <a:srgbClr val="D953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sind</a:t>
            </a:r>
            <a:pPr indent="0" marL="0">
              <a:buNone/>
            </a:pPr>
            <a:r>
              <a:rPr lang="en-US" sz="2000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ins Kino </a:t>
            </a:r>
            <a:pPr indent="0" marL="0">
              <a:buNone/>
            </a:pPr>
            <a:r>
              <a:rPr lang="en-US" sz="2000" b="1" dirty="0">
                <a:solidFill>
                  <a:srgbClr val="C98A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gegangen</a:t>
            </a:r>
            <a:pPr indent="0" marL="0">
              <a:buNone/>
            </a:pPr>
            <a:r>
              <a:rPr lang="en-US" sz="2000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.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548640" y="4069080"/>
            <a:ext cx="5440680" cy="1645920"/>
          </a:xfrm>
          <a:prstGeom prst="roundRect">
            <a:avLst>
              <a:gd name="adj" fmla="val 4444"/>
            </a:avLst>
          </a:prstGeom>
          <a:solidFill>
            <a:srgbClr val="F4F7FD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777240" y="4187952"/>
            <a:ext cx="4983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D953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Wofür brauche ich das?</a:t>
            </a:r>
            <a:endParaRPr lang="en-US" sz="1900" dirty="0"/>
          </a:p>
        </p:txBody>
      </p:sp>
      <p:sp>
        <p:nvSpPr>
          <p:cNvPr id="10" name="Text 8"/>
          <p:cNvSpPr txBox="1"/>
          <p:nvPr/>
        </p:nvSpPr>
        <p:spPr>
          <a:xfrm>
            <a:off x="777240" y="4572000"/>
            <a:ext cx="49834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 Partizip II kann nicht zeigen, </a:t>
            </a:r>
            <a:pPr indent="0" marL="0">
              <a:buNone/>
            </a:pPr>
            <a:r>
              <a:rPr lang="en-US" sz="19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wer</a:t>
            </a:r>
            <a:pPr indent="0" marL="0">
              <a:buNone/>
            </a:pPr>
            <a:r>
              <a:rPr lang="en-US" sz="19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etwas tut – das übernimmt das Hilfsverb. Zusammen bilden sie </a:t>
            </a:r>
            <a:pPr indent="0" marL="0">
              <a:buNone/>
            </a:pPr>
            <a:r>
              <a:rPr lang="en-US" sz="19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Zeitformen</a:t>
            </a:r>
            <a:pPr indent="0" marL="0">
              <a:buNone/>
            </a:pPr>
            <a:r>
              <a:rPr lang="en-US" sz="19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900" dirty="0"/>
          </a:p>
        </p:txBody>
      </p:sp>
      <p:sp>
        <p:nvSpPr>
          <p:cNvPr id="11" name="Shape 9"/>
          <p:cNvSpPr/>
          <p:nvPr/>
        </p:nvSpPr>
        <p:spPr>
          <a:xfrm>
            <a:off x="6217920" y="4069080"/>
            <a:ext cx="5440680" cy="1645920"/>
          </a:xfrm>
          <a:prstGeom prst="roundRect">
            <a:avLst>
              <a:gd name="adj" fmla="val 4444"/>
            </a:avLst>
          </a:prstGeom>
          <a:solidFill>
            <a:srgbClr val="F4F7FD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446520" y="4187952"/>
            <a:ext cx="4983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D953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</a:t>
            </a:r>
            <a:endParaRPr lang="en-US" sz="1900" dirty="0"/>
          </a:p>
        </p:txBody>
      </p:sp>
      <p:sp>
        <p:nvSpPr>
          <p:cNvPr id="13" name="Text 11"/>
          <p:cNvSpPr txBox="1"/>
          <p:nvPr/>
        </p:nvSpPr>
        <p:spPr>
          <a:xfrm>
            <a:off x="6446520" y="4572000"/>
            <a:ext cx="49834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Steht am Satzende ein </a:t>
            </a:r>
            <a:pPr indent="0" marL="0">
              <a:buNone/>
            </a:pPr>
            <a:r>
              <a:rPr lang="en-US" sz="19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Partizip II</a:t>
            </a:r>
            <a:pPr indent="0" marL="0">
              <a:buNone/>
            </a:pPr>
            <a:r>
              <a:rPr lang="en-US" sz="19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 Dann ist das finite haben oder sein davor ein Hilfsverb.</a:t>
            </a:r>
            <a:endParaRPr lang="en-US" sz="1900" dirty="0"/>
          </a:p>
        </p:txBody>
      </p:sp>
      <p:sp>
        <p:nvSpPr>
          <p:cNvPr id="14" name="Shape 12"/>
          <p:cNvSpPr/>
          <p:nvPr/>
        </p:nvSpPr>
        <p:spPr>
          <a:xfrm>
            <a:off x="548640" y="5897880"/>
            <a:ext cx="11109960" cy="548640"/>
          </a:xfrm>
          <a:prstGeom prst="roundRect">
            <a:avLst>
              <a:gd name="adj" fmla="val 13333"/>
            </a:avLst>
          </a:prstGeom>
          <a:solidFill>
            <a:srgbClr val="1E2761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822960" y="589788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Jetzt: </a:t>
            </a:r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Schreibe den Merksatz mit Beispiel ab und rahme ihn rot ein.      </a:t>
            </a:r>
            <a:pPr indent="0" marL="0">
              <a:buNone/>
            </a:pPr>
            <a:r>
              <a:rPr lang="en-US" sz="17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Fertig? Stift hinlegen.</a:t>
            </a:r>
            <a:endParaRPr lang="en-US" sz="170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651052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Hilfsverben erkennen · Deutsch 7A</a:t>
            </a:r>
            <a:endParaRPr lang="en-US" sz="1000" dirty="0"/>
          </a:p>
        </p:txBody>
      </p:sp>
      <p:sp>
        <p:nvSpPr>
          <p:cNvPr id="17" name="Text 15"/>
          <p:cNvSpPr txBox="1"/>
          <p:nvPr/>
        </p:nvSpPr>
        <p:spPr>
          <a:xfrm>
            <a:off x="11155680" y="651052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ÜBUNG 6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9436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Hilfsverb gesucht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11109960" cy="1655064"/>
          </a:xfrm>
          <a:prstGeom prst="roundRect">
            <a:avLst>
              <a:gd name="adj" fmla="val 4420"/>
            </a:avLst>
          </a:prstGeom>
          <a:solidFill>
            <a:srgbClr val="EAF0FA"/>
          </a:solidFill>
          <a:ln/>
        </p:spPr>
      </p:sp>
      <p:sp>
        <p:nvSpPr>
          <p:cNvPr id="5" name="Shape 3"/>
          <p:cNvSpPr/>
          <p:nvPr/>
        </p:nvSpPr>
        <p:spPr>
          <a:xfrm>
            <a:off x="731520" y="1568196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31520" y="15681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1280160" y="1554480"/>
            <a:ext cx="10241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Schreibe Ü6 an den Rand.</a:t>
            </a:r>
            <a:endParaRPr lang="en-US" sz="2100" dirty="0"/>
          </a:p>
        </p:txBody>
      </p:sp>
      <p:sp>
        <p:nvSpPr>
          <p:cNvPr id="8" name="Shape 6"/>
          <p:cNvSpPr/>
          <p:nvPr/>
        </p:nvSpPr>
        <p:spPr>
          <a:xfrm>
            <a:off x="731520" y="2052828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731520" y="20528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1280160" y="2039112"/>
            <a:ext cx="10241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Finde in jedem Satz das Hilfsverb und das Partizip II.</a:t>
            </a:r>
            <a:endParaRPr lang="en-US" sz="2100" dirty="0"/>
          </a:p>
        </p:txBody>
      </p:sp>
      <p:sp>
        <p:nvSpPr>
          <p:cNvPr id="11" name="Shape 9"/>
          <p:cNvSpPr/>
          <p:nvPr/>
        </p:nvSpPr>
        <p:spPr>
          <a:xfrm>
            <a:off x="731520" y="2537460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731520" y="25374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1280160" y="2523744"/>
            <a:ext cx="10241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Schreibe nur: Nummer, Hilfsverb – Partizip II (rot und gelb).</a:t>
            </a:r>
            <a:endParaRPr lang="en-US" sz="2100" dirty="0"/>
          </a:p>
        </p:txBody>
      </p:sp>
      <p:sp>
        <p:nvSpPr>
          <p:cNvPr id="14" name="Shape 12"/>
          <p:cNvSpPr/>
          <p:nvPr/>
        </p:nvSpPr>
        <p:spPr>
          <a:xfrm>
            <a:off x="548640" y="5897880"/>
            <a:ext cx="11109960" cy="548640"/>
          </a:xfrm>
          <a:prstGeom prst="roundRect">
            <a:avLst>
              <a:gd name="adj" fmla="val 13333"/>
            </a:avLst>
          </a:prstGeom>
          <a:solidFill>
            <a:srgbClr val="1E2761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822960" y="589788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Zeit: </a:t>
            </a:r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Minuten · allein · leise      </a:t>
            </a:r>
            <a:pPr indent="0" marL="0">
              <a:buNone/>
            </a:pPr>
            <a:r>
              <a:rPr lang="en-US" sz="17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Fertig? Stift hinlegen und noch einmal durchlesen.</a:t>
            </a:r>
            <a:endParaRPr lang="en-US" sz="170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651052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Hilfsverben erkennen · Deutsch 7A</a:t>
            </a:r>
            <a:endParaRPr lang="en-US" sz="1000" dirty="0"/>
          </a:p>
        </p:txBody>
      </p:sp>
      <p:sp>
        <p:nvSpPr>
          <p:cNvPr id="17" name="Text 15"/>
          <p:cNvSpPr txBox="1"/>
          <p:nvPr/>
        </p:nvSpPr>
        <p:spPr>
          <a:xfrm>
            <a:off x="11155680" y="651052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548640" y="3346704"/>
            <a:ext cx="11109960" cy="338328"/>
          </a:xfrm>
          <a:prstGeom prst="roundRect">
            <a:avLst>
              <a:gd name="adj" fmla="val 21622"/>
            </a:avLst>
          </a:prstGeom>
          <a:solidFill>
            <a:srgbClr val="F4F7FD"/>
          </a:solidFill>
          <a:ln/>
        </p:spPr>
      </p:sp>
      <p:sp>
        <p:nvSpPr>
          <p:cNvPr id="20" name="Shape 17"/>
          <p:cNvSpPr/>
          <p:nvPr/>
        </p:nvSpPr>
        <p:spPr>
          <a:xfrm>
            <a:off x="685800" y="3332988"/>
            <a:ext cx="365760" cy="365760"/>
          </a:xfrm>
          <a:prstGeom prst="ellipse">
            <a:avLst/>
          </a:prstGeom>
          <a:solidFill>
            <a:srgbClr val="D9534F"/>
          </a:solidFill>
          <a:ln/>
        </p:spPr>
      </p:sp>
      <p:sp>
        <p:nvSpPr>
          <p:cNvPr id="21" name="Text 18"/>
          <p:cNvSpPr txBox="1"/>
          <p:nvPr/>
        </p:nvSpPr>
        <p:spPr>
          <a:xfrm>
            <a:off x="685800" y="333298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22" name="Text 19"/>
          <p:cNvSpPr txBox="1"/>
          <p:nvPr/>
        </p:nvSpPr>
        <p:spPr>
          <a:xfrm>
            <a:off x="1234440" y="3346704"/>
            <a:ext cx="102870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Mein Bruder hat gestern bis Mitternacht gezockt.</a:t>
            </a:r>
            <a:endParaRPr lang="en-US" sz="2000" dirty="0"/>
          </a:p>
        </p:txBody>
      </p:sp>
      <p:sp>
        <p:nvSpPr>
          <p:cNvPr id="23" name="Shape 20"/>
          <p:cNvSpPr/>
          <p:nvPr/>
        </p:nvSpPr>
        <p:spPr>
          <a:xfrm>
            <a:off x="548640" y="3749040"/>
            <a:ext cx="11109960" cy="338328"/>
          </a:xfrm>
          <a:prstGeom prst="roundRect">
            <a:avLst>
              <a:gd name="adj" fmla="val 21622"/>
            </a:avLst>
          </a:prstGeom>
          <a:solidFill>
            <a:srgbClr val="F4F7FD"/>
          </a:solidFill>
          <a:ln/>
        </p:spPr>
      </p:sp>
      <p:sp>
        <p:nvSpPr>
          <p:cNvPr id="24" name="Shape 21"/>
          <p:cNvSpPr/>
          <p:nvPr/>
        </p:nvSpPr>
        <p:spPr>
          <a:xfrm>
            <a:off x="685800" y="3735324"/>
            <a:ext cx="365760" cy="365760"/>
          </a:xfrm>
          <a:prstGeom prst="ellipse">
            <a:avLst/>
          </a:prstGeom>
          <a:solidFill>
            <a:srgbClr val="D9534F"/>
          </a:solidFill>
          <a:ln/>
        </p:spPr>
      </p:sp>
      <p:sp>
        <p:nvSpPr>
          <p:cNvPr id="25" name="Text 22"/>
          <p:cNvSpPr txBox="1"/>
          <p:nvPr/>
        </p:nvSpPr>
        <p:spPr>
          <a:xfrm>
            <a:off x="685800" y="373532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26" name="Text 23"/>
          <p:cNvSpPr txBox="1"/>
          <p:nvPr/>
        </p:nvSpPr>
        <p:spPr>
          <a:xfrm>
            <a:off x="1234440" y="3749040"/>
            <a:ext cx="102870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Wir sind mit dem Bus zur Schule gefahren.</a:t>
            </a:r>
            <a:endParaRPr lang="en-US" sz="2000" dirty="0"/>
          </a:p>
        </p:txBody>
      </p:sp>
      <p:sp>
        <p:nvSpPr>
          <p:cNvPr id="27" name="Shape 24"/>
          <p:cNvSpPr/>
          <p:nvPr/>
        </p:nvSpPr>
        <p:spPr>
          <a:xfrm>
            <a:off x="548640" y="4151376"/>
            <a:ext cx="11109960" cy="338328"/>
          </a:xfrm>
          <a:prstGeom prst="roundRect">
            <a:avLst>
              <a:gd name="adj" fmla="val 21622"/>
            </a:avLst>
          </a:prstGeom>
          <a:solidFill>
            <a:srgbClr val="F4F7FD"/>
          </a:solidFill>
          <a:ln/>
        </p:spPr>
      </p:sp>
      <p:sp>
        <p:nvSpPr>
          <p:cNvPr id="28" name="Shape 25"/>
          <p:cNvSpPr/>
          <p:nvPr/>
        </p:nvSpPr>
        <p:spPr>
          <a:xfrm>
            <a:off x="685800" y="4137660"/>
            <a:ext cx="365760" cy="365760"/>
          </a:xfrm>
          <a:prstGeom prst="ellipse">
            <a:avLst/>
          </a:prstGeom>
          <a:solidFill>
            <a:srgbClr val="D9534F"/>
          </a:solidFill>
          <a:ln/>
        </p:spPr>
      </p:sp>
      <p:sp>
        <p:nvSpPr>
          <p:cNvPr id="29" name="Text 26"/>
          <p:cNvSpPr txBox="1"/>
          <p:nvPr/>
        </p:nvSpPr>
        <p:spPr>
          <a:xfrm>
            <a:off x="685800" y="41376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30" name="Text 27"/>
          <p:cNvSpPr txBox="1"/>
          <p:nvPr/>
        </p:nvSpPr>
        <p:spPr>
          <a:xfrm>
            <a:off x="1234440" y="4151376"/>
            <a:ext cx="102870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Ihr habt die Hausaufgaben vergessen.</a:t>
            </a:r>
            <a:endParaRPr lang="en-US" sz="2000" dirty="0"/>
          </a:p>
        </p:txBody>
      </p:sp>
      <p:sp>
        <p:nvSpPr>
          <p:cNvPr id="31" name="Shape 28"/>
          <p:cNvSpPr/>
          <p:nvPr/>
        </p:nvSpPr>
        <p:spPr>
          <a:xfrm>
            <a:off x="548640" y="4553712"/>
            <a:ext cx="11109960" cy="338328"/>
          </a:xfrm>
          <a:prstGeom prst="roundRect">
            <a:avLst>
              <a:gd name="adj" fmla="val 21622"/>
            </a:avLst>
          </a:prstGeom>
          <a:solidFill>
            <a:srgbClr val="F4F7FD"/>
          </a:solidFill>
          <a:ln/>
        </p:spPr>
      </p:sp>
      <p:sp>
        <p:nvSpPr>
          <p:cNvPr id="32" name="Shape 29"/>
          <p:cNvSpPr/>
          <p:nvPr/>
        </p:nvSpPr>
        <p:spPr>
          <a:xfrm>
            <a:off x="685800" y="4539996"/>
            <a:ext cx="365760" cy="365760"/>
          </a:xfrm>
          <a:prstGeom prst="ellipse">
            <a:avLst/>
          </a:prstGeom>
          <a:solidFill>
            <a:srgbClr val="D9534F"/>
          </a:solidFill>
          <a:ln/>
        </p:spPr>
      </p:sp>
      <p:sp>
        <p:nvSpPr>
          <p:cNvPr id="33" name="Text 30"/>
          <p:cNvSpPr txBox="1"/>
          <p:nvPr/>
        </p:nvSpPr>
        <p:spPr>
          <a:xfrm>
            <a:off x="685800" y="453999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34" name="Text 31"/>
          <p:cNvSpPr txBox="1"/>
          <p:nvPr/>
        </p:nvSpPr>
        <p:spPr>
          <a:xfrm>
            <a:off x="1234440" y="4553712"/>
            <a:ext cx="102870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Lea ist beim Training hingefallen.</a:t>
            </a:r>
            <a:endParaRPr lang="en-US" sz="2000" dirty="0"/>
          </a:p>
        </p:txBody>
      </p:sp>
      <p:sp>
        <p:nvSpPr>
          <p:cNvPr id="35" name="Shape 32"/>
          <p:cNvSpPr/>
          <p:nvPr/>
        </p:nvSpPr>
        <p:spPr>
          <a:xfrm>
            <a:off x="548640" y="4956048"/>
            <a:ext cx="11109960" cy="338328"/>
          </a:xfrm>
          <a:prstGeom prst="roundRect">
            <a:avLst>
              <a:gd name="adj" fmla="val 21622"/>
            </a:avLst>
          </a:prstGeom>
          <a:solidFill>
            <a:srgbClr val="F4F7FD"/>
          </a:solidFill>
          <a:ln/>
        </p:spPr>
      </p:sp>
      <p:sp>
        <p:nvSpPr>
          <p:cNvPr id="36" name="Shape 33"/>
          <p:cNvSpPr/>
          <p:nvPr/>
        </p:nvSpPr>
        <p:spPr>
          <a:xfrm>
            <a:off x="685800" y="4942332"/>
            <a:ext cx="365760" cy="365760"/>
          </a:xfrm>
          <a:prstGeom prst="ellipse">
            <a:avLst/>
          </a:prstGeom>
          <a:solidFill>
            <a:srgbClr val="D9534F"/>
          </a:solidFill>
          <a:ln/>
        </p:spPr>
      </p:sp>
      <p:sp>
        <p:nvSpPr>
          <p:cNvPr id="37" name="Text 34"/>
          <p:cNvSpPr txBox="1"/>
          <p:nvPr/>
        </p:nvSpPr>
        <p:spPr>
          <a:xfrm>
            <a:off x="685800" y="494233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00" dirty="0"/>
          </a:p>
        </p:txBody>
      </p:sp>
      <p:sp>
        <p:nvSpPr>
          <p:cNvPr id="38" name="Text 35"/>
          <p:cNvSpPr txBox="1"/>
          <p:nvPr/>
        </p:nvSpPr>
        <p:spPr>
          <a:xfrm>
            <a:off x="1234440" y="4956048"/>
            <a:ext cx="102870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Ich habe mir ein neues Handy gekauft.</a:t>
            </a:r>
            <a:endParaRPr lang="en-US" sz="2000" dirty="0"/>
          </a:p>
        </p:txBody>
      </p:sp>
      <p:sp>
        <p:nvSpPr>
          <p:cNvPr id="39" name="Shape 36"/>
          <p:cNvSpPr/>
          <p:nvPr/>
        </p:nvSpPr>
        <p:spPr>
          <a:xfrm>
            <a:off x="548640" y="5358384"/>
            <a:ext cx="11109960" cy="338328"/>
          </a:xfrm>
          <a:prstGeom prst="roundRect">
            <a:avLst>
              <a:gd name="adj" fmla="val 21622"/>
            </a:avLst>
          </a:prstGeom>
          <a:solidFill>
            <a:srgbClr val="F4F7FD"/>
          </a:solidFill>
          <a:ln/>
        </p:spPr>
      </p:sp>
      <p:sp>
        <p:nvSpPr>
          <p:cNvPr id="40" name="Shape 37"/>
          <p:cNvSpPr/>
          <p:nvPr/>
        </p:nvSpPr>
        <p:spPr>
          <a:xfrm>
            <a:off x="685800" y="5344668"/>
            <a:ext cx="365760" cy="365760"/>
          </a:xfrm>
          <a:prstGeom prst="ellipse">
            <a:avLst/>
          </a:prstGeom>
          <a:solidFill>
            <a:srgbClr val="D9534F"/>
          </a:solidFill>
          <a:ln/>
        </p:spPr>
      </p:sp>
      <p:sp>
        <p:nvSpPr>
          <p:cNvPr id="41" name="Text 38"/>
          <p:cNvSpPr txBox="1"/>
          <p:nvPr/>
        </p:nvSpPr>
        <p:spPr>
          <a:xfrm>
            <a:off x="685800" y="53446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800" dirty="0"/>
          </a:p>
        </p:txBody>
      </p:sp>
      <p:sp>
        <p:nvSpPr>
          <p:cNvPr id="42" name="Text 39"/>
          <p:cNvSpPr txBox="1"/>
          <p:nvPr/>
        </p:nvSpPr>
        <p:spPr>
          <a:xfrm>
            <a:off x="1234440" y="5358384"/>
            <a:ext cx="102870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Die Party hat um acht begonnen.</a:t>
            </a:r>
            <a:endParaRPr lang="en-US" sz="2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D953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MERKSATZ 7 · ABSCHREIBEN UND ROT UMRAHMEN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9436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Hilfsverb oder Vollverb?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1110996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38100">
            <a:solidFill>
              <a:srgbClr val="D9534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68680" y="1508760"/>
            <a:ext cx="104698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haben und sein sind nur dann </a:t>
            </a:r>
            <a:pPr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Hilfsverben</a:t>
            </a:r>
            <a:pPr indent="0" marL="0">
              <a:buNone/>
            </a:pPr>
            <a:r>
              <a:rPr lang="en-US" sz="2200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, wenn am Satzende ein </a:t>
            </a:r>
            <a:pPr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Partizip II</a:t>
            </a:r>
            <a:pPr indent="0" marL="0">
              <a:buNone/>
            </a:pPr>
            <a:r>
              <a:rPr lang="en-US" sz="2200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steht. Sonst sind sie </a:t>
            </a:r>
            <a:pPr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Vollverben</a:t>
            </a:r>
            <a:pPr indent="0" marL="0">
              <a:buNone/>
            </a:pPr>
            <a:r>
              <a:rPr lang="en-US" sz="2200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und tragen selbst die Bedeutung.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548640" y="3383280"/>
            <a:ext cx="11109960" cy="548640"/>
          </a:xfrm>
          <a:prstGeom prst="roundRect">
            <a:avLst>
              <a:gd name="adj" fmla="val 13333"/>
            </a:avLst>
          </a:prstGeom>
          <a:solidFill>
            <a:srgbClr val="EAF0FA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22960" y="338328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Beispiel:   </a:t>
            </a:r>
            <a:pPr indent="0" marL="0">
              <a:buNone/>
            </a:pPr>
            <a:r>
              <a:rPr lang="en-US" sz="2000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Ich </a:t>
            </a:r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habe</a:t>
            </a:r>
            <a:pPr indent="0" marL="0">
              <a:buNone/>
            </a:pPr>
            <a:r>
              <a:rPr lang="en-US" sz="2000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Hunger. (Vollverb)   ·   Ich </a:t>
            </a:r>
            <a:pPr indent="0" marL="0">
              <a:buNone/>
            </a:pPr>
            <a:r>
              <a:rPr lang="en-US" sz="2000" b="1" dirty="0">
                <a:solidFill>
                  <a:srgbClr val="D953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habe</a:t>
            </a:r>
            <a:pPr indent="0" marL="0">
              <a:buNone/>
            </a:pPr>
            <a:r>
              <a:rPr lang="en-US" sz="2000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</a:t>
            </a:r>
            <a:pPr indent="0" marL="0">
              <a:buNone/>
            </a:pPr>
            <a:r>
              <a:rPr lang="en-US" sz="2000" b="1" dirty="0">
                <a:solidFill>
                  <a:srgbClr val="C98A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gegessen</a:t>
            </a:r>
            <a:pPr indent="0" marL="0">
              <a:buNone/>
            </a:pPr>
            <a:r>
              <a:rPr lang="en-US" sz="2000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. (Hilfsverb)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548640" y="4069080"/>
            <a:ext cx="5440680" cy="1645920"/>
          </a:xfrm>
          <a:prstGeom prst="roundRect">
            <a:avLst>
              <a:gd name="adj" fmla="val 4444"/>
            </a:avLst>
          </a:prstGeom>
          <a:solidFill>
            <a:srgbClr val="F4F7FD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777240" y="4187952"/>
            <a:ext cx="4983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D953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Wofür brauche ich das?</a:t>
            </a:r>
            <a:endParaRPr lang="en-US" sz="1900" dirty="0"/>
          </a:p>
        </p:txBody>
      </p:sp>
      <p:sp>
        <p:nvSpPr>
          <p:cNvPr id="10" name="Text 8"/>
          <p:cNvSpPr txBox="1"/>
          <p:nvPr/>
        </p:nvSpPr>
        <p:spPr>
          <a:xfrm>
            <a:off x="777240" y="4572000"/>
            <a:ext cx="49834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Wer Hilfsverben erkennt, kann später die </a:t>
            </a:r>
            <a:pPr indent="0" marL="0">
              <a:buNone/>
            </a:pPr>
            <a:r>
              <a:rPr lang="en-US" sz="19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Zeitform</a:t>
            </a:r>
            <a:pPr indent="0" marL="0">
              <a:buNone/>
            </a:pPr>
            <a:r>
              <a:rPr lang="en-US" sz="19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bestimmen.</a:t>
            </a:r>
            <a:endParaRPr lang="en-US" sz="1900" dirty="0"/>
          </a:p>
        </p:txBody>
      </p:sp>
      <p:sp>
        <p:nvSpPr>
          <p:cNvPr id="11" name="Shape 9"/>
          <p:cNvSpPr/>
          <p:nvPr/>
        </p:nvSpPr>
        <p:spPr>
          <a:xfrm>
            <a:off x="6217920" y="4069080"/>
            <a:ext cx="5440680" cy="1645920"/>
          </a:xfrm>
          <a:prstGeom prst="roundRect">
            <a:avLst>
              <a:gd name="adj" fmla="val 4444"/>
            </a:avLst>
          </a:prstGeom>
          <a:solidFill>
            <a:srgbClr val="F4F7FD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446520" y="4187952"/>
            <a:ext cx="4983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D953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</a:t>
            </a:r>
            <a:endParaRPr lang="en-US" sz="1900" dirty="0"/>
          </a:p>
        </p:txBody>
      </p:sp>
      <p:sp>
        <p:nvSpPr>
          <p:cNvPr id="13" name="Text 11"/>
          <p:cNvSpPr txBox="1"/>
          <p:nvPr/>
        </p:nvSpPr>
        <p:spPr>
          <a:xfrm>
            <a:off x="6446520" y="4572000"/>
            <a:ext cx="49834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Steht am Satzende ein </a:t>
            </a:r>
            <a:pPr indent="0" marL="0">
              <a:buNone/>
            </a:pPr>
            <a:r>
              <a:rPr lang="en-US" sz="19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Partizip II</a:t>
            </a:r>
            <a:pPr indent="0" marL="0">
              <a:buNone/>
            </a:pPr>
            <a:r>
              <a:rPr lang="en-US" sz="19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1900" dirty="0"/>
          </a:p>
        </p:txBody>
      </p:sp>
      <p:sp>
        <p:nvSpPr>
          <p:cNvPr id="14" name="Shape 12"/>
          <p:cNvSpPr/>
          <p:nvPr/>
        </p:nvSpPr>
        <p:spPr>
          <a:xfrm>
            <a:off x="548640" y="5897880"/>
            <a:ext cx="11109960" cy="548640"/>
          </a:xfrm>
          <a:prstGeom prst="roundRect">
            <a:avLst>
              <a:gd name="adj" fmla="val 13333"/>
            </a:avLst>
          </a:prstGeom>
          <a:solidFill>
            <a:srgbClr val="1E2761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822960" y="589788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Jetzt: </a:t>
            </a:r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Schreibe den Merksatz mit Beispiel ab und rahme ihn rot ein.      </a:t>
            </a:r>
            <a:pPr indent="0" marL="0">
              <a:buNone/>
            </a:pPr>
            <a:r>
              <a:rPr lang="en-US" sz="17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Fertig? Stift hinlegen.</a:t>
            </a:r>
            <a:endParaRPr lang="en-US" sz="170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651052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Hilfsverben erkennen · Deutsch 7A</a:t>
            </a:r>
            <a:endParaRPr lang="en-US" sz="1000" dirty="0"/>
          </a:p>
        </p:txBody>
      </p:sp>
      <p:sp>
        <p:nvSpPr>
          <p:cNvPr id="17" name="Text 15"/>
          <p:cNvSpPr txBox="1"/>
          <p:nvPr/>
        </p:nvSpPr>
        <p:spPr>
          <a:xfrm>
            <a:off x="11155680" y="651052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ÜBUNG 7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9436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Hilfsverb oder Vollverb?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11109960" cy="1655064"/>
          </a:xfrm>
          <a:prstGeom prst="roundRect">
            <a:avLst>
              <a:gd name="adj" fmla="val 4420"/>
            </a:avLst>
          </a:prstGeom>
          <a:solidFill>
            <a:srgbClr val="EAF0FA"/>
          </a:solidFill>
          <a:ln/>
        </p:spPr>
      </p:sp>
      <p:sp>
        <p:nvSpPr>
          <p:cNvPr id="5" name="Shape 3"/>
          <p:cNvSpPr/>
          <p:nvPr/>
        </p:nvSpPr>
        <p:spPr>
          <a:xfrm>
            <a:off x="731520" y="1568196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31520" y="15681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1280160" y="1554480"/>
            <a:ext cx="10241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Schreibe Ü7 an den Rand.</a:t>
            </a:r>
            <a:endParaRPr lang="en-US" sz="2100" dirty="0"/>
          </a:p>
        </p:txBody>
      </p:sp>
      <p:sp>
        <p:nvSpPr>
          <p:cNvPr id="8" name="Shape 6"/>
          <p:cNvSpPr/>
          <p:nvPr/>
        </p:nvSpPr>
        <p:spPr>
          <a:xfrm>
            <a:off x="731520" y="2052828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731520" y="20528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1280160" y="2039112"/>
            <a:ext cx="10241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Schreibe zu jeder Nummer H (Hilfsverb) oder V (Vollverb).</a:t>
            </a:r>
            <a:endParaRPr lang="en-US" sz="2100" dirty="0"/>
          </a:p>
        </p:txBody>
      </p:sp>
      <p:sp>
        <p:nvSpPr>
          <p:cNvPr id="11" name="Shape 9"/>
          <p:cNvSpPr/>
          <p:nvPr/>
        </p:nvSpPr>
        <p:spPr>
          <a:xfrm>
            <a:off x="731520" y="2537460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731520" y="25374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1280160" y="2523744"/>
            <a:ext cx="10241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Begründe bei Nr. 2 in einem Satz.</a:t>
            </a:r>
            <a:endParaRPr lang="en-US" sz="2100" dirty="0"/>
          </a:p>
        </p:txBody>
      </p:sp>
      <p:sp>
        <p:nvSpPr>
          <p:cNvPr id="14" name="Shape 12"/>
          <p:cNvSpPr/>
          <p:nvPr/>
        </p:nvSpPr>
        <p:spPr>
          <a:xfrm>
            <a:off x="548640" y="5897880"/>
            <a:ext cx="11109960" cy="548640"/>
          </a:xfrm>
          <a:prstGeom prst="roundRect">
            <a:avLst>
              <a:gd name="adj" fmla="val 13333"/>
            </a:avLst>
          </a:prstGeom>
          <a:solidFill>
            <a:srgbClr val="1E2761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822960" y="589788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Zeit: </a:t>
            </a:r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Minuten · allein · leise      </a:t>
            </a:r>
            <a:pPr indent="0" marL="0">
              <a:buNone/>
            </a:pPr>
            <a:r>
              <a:rPr lang="en-US" sz="17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Fertig? Stift hinlegen und noch einmal durchlesen.</a:t>
            </a:r>
            <a:endParaRPr lang="en-US" sz="170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651052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Hilfsverben erkennen · Deutsch 7A</a:t>
            </a:r>
            <a:endParaRPr lang="en-US" sz="1000" dirty="0"/>
          </a:p>
        </p:txBody>
      </p:sp>
      <p:sp>
        <p:nvSpPr>
          <p:cNvPr id="17" name="Text 15"/>
          <p:cNvSpPr txBox="1"/>
          <p:nvPr/>
        </p:nvSpPr>
        <p:spPr>
          <a:xfrm>
            <a:off x="11155680" y="651052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548640" y="3346704"/>
            <a:ext cx="11109960" cy="338328"/>
          </a:xfrm>
          <a:prstGeom prst="roundRect">
            <a:avLst>
              <a:gd name="adj" fmla="val 21622"/>
            </a:avLst>
          </a:prstGeom>
          <a:solidFill>
            <a:srgbClr val="F4F7FD"/>
          </a:solidFill>
          <a:ln/>
        </p:spPr>
      </p:sp>
      <p:sp>
        <p:nvSpPr>
          <p:cNvPr id="20" name="Shape 17"/>
          <p:cNvSpPr/>
          <p:nvPr/>
        </p:nvSpPr>
        <p:spPr>
          <a:xfrm>
            <a:off x="685800" y="3332988"/>
            <a:ext cx="365760" cy="365760"/>
          </a:xfrm>
          <a:prstGeom prst="ellipse">
            <a:avLst/>
          </a:prstGeom>
          <a:solidFill>
            <a:srgbClr val="D9534F"/>
          </a:solidFill>
          <a:ln/>
        </p:spPr>
      </p:sp>
      <p:sp>
        <p:nvSpPr>
          <p:cNvPr id="21" name="Text 18"/>
          <p:cNvSpPr txBox="1"/>
          <p:nvPr/>
        </p:nvSpPr>
        <p:spPr>
          <a:xfrm>
            <a:off x="685800" y="333298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22" name="Text 19"/>
          <p:cNvSpPr txBox="1"/>
          <p:nvPr/>
        </p:nvSpPr>
        <p:spPr>
          <a:xfrm>
            <a:off x="1234440" y="3346704"/>
            <a:ext cx="102870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Mein Handy ist kaputt.</a:t>
            </a:r>
            <a:endParaRPr lang="en-US" sz="2000" dirty="0"/>
          </a:p>
        </p:txBody>
      </p:sp>
      <p:sp>
        <p:nvSpPr>
          <p:cNvPr id="23" name="Shape 20"/>
          <p:cNvSpPr/>
          <p:nvPr/>
        </p:nvSpPr>
        <p:spPr>
          <a:xfrm>
            <a:off x="548640" y="3749040"/>
            <a:ext cx="11109960" cy="338328"/>
          </a:xfrm>
          <a:prstGeom prst="roundRect">
            <a:avLst>
              <a:gd name="adj" fmla="val 21622"/>
            </a:avLst>
          </a:prstGeom>
          <a:solidFill>
            <a:srgbClr val="F4F7FD"/>
          </a:solidFill>
          <a:ln/>
        </p:spPr>
      </p:sp>
      <p:sp>
        <p:nvSpPr>
          <p:cNvPr id="24" name="Shape 21"/>
          <p:cNvSpPr/>
          <p:nvPr/>
        </p:nvSpPr>
        <p:spPr>
          <a:xfrm>
            <a:off x="685800" y="3735324"/>
            <a:ext cx="365760" cy="365760"/>
          </a:xfrm>
          <a:prstGeom prst="ellipse">
            <a:avLst/>
          </a:prstGeom>
          <a:solidFill>
            <a:srgbClr val="D9534F"/>
          </a:solidFill>
          <a:ln/>
        </p:spPr>
      </p:sp>
      <p:sp>
        <p:nvSpPr>
          <p:cNvPr id="25" name="Text 22"/>
          <p:cNvSpPr txBox="1"/>
          <p:nvPr/>
        </p:nvSpPr>
        <p:spPr>
          <a:xfrm>
            <a:off x="685800" y="373532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26" name="Text 23"/>
          <p:cNvSpPr txBox="1"/>
          <p:nvPr/>
        </p:nvSpPr>
        <p:spPr>
          <a:xfrm>
            <a:off x="1234440" y="3749040"/>
            <a:ext cx="102870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Mein Handy ist runtergefallen.</a:t>
            </a:r>
            <a:endParaRPr lang="en-US" sz="2000" dirty="0"/>
          </a:p>
        </p:txBody>
      </p:sp>
      <p:sp>
        <p:nvSpPr>
          <p:cNvPr id="27" name="Shape 24"/>
          <p:cNvSpPr/>
          <p:nvPr/>
        </p:nvSpPr>
        <p:spPr>
          <a:xfrm>
            <a:off x="548640" y="4151376"/>
            <a:ext cx="11109960" cy="338328"/>
          </a:xfrm>
          <a:prstGeom prst="roundRect">
            <a:avLst>
              <a:gd name="adj" fmla="val 21622"/>
            </a:avLst>
          </a:prstGeom>
          <a:solidFill>
            <a:srgbClr val="F4F7FD"/>
          </a:solidFill>
          <a:ln/>
        </p:spPr>
      </p:sp>
      <p:sp>
        <p:nvSpPr>
          <p:cNvPr id="28" name="Shape 25"/>
          <p:cNvSpPr/>
          <p:nvPr/>
        </p:nvSpPr>
        <p:spPr>
          <a:xfrm>
            <a:off x="685800" y="4137660"/>
            <a:ext cx="365760" cy="365760"/>
          </a:xfrm>
          <a:prstGeom prst="ellipse">
            <a:avLst/>
          </a:prstGeom>
          <a:solidFill>
            <a:srgbClr val="D9534F"/>
          </a:solidFill>
          <a:ln/>
        </p:spPr>
      </p:sp>
      <p:sp>
        <p:nvSpPr>
          <p:cNvPr id="29" name="Text 26"/>
          <p:cNvSpPr txBox="1"/>
          <p:nvPr/>
        </p:nvSpPr>
        <p:spPr>
          <a:xfrm>
            <a:off x="685800" y="41376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30" name="Text 27"/>
          <p:cNvSpPr txBox="1"/>
          <p:nvPr/>
        </p:nvSpPr>
        <p:spPr>
          <a:xfrm>
            <a:off x="1234440" y="4151376"/>
            <a:ext cx="102870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Wir hatten keine Hausaufgaben.</a:t>
            </a:r>
            <a:endParaRPr lang="en-US" sz="2000" dirty="0"/>
          </a:p>
        </p:txBody>
      </p:sp>
      <p:sp>
        <p:nvSpPr>
          <p:cNvPr id="31" name="Shape 28"/>
          <p:cNvSpPr/>
          <p:nvPr/>
        </p:nvSpPr>
        <p:spPr>
          <a:xfrm>
            <a:off x="548640" y="4553712"/>
            <a:ext cx="11109960" cy="338328"/>
          </a:xfrm>
          <a:prstGeom prst="roundRect">
            <a:avLst>
              <a:gd name="adj" fmla="val 21622"/>
            </a:avLst>
          </a:prstGeom>
          <a:solidFill>
            <a:srgbClr val="F4F7FD"/>
          </a:solidFill>
          <a:ln/>
        </p:spPr>
      </p:sp>
      <p:sp>
        <p:nvSpPr>
          <p:cNvPr id="32" name="Shape 29"/>
          <p:cNvSpPr/>
          <p:nvPr/>
        </p:nvSpPr>
        <p:spPr>
          <a:xfrm>
            <a:off x="685800" y="4539996"/>
            <a:ext cx="365760" cy="365760"/>
          </a:xfrm>
          <a:prstGeom prst="ellipse">
            <a:avLst/>
          </a:prstGeom>
          <a:solidFill>
            <a:srgbClr val="D9534F"/>
          </a:solidFill>
          <a:ln/>
        </p:spPr>
      </p:sp>
      <p:sp>
        <p:nvSpPr>
          <p:cNvPr id="33" name="Text 30"/>
          <p:cNvSpPr txBox="1"/>
          <p:nvPr/>
        </p:nvSpPr>
        <p:spPr>
          <a:xfrm>
            <a:off x="685800" y="453999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34" name="Text 31"/>
          <p:cNvSpPr txBox="1"/>
          <p:nvPr/>
        </p:nvSpPr>
        <p:spPr>
          <a:xfrm>
            <a:off x="1234440" y="4553712"/>
            <a:ext cx="102870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Ihr habt die Hausaufgaben vergessen.</a:t>
            </a:r>
            <a:endParaRPr lang="en-US" sz="2000" dirty="0"/>
          </a:p>
        </p:txBody>
      </p:sp>
      <p:sp>
        <p:nvSpPr>
          <p:cNvPr id="35" name="Shape 32"/>
          <p:cNvSpPr/>
          <p:nvPr/>
        </p:nvSpPr>
        <p:spPr>
          <a:xfrm>
            <a:off x="548640" y="4956048"/>
            <a:ext cx="11109960" cy="338328"/>
          </a:xfrm>
          <a:prstGeom prst="roundRect">
            <a:avLst>
              <a:gd name="adj" fmla="val 21622"/>
            </a:avLst>
          </a:prstGeom>
          <a:solidFill>
            <a:srgbClr val="F4F7FD"/>
          </a:solidFill>
          <a:ln/>
        </p:spPr>
      </p:sp>
      <p:sp>
        <p:nvSpPr>
          <p:cNvPr id="36" name="Shape 33"/>
          <p:cNvSpPr/>
          <p:nvPr/>
        </p:nvSpPr>
        <p:spPr>
          <a:xfrm>
            <a:off x="685800" y="4942332"/>
            <a:ext cx="365760" cy="365760"/>
          </a:xfrm>
          <a:prstGeom prst="ellipse">
            <a:avLst/>
          </a:prstGeom>
          <a:solidFill>
            <a:srgbClr val="D9534F"/>
          </a:solidFill>
          <a:ln/>
        </p:spPr>
      </p:sp>
      <p:sp>
        <p:nvSpPr>
          <p:cNvPr id="37" name="Text 34"/>
          <p:cNvSpPr txBox="1"/>
          <p:nvPr/>
        </p:nvSpPr>
        <p:spPr>
          <a:xfrm>
            <a:off x="685800" y="494233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00" dirty="0"/>
          </a:p>
        </p:txBody>
      </p:sp>
      <p:sp>
        <p:nvSpPr>
          <p:cNvPr id="38" name="Text 35"/>
          <p:cNvSpPr txBox="1"/>
          <p:nvPr/>
        </p:nvSpPr>
        <p:spPr>
          <a:xfrm>
            <a:off x="1234440" y="4956048"/>
            <a:ext cx="102870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Ich bin total müde.</a:t>
            </a:r>
            <a:endParaRPr lang="en-US" sz="2000" dirty="0"/>
          </a:p>
        </p:txBody>
      </p:sp>
      <p:sp>
        <p:nvSpPr>
          <p:cNvPr id="39" name="Shape 36"/>
          <p:cNvSpPr/>
          <p:nvPr/>
        </p:nvSpPr>
        <p:spPr>
          <a:xfrm>
            <a:off x="548640" y="5358384"/>
            <a:ext cx="11109960" cy="338328"/>
          </a:xfrm>
          <a:prstGeom prst="roundRect">
            <a:avLst>
              <a:gd name="adj" fmla="val 21622"/>
            </a:avLst>
          </a:prstGeom>
          <a:solidFill>
            <a:srgbClr val="F4F7FD"/>
          </a:solidFill>
          <a:ln/>
        </p:spPr>
      </p:sp>
      <p:sp>
        <p:nvSpPr>
          <p:cNvPr id="40" name="Shape 37"/>
          <p:cNvSpPr/>
          <p:nvPr/>
        </p:nvSpPr>
        <p:spPr>
          <a:xfrm>
            <a:off x="685800" y="5344668"/>
            <a:ext cx="365760" cy="365760"/>
          </a:xfrm>
          <a:prstGeom prst="ellipse">
            <a:avLst/>
          </a:prstGeom>
          <a:solidFill>
            <a:srgbClr val="D9534F"/>
          </a:solidFill>
          <a:ln/>
        </p:spPr>
      </p:sp>
      <p:sp>
        <p:nvSpPr>
          <p:cNvPr id="41" name="Text 38"/>
          <p:cNvSpPr txBox="1"/>
          <p:nvPr/>
        </p:nvSpPr>
        <p:spPr>
          <a:xfrm>
            <a:off x="685800" y="53446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800" dirty="0"/>
          </a:p>
        </p:txBody>
      </p:sp>
      <p:sp>
        <p:nvSpPr>
          <p:cNvPr id="42" name="Text 39"/>
          <p:cNvSpPr txBox="1"/>
          <p:nvPr/>
        </p:nvSpPr>
        <p:spPr>
          <a:xfrm>
            <a:off x="1234440" y="5358384"/>
            <a:ext cx="102870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Ich bin um elf eingeschlafen.</a:t>
            </a:r>
            <a:endParaRPr lang="en-US" sz="2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ZUM SCHLUSS · OHNE HEFT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9436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Exit-Ticket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11109960" cy="1975104"/>
          </a:xfrm>
          <a:prstGeom prst="roundRect">
            <a:avLst>
              <a:gd name="adj" fmla="val 3704"/>
            </a:avLst>
          </a:prstGeom>
          <a:solidFill>
            <a:srgbClr val="EAF0FA"/>
          </a:solidFill>
          <a:ln/>
        </p:spPr>
      </p:sp>
      <p:sp>
        <p:nvSpPr>
          <p:cNvPr id="5" name="Shape 3"/>
          <p:cNvSpPr/>
          <p:nvPr/>
        </p:nvSpPr>
        <p:spPr>
          <a:xfrm>
            <a:off x="731520" y="1568196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31520" y="15681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1280160" y="1554480"/>
            <a:ext cx="10241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Nimm einen Zettel und schreibe deinen Namen oben hin.</a:t>
            </a:r>
            <a:endParaRPr lang="en-US" sz="2100" dirty="0"/>
          </a:p>
        </p:txBody>
      </p:sp>
      <p:sp>
        <p:nvSpPr>
          <p:cNvPr id="8" name="Shape 6"/>
          <p:cNvSpPr/>
          <p:nvPr/>
        </p:nvSpPr>
        <p:spPr>
          <a:xfrm>
            <a:off x="731520" y="2052828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731520" y="20528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1280160" y="2039112"/>
            <a:ext cx="10241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Schreibe zu jedem Satz: Hilfsverb ja oder nein – und wenn ja, das Partizip II.</a:t>
            </a:r>
            <a:endParaRPr lang="en-US" sz="2100" dirty="0"/>
          </a:p>
        </p:txBody>
      </p:sp>
      <p:sp>
        <p:nvSpPr>
          <p:cNvPr id="11" name="Shape 9"/>
          <p:cNvSpPr/>
          <p:nvPr/>
        </p:nvSpPr>
        <p:spPr>
          <a:xfrm>
            <a:off x="731520" y="2857500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731520" y="28575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1280160" y="2843784"/>
            <a:ext cx="10241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Erkläre in einem Satz: Was ist ein Hilfsverb?</a:t>
            </a:r>
            <a:endParaRPr lang="en-US" sz="2100" dirty="0"/>
          </a:p>
        </p:txBody>
      </p:sp>
      <p:sp>
        <p:nvSpPr>
          <p:cNvPr id="14" name="Shape 12"/>
          <p:cNvSpPr/>
          <p:nvPr/>
        </p:nvSpPr>
        <p:spPr>
          <a:xfrm>
            <a:off x="548640" y="5897880"/>
            <a:ext cx="11109960" cy="548640"/>
          </a:xfrm>
          <a:prstGeom prst="roundRect">
            <a:avLst>
              <a:gd name="adj" fmla="val 13333"/>
            </a:avLst>
          </a:prstGeom>
          <a:solidFill>
            <a:srgbClr val="1E2761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822960" y="589788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Zeit: </a:t>
            </a:r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Minuten · allein · ohne Heft      </a:t>
            </a:r>
            <a:pPr indent="0" marL="0">
              <a:buNone/>
            </a:pPr>
            <a:r>
              <a:rPr lang="en-US" sz="17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Fertig? Stift hinlegen und noch einmal durchlesen.</a:t>
            </a:r>
            <a:endParaRPr lang="en-US" sz="170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651052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Hilfsverben erkennen · Deutsch 7A</a:t>
            </a:r>
            <a:endParaRPr lang="en-US" sz="1000" dirty="0"/>
          </a:p>
        </p:txBody>
      </p:sp>
      <p:sp>
        <p:nvSpPr>
          <p:cNvPr id="17" name="Text 15"/>
          <p:cNvSpPr txBox="1"/>
          <p:nvPr/>
        </p:nvSpPr>
        <p:spPr>
          <a:xfrm>
            <a:off x="11155680" y="651052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548640" y="3666744"/>
            <a:ext cx="11109960" cy="594360"/>
          </a:xfrm>
          <a:prstGeom prst="roundRect">
            <a:avLst>
              <a:gd name="adj" fmla="val 12308"/>
            </a:avLst>
          </a:prstGeom>
          <a:solidFill>
            <a:srgbClr val="F4F7FD"/>
          </a:solidFill>
          <a:ln/>
        </p:spPr>
      </p:sp>
      <p:sp>
        <p:nvSpPr>
          <p:cNvPr id="20" name="Shape 17"/>
          <p:cNvSpPr/>
          <p:nvPr/>
        </p:nvSpPr>
        <p:spPr>
          <a:xfrm>
            <a:off x="685800" y="3781044"/>
            <a:ext cx="365760" cy="365760"/>
          </a:xfrm>
          <a:prstGeom prst="ellipse">
            <a:avLst/>
          </a:prstGeom>
          <a:solidFill>
            <a:srgbClr val="D9534F"/>
          </a:solidFill>
          <a:ln/>
        </p:spPr>
      </p:sp>
      <p:sp>
        <p:nvSpPr>
          <p:cNvPr id="21" name="Text 18"/>
          <p:cNvSpPr txBox="1"/>
          <p:nvPr/>
        </p:nvSpPr>
        <p:spPr>
          <a:xfrm>
            <a:off x="685800" y="378104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22" name="Text 19"/>
          <p:cNvSpPr txBox="1"/>
          <p:nvPr/>
        </p:nvSpPr>
        <p:spPr>
          <a:xfrm>
            <a:off x="1234440" y="3666744"/>
            <a:ext cx="10287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Wir waren gestern im Kino.</a:t>
            </a:r>
            <a:endParaRPr lang="en-US" sz="2400" dirty="0"/>
          </a:p>
        </p:txBody>
      </p:sp>
      <p:sp>
        <p:nvSpPr>
          <p:cNvPr id="23" name="Shape 20"/>
          <p:cNvSpPr/>
          <p:nvPr/>
        </p:nvSpPr>
        <p:spPr>
          <a:xfrm>
            <a:off x="548640" y="4325112"/>
            <a:ext cx="11109960" cy="594360"/>
          </a:xfrm>
          <a:prstGeom prst="roundRect">
            <a:avLst>
              <a:gd name="adj" fmla="val 12308"/>
            </a:avLst>
          </a:prstGeom>
          <a:solidFill>
            <a:srgbClr val="F4F7FD"/>
          </a:solidFill>
          <a:ln/>
        </p:spPr>
      </p:sp>
      <p:sp>
        <p:nvSpPr>
          <p:cNvPr id="24" name="Shape 21"/>
          <p:cNvSpPr/>
          <p:nvPr/>
        </p:nvSpPr>
        <p:spPr>
          <a:xfrm>
            <a:off x="685800" y="4439412"/>
            <a:ext cx="365760" cy="365760"/>
          </a:xfrm>
          <a:prstGeom prst="ellipse">
            <a:avLst/>
          </a:prstGeom>
          <a:solidFill>
            <a:srgbClr val="D9534F"/>
          </a:solidFill>
          <a:ln/>
        </p:spPr>
      </p:sp>
      <p:sp>
        <p:nvSpPr>
          <p:cNvPr id="25" name="Text 22"/>
          <p:cNvSpPr txBox="1"/>
          <p:nvPr/>
        </p:nvSpPr>
        <p:spPr>
          <a:xfrm>
            <a:off x="685800" y="443941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26" name="Text 23"/>
          <p:cNvSpPr txBox="1"/>
          <p:nvPr/>
        </p:nvSpPr>
        <p:spPr>
          <a:xfrm>
            <a:off x="1234440" y="4325112"/>
            <a:ext cx="10287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Wir sind gestern ins Kino gegangen.</a:t>
            </a:r>
            <a:endParaRPr lang="en-US" sz="2400" dirty="0"/>
          </a:p>
        </p:txBody>
      </p:sp>
      <p:sp>
        <p:nvSpPr>
          <p:cNvPr id="27" name="Shape 24"/>
          <p:cNvSpPr/>
          <p:nvPr/>
        </p:nvSpPr>
        <p:spPr>
          <a:xfrm>
            <a:off x="548640" y="4983480"/>
            <a:ext cx="11109960" cy="594360"/>
          </a:xfrm>
          <a:prstGeom prst="roundRect">
            <a:avLst>
              <a:gd name="adj" fmla="val 12308"/>
            </a:avLst>
          </a:prstGeom>
          <a:solidFill>
            <a:srgbClr val="F4F7FD"/>
          </a:solidFill>
          <a:ln/>
        </p:spPr>
      </p:sp>
      <p:sp>
        <p:nvSpPr>
          <p:cNvPr id="28" name="Shape 25"/>
          <p:cNvSpPr/>
          <p:nvPr/>
        </p:nvSpPr>
        <p:spPr>
          <a:xfrm>
            <a:off x="685800" y="5097780"/>
            <a:ext cx="365760" cy="365760"/>
          </a:xfrm>
          <a:prstGeom prst="ellipse">
            <a:avLst/>
          </a:prstGeom>
          <a:solidFill>
            <a:srgbClr val="D9534F"/>
          </a:solidFill>
          <a:ln/>
        </p:spPr>
      </p:sp>
      <p:sp>
        <p:nvSpPr>
          <p:cNvPr id="29" name="Text 26"/>
          <p:cNvSpPr txBox="1"/>
          <p:nvPr/>
        </p:nvSpPr>
        <p:spPr>
          <a:xfrm>
            <a:off x="685800" y="50977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30" name="Text 27"/>
          <p:cNvSpPr txBox="1"/>
          <p:nvPr/>
        </p:nvSpPr>
        <p:spPr>
          <a:xfrm>
            <a:off x="1234440" y="4983480"/>
            <a:ext cx="10287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Sie hat einen Hund.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Hilfsverben erkennen – Merksätze und Übungen</dc:title>
  <dc:subject>PptxGenJS Presentation</dc:subject>
  <dc:creator>PptxGenJS</dc:creator>
  <cp:lastModifiedBy>PptxGenJS</cp:lastModifiedBy>
  <cp:revision>1</cp:revision>
  <dcterms:created xsi:type="dcterms:W3CDTF">2026-09-30T17:44:24Z</dcterms:created>
  <dcterms:modified xsi:type="dcterms:W3CDTF">2026-09-30T17:44:24Z</dcterms:modified>
</cp:coreProperties>
</file>