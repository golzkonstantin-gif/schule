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Einstieg: Die mündliche Note ist kein Bauchgefühl. Sie beruht auf festen Kriterien, die für alle gleich sind. Heute erkläre ich sie; danach teile ich euch eure Note 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Beide Fragen zählen. Wer sich oft meldet, aber nur Bekanntes wiederholt, landet nicht bei 1 – und wer viel weiß, aber nie etwas sagt, auch nicht.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Von unten nach oben: Mit jeder Stufe kommt etwas dazu. Die Stufe darunter muss erfüllt sein.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Wichtig: Der Unterschied zwischen 5 und 6 liegt in der Richtigkeit der Antworten, wenn ich jemanden drannehme.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Sprung von 4 zu 3: regelmäßig von sich aus melden UND Neues mit Früherem verknüpfen.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Für die 1 braucht es eigenständige Gedanken: ein Problem erkennen, sachlich beurteilen und klar formulieren.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Beispiel aus der Verb-Einheit. Die Antworten zeigen, wie dieselbe Frage auf verschiedenen Stufen beantwortet werden kann.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mit der Klasse sammeln, dann die Folie zeigen. Wichtig: Es geht darum, dass alle lernen können, nicht um Strafe.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Stufen an die Schulordnung bzw. Absprachen der Klassenleitung anpassen. Die Stufen gelten pro Stunde; wer sich wieder fängt, startet in der nächsten Stunde neu. Wiederholte Störungen fließen in die Einschätzung der Mitarbeit ein, weil sachliche, regelmäßige Mitarbeit dann nicht möglich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Konkrete Tipps; gerne gemeinsam an die Tafel schreiben lassen, was sich jeder bis Weihnachten vornimmt.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Noten am besten einzeln mitteilen (z. B. während einer Arbeitsphase), nicht im Plenum.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4306E"/>
          </a:solidFill>
          <a:ln/>
        </p:spPr>
      </p:sp>
      <p:sp>
        <p:nvSpPr>
          <p:cNvPr id="3" name="Shape 1"/>
          <p:cNvSpPr/>
          <p:nvPr/>
        </p:nvSpPr>
        <p:spPr>
          <a:xfrm>
            <a:off x="-1371600" y="4206240"/>
            <a:ext cx="3657600" cy="3657600"/>
          </a:xfrm>
          <a:prstGeom prst="ellipse">
            <a:avLst/>
          </a:prstGeom>
          <a:solidFill>
            <a:srgbClr val="24306E"/>
          </a:solidFill>
          <a:ln/>
        </p:spPr>
      </p:sp>
      <p:sp>
        <p:nvSpPr>
          <p:cNvPr id="4" name="Shape 2"/>
          <p:cNvSpPr/>
          <p:nvPr/>
        </p:nvSpPr>
        <p:spPr>
          <a:xfrm>
            <a:off x="822960" y="1874520"/>
            <a:ext cx="2377440" cy="384048"/>
          </a:xfrm>
          <a:prstGeom prst="roundRect">
            <a:avLst>
              <a:gd name="adj" fmla="val 50000"/>
            </a:avLst>
          </a:prstGeom>
          <a:solidFill>
            <a:srgbClr val="E8A33D"/>
          </a:solidFill>
          <a:ln/>
        </p:spPr>
      </p:sp>
      <p:sp>
        <p:nvSpPr>
          <p:cNvPr id="5" name="Text 3"/>
          <p:cNvSpPr txBox="1"/>
          <p:nvPr/>
        </p:nvSpPr>
        <p:spPr>
          <a:xfrm>
            <a:off x="822960" y="1874520"/>
            <a:ext cx="23774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MITARBEIT</a:t>
            </a:r>
            <a:endParaRPr lang="en-US" sz="1200" dirty="0"/>
          </a:p>
        </p:txBody>
      </p:sp>
      <p:sp>
        <p:nvSpPr>
          <p:cNvPr id="6" name="Text 4"/>
          <p:cNvSpPr txBox="1"/>
          <p:nvPr/>
        </p:nvSpPr>
        <p:spPr>
          <a:xfrm>
            <a:off x="822960" y="2423160"/>
            <a:ext cx="10972800" cy="91440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Wie entsteht meine mündliche Note?</a:t>
            </a:r>
            <a:endParaRPr lang="en-US" sz="3800" dirty="0"/>
          </a:p>
        </p:txBody>
      </p:sp>
      <p:sp>
        <p:nvSpPr>
          <p:cNvPr id="7" name="Text 5"/>
          <p:cNvSpPr txBox="1"/>
          <p:nvPr/>
        </p:nvSpPr>
        <p:spPr>
          <a:xfrm>
            <a:off x="822960" y="3429000"/>
            <a:ext cx="10515600" cy="457200"/>
          </a:xfrm>
          <a:prstGeom prst="rect">
            <a:avLst/>
          </a:prstGeom>
          <a:noFill/>
          <a:ln/>
        </p:spPr>
        <p:txBody>
          <a:bodyPr wrap="square" lIns="0" tIns="0" rIns="0" bIns="0" rtlCol="0" anchor="t"/>
          <a:lstStyle/>
          <a:p>
            <a:pPr indent="0" marL="0">
              <a:buNone/>
            </a:pPr>
            <a:r>
              <a:rPr lang="en-US" sz="2000" i="1" dirty="0">
                <a:solidFill>
                  <a:srgbClr val="CADCFC"/>
                </a:solidFill>
                <a:latin typeface="Calibri" pitchFamily="34" charset="0"/>
                <a:ea typeface="Calibri" pitchFamily="34" charset="-122"/>
                <a:cs typeface="Calibri" pitchFamily="34" charset="-120"/>
              </a:rPr>
              <a:t>Die Kriterien – und wie du dich verbessern kannst</a:t>
            </a:r>
            <a:endParaRPr lang="en-US" sz="2000" dirty="0"/>
          </a:p>
        </p:txBody>
      </p:sp>
      <p:sp>
        <p:nvSpPr>
          <p:cNvPr id="8" name="Shape 6"/>
          <p:cNvSpPr/>
          <p:nvPr/>
        </p:nvSpPr>
        <p:spPr>
          <a:xfrm>
            <a:off x="822960" y="4389120"/>
            <a:ext cx="685800" cy="685800"/>
          </a:xfrm>
          <a:prstGeom prst="ellipse">
            <a:avLst/>
          </a:prstGeom>
          <a:solidFill>
            <a:srgbClr val="D9534F"/>
          </a:solidFill>
          <a:ln/>
        </p:spPr>
      </p:sp>
      <p:sp>
        <p:nvSpPr>
          <p:cNvPr id="9" name="Text 7"/>
          <p:cNvSpPr txBox="1"/>
          <p:nvPr/>
        </p:nvSpPr>
        <p:spPr>
          <a:xfrm>
            <a:off x="822960" y="4389120"/>
            <a:ext cx="685800" cy="685800"/>
          </a:xfrm>
          <a:prstGeom prst="rect">
            <a:avLst/>
          </a:prstGeom>
          <a:noFill/>
          <a:ln/>
        </p:spPr>
        <p:txBody>
          <a:bodyPr wrap="square" lIns="0" tIns="0" rIns="0" bIns="0" rtlCol="0" anchor="ctr"/>
          <a:lstStyle/>
          <a:p>
            <a:pPr algn="ctr" indent="0" marL="0">
              <a:buNone/>
            </a:pPr>
            <a:r>
              <a:rPr lang="en-US" sz="2550" b="1" dirty="0">
                <a:solidFill>
                  <a:srgbClr val="FFFFFF"/>
                </a:solidFill>
                <a:latin typeface="Cambria" pitchFamily="34" charset="0"/>
                <a:ea typeface="Cambria" pitchFamily="34" charset="-122"/>
                <a:cs typeface="Cambria" pitchFamily="34" charset="-120"/>
              </a:rPr>
              <a:t>6</a:t>
            </a:r>
            <a:endParaRPr lang="en-US" sz="2550" dirty="0"/>
          </a:p>
        </p:txBody>
      </p:sp>
      <p:sp>
        <p:nvSpPr>
          <p:cNvPr id="10" name="Shape 8"/>
          <p:cNvSpPr/>
          <p:nvPr/>
        </p:nvSpPr>
        <p:spPr>
          <a:xfrm>
            <a:off x="1783080" y="4389120"/>
            <a:ext cx="685800" cy="685800"/>
          </a:xfrm>
          <a:prstGeom prst="ellipse">
            <a:avLst/>
          </a:prstGeom>
          <a:solidFill>
            <a:srgbClr val="E07B45"/>
          </a:solidFill>
          <a:ln/>
        </p:spPr>
      </p:sp>
      <p:sp>
        <p:nvSpPr>
          <p:cNvPr id="11" name="Text 9"/>
          <p:cNvSpPr txBox="1"/>
          <p:nvPr/>
        </p:nvSpPr>
        <p:spPr>
          <a:xfrm>
            <a:off x="1783080" y="4389120"/>
            <a:ext cx="685800" cy="685800"/>
          </a:xfrm>
          <a:prstGeom prst="rect">
            <a:avLst/>
          </a:prstGeom>
          <a:noFill/>
          <a:ln/>
        </p:spPr>
        <p:txBody>
          <a:bodyPr wrap="square" lIns="0" tIns="0" rIns="0" bIns="0" rtlCol="0" anchor="ctr"/>
          <a:lstStyle/>
          <a:p>
            <a:pPr algn="ctr" indent="0" marL="0">
              <a:buNone/>
            </a:pPr>
            <a:r>
              <a:rPr lang="en-US" sz="2550" b="1" dirty="0">
                <a:solidFill>
                  <a:srgbClr val="FFFFFF"/>
                </a:solidFill>
                <a:latin typeface="Cambria" pitchFamily="34" charset="0"/>
                <a:ea typeface="Cambria" pitchFamily="34" charset="-122"/>
                <a:cs typeface="Cambria" pitchFamily="34" charset="-120"/>
              </a:rPr>
              <a:t>5</a:t>
            </a:r>
            <a:endParaRPr lang="en-US" sz="2550" dirty="0"/>
          </a:p>
        </p:txBody>
      </p:sp>
      <p:sp>
        <p:nvSpPr>
          <p:cNvPr id="12" name="Shape 10"/>
          <p:cNvSpPr/>
          <p:nvPr/>
        </p:nvSpPr>
        <p:spPr>
          <a:xfrm>
            <a:off x="2743200" y="4389120"/>
            <a:ext cx="685800" cy="685800"/>
          </a:xfrm>
          <a:prstGeom prst="ellipse">
            <a:avLst/>
          </a:prstGeom>
          <a:solidFill>
            <a:srgbClr val="E8A33D"/>
          </a:solidFill>
          <a:ln/>
        </p:spPr>
      </p:sp>
      <p:sp>
        <p:nvSpPr>
          <p:cNvPr id="13" name="Text 11"/>
          <p:cNvSpPr txBox="1"/>
          <p:nvPr/>
        </p:nvSpPr>
        <p:spPr>
          <a:xfrm>
            <a:off x="2743200" y="4389120"/>
            <a:ext cx="685800" cy="685800"/>
          </a:xfrm>
          <a:prstGeom prst="rect">
            <a:avLst/>
          </a:prstGeom>
          <a:noFill/>
          <a:ln/>
        </p:spPr>
        <p:txBody>
          <a:bodyPr wrap="square" lIns="0" tIns="0" rIns="0" bIns="0" rtlCol="0" anchor="ctr"/>
          <a:lstStyle/>
          <a:p>
            <a:pPr algn="ctr" indent="0" marL="0">
              <a:buNone/>
            </a:pPr>
            <a:r>
              <a:rPr lang="en-US" sz="2550" b="1" dirty="0">
                <a:solidFill>
                  <a:srgbClr val="FFFFFF"/>
                </a:solidFill>
                <a:latin typeface="Cambria" pitchFamily="34" charset="0"/>
                <a:ea typeface="Cambria" pitchFamily="34" charset="-122"/>
                <a:cs typeface="Cambria" pitchFamily="34" charset="-120"/>
              </a:rPr>
              <a:t>4</a:t>
            </a:r>
            <a:endParaRPr lang="en-US" sz="2550" dirty="0"/>
          </a:p>
        </p:txBody>
      </p:sp>
      <p:sp>
        <p:nvSpPr>
          <p:cNvPr id="14" name="Shape 12"/>
          <p:cNvSpPr/>
          <p:nvPr/>
        </p:nvSpPr>
        <p:spPr>
          <a:xfrm>
            <a:off x="3703320" y="4389120"/>
            <a:ext cx="685800" cy="685800"/>
          </a:xfrm>
          <a:prstGeom prst="ellipse">
            <a:avLst/>
          </a:prstGeom>
          <a:solidFill>
            <a:srgbClr val="9DB84A"/>
          </a:solidFill>
          <a:ln/>
        </p:spPr>
      </p:sp>
      <p:sp>
        <p:nvSpPr>
          <p:cNvPr id="15" name="Text 13"/>
          <p:cNvSpPr txBox="1"/>
          <p:nvPr/>
        </p:nvSpPr>
        <p:spPr>
          <a:xfrm>
            <a:off x="3703320" y="4389120"/>
            <a:ext cx="685800" cy="685800"/>
          </a:xfrm>
          <a:prstGeom prst="rect">
            <a:avLst/>
          </a:prstGeom>
          <a:noFill/>
          <a:ln/>
        </p:spPr>
        <p:txBody>
          <a:bodyPr wrap="square" lIns="0" tIns="0" rIns="0" bIns="0" rtlCol="0" anchor="ctr"/>
          <a:lstStyle/>
          <a:p>
            <a:pPr algn="ctr" indent="0" marL="0">
              <a:buNone/>
            </a:pPr>
            <a:r>
              <a:rPr lang="en-US" sz="2550" b="1" dirty="0">
                <a:solidFill>
                  <a:srgbClr val="FFFFFF"/>
                </a:solidFill>
                <a:latin typeface="Cambria" pitchFamily="34" charset="0"/>
                <a:ea typeface="Cambria" pitchFamily="34" charset="-122"/>
                <a:cs typeface="Cambria" pitchFamily="34" charset="-120"/>
              </a:rPr>
              <a:t>3</a:t>
            </a:r>
            <a:endParaRPr lang="en-US" sz="2550" dirty="0"/>
          </a:p>
        </p:txBody>
      </p:sp>
      <p:sp>
        <p:nvSpPr>
          <p:cNvPr id="16" name="Shape 14"/>
          <p:cNvSpPr/>
          <p:nvPr/>
        </p:nvSpPr>
        <p:spPr>
          <a:xfrm>
            <a:off x="4663440" y="4389120"/>
            <a:ext cx="685800" cy="685800"/>
          </a:xfrm>
          <a:prstGeom prst="ellipse">
            <a:avLst/>
          </a:prstGeom>
          <a:solidFill>
            <a:srgbClr val="5AAE62"/>
          </a:solidFill>
          <a:ln/>
        </p:spPr>
      </p:sp>
      <p:sp>
        <p:nvSpPr>
          <p:cNvPr id="17" name="Text 15"/>
          <p:cNvSpPr txBox="1"/>
          <p:nvPr/>
        </p:nvSpPr>
        <p:spPr>
          <a:xfrm>
            <a:off x="4663440" y="4389120"/>
            <a:ext cx="685800" cy="685800"/>
          </a:xfrm>
          <a:prstGeom prst="rect">
            <a:avLst/>
          </a:prstGeom>
          <a:noFill/>
          <a:ln/>
        </p:spPr>
        <p:txBody>
          <a:bodyPr wrap="square" lIns="0" tIns="0" rIns="0" bIns="0" rtlCol="0" anchor="ctr"/>
          <a:lstStyle/>
          <a:p>
            <a:pPr algn="ctr" indent="0" marL="0">
              <a:buNone/>
            </a:pPr>
            <a:r>
              <a:rPr lang="en-US" sz="2550" b="1" dirty="0">
                <a:solidFill>
                  <a:srgbClr val="FFFFFF"/>
                </a:solidFill>
                <a:latin typeface="Cambria" pitchFamily="34" charset="0"/>
                <a:ea typeface="Cambria" pitchFamily="34" charset="-122"/>
                <a:cs typeface="Cambria" pitchFamily="34" charset="-120"/>
              </a:rPr>
              <a:t>2</a:t>
            </a:r>
            <a:endParaRPr lang="en-US" sz="2550" dirty="0"/>
          </a:p>
        </p:txBody>
      </p:sp>
      <p:sp>
        <p:nvSpPr>
          <p:cNvPr id="18" name="Shape 16"/>
          <p:cNvSpPr/>
          <p:nvPr/>
        </p:nvSpPr>
        <p:spPr>
          <a:xfrm>
            <a:off x="5623560" y="4389120"/>
            <a:ext cx="685800" cy="685800"/>
          </a:xfrm>
          <a:prstGeom prst="ellipse">
            <a:avLst/>
          </a:prstGeom>
          <a:solidFill>
            <a:srgbClr val="2E9E6B"/>
          </a:solidFill>
          <a:ln/>
        </p:spPr>
      </p:sp>
      <p:sp>
        <p:nvSpPr>
          <p:cNvPr id="19" name="Text 17"/>
          <p:cNvSpPr txBox="1"/>
          <p:nvPr/>
        </p:nvSpPr>
        <p:spPr>
          <a:xfrm>
            <a:off x="5623560" y="4389120"/>
            <a:ext cx="685800" cy="685800"/>
          </a:xfrm>
          <a:prstGeom prst="rect">
            <a:avLst/>
          </a:prstGeom>
          <a:noFill/>
          <a:ln/>
        </p:spPr>
        <p:txBody>
          <a:bodyPr wrap="square" lIns="0" tIns="0" rIns="0" bIns="0" rtlCol="0" anchor="ctr"/>
          <a:lstStyle/>
          <a:p>
            <a:pPr algn="ctr" indent="0" marL="0">
              <a:buNone/>
            </a:pPr>
            <a:r>
              <a:rPr lang="en-US" sz="2550" b="1" dirty="0">
                <a:solidFill>
                  <a:srgbClr val="FFFFFF"/>
                </a:solidFill>
                <a:latin typeface="Cambria" pitchFamily="34" charset="0"/>
                <a:ea typeface="Cambria" pitchFamily="34" charset="-122"/>
                <a:cs typeface="Cambria" pitchFamily="34" charset="-120"/>
              </a:rPr>
              <a:t>1</a:t>
            </a:r>
            <a:endParaRPr lang="en-US" sz="2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WORAUF ICH ACHTE</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Zwei Fragen entscheiden über deine Note</a:t>
            </a:r>
            <a:endParaRPr lang="en-US" sz="32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Mündliche Noten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600200"/>
            <a:ext cx="5349240" cy="4480560"/>
          </a:xfrm>
          <a:prstGeom prst="roundRect">
            <a:avLst>
              <a:gd name="adj" fmla="val 1633"/>
            </a:avLst>
          </a:prstGeom>
          <a:solidFill>
            <a:srgbClr val="F4F7FD"/>
          </a:solidFill>
          <a:ln/>
        </p:spPr>
      </p:sp>
      <p:sp>
        <p:nvSpPr>
          <p:cNvPr id="8" name="Shape 5"/>
          <p:cNvSpPr/>
          <p:nvPr/>
        </p:nvSpPr>
        <p:spPr>
          <a:xfrm>
            <a:off x="548640" y="1600200"/>
            <a:ext cx="109728" cy="4480560"/>
          </a:xfrm>
          <a:prstGeom prst="rect">
            <a:avLst/>
          </a:prstGeom>
          <a:solidFill>
            <a:srgbClr val="3F7CC4"/>
          </a:solidFill>
          <a:ln/>
        </p:spPr>
      </p:sp>
      <p:sp>
        <p:nvSpPr>
          <p:cNvPr id="9" name="Text 6"/>
          <p:cNvSpPr txBox="1"/>
          <p:nvPr/>
        </p:nvSpPr>
        <p:spPr>
          <a:xfrm>
            <a:off x="914400" y="1783080"/>
            <a:ext cx="914400" cy="548640"/>
          </a:xfrm>
          <a:prstGeom prst="rect">
            <a:avLst/>
          </a:prstGeom>
          <a:noFill/>
          <a:ln/>
        </p:spPr>
        <p:txBody>
          <a:bodyPr wrap="square" lIns="0" tIns="0" rIns="0" bIns="0" rtlCol="0" anchor="t"/>
          <a:lstStyle/>
          <a:p>
            <a:pPr indent="0" marL="0">
              <a:buNone/>
            </a:pPr>
            <a:r>
              <a:rPr lang="en-US" sz="3600" b="1" dirty="0">
                <a:solidFill>
                  <a:srgbClr val="3F7CC4"/>
                </a:solidFill>
                <a:latin typeface="Cambria" pitchFamily="34" charset="0"/>
                <a:ea typeface="Cambria" pitchFamily="34" charset="-122"/>
                <a:cs typeface="Cambria" pitchFamily="34" charset="-120"/>
              </a:rPr>
              <a:t>1</a:t>
            </a:r>
            <a:endParaRPr lang="en-US" sz="3600" dirty="0"/>
          </a:p>
        </p:txBody>
      </p:sp>
      <p:sp>
        <p:nvSpPr>
          <p:cNvPr id="10" name="Text 7"/>
          <p:cNvSpPr txBox="1"/>
          <p:nvPr/>
        </p:nvSpPr>
        <p:spPr>
          <a:xfrm>
            <a:off x="1645920" y="1828800"/>
            <a:ext cx="4023360" cy="548640"/>
          </a:xfrm>
          <a:prstGeom prst="rect">
            <a:avLst/>
          </a:prstGeom>
          <a:noFill/>
          <a:ln/>
        </p:spPr>
        <p:txBody>
          <a:bodyPr wrap="square" lIns="0" tIns="0" rIns="0" bIns="0" rtlCol="0" anchor="t"/>
          <a:lstStyle/>
          <a:p>
            <a:pPr indent="0" marL="0">
              <a:buNone/>
            </a:pPr>
            <a:r>
              <a:rPr lang="en-US" sz="2400" b="1" dirty="0">
                <a:solidFill>
                  <a:srgbClr val="1E2761"/>
                </a:solidFill>
                <a:latin typeface="Cambria" pitchFamily="34" charset="0"/>
                <a:ea typeface="Cambria" pitchFamily="34" charset="-122"/>
                <a:cs typeface="Cambria" pitchFamily="34" charset="-120"/>
              </a:rPr>
              <a:t>Wie oft?</a:t>
            </a:r>
            <a:endParaRPr lang="en-US" sz="2400" dirty="0"/>
          </a:p>
        </p:txBody>
      </p:sp>
      <p:sp>
        <p:nvSpPr>
          <p:cNvPr id="11" name="Text 8"/>
          <p:cNvSpPr txBox="1"/>
          <p:nvPr/>
        </p:nvSpPr>
        <p:spPr>
          <a:xfrm>
            <a:off x="1645920" y="2377440"/>
            <a:ext cx="4023360" cy="365760"/>
          </a:xfrm>
          <a:prstGeom prst="rect">
            <a:avLst/>
          </a:prstGeom>
          <a:noFill/>
          <a:ln/>
        </p:spPr>
        <p:txBody>
          <a:bodyPr wrap="square" lIns="0" tIns="0" rIns="0" bIns="0" rtlCol="0" anchor="t"/>
          <a:lstStyle/>
          <a:p>
            <a:pPr indent="0" marL="0">
              <a:buNone/>
            </a:pPr>
            <a:r>
              <a:rPr lang="en-US" sz="1400" i="1" dirty="0">
                <a:solidFill>
                  <a:srgbClr val="5B6B8C"/>
                </a:solidFill>
                <a:latin typeface="Calibri" pitchFamily="34" charset="0"/>
                <a:ea typeface="Calibri" pitchFamily="34" charset="-122"/>
                <a:cs typeface="Calibri" pitchFamily="34" charset="-120"/>
              </a:rPr>
              <a:t>Freiwillige Mitarbeit</a:t>
            </a:r>
            <a:endParaRPr lang="en-US" sz="1400" dirty="0"/>
          </a:p>
        </p:txBody>
      </p:sp>
      <p:sp>
        <p:nvSpPr>
          <p:cNvPr id="12" name="Text 9"/>
          <p:cNvSpPr txBox="1"/>
          <p:nvPr/>
        </p:nvSpPr>
        <p:spPr>
          <a:xfrm>
            <a:off x="960120" y="3017520"/>
            <a:ext cx="4754880" cy="731520"/>
          </a:xfrm>
          <a:prstGeom prst="rect">
            <a:avLst/>
          </a:prstGeom>
          <a:noFill/>
          <a:ln/>
        </p:spPr>
        <p:txBody>
          <a:bodyPr wrap="square" lIns="0" tIns="0" rIns="0" bIns="0" rtlCol="0" anchor="t"/>
          <a:lstStyle/>
          <a:p>
            <a:pPr indent="0" marL="0">
              <a:buNone/>
            </a:pPr>
            <a:r>
              <a:rPr lang="en-US" sz="1800" b="1" dirty="0">
                <a:solidFill>
                  <a:srgbClr val="3F7CC4"/>
                </a:solidFill>
                <a:latin typeface="Calibri" pitchFamily="34" charset="0"/>
                <a:ea typeface="Calibri" pitchFamily="34" charset="-122"/>
                <a:cs typeface="Calibri" pitchFamily="34" charset="-120"/>
              </a:rPr>
              <a:t>selten  </a:t>
            </a:r>
            <a:pPr indent="0" marL="0">
              <a:buNone/>
            </a:pPr>
            <a:r>
              <a:rPr lang="en-US" sz="1800" dirty="0">
                <a:solidFill>
                  <a:srgbClr val="1E2761"/>
                </a:solidFill>
                <a:latin typeface="Calibri" pitchFamily="34" charset="0"/>
                <a:ea typeface="Calibri" pitchFamily="34" charset="-122"/>
                <a:cs typeface="Calibri" pitchFamily="34" charset="-120"/>
              </a:rPr>
              <a:t>nur, wenn ich drangenommen werde</a:t>
            </a:r>
            <a:endParaRPr lang="en-US" sz="1800" dirty="0"/>
          </a:p>
        </p:txBody>
      </p:sp>
      <p:sp>
        <p:nvSpPr>
          <p:cNvPr id="13" name="Text 10"/>
          <p:cNvSpPr txBox="1"/>
          <p:nvPr/>
        </p:nvSpPr>
        <p:spPr>
          <a:xfrm>
            <a:off x="960120" y="3794760"/>
            <a:ext cx="4754880" cy="731520"/>
          </a:xfrm>
          <a:prstGeom prst="rect">
            <a:avLst/>
          </a:prstGeom>
          <a:noFill/>
          <a:ln/>
        </p:spPr>
        <p:txBody>
          <a:bodyPr wrap="square" lIns="0" tIns="0" rIns="0" bIns="0" rtlCol="0" anchor="t"/>
          <a:lstStyle/>
          <a:p>
            <a:pPr indent="0" marL="0">
              <a:buNone/>
            </a:pPr>
            <a:r>
              <a:rPr lang="en-US" sz="1800" b="1" dirty="0">
                <a:solidFill>
                  <a:srgbClr val="3F7CC4"/>
                </a:solidFill>
                <a:latin typeface="Calibri" pitchFamily="34" charset="0"/>
                <a:ea typeface="Calibri" pitchFamily="34" charset="-122"/>
                <a:cs typeface="Calibri" pitchFamily="34" charset="-120"/>
              </a:rPr>
              <a:t>gelegentlich  </a:t>
            </a:r>
            <a:pPr indent="0" marL="0">
              <a:buNone/>
            </a:pPr>
            <a:r>
              <a:rPr lang="en-US" sz="1800" dirty="0">
                <a:solidFill>
                  <a:srgbClr val="1E2761"/>
                </a:solidFill>
                <a:latin typeface="Calibri" pitchFamily="34" charset="0"/>
                <a:ea typeface="Calibri" pitchFamily="34" charset="-122"/>
                <a:cs typeface="Calibri" pitchFamily="34" charset="-120"/>
              </a:rPr>
              <a:t>ab und zu von mir aus</a:t>
            </a:r>
            <a:endParaRPr lang="en-US" sz="1800" dirty="0"/>
          </a:p>
        </p:txBody>
      </p:sp>
      <p:sp>
        <p:nvSpPr>
          <p:cNvPr id="14" name="Text 11"/>
          <p:cNvSpPr txBox="1"/>
          <p:nvPr/>
        </p:nvSpPr>
        <p:spPr>
          <a:xfrm>
            <a:off x="960120" y="4572000"/>
            <a:ext cx="4754880" cy="731520"/>
          </a:xfrm>
          <a:prstGeom prst="rect">
            <a:avLst/>
          </a:prstGeom>
          <a:noFill/>
          <a:ln/>
        </p:spPr>
        <p:txBody>
          <a:bodyPr wrap="square" lIns="0" tIns="0" rIns="0" bIns="0" rtlCol="0" anchor="t"/>
          <a:lstStyle/>
          <a:p>
            <a:pPr indent="0" marL="0">
              <a:buNone/>
            </a:pPr>
            <a:r>
              <a:rPr lang="en-US" sz="1800" b="1" dirty="0">
                <a:solidFill>
                  <a:srgbClr val="3F7CC4"/>
                </a:solidFill>
                <a:latin typeface="Calibri" pitchFamily="34" charset="0"/>
                <a:ea typeface="Calibri" pitchFamily="34" charset="-122"/>
                <a:cs typeface="Calibri" pitchFamily="34" charset="-120"/>
              </a:rPr>
              <a:t>regelmäßig  </a:t>
            </a:r>
            <a:pPr indent="0" marL="0">
              <a:buNone/>
            </a:pPr>
            <a:r>
              <a:rPr lang="en-US" sz="1800" dirty="0">
                <a:solidFill>
                  <a:srgbClr val="1E2761"/>
                </a:solidFill>
                <a:latin typeface="Calibri" pitchFamily="34" charset="0"/>
                <a:ea typeface="Calibri" pitchFamily="34" charset="-122"/>
                <a:cs typeface="Calibri" pitchFamily="34" charset="-120"/>
              </a:rPr>
              <a:t>in jeder Stunde von mir aus</a:t>
            </a:r>
            <a:endParaRPr lang="en-US" sz="1800" dirty="0"/>
          </a:p>
        </p:txBody>
      </p:sp>
      <p:sp>
        <p:nvSpPr>
          <p:cNvPr id="15" name="Shape 12"/>
          <p:cNvSpPr/>
          <p:nvPr/>
        </p:nvSpPr>
        <p:spPr>
          <a:xfrm>
            <a:off x="6263640" y="1600200"/>
            <a:ext cx="5349240" cy="4480560"/>
          </a:xfrm>
          <a:prstGeom prst="roundRect">
            <a:avLst>
              <a:gd name="adj" fmla="val 1633"/>
            </a:avLst>
          </a:prstGeom>
          <a:solidFill>
            <a:srgbClr val="F4F7FD"/>
          </a:solidFill>
          <a:ln/>
        </p:spPr>
      </p:sp>
      <p:sp>
        <p:nvSpPr>
          <p:cNvPr id="16" name="Shape 13"/>
          <p:cNvSpPr/>
          <p:nvPr/>
        </p:nvSpPr>
        <p:spPr>
          <a:xfrm>
            <a:off x="6263640" y="1600200"/>
            <a:ext cx="109728" cy="4480560"/>
          </a:xfrm>
          <a:prstGeom prst="rect">
            <a:avLst/>
          </a:prstGeom>
          <a:solidFill>
            <a:srgbClr val="2E9E6B"/>
          </a:solidFill>
          <a:ln/>
        </p:spPr>
      </p:sp>
      <p:sp>
        <p:nvSpPr>
          <p:cNvPr id="17" name="Text 14"/>
          <p:cNvSpPr txBox="1"/>
          <p:nvPr/>
        </p:nvSpPr>
        <p:spPr>
          <a:xfrm>
            <a:off x="6629400" y="1783080"/>
            <a:ext cx="914400" cy="548640"/>
          </a:xfrm>
          <a:prstGeom prst="rect">
            <a:avLst/>
          </a:prstGeom>
          <a:noFill/>
          <a:ln/>
        </p:spPr>
        <p:txBody>
          <a:bodyPr wrap="square" lIns="0" tIns="0" rIns="0" bIns="0" rtlCol="0" anchor="t"/>
          <a:lstStyle/>
          <a:p>
            <a:pPr indent="0" marL="0">
              <a:buNone/>
            </a:pPr>
            <a:r>
              <a:rPr lang="en-US" sz="3600" b="1" dirty="0">
                <a:solidFill>
                  <a:srgbClr val="2E9E6B"/>
                </a:solidFill>
                <a:latin typeface="Cambria" pitchFamily="34" charset="0"/>
                <a:ea typeface="Cambria" pitchFamily="34" charset="-122"/>
                <a:cs typeface="Cambria" pitchFamily="34" charset="-120"/>
              </a:rPr>
              <a:t>2</a:t>
            </a:r>
            <a:endParaRPr lang="en-US" sz="3600" dirty="0"/>
          </a:p>
        </p:txBody>
      </p:sp>
      <p:sp>
        <p:nvSpPr>
          <p:cNvPr id="18" name="Text 15"/>
          <p:cNvSpPr txBox="1"/>
          <p:nvPr/>
        </p:nvSpPr>
        <p:spPr>
          <a:xfrm>
            <a:off x="7360920" y="1828800"/>
            <a:ext cx="4023360" cy="548640"/>
          </a:xfrm>
          <a:prstGeom prst="rect">
            <a:avLst/>
          </a:prstGeom>
          <a:noFill/>
          <a:ln/>
        </p:spPr>
        <p:txBody>
          <a:bodyPr wrap="square" lIns="0" tIns="0" rIns="0" bIns="0" rtlCol="0" anchor="t"/>
          <a:lstStyle/>
          <a:p>
            <a:pPr indent="0" marL="0">
              <a:buNone/>
            </a:pPr>
            <a:r>
              <a:rPr lang="en-US" sz="2400" b="1" dirty="0">
                <a:solidFill>
                  <a:srgbClr val="1E2761"/>
                </a:solidFill>
                <a:latin typeface="Cambria" pitchFamily="34" charset="0"/>
                <a:ea typeface="Cambria" pitchFamily="34" charset="-122"/>
                <a:cs typeface="Cambria" pitchFamily="34" charset="-120"/>
              </a:rPr>
              <a:t>Wie gut?</a:t>
            </a:r>
            <a:endParaRPr lang="en-US" sz="2400" dirty="0"/>
          </a:p>
        </p:txBody>
      </p:sp>
      <p:sp>
        <p:nvSpPr>
          <p:cNvPr id="19" name="Text 16"/>
          <p:cNvSpPr txBox="1"/>
          <p:nvPr/>
        </p:nvSpPr>
        <p:spPr>
          <a:xfrm>
            <a:off x="7360920" y="2377440"/>
            <a:ext cx="4023360" cy="365760"/>
          </a:xfrm>
          <a:prstGeom prst="rect">
            <a:avLst/>
          </a:prstGeom>
          <a:noFill/>
          <a:ln/>
        </p:spPr>
        <p:txBody>
          <a:bodyPr wrap="square" lIns="0" tIns="0" rIns="0" bIns="0" rtlCol="0" anchor="t"/>
          <a:lstStyle/>
          <a:p>
            <a:pPr indent="0" marL="0">
              <a:buNone/>
            </a:pPr>
            <a:r>
              <a:rPr lang="en-US" sz="1400" i="1" dirty="0">
                <a:solidFill>
                  <a:srgbClr val="5B6B8C"/>
                </a:solidFill>
                <a:latin typeface="Calibri" pitchFamily="34" charset="0"/>
                <a:ea typeface="Calibri" pitchFamily="34" charset="-122"/>
                <a:cs typeface="Calibri" pitchFamily="34" charset="-120"/>
              </a:rPr>
              <a:t>Qualität der Beiträge</a:t>
            </a:r>
            <a:endParaRPr lang="en-US" sz="1400" dirty="0"/>
          </a:p>
        </p:txBody>
      </p:sp>
      <p:sp>
        <p:nvSpPr>
          <p:cNvPr id="20" name="Text 17"/>
          <p:cNvSpPr txBox="1"/>
          <p:nvPr/>
        </p:nvSpPr>
        <p:spPr>
          <a:xfrm>
            <a:off x="6675120" y="3017520"/>
            <a:ext cx="4754880" cy="731520"/>
          </a:xfrm>
          <a:prstGeom prst="rect">
            <a:avLst/>
          </a:prstGeom>
          <a:noFill/>
          <a:ln/>
        </p:spPr>
        <p:txBody>
          <a:bodyPr wrap="square" lIns="0" tIns="0" rIns="0" bIns="0" rtlCol="0" anchor="t"/>
          <a:lstStyle/>
          <a:p>
            <a:pPr indent="0" marL="0">
              <a:buNone/>
            </a:pPr>
            <a:r>
              <a:rPr lang="en-US" sz="1800" b="1" dirty="0">
                <a:solidFill>
                  <a:srgbClr val="2E9E6B"/>
                </a:solidFill>
                <a:latin typeface="Calibri" pitchFamily="34" charset="0"/>
                <a:ea typeface="Calibri" pitchFamily="34" charset="-122"/>
                <a:cs typeface="Calibri" pitchFamily="34" charset="-120"/>
              </a:rPr>
              <a:t>wiedergeben  </a:t>
            </a:r>
            <a:pPr indent="0" marL="0">
              <a:buNone/>
            </a:pPr>
            <a:r>
              <a:rPr lang="en-US" sz="1800" dirty="0">
                <a:solidFill>
                  <a:srgbClr val="1E2761"/>
                </a:solidFill>
                <a:latin typeface="Calibri" pitchFamily="34" charset="0"/>
                <a:ea typeface="Calibri" pitchFamily="34" charset="-122"/>
                <a:cs typeface="Calibri" pitchFamily="34" charset="-120"/>
              </a:rPr>
              <a:t>einfache Fakten aus der Stunde</a:t>
            </a:r>
            <a:endParaRPr lang="en-US" sz="1800" dirty="0"/>
          </a:p>
        </p:txBody>
      </p:sp>
      <p:sp>
        <p:nvSpPr>
          <p:cNvPr id="21" name="Text 18"/>
          <p:cNvSpPr txBox="1"/>
          <p:nvPr/>
        </p:nvSpPr>
        <p:spPr>
          <a:xfrm>
            <a:off x="6675120" y="3794760"/>
            <a:ext cx="4754880" cy="731520"/>
          </a:xfrm>
          <a:prstGeom prst="rect">
            <a:avLst/>
          </a:prstGeom>
          <a:noFill/>
          <a:ln/>
        </p:spPr>
        <p:txBody>
          <a:bodyPr wrap="square" lIns="0" tIns="0" rIns="0" bIns="0" rtlCol="0" anchor="t"/>
          <a:lstStyle/>
          <a:p>
            <a:pPr indent="0" marL="0">
              <a:buNone/>
            </a:pPr>
            <a:r>
              <a:rPr lang="en-US" sz="1800" b="1" dirty="0">
                <a:solidFill>
                  <a:srgbClr val="2E9E6B"/>
                </a:solidFill>
                <a:latin typeface="Calibri" pitchFamily="34" charset="0"/>
                <a:ea typeface="Calibri" pitchFamily="34" charset="-122"/>
                <a:cs typeface="Calibri" pitchFamily="34" charset="-120"/>
              </a:rPr>
              <a:t>verknüpfen  </a:t>
            </a:r>
            <a:pPr indent="0" marL="0">
              <a:buNone/>
            </a:pPr>
            <a:r>
              <a:rPr lang="en-US" sz="1800" dirty="0">
                <a:solidFill>
                  <a:srgbClr val="1E2761"/>
                </a:solidFill>
                <a:latin typeface="Calibri" pitchFamily="34" charset="0"/>
                <a:ea typeface="Calibri" pitchFamily="34" charset="-122"/>
                <a:cs typeface="Calibri" pitchFamily="34" charset="-120"/>
              </a:rPr>
              <a:t>mit dem, was wir vorher gelernt haben</a:t>
            </a:r>
            <a:endParaRPr lang="en-US" sz="1800" dirty="0"/>
          </a:p>
        </p:txBody>
      </p:sp>
      <p:sp>
        <p:nvSpPr>
          <p:cNvPr id="22" name="Text 19"/>
          <p:cNvSpPr txBox="1"/>
          <p:nvPr/>
        </p:nvSpPr>
        <p:spPr>
          <a:xfrm>
            <a:off x="6675120" y="4572000"/>
            <a:ext cx="4754880" cy="731520"/>
          </a:xfrm>
          <a:prstGeom prst="rect">
            <a:avLst/>
          </a:prstGeom>
          <a:noFill/>
          <a:ln/>
        </p:spPr>
        <p:txBody>
          <a:bodyPr wrap="square" lIns="0" tIns="0" rIns="0" bIns="0" rtlCol="0" anchor="t"/>
          <a:lstStyle/>
          <a:p>
            <a:pPr indent="0" marL="0">
              <a:buNone/>
            </a:pPr>
            <a:r>
              <a:rPr lang="en-US" sz="1800" b="1" dirty="0">
                <a:solidFill>
                  <a:srgbClr val="2E9E6B"/>
                </a:solidFill>
                <a:latin typeface="Calibri" pitchFamily="34" charset="0"/>
                <a:ea typeface="Calibri" pitchFamily="34" charset="-122"/>
                <a:cs typeface="Calibri" pitchFamily="34" charset="-120"/>
              </a:rPr>
              <a:t>verstehen und einordnen  </a:t>
            </a:r>
            <a:pPr indent="0" marL="0">
              <a:buNone/>
            </a:pPr>
            <a:r>
              <a:rPr lang="en-US" sz="1800" dirty="0">
                <a:solidFill>
                  <a:srgbClr val="1E2761"/>
                </a:solidFill>
                <a:latin typeface="Calibri" pitchFamily="34" charset="0"/>
                <a:ea typeface="Calibri" pitchFamily="34" charset="-122"/>
                <a:cs typeface="Calibri" pitchFamily="34" charset="-120"/>
              </a:rPr>
              <a:t>auch Schwieriges, Wichtiges erkennen</a:t>
            </a:r>
            <a:endParaRPr lang="en-US" sz="1800" dirty="0"/>
          </a:p>
        </p:txBody>
      </p:sp>
      <p:sp>
        <p:nvSpPr>
          <p:cNvPr id="23" name="Text 20"/>
          <p:cNvSpPr txBox="1"/>
          <p:nvPr/>
        </p:nvSpPr>
        <p:spPr>
          <a:xfrm>
            <a:off x="6675120" y="5349240"/>
            <a:ext cx="4754880" cy="731520"/>
          </a:xfrm>
          <a:prstGeom prst="rect">
            <a:avLst/>
          </a:prstGeom>
          <a:noFill/>
          <a:ln/>
        </p:spPr>
        <p:txBody>
          <a:bodyPr wrap="square" lIns="0" tIns="0" rIns="0" bIns="0" rtlCol="0" anchor="t"/>
          <a:lstStyle/>
          <a:p>
            <a:pPr indent="0" marL="0">
              <a:buNone/>
            </a:pPr>
            <a:r>
              <a:rPr lang="en-US" sz="1800" b="1" dirty="0">
                <a:solidFill>
                  <a:srgbClr val="2E9E6B"/>
                </a:solidFill>
                <a:latin typeface="Calibri" pitchFamily="34" charset="0"/>
                <a:ea typeface="Calibri" pitchFamily="34" charset="-122"/>
                <a:cs typeface="Calibri" pitchFamily="34" charset="-120"/>
              </a:rPr>
              <a:t>eigene Gedanken  </a:t>
            </a:r>
            <a:pPr indent="0" marL="0">
              <a:buNone/>
            </a:pPr>
            <a:r>
              <a:rPr lang="en-US" sz="1800" dirty="0">
                <a:solidFill>
                  <a:srgbClr val="1E2761"/>
                </a:solidFill>
                <a:latin typeface="Calibri" pitchFamily="34" charset="0"/>
                <a:ea typeface="Calibri" pitchFamily="34" charset="-122"/>
                <a:cs typeface="Calibri" pitchFamily="34" charset="-120"/>
              </a:rPr>
              <a:t>begründet, klar, mit Fachbegriffen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ÜBERBLICK</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Die Notentreppe</a:t>
            </a:r>
            <a:endParaRPr lang="en-US" sz="32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Mündliche Noten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548640" y="4754880"/>
            <a:ext cx="1828800" cy="1371600"/>
          </a:xfrm>
          <a:prstGeom prst="roundRect">
            <a:avLst>
              <a:gd name="adj" fmla="val 3333"/>
            </a:avLst>
          </a:prstGeom>
          <a:solidFill>
            <a:srgbClr val="D9534F"/>
          </a:solidFill>
          <a:ln/>
        </p:spPr>
      </p:sp>
      <p:sp>
        <p:nvSpPr>
          <p:cNvPr id="8" name="Text 5"/>
          <p:cNvSpPr txBox="1"/>
          <p:nvPr/>
        </p:nvSpPr>
        <p:spPr>
          <a:xfrm>
            <a:off x="548640" y="4828032"/>
            <a:ext cx="1828800" cy="548640"/>
          </a:xfrm>
          <a:prstGeom prst="rect">
            <a:avLst/>
          </a:prstGeom>
          <a:noFill/>
          <a:ln/>
        </p:spPr>
        <p:txBody>
          <a:bodyPr wrap="square" lIns="0" tIns="0" rIns="0" bIns="0" rtlCol="0" anchor="t"/>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9" name="Text 6"/>
          <p:cNvSpPr txBox="1"/>
          <p:nvPr/>
        </p:nvSpPr>
        <p:spPr>
          <a:xfrm>
            <a:off x="640080" y="5394960"/>
            <a:ext cx="1645920" cy="68580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keine freiwillige Mitarbeit · Antworten falsch</a:t>
            </a:r>
            <a:endParaRPr lang="en-US" sz="1200" dirty="0"/>
          </a:p>
        </p:txBody>
      </p:sp>
      <p:sp>
        <p:nvSpPr>
          <p:cNvPr id="10" name="Shape 7"/>
          <p:cNvSpPr/>
          <p:nvPr/>
        </p:nvSpPr>
        <p:spPr>
          <a:xfrm>
            <a:off x="2423160" y="4297680"/>
            <a:ext cx="1828800" cy="1828800"/>
          </a:xfrm>
          <a:prstGeom prst="roundRect">
            <a:avLst>
              <a:gd name="adj" fmla="val 2500"/>
            </a:avLst>
          </a:prstGeom>
          <a:solidFill>
            <a:srgbClr val="E07B45"/>
          </a:solidFill>
          <a:ln/>
        </p:spPr>
      </p:sp>
      <p:sp>
        <p:nvSpPr>
          <p:cNvPr id="11" name="Text 8"/>
          <p:cNvSpPr txBox="1"/>
          <p:nvPr/>
        </p:nvSpPr>
        <p:spPr>
          <a:xfrm>
            <a:off x="2423160" y="4370832"/>
            <a:ext cx="1828800" cy="548640"/>
          </a:xfrm>
          <a:prstGeom prst="rect">
            <a:avLst/>
          </a:prstGeom>
          <a:noFill/>
          <a:ln/>
        </p:spPr>
        <p:txBody>
          <a:bodyPr wrap="square" lIns="0" tIns="0" rIns="0" bIns="0" rtlCol="0" anchor="t"/>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12" name="Text 9"/>
          <p:cNvSpPr txBox="1"/>
          <p:nvPr/>
        </p:nvSpPr>
        <p:spPr>
          <a:xfrm>
            <a:off x="2514600" y="4937760"/>
            <a:ext cx="1645920" cy="114300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keine freiwillige Mitarbeit · teilweise richtig</a:t>
            </a:r>
            <a:endParaRPr lang="en-US" sz="1200" dirty="0"/>
          </a:p>
        </p:txBody>
      </p:sp>
      <p:sp>
        <p:nvSpPr>
          <p:cNvPr id="13" name="Shape 10"/>
          <p:cNvSpPr/>
          <p:nvPr/>
        </p:nvSpPr>
        <p:spPr>
          <a:xfrm>
            <a:off x="4297680" y="3840480"/>
            <a:ext cx="1828800" cy="2286000"/>
          </a:xfrm>
          <a:prstGeom prst="roundRect">
            <a:avLst>
              <a:gd name="adj" fmla="val 2500"/>
            </a:avLst>
          </a:prstGeom>
          <a:solidFill>
            <a:srgbClr val="E8A33D"/>
          </a:solidFill>
          <a:ln/>
        </p:spPr>
      </p:sp>
      <p:sp>
        <p:nvSpPr>
          <p:cNvPr id="14" name="Text 11"/>
          <p:cNvSpPr txBox="1"/>
          <p:nvPr/>
        </p:nvSpPr>
        <p:spPr>
          <a:xfrm>
            <a:off x="4297680" y="3913632"/>
            <a:ext cx="1828800" cy="548640"/>
          </a:xfrm>
          <a:prstGeom prst="rect">
            <a:avLst/>
          </a:prstGeom>
          <a:noFill/>
          <a:ln/>
        </p:spPr>
        <p:txBody>
          <a:bodyPr wrap="square" lIns="0" tIns="0" rIns="0" bIns="0" rtlCol="0" anchor="t"/>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15" name="Text 12"/>
          <p:cNvSpPr txBox="1"/>
          <p:nvPr/>
        </p:nvSpPr>
        <p:spPr>
          <a:xfrm>
            <a:off x="4389120" y="4480560"/>
            <a:ext cx="1645920" cy="160020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gelegentlich · Fakten wiedergeben</a:t>
            </a:r>
            <a:endParaRPr lang="en-US" sz="1200" dirty="0"/>
          </a:p>
        </p:txBody>
      </p:sp>
      <p:sp>
        <p:nvSpPr>
          <p:cNvPr id="16" name="Shape 13"/>
          <p:cNvSpPr/>
          <p:nvPr/>
        </p:nvSpPr>
        <p:spPr>
          <a:xfrm>
            <a:off x="6172200" y="3383280"/>
            <a:ext cx="1828800" cy="2743200"/>
          </a:xfrm>
          <a:prstGeom prst="roundRect">
            <a:avLst>
              <a:gd name="adj" fmla="val 2500"/>
            </a:avLst>
          </a:prstGeom>
          <a:solidFill>
            <a:srgbClr val="9DB84A"/>
          </a:solidFill>
          <a:ln/>
        </p:spPr>
      </p:sp>
      <p:sp>
        <p:nvSpPr>
          <p:cNvPr id="17" name="Text 14"/>
          <p:cNvSpPr txBox="1"/>
          <p:nvPr/>
        </p:nvSpPr>
        <p:spPr>
          <a:xfrm>
            <a:off x="6172200" y="3456432"/>
            <a:ext cx="1828800" cy="548640"/>
          </a:xfrm>
          <a:prstGeom prst="rect">
            <a:avLst/>
          </a:prstGeom>
          <a:noFill/>
          <a:ln/>
        </p:spPr>
        <p:txBody>
          <a:bodyPr wrap="square" lIns="0" tIns="0" rIns="0" bIns="0" rtlCol="0" anchor="t"/>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18" name="Text 15"/>
          <p:cNvSpPr txBox="1"/>
          <p:nvPr/>
        </p:nvSpPr>
        <p:spPr>
          <a:xfrm>
            <a:off x="6263640" y="4023360"/>
            <a:ext cx="1645920" cy="205740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regelmäßig · richtig und verknüpft</a:t>
            </a:r>
            <a:endParaRPr lang="en-US" sz="1200" dirty="0"/>
          </a:p>
        </p:txBody>
      </p:sp>
      <p:sp>
        <p:nvSpPr>
          <p:cNvPr id="19" name="Shape 16"/>
          <p:cNvSpPr/>
          <p:nvPr/>
        </p:nvSpPr>
        <p:spPr>
          <a:xfrm>
            <a:off x="8046720" y="2926080"/>
            <a:ext cx="1828800" cy="3200400"/>
          </a:xfrm>
          <a:prstGeom prst="roundRect">
            <a:avLst>
              <a:gd name="adj" fmla="val 2500"/>
            </a:avLst>
          </a:prstGeom>
          <a:solidFill>
            <a:srgbClr val="5AAE62"/>
          </a:solidFill>
          <a:ln/>
        </p:spPr>
      </p:sp>
      <p:sp>
        <p:nvSpPr>
          <p:cNvPr id="20" name="Text 17"/>
          <p:cNvSpPr txBox="1"/>
          <p:nvPr/>
        </p:nvSpPr>
        <p:spPr>
          <a:xfrm>
            <a:off x="8046720" y="2999232"/>
            <a:ext cx="1828800" cy="548640"/>
          </a:xfrm>
          <a:prstGeom prst="rect">
            <a:avLst/>
          </a:prstGeom>
          <a:noFill/>
          <a:ln/>
        </p:spPr>
        <p:txBody>
          <a:bodyPr wrap="square" lIns="0" tIns="0" rIns="0" bIns="0" rtlCol="0" anchor="t"/>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21" name="Text 18"/>
          <p:cNvSpPr txBox="1"/>
          <p:nvPr/>
        </p:nvSpPr>
        <p:spPr>
          <a:xfrm>
            <a:off x="8138160" y="3566160"/>
            <a:ext cx="1645920" cy="251460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verstehen, einordnen, Wichtiges erkennen</a:t>
            </a:r>
            <a:endParaRPr lang="en-US" sz="1200" dirty="0"/>
          </a:p>
        </p:txBody>
      </p:sp>
      <p:sp>
        <p:nvSpPr>
          <p:cNvPr id="22" name="Shape 19"/>
          <p:cNvSpPr/>
          <p:nvPr/>
        </p:nvSpPr>
        <p:spPr>
          <a:xfrm>
            <a:off x="9921240" y="2468880"/>
            <a:ext cx="1828800" cy="3657600"/>
          </a:xfrm>
          <a:prstGeom prst="roundRect">
            <a:avLst>
              <a:gd name="adj" fmla="val 2500"/>
            </a:avLst>
          </a:prstGeom>
          <a:solidFill>
            <a:srgbClr val="2E9E6B"/>
          </a:solidFill>
          <a:ln/>
        </p:spPr>
      </p:sp>
      <p:sp>
        <p:nvSpPr>
          <p:cNvPr id="23" name="Text 20"/>
          <p:cNvSpPr txBox="1"/>
          <p:nvPr/>
        </p:nvSpPr>
        <p:spPr>
          <a:xfrm>
            <a:off x="9921240" y="2542032"/>
            <a:ext cx="1828800" cy="548640"/>
          </a:xfrm>
          <a:prstGeom prst="rect">
            <a:avLst/>
          </a:prstGeom>
          <a:noFill/>
          <a:ln/>
        </p:spPr>
        <p:txBody>
          <a:bodyPr wrap="square" lIns="0" tIns="0" rIns="0" bIns="0" rtlCol="0" anchor="t"/>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24" name="Text 21"/>
          <p:cNvSpPr txBox="1"/>
          <p:nvPr/>
        </p:nvSpPr>
        <p:spPr>
          <a:xfrm>
            <a:off x="10012680" y="3108960"/>
            <a:ext cx="1645920" cy="297180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eigene Gedanken · klar und begründet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DIE STUFEN IM DETAIL</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Note 6 und 5: keine freiwillige Mitarbeit</a:t>
            </a:r>
            <a:endParaRPr lang="en-US" sz="32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Mündliche Noten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4</a:t>
            </a:r>
            <a:endParaRPr lang="en-US" sz="1000" dirty="0"/>
          </a:p>
        </p:txBody>
      </p:sp>
      <p:sp>
        <p:nvSpPr>
          <p:cNvPr id="7" name="Shape 4"/>
          <p:cNvSpPr/>
          <p:nvPr/>
        </p:nvSpPr>
        <p:spPr>
          <a:xfrm>
            <a:off x="548640" y="1600200"/>
            <a:ext cx="11064240" cy="2148840"/>
          </a:xfrm>
          <a:prstGeom prst="roundRect">
            <a:avLst>
              <a:gd name="adj" fmla="val 3404"/>
            </a:avLst>
          </a:prstGeom>
          <a:solidFill>
            <a:srgbClr val="F4F7FD"/>
          </a:solidFill>
          <a:ln/>
        </p:spPr>
      </p:sp>
      <p:sp>
        <p:nvSpPr>
          <p:cNvPr id="8" name="Shape 5"/>
          <p:cNvSpPr/>
          <p:nvPr/>
        </p:nvSpPr>
        <p:spPr>
          <a:xfrm>
            <a:off x="548640" y="1600200"/>
            <a:ext cx="109728" cy="2148840"/>
          </a:xfrm>
          <a:prstGeom prst="rect">
            <a:avLst/>
          </a:prstGeom>
          <a:solidFill>
            <a:srgbClr val="D9534F"/>
          </a:solidFill>
          <a:ln/>
        </p:spPr>
      </p:sp>
      <p:sp>
        <p:nvSpPr>
          <p:cNvPr id="9" name="Shape 6"/>
          <p:cNvSpPr/>
          <p:nvPr/>
        </p:nvSpPr>
        <p:spPr>
          <a:xfrm>
            <a:off x="914400" y="1920240"/>
            <a:ext cx="1005840" cy="1005840"/>
          </a:xfrm>
          <a:prstGeom prst="ellipse">
            <a:avLst/>
          </a:prstGeom>
          <a:solidFill>
            <a:srgbClr val="D9534F"/>
          </a:solidFill>
          <a:ln/>
        </p:spPr>
      </p:sp>
      <p:sp>
        <p:nvSpPr>
          <p:cNvPr id="10" name="Text 7"/>
          <p:cNvSpPr txBox="1"/>
          <p:nvPr/>
        </p:nvSpPr>
        <p:spPr>
          <a:xfrm>
            <a:off x="914400" y="1920240"/>
            <a:ext cx="1005840" cy="1005840"/>
          </a:xfrm>
          <a:prstGeom prst="rect">
            <a:avLst/>
          </a:prstGeom>
          <a:noFill/>
          <a:ln/>
        </p:spPr>
        <p:txBody>
          <a:bodyPr wrap="square" lIns="0" tIns="0" rIns="0" bIns="0" rtlCol="0" anchor="ctr"/>
          <a:lstStyle/>
          <a:p>
            <a:pPr algn="ctr" indent="0" marL="0">
              <a:buNone/>
            </a:pPr>
            <a:r>
              <a:rPr lang="en-US" sz="3740" b="1" dirty="0">
                <a:solidFill>
                  <a:srgbClr val="FFFFFF"/>
                </a:solidFill>
                <a:latin typeface="Cambria" pitchFamily="34" charset="0"/>
                <a:ea typeface="Cambria" pitchFamily="34" charset="-122"/>
                <a:cs typeface="Cambria" pitchFamily="34" charset="-120"/>
              </a:rPr>
              <a:t>6</a:t>
            </a:r>
            <a:endParaRPr lang="en-US" sz="3740" dirty="0"/>
          </a:p>
        </p:txBody>
      </p:sp>
      <p:sp>
        <p:nvSpPr>
          <p:cNvPr id="11" name="Text 8"/>
          <p:cNvSpPr txBox="1"/>
          <p:nvPr/>
        </p:nvSpPr>
        <p:spPr>
          <a:xfrm>
            <a:off x="2194560" y="1828800"/>
            <a:ext cx="9144000" cy="274320"/>
          </a:xfrm>
          <a:prstGeom prst="rect">
            <a:avLst/>
          </a:prstGeom>
          <a:noFill/>
          <a:ln/>
        </p:spPr>
        <p:txBody>
          <a:bodyPr wrap="square" lIns="0" tIns="0" rIns="0" bIns="0" rtlCol="0" anchor="t"/>
          <a:lstStyle/>
          <a:p>
            <a:pPr indent="0" marL="0">
              <a:buNone/>
            </a:pPr>
            <a:r>
              <a:rPr lang="en-US" sz="1300" b="1" dirty="0">
                <a:solidFill>
                  <a:srgbClr val="5B6B8C"/>
                </a:solidFill>
                <a:latin typeface="Calibri" pitchFamily="34" charset="0"/>
                <a:ea typeface="Calibri" pitchFamily="34" charset="-122"/>
                <a:cs typeface="Calibri" pitchFamily="34" charset="-120"/>
              </a:rPr>
              <a:t>So arbeitest du mit:</a:t>
            </a:r>
            <a:endParaRPr lang="en-US" sz="1300" dirty="0"/>
          </a:p>
        </p:txBody>
      </p:sp>
      <p:sp>
        <p:nvSpPr>
          <p:cNvPr id="12" name="Text 9"/>
          <p:cNvSpPr txBox="1"/>
          <p:nvPr/>
        </p:nvSpPr>
        <p:spPr>
          <a:xfrm>
            <a:off x="2194560" y="2103120"/>
            <a:ext cx="9235440" cy="1005840"/>
          </a:xfrm>
          <a:prstGeom prst="rect">
            <a:avLst/>
          </a:prstGeom>
          <a:noFill/>
          <a:ln/>
        </p:spPr>
        <p:txBody>
          <a:bodyPr wrap="square" lIns="0" tIns="0" rIns="0" bIns="0" rtlCol="0" anchor="t"/>
          <a:lstStyle/>
          <a:p>
            <a:pPr indent="0" marL="0">
              <a:buNone/>
            </a:pPr>
            <a:r>
              <a:rPr lang="en-US" sz="1800" dirty="0">
                <a:solidFill>
                  <a:srgbClr val="1E2761"/>
                </a:solidFill>
                <a:latin typeface="Calibri" pitchFamily="34" charset="0"/>
                <a:ea typeface="Calibri" pitchFamily="34" charset="-122"/>
                <a:cs typeface="Calibri" pitchFamily="34" charset="-120"/>
              </a:rPr>
              <a:t>Ich melde mich nicht von mir aus. Wenn ich drangenommen werde, ist meine Antwort falsch.</a:t>
            </a:r>
            <a:endParaRPr lang="en-US" sz="1800" dirty="0"/>
          </a:p>
        </p:txBody>
      </p:sp>
      <p:sp>
        <p:nvSpPr>
          <p:cNvPr id="13" name="Text 10"/>
          <p:cNvSpPr txBox="1"/>
          <p:nvPr/>
        </p:nvSpPr>
        <p:spPr>
          <a:xfrm>
            <a:off x="2194560" y="3200400"/>
            <a:ext cx="9235440" cy="365760"/>
          </a:xfrm>
          <a:prstGeom prst="rect">
            <a:avLst/>
          </a:prstGeom>
          <a:noFill/>
          <a:ln/>
        </p:spPr>
        <p:txBody>
          <a:bodyPr wrap="square" lIns="0" tIns="0" rIns="0" bIns="0" rtlCol="0" anchor="t"/>
          <a:lstStyle/>
          <a:p>
            <a:pPr indent="0" marL="0">
              <a:buNone/>
            </a:pPr>
            <a:r>
              <a:rPr lang="en-US" sz="1500" b="1" dirty="0">
                <a:solidFill>
                  <a:srgbClr val="D9534F"/>
                </a:solidFill>
                <a:latin typeface="Calibri" pitchFamily="34" charset="0"/>
                <a:ea typeface="Calibri" pitchFamily="34" charset="-122"/>
                <a:cs typeface="Calibri" pitchFamily="34" charset="-120"/>
              </a:rPr>
              <a:t>Bedeutung: </a:t>
            </a:r>
            <a:pPr indent="0" marL="0">
              <a:buNone/>
            </a:pPr>
            <a:r>
              <a:rPr lang="en-US" sz="1500" i="1" dirty="0">
                <a:solidFill>
                  <a:srgbClr val="1E2761"/>
                </a:solidFill>
                <a:latin typeface="Calibri" pitchFamily="34" charset="0"/>
                <a:ea typeface="Calibri" pitchFamily="34" charset="-122"/>
                <a:cs typeface="Calibri" pitchFamily="34" charset="-120"/>
              </a:rPr>
              <a:t>Die Leistung entspricht den Anforderungen nicht; selbst Grundkenntnisse fehlen.</a:t>
            </a:r>
            <a:endParaRPr lang="en-US" sz="1500" dirty="0"/>
          </a:p>
        </p:txBody>
      </p:sp>
      <p:sp>
        <p:nvSpPr>
          <p:cNvPr id="14" name="Shape 11"/>
          <p:cNvSpPr/>
          <p:nvPr/>
        </p:nvSpPr>
        <p:spPr>
          <a:xfrm>
            <a:off x="548640" y="3931920"/>
            <a:ext cx="11064240" cy="2148840"/>
          </a:xfrm>
          <a:prstGeom prst="roundRect">
            <a:avLst>
              <a:gd name="adj" fmla="val 3404"/>
            </a:avLst>
          </a:prstGeom>
          <a:solidFill>
            <a:srgbClr val="F4F7FD"/>
          </a:solidFill>
          <a:ln/>
        </p:spPr>
      </p:sp>
      <p:sp>
        <p:nvSpPr>
          <p:cNvPr id="15" name="Shape 12"/>
          <p:cNvSpPr/>
          <p:nvPr/>
        </p:nvSpPr>
        <p:spPr>
          <a:xfrm>
            <a:off x="548640" y="3931920"/>
            <a:ext cx="109728" cy="2148840"/>
          </a:xfrm>
          <a:prstGeom prst="rect">
            <a:avLst/>
          </a:prstGeom>
          <a:solidFill>
            <a:srgbClr val="E07B45"/>
          </a:solidFill>
          <a:ln/>
        </p:spPr>
      </p:sp>
      <p:sp>
        <p:nvSpPr>
          <p:cNvPr id="16" name="Shape 13"/>
          <p:cNvSpPr/>
          <p:nvPr/>
        </p:nvSpPr>
        <p:spPr>
          <a:xfrm>
            <a:off x="914400" y="4251960"/>
            <a:ext cx="1005840" cy="1005840"/>
          </a:xfrm>
          <a:prstGeom prst="ellipse">
            <a:avLst/>
          </a:prstGeom>
          <a:solidFill>
            <a:srgbClr val="E07B45"/>
          </a:solidFill>
          <a:ln/>
        </p:spPr>
      </p:sp>
      <p:sp>
        <p:nvSpPr>
          <p:cNvPr id="17" name="Text 14"/>
          <p:cNvSpPr txBox="1"/>
          <p:nvPr/>
        </p:nvSpPr>
        <p:spPr>
          <a:xfrm>
            <a:off x="914400" y="4251960"/>
            <a:ext cx="1005840" cy="1005840"/>
          </a:xfrm>
          <a:prstGeom prst="rect">
            <a:avLst/>
          </a:prstGeom>
          <a:noFill/>
          <a:ln/>
        </p:spPr>
        <p:txBody>
          <a:bodyPr wrap="square" lIns="0" tIns="0" rIns="0" bIns="0" rtlCol="0" anchor="ctr"/>
          <a:lstStyle/>
          <a:p>
            <a:pPr algn="ctr" indent="0" marL="0">
              <a:buNone/>
            </a:pPr>
            <a:r>
              <a:rPr lang="en-US" sz="3740" b="1" dirty="0">
                <a:solidFill>
                  <a:srgbClr val="FFFFFF"/>
                </a:solidFill>
                <a:latin typeface="Cambria" pitchFamily="34" charset="0"/>
                <a:ea typeface="Cambria" pitchFamily="34" charset="-122"/>
                <a:cs typeface="Cambria" pitchFamily="34" charset="-120"/>
              </a:rPr>
              <a:t>5</a:t>
            </a:r>
            <a:endParaRPr lang="en-US" sz="3740" dirty="0"/>
          </a:p>
        </p:txBody>
      </p:sp>
      <p:sp>
        <p:nvSpPr>
          <p:cNvPr id="18" name="Text 15"/>
          <p:cNvSpPr txBox="1"/>
          <p:nvPr/>
        </p:nvSpPr>
        <p:spPr>
          <a:xfrm>
            <a:off x="2194560" y="4160520"/>
            <a:ext cx="9144000" cy="274320"/>
          </a:xfrm>
          <a:prstGeom prst="rect">
            <a:avLst/>
          </a:prstGeom>
          <a:noFill/>
          <a:ln/>
        </p:spPr>
        <p:txBody>
          <a:bodyPr wrap="square" lIns="0" tIns="0" rIns="0" bIns="0" rtlCol="0" anchor="t"/>
          <a:lstStyle/>
          <a:p>
            <a:pPr indent="0" marL="0">
              <a:buNone/>
            </a:pPr>
            <a:r>
              <a:rPr lang="en-US" sz="1300" b="1" dirty="0">
                <a:solidFill>
                  <a:srgbClr val="5B6B8C"/>
                </a:solidFill>
                <a:latin typeface="Calibri" pitchFamily="34" charset="0"/>
                <a:ea typeface="Calibri" pitchFamily="34" charset="-122"/>
                <a:cs typeface="Calibri" pitchFamily="34" charset="-120"/>
              </a:rPr>
              <a:t>So arbeitest du mit:</a:t>
            </a:r>
            <a:endParaRPr lang="en-US" sz="1300" dirty="0"/>
          </a:p>
        </p:txBody>
      </p:sp>
      <p:sp>
        <p:nvSpPr>
          <p:cNvPr id="19" name="Text 16"/>
          <p:cNvSpPr txBox="1"/>
          <p:nvPr/>
        </p:nvSpPr>
        <p:spPr>
          <a:xfrm>
            <a:off x="2194560" y="4434840"/>
            <a:ext cx="9235440" cy="1005840"/>
          </a:xfrm>
          <a:prstGeom prst="rect">
            <a:avLst/>
          </a:prstGeom>
          <a:noFill/>
          <a:ln/>
        </p:spPr>
        <p:txBody>
          <a:bodyPr wrap="square" lIns="0" tIns="0" rIns="0" bIns="0" rtlCol="0" anchor="t"/>
          <a:lstStyle/>
          <a:p>
            <a:pPr indent="0" marL="0">
              <a:buNone/>
            </a:pPr>
            <a:r>
              <a:rPr lang="en-US" sz="1800" dirty="0">
                <a:solidFill>
                  <a:srgbClr val="1E2761"/>
                </a:solidFill>
                <a:latin typeface="Calibri" pitchFamily="34" charset="0"/>
                <a:ea typeface="Calibri" pitchFamily="34" charset="-122"/>
                <a:cs typeface="Calibri" pitchFamily="34" charset="-120"/>
              </a:rPr>
              <a:t>Ich melde mich nicht von mir aus. Wenn ich drangenommen werde, ist meine Antwort nur teilweise richtig. Grundkenntnisse sind aber da.</a:t>
            </a:r>
            <a:endParaRPr lang="en-US" sz="1800" dirty="0"/>
          </a:p>
        </p:txBody>
      </p:sp>
      <p:sp>
        <p:nvSpPr>
          <p:cNvPr id="20" name="Text 17"/>
          <p:cNvSpPr txBox="1"/>
          <p:nvPr/>
        </p:nvSpPr>
        <p:spPr>
          <a:xfrm>
            <a:off x="2194560" y="5532120"/>
            <a:ext cx="9235440" cy="365760"/>
          </a:xfrm>
          <a:prstGeom prst="rect">
            <a:avLst/>
          </a:prstGeom>
          <a:noFill/>
          <a:ln/>
        </p:spPr>
        <p:txBody>
          <a:bodyPr wrap="square" lIns="0" tIns="0" rIns="0" bIns="0" rtlCol="0" anchor="t"/>
          <a:lstStyle/>
          <a:p>
            <a:pPr indent="0" marL="0">
              <a:buNone/>
            </a:pPr>
            <a:r>
              <a:rPr lang="en-US" sz="1500" b="1" dirty="0">
                <a:solidFill>
                  <a:srgbClr val="E07B45"/>
                </a:solidFill>
                <a:latin typeface="Calibri" pitchFamily="34" charset="0"/>
                <a:ea typeface="Calibri" pitchFamily="34" charset="-122"/>
                <a:cs typeface="Calibri" pitchFamily="34" charset="-120"/>
              </a:rPr>
              <a:t>Bedeutung: </a:t>
            </a:r>
            <a:pPr indent="0" marL="0">
              <a:buNone/>
            </a:pPr>
            <a:r>
              <a:rPr lang="en-US" sz="1500" i="1" dirty="0">
                <a:solidFill>
                  <a:srgbClr val="1E2761"/>
                </a:solidFill>
                <a:latin typeface="Calibri" pitchFamily="34" charset="0"/>
                <a:ea typeface="Calibri" pitchFamily="34" charset="-122"/>
                <a:cs typeface="Calibri" pitchFamily="34" charset="-120"/>
              </a:rPr>
              <a:t>Die Leistung entspricht den Anforderungen nicht – die Lücken sind aber bald behebbar.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DIE STUFEN IM DETAIL</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Note 4 und 3: gelegentlich oder regelmäßig</a:t>
            </a:r>
            <a:endParaRPr lang="en-US" sz="32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Mündliche Noten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548640" y="1600200"/>
            <a:ext cx="11064240" cy="2148840"/>
          </a:xfrm>
          <a:prstGeom prst="roundRect">
            <a:avLst>
              <a:gd name="adj" fmla="val 3404"/>
            </a:avLst>
          </a:prstGeom>
          <a:solidFill>
            <a:srgbClr val="F4F7FD"/>
          </a:solidFill>
          <a:ln/>
        </p:spPr>
      </p:sp>
      <p:sp>
        <p:nvSpPr>
          <p:cNvPr id="8" name="Shape 5"/>
          <p:cNvSpPr/>
          <p:nvPr/>
        </p:nvSpPr>
        <p:spPr>
          <a:xfrm>
            <a:off x="548640" y="1600200"/>
            <a:ext cx="109728" cy="2148840"/>
          </a:xfrm>
          <a:prstGeom prst="rect">
            <a:avLst/>
          </a:prstGeom>
          <a:solidFill>
            <a:srgbClr val="E8A33D"/>
          </a:solidFill>
          <a:ln/>
        </p:spPr>
      </p:sp>
      <p:sp>
        <p:nvSpPr>
          <p:cNvPr id="9" name="Shape 6"/>
          <p:cNvSpPr/>
          <p:nvPr/>
        </p:nvSpPr>
        <p:spPr>
          <a:xfrm>
            <a:off x="914400" y="1920240"/>
            <a:ext cx="1005840" cy="1005840"/>
          </a:xfrm>
          <a:prstGeom prst="ellipse">
            <a:avLst/>
          </a:prstGeom>
          <a:solidFill>
            <a:srgbClr val="E8A33D"/>
          </a:solidFill>
          <a:ln/>
        </p:spPr>
      </p:sp>
      <p:sp>
        <p:nvSpPr>
          <p:cNvPr id="10" name="Text 7"/>
          <p:cNvSpPr txBox="1"/>
          <p:nvPr/>
        </p:nvSpPr>
        <p:spPr>
          <a:xfrm>
            <a:off x="914400" y="1920240"/>
            <a:ext cx="1005840" cy="1005840"/>
          </a:xfrm>
          <a:prstGeom prst="rect">
            <a:avLst/>
          </a:prstGeom>
          <a:noFill/>
          <a:ln/>
        </p:spPr>
        <p:txBody>
          <a:bodyPr wrap="square" lIns="0" tIns="0" rIns="0" bIns="0" rtlCol="0" anchor="ctr"/>
          <a:lstStyle/>
          <a:p>
            <a:pPr algn="ctr" indent="0" marL="0">
              <a:buNone/>
            </a:pPr>
            <a:r>
              <a:rPr lang="en-US" sz="3740" b="1" dirty="0">
                <a:solidFill>
                  <a:srgbClr val="FFFFFF"/>
                </a:solidFill>
                <a:latin typeface="Cambria" pitchFamily="34" charset="0"/>
                <a:ea typeface="Cambria" pitchFamily="34" charset="-122"/>
                <a:cs typeface="Cambria" pitchFamily="34" charset="-120"/>
              </a:rPr>
              <a:t>4</a:t>
            </a:r>
            <a:endParaRPr lang="en-US" sz="3740" dirty="0"/>
          </a:p>
        </p:txBody>
      </p:sp>
      <p:sp>
        <p:nvSpPr>
          <p:cNvPr id="11" name="Text 8"/>
          <p:cNvSpPr txBox="1"/>
          <p:nvPr/>
        </p:nvSpPr>
        <p:spPr>
          <a:xfrm>
            <a:off x="2194560" y="1828800"/>
            <a:ext cx="9144000" cy="274320"/>
          </a:xfrm>
          <a:prstGeom prst="rect">
            <a:avLst/>
          </a:prstGeom>
          <a:noFill/>
          <a:ln/>
        </p:spPr>
        <p:txBody>
          <a:bodyPr wrap="square" lIns="0" tIns="0" rIns="0" bIns="0" rtlCol="0" anchor="t"/>
          <a:lstStyle/>
          <a:p>
            <a:pPr indent="0" marL="0">
              <a:buNone/>
            </a:pPr>
            <a:r>
              <a:rPr lang="en-US" sz="1300" b="1" dirty="0">
                <a:solidFill>
                  <a:srgbClr val="5B6B8C"/>
                </a:solidFill>
                <a:latin typeface="Calibri" pitchFamily="34" charset="0"/>
                <a:ea typeface="Calibri" pitchFamily="34" charset="-122"/>
                <a:cs typeface="Calibri" pitchFamily="34" charset="-120"/>
              </a:rPr>
              <a:t>So arbeitest du mit:</a:t>
            </a:r>
            <a:endParaRPr lang="en-US" sz="1300" dirty="0"/>
          </a:p>
        </p:txBody>
      </p:sp>
      <p:sp>
        <p:nvSpPr>
          <p:cNvPr id="12" name="Text 9"/>
          <p:cNvSpPr txBox="1"/>
          <p:nvPr/>
        </p:nvSpPr>
        <p:spPr>
          <a:xfrm>
            <a:off x="2194560" y="2103120"/>
            <a:ext cx="9235440" cy="1005840"/>
          </a:xfrm>
          <a:prstGeom prst="rect">
            <a:avLst/>
          </a:prstGeom>
          <a:noFill/>
          <a:ln/>
        </p:spPr>
        <p:txBody>
          <a:bodyPr wrap="square" lIns="0" tIns="0" rIns="0" bIns="0" rtlCol="0" anchor="t"/>
          <a:lstStyle/>
          <a:p>
            <a:pPr indent="0" marL="0">
              <a:buNone/>
            </a:pPr>
            <a:r>
              <a:rPr lang="en-US" sz="1800" dirty="0">
                <a:solidFill>
                  <a:srgbClr val="1E2761"/>
                </a:solidFill>
                <a:latin typeface="Calibri" pitchFamily="34" charset="0"/>
                <a:ea typeface="Calibri" pitchFamily="34" charset="-122"/>
                <a:cs typeface="Calibri" pitchFamily="34" charset="-120"/>
              </a:rPr>
              <a:t>Ich melde mich nur gelegentlich. Ich gebe einfache Fakten aus dem gerade behandelten Stoff wieder – im Wesentlichen richtig.</a:t>
            </a:r>
            <a:endParaRPr lang="en-US" sz="1800" dirty="0"/>
          </a:p>
        </p:txBody>
      </p:sp>
      <p:sp>
        <p:nvSpPr>
          <p:cNvPr id="13" name="Text 10"/>
          <p:cNvSpPr txBox="1"/>
          <p:nvPr/>
        </p:nvSpPr>
        <p:spPr>
          <a:xfrm>
            <a:off x="2194560" y="3200400"/>
            <a:ext cx="9235440" cy="365760"/>
          </a:xfrm>
          <a:prstGeom prst="rect">
            <a:avLst/>
          </a:prstGeom>
          <a:noFill/>
          <a:ln/>
        </p:spPr>
        <p:txBody>
          <a:bodyPr wrap="square" lIns="0" tIns="0" rIns="0" bIns="0" rtlCol="0" anchor="t"/>
          <a:lstStyle/>
          <a:p>
            <a:pPr indent="0" marL="0">
              <a:buNone/>
            </a:pPr>
            <a:r>
              <a:rPr lang="en-US" sz="1500" b="1" dirty="0">
                <a:solidFill>
                  <a:srgbClr val="E8A33D"/>
                </a:solidFill>
                <a:latin typeface="Calibri" pitchFamily="34" charset="0"/>
                <a:ea typeface="Calibri" pitchFamily="34" charset="-122"/>
                <a:cs typeface="Calibri" pitchFamily="34" charset="-120"/>
              </a:rPr>
              <a:t>Bedeutung: </a:t>
            </a:r>
            <a:pPr indent="0" marL="0">
              <a:buNone/>
            </a:pPr>
            <a:r>
              <a:rPr lang="en-US" sz="1500" i="1" dirty="0">
                <a:solidFill>
                  <a:srgbClr val="1E2761"/>
                </a:solidFill>
                <a:latin typeface="Calibri" pitchFamily="34" charset="0"/>
                <a:ea typeface="Calibri" pitchFamily="34" charset="-122"/>
                <a:cs typeface="Calibri" pitchFamily="34" charset="-120"/>
              </a:rPr>
              <a:t>Die Leistung hat Mängel, entspricht im Ganzen aber noch den Anforderungen.</a:t>
            </a:r>
            <a:endParaRPr lang="en-US" sz="1500" dirty="0"/>
          </a:p>
        </p:txBody>
      </p:sp>
      <p:sp>
        <p:nvSpPr>
          <p:cNvPr id="14" name="Shape 11"/>
          <p:cNvSpPr/>
          <p:nvPr/>
        </p:nvSpPr>
        <p:spPr>
          <a:xfrm>
            <a:off x="548640" y="3931920"/>
            <a:ext cx="11064240" cy="2148840"/>
          </a:xfrm>
          <a:prstGeom prst="roundRect">
            <a:avLst>
              <a:gd name="adj" fmla="val 3404"/>
            </a:avLst>
          </a:prstGeom>
          <a:solidFill>
            <a:srgbClr val="F4F7FD"/>
          </a:solidFill>
          <a:ln/>
        </p:spPr>
      </p:sp>
      <p:sp>
        <p:nvSpPr>
          <p:cNvPr id="15" name="Shape 12"/>
          <p:cNvSpPr/>
          <p:nvPr/>
        </p:nvSpPr>
        <p:spPr>
          <a:xfrm>
            <a:off x="548640" y="3931920"/>
            <a:ext cx="109728" cy="2148840"/>
          </a:xfrm>
          <a:prstGeom prst="rect">
            <a:avLst/>
          </a:prstGeom>
          <a:solidFill>
            <a:srgbClr val="9DB84A"/>
          </a:solidFill>
          <a:ln/>
        </p:spPr>
      </p:sp>
      <p:sp>
        <p:nvSpPr>
          <p:cNvPr id="16" name="Shape 13"/>
          <p:cNvSpPr/>
          <p:nvPr/>
        </p:nvSpPr>
        <p:spPr>
          <a:xfrm>
            <a:off x="914400" y="4251960"/>
            <a:ext cx="1005840" cy="1005840"/>
          </a:xfrm>
          <a:prstGeom prst="ellipse">
            <a:avLst/>
          </a:prstGeom>
          <a:solidFill>
            <a:srgbClr val="9DB84A"/>
          </a:solidFill>
          <a:ln/>
        </p:spPr>
      </p:sp>
      <p:sp>
        <p:nvSpPr>
          <p:cNvPr id="17" name="Text 14"/>
          <p:cNvSpPr txBox="1"/>
          <p:nvPr/>
        </p:nvSpPr>
        <p:spPr>
          <a:xfrm>
            <a:off x="914400" y="4251960"/>
            <a:ext cx="1005840" cy="1005840"/>
          </a:xfrm>
          <a:prstGeom prst="rect">
            <a:avLst/>
          </a:prstGeom>
          <a:noFill/>
          <a:ln/>
        </p:spPr>
        <p:txBody>
          <a:bodyPr wrap="square" lIns="0" tIns="0" rIns="0" bIns="0" rtlCol="0" anchor="ctr"/>
          <a:lstStyle/>
          <a:p>
            <a:pPr algn="ctr" indent="0" marL="0">
              <a:buNone/>
            </a:pPr>
            <a:r>
              <a:rPr lang="en-US" sz="3740" b="1" dirty="0">
                <a:solidFill>
                  <a:srgbClr val="FFFFFF"/>
                </a:solidFill>
                <a:latin typeface="Cambria" pitchFamily="34" charset="0"/>
                <a:ea typeface="Cambria" pitchFamily="34" charset="-122"/>
                <a:cs typeface="Cambria" pitchFamily="34" charset="-120"/>
              </a:rPr>
              <a:t>3</a:t>
            </a:r>
            <a:endParaRPr lang="en-US" sz="3740" dirty="0"/>
          </a:p>
        </p:txBody>
      </p:sp>
      <p:sp>
        <p:nvSpPr>
          <p:cNvPr id="18" name="Text 15"/>
          <p:cNvSpPr txBox="1"/>
          <p:nvPr/>
        </p:nvSpPr>
        <p:spPr>
          <a:xfrm>
            <a:off x="2194560" y="4160520"/>
            <a:ext cx="9144000" cy="274320"/>
          </a:xfrm>
          <a:prstGeom prst="rect">
            <a:avLst/>
          </a:prstGeom>
          <a:noFill/>
          <a:ln/>
        </p:spPr>
        <p:txBody>
          <a:bodyPr wrap="square" lIns="0" tIns="0" rIns="0" bIns="0" rtlCol="0" anchor="t"/>
          <a:lstStyle/>
          <a:p>
            <a:pPr indent="0" marL="0">
              <a:buNone/>
            </a:pPr>
            <a:r>
              <a:rPr lang="en-US" sz="1300" b="1" dirty="0">
                <a:solidFill>
                  <a:srgbClr val="5B6B8C"/>
                </a:solidFill>
                <a:latin typeface="Calibri" pitchFamily="34" charset="0"/>
                <a:ea typeface="Calibri" pitchFamily="34" charset="-122"/>
                <a:cs typeface="Calibri" pitchFamily="34" charset="-120"/>
              </a:rPr>
              <a:t>So arbeitest du mit:</a:t>
            </a:r>
            <a:endParaRPr lang="en-US" sz="1300" dirty="0"/>
          </a:p>
        </p:txBody>
      </p:sp>
      <p:sp>
        <p:nvSpPr>
          <p:cNvPr id="19" name="Text 16"/>
          <p:cNvSpPr txBox="1"/>
          <p:nvPr/>
        </p:nvSpPr>
        <p:spPr>
          <a:xfrm>
            <a:off x="2194560" y="4434840"/>
            <a:ext cx="9235440" cy="1005840"/>
          </a:xfrm>
          <a:prstGeom prst="rect">
            <a:avLst/>
          </a:prstGeom>
          <a:noFill/>
          <a:ln/>
        </p:spPr>
        <p:txBody>
          <a:bodyPr wrap="square" lIns="0" tIns="0" rIns="0" bIns="0" rtlCol="0" anchor="t"/>
          <a:lstStyle/>
          <a:p>
            <a:pPr indent="0" marL="0">
              <a:buNone/>
            </a:pPr>
            <a:r>
              <a:rPr lang="en-US" sz="1800" dirty="0">
                <a:solidFill>
                  <a:srgbClr val="1E2761"/>
                </a:solidFill>
                <a:latin typeface="Calibri" pitchFamily="34" charset="0"/>
                <a:ea typeface="Calibri" pitchFamily="34" charset="-122"/>
                <a:cs typeface="Calibri" pitchFamily="34" charset="-120"/>
              </a:rPr>
              <a:t>Ich melde mich regelmäßig von mir aus. Was ich zum aktuellen Stoff sage, ist im Wesentlichen richtig, und ich verknüpfe es mit dem, was wir vorher in der Einheit gelernt haben.</a:t>
            </a:r>
            <a:endParaRPr lang="en-US" sz="1800" dirty="0"/>
          </a:p>
        </p:txBody>
      </p:sp>
      <p:sp>
        <p:nvSpPr>
          <p:cNvPr id="20" name="Text 17"/>
          <p:cNvSpPr txBox="1"/>
          <p:nvPr/>
        </p:nvSpPr>
        <p:spPr>
          <a:xfrm>
            <a:off x="2194560" y="5532120"/>
            <a:ext cx="9235440" cy="365760"/>
          </a:xfrm>
          <a:prstGeom prst="rect">
            <a:avLst/>
          </a:prstGeom>
          <a:noFill/>
          <a:ln/>
        </p:spPr>
        <p:txBody>
          <a:bodyPr wrap="square" lIns="0" tIns="0" rIns="0" bIns="0" rtlCol="0" anchor="t"/>
          <a:lstStyle/>
          <a:p>
            <a:pPr indent="0" marL="0">
              <a:buNone/>
            </a:pPr>
            <a:r>
              <a:rPr lang="en-US" sz="1500" b="1" dirty="0">
                <a:solidFill>
                  <a:srgbClr val="9DB84A"/>
                </a:solidFill>
                <a:latin typeface="Calibri" pitchFamily="34" charset="0"/>
                <a:ea typeface="Calibri" pitchFamily="34" charset="-122"/>
                <a:cs typeface="Calibri" pitchFamily="34" charset="-120"/>
              </a:rPr>
              <a:t>Bedeutung: </a:t>
            </a:r>
            <a:pPr indent="0" marL="0">
              <a:buNone/>
            </a:pPr>
            <a:r>
              <a:rPr lang="en-US" sz="1500" i="1" dirty="0">
                <a:solidFill>
                  <a:srgbClr val="1E2761"/>
                </a:solidFill>
                <a:latin typeface="Calibri" pitchFamily="34" charset="0"/>
                <a:ea typeface="Calibri" pitchFamily="34" charset="-122"/>
                <a:cs typeface="Calibri" pitchFamily="34" charset="-120"/>
              </a:rPr>
              <a:t>Die Leistung entspricht im Allgemeinen den Anforderungen.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DIE STUFEN IM DETAIL</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Note 2 und 1: verstehen und selbst denken</a:t>
            </a:r>
            <a:endParaRPr lang="en-US" sz="32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Mündliche Noten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6</a:t>
            </a:r>
            <a:endParaRPr lang="en-US" sz="1000" dirty="0"/>
          </a:p>
        </p:txBody>
      </p:sp>
      <p:sp>
        <p:nvSpPr>
          <p:cNvPr id="7" name="Shape 4"/>
          <p:cNvSpPr/>
          <p:nvPr/>
        </p:nvSpPr>
        <p:spPr>
          <a:xfrm>
            <a:off x="548640" y="1600200"/>
            <a:ext cx="11064240" cy="2148840"/>
          </a:xfrm>
          <a:prstGeom prst="roundRect">
            <a:avLst>
              <a:gd name="adj" fmla="val 3404"/>
            </a:avLst>
          </a:prstGeom>
          <a:solidFill>
            <a:srgbClr val="F4F7FD"/>
          </a:solidFill>
          <a:ln/>
        </p:spPr>
      </p:sp>
      <p:sp>
        <p:nvSpPr>
          <p:cNvPr id="8" name="Shape 5"/>
          <p:cNvSpPr/>
          <p:nvPr/>
        </p:nvSpPr>
        <p:spPr>
          <a:xfrm>
            <a:off x="548640" y="1600200"/>
            <a:ext cx="109728" cy="2148840"/>
          </a:xfrm>
          <a:prstGeom prst="rect">
            <a:avLst/>
          </a:prstGeom>
          <a:solidFill>
            <a:srgbClr val="5AAE62"/>
          </a:solidFill>
          <a:ln/>
        </p:spPr>
      </p:sp>
      <p:sp>
        <p:nvSpPr>
          <p:cNvPr id="9" name="Shape 6"/>
          <p:cNvSpPr/>
          <p:nvPr/>
        </p:nvSpPr>
        <p:spPr>
          <a:xfrm>
            <a:off x="914400" y="1920240"/>
            <a:ext cx="1005840" cy="1005840"/>
          </a:xfrm>
          <a:prstGeom prst="ellipse">
            <a:avLst/>
          </a:prstGeom>
          <a:solidFill>
            <a:srgbClr val="5AAE62"/>
          </a:solidFill>
          <a:ln/>
        </p:spPr>
      </p:sp>
      <p:sp>
        <p:nvSpPr>
          <p:cNvPr id="10" name="Text 7"/>
          <p:cNvSpPr txBox="1"/>
          <p:nvPr/>
        </p:nvSpPr>
        <p:spPr>
          <a:xfrm>
            <a:off x="914400" y="1920240"/>
            <a:ext cx="1005840" cy="1005840"/>
          </a:xfrm>
          <a:prstGeom prst="rect">
            <a:avLst/>
          </a:prstGeom>
          <a:noFill/>
          <a:ln/>
        </p:spPr>
        <p:txBody>
          <a:bodyPr wrap="square" lIns="0" tIns="0" rIns="0" bIns="0" rtlCol="0" anchor="ctr"/>
          <a:lstStyle/>
          <a:p>
            <a:pPr algn="ctr" indent="0" marL="0">
              <a:buNone/>
            </a:pPr>
            <a:r>
              <a:rPr lang="en-US" sz="3740" b="1" dirty="0">
                <a:solidFill>
                  <a:srgbClr val="FFFFFF"/>
                </a:solidFill>
                <a:latin typeface="Cambria" pitchFamily="34" charset="0"/>
                <a:ea typeface="Cambria" pitchFamily="34" charset="-122"/>
                <a:cs typeface="Cambria" pitchFamily="34" charset="-120"/>
              </a:rPr>
              <a:t>2</a:t>
            </a:r>
            <a:endParaRPr lang="en-US" sz="3740" dirty="0"/>
          </a:p>
        </p:txBody>
      </p:sp>
      <p:sp>
        <p:nvSpPr>
          <p:cNvPr id="11" name="Text 8"/>
          <p:cNvSpPr txBox="1"/>
          <p:nvPr/>
        </p:nvSpPr>
        <p:spPr>
          <a:xfrm>
            <a:off x="2194560" y="1828800"/>
            <a:ext cx="9144000" cy="274320"/>
          </a:xfrm>
          <a:prstGeom prst="rect">
            <a:avLst/>
          </a:prstGeom>
          <a:noFill/>
          <a:ln/>
        </p:spPr>
        <p:txBody>
          <a:bodyPr wrap="square" lIns="0" tIns="0" rIns="0" bIns="0" rtlCol="0" anchor="t"/>
          <a:lstStyle/>
          <a:p>
            <a:pPr indent="0" marL="0">
              <a:buNone/>
            </a:pPr>
            <a:r>
              <a:rPr lang="en-US" sz="1300" b="1" dirty="0">
                <a:solidFill>
                  <a:srgbClr val="5B6B8C"/>
                </a:solidFill>
                <a:latin typeface="Calibri" pitchFamily="34" charset="0"/>
                <a:ea typeface="Calibri" pitchFamily="34" charset="-122"/>
                <a:cs typeface="Calibri" pitchFamily="34" charset="-120"/>
              </a:rPr>
              <a:t>So arbeitest du mit:</a:t>
            </a:r>
            <a:endParaRPr lang="en-US" sz="1300" dirty="0"/>
          </a:p>
        </p:txBody>
      </p:sp>
      <p:sp>
        <p:nvSpPr>
          <p:cNvPr id="12" name="Text 9"/>
          <p:cNvSpPr txBox="1"/>
          <p:nvPr/>
        </p:nvSpPr>
        <p:spPr>
          <a:xfrm>
            <a:off x="2194560" y="2103120"/>
            <a:ext cx="9235440" cy="1005840"/>
          </a:xfrm>
          <a:prstGeom prst="rect">
            <a:avLst/>
          </a:prstGeom>
          <a:noFill/>
          <a:ln/>
        </p:spPr>
        <p:txBody>
          <a:bodyPr wrap="square" lIns="0" tIns="0" rIns="0" bIns="0" rtlCol="0" anchor="t"/>
          <a:lstStyle/>
          <a:p>
            <a:pPr indent="0" marL="0">
              <a:buNone/>
            </a:pPr>
            <a:r>
              <a:rPr lang="en-US" sz="1800" dirty="0">
                <a:solidFill>
                  <a:srgbClr val="1E2761"/>
                </a:solidFill>
                <a:latin typeface="Calibri" pitchFamily="34" charset="0"/>
                <a:ea typeface="Calibri" pitchFamily="34" charset="-122"/>
                <a:cs typeface="Calibri" pitchFamily="34" charset="-120"/>
              </a:rPr>
              <a:t>Ich melde mich regelmäßig von mir aus. Ich verstehe auch schwierige Inhalte und ordne sie ins Thema ein. Ich unterscheide Wichtiges von Unwichtigem und weiß manchmal mehr, als im Unterricht dran war.</a:t>
            </a:r>
            <a:endParaRPr lang="en-US" sz="1800" dirty="0"/>
          </a:p>
        </p:txBody>
      </p:sp>
      <p:sp>
        <p:nvSpPr>
          <p:cNvPr id="13" name="Text 10"/>
          <p:cNvSpPr txBox="1"/>
          <p:nvPr/>
        </p:nvSpPr>
        <p:spPr>
          <a:xfrm>
            <a:off x="2194560" y="3200400"/>
            <a:ext cx="9235440" cy="365760"/>
          </a:xfrm>
          <a:prstGeom prst="rect">
            <a:avLst/>
          </a:prstGeom>
          <a:noFill/>
          <a:ln/>
        </p:spPr>
        <p:txBody>
          <a:bodyPr wrap="square" lIns="0" tIns="0" rIns="0" bIns="0" rtlCol="0" anchor="t"/>
          <a:lstStyle/>
          <a:p>
            <a:pPr indent="0" marL="0">
              <a:buNone/>
            </a:pPr>
            <a:r>
              <a:rPr lang="en-US" sz="1500" b="1" dirty="0">
                <a:solidFill>
                  <a:srgbClr val="5AAE62"/>
                </a:solidFill>
                <a:latin typeface="Calibri" pitchFamily="34" charset="0"/>
                <a:ea typeface="Calibri" pitchFamily="34" charset="-122"/>
                <a:cs typeface="Calibri" pitchFamily="34" charset="-120"/>
              </a:rPr>
              <a:t>Bedeutung: </a:t>
            </a:r>
            <a:pPr indent="0" marL="0">
              <a:buNone/>
            </a:pPr>
            <a:r>
              <a:rPr lang="en-US" sz="1500" i="1" dirty="0">
                <a:solidFill>
                  <a:srgbClr val="1E2761"/>
                </a:solidFill>
                <a:latin typeface="Calibri" pitchFamily="34" charset="0"/>
                <a:ea typeface="Calibri" pitchFamily="34" charset="-122"/>
                <a:cs typeface="Calibri" pitchFamily="34" charset="-120"/>
              </a:rPr>
              <a:t>Die Leistung entspricht in vollem Umfang den Anforderungen.</a:t>
            </a:r>
            <a:endParaRPr lang="en-US" sz="1500" dirty="0"/>
          </a:p>
        </p:txBody>
      </p:sp>
      <p:sp>
        <p:nvSpPr>
          <p:cNvPr id="14" name="Shape 11"/>
          <p:cNvSpPr/>
          <p:nvPr/>
        </p:nvSpPr>
        <p:spPr>
          <a:xfrm>
            <a:off x="548640" y="3931920"/>
            <a:ext cx="11064240" cy="2148840"/>
          </a:xfrm>
          <a:prstGeom prst="roundRect">
            <a:avLst>
              <a:gd name="adj" fmla="val 3404"/>
            </a:avLst>
          </a:prstGeom>
          <a:solidFill>
            <a:srgbClr val="F4F7FD"/>
          </a:solidFill>
          <a:ln/>
        </p:spPr>
      </p:sp>
      <p:sp>
        <p:nvSpPr>
          <p:cNvPr id="15" name="Shape 12"/>
          <p:cNvSpPr/>
          <p:nvPr/>
        </p:nvSpPr>
        <p:spPr>
          <a:xfrm>
            <a:off x="548640" y="3931920"/>
            <a:ext cx="109728" cy="2148840"/>
          </a:xfrm>
          <a:prstGeom prst="rect">
            <a:avLst/>
          </a:prstGeom>
          <a:solidFill>
            <a:srgbClr val="2E9E6B"/>
          </a:solidFill>
          <a:ln/>
        </p:spPr>
      </p:sp>
      <p:sp>
        <p:nvSpPr>
          <p:cNvPr id="16" name="Shape 13"/>
          <p:cNvSpPr/>
          <p:nvPr/>
        </p:nvSpPr>
        <p:spPr>
          <a:xfrm>
            <a:off x="914400" y="4251960"/>
            <a:ext cx="1005840" cy="1005840"/>
          </a:xfrm>
          <a:prstGeom prst="ellipse">
            <a:avLst/>
          </a:prstGeom>
          <a:solidFill>
            <a:srgbClr val="2E9E6B"/>
          </a:solidFill>
          <a:ln/>
        </p:spPr>
      </p:sp>
      <p:sp>
        <p:nvSpPr>
          <p:cNvPr id="17" name="Text 14"/>
          <p:cNvSpPr txBox="1"/>
          <p:nvPr/>
        </p:nvSpPr>
        <p:spPr>
          <a:xfrm>
            <a:off x="914400" y="4251960"/>
            <a:ext cx="1005840" cy="1005840"/>
          </a:xfrm>
          <a:prstGeom prst="rect">
            <a:avLst/>
          </a:prstGeom>
          <a:noFill/>
          <a:ln/>
        </p:spPr>
        <p:txBody>
          <a:bodyPr wrap="square" lIns="0" tIns="0" rIns="0" bIns="0" rtlCol="0" anchor="ctr"/>
          <a:lstStyle/>
          <a:p>
            <a:pPr algn="ctr" indent="0" marL="0">
              <a:buNone/>
            </a:pPr>
            <a:r>
              <a:rPr lang="en-US" sz="3740" b="1" dirty="0">
                <a:solidFill>
                  <a:srgbClr val="FFFFFF"/>
                </a:solidFill>
                <a:latin typeface="Cambria" pitchFamily="34" charset="0"/>
                <a:ea typeface="Cambria" pitchFamily="34" charset="-122"/>
                <a:cs typeface="Cambria" pitchFamily="34" charset="-120"/>
              </a:rPr>
              <a:t>1</a:t>
            </a:r>
            <a:endParaRPr lang="en-US" sz="3740" dirty="0"/>
          </a:p>
        </p:txBody>
      </p:sp>
      <p:sp>
        <p:nvSpPr>
          <p:cNvPr id="18" name="Text 15"/>
          <p:cNvSpPr txBox="1"/>
          <p:nvPr/>
        </p:nvSpPr>
        <p:spPr>
          <a:xfrm>
            <a:off x="2194560" y="4160520"/>
            <a:ext cx="9144000" cy="274320"/>
          </a:xfrm>
          <a:prstGeom prst="rect">
            <a:avLst/>
          </a:prstGeom>
          <a:noFill/>
          <a:ln/>
        </p:spPr>
        <p:txBody>
          <a:bodyPr wrap="square" lIns="0" tIns="0" rIns="0" bIns="0" rtlCol="0" anchor="t"/>
          <a:lstStyle/>
          <a:p>
            <a:pPr indent="0" marL="0">
              <a:buNone/>
            </a:pPr>
            <a:r>
              <a:rPr lang="en-US" sz="1300" b="1" dirty="0">
                <a:solidFill>
                  <a:srgbClr val="5B6B8C"/>
                </a:solidFill>
                <a:latin typeface="Calibri" pitchFamily="34" charset="0"/>
                <a:ea typeface="Calibri" pitchFamily="34" charset="-122"/>
                <a:cs typeface="Calibri" pitchFamily="34" charset="-120"/>
              </a:rPr>
              <a:t>So arbeitest du mit:</a:t>
            </a:r>
            <a:endParaRPr lang="en-US" sz="1300" dirty="0"/>
          </a:p>
        </p:txBody>
      </p:sp>
      <p:sp>
        <p:nvSpPr>
          <p:cNvPr id="19" name="Text 16"/>
          <p:cNvSpPr txBox="1"/>
          <p:nvPr/>
        </p:nvSpPr>
        <p:spPr>
          <a:xfrm>
            <a:off x="2194560" y="4434840"/>
            <a:ext cx="9235440" cy="1005840"/>
          </a:xfrm>
          <a:prstGeom prst="rect">
            <a:avLst/>
          </a:prstGeom>
          <a:noFill/>
          <a:ln/>
        </p:spPr>
        <p:txBody>
          <a:bodyPr wrap="square" lIns="0" tIns="0" rIns="0" bIns="0" rtlCol="0" anchor="t"/>
          <a:lstStyle/>
          <a:p>
            <a:pPr indent="0" marL="0">
              <a:buNone/>
            </a:pPr>
            <a:r>
              <a:rPr lang="en-US" sz="1800" dirty="0">
                <a:solidFill>
                  <a:srgbClr val="1E2761"/>
                </a:solidFill>
                <a:latin typeface="Calibri" pitchFamily="34" charset="0"/>
                <a:ea typeface="Calibri" pitchFamily="34" charset="-122"/>
                <a:cs typeface="Calibri" pitchFamily="34" charset="-120"/>
              </a:rPr>
              <a:t>Ich melde mich regelmäßig von mir aus. Ich erkenne das Problem, ordne es in einen größeren Zusammenhang ein, beurteile es sachlich und bringe eigene Gedanken ein. Ich drücke mich klar und mit Fachbegriffen aus.</a:t>
            </a:r>
            <a:endParaRPr lang="en-US" sz="1800" dirty="0"/>
          </a:p>
        </p:txBody>
      </p:sp>
      <p:sp>
        <p:nvSpPr>
          <p:cNvPr id="20" name="Text 17"/>
          <p:cNvSpPr txBox="1"/>
          <p:nvPr/>
        </p:nvSpPr>
        <p:spPr>
          <a:xfrm>
            <a:off x="2194560" y="5532120"/>
            <a:ext cx="9235440" cy="365760"/>
          </a:xfrm>
          <a:prstGeom prst="rect">
            <a:avLst/>
          </a:prstGeom>
          <a:noFill/>
          <a:ln/>
        </p:spPr>
        <p:txBody>
          <a:bodyPr wrap="square" lIns="0" tIns="0" rIns="0" bIns="0" rtlCol="0" anchor="t"/>
          <a:lstStyle/>
          <a:p>
            <a:pPr indent="0" marL="0">
              <a:buNone/>
            </a:pPr>
            <a:r>
              <a:rPr lang="en-US" sz="1500" b="1" dirty="0">
                <a:solidFill>
                  <a:srgbClr val="2E9E6B"/>
                </a:solidFill>
                <a:latin typeface="Calibri" pitchFamily="34" charset="0"/>
                <a:ea typeface="Calibri" pitchFamily="34" charset="-122"/>
                <a:cs typeface="Calibri" pitchFamily="34" charset="-120"/>
              </a:rPr>
              <a:t>Bedeutung: </a:t>
            </a:r>
            <a:pPr indent="0" marL="0">
              <a:buNone/>
            </a:pPr>
            <a:r>
              <a:rPr lang="en-US" sz="1500" i="1" dirty="0">
                <a:solidFill>
                  <a:srgbClr val="1E2761"/>
                </a:solidFill>
                <a:latin typeface="Calibri" pitchFamily="34" charset="0"/>
                <a:ea typeface="Calibri" pitchFamily="34" charset="-122"/>
                <a:cs typeface="Calibri" pitchFamily="34" charset="-120"/>
              </a:rPr>
              <a:t>Die Leistung entspricht den Anforderungen in ganz besonderem Maße.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EIN BEISPIEL AUS UNSEREM UNTERRICHT</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Warum steht im Bericht das Präteritum?</a:t>
            </a:r>
            <a:endParaRPr lang="en-US" sz="32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Mündliche Noten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548640" y="1691640"/>
            <a:ext cx="731520" cy="731520"/>
          </a:xfrm>
          <a:prstGeom prst="ellipse">
            <a:avLst/>
          </a:prstGeom>
          <a:solidFill>
            <a:srgbClr val="E8A33D"/>
          </a:solidFill>
          <a:ln/>
        </p:spPr>
      </p:sp>
      <p:sp>
        <p:nvSpPr>
          <p:cNvPr id="8" name="Text 5"/>
          <p:cNvSpPr txBox="1"/>
          <p:nvPr/>
        </p:nvSpPr>
        <p:spPr>
          <a:xfrm>
            <a:off x="548640" y="1691640"/>
            <a:ext cx="731520" cy="731520"/>
          </a:xfrm>
          <a:prstGeom prst="rect">
            <a:avLst/>
          </a:prstGeom>
          <a:noFill/>
          <a:ln/>
        </p:spPr>
        <p:txBody>
          <a:bodyPr wrap="square" lIns="0" tIns="0" rIns="0" bIns="0" rtlCol="0" anchor="ctr"/>
          <a:lstStyle/>
          <a:p>
            <a:pPr algn="ctr" indent="0" marL="0">
              <a:buNone/>
            </a:pPr>
            <a:r>
              <a:rPr lang="en-US" sz="2720" b="1" dirty="0">
                <a:solidFill>
                  <a:srgbClr val="FFFFFF"/>
                </a:solidFill>
                <a:latin typeface="Cambria" pitchFamily="34" charset="0"/>
                <a:ea typeface="Cambria" pitchFamily="34" charset="-122"/>
                <a:cs typeface="Cambria" pitchFamily="34" charset="-120"/>
              </a:rPr>
              <a:t>4</a:t>
            </a:r>
            <a:endParaRPr lang="en-US" sz="2720" dirty="0"/>
          </a:p>
        </p:txBody>
      </p:sp>
      <p:sp>
        <p:nvSpPr>
          <p:cNvPr id="9" name="Shape 6"/>
          <p:cNvSpPr/>
          <p:nvPr/>
        </p:nvSpPr>
        <p:spPr>
          <a:xfrm>
            <a:off x="1463040" y="1554480"/>
            <a:ext cx="10149840" cy="1051560"/>
          </a:xfrm>
          <a:prstGeom prst="roundRect">
            <a:avLst>
              <a:gd name="adj" fmla="val 6957"/>
            </a:avLst>
          </a:prstGeom>
          <a:solidFill>
            <a:srgbClr val="F4F7FD"/>
          </a:solidFill>
          <a:ln/>
        </p:spPr>
      </p:sp>
      <p:sp>
        <p:nvSpPr>
          <p:cNvPr id="10" name="Text 7"/>
          <p:cNvSpPr txBox="1"/>
          <p:nvPr/>
        </p:nvSpPr>
        <p:spPr>
          <a:xfrm>
            <a:off x="1691640" y="1664208"/>
            <a:ext cx="9784080" cy="640080"/>
          </a:xfrm>
          <a:prstGeom prst="rect">
            <a:avLst/>
          </a:prstGeom>
          <a:noFill/>
          <a:ln/>
        </p:spPr>
        <p:txBody>
          <a:bodyPr wrap="square" lIns="0" tIns="0" rIns="0" bIns="0" rtlCol="0" anchor="t"/>
          <a:lstStyle/>
          <a:p>
            <a:pPr indent="0" marL="0">
              <a:buNone/>
            </a:pPr>
            <a:r>
              <a:rPr lang="en-US" sz="1500" dirty="0">
                <a:solidFill>
                  <a:srgbClr val="1E2761"/>
                </a:solidFill>
                <a:latin typeface="Calibri" pitchFamily="34" charset="0"/>
                <a:ea typeface="Calibri" pitchFamily="34" charset="-122"/>
                <a:cs typeface="Calibri" pitchFamily="34" charset="-120"/>
              </a:rPr>
              <a:t>„Weil das Vergangenheit ist.“</a:t>
            </a:r>
            <a:endParaRPr lang="en-US" sz="1500" dirty="0"/>
          </a:p>
        </p:txBody>
      </p:sp>
      <p:sp>
        <p:nvSpPr>
          <p:cNvPr id="11" name="Text 8"/>
          <p:cNvSpPr txBox="1"/>
          <p:nvPr/>
        </p:nvSpPr>
        <p:spPr>
          <a:xfrm>
            <a:off x="1691640" y="2286000"/>
            <a:ext cx="9784080" cy="274320"/>
          </a:xfrm>
          <a:prstGeom prst="rect">
            <a:avLst/>
          </a:prstGeom>
          <a:noFill/>
          <a:ln/>
        </p:spPr>
        <p:txBody>
          <a:bodyPr wrap="square" lIns="0" tIns="0" rIns="0" bIns="0" rtlCol="0" anchor="t"/>
          <a:lstStyle/>
          <a:p>
            <a:pPr indent="0" marL="0">
              <a:buNone/>
            </a:pPr>
            <a:r>
              <a:rPr lang="en-US" sz="1200" b="1" i="1" dirty="0">
                <a:solidFill>
                  <a:srgbClr val="E8A33D"/>
                </a:solidFill>
                <a:latin typeface="Calibri" pitchFamily="34" charset="0"/>
                <a:ea typeface="Calibri" pitchFamily="34" charset="-122"/>
                <a:cs typeface="Calibri" pitchFamily="34" charset="-120"/>
              </a:rPr>
              <a:t>richtig, aber nur Wiedergabe</a:t>
            </a:r>
            <a:endParaRPr lang="en-US" sz="1200" dirty="0"/>
          </a:p>
        </p:txBody>
      </p:sp>
      <p:sp>
        <p:nvSpPr>
          <p:cNvPr id="12" name="Shape 9"/>
          <p:cNvSpPr/>
          <p:nvPr/>
        </p:nvSpPr>
        <p:spPr>
          <a:xfrm>
            <a:off x="548640" y="2880360"/>
            <a:ext cx="731520" cy="731520"/>
          </a:xfrm>
          <a:prstGeom prst="ellipse">
            <a:avLst/>
          </a:prstGeom>
          <a:solidFill>
            <a:srgbClr val="9DB84A"/>
          </a:solidFill>
          <a:ln/>
        </p:spPr>
      </p:sp>
      <p:sp>
        <p:nvSpPr>
          <p:cNvPr id="13" name="Text 10"/>
          <p:cNvSpPr txBox="1"/>
          <p:nvPr/>
        </p:nvSpPr>
        <p:spPr>
          <a:xfrm>
            <a:off x="548640" y="2880360"/>
            <a:ext cx="731520" cy="731520"/>
          </a:xfrm>
          <a:prstGeom prst="rect">
            <a:avLst/>
          </a:prstGeom>
          <a:noFill/>
          <a:ln/>
        </p:spPr>
        <p:txBody>
          <a:bodyPr wrap="square" lIns="0" tIns="0" rIns="0" bIns="0" rtlCol="0" anchor="ctr"/>
          <a:lstStyle/>
          <a:p>
            <a:pPr algn="ctr" indent="0" marL="0">
              <a:buNone/>
            </a:pPr>
            <a:r>
              <a:rPr lang="en-US" sz="2720" b="1" dirty="0">
                <a:solidFill>
                  <a:srgbClr val="FFFFFF"/>
                </a:solidFill>
                <a:latin typeface="Cambria" pitchFamily="34" charset="0"/>
                <a:ea typeface="Cambria" pitchFamily="34" charset="-122"/>
                <a:cs typeface="Cambria" pitchFamily="34" charset="-120"/>
              </a:rPr>
              <a:t>3</a:t>
            </a:r>
            <a:endParaRPr lang="en-US" sz="2720" dirty="0"/>
          </a:p>
        </p:txBody>
      </p:sp>
      <p:sp>
        <p:nvSpPr>
          <p:cNvPr id="14" name="Shape 11"/>
          <p:cNvSpPr/>
          <p:nvPr/>
        </p:nvSpPr>
        <p:spPr>
          <a:xfrm>
            <a:off x="1463040" y="2743200"/>
            <a:ext cx="10149840" cy="1051560"/>
          </a:xfrm>
          <a:prstGeom prst="roundRect">
            <a:avLst>
              <a:gd name="adj" fmla="val 6957"/>
            </a:avLst>
          </a:prstGeom>
          <a:solidFill>
            <a:srgbClr val="F4F7FD"/>
          </a:solidFill>
          <a:ln/>
        </p:spPr>
      </p:sp>
      <p:sp>
        <p:nvSpPr>
          <p:cNvPr id="15" name="Text 12"/>
          <p:cNvSpPr txBox="1"/>
          <p:nvPr/>
        </p:nvSpPr>
        <p:spPr>
          <a:xfrm>
            <a:off x="1691640" y="2852928"/>
            <a:ext cx="9784080" cy="640080"/>
          </a:xfrm>
          <a:prstGeom prst="rect">
            <a:avLst/>
          </a:prstGeom>
          <a:noFill/>
          <a:ln/>
        </p:spPr>
        <p:txBody>
          <a:bodyPr wrap="square" lIns="0" tIns="0" rIns="0" bIns="0" rtlCol="0" anchor="t"/>
          <a:lstStyle/>
          <a:p>
            <a:pPr indent="0" marL="0">
              <a:buNone/>
            </a:pPr>
            <a:r>
              <a:rPr lang="en-US" sz="1500" dirty="0">
                <a:solidFill>
                  <a:srgbClr val="1E2761"/>
                </a:solidFill>
                <a:latin typeface="Calibri" pitchFamily="34" charset="0"/>
                <a:ea typeface="Calibri" pitchFamily="34" charset="-122"/>
                <a:cs typeface="Calibri" pitchFamily="34" charset="-120"/>
              </a:rPr>
              <a:t>„Weil der Bericht etwas Vergangenes erzählt. Das haben wir beim Zeitstrahl gelernt: Was man aufschreibt, steht im Präteritum.“</a:t>
            </a:r>
            <a:endParaRPr lang="en-US" sz="1500" dirty="0"/>
          </a:p>
        </p:txBody>
      </p:sp>
      <p:sp>
        <p:nvSpPr>
          <p:cNvPr id="16" name="Text 13"/>
          <p:cNvSpPr txBox="1"/>
          <p:nvPr/>
        </p:nvSpPr>
        <p:spPr>
          <a:xfrm>
            <a:off x="1691640" y="3474720"/>
            <a:ext cx="9784080" cy="274320"/>
          </a:xfrm>
          <a:prstGeom prst="rect">
            <a:avLst/>
          </a:prstGeom>
          <a:noFill/>
          <a:ln/>
        </p:spPr>
        <p:txBody>
          <a:bodyPr wrap="square" lIns="0" tIns="0" rIns="0" bIns="0" rtlCol="0" anchor="t"/>
          <a:lstStyle/>
          <a:p>
            <a:pPr indent="0" marL="0">
              <a:buNone/>
            </a:pPr>
            <a:r>
              <a:rPr lang="en-US" sz="1200" b="1" i="1" dirty="0">
                <a:solidFill>
                  <a:srgbClr val="9DB84A"/>
                </a:solidFill>
                <a:latin typeface="Calibri" pitchFamily="34" charset="0"/>
                <a:ea typeface="Calibri" pitchFamily="34" charset="-122"/>
                <a:cs typeface="Calibri" pitchFamily="34" charset="-120"/>
              </a:rPr>
              <a:t>richtig und mit früherem Stoff verknüpft</a:t>
            </a:r>
            <a:endParaRPr lang="en-US" sz="1200" dirty="0"/>
          </a:p>
        </p:txBody>
      </p:sp>
      <p:sp>
        <p:nvSpPr>
          <p:cNvPr id="17" name="Shape 14"/>
          <p:cNvSpPr/>
          <p:nvPr/>
        </p:nvSpPr>
        <p:spPr>
          <a:xfrm>
            <a:off x="548640" y="4069080"/>
            <a:ext cx="731520" cy="731520"/>
          </a:xfrm>
          <a:prstGeom prst="ellipse">
            <a:avLst/>
          </a:prstGeom>
          <a:solidFill>
            <a:srgbClr val="5AAE62"/>
          </a:solidFill>
          <a:ln/>
        </p:spPr>
      </p:sp>
      <p:sp>
        <p:nvSpPr>
          <p:cNvPr id="18" name="Text 15"/>
          <p:cNvSpPr txBox="1"/>
          <p:nvPr/>
        </p:nvSpPr>
        <p:spPr>
          <a:xfrm>
            <a:off x="548640" y="4069080"/>
            <a:ext cx="731520" cy="731520"/>
          </a:xfrm>
          <a:prstGeom prst="rect">
            <a:avLst/>
          </a:prstGeom>
          <a:noFill/>
          <a:ln/>
        </p:spPr>
        <p:txBody>
          <a:bodyPr wrap="square" lIns="0" tIns="0" rIns="0" bIns="0" rtlCol="0" anchor="ctr"/>
          <a:lstStyle/>
          <a:p>
            <a:pPr algn="ctr" indent="0" marL="0">
              <a:buNone/>
            </a:pPr>
            <a:r>
              <a:rPr lang="en-US" sz="2720" b="1" dirty="0">
                <a:solidFill>
                  <a:srgbClr val="FFFFFF"/>
                </a:solidFill>
                <a:latin typeface="Cambria" pitchFamily="34" charset="0"/>
                <a:ea typeface="Cambria" pitchFamily="34" charset="-122"/>
                <a:cs typeface="Cambria" pitchFamily="34" charset="-120"/>
              </a:rPr>
              <a:t>2</a:t>
            </a:r>
            <a:endParaRPr lang="en-US" sz="2720" dirty="0"/>
          </a:p>
        </p:txBody>
      </p:sp>
      <p:sp>
        <p:nvSpPr>
          <p:cNvPr id="19" name="Shape 16"/>
          <p:cNvSpPr/>
          <p:nvPr/>
        </p:nvSpPr>
        <p:spPr>
          <a:xfrm>
            <a:off x="1463040" y="3931920"/>
            <a:ext cx="10149840" cy="1051560"/>
          </a:xfrm>
          <a:prstGeom prst="roundRect">
            <a:avLst>
              <a:gd name="adj" fmla="val 6957"/>
            </a:avLst>
          </a:prstGeom>
          <a:solidFill>
            <a:srgbClr val="F4F7FD"/>
          </a:solidFill>
          <a:ln/>
        </p:spPr>
      </p:sp>
      <p:sp>
        <p:nvSpPr>
          <p:cNvPr id="20" name="Text 17"/>
          <p:cNvSpPr txBox="1"/>
          <p:nvPr/>
        </p:nvSpPr>
        <p:spPr>
          <a:xfrm>
            <a:off x="1691640" y="4041648"/>
            <a:ext cx="9784080" cy="640080"/>
          </a:xfrm>
          <a:prstGeom prst="rect">
            <a:avLst/>
          </a:prstGeom>
          <a:noFill/>
          <a:ln/>
        </p:spPr>
        <p:txBody>
          <a:bodyPr wrap="square" lIns="0" tIns="0" rIns="0" bIns="0" rtlCol="0" anchor="t"/>
          <a:lstStyle/>
          <a:p>
            <a:pPr indent="0" marL="0">
              <a:buNone/>
            </a:pPr>
            <a:r>
              <a:rPr lang="en-US" sz="1500" dirty="0">
                <a:solidFill>
                  <a:srgbClr val="1E2761"/>
                </a:solidFill>
                <a:latin typeface="Calibri" pitchFamily="34" charset="0"/>
                <a:ea typeface="Calibri" pitchFamily="34" charset="-122"/>
                <a:cs typeface="Calibri" pitchFamily="34" charset="-120"/>
              </a:rPr>
              <a:t>„Ein Bericht ist geschrieben, deshalb Präteritum. Wenn ich es mündlich erzähle, nehme ich das Perfekt – der Unterschied liegt also nicht in der Zeit, sondern darin, ob ich schreibe oder spreche.“</a:t>
            </a:r>
            <a:endParaRPr lang="en-US" sz="1500" dirty="0"/>
          </a:p>
        </p:txBody>
      </p:sp>
      <p:sp>
        <p:nvSpPr>
          <p:cNvPr id="21" name="Text 18"/>
          <p:cNvSpPr txBox="1"/>
          <p:nvPr/>
        </p:nvSpPr>
        <p:spPr>
          <a:xfrm>
            <a:off x="1691640" y="4663440"/>
            <a:ext cx="9784080" cy="274320"/>
          </a:xfrm>
          <a:prstGeom prst="rect">
            <a:avLst/>
          </a:prstGeom>
          <a:noFill/>
          <a:ln/>
        </p:spPr>
        <p:txBody>
          <a:bodyPr wrap="square" lIns="0" tIns="0" rIns="0" bIns="0" rtlCol="0" anchor="t"/>
          <a:lstStyle/>
          <a:p>
            <a:pPr indent="0" marL="0">
              <a:buNone/>
            </a:pPr>
            <a:r>
              <a:rPr lang="en-US" sz="1200" b="1" i="1" dirty="0">
                <a:solidFill>
                  <a:srgbClr val="5AAE62"/>
                </a:solidFill>
                <a:latin typeface="Calibri" pitchFamily="34" charset="0"/>
                <a:ea typeface="Calibri" pitchFamily="34" charset="-122"/>
                <a:cs typeface="Calibri" pitchFamily="34" charset="-120"/>
              </a:rPr>
              <a:t>verstanden, eingeordnet, das Wesentliche erkannt</a:t>
            </a:r>
            <a:endParaRPr lang="en-US" sz="1200" dirty="0"/>
          </a:p>
        </p:txBody>
      </p:sp>
      <p:sp>
        <p:nvSpPr>
          <p:cNvPr id="22" name="Shape 19"/>
          <p:cNvSpPr/>
          <p:nvPr/>
        </p:nvSpPr>
        <p:spPr>
          <a:xfrm>
            <a:off x="548640" y="5257800"/>
            <a:ext cx="731520" cy="731520"/>
          </a:xfrm>
          <a:prstGeom prst="ellipse">
            <a:avLst/>
          </a:prstGeom>
          <a:solidFill>
            <a:srgbClr val="2E9E6B"/>
          </a:solidFill>
          <a:ln/>
        </p:spPr>
      </p:sp>
      <p:sp>
        <p:nvSpPr>
          <p:cNvPr id="23" name="Text 20"/>
          <p:cNvSpPr txBox="1"/>
          <p:nvPr/>
        </p:nvSpPr>
        <p:spPr>
          <a:xfrm>
            <a:off x="548640" y="5257800"/>
            <a:ext cx="731520" cy="731520"/>
          </a:xfrm>
          <a:prstGeom prst="rect">
            <a:avLst/>
          </a:prstGeom>
          <a:noFill/>
          <a:ln/>
        </p:spPr>
        <p:txBody>
          <a:bodyPr wrap="square" lIns="0" tIns="0" rIns="0" bIns="0" rtlCol="0" anchor="ctr"/>
          <a:lstStyle/>
          <a:p>
            <a:pPr algn="ctr" indent="0" marL="0">
              <a:buNone/>
            </a:pPr>
            <a:r>
              <a:rPr lang="en-US" sz="2720" b="1" dirty="0">
                <a:solidFill>
                  <a:srgbClr val="FFFFFF"/>
                </a:solidFill>
                <a:latin typeface="Cambria" pitchFamily="34" charset="0"/>
                <a:ea typeface="Cambria" pitchFamily="34" charset="-122"/>
                <a:cs typeface="Cambria" pitchFamily="34" charset="-120"/>
              </a:rPr>
              <a:t>1</a:t>
            </a:r>
            <a:endParaRPr lang="en-US" sz="2720" dirty="0"/>
          </a:p>
        </p:txBody>
      </p:sp>
      <p:sp>
        <p:nvSpPr>
          <p:cNvPr id="24" name="Shape 21"/>
          <p:cNvSpPr/>
          <p:nvPr/>
        </p:nvSpPr>
        <p:spPr>
          <a:xfrm>
            <a:off x="1463040" y="5120640"/>
            <a:ext cx="10149840" cy="1051560"/>
          </a:xfrm>
          <a:prstGeom prst="roundRect">
            <a:avLst>
              <a:gd name="adj" fmla="val 6957"/>
            </a:avLst>
          </a:prstGeom>
          <a:solidFill>
            <a:srgbClr val="F4F7FD"/>
          </a:solidFill>
          <a:ln/>
        </p:spPr>
      </p:sp>
      <p:sp>
        <p:nvSpPr>
          <p:cNvPr id="25" name="Text 22"/>
          <p:cNvSpPr txBox="1"/>
          <p:nvPr/>
        </p:nvSpPr>
        <p:spPr>
          <a:xfrm>
            <a:off x="1691640" y="5230368"/>
            <a:ext cx="9784080" cy="640080"/>
          </a:xfrm>
          <a:prstGeom prst="rect">
            <a:avLst/>
          </a:prstGeom>
          <a:noFill/>
          <a:ln/>
        </p:spPr>
        <p:txBody>
          <a:bodyPr wrap="square" lIns="0" tIns="0" rIns="0" bIns="0" rtlCol="0" anchor="t"/>
          <a:lstStyle/>
          <a:p>
            <a:pPr indent="0" marL="0">
              <a:buNone/>
            </a:pPr>
            <a:r>
              <a:rPr lang="en-US" sz="1500" dirty="0">
                <a:solidFill>
                  <a:srgbClr val="1E2761"/>
                </a:solidFill>
                <a:latin typeface="Calibri" pitchFamily="34" charset="0"/>
                <a:ea typeface="Calibri" pitchFamily="34" charset="-122"/>
                <a:cs typeface="Calibri" pitchFamily="34" charset="-120"/>
              </a:rPr>
              <a:t>„… und das Plusquamperfekt brauche ich, wenn ich im Bericht die Vorgeschichte erzähle. Ich finde, dadurch wird ein Bericht spannender, weil man versteht, warum etwas passiert ist.“</a:t>
            </a:r>
            <a:endParaRPr lang="en-US" sz="1500" dirty="0"/>
          </a:p>
        </p:txBody>
      </p:sp>
      <p:sp>
        <p:nvSpPr>
          <p:cNvPr id="26" name="Text 23"/>
          <p:cNvSpPr txBox="1"/>
          <p:nvPr/>
        </p:nvSpPr>
        <p:spPr>
          <a:xfrm>
            <a:off x="1691640" y="5852160"/>
            <a:ext cx="9784080" cy="274320"/>
          </a:xfrm>
          <a:prstGeom prst="rect">
            <a:avLst/>
          </a:prstGeom>
          <a:noFill/>
          <a:ln/>
        </p:spPr>
        <p:txBody>
          <a:bodyPr wrap="square" lIns="0" tIns="0" rIns="0" bIns="0" rtlCol="0" anchor="t"/>
          <a:lstStyle/>
          <a:p>
            <a:pPr indent="0" marL="0">
              <a:buNone/>
            </a:pPr>
            <a:r>
              <a:rPr lang="en-US" sz="1200" b="1" i="1" dirty="0">
                <a:solidFill>
                  <a:srgbClr val="2E9E6B"/>
                </a:solidFill>
                <a:latin typeface="Calibri" pitchFamily="34" charset="0"/>
                <a:ea typeface="Calibri" pitchFamily="34" charset="-122"/>
                <a:cs typeface="Calibri" pitchFamily="34" charset="-120"/>
              </a:rPr>
              <a:t>eigener Gedanke, begründet und klar formuliert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UNTERRICHTSSTÖRUNGEN</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Was stört den Unterricht?</a:t>
            </a:r>
            <a:endParaRPr lang="en-US" sz="32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Mündliche Noten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8</a:t>
            </a:r>
            <a:endParaRPr lang="en-US" sz="1000" dirty="0"/>
          </a:p>
        </p:txBody>
      </p:sp>
      <p:sp>
        <p:nvSpPr>
          <p:cNvPr id="7" name="Shape 4"/>
          <p:cNvSpPr/>
          <p:nvPr/>
        </p:nvSpPr>
        <p:spPr>
          <a:xfrm>
            <a:off x="548640" y="1600200"/>
            <a:ext cx="5440680" cy="1234440"/>
          </a:xfrm>
          <a:prstGeom prst="roundRect">
            <a:avLst>
              <a:gd name="adj" fmla="val 5926"/>
            </a:avLst>
          </a:prstGeom>
          <a:solidFill>
            <a:srgbClr val="F4F7FD"/>
          </a:solidFill>
          <a:ln/>
        </p:spPr>
      </p:sp>
      <p:sp>
        <p:nvSpPr>
          <p:cNvPr id="8" name="Shape 5"/>
          <p:cNvSpPr/>
          <p:nvPr/>
        </p:nvSpPr>
        <p:spPr>
          <a:xfrm>
            <a:off x="548640" y="1600200"/>
            <a:ext cx="109728" cy="1234440"/>
          </a:xfrm>
          <a:prstGeom prst="rect">
            <a:avLst/>
          </a:prstGeom>
          <a:solidFill>
            <a:srgbClr val="D9534F"/>
          </a:solidFill>
          <a:ln/>
        </p:spPr>
      </p:sp>
      <p:sp>
        <p:nvSpPr>
          <p:cNvPr id="9" name="Text 6"/>
          <p:cNvSpPr txBox="1"/>
          <p:nvPr/>
        </p:nvSpPr>
        <p:spPr>
          <a:xfrm>
            <a:off x="914400" y="1801368"/>
            <a:ext cx="4937760" cy="411480"/>
          </a:xfrm>
          <a:prstGeom prst="rect">
            <a:avLst/>
          </a:prstGeom>
          <a:noFill/>
          <a:ln/>
        </p:spPr>
        <p:txBody>
          <a:bodyPr wrap="square" lIns="0" tIns="0" rIns="0" bIns="0" rtlCol="0" anchor="t"/>
          <a:lstStyle/>
          <a:p>
            <a:pPr indent="0" marL="0">
              <a:buNone/>
            </a:pPr>
            <a:r>
              <a:rPr lang="en-US" sz="2200" b="1" dirty="0">
                <a:solidFill>
                  <a:srgbClr val="1E2761"/>
                </a:solidFill>
                <a:latin typeface="Cambria" pitchFamily="34" charset="0"/>
                <a:ea typeface="Cambria" pitchFamily="34" charset="-122"/>
                <a:cs typeface="Cambria" pitchFamily="34" charset="-120"/>
              </a:rPr>
              <a:t>Reinrufen</a:t>
            </a:r>
            <a:endParaRPr lang="en-US" sz="2200" dirty="0"/>
          </a:p>
        </p:txBody>
      </p:sp>
      <p:sp>
        <p:nvSpPr>
          <p:cNvPr id="10" name="Text 7"/>
          <p:cNvSpPr txBox="1"/>
          <p:nvPr/>
        </p:nvSpPr>
        <p:spPr>
          <a:xfrm>
            <a:off x="914400" y="2258568"/>
            <a:ext cx="4937760" cy="411480"/>
          </a:xfrm>
          <a:prstGeom prst="rect">
            <a:avLst/>
          </a:prstGeom>
          <a:noFill/>
          <a:ln/>
        </p:spPr>
        <p:txBody>
          <a:bodyPr wrap="square" lIns="0" tIns="0" rIns="0" bIns="0" rtlCol="0" anchor="t"/>
          <a:lstStyle/>
          <a:p>
            <a:pPr indent="0" marL="0">
              <a:buNone/>
            </a:pPr>
            <a:r>
              <a:rPr lang="en-US" sz="1600" dirty="0">
                <a:solidFill>
                  <a:srgbClr val="5B6B8C"/>
                </a:solidFill>
                <a:latin typeface="Calibri" pitchFamily="34" charset="0"/>
                <a:ea typeface="Calibri" pitchFamily="34" charset="-122"/>
                <a:cs typeface="Calibri" pitchFamily="34" charset="-120"/>
              </a:rPr>
              <a:t>ohne Melden dazwischenreden</a:t>
            </a:r>
            <a:endParaRPr lang="en-US" sz="1600" dirty="0"/>
          </a:p>
        </p:txBody>
      </p:sp>
      <p:sp>
        <p:nvSpPr>
          <p:cNvPr id="11" name="Shape 8"/>
          <p:cNvSpPr/>
          <p:nvPr/>
        </p:nvSpPr>
        <p:spPr>
          <a:xfrm>
            <a:off x="6172200" y="1600200"/>
            <a:ext cx="5440680" cy="1234440"/>
          </a:xfrm>
          <a:prstGeom prst="roundRect">
            <a:avLst>
              <a:gd name="adj" fmla="val 5926"/>
            </a:avLst>
          </a:prstGeom>
          <a:solidFill>
            <a:srgbClr val="F4F7FD"/>
          </a:solidFill>
          <a:ln/>
        </p:spPr>
      </p:sp>
      <p:sp>
        <p:nvSpPr>
          <p:cNvPr id="12" name="Shape 9"/>
          <p:cNvSpPr/>
          <p:nvPr/>
        </p:nvSpPr>
        <p:spPr>
          <a:xfrm>
            <a:off x="6172200" y="1600200"/>
            <a:ext cx="109728" cy="1234440"/>
          </a:xfrm>
          <a:prstGeom prst="rect">
            <a:avLst/>
          </a:prstGeom>
          <a:solidFill>
            <a:srgbClr val="D9534F"/>
          </a:solidFill>
          <a:ln/>
        </p:spPr>
      </p:sp>
      <p:sp>
        <p:nvSpPr>
          <p:cNvPr id="13" name="Text 10"/>
          <p:cNvSpPr txBox="1"/>
          <p:nvPr/>
        </p:nvSpPr>
        <p:spPr>
          <a:xfrm>
            <a:off x="6537960" y="1801368"/>
            <a:ext cx="4937760" cy="411480"/>
          </a:xfrm>
          <a:prstGeom prst="rect">
            <a:avLst/>
          </a:prstGeom>
          <a:noFill/>
          <a:ln/>
        </p:spPr>
        <p:txBody>
          <a:bodyPr wrap="square" lIns="0" tIns="0" rIns="0" bIns="0" rtlCol="0" anchor="t"/>
          <a:lstStyle/>
          <a:p>
            <a:pPr indent="0" marL="0">
              <a:buNone/>
            </a:pPr>
            <a:r>
              <a:rPr lang="en-US" sz="2200" b="1" dirty="0">
                <a:solidFill>
                  <a:srgbClr val="1E2761"/>
                </a:solidFill>
                <a:latin typeface="Cambria" pitchFamily="34" charset="0"/>
                <a:ea typeface="Cambria" pitchFamily="34" charset="-122"/>
                <a:cs typeface="Cambria" pitchFamily="34" charset="-120"/>
              </a:rPr>
              <a:t>Nebengespräche</a:t>
            </a:r>
            <a:endParaRPr lang="en-US" sz="2200" dirty="0"/>
          </a:p>
        </p:txBody>
      </p:sp>
      <p:sp>
        <p:nvSpPr>
          <p:cNvPr id="14" name="Text 11"/>
          <p:cNvSpPr txBox="1"/>
          <p:nvPr/>
        </p:nvSpPr>
        <p:spPr>
          <a:xfrm>
            <a:off x="6537960" y="2258568"/>
            <a:ext cx="4937760" cy="411480"/>
          </a:xfrm>
          <a:prstGeom prst="rect">
            <a:avLst/>
          </a:prstGeom>
          <a:noFill/>
          <a:ln/>
        </p:spPr>
        <p:txBody>
          <a:bodyPr wrap="square" lIns="0" tIns="0" rIns="0" bIns="0" rtlCol="0" anchor="t"/>
          <a:lstStyle/>
          <a:p>
            <a:pPr indent="0" marL="0">
              <a:buNone/>
            </a:pPr>
            <a:r>
              <a:rPr lang="en-US" sz="1600" dirty="0">
                <a:solidFill>
                  <a:srgbClr val="5B6B8C"/>
                </a:solidFill>
                <a:latin typeface="Calibri" pitchFamily="34" charset="0"/>
                <a:ea typeface="Calibri" pitchFamily="34" charset="-122"/>
                <a:cs typeface="Calibri" pitchFamily="34" charset="-120"/>
              </a:rPr>
              <a:t>während jemand anderes spricht oder alle arbeiten</a:t>
            </a:r>
            <a:endParaRPr lang="en-US" sz="1600" dirty="0"/>
          </a:p>
        </p:txBody>
      </p:sp>
      <p:sp>
        <p:nvSpPr>
          <p:cNvPr id="15" name="Shape 12"/>
          <p:cNvSpPr/>
          <p:nvPr/>
        </p:nvSpPr>
        <p:spPr>
          <a:xfrm>
            <a:off x="548640" y="3017520"/>
            <a:ext cx="5440680" cy="1234440"/>
          </a:xfrm>
          <a:prstGeom prst="roundRect">
            <a:avLst>
              <a:gd name="adj" fmla="val 5926"/>
            </a:avLst>
          </a:prstGeom>
          <a:solidFill>
            <a:srgbClr val="F4F7FD"/>
          </a:solidFill>
          <a:ln/>
        </p:spPr>
      </p:sp>
      <p:sp>
        <p:nvSpPr>
          <p:cNvPr id="16" name="Shape 13"/>
          <p:cNvSpPr/>
          <p:nvPr/>
        </p:nvSpPr>
        <p:spPr>
          <a:xfrm>
            <a:off x="548640" y="3017520"/>
            <a:ext cx="109728" cy="1234440"/>
          </a:xfrm>
          <a:prstGeom prst="rect">
            <a:avLst/>
          </a:prstGeom>
          <a:solidFill>
            <a:srgbClr val="D9534F"/>
          </a:solidFill>
          <a:ln/>
        </p:spPr>
      </p:sp>
      <p:sp>
        <p:nvSpPr>
          <p:cNvPr id="17" name="Text 14"/>
          <p:cNvSpPr txBox="1"/>
          <p:nvPr/>
        </p:nvSpPr>
        <p:spPr>
          <a:xfrm>
            <a:off x="914400" y="3218688"/>
            <a:ext cx="4937760" cy="411480"/>
          </a:xfrm>
          <a:prstGeom prst="rect">
            <a:avLst/>
          </a:prstGeom>
          <a:noFill/>
          <a:ln/>
        </p:spPr>
        <p:txBody>
          <a:bodyPr wrap="square" lIns="0" tIns="0" rIns="0" bIns="0" rtlCol="0" anchor="t"/>
          <a:lstStyle/>
          <a:p>
            <a:pPr indent="0" marL="0">
              <a:buNone/>
            </a:pPr>
            <a:r>
              <a:rPr lang="en-US" sz="2200" b="1" dirty="0">
                <a:solidFill>
                  <a:srgbClr val="1E2761"/>
                </a:solidFill>
                <a:latin typeface="Cambria" pitchFamily="34" charset="0"/>
                <a:ea typeface="Cambria" pitchFamily="34" charset="-122"/>
                <a:cs typeface="Cambria" pitchFamily="34" charset="-120"/>
              </a:rPr>
              <a:t>Handy</a:t>
            </a:r>
            <a:endParaRPr lang="en-US" sz="2200" dirty="0"/>
          </a:p>
        </p:txBody>
      </p:sp>
      <p:sp>
        <p:nvSpPr>
          <p:cNvPr id="18" name="Text 15"/>
          <p:cNvSpPr txBox="1"/>
          <p:nvPr/>
        </p:nvSpPr>
        <p:spPr>
          <a:xfrm>
            <a:off x="914400" y="3675888"/>
            <a:ext cx="4937760" cy="411480"/>
          </a:xfrm>
          <a:prstGeom prst="rect">
            <a:avLst/>
          </a:prstGeom>
          <a:noFill/>
          <a:ln/>
        </p:spPr>
        <p:txBody>
          <a:bodyPr wrap="square" lIns="0" tIns="0" rIns="0" bIns="0" rtlCol="0" anchor="t"/>
          <a:lstStyle/>
          <a:p>
            <a:pPr indent="0" marL="0">
              <a:buNone/>
            </a:pPr>
            <a:r>
              <a:rPr lang="en-US" sz="1600" dirty="0">
                <a:solidFill>
                  <a:srgbClr val="5B6B8C"/>
                </a:solidFill>
                <a:latin typeface="Calibri" pitchFamily="34" charset="0"/>
                <a:ea typeface="Calibri" pitchFamily="34" charset="-122"/>
                <a:cs typeface="Calibri" pitchFamily="34" charset="-120"/>
              </a:rPr>
              <a:t>benutzen oder sichtbar auf dem Tisch</a:t>
            </a:r>
            <a:endParaRPr lang="en-US" sz="1600" dirty="0"/>
          </a:p>
        </p:txBody>
      </p:sp>
      <p:sp>
        <p:nvSpPr>
          <p:cNvPr id="19" name="Shape 16"/>
          <p:cNvSpPr/>
          <p:nvPr/>
        </p:nvSpPr>
        <p:spPr>
          <a:xfrm>
            <a:off x="6172200" y="3017520"/>
            <a:ext cx="5440680" cy="1234440"/>
          </a:xfrm>
          <a:prstGeom prst="roundRect">
            <a:avLst>
              <a:gd name="adj" fmla="val 5926"/>
            </a:avLst>
          </a:prstGeom>
          <a:solidFill>
            <a:srgbClr val="F4F7FD"/>
          </a:solidFill>
          <a:ln/>
        </p:spPr>
      </p:sp>
      <p:sp>
        <p:nvSpPr>
          <p:cNvPr id="20" name="Shape 17"/>
          <p:cNvSpPr/>
          <p:nvPr/>
        </p:nvSpPr>
        <p:spPr>
          <a:xfrm>
            <a:off x="6172200" y="3017520"/>
            <a:ext cx="109728" cy="1234440"/>
          </a:xfrm>
          <a:prstGeom prst="rect">
            <a:avLst/>
          </a:prstGeom>
          <a:solidFill>
            <a:srgbClr val="D9534F"/>
          </a:solidFill>
          <a:ln/>
        </p:spPr>
      </p:sp>
      <p:sp>
        <p:nvSpPr>
          <p:cNvPr id="21" name="Text 18"/>
          <p:cNvSpPr txBox="1"/>
          <p:nvPr/>
        </p:nvSpPr>
        <p:spPr>
          <a:xfrm>
            <a:off x="6537960" y="3218688"/>
            <a:ext cx="4937760" cy="411480"/>
          </a:xfrm>
          <a:prstGeom prst="rect">
            <a:avLst/>
          </a:prstGeom>
          <a:noFill/>
          <a:ln/>
        </p:spPr>
        <p:txBody>
          <a:bodyPr wrap="square" lIns="0" tIns="0" rIns="0" bIns="0" rtlCol="0" anchor="t"/>
          <a:lstStyle/>
          <a:p>
            <a:pPr indent="0" marL="0">
              <a:buNone/>
            </a:pPr>
            <a:r>
              <a:rPr lang="en-US" sz="2200" b="1" dirty="0">
                <a:solidFill>
                  <a:srgbClr val="1E2761"/>
                </a:solidFill>
                <a:latin typeface="Cambria" pitchFamily="34" charset="0"/>
                <a:ea typeface="Cambria" pitchFamily="34" charset="-122"/>
                <a:cs typeface="Cambria" pitchFamily="34" charset="-120"/>
              </a:rPr>
              <a:t>Nicht arbeiten</a:t>
            </a:r>
            <a:endParaRPr lang="en-US" sz="2200" dirty="0"/>
          </a:p>
        </p:txBody>
      </p:sp>
      <p:sp>
        <p:nvSpPr>
          <p:cNvPr id="22" name="Text 19"/>
          <p:cNvSpPr txBox="1"/>
          <p:nvPr/>
        </p:nvSpPr>
        <p:spPr>
          <a:xfrm>
            <a:off x="6537960" y="3675888"/>
            <a:ext cx="4937760" cy="411480"/>
          </a:xfrm>
          <a:prstGeom prst="rect">
            <a:avLst/>
          </a:prstGeom>
          <a:noFill/>
          <a:ln/>
        </p:spPr>
        <p:txBody>
          <a:bodyPr wrap="square" lIns="0" tIns="0" rIns="0" bIns="0" rtlCol="0" anchor="t"/>
          <a:lstStyle/>
          <a:p>
            <a:pPr indent="0" marL="0">
              <a:buNone/>
            </a:pPr>
            <a:r>
              <a:rPr lang="en-US" sz="1600" dirty="0">
                <a:solidFill>
                  <a:srgbClr val="5B6B8C"/>
                </a:solidFill>
                <a:latin typeface="Calibri" pitchFamily="34" charset="0"/>
                <a:ea typeface="Calibri" pitchFamily="34" charset="-122"/>
                <a:cs typeface="Calibri" pitchFamily="34" charset="-120"/>
              </a:rPr>
              <a:t>Aufgabe liegen lassen, andere ablenken</a:t>
            </a:r>
            <a:endParaRPr lang="en-US" sz="1600" dirty="0"/>
          </a:p>
        </p:txBody>
      </p:sp>
      <p:sp>
        <p:nvSpPr>
          <p:cNvPr id="23" name="Shape 20"/>
          <p:cNvSpPr/>
          <p:nvPr/>
        </p:nvSpPr>
        <p:spPr>
          <a:xfrm>
            <a:off x="548640" y="4434840"/>
            <a:ext cx="5440680" cy="1234440"/>
          </a:xfrm>
          <a:prstGeom prst="roundRect">
            <a:avLst>
              <a:gd name="adj" fmla="val 5926"/>
            </a:avLst>
          </a:prstGeom>
          <a:solidFill>
            <a:srgbClr val="F4F7FD"/>
          </a:solidFill>
          <a:ln/>
        </p:spPr>
      </p:sp>
      <p:sp>
        <p:nvSpPr>
          <p:cNvPr id="24" name="Shape 21"/>
          <p:cNvSpPr/>
          <p:nvPr/>
        </p:nvSpPr>
        <p:spPr>
          <a:xfrm>
            <a:off x="548640" y="4434840"/>
            <a:ext cx="109728" cy="1234440"/>
          </a:xfrm>
          <a:prstGeom prst="rect">
            <a:avLst/>
          </a:prstGeom>
          <a:solidFill>
            <a:srgbClr val="D9534F"/>
          </a:solidFill>
          <a:ln/>
        </p:spPr>
      </p:sp>
      <p:sp>
        <p:nvSpPr>
          <p:cNvPr id="25" name="Text 22"/>
          <p:cNvSpPr txBox="1"/>
          <p:nvPr/>
        </p:nvSpPr>
        <p:spPr>
          <a:xfrm>
            <a:off x="914400" y="4636008"/>
            <a:ext cx="4937760" cy="411480"/>
          </a:xfrm>
          <a:prstGeom prst="rect">
            <a:avLst/>
          </a:prstGeom>
          <a:noFill/>
          <a:ln/>
        </p:spPr>
        <p:txBody>
          <a:bodyPr wrap="square" lIns="0" tIns="0" rIns="0" bIns="0" rtlCol="0" anchor="t"/>
          <a:lstStyle/>
          <a:p>
            <a:pPr indent="0" marL="0">
              <a:buNone/>
            </a:pPr>
            <a:r>
              <a:rPr lang="en-US" sz="2200" b="1" dirty="0">
                <a:solidFill>
                  <a:srgbClr val="1E2761"/>
                </a:solidFill>
                <a:latin typeface="Cambria" pitchFamily="34" charset="0"/>
                <a:ea typeface="Cambria" pitchFamily="34" charset="-122"/>
                <a:cs typeface="Cambria" pitchFamily="34" charset="-120"/>
              </a:rPr>
              <a:t>Herumlaufen</a:t>
            </a:r>
            <a:endParaRPr lang="en-US" sz="2200" dirty="0"/>
          </a:p>
        </p:txBody>
      </p:sp>
      <p:sp>
        <p:nvSpPr>
          <p:cNvPr id="26" name="Text 23"/>
          <p:cNvSpPr txBox="1"/>
          <p:nvPr/>
        </p:nvSpPr>
        <p:spPr>
          <a:xfrm>
            <a:off x="914400" y="5093208"/>
            <a:ext cx="4937760" cy="411480"/>
          </a:xfrm>
          <a:prstGeom prst="rect">
            <a:avLst/>
          </a:prstGeom>
          <a:noFill/>
          <a:ln/>
        </p:spPr>
        <p:txBody>
          <a:bodyPr wrap="square" lIns="0" tIns="0" rIns="0" bIns="0" rtlCol="0" anchor="t"/>
          <a:lstStyle/>
          <a:p>
            <a:pPr indent="0" marL="0">
              <a:buNone/>
            </a:pPr>
            <a:r>
              <a:rPr lang="en-US" sz="1600" dirty="0">
                <a:solidFill>
                  <a:srgbClr val="5B6B8C"/>
                </a:solidFill>
                <a:latin typeface="Calibri" pitchFamily="34" charset="0"/>
                <a:ea typeface="Calibri" pitchFamily="34" charset="-122"/>
                <a:cs typeface="Calibri" pitchFamily="34" charset="-120"/>
              </a:rPr>
              <a:t>ohne Auftrag den Platz verlassen</a:t>
            </a:r>
            <a:endParaRPr lang="en-US" sz="1600" dirty="0"/>
          </a:p>
        </p:txBody>
      </p:sp>
      <p:sp>
        <p:nvSpPr>
          <p:cNvPr id="27" name="Shape 24"/>
          <p:cNvSpPr/>
          <p:nvPr/>
        </p:nvSpPr>
        <p:spPr>
          <a:xfrm>
            <a:off x="6172200" y="4434840"/>
            <a:ext cx="5440680" cy="1234440"/>
          </a:xfrm>
          <a:prstGeom prst="roundRect">
            <a:avLst>
              <a:gd name="adj" fmla="val 5926"/>
            </a:avLst>
          </a:prstGeom>
          <a:solidFill>
            <a:srgbClr val="F4F7FD"/>
          </a:solidFill>
          <a:ln/>
        </p:spPr>
      </p:sp>
      <p:sp>
        <p:nvSpPr>
          <p:cNvPr id="28" name="Shape 25"/>
          <p:cNvSpPr/>
          <p:nvPr/>
        </p:nvSpPr>
        <p:spPr>
          <a:xfrm>
            <a:off x="6172200" y="4434840"/>
            <a:ext cx="109728" cy="1234440"/>
          </a:xfrm>
          <a:prstGeom prst="rect">
            <a:avLst/>
          </a:prstGeom>
          <a:solidFill>
            <a:srgbClr val="D9534F"/>
          </a:solidFill>
          <a:ln/>
        </p:spPr>
      </p:sp>
      <p:sp>
        <p:nvSpPr>
          <p:cNvPr id="29" name="Text 26"/>
          <p:cNvSpPr txBox="1"/>
          <p:nvPr/>
        </p:nvSpPr>
        <p:spPr>
          <a:xfrm>
            <a:off x="6537960" y="4636008"/>
            <a:ext cx="4937760" cy="411480"/>
          </a:xfrm>
          <a:prstGeom prst="rect">
            <a:avLst/>
          </a:prstGeom>
          <a:noFill/>
          <a:ln/>
        </p:spPr>
        <p:txBody>
          <a:bodyPr wrap="square" lIns="0" tIns="0" rIns="0" bIns="0" rtlCol="0" anchor="t"/>
          <a:lstStyle/>
          <a:p>
            <a:pPr indent="0" marL="0">
              <a:buNone/>
            </a:pPr>
            <a:r>
              <a:rPr lang="en-US" sz="2200" b="1" dirty="0">
                <a:solidFill>
                  <a:srgbClr val="1E2761"/>
                </a:solidFill>
                <a:latin typeface="Cambria" pitchFamily="34" charset="0"/>
                <a:ea typeface="Cambria" pitchFamily="34" charset="-122"/>
                <a:cs typeface="Cambria" pitchFamily="34" charset="-120"/>
              </a:rPr>
              <a:t>Material fehlt</a:t>
            </a:r>
            <a:endParaRPr lang="en-US" sz="2200" dirty="0"/>
          </a:p>
        </p:txBody>
      </p:sp>
      <p:sp>
        <p:nvSpPr>
          <p:cNvPr id="30" name="Text 27"/>
          <p:cNvSpPr txBox="1"/>
          <p:nvPr/>
        </p:nvSpPr>
        <p:spPr>
          <a:xfrm>
            <a:off x="6537960" y="5093208"/>
            <a:ext cx="4937760" cy="411480"/>
          </a:xfrm>
          <a:prstGeom prst="rect">
            <a:avLst/>
          </a:prstGeom>
          <a:noFill/>
          <a:ln/>
        </p:spPr>
        <p:txBody>
          <a:bodyPr wrap="square" lIns="0" tIns="0" rIns="0" bIns="0" rtlCol="0" anchor="t"/>
          <a:lstStyle/>
          <a:p>
            <a:pPr indent="0" marL="0">
              <a:buNone/>
            </a:pPr>
            <a:r>
              <a:rPr lang="en-US" sz="1600" dirty="0">
                <a:solidFill>
                  <a:srgbClr val="5B6B8C"/>
                </a:solidFill>
                <a:latin typeface="Calibri" pitchFamily="34" charset="0"/>
                <a:ea typeface="Calibri" pitchFamily="34" charset="-122"/>
                <a:cs typeface="Calibri" pitchFamily="34" charset="-120"/>
              </a:rPr>
              <a:t>Heft, Buch oder Stifte nicht dabei</a:t>
            </a:r>
            <a:endParaRPr lang="en-US" sz="1600" dirty="0"/>
          </a:p>
        </p:txBody>
      </p:sp>
      <p:sp>
        <p:nvSpPr>
          <p:cNvPr id="31" name="Text 28"/>
          <p:cNvSpPr txBox="1"/>
          <p:nvPr/>
        </p:nvSpPr>
        <p:spPr>
          <a:xfrm>
            <a:off x="548640" y="5943600"/>
            <a:ext cx="11064240" cy="365760"/>
          </a:xfrm>
          <a:prstGeom prst="rect">
            <a:avLst/>
          </a:prstGeom>
          <a:noFill/>
          <a:ln/>
        </p:spPr>
        <p:txBody>
          <a:bodyPr wrap="square" lIns="0" tIns="0" rIns="0" bIns="0" rtlCol="0" anchor="t"/>
          <a:lstStyle/>
          <a:p>
            <a:pPr algn="ctr" indent="0" marL="0">
              <a:buNone/>
            </a:pPr>
            <a:r>
              <a:rPr lang="en-US" sz="1600" i="1" dirty="0">
                <a:solidFill>
                  <a:srgbClr val="1E2761"/>
                </a:solidFill>
                <a:latin typeface="Calibri" pitchFamily="34" charset="0"/>
                <a:ea typeface="Calibri" pitchFamily="34" charset="-122"/>
                <a:cs typeface="Calibri" pitchFamily="34" charset="-120"/>
              </a:rPr>
              <a:t>Wer stört, hält nicht nur sich selbst vom Lernen ab, sondern auch alle anderen.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UNTERRICHTSSTÖRUNGEN</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So reagiere ich – Stufe für Stufe</a:t>
            </a:r>
            <a:endParaRPr lang="en-US" sz="32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Mündliche Noten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9</a:t>
            </a:r>
            <a:endParaRPr lang="en-US" sz="1000" dirty="0"/>
          </a:p>
        </p:txBody>
      </p:sp>
      <p:sp>
        <p:nvSpPr>
          <p:cNvPr id="7" name="Shape 4"/>
          <p:cNvSpPr/>
          <p:nvPr/>
        </p:nvSpPr>
        <p:spPr>
          <a:xfrm>
            <a:off x="548640" y="3931920"/>
            <a:ext cx="2103120" cy="2103120"/>
          </a:xfrm>
          <a:prstGeom prst="roundRect">
            <a:avLst>
              <a:gd name="adj" fmla="val 2174"/>
            </a:avLst>
          </a:prstGeom>
          <a:solidFill>
            <a:srgbClr val="9DB84A"/>
          </a:solidFill>
          <a:ln/>
        </p:spPr>
      </p:sp>
      <p:sp>
        <p:nvSpPr>
          <p:cNvPr id="8" name="Text 5"/>
          <p:cNvSpPr txBox="1"/>
          <p:nvPr/>
        </p:nvSpPr>
        <p:spPr>
          <a:xfrm>
            <a:off x="548640" y="4069080"/>
            <a:ext cx="210312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Stufe 1</a:t>
            </a:r>
            <a:endParaRPr lang="en-US" sz="1400" dirty="0"/>
          </a:p>
        </p:txBody>
      </p:sp>
      <p:sp>
        <p:nvSpPr>
          <p:cNvPr id="9" name="Text 6"/>
          <p:cNvSpPr txBox="1"/>
          <p:nvPr/>
        </p:nvSpPr>
        <p:spPr>
          <a:xfrm>
            <a:off x="640080" y="4434840"/>
            <a:ext cx="1920240" cy="685800"/>
          </a:xfrm>
          <a:prstGeom prst="rect">
            <a:avLst/>
          </a:prstGeom>
          <a:noFill/>
          <a:ln/>
        </p:spPr>
        <p:txBody>
          <a:bodyPr wrap="square" lIns="0" tIns="0" rIns="0" bIns="0" rtlCol="0" anchor="t"/>
          <a:lstStyle/>
          <a:p>
            <a:pPr algn="ctr" indent="0" marL="0">
              <a:buNone/>
            </a:pPr>
            <a:r>
              <a:rPr lang="en-US" sz="1800" b="1" dirty="0">
                <a:solidFill>
                  <a:srgbClr val="FFFFFF"/>
                </a:solidFill>
                <a:latin typeface="Cambria" pitchFamily="34" charset="0"/>
                <a:ea typeface="Cambria" pitchFamily="34" charset="-122"/>
                <a:cs typeface="Cambria" pitchFamily="34" charset="-120"/>
              </a:rPr>
              <a:t>Hinweis</a:t>
            </a:r>
            <a:endParaRPr lang="en-US" sz="1800" dirty="0"/>
          </a:p>
        </p:txBody>
      </p:sp>
      <p:sp>
        <p:nvSpPr>
          <p:cNvPr id="10" name="Text 7"/>
          <p:cNvSpPr txBox="1"/>
          <p:nvPr/>
        </p:nvSpPr>
        <p:spPr>
          <a:xfrm>
            <a:off x="658368" y="5120640"/>
            <a:ext cx="1883664" cy="86868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Blick, Zeichen oder Name – ohne Unterbrechung</a:t>
            </a:r>
            <a:endParaRPr lang="en-US" sz="1300" dirty="0"/>
          </a:p>
        </p:txBody>
      </p:sp>
      <p:sp>
        <p:nvSpPr>
          <p:cNvPr id="11" name="Shape 8"/>
          <p:cNvSpPr/>
          <p:nvPr/>
        </p:nvSpPr>
        <p:spPr>
          <a:xfrm>
            <a:off x="2788920" y="3547872"/>
            <a:ext cx="2103120" cy="2487168"/>
          </a:xfrm>
          <a:prstGeom prst="roundRect">
            <a:avLst>
              <a:gd name="adj" fmla="val 2174"/>
            </a:avLst>
          </a:prstGeom>
          <a:solidFill>
            <a:srgbClr val="E8A33D"/>
          </a:solidFill>
          <a:ln/>
        </p:spPr>
      </p:sp>
      <p:sp>
        <p:nvSpPr>
          <p:cNvPr id="12" name="Text 9"/>
          <p:cNvSpPr txBox="1"/>
          <p:nvPr/>
        </p:nvSpPr>
        <p:spPr>
          <a:xfrm>
            <a:off x="2788920" y="3685032"/>
            <a:ext cx="210312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Stufe 2</a:t>
            </a:r>
            <a:endParaRPr lang="en-US" sz="1400" dirty="0"/>
          </a:p>
        </p:txBody>
      </p:sp>
      <p:sp>
        <p:nvSpPr>
          <p:cNvPr id="13" name="Text 10"/>
          <p:cNvSpPr txBox="1"/>
          <p:nvPr/>
        </p:nvSpPr>
        <p:spPr>
          <a:xfrm>
            <a:off x="2880360" y="4050792"/>
            <a:ext cx="1920240" cy="685800"/>
          </a:xfrm>
          <a:prstGeom prst="rect">
            <a:avLst/>
          </a:prstGeom>
          <a:noFill/>
          <a:ln/>
        </p:spPr>
        <p:txBody>
          <a:bodyPr wrap="square" lIns="0" tIns="0" rIns="0" bIns="0" rtlCol="0" anchor="t"/>
          <a:lstStyle/>
          <a:p>
            <a:pPr algn="ctr" indent="0" marL="0">
              <a:buNone/>
            </a:pPr>
            <a:r>
              <a:rPr lang="en-US" sz="1800" b="1" dirty="0">
                <a:solidFill>
                  <a:srgbClr val="FFFFFF"/>
                </a:solidFill>
                <a:latin typeface="Cambria" pitchFamily="34" charset="0"/>
                <a:ea typeface="Cambria" pitchFamily="34" charset="-122"/>
                <a:cs typeface="Cambria" pitchFamily="34" charset="-120"/>
              </a:rPr>
              <a:t>Ermahnung</a:t>
            </a:r>
            <a:endParaRPr lang="en-US" sz="1800" dirty="0"/>
          </a:p>
        </p:txBody>
      </p:sp>
      <p:sp>
        <p:nvSpPr>
          <p:cNvPr id="14" name="Text 11"/>
          <p:cNvSpPr txBox="1"/>
          <p:nvPr/>
        </p:nvSpPr>
        <p:spPr>
          <a:xfrm>
            <a:off x="2898648" y="4736592"/>
            <a:ext cx="1883664" cy="1252728"/>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deutliche Ansage vor der Klasse</a:t>
            </a:r>
            <a:endParaRPr lang="en-US" sz="1300" dirty="0"/>
          </a:p>
        </p:txBody>
      </p:sp>
      <p:sp>
        <p:nvSpPr>
          <p:cNvPr id="15" name="Shape 12"/>
          <p:cNvSpPr/>
          <p:nvPr/>
        </p:nvSpPr>
        <p:spPr>
          <a:xfrm>
            <a:off x="5029200" y="3163824"/>
            <a:ext cx="2103120" cy="2871216"/>
          </a:xfrm>
          <a:prstGeom prst="roundRect">
            <a:avLst>
              <a:gd name="adj" fmla="val 2174"/>
            </a:avLst>
          </a:prstGeom>
          <a:solidFill>
            <a:srgbClr val="E07B45"/>
          </a:solidFill>
          <a:ln/>
        </p:spPr>
      </p:sp>
      <p:sp>
        <p:nvSpPr>
          <p:cNvPr id="16" name="Text 13"/>
          <p:cNvSpPr txBox="1"/>
          <p:nvPr/>
        </p:nvSpPr>
        <p:spPr>
          <a:xfrm>
            <a:off x="5029200" y="3300984"/>
            <a:ext cx="210312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Stufe 3</a:t>
            </a:r>
            <a:endParaRPr lang="en-US" sz="1400" dirty="0"/>
          </a:p>
        </p:txBody>
      </p:sp>
      <p:sp>
        <p:nvSpPr>
          <p:cNvPr id="17" name="Text 14"/>
          <p:cNvSpPr txBox="1"/>
          <p:nvPr/>
        </p:nvSpPr>
        <p:spPr>
          <a:xfrm>
            <a:off x="5120640" y="3666744"/>
            <a:ext cx="1920240" cy="685800"/>
          </a:xfrm>
          <a:prstGeom prst="rect">
            <a:avLst/>
          </a:prstGeom>
          <a:noFill/>
          <a:ln/>
        </p:spPr>
        <p:txBody>
          <a:bodyPr wrap="square" lIns="0" tIns="0" rIns="0" bIns="0" rtlCol="0" anchor="t"/>
          <a:lstStyle/>
          <a:p>
            <a:pPr algn="ctr" indent="0" marL="0">
              <a:buNone/>
            </a:pPr>
            <a:r>
              <a:rPr lang="en-US" sz="1800" b="1" dirty="0">
                <a:solidFill>
                  <a:srgbClr val="FFFFFF"/>
                </a:solidFill>
                <a:latin typeface="Cambria" pitchFamily="34" charset="0"/>
                <a:ea typeface="Cambria" pitchFamily="34" charset="-122"/>
                <a:cs typeface="Cambria" pitchFamily="34" charset="-120"/>
              </a:rPr>
              <a:t>Notiz</a:t>
            </a:r>
            <a:endParaRPr lang="en-US" sz="1800" dirty="0"/>
          </a:p>
        </p:txBody>
      </p:sp>
      <p:sp>
        <p:nvSpPr>
          <p:cNvPr id="18" name="Text 15"/>
          <p:cNvSpPr txBox="1"/>
          <p:nvPr/>
        </p:nvSpPr>
        <p:spPr>
          <a:xfrm>
            <a:off x="5138928" y="4352544"/>
            <a:ext cx="1883664" cy="1636776"/>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Eintrag in meiner Liste, kurzes Gespräch nach der Stunde</a:t>
            </a:r>
            <a:endParaRPr lang="en-US" sz="1300" dirty="0"/>
          </a:p>
        </p:txBody>
      </p:sp>
      <p:sp>
        <p:nvSpPr>
          <p:cNvPr id="19" name="Shape 16"/>
          <p:cNvSpPr/>
          <p:nvPr/>
        </p:nvSpPr>
        <p:spPr>
          <a:xfrm>
            <a:off x="7269480" y="2779776"/>
            <a:ext cx="2103120" cy="3255264"/>
          </a:xfrm>
          <a:prstGeom prst="roundRect">
            <a:avLst>
              <a:gd name="adj" fmla="val 2174"/>
            </a:avLst>
          </a:prstGeom>
          <a:solidFill>
            <a:srgbClr val="D9534F"/>
          </a:solidFill>
          <a:ln/>
        </p:spPr>
      </p:sp>
      <p:sp>
        <p:nvSpPr>
          <p:cNvPr id="20" name="Text 17"/>
          <p:cNvSpPr txBox="1"/>
          <p:nvPr/>
        </p:nvSpPr>
        <p:spPr>
          <a:xfrm>
            <a:off x="7269480" y="2916936"/>
            <a:ext cx="210312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Stufe 4</a:t>
            </a:r>
            <a:endParaRPr lang="en-US" sz="1400" dirty="0"/>
          </a:p>
        </p:txBody>
      </p:sp>
      <p:sp>
        <p:nvSpPr>
          <p:cNvPr id="21" name="Text 18"/>
          <p:cNvSpPr txBox="1"/>
          <p:nvPr/>
        </p:nvSpPr>
        <p:spPr>
          <a:xfrm>
            <a:off x="7360920" y="3282696"/>
            <a:ext cx="1920240" cy="685800"/>
          </a:xfrm>
          <a:prstGeom prst="rect">
            <a:avLst/>
          </a:prstGeom>
          <a:noFill/>
          <a:ln/>
        </p:spPr>
        <p:txBody>
          <a:bodyPr wrap="square" lIns="0" tIns="0" rIns="0" bIns="0" rtlCol="0" anchor="t"/>
          <a:lstStyle/>
          <a:p>
            <a:pPr algn="ctr" indent="0" marL="0">
              <a:buNone/>
            </a:pPr>
            <a:r>
              <a:rPr lang="en-US" sz="1800" b="1" dirty="0">
                <a:solidFill>
                  <a:srgbClr val="FFFFFF"/>
                </a:solidFill>
                <a:latin typeface="Cambria" pitchFamily="34" charset="0"/>
                <a:ea typeface="Cambria" pitchFamily="34" charset="-122"/>
                <a:cs typeface="Cambria" pitchFamily="34" charset="-120"/>
              </a:rPr>
              <a:t>Konsequenz</a:t>
            </a:r>
            <a:endParaRPr lang="en-US" sz="1800" dirty="0"/>
          </a:p>
        </p:txBody>
      </p:sp>
      <p:sp>
        <p:nvSpPr>
          <p:cNvPr id="22" name="Text 19"/>
          <p:cNvSpPr txBox="1"/>
          <p:nvPr/>
        </p:nvSpPr>
        <p:spPr>
          <a:xfrm>
            <a:off x="7379208" y="3968496"/>
            <a:ext cx="1883664" cy="2020824"/>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Umsetzen, Zusatzaufgabe oder Nacharbeit</a:t>
            </a:r>
            <a:endParaRPr lang="en-US" sz="1300" dirty="0"/>
          </a:p>
        </p:txBody>
      </p:sp>
      <p:sp>
        <p:nvSpPr>
          <p:cNvPr id="23" name="Shape 20"/>
          <p:cNvSpPr/>
          <p:nvPr/>
        </p:nvSpPr>
        <p:spPr>
          <a:xfrm>
            <a:off x="9509760" y="2395728"/>
            <a:ext cx="2103120" cy="3639312"/>
          </a:xfrm>
          <a:prstGeom prst="roundRect">
            <a:avLst>
              <a:gd name="adj" fmla="val 2174"/>
            </a:avLst>
          </a:prstGeom>
          <a:solidFill>
            <a:srgbClr val="A93A36"/>
          </a:solidFill>
          <a:ln/>
        </p:spPr>
      </p:sp>
      <p:sp>
        <p:nvSpPr>
          <p:cNvPr id="24" name="Text 21"/>
          <p:cNvSpPr txBox="1"/>
          <p:nvPr/>
        </p:nvSpPr>
        <p:spPr>
          <a:xfrm>
            <a:off x="9509760" y="2532888"/>
            <a:ext cx="210312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Stufe 5</a:t>
            </a:r>
            <a:endParaRPr lang="en-US" sz="1400" dirty="0"/>
          </a:p>
        </p:txBody>
      </p:sp>
      <p:sp>
        <p:nvSpPr>
          <p:cNvPr id="25" name="Text 22"/>
          <p:cNvSpPr txBox="1"/>
          <p:nvPr/>
        </p:nvSpPr>
        <p:spPr>
          <a:xfrm>
            <a:off x="9601200" y="2898648"/>
            <a:ext cx="1920240" cy="685800"/>
          </a:xfrm>
          <a:prstGeom prst="rect">
            <a:avLst/>
          </a:prstGeom>
          <a:noFill/>
          <a:ln/>
        </p:spPr>
        <p:txBody>
          <a:bodyPr wrap="square" lIns="0" tIns="0" rIns="0" bIns="0" rtlCol="0" anchor="t"/>
          <a:lstStyle/>
          <a:p>
            <a:pPr algn="ctr" indent="0" marL="0">
              <a:buNone/>
            </a:pPr>
            <a:r>
              <a:rPr lang="en-US" sz="1800" b="1" dirty="0">
                <a:solidFill>
                  <a:srgbClr val="FFFFFF"/>
                </a:solidFill>
                <a:latin typeface="Cambria" pitchFamily="34" charset="0"/>
                <a:ea typeface="Cambria" pitchFamily="34" charset="-122"/>
                <a:cs typeface="Cambria" pitchFamily="34" charset="-120"/>
              </a:rPr>
              <a:t>Eltern und Klassenleitung</a:t>
            </a:r>
            <a:endParaRPr lang="en-US" sz="1800" dirty="0"/>
          </a:p>
        </p:txBody>
      </p:sp>
      <p:sp>
        <p:nvSpPr>
          <p:cNvPr id="26" name="Text 23"/>
          <p:cNvSpPr txBox="1"/>
          <p:nvPr/>
        </p:nvSpPr>
        <p:spPr>
          <a:xfrm>
            <a:off x="9619488" y="3584448"/>
            <a:ext cx="1883664" cy="2404872"/>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Information, Eintrag, gemeinsames Gespräch</a:t>
            </a:r>
            <a:endParaRPr lang="en-US" sz="1300" dirty="0"/>
          </a:p>
        </p:txBody>
      </p:sp>
      <p:sp>
        <p:nvSpPr>
          <p:cNvPr id="27" name="Text 24"/>
          <p:cNvSpPr txBox="1"/>
          <p:nvPr/>
        </p:nvSpPr>
        <p:spPr>
          <a:xfrm>
            <a:off x="548640" y="1508760"/>
            <a:ext cx="6400800" cy="731520"/>
          </a:xfrm>
          <a:prstGeom prst="rect">
            <a:avLst/>
          </a:prstGeom>
          <a:noFill/>
          <a:ln/>
        </p:spPr>
        <p:txBody>
          <a:bodyPr wrap="square" lIns="0" tIns="0" rIns="0" bIns="0" rtlCol="0" anchor="t"/>
          <a:lstStyle/>
          <a:p>
            <a:pPr indent="0" marL="0">
              <a:buNone/>
            </a:pPr>
            <a:r>
              <a:rPr lang="en-US" sz="1600" i="1" dirty="0">
                <a:solidFill>
                  <a:srgbClr val="5B6B8C"/>
                </a:solidFill>
                <a:latin typeface="Calibri" pitchFamily="34" charset="0"/>
                <a:ea typeface="Calibri" pitchFamily="34" charset="-122"/>
                <a:cs typeface="Calibri" pitchFamily="34" charset="-120"/>
              </a:rPr>
              <a:t>Mit jeder Störung in derselben Stunde geht es eine Stufe höher. Die nächste Stunde beginnt wieder bei null.</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spc="200" kern="0" dirty="0">
                <a:solidFill>
                  <a:srgbClr val="5B6B8C"/>
                </a:solidFill>
                <a:latin typeface="Calibri" pitchFamily="34" charset="0"/>
                <a:ea typeface="Calibri" pitchFamily="34" charset="-122"/>
                <a:cs typeface="Calibri" pitchFamily="34" charset="-120"/>
              </a:rPr>
              <a:t>NACH OBEN KOMMEN</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So verbesserst du deine mündliche Note</a:t>
            </a:r>
            <a:endParaRPr lang="en-US" sz="32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5B6B8C"/>
                </a:solidFill>
                <a:latin typeface="Calibri" pitchFamily="34" charset="0"/>
                <a:ea typeface="Calibri" pitchFamily="34" charset="-122"/>
                <a:cs typeface="Calibri" pitchFamily="34" charset="-120"/>
              </a:rPr>
              <a:t>Mündliche Noten · Deutsch 7A</a:t>
            </a:r>
            <a:endParaRPr lang="en-US" sz="1000" dirty="0"/>
          </a:p>
        </p:txBody>
      </p:sp>
      <p:sp>
        <p:nvSpPr>
          <p:cNvPr id="5" name="Text 3"/>
          <p:cNvSpPr txBox="1"/>
          <p:nvPr/>
        </p:nvSpPr>
        <p:spPr>
          <a:xfrm>
            <a:off x="11155680" y="6400800"/>
            <a:ext cx="457200" cy="228600"/>
          </a:xfrm>
          <a:prstGeom prst="rect">
            <a:avLst/>
          </a:prstGeom>
          <a:noFill/>
          <a:ln/>
        </p:spPr>
        <p:txBody>
          <a:bodyPr wrap="square" lIns="0" tIns="0" rIns="0" bIns="0" rtlCol="0" anchor="t"/>
          <a:lstStyle/>
          <a:p>
            <a:pPr algn="r" indent="0" marL="0">
              <a:buNone/>
            </a:pPr>
            <a:r>
              <a:rPr lang="en-US" sz="1000" dirty="0">
                <a:solidFill>
                  <a:srgbClr val="5B6B8C"/>
                </a:solidFill>
                <a:latin typeface="Calibri" pitchFamily="34" charset="0"/>
                <a:ea typeface="Calibri" pitchFamily="34" charset="-122"/>
                <a:cs typeface="Calibri" pitchFamily="34" charset="-120"/>
              </a:rPr>
              <a:t>10</a:t>
            </a:r>
            <a:endParaRPr lang="en-US" sz="1000" dirty="0"/>
          </a:p>
        </p:txBody>
      </p:sp>
      <p:sp>
        <p:nvSpPr>
          <p:cNvPr id="7" name="Shape 4"/>
          <p:cNvSpPr/>
          <p:nvPr/>
        </p:nvSpPr>
        <p:spPr>
          <a:xfrm>
            <a:off x="548640" y="1673352"/>
            <a:ext cx="548640" cy="548640"/>
          </a:xfrm>
          <a:prstGeom prst="ellipse">
            <a:avLst/>
          </a:prstGeom>
          <a:solidFill>
            <a:srgbClr val="1E2761"/>
          </a:solidFill>
          <a:ln/>
        </p:spPr>
      </p:sp>
      <p:sp>
        <p:nvSpPr>
          <p:cNvPr id="8" name="Text 5"/>
          <p:cNvSpPr txBox="1"/>
          <p:nvPr/>
        </p:nvSpPr>
        <p:spPr>
          <a:xfrm>
            <a:off x="548640" y="167335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6"/>
          <p:cNvSpPr txBox="1"/>
          <p:nvPr/>
        </p:nvSpPr>
        <p:spPr>
          <a:xfrm>
            <a:off x="1325880" y="1600200"/>
            <a:ext cx="10058400" cy="411480"/>
          </a:xfrm>
          <a:prstGeom prst="rect">
            <a:avLst/>
          </a:prstGeom>
          <a:noFill/>
          <a:ln/>
        </p:spPr>
        <p:txBody>
          <a:bodyPr wrap="square" lIns="0" tIns="0" rIns="0" bIns="0" rtlCol="0" anchor="t"/>
          <a:lstStyle/>
          <a:p>
            <a:pPr indent="0" marL="0">
              <a:buNone/>
            </a:pPr>
            <a:r>
              <a:rPr lang="en-US" sz="2100" b="1" dirty="0">
                <a:solidFill>
                  <a:srgbClr val="1E2761"/>
                </a:solidFill>
                <a:latin typeface="Cambria" pitchFamily="34" charset="0"/>
                <a:ea typeface="Cambria" pitchFamily="34" charset="-122"/>
                <a:cs typeface="Cambria" pitchFamily="34" charset="-120"/>
              </a:rPr>
              <a:t>Melde dich auch, wenn du unsicher bist.</a:t>
            </a:r>
            <a:endParaRPr lang="en-US" sz="2100" dirty="0"/>
          </a:p>
        </p:txBody>
      </p:sp>
      <p:sp>
        <p:nvSpPr>
          <p:cNvPr id="10" name="Text 7"/>
          <p:cNvSpPr txBox="1"/>
          <p:nvPr/>
        </p:nvSpPr>
        <p:spPr>
          <a:xfrm>
            <a:off x="1325880" y="2011680"/>
            <a:ext cx="10058400" cy="365760"/>
          </a:xfrm>
          <a:prstGeom prst="rect">
            <a:avLst/>
          </a:prstGeom>
          <a:noFill/>
          <a:ln/>
        </p:spPr>
        <p:txBody>
          <a:bodyPr wrap="square" lIns="0" tIns="0" rIns="0" bIns="0" rtlCol="0" anchor="t"/>
          <a:lstStyle/>
          <a:p>
            <a:pPr indent="0" marL="0">
              <a:buNone/>
            </a:pPr>
            <a:r>
              <a:rPr lang="en-US" sz="1600" dirty="0">
                <a:solidFill>
                  <a:srgbClr val="5B6B8C"/>
                </a:solidFill>
                <a:latin typeface="Calibri" pitchFamily="34" charset="0"/>
                <a:ea typeface="Calibri" pitchFamily="34" charset="-122"/>
                <a:cs typeface="Calibri" pitchFamily="34" charset="-120"/>
              </a:rPr>
              <a:t>Ein Fehler zählt nicht gegen dich – keine Mitarbeit schon.</a:t>
            </a:r>
            <a:endParaRPr lang="en-US" sz="1600" dirty="0"/>
          </a:p>
        </p:txBody>
      </p:sp>
      <p:sp>
        <p:nvSpPr>
          <p:cNvPr id="11" name="Shape 8"/>
          <p:cNvSpPr/>
          <p:nvPr/>
        </p:nvSpPr>
        <p:spPr>
          <a:xfrm>
            <a:off x="548640" y="2587752"/>
            <a:ext cx="548640" cy="548640"/>
          </a:xfrm>
          <a:prstGeom prst="ellipse">
            <a:avLst/>
          </a:prstGeom>
          <a:solidFill>
            <a:srgbClr val="1E2761"/>
          </a:solidFill>
          <a:ln/>
        </p:spPr>
      </p:sp>
      <p:sp>
        <p:nvSpPr>
          <p:cNvPr id="12" name="Text 9"/>
          <p:cNvSpPr txBox="1"/>
          <p:nvPr/>
        </p:nvSpPr>
        <p:spPr>
          <a:xfrm>
            <a:off x="548640" y="258775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0"/>
          <p:cNvSpPr txBox="1"/>
          <p:nvPr/>
        </p:nvSpPr>
        <p:spPr>
          <a:xfrm>
            <a:off x="1325880" y="2514600"/>
            <a:ext cx="10058400" cy="411480"/>
          </a:xfrm>
          <a:prstGeom prst="rect">
            <a:avLst/>
          </a:prstGeom>
          <a:noFill/>
          <a:ln/>
        </p:spPr>
        <p:txBody>
          <a:bodyPr wrap="square" lIns="0" tIns="0" rIns="0" bIns="0" rtlCol="0" anchor="t"/>
          <a:lstStyle/>
          <a:p>
            <a:pPr indent="0" marL="0">
              <a:buNone/>
            </a:pPr>
            <a:r>
              <a:rPr lang="en-US" sz="2100" b="1" dirty="0">
                <a:solidFill>
                  <a:srgbClr val="1E2761"/>
                </a:solidFill>
                <a:latin typeface="Cambria" pitchFamily="34" charset="0"/>
                <a:ea typeface="Cambria" pitchFamily="34" charset="-122"/>
                <a:cs typeface="Cambria" pitchFamily="34" charset="-120"/>
              </a:rPr>
              <a:t>Benutze Fachbegriffe.</a:t>
            </a:r>
            <a:endParaRPr lang="en-US" sz="2100" dirty="0"/>
          </a:p>
        </p:txBody>
      </p:sp>
      <p:sp>
        <p:nvSpPr>
          <p:cNvPr id="14" name="Text 11"/>
          <p:cNvSpPr txBox="1"/>
          <p:nvPr/>
        </p:nvSpPr>
        <p:spPr>
          <a:xfrm>
            <a:off x="1325880" y="2926080"/>
            <a:ext cx="10058400" cy="365760"/>
          </a:xfrm>
          <a:prstGeom prst="rect">
            <a:avLst/>
          </a:prstGeom>
          <a:noFill/>
          <a:ln/>
        </p:spPr>
        <p:txBody>
          <a:bodyPr wrap="square" lIns="0" tIns="0" rIns="0" bIns="0" rtlCol="0" anchor="t"/>
          <a:lstStyle/>
          <a:p>
            <a:pPr indent="0" marL="0">
              <a:buNone/>
            </a:pPr>
            <a:r>
              <a:rPr lang="en-US" sz="1600" dirty="0">
                <a:solidFill>
                  <a:srgbClr val="5B6B8C"/>
                </a:solidFill>
                <a:latin typeface="Calibri" pitchFamily="34" charset="0"/>
                <a:ea typeface="Calibri" pitchFamily="34" charset="-122"/>
                <a:cs typeface="Calibri" pitchFamily="34" charset="-120"/>
              </a:rPr>
              <a:t>Finite Form, Partizip II, Strophe, Vers … statt „das Wort da“.</a:t>
            </a:r>
            <a:endParaRPr lang="en-US" sz="1600" dirty="0"/>
          </a:p>
        </p:txBody>
      </p:sp>
      <p:sp>
        <p:nvSpPr>
          <p:cNvPr id="15" name="Shape 12"/>
          <p:cNvSpPr/>
          <p:nvPr/>
        </p:nvSpPr>
        <p:spPr>
          <a:xfrm>
            <a:off x="548640" y="3502152"/>
            <a:ext cx="548640" cy="548640"/>
          </a:xfrm>
          <a:prstGeom prst="ellipse">
            <a:avLst/>
          </a:prstGeom>
          <a:solidFill>
            <a:srgbClr val="1E2761"/>
          </a:solidFill>
          <a:ln/>
        </p:spPr>
      </p:sp>
      <p:sp>
        <p:nvSpPr>
          <p:cNvPr id="16" name="Text 13"/>
          <p:cNvSpPr txBox="1"/>
          <p:nvPr/>
        </p:nvSpPr>
        <p:spPr>
          <a:xfrm>
            <a:off x="548640" y="350215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4"/>
          <p:cNvSpPr txBox="1"/>
          <p:nvPr/>
        </p:nvSpPr>
        <p:spPr>
          <a:xfrm>
            <a:off x="1325880" y="3429000"/>
            <a:ext cx="10058400" cy="411480"/>
          </a:xfrm>
          <a:prstGeom prst="rect">
            <a:avLst/>
          </a:prstGeom>
          <a:noFill/>
          <a:ln/>
        </p:spPr>
        <p:txBody>
          <a:bodyPr wrap="square" lIns="0" tIns="0" rIns="0" bIns="0" rtlCol="0" anchor="t"/>
          <a:lstStyle/>
          <a:p>
            <a:pPr indent="0" marL="0">
              <a:buNone/>
            </a:pPr>
            <a:r>
              <a:rPr lang="en-US" sz="2100" b="1" dirty="0">
                <a:solidFill>
                  <a:srgbClr val="1E2761"/>
                </a:solidFill>
                <a:latin typeface="Cambria" pitchFamily="34" charset="0"/>
                <a:ea typeface="Cambria" pitchFamily="34" charset="-122"/>
                <a:cs typeface="Cambria" pitchFamily="34" charset="-120"/>
              </a:rPr>
              <a:t>Begründe mit „weil“.</a:t>
            </a:r>
            <a:endParaRPr lang="en-US" sz="2100" dirty="0"/>
          </a:p>
        </p:txBody>
      </p:sp>
      <p:sp>
        <p:nvSpPr>
          <p:cNvPr id="18" name="Text 15"/>
          <p:cNvSpPr txBox="1"/>
          <p:nvPr/>
        </p:nvSpPr>
        <p:spPr>
          <a:xfrm>
            <a:off x="1325880" y="3840480"/>
            <a:ext cx="10058400" cy="365760"/>
          </a:xfrm>
          <a:prstGeom prst="rect">
            <a:avLst/>
          </a:prstGeom>
          <a:noFill/>
          <a:ln/>
        </p:spPr>
        <p:txBody>
          <a:bodyPr wrap="square" lIns="0" tIns="0" rIns="0" bIns="0" rtlCol="0" anchor="t"/>
          <a:lstStyle/>
          <a:p>
            <a:pPr indent="0" marL="0">
              <a:buNone/>
            </a:pPr>
            <a:r>
              <a:rPr lang="en-US" sz="1600" dirty="0">
                <a:solidFill>
                  <a:srgbClr val="5B6B8C"/>
                </a:solidFill>
                <a:latin typeface="Calibri" pitchFamily="34" charset="0"/>
                <a:ea typeface="Calibri" pitchFamily="34" charset="-122"/>
                <a:cs typeface="Calibri" pitchFamily="34" charset="-120"/>
              </a:rPr>
              <a:t>Eine Antwort mit Begründung ist mehr wert als ein einzelnes Wort.</a:t>
            </a:r>
            <a:endParaRPr lang="en-US" sz="1600" dirty="0"/>
          </a:p>
        </p:txBody>
      </p:sp>
      <p:sp>
        <p:nvSpPr>
          <p:cNvPr id="19" name="Shape 16"/>
          <p:cNvSpPr/>
          <p:nvPr/>
        </p:nvSpPr>
        <p:spPr>
          <a:xfrm>
            <a:off x="548640" y="4416552"/>
            <a:ext cx="548640" cy="548640"/>
          </a:xfrm>
          <a:prstGeom prst="ellipse">
            <a:avLst/>
          </a:prstGeom>
          <a:solidFill>
            <a:srgbClr val="1E2761"/>
          </a:solidFill>
          <a:ln/>
        </p:spPr>
      </p:sp>
      <p:sp>
        <p:nvSpPr>
          <p:cNvPr id="20" name="Text 17"/>
          <p:cNvSpPr txBox="1"/>
          <p:nvPr/>
        </p:nvSpPr>
        <p:spPr>
          <a:xfrm>
            <a:off x="548640" y="441655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1" name="Text 18"/>
          <p:cNvSpPr txBox="1"/>
          <p:nvPr/>
        </p:nvSpPr>
        <p:spPr>
          <a:xfrm>
            <a:off x="1325880" y="4343400"/>
            <a:ext cx="10058400" cy="411480"/>
          </a:xfrm>
          <a:prstGeom prst="rect">
            <a:avLst/>
          </a:prstGeom>
          <a:noFill/>
          <a:ln/>
        </p:spPr>
        <p:txBody>
          <a:bodyPr wrap="square" lIns="0" tIns="0" rIns="0" bIns="0" rtlCol="0" anchor="t"/>
          <a:lstStyle/>
          <a:p>
            <a:pPr indent="0" marL="0">
              <a:buNone/>
            </a:pPr>
            <a:r>
              <a:rPr lang="en-US" sz="2100" b="1" dirty="0">
                <a:solidFill>
                  <a:srgbClr val="1E2761"/>
                </a:solidFill>
                <a:latin typeface="Cambria" pitchFamily="34" charset="0"/>
                <a:ea typeface="Cambria" pitchFamily="34" charset="-122"/>
                <a:cs typeface="Cambria" pitchFamily="34" charset="-120"/>
              </a:rPr>
              <a:t>Verknüpfe mit früheren Stunden.</a:t>
            </a:r>
            <a:endParaRPr lang="en-US" sz="2100" dirty="0"/>
          </a:p>
        </p:txBody>
      </p:sp>
      <p:sp>
        <p:nvSpPr>
          <p:cNvPr id="22" name="Text 19"/>
          <p:cNvSpPr txBox="1"/>
          <p:nvPr/>
        </p:nvSpPr>
        <p:spPr>
          <a:xfrm>
            <a:off x="1325880" y="4754880"/>
            <a:ext cx="10058400" cy="365760"/>
          </a:xfrm>
          <a:prstGeom prst="rect">
            <a:avLst/>
          </a:prstGeom>
          <a:noFill/>
          <a:ln/>
        </p:spPr>
        <p:txBody>
          <a:bodyPr wrap="square" lIns="0" tIns="0" rIns="0" bIns="0" rtlCol="0" anchor="t"/>
          <a:lstStyle/>
          <a:p>
            <a:pPr indent="0" marL="0">
              <a:buNone/>
            </a:pPr>
            <a:r>
              <a:rPr lang="en-US" sz="1600" dirty="0">
                <a:solidFill>
                  <a:srgbClr val="5B6B8C"/>
                </a:solidFill>
                <a:latin typeface="Calibri" pitchFamily="34" charset="0"/>
                <a:ea typeface="Calibri" pitchFamily="34" charset="-122"/>
                <a:cs typeface="Calibri" pitchFamily="34" charset="-120"/>
              </a:rPr>
              <a:t>„Das ist wie beim …“ – genau das macht den Unterschied zwischen 4 und 3.</a:t>
            </a:r>
            <a:endParaRPr lang="en-US" sz="1600" dirty="0"/>
          </a:p>
        </p:txBody>
      </p:sp>
      <p:sp>
        <p:nvSpPr>
          <p:cNvPr id="23" name="Shape 20"/>
          <p:cNvSpPr/>
          <p:nvPr/>
        </p:nvSpPr>
        <p:spPr>
          <a:xfrm>
            <a:off x="548640" y="5330952"/>
            <a:ext cx="548640" cy="548640"/>
          </a:xfrm>
          <a:prstGeom prst="ellipse">
            <a:avLst/>
          </a:prstGeom>
          <a:solidFill>
            <a:srgbClr val="1E2761"/>
          </a:solidFill>
          <a:ln/>
        </p:spPr>
      </p:sp>
      <p:sp>
        <p:nvSpPr>
          <p:cNvPr id="24" name="Text 21"/>
          <p:cNvSpPr txBox="1"/>
          <p:nvPr/>
        </p:nvSpPr>
        <p:spPr>
          <a:xfrm>
            <a:off x="548640" y="533095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5" name="Text 22"/>
          <p:cNvSpPr txBox="1"/>
          <p:nvPr/>
        </p:nvSpPr>
        <p:spPr>
          <a:xfrm>
            <a:off x="1325880" y="5257800"/>
            <a:ext cx="10058400" cy="411480"/>
          </a:xfrm>
          <a:prstGeom prst="rect">
            <a:avLst/>
          </a:prstGeom>
          <a:noFill/>
          <a:ln/>
        </p:spPr>
        <p:txBody>
          <a:bodyPr wrap="square" lIns="0" tIns="0" rIns="0" bIns="0" rtlCol="0" anchor="t"/>
          <a:lstStyle/>
          <a:p>
            <a:pPr indent="0" marL="0">
              <a:buNone/>
            </a:pPr>
            <a:r>
              <a:rPr lang="en-US" sz="2100" b="1" dirty="0">
                <a:solidFill>
                  <a:srgbClr val="1E2761"/>
                </a:solidFill>
                <a:latin typeface="Cambria" pitchFamily="34" charset="0"/>
                <a:ea typeface="Cambria" pitchFamily="34" charset="-122"/>
                <a:cs typeface="Cambria" pitchFamily="34" charset="-120"/>
              </a:rPr>
              <a:t>Hör zu und knüpf an.</a:t>
            </a:r>
            <a:endParaRPr lang="en-US" sz="2100" dirty="0"/>
          </a:p>
        </p:txBody>
      </p:sp>
      <p:sp>
        <p:nvSpPr>
          <p:cNvPr id="26" name="Text 23"/>
          <p:cNvSpPr txBox="1"/>
          <p:nvPr/>
        </p:nvSpPr>
        <p:spPr>
          <a:xfrm>
            <a:off x="1325880" y="5669280"/>
            <a:ext cx="10058400" cy="365760"/>
          </a:xfrm>
          <a:prstGeom prst="rect">
            <a:avLst/>
          </a:prstGeom>
          <a:noFill/>
          <a:ln/>
        </p:spPr>
        <p:txBody>
          <a:bodyPr wrap="square" lIns="0" tIns="0" rIns="0" bIns="0" rtlCol="0" anchor="t"/>
          <a:lstStyle/>
          <a:p>
            <a:pPr indent="0" marL="0">
              <a:buNone/>
            </a:pPr>
            <a:r>
              <a:rPr lang="en-US" sz="1600" dirty="0">
                <a:solidFill>
                  <a:srgbClr val="5B6B8C"/>
                </a:solidFill>
                <a:latin typeface="Calibri" pitchFamily="34" charset="0"/>
                <a:ea typeface="Calibri" pitchFamily="34" charset="-122"/>
                <a:cs typeface="Calibri" pitchFamily="34" charset="-120"/>
              </a:rPr>
              <a:t>„Ich ergänze zu …“ oder „Ich sehe das anders, weil …“</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4306E"/>
          </a:solidFill>
          <a:ln/>
        </p:spPr>
      </p:sp>
      <p:sp>
        <p:nvSpPr>
          <p:cNvPr id="3" name="Shape 1"/>
          <p:cNvSpPr/>
          <p:nvPr/>
        </p:nvSpPr>
        <p:spPr>
          <a:xfrm>
            <a:off x="-1371600" y="4206240"/>
            <a:ext cx="3657600" cy="3657600"/>
          </a:xfrm>
          <a:prstGeom prst="ellipse">
            <a:avLst/>
          </a:prstGeom>
          <a:solidFill>
            <a:srgbClr val="24306E"/>
          </a:solidFill>
          <a:ln/>
        </p:spPr>
      </p:sp>
      <p:sp>
        <p:nvSpPr>
          <p:cNvPr id="4" name="Text 2"/>
          <p:cNvSpPr txBox="1"/>
          <p:nvPr/>
        </p:nvSpPr>
        <p:spPr>
          <a:xfrm>
            <a:off x="822960" y="173736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Und jetzt?</a:t>
            </a:r>
            <a:endParaRPr lang="en-US" sz="4000" dirty="0"/>
          </a:p>
        </p:txBody>
      </p:sp>
      <p:sp>
        <p:nvSpPr>
          <p:cNvPr id="5" name="Text 3"/>
          <p:cNvSpPr txBox="1"/>
          <p:nvPr/>
        </p:nvSpPr>
        <p:spPr>
          <a:xfrm>
            <a:off x="822960" y="2834640"/>
            <a:ext cx="10515600" cy="640080"/>
          </a:xfrm>
          <a:prstGeom prst="rect">
            <a:avLst/>
          </a:prstGeom>
          <a:noFill/>
          <a:ln/>
        </p:spPr>
        <p:txBody>
          <a:bodyPr wrap="square" lIns="0" tIns="0" rIns="0" bIns="0" rtlCol="0" anchor="t"/>
          <a:lstStyle/>
          <a:p>
            <a:pPr indent="0" marL="0">
              <a:buNone/>
            </a:pPr>
            <a:r>
              <a:rPr lang="en-US" sz="2200" b="1" dirty="0">
                <a:solidFill>
                  <a:srgbClr val="E8A33D"/>
                </a:solidFill>
                <a:latin typeface="Calibri" pitchFamily="34" charset="0"/>
                <a:ea typeface="Calibri" pitchFamily="34" charset="-122"/>
                <a:cs typeface="Calibri" pitchFamily="34" charset="-120"/>
              </a:rPr>
              <a:t>1  </a:t>
            </a:r>
            <a:pPr indent="0" marL="0">
              <a:buNone/>
            </a:pPr>
            <a:r>
              <a:rPr lang="en-US" sz="2200" dirty="0">
                <a:solidFill>
                  <a:srgbClr val="FFFFFF"/>
                </a:solidFill>
                <a:latin typeface="Calibri" pitchFamily="34" charset="0"/>
                <a:ea typeface="Calibri" pitchFamily="34" charset="-122"/>
                <a:cs typeface="Calibri" pitchFamily="34" charset="-120"/>
              </a:rPr>
              <a:t>Ich teile dir deine aktuelle mündliche Note mit – mit einer kurzen Begründung.</a:t>
            </a:r>
            <a:endParaRPr lang="en-US" sz="2200" dirty="0"/>
          </a:p>
        </p:txBody>
      </p:sp>
      <p:sp>
        <p:nvSpPr>
          <p:cNvPr id="6" name="Text 4"/>
          <p:cNvSpPr txBox="1"/>
          <p:nvPr/>
        </p:nvSpPr>
        <p:spPr>
          <a:xfrm>
            <a:off x="822960" y="3611880"/>
            <a:ext cx="10515600" cy="640080"/>
          </a:xfrm>
          <a:prstGeom prst="rect">
            <a:avLst/>
          </a:prstGeom>
          <a:noFill/>
          <a:ln/>
        </p:spPr>
        <p:txBody>
          <a:bodyPr wrap="square" lIns="0" tIns="0" rIns="0" bIns="0" rtlCol="0" anchor="t"/>
          <a:lstStyle/>
          <a:p>
            <a:pPr indent="0" marL="0">
              <a:buNone/>
            </a:pPr>
            <a:r>
              <a:rPr lang="en-US" sz="2200" b="1" dirty="0">
                <a:solidFill>
                  <a:srgbClr val="E8A33D"/>
                </a:solidFill>
                <a:latin typeface="Calibri" pitchFamily="34" charset="0"/>
                <a:ea typeface="Calibri" pitchFamily="34" charset="-122"/>
                <a:cs typeface="Calibri" pitchFamily="34" charset="-120"/>
              </a:rPr>
              <a:t>2  </a:t>
            </a:r>
            <a:pPr indent="0" marL="0">
              <a:buNone/>
            </a:pPr>
            <a:r>
              <a:rPr lang="en-US" sz="2200" dirty="0">
                <a:solidFill>
                  <a:srgbClr val="FFFFFF"/>
                </a:solidFill>
                <a:latin typeface="Calibri" pitchFamily="34" charset="0"/>
                <a:ea typeface="Calibri" pitchFamily="34" charset="-122"/>
                <a:cs typeface="Calibri" pitchFamily="34" charset="-120"/>
              </a:rPr>
              <a:t>Überleg dir: Welche Stufe willst du bis Weihnachten erreichen?</a:t>
            </a:r>
            <a:endParaRPr lang="en-US" sz="2200" dirty="0"/>
          </a:p>
        </p:txBody>
      </p:sp>
      <p:sp>
        <p:nvSpPr>
          <p:cNvPr id="7" name="Text 5"/>
          <p:cNvSpPr txBox="1"/>
          <p:nvPr/>
        </p:nvSpPr>
        <p:spPr>
          <a:xfrm>
            <a:off x="822960" y="4389120"/>
            <a:ext cx="10515600" cy="640080"/>
          </a:xfrm>
          <a:prstGeom prst="rect">
            <a:avLst/>
          </a:prstGeom>
          <a:noFill/>
          <a:ln/>
        </p:spPr>
        <p:txBody>
          <a:bodyPr wrap="square" lIns="0" tIns="0" rIns="0" bIns="0" rtlCol="0" anchor="t"/>
          <a:lstStyle/>
          <a:p>
            <a:pPr indent="0" marL="0">
              <a:buNone/>
            </a:pPr>
            <a:r>
              <a:rPr lang="en-US" sz="2200" b="1" dirty="0">
                <a:solidFill>
                  <a:srgbClr val="E8A33D"/>
                </a:solidFill>
                <a:latin typeface="Calibri" pitchFamily="34" charset="0"/>
                <a:ea typeface="Calibri" pitchFamily="34" charset="-122"/>
                <a:cs typeface="Calibri" pitchFamily="34" charset="-120"/>
              </a:rPr>
              <a:t>3  </a:t>
            </a:r>
            <a:pPr indent="0" marL="0">
              <a:buNone/>
            </a:pPr>
            <a:r>
              <a:rPr lang="en-US" sz="2200" dirty="0">
                <a:solidFill>
                  <a:srgbClr val="FFFFFF"/>
                </a:solidFill>
                <a:latin typeface="Calibri" pitchFamily="34" charset="0"/>
                <a:ea typeface="Calibri" pitchFamily="34" charset="-122"/>
                <a:cs typeface="Calibri" pitchFamily="34" charset="-120"/>
              </a:rPr>
              <a:t>Schreib einen Tipp ins Heft, an dem du arbeitest – und was du gegen Störungen tust.</a:t>
            </a:r>
            <a:endParaRPr lang="en-US" sz="2200" dirty="0"/>
          </a:p>
        </p:txBody>
      </p:sp>
      <p:sp>
        <p:nvSpPr>
          <p:cNvPr id="8" name="Text 6"/>
          <p:cNvSpPr txBox="1"/>
          <p:nvPr/>
        </p:nvSpPr>
        <p:spPr>
          <a:xfrm>
            <a:off x="822960" y="6217920"/>
            <a:ext cx="10058400" cy="274320"/>
          </a:xfrm>
          <a:prstGeom prst="rect">
            <a:avLst/>
          </a:prstGeom>
          <a:noFill/>
          <a:ln/>
        </p:spPr>
        <p:txBody>
          <a:bodyPr wrap="square" lIns="0" tIns="0" rIns="0" bIns="0" rtlCol="0" anchor="t"/>
          <a:lstStyle/>
          <a:p>
            <a:pPr indent="0" marL="0">
              <a:buNone/>
            </a:pPr>
            <a:r>
              <a:rPr lang="en-US" sz="1100" dirty="0">
                <a:solidFill>
                  <a:srgbClr val="CADCFC"/>
                </a:solidFill>
                <a:latin typeface="Calibri" pitchFamily="34" charset="0"/>
                <a:ea typeface="Calibri" pitchFamily="34" charset="-122"/>
                <a:cs typeface="Calibri" pitchFamily="34" charset="-120"/>
              </a:rPr>
              <a:t>Grundlage: Kriterien zur Beurteilung der mündlichen Leistung (lehrerfreund.de)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Mündliche Noten</dc:title>
  <dc:subject>PptxGenJS Presentation</dc:subject>
  <dc:creator>PptxGenJS</dc:creator>
  <cp:lastModifiedBy>PptxGenJS</cp:lastModifiedBy>
  <cp:revision>1</cp:revision>
  <dcterms:created xsi:type="dcterms:W3CDTF">2026-10-13T18:54:16Z</dcterms:created>
  <dcterms:modified xsi:type="dcterms:W3CDTF">2026-10-13T18:54:16Z</dcterms:modified>
</cp:coreProperties>
</file>