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 vorlesen; am Ende im Zielcheck darauf zurückkommen. Ziel und Ablauf stehen auch an der Seitentafel.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 auf der nächsten Folie. Gezielt die Schüler drannehmen, die im Zielcheck am Donnerstag Fehler hatten.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 Grün verbessern.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Ich-Phase: In einem Ei steckt schon alles, was später daraus wird. In der Ballade stecken alle drei großen Gattungen der Literatur. Relevanz: Diese Merkmale braucht ihr für die erste Bewertung (Analyse).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Wir-Phase: Die Klasse nennt Merkmale. Impulse: Was hat jeder Song? (Strophen, Refrain, Reime) – Was braucht ein Spielbericht? (jemand erzählt, was passiert ist, in der Vergangenheit) – Was passiert in einer Serienszene? (Figuren reden miteinander, es gibt Streit, man will wissen, wie es weitergeht).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Wir-Phase abschließen: Merkmale aufdecken, mit den Schülerantworten vergleichen. Überleitung: Jetzt weist ihr diese Merkmale an Paddy Fingal nach – Schnipsel austeilen.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Schnipsel „Die Ballade – ein Ur-Ei“ (Woche 1) austeilen und einkleben lassen. Herumgehen. Typische Hürde: Höhepunkt (Nr. 5) – die Stelle, an der sich alles entscheidet (der Schotte steht vor dem Bett und sieht die Nase). Bei Nr. 6 Bezug zur Verb-Einheit: Woran erkennst du das Präteritum? (war, kroch, lief).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Erst einen Schüler seine Lösung mit Strophe nennen lassen, dann aufdecken. Alle verbessern mit Grün.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Erst einen Schüler seine Lösung mit Strophe nennen lassen, dann aufdecken. Alle verbessern mit Grün. Bei Nr. 5 sind andere begründete Grenzen auch richtig.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Erst einen Schüler seine Lösung mit Strophe nennen lassen, dann aufdecken. Alle verbessern mit Grün. Nr. 7: Es reicht, zwei Figuren mit Strophe zu nennen.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Allein im Heft, 4 Minuten, dann Lösungsfolie. Herumgehen: Wer noch Fehler hat, wird am Montag in der Wiederholung gezielt drangenommen.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 Grün verbessern. Alles richtig? Dann ist das Ziel erreicht.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206240"/>
            <a:ext cx="3657600" cy="36576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7452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FREITAG · 6.11.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Paddy Fingal – die Ballade als „Ur-Ei“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Gedicht, Erzählung und Theater in einem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Ziel und Ablauf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Freitag, 6.11. · Die Ballade als Ur-Ei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EAF0FA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554480"/>
            <a:ext cx="109728" cy="109728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1691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 </a:t>
            </a:r>
            <a:pPr indent="0" marL="0">
              <a:buNone/>
            </a:pPr>
            <a:r>
              <a:rPr lang="en-US" sz="2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kann an Paddy Fingal mit Belegen zeigen, dass eine Ballade Merkmale von Lyrik, Epik und Dramatik hat.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22960" y="29718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4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299923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Wiederholung: Ü1 Reimschema und Fachbegriffe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22960" y="36118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4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63931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Ballade als „Ur-Ei“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822960" y="425196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296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4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427939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Ü2 Merkmale an Paddy Fingal nachweisen (Schnipsel, * Nr. 8)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822960" y="48920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22960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40" dirty="0"/>
          </a:p>
        </p:txBody>
      </p:sp>
      <p:sp>
        <p:nvSpPr>
          <p:cNvPr id="21" name="Text 18"/>
          <p:cNvSpPr txBox="1"/>
          <p:nvPr/>
        </p:nvSpPr>
        <p:spPr>
          <a:xfrm>
            <a:off x="1417320" y="491947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Zielcheck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VORWISSEN AKTIVIEREN · WIEDERHOLUNG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Ü1  Reimschema und Fachbegriffe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Freitag, 6.11. · Die Ballade als Ur-Ei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Bestimme das Reimschema von Strophe 11 (V. 51–55) und nenne die Reimart.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201168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aber erhob ein Siegesgeschrei.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23774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kamen die Nachbarn rings herbei;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74320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staunten den großen Fingal an,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310896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den langen Schotten gejagt von dann,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47472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den tapfern Paddy Fingal.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Erkläre in je einem Satz: Strophe · Vers · Kehrreim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Minuten · allein im Heft      </a:t>
            </a:r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VORWISSEN AKTIVIEREN · Ü1 LÖSUNG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Ü1  Lösung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Freitag, 6.11. · Die Ballade als Ur-Ei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F4F7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00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Siegesgeschrei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280160" y="2194560"/>
            <a:ext cx="640080" cy="411480"/>
          </a:xfrm>
          <a:prstGeom prst="roundRect">
            <a:avLst>
              <a:gd name="adj" fmla="val 48889"/>
            </a:avLst>
          </a:prstGeom>
          <a:solidFill>
            <a:srgbClr val="2A8C8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280160" y="21945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788920" y="155448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F4F7F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788920" y="1600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herbei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3520440" y="2194560"/>
            <a:ext cx="640080" cy="411480"/>
          </a:xfrm>
          <a:prstGeom prst="roundRect">
            <a:avLst>
              <a:gd name="adj" fmla="val 48889"/>
            </a:avLst>
          </a:prstGeom>
          <a:solidFill>
            <a:srgbClr val="2A8C8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520440" y="21945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029200" y="155448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F4F7F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29200" y="1600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760720" y="2194560"/>
            <a:ext cx="640080" cy="411480"/>
          </a:xfrm>
          <a:prstGeom prst="roundRect">
            <a:avLst>
              <a:gd name="adj" fmla="val 48889"/>
            </a:avLst>
          </a:prstGeom>
          <a:solidFill>
            <a:srgbClr val="C77C1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760720" y="21945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7269480" y="155448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F4F7F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269480" y="1600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dann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8001000" y="2194560"/>
            <a:ext cx="640080" cy="411480"/>
          </a:xfrm>
          <a:prstGeom prst="roundRect">
            <a:avLst>
              <a:gd name="adj" fmla="val 48889"/>
            </a:avLst>
          </a:prstGeom>
          <a:solidFill>
            <a:srgbClr val="C77C1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001000" y="21945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9509760" y="155448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F4F7F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509760" y="1600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Paddy Fingal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10241280" y="2194560"/>
            <a:ext cx="640080" cy="411480"/>
          </a:xfrm>
          <a:prstGeom prst="roundRect">
            <a:avLst>
              <a:gd name="adj" fmla="val 48889"/>
            </a:avLst>
          </a:prstGeom>
          <a:solidFill>
            <a:srgbClr val="5B6B8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241280" y="21945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2788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Paarreim (aabb) + Kehrreim (x)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548640" y="338328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EAF0FA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22960" y="352044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Strophe: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Abschnitt der Ballade; zwischen zwei Strophen steht eine Leerzeile.
</a:t>
            </a:r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Vers: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Zeile der Ballade.
</a:t>
            </a:r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Kehrreim: </a:t>
            </a:r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Vers, der sich in jeder Strophe wiederholt (hier: „… Paddy Fingal“).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INFORMIEREN · DIE BALLADE ALS „UR-EI“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Goethe: Die Ballade ist ein „Ur-Ei“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Freitag, 6.11. · Die Ballade als Ur-Ei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194560" y="1417320"/>
            <a:ext cx="7772400" cy="4480560"/>
          </a:xfrm>
          <a:prstGeom prst="ellipse">
            <a:avLst/>
          </a:prstGeom>
          <a:solidFill>
            <a:srgbClr val="F4F7FD"/>
          </a:solidFill>
          <a:ln w="31750">
            <a:solidFill>
              <a:srgbClr val="1E276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0" y="1600200"/>
            <a:ext cx="0" cy="4114800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7406640" y="1600200"/>
            <a:ext cx="0" cy="4114800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2514600" y="2971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Lyrik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251460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ein Gedicht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2971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A5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Epik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eine Erzählung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2971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77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Dramatik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ein Theaterstück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INFORMIEREN · VERGLEICH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Woran erkennst du …?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Freitag, 6.11. · Die Ballade als Ur-Ei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2A8C8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46304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Lyrik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EAF0F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2402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ein Song-Text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30175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C9D3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154680"/>
            <a:ext cx="3246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13" name="Shape 10"/>
          <p:cNvSpPr/>
          <p:nvPr/>
        </p:nvSpPr>
        <p:spPr>
          <a:xfrm>
            <a:off x="4297680" y="146304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7A5BA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297680" y="146304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Epik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4297680" y="224028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EAF0F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297680" y="22402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ein Roman oder Spielbericht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297680" y="30175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C9D3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480560" y="3154680"/>
            <a:ext cx="3246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19" name="Shape 16"/>
          <p:cNvSpPr/>
          <p:nvPr/>
        </p:nvSpPr>
        <p:spPr>
          <a:xfrm>
            <a:off x="8046720" y="146304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C77C1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46720" y="146304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Dramatik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8046720" y="224028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EAF0F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046720" y="22402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eine Serienszene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046720" y="30175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C9D3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0" y="3154680"/>
            <a:ext cx="3246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9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Woran erkennst du einen Song, einen Spielbericht, eine Serienszene?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INFORMIEREN · VERGLEICH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steckt in der Ballade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Freitag, 6.11. · Die Ballade als Ur-Ei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2A8C8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46304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Lyrik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EAF0F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2402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ein Song-Text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30175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4F7F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3154680"/>
            <a:ext cx="3246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Strophen und Verse
</a:t>
            </a:r>
            <a:pPr algn="l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Reime
</a:t>
            </a:r>
            <a:pPr algn="l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Refrain (Kehrreim)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297680" y="146304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7A5BA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297680" y="146304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Epik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4297680" y="224028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EAF0F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297680" y="22402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ein Roman oder Spielbericht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297680" y="30175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4F7F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480560" y="3154680"/>
            <a:ext cx="3246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jemand erzählt (Erzähler)
</a:t>
            </a:r>
            <a:pPr algn="l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Figuren
</a:t>
            </a:r>
            <a:pPr algn="l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Handlung mit Anfang, Höhepunkt, Ende
</a:t>
            </a:r>
            <a:pPr algn="l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meist Präteritum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8046720" y="1463040"/>
            <a:ext cx="3611880" cy="685800"/>
          </a:xfrm>
          <a:prstGeom prst="roundRect">
            <a:avLst>
              <a:gd name="adj" fmla="val 10667"/>
            </a:avLst>
          </a:prstGeom>
          <a:solidFill>
            <a:srgbClr val="C77C1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46720" y="146304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Dramatik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8046720" y="224028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EAF0F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046720" y="22402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eine Serienszene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046720" y="30175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4F7F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229600" y="3154680"/>
            <a:ext cx="3246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Figuren sprechen selbst (wörtliche Rede)
</a:t>
            </a:r>
            <a:pPr algn="l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Konflikt
</a:t>
            </a:r>
            <a:pPr algn="l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Spannung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Ballade hat alle drei: Sie ist ein „Ur-Ei“.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VERARBEITEN · SCHNIPSEL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Ü2  Merkmale an Paddy Fingal nachweisen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Freitag, 6.11. · Die Ballade als Ur-Ei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63677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Fülle Nr. 1–3 (Lyrik) aus – das kennst du schon.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36829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Weise Nr. 4–7 (Epik, Dramatik) an Paddy Fingal nach.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09981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Notiere bei jedem Merkmal die Strophe.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383133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Dann * Nr. 8.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Minuten · allein      </a:t>
            </a:r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AUSWERTEN · Ü2 GEMEINSAM PRÜFEN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Ü2  Lösung – Lyrik – wie ein Gedicht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Freitag, 6.11. · Die Ballade als Ur-Ei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11064240" cy="109728"/>
          </a:xfrm>
          <a:prstGeom prst="roundRect">
            <a:avLst>
              <a:gd name="adj" fmla="val 66667"/>
            </a:avLst>
          </a:prstGeom>
          <a:solidFill>
            <a:srgbClr val="2A8C8C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7373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187452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Strophen mit je 5 Versen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3063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297180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Paarreim (aabb), z. B. Riesenart / Bart (Str. 1)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48640" y="39319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31520" y="4160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1463040" y="40690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„… Paddy Fingal“ – der Kehrreim (wird leicht abgewandelt)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AUSWERTEN · Ü2 GEMEINSAM PRÜFEN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Ü2  Lösung – Epik – wie eine Erzählung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Freitag, 6.11. · Die Ballade als Ur-Ei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11064240" cy="109728"/>
          </a:xfrm>
          <a:prstGeom prst="roundRect">
            <a:avLst>
              <a:gd name="adj" fmla="val 66667"/>
            </a:avLst>
          </a:prstGeom>
          <a:solidFill>
            <a:srgbClr val="7A5BA6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7373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187452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Figuren: Paddy Fingal, Schaya, der Schotte (* die Nachbarn)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3063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297180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Anfang Str. 1–3 · Höhepunkt Str. 8–9 (der Schotte sieht die Nase) · Ende Str. 10–11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48640" y="39319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31520" y="4160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1463040" y="40690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Präteritum, z. B. „Paddy Fingal war von Riesenart“ (Str. 1), „Ins Bette Paddy Fingal kroch“ (Str. 5)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AUSWERTEN · Ü2 GEMEINSAM PRÜFEN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Ü2  Lösung – Dramatik – wie ein Theaterstück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Freitag, 6.11. · Die Ballade als Ur-Ei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11064240" cy="109728"/>
          </a:xfrm>
          <a:prstGeom prst="roundRect">
            <a:avLst>
              <a:gd name="adj" fmla="val 66667"/>
            </a:avLst>
          </a:prstGeom>
          <a:solidFill>
            <a:srgbClr val="C77C12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7373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77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187452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Wörtliche Rede: Paddy (Str. 4), der Schotte (Str. 6, 9), Schaya (Str. 7)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3063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77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8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297180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Paddy gegen den Schotten – Frage: Findet der Schotte Paddy? Wer ist stärker?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Zielcheck: Hast du das Ziel erreicht?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Freitag, 6.11. · Die Ballade als Ur-Ei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Ordne jede Stelle einer Gattung zu: Lyrik, Epik oder Dramatik. Begründe mit dem Merkmal.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8640" y="2103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7F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230428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Riesenart – Bart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941832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1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31546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7F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3319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1463040" y="33558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lief er heim in jähem Schreck.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9418320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4, V. 16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4206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7F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" y="4370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40740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„O Schaya, birg mich im Versteck!“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9418320" y="4480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 4, V. 17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AF0F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77240" y="578815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Minuten · allein im Heft      </a:t>
            </a:r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Fertig? Stift hinlegen.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AUSWERTEN · SELBSTKONTROLLE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Zielcheck – Lösung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Freitag, 6.11. · Die Ballade als Ur-Ei · Deutsch 7A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554480"/>
            <a:ext cx="109728" cy="1005840"/>
          </a:xfrm>
          <a:prstGeom prst="rect">
            <a:avLst/>
          </a:prstGeom>
          <a:solidFill>
            <a:srgbClr val="2A8C8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8680" y="1801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pPr indent="0" marL="0">
              <a:buNone/>
            </a:pPr>
            <a:r>
              <a:rPr lang="en-US" sz="2100" b="1" dirty="0">
                <a:solidFill>
                  <a:srgbClr val="2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Lyrik: </a:t>
            </a:r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Reim: Riesenart und Bart klingen ab dem betonten Vokal gleich (Paarreim).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48640" y="27432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2743200"/>
            <a:ext cx="109728" cy="1005840"/>
          </a:xfrm>
          <a:prstGeom prst="rect">
            <a:avLst/>
          </a:prstGeom>
          <a:solidFill>
            <a:srgbClr val="7A5BA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8680" y="299008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pPr indent="0" marL="0">
              <a:buNone/>
            </a:pPr>
            <a:r>
              <a:rPr lang="en-US" sz="2100" b="1" dirty="0">
                <a:solidFill>
                  <a:srgbClr val="7A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Epik: </a:t>
            </a:r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Erzähler erzählt, was passiert – im Präteritum („lief“).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48640" y="39319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7FD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3931920"/>
            <a:ext cx="109728" cy="1005840"/>
          </a:xfrm>
          <a:prstGeom prst="rect">
            <a:avLst/>
          </a:prstGeom>
          <a:solidFill>
            <a:srgbClr val="C77C1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68680" y="41788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pPr indent="0" marL="0">
              <a:buNone/>
            </a:pPr>
            <a:r>
              <a:rPr lang="en-US" sz="2100" b="1" dirty="0">
                <a:solidFill>
                  <a:srgbClr val="C77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Dramatik: </a:t>
            </a:r>
            <a:pPr indent="0" marL="0">
              <a:buNone/>
            </a:pPr>
            <a:r>
              <a:rPr lang="en-US" sz="2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Figur spricht selbst: wörtliche Rede von Paddy.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Verbessere mit Grün. Alles richtig? Dann hast du das Ziel erreicht.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Deutsch 7A – Freitag 6.11.</dc:title>
  <dc:subject>PptxGenJS Presentation</dc:subject>
  <dc:creator>PptxGenJS</dc:creator>
  <cp:lastModifiedBy>PptxGenJS</cp:lastModifiedBy>
  <cp:revision>1</cp:revision>
  <dcterms:created xsi:type="dcterms:W3CDTF">2026-10-31T11:46:13Z</dcterms:created>
  <dcterms:modified xsi:type="dcterms:W3CDTF">2026-10-31T11:46:13Z</dcterms:modified>
</cp:coreProperties>
</file>