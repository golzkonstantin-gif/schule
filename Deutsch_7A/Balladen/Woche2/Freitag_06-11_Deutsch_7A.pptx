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Ziel vorlesen; am Ende im Zielcheck darauf zurückkommen. Ziel und Ablauf stehen auch an der Seitentafel.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Lösung auf der nächsten Folie. Gezielt die Schüler drannehmen, die im Zielcheck am Donnerstag Fehler hatten.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Mit Grün verbessern.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Ich-Phase: In einem Ei steckt schon alles, was später daraus wird. In der Ballade stecken alle drei großen Gattungen der Literatur. Relevanz: Diese Merkmale braucht ihr für die erste Bewertung (Analyse).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Wir-Phase, zu zweit (3 Min.): Ordnet A, B, C zu und notiert je ein Merkmal. Dann einzelne Paare nennen lassen. Impuls: Wer erzählt hier? Gibt es überhaupt einen Erzähler?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Merkmale aufdecken und mit den Antworten der Paare vergleichen. Entscheidend: Epik = ein Erzähler vermittelt (Er- oder Ich-Erzähler) und leitet Figurenrede ein; Dramatik = kein Erzähler, die Figuren sprechen unmittelbar. Wörtliche Rede gibt es in beiden – sie allein entscheidet nicht! Dieselbe Szene in drei Formen: Die Gattung hängt an der Form, nicht am Inhalt. Diese drei Texte werden am Montag wiederholt.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Gemeinsam: Der Erzähler leitet Paddys Rede ein (Epik). In Str. 7 und 9 sprechen die Figuren eine ganze Strophe lang ohne Erzähler – wie auf der Bühne (Dramatik). Und alles in Versen mit Reim (Lyrik). Überleitung: Jetzt weist ihr das selbst nach – Schnipsel austeilen.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Schnipsel „Die Ballade – ein Ur-Ei“ (geänderte Fassung in Woche 2: Nr. 6 und 7 geschärft) austeilen und einkleben lassen. Herumgehen. Typische Hürde: Höhepunkt (Nr. 5) – die Stelle, an der sich alles entscheidet (der Schotte steht vor dem Bett und sieht die Nase). Bei Nr. 6 Bezug zur Verb-Einheit: Woran erkennst du das Präteritum? (war, kroch, lief).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Erst einen Schüler seine Lösung mit Strophe nennen lassen, dann aufdecken. Alle verbessern mit Grün.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Erst einen Schüler seine Lösung mit Strophe nennen lassen, dann aufdecken. Alle verbessern mit Grün. Bei Nr. 5 sind andere begründete Grenzen auch richtig.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Erst einen Schüler seine Lösung mit Strophe nennen lassen, dann aufdecken. Alle verbessern mit Grün. Nr. 7: Wörtliche Rede allein reicht nicht – entscheidend ist, dass kein Erzähler dazwischen 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Allein im Heft, 4 Minuten, dann Lösungsfolie. D ist der Prüfstein: Hier steht zwar wörtliche Rede, aber der Erzähler leitet sie ein. Herumgehen: Wer noch Fehler hat, wird am Montag in der Wiederholung gezielt drangenommen.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Mit Grün verbessern. Bei D gilt auch eine gut begründete andere Antwort, wenn das Merkmal „Erzähler“ richtig benutzt wird.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692640" y="-1463040"/>
            <a:ext cx="4206240" cy="4206240"/>
          </a:xfrm>
          <a:prstGeom prst="ellipse">
            <a:avLst/>
          </a:prstGeom>
          <a:solidFill>
            <a:srgbClr val="24306E"/>
          </a:solidFill>
          <a:ln/>
        </p:spPr>
      </p:sp>
      <p:sp>
        <p:nvSpPr>
          <p:cNvPr id="3" name="Shape 1"/>
          <p:cNvSpPr/>
          <p:nvPr/>
        </p:nvSpPr>
        <p:spPr>
          <a:xfrm>
            <a:off x="-1371600" y="4206240"/>
            <a:ext cx="3657600" cy="3657600"/>
          </a:xfrm>
          <a:prstGeom prst="ellipse">
            <a:avLst/>
          </a:prstGeom>
          <a:solidFill>
            <a:srgbClr val="24306E"/>
          </a:solidFill>
          <a:ln/>
        </p:spPr>
      </p:sp>
      <p:sp>
        <p:nvSpPr>
          <p:cNvPr id="4" name="Shape 2"/>
          <p:cNvSpPr/>
          <p:nvPr/>
        </p:nvSpPr>
        <p:spPr>
          <a:xfrm>
            <a:off x="822960" y="1874520"/>
            <a:ext cx="2926080" cy="384048"/>
          </a:xfrm>
          <a:prstGeom prst="roundRect">
            <a:avLst>
              <a:gd name="adj" fmla="val 50000"/>
            </a:avLst>
          </a:prstGeom>
          <a:solidFill>
            <a:srgbClr val="E8A33D"/>
          </a:solidFill>
          <a:ln/>
        </p:spPr>
      </p:sp>
      <p:sp>
        <p:nvSpPr>
          <p:cNvPr id="5" name="Text 3"/>
          <p:cNvSpPr txBox="1"/>
          <p:nvPr/>
        </p:nvSpPr>
        <p:spPr>
          <a:xfrm>
            <a:off x="822960" y="1874520"/>
            <a:ext cx="292608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FREITAG · 6.11.</a:t>
            </a:r>
            <a:endParaRPr lang="en-US" sz="1200" dirty="0"/>
          </a:p>
        </p:txBody>
      </p:sp>
      <p:sp>
        <p:nvSpPr>
          <p:cNvPr id="6" name="Text 4"/>
          <p:cNvSpPr txBox="1"/>
          <p:nvPr/>
        </p:nvSpPr>
        <p:spPr>
          <a:xfrm>
            <a:off x="822960" y="2423160"/>
            <a:ext cx="10972800" cy="91440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Paddy Fingal – die Ballade als „Ur-Ei“</a:t>
            </a:r>
            <a:endParaRPr lang="en-US" sz="4000" dirty="0"/>
          </a:p>
        </p:txBody>
      </p:sp>
      <p:sp>
        <p:nvSpPr>
          <p:cNvPr id="7" name="Text 5"/>
          <p:cNvSpPr txBox="1"/>
          <p:nvPr/>
        </p:nvSpPr>
        <p:spPr>
          <a:xfrm>
            <a:off x="822960" y="3429000"/>
            <a:ext cx="10515600" cy="457200"/>
          </a:xfrm>
          <a:prstGeom prst="rect">
            <a:avLst/>
          </a:prstGeom>
          <a:noFill/>
          <a:ln/>
        </p:spPr>
        <p:txBody>
          <a:bodyPr wrap="square" lIns="0" tIns="0" rIns="0" bIns="0" rtlCol="0" anchor="t"/>
          <a:lstStyle/>
          <a:p>
            <a:pPr indent="0" marL="0">
              <a:buNone/>
            </a:pPr>
            <a:r>
              <a:rPr lang="en-US" sz="2000" i="1" dirty="0">
                <a:solidFill>
                  <a:srgbClr val="CADCFC"/>
                </a:solidFill>
                <a:latin typeface="Calibri" pitchFamily="34" charset="0"/>
                <a:ea typeface="Calibri" pitchFamily="34" charset="-122"/>
                <a:cs typeface="Calibri" pitchFamily="34" charset="-120"/>
              </a:rPr>
              <a:t>Gedicht, Erzählung und Theater in einem</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HEUTE</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Ziel und Ablauf</a:t>
            </a:r>
            <a:endParaRPr lang="en-US" sz="3200" dirty="0"/>
          </a:p>
        </p:txBody>
      </p:sp>
      <p:sp>
        <p:nvSpPr>
          <p:cNvPr id="4" name="Text 2"/>
          <p:cNvSpPr txBox="1"/>
          <p:nvPr/>
        </p:nvSpPr>
        <p:spPr>
          <a:xfrm>
            <a:off x="548640" y="6400800"/>
            <a:ext cx="64008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Freitag, 6.11. · Die Ballade als Ur-Ei · Deutsch 7A</a:t>
            </a:r>
            <a:endParaRPr lang="en-US" sz="1000" dirty="0"/>
          </a:p>
        </p:txBody>
      </p:sp>
      <p:sp>
        <p:nvSpPr>
          <p:cNvPr id="5" name="Text 3"/>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2</a:t>
            </a:r>
            <a:endParaRPr lang="en-US" sz="1000" dirty="0"/>
          </a:p>
        </p:txBody>
      </p:sp>
      <p:sp>
        <p:nvSpPr>
          <p:cNvPr id="7" name="Shape 4"/>
          <p:cNvSpPr/>
          <p:nvPr/>
        </p:nvSpPr>
        <p:spPr>
          <a:xfrm>
            <a:off x="548640" y="1554480"/>
            <a:ext cx="11064240" cy="1097280"/>
          </a:xfrm>
          <a:prstGeom prst="roundRect">
            <a:avLst>
              <a:gd name="adj" fmla="val 6667"/>
            </a:avLst>
          </a:prstGeom>
          <a:solidFill>
            <a:srgbClr val="EAF0FA"/>
          </a:solidFill>
          <a:ln/>
        </p:spPr>
      </p:sp>
      <p:sp>
        <p:nvSpPr>
          <p:cNvPr id="8" name="Shape 5"/>
          <p:cNvSpPr/>
          <p:nvPr/>
        </p:nvSpPr>
        <p:spPr>
          <a:xfrm>
            <a:off x="548640" y="1554480"/>
            <a:ext cx="109728" cy="1097280"/>
          </a:xfrm>
          <a:prstGeom prst="rect">
            <a:avLst/>
          </a:prstGeom>
          <a:solidFill>
            <a:srgbClr val="D9534F"/>
          </a:solidFill>
          <a:ln/>
        </p:spPr>
      </p:sp>
      <p:sp>
        <p:nvSpPr>
          <p:cNvPr id="9" name="Text 6"/>
          <p:cNvSpPr txBox="1"/>
          <p:nvPr/>
        </p:nvSpPr>
        <p:spPr>
          <a:xfrm>
            <a:off x="914400" y="1691640"/>
            <a:ext cx="10515600" cy="868680"/>
          </a:xfrm>
          <a:prstGeom prst="rect">
            <a:avLst/>
          </a:prstGeom>
          <a:noFill/>
          <a:ln/>
        </p:spPr>
        <p:txBody>
          <a:bodyPr wrap="square" lIns="0" tIns="0" rIns="0" bIns="0" rtlCol="0" anchor="t"/>
          <a:lstStyle/>
          <a:p>
            <a:pPr indent="0" marL="0">
              <a:buNone/>
            </a:pPr>
            <a:r>
              <a:rPr lang="en-US" sz="2100" b="1" dirty="0">
                <a:solidFill>
                  <a:srgbClr val="D9534F"/>
                </a:solidFill>
                <a:latin typeface="Calibri" pitchFamily="34" charset="0"/>
                <a:ea typeface="Calibri" pitchFamily="34" charset="-122"/>
                <a:cs typeface="Calibri" pitchFamily="34" charset="-120"/>
              </a:rPr>
              <a:t>Ziel:  </a:t>
            </a:r>
            <a:pPr indent="0" marL="0">
              <a:buNone/>
            </a:pPr>
            <a:r>
              <a:rPr lang="en-US" sz="2100" i="1" dirty="0">
                <a:solidFill>
                  <a:srgbClr val="1E2761"/>
                </a:solidFill>
                <a:latin typeface="Calibri" pitchFamily="34" charset="0"/>
                <a:ea typeface="Calibri" pitchFamily="34" charset="-122"/>
                <a:cs typeface="Calibri" pitchFamily="34" charset="-120"/>
              </a:rPr>
              <a:t>Ich kann an Paddy Fingal mit Belegen zeigen, dass eine Ballade Merkmale von Lyrik, Epik und Dramatik hat.</a:t>
            </a:r>
            <a:endParaRPr lang="en-US" sz="2100" dirty="0"/>
          </a:p>
        </p:txBody>
      </p:sp>
      <p:sp>
        <p:nvSpPr>
          <p:cNvPr id="10" name="Shape 7"/>
          <p:cNvSpPr/>
          <p:nvPr/>
        </p:nvSpPr>
        <p:spPr>
          <a:xfrm>
            <a:off x="822960" y="2971800"/>
            <a:ext cx="411480" cy="411480"/>
          </a:xfrm>
          <a:prstGeom prst="ellipse">
            <a:avLst/>
          </a:prstGeom>
          <a:solidFill>
            <a:srgbClr val="1E2761"/>
          </a:solidFill>
          <a:ln/>
        </p:spPr>
      </p:sp>
      <p:sp>
        <p:nvSpPr>
          <p:cNvPr id="11" name="Text 8"/>
          <p:cNvSpPr txBox="1"/>
          <p:nvPr/>
        </p:nvSpPr>
        <p:spPr>
          <a:xfrm>
            <a:off x="822960" y="2971800"/>
            <a:ext cx="411480" cy="411480"/>
          </a:xfrm>
          <a:prstGeom prst="rect">
            <a:avLst/>
          </a:prstGeom>
          <a:noFill/>
          <a:ln/>
        </p:spPr>
        <p:txBody>
          <a:bodyPr wrap="square" lIns="0" tIns="0" rIns="0" bIns="0" rtlCol="0" anchor="ctr"/>
          <a:lstStyle/>
          <a:p>
            <a:pPr algn="ctr" indent="0" marL="0">
              <a:buNone/>
            </a:pPr>
            <a:r>
              <a:rPr lang="en-US" sz="1440" b="1" dirty="0">
                <a:solidFill>
                  <a:srgbClr val="FFFFFF"/>
                </a:solidFill>
                <a:latin typeface="Calibri" pitchFamily="34" charset="0"/>
                <a:ea typeface="Calibri" pitchFamily="34" charset="-122"/>
                <a:cs typeface="Calibri" pitchFamily="34" charset="-120"/>
              </a:rPr>
              <a:t>1</a:t>
            </a:r>
            <a:endParaRPr lang="en-US" sz="1440" dirty="0"/>
          </a:p>
        </p:txBody>
      </p:sp>
      <p:sp>
        <p:nvSpPr>
          <p:cNvPr id="12" name="Text 9"/>
          <p:cNvSpPr txBox="1"/>
          <p:nvPr/>
        </p:nvSpPr>
        <p:spPr>
          <a:xfrm>
            <a:off x="1417320" y="2999232"/>
            <a:ext cx="9144000" cy="457200"/>
          </a:xfrm>
          <a:prstGeom prst="rect">
            <a:avLst/>
          </a:prstGeom>
          <a:noFill/>
          <a:ln/>
        </p:spPr>
        <p:txBody>
          <a:bodyPr wrap="square" lIns="0" tIns="0" rIns="0" bIns="0" rtlCol="0" anchor="t"/>
          <a:lstStyle/>
          <a:p>
            <a:pPr indent="0" marL="0">
              <a:buNone/>
            </a:pPr>
            <a:r>
              <a:rPr lang="en-US" sz="2000" dirty="0">
                <a:solidFill>
                  <a:srgbClr val="1E2761"/>
                </a:solidFill>
                <a:latin typeface="Calibri" pitchFamily="34" charset="0"/>
                <a:ea typeface="Calibri" pitchFamily="34" charset="-122"/>
                <a:cs typeface="Calibri" pitchFamily="34" charset="-120"/>
              </a:rPr>
              <a:t>Wiederholung: Ü1 Reimschema und Fachbegriffe</a:t>
            </a:r>
            <a:endParaRPr lang="en-US" sz="2000" dirty="0"/>
          </a:p>
        </p:txBody>
      </p:sp>
      <p:sp>
        <p:nvSpPr>
          <p:cNvPr id="13" name="Shape 10"/>
          <p:cNvSpPr/>
          <p:nvPr/>
        </p:nvSpPr>
        <p:spPr>
          <a:xfrm>
            <a:off x="822960" y="3611880"/>
            <a:ext cx="411480" cy="411480"/>
          </a:xfrm>
          <a:prstGeom prst="ellipse">
            <a:avLst/>
          </a:prstGeom>
          <a:solidFill>
            <a:srgbClr val="1E2761"/>
          </a:solidFill>
          <a:ln/>
        </p:spPr>
      </p:sp>
      <p:sp>
        <p:nvSpPr>
          <p:cNvPr id="14" name="Text 11"/>
          <p:cNvSpPr txBox="1"/>
          <p:nvPr/>
        </p:nvSpPr>
        <p:spPr>
          <a:xfrm>
            <a:off x="822960" y="3611880"/>
            <a:ext cx="411480" cy="411480"/>
          </a:xfrm>
          <a:prstGeom prst="rect">
            <a:avLst/>
          </a:prstGeom>
          <a:noFill/>
          <a:ln/>
        </p:spPr>
        <p:txBody>
          <a:bodyPr wrap="square" lIns="0" tIns="0" rIns="0" bIns="0" rtlCol="0" anchor="ctr"/>
          <a:lstStyle/>
          <a:p>
            <a:pPr algn="ctr" indent="0" marL="0">
              <a:buNone/>
            </a:pPr>
            <a:r>
              <a:rPr lang="en-US" sz="1440" b="1" dirty="0">
                <a:solidFill>
                  <a:srgbClr val="FFFFFF"/>
                </a:solidFill>
                <a:latin typeface="Calibri" pitchFamily="34" charset="0"/>
                <a:ea typeface="Calibri" pitchFamily="34" charset="-122"/>
                <a:cs typeface="Calibri" pitchFamily="34" charset="-120"/>
              </a:rPr>
              <a:t>2</a:t>
            </a:r>
            <a:endParaRPr lang="en-US" sz="1440" dirty="0"/>
          </a:p>
        </p:txBody>
      </p:sp>
      <p:sp>
        <p:nvSpPr>
          <p:cNvPr id="15" name="Text 12"/>
          <p:cNvSpPr txBox="1"/>
          <p:nvPr/>
        </p:nvSpPr>
        <p:spPr>
          <a:xfrm>
            <a:off x="1417320" y="3639312"/>
            <a:ext cx="9144000" cy="457200"/>
          </a:xfrm>
          <a:prstGeom prst="rect">
            <a:avLst/>
          </a:prstGeom>
          <a:noFill/>
          <a:ln/>
        </p:spPr>
        <p:txBody>
          <a:bodyPr wrap="square" lIns="0" tIns="0" rIns="0" bIns="0" rtlCol="0" anchor="t"/>
          <a:lstStyle/>
          <a:p>
            <a:pPr indent="0" marL="0">
              <a:buNone/>
            </a:pPr>
            <a:r>
              <a:rPr lang="en-US" sz="2000" dirty="0">
                <a:solidFill>
                  <a:srgbClr val="1E2761"/>
                </a:solidFill>
                <a:latin typeface="Calibri" pitchFamily="34" charset="0"/>
                <a:ea typeface="Calibri" pitchFamily="34" charset="-122"/>
                <a:cs typeface="Calibri" pitchFamily="34" charset="-120"/>
              </a:rPr>
              <a:t>Die Ballade als „Ur-Ei“</a:t>
            </a:r>
            <a:endParaRPr lang="en-US" sz="2000" dirty="0"/>
          </a:p>
        </p:txBody>
      </p:sp>
      <p:sp>
        <p:nvSpPr>
          <p:cNvPr id="16" name="Shape 13"/>
          <p:cNvSpPr/>
          <p:nvPr/>
        </p:nvSpPr>
        <p:spPr>
          <a:xfrm>
            <a:off x="822960" y="4251960"/>
            <a:ext cx="411480" cy="411480"/>
          </a:xfrm>
          <a:prstGeom prst="ellipse">
            <a:avLst/>
          </a:prstGeom>
          <a:solidFill>
            <a:srgbClr val="1E2761"/>
          </a:solidFill>
          <a:ln/>
        </p:spPr>
      </p:sp>
      <p:sp>
        <p:nvSpPr>
          <p:cNvPr id="17" name="Text 14"/>
          <p:cNvSpPr txBox="1"/>
          <p:nvPr/>
        </p:nvSpPr>
        <p:spPr>
          <a:xfrm>
            <a:off x="822960" y="4251960"/>
            <a:ext cx="411480" cy="411480"/>
          </a:xfrm>
          <a:prstGeom prst="rect">
            <a:avLst/>
          </a:prstGeom>
          <a:noFill/>
          <a:ln/>
        </p:spPr>
        <p:txBody>
          <a:bodyPr wrap="square" lIns="0" tIns="0" rIns="0" bIns="0" rtlCol="0" anchor="ctr"/>
          <a:lstStyle/>
          <a:p>
            <a:pPr algn="ctr" indent="0" marL="0">
              <a:buNone/>
            </a:pPr>
            <a:r>
              <a:rPr lang="en-US" sz="1440" b="1" dirty="0">
                <a:solidFill>
                  <a:srgbClr val="FFFFFF"/>
                </a:solidFill>
                <a:latin typeface="Calibri" pitchFamily="34" charset="0"/>
                <a:ea typeface="Calibri" pitchFamily="34" charset="-122"/>
                <a:cs typeface="Calibri" pitchFamily="34" charset="-120"/>
              </a:rPr>
              <a:t>3</a:t>
            </a:r>
            <a:endParaRPr lang="en-US" sz="1440" dirty="0"/>
          </a:p>
        </p:txBody>
      </p:sp>
      <p:sp>
        <p:nvSpPr>
          <p:cNvPr id="18" name="Text 15"/>
          <p:cNvSpPr txBox="1"/>
          <p:nvPr/>
        </p:nvSpPr>
        <p:spPr>
          <a:xfrm>
            <a:off x="1417320" y="4279392"/>
            <a:ext cx="9144000" cy="457200"/>
          </a:xfrm>
          <a:prstGeom prst="rect">
            <a:avLst/>
          </a:prstGeom>
          <a:noFill/>
          <a:ln/>
        </p:spPr>
        <p:txBody>
          <a:bodyPr wrap="square" lIns="0" tIns="0" rIns="0" bIns="0" rtlCol="0" anchor="t"/>
          <a:lstStyle/>
          <a:p>
            <a:pPr indent="0" marL="0">
              <a:buNone/>
            </a:pPr>
            <a:r>
              <a:rPr lang="en-US" sz="2000" dirty="0">
                <a:solidFill>
                  <a:srgbClr val="1E2761"/>
                </a:solidFill>
                <a:latin typeface="Calibri" pitchFamily="34" charset="0"/>
                <a:ea typeface="Calibri" pitchFamily="34" charset="-122"/>
                <a:cs typeface="Calibri" pitchFamily="34" charset="-120"/>
              </a:rPr>
              <a:t>Ü2 Merkmale an Paddy Fingal nachweisen (Schnipsel, * Nr. 8)</a:t>
            </a:r>
            <a:endParaRPr lang="en-US" sz="2000" dirty="0"/>
          </a:p>
        </p:txBody>
      </p:sp>
      <p:sp>
        <p:nvSpPr>
          <p:cNvPr id="19" name="Shape 16"/>
          <p:cNvSpPr/>
          <p:nvPr/>
        </p:nvSpPr>
        <p:spPr>
          <a:xfrm>
            <a:off x="822960" y="4892040"/>
            <a:ext cx="411480" cy="411480"/>
          </a:xfrm>
          <a:prstGeom prst="ellipse">
            <a:avLst/>
          </a:prstGeom>
          <a:solidFill>
            <a:srgbClr val="1E2761"/>
          </a:solidFill>
          <a:ln/>
        </p:spPr>
      </p:sp>
      <p:sp>
        <p:nvSpPr>
          <p:cNvPr id="20" name="Text 17"/>
          <p:cNvSpPr txBox="1"/>
          <p:nvPr/>
        </p:nvSpPr>
        <p:spPr>
          <a:xfrm>
            <a:off x="822960" y="4892040"/>
            <a:ext cx="411480" cy="411480"/>
          </a:xfrm>
          <a:prstGeom prst="rect">
            <a:avLst/>
          </a:prstGeom>
          <a:noFill/>
          <a:ln/>
        </p:spPr>
        <p:txBody>
          <a:bodyPr wrap="square" lIns="0" tIns="0" rIns="0" bIns="0" rtlCol="0" anchor="ctr"/>
          <a:lstStyle/>
          <a:p>
            <a:pPr algn="ctr" indent="0" marL="0">
              <a:buNone/>
            </a:pPr>
            <a:r>
              <a:rPr lang="en-US" sz="1440" b="1" dirty="0">
                <a:solidFill>
                  <a:srgbClr val="FFFFFF"/>
                </a:solidFill>
                <a:latin typeface="Calibri" pitchFamily="34" charset="0"/>
                <a:ea typeface="Calibri" pitchFamily="34" charset="-122"/>
                <a:cs typeface="Calibri" pitchFamily="34" charset="-120"/>
              </a:rPr>
              <a:t>4</a:t>
            </a:r>
            <a:endParaRPr lang="en-US" sz="1440" dirty="0"/>
          </a:p>
        </p:txBody>
      </p:sp>
      <p:sp>
        <p:nvSpPr>
          <p:cNvPr id="21" name="Text 18"/>
          <p:cNvSpPr txBox="1"/>
          <p:nvPr/>
        </p:nvSpPr>
        <p:spPr>
          <a:xfrm>
            <a:off x="1417320" y="4919472"/>
            <a:ext cx="9144000" cy="457200"/>
          </a:xfrm>
          <a:prstGeom prst="rect">
            <a:avLst/>
          </a:prstGeom>
          <a:noFill/>
          <a:ln/>
        </p:spPr>
        <p:txBody>
          <a:bodyPr wrap="square" lIns="0" tIns="0" rIns="0" bIns="0" rtlCol="0" anchor="t"/>
          <a:lstStyle/>
          <a:p>
            <a:pPr indent="0" marL="0">
              <a:buNone/>
            </a:pPr>
            <a:r>
              <a:rPr lang="en-US" sz="2000" dirty="0">
                <a:solidFill>
                  <a:srgbClr val="1E2761"/>
                </a:solidFill>
                <a:latin typeface="Calibri" pitchFamily="34" charset="0"/>
                <a:ea typeface="Calibri" pitchFamily="34" charset="-122"/>
                <a:cs typeface="Calibri" pitchFamily="34" charset="-120"/>
              </a:rPr>
              <a:t>Zielcheck</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VORWISSEN AKTIVIEREN · WIEDERHOLUNG</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Ü1  Reimschema und Fachbegriffe</a:t>
            </a:r>
            <a:endParaRPr lang="en-US" sz="3200" dirty="0"/>
          </a:p>
        </p:txBody>
      </p:sp>
      <p:sp>
        <p:nvSpPr>
          <p:cNvPr id="4" name="Text 2"/>
          <p:cNvSpPr txBox="1"/>
          <p:nvPr/>
        </p:nvSpPr>
        <p:spPr>
          <a:xfrm>
            <a:off x="548640" y="6400800"/>
            <a:ext cx="64008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Freitag, 6.11. · Die Ballade als Ur-Ei · Deutsch 7A</a:t>
            </a:r>
            <a:endParaRPr lang="en-US" sz="1000" dirty="0"/>
          </a:p>
        </p:txBody>
      </p:sp>
      <p:sp>
        <p:nvSpPr>
          <p:cNvPr id="5" name="Text 3"/>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3</a:t>
            </a:r>
            <a:endParaRPr lang="en-US" sz="1000" dirty="0"/>
          </a:p>
        </p:txBody>
      </p:sp>
      <p:sp>
        <p:nvSpPr>
          <p:cNvPr id="7" name="Text 4"/>
          <p:cNvSpPr txBox="1"/>
          <p:nvPr/>
        </p:nvSpPr>
        <p:spPr>
          <a:xfrm>
            <a:off x="548640" y="1417320"/>
            <a:ext cx="11064240" cy="457200"/>
          </a:xfrm>
          <a:prstGeom prst="rect">
            <a:avLst/>
          </a:prstGeom>
          <a:noFill/>
          <a:ln/>
        </p:spPr>
        <p:txBody>
          <a:bodyPr wrap="square" lIns="0" tIns="0" rIns="0" bIns="0" rtlCol="0" anchor="t"/>
          <a:lstStyle/>
          <a:p>
            <a:pPr indent="0" marL="0">
              <a:buNone/>
            </a:pPr>
            <a:r>
              <a:rPr lang="en-US" sz="1900" b="1" dirty="0">
                <a:solidFill>
                  <a:srgbClr val="D9534F"/>
                </a:solidFill>
                <a:latin typeface="Calibri" pitchFamily="34" charset="0"/>
                <a:ea typeface="Calibri" pitchFamily="34" charset="-122"/>
                <a:cs typeface="Calibri" pitchFamily="34" charset="-120"/>
              </a:rPr>
              <a:t>a  </a:t>
            </a:r>
            <a:pPr indent="0" marL="0">
              <a:buNone/>
            </a:pPr>
            <a:r>
              <a:rPr lang="en-US" sz="1900" b="1" dirty="0">
                <a:solidFill>
                  <a:srgbClr val="1E2761"/>
                </a:solidFill>
                <a:latin typeface="Calibri" pitchFamily="34" charset="0"/>
                <a:ea typeface="Calibri" pitchFamily="34" charset="-122"/>
                <a:cs typeface="Calibri" pitchFamily="34" charset="-120"/>
              </a:rPr>
              <a:t>Bestimme das Reimschema von Strophe 11 (V. 51–55) und nenne die Reimart.</a:t>
            </a:r>
            <a:endParaRPr lang="en-US" sz="1900" dirty="0"/>
          </a:p>
        </p:txBody>
      </p:sp>
      <p:sp>
        <p:nvSpPr>
          <p:cNvPr id="8" name="Shape 5"/>
          <p:cNvSpPr/>
          <p:nvPr/>
        </p:nvSpPr>
        <p:spPr>
          <a:xfrm>
            <a:off x="548640" y="1920240"/>
            <a:ext cx="11064240" cy="1965960"/>
          </a:xfrm>
          <a:prstGeom prst="roundRect">
            <a:avLst>
              <a:gd name="adj" fmla="val 3721"/>
            </a:avLst>
          </a:prstGeom>
          <a:solidFill>
            <a:srgbClr val="F4F7FD"/>
          </a:solidFill>
          <a:ln/>
        </p:spPr>
      </p:sp>
      <p:sp>
        <p:nvSpPr>
          <p:cNvPr id="9" name="Text 6"/>
          <p:cNvSpPr txBox="1"/>
          <p:nvPr/>
        </p:nvSpPr>
        <p:spPr>
          <a:xfrm>
            <a:off x="914400" y="2011680"/>
            <a:ext cx="10058400" cy="347472"/>
          </a:xfrm>
          <a:prstGeom prst="rect">
            <a:avLst/>
          </a:prstGeom>
          <a:noFill/>
          <a:ln/>
        </p:spPr>
        <p:txBody>
          <a:bodyPr wrap="square" lIns="0" tIns="0" rIns="0" bIns="0" rtlCol="0" anchor="t"/>
          <a:lstStyle/>
          <a:p>
            <a:pPr indent="0" marL="0">
              <a:buNone/>
            </a:pPr>
            <a:r>
              <a:rPr lang="en-US" sz="1900" dirty="0">
                <a:solidFill>
                  <a:srgbClr val="1E2761"/>
                </a:solidFill>
                <a:latin typeface="Cambria" pitchFamily="34" charset="0"/>
                <a:ea typeface="Cambria" pitchFamily="34" charset="-122"/>
                <a:cs typeface="Cambria" pitchFamily="34" charset="-120"/>
              </a:rPr>
              <a:t>Der aber erhob ein Siegesgeschrei.</a:t>
            </a:r>
            <a:endParaRPr lang="en-US" sz="1900" dirty="0"/>
          </a:p>
        </p:txBody>
      </p:sp>
      <p:sp>
        <p:nvSpPr>
          <p:cNvPr id="10" name="Text 7"/>
          <p:cNvSpPr txBox="1"/>
          <p:nvPr/>
        </p:nvSpPr>
        <p:spPr>
          <a:xfrm>
            <a:off x="914400" y="2377440"/>
            <a:ext cx="10058400" cy="347472"/>
          </a:xfrm>
          <a:prstGeom prst="rect">
            <a:avLst/>
          </a:prstGeom>
          <a:noFill/>
          <a:ln/>
        </p:spPr>
        <p:txBody>
          <a:bodyPr wrap="square" lIns="0" tIns="0" rIns="0" bIns="0" rtlCol="0" anchor="t"/>
          <a:lstStyle/>
          <a:p>
            <a:pPr indent="0" marL="0">
              <a:buNone/>
            </a:pPr>
            <a:r>
              <a:rPr lang="en-US" sz="1900" dirty="0">
                <a:solidFill>
                  <a:srgbClr val="1E2761"/>
                </a:solidFill>
                <a:latin typeface="Cambria" pitchFamily="34" charset="0"/>
                <a:ea typeface="Cambria" pitchFamily="34" charset="-122"/>
                <a:cs typeface="Cambria" pitchFamily="34" charset="-120"/>
              </a:rPr>
              <a:t>Da kamen die Nachbarn rings herbei;</a:t>
            </a:r>
            <a:endParaRPr lang="en-US" sz="1900" dirty="0"/>
          </a:p>
        </p:txBody>
      </p:sp>
      <p:sp>
        <p:nvSpPr>
          <p:cNvPr id="11" name="Text 8"/>
          <p:cNvSpPr txBox="1"/>
          <p:nvPr/>
        </p:nvSpPr>
        <p:spPr>
          <a:xfrm>
            <a:off x="914400" y="2743200"/>
            <a:ext cx="10058400" cy="347472"/>
          </a:xfrm>
          <a:prstGeom prst="rect">
            <a:avLst/>
          </a:prstGeom>
          <a:noFill/>
          <a:ln/>
        </p:spPr>
        <p:txBody>
          <a:bodyPr wrap="square" lIns="0" tIns="0" rIns="0" bIns="0" rtlCol="0" anchor="t"/>
          <a:lstStyle/>
          <a:p>
            <a:pPr indent="0" marL="0">
              <a:buNone/>
            </a:pPr>
            <a:r>
              <a:rPr lang="en-US" sz="1900" dirty="0">
                <a:solidFill>
                  <a:srgbClr val="1E2761"/>
                </a:solidFill>
                <a:latin typeface="Cambria" pitchFamily="34" charset="0"/>
                <a:ea typeface="Cambria" pitchFamily="34" charset="-122"/>
                <a:cs typeface="Cambria" pitchFamily="34" charset="-120"/>
              </a:rPr>
              <a:t>die staunten den großen Fingal an,</a:t>
            </a:r>
            <a:endParaRPr lang="en-US" sz="1900" dirty="0"/>
          </a:p>
        </p:txBody>
      </p:sp>
      <p:sp>
        <p:nvSpPr>
          <p:cNvPr id="12" name="Text 9"/>
          <p:cNvSpPr txBox="1"/>
          <p:nvPr/>
        </p:nvSpPr>
        <p:spPr>
          <a:xfrm>
            <a:off x="914400" y="3108960"/>
            <a:ext cx="10058400" cy="347472"/>
          </a:xfrm>
          <a:prstGeom prst="rect">
            <a:avLst/>
          </a:prstGeom>
          <a:noFill/>
          <a:ln/>
        </p:spPr>
        <p:txBody>
          <a:bodyPr wrap="square" lIns="0" tIns="0" rIns="0" bIns="0" rtlCol="0" anchor="t"/>
          <a:lstStyle/>
          <a:p>
            <a:pPr indent="0" marL="0">
              <a:buNone/>
            </a:pPr>
            <a:r>
              <a:rPr lang="en-US" sz="1900" dirty="0">
                <a:solidFill>
                  <a:srgbClr val="1E2761"/>
                </a:solidFill>
                <a:latin typeface="Cambria" pitchFamily="34" charset="0"/>
                <a:ea typeface="Cambria" pitchFamily="34" charset="-122"/>
                <a:cs typeface="Cambria" pitchFamily="34" charset="-120"/>
              </a:rPr>
              <a:t>der den langen Schotten gejagt von dann,</a:t>
            </a:r>
            <a:endParaRPr lang="en-US" sz="1900" dirty="0"/>
          </a:p>
        </p:txBody>
      </p:sp>
      <p:sp>
        <p:nvSpPr>
          <p:cNvPr id="13" name="Text 10"/>
          <p:cNvSpPr txBox="1"/>
          <p:nvPr/>
        </p:nvSpPr>
        <p:spPr>
          <a:xfrm>
            <a:off x="914400" y="3474720"/>
            <a:ext cx="10058400" cy="347472"/>
          </a:xfrm>
          <a:prstGeom prst="rect">
            <a:avLst/>
          </a:prstGeom>
          <a:noFill/>
          <a:ln/>
        </p:spPr>
        <p:txBody>
          <a:bodyPr wrap="square" lIns="0" tIns="0" rIns="0" bIns="0" rtlCol="0" anchor="t"/>
          <a:lstStyle/>
          <a:p>
            <a:pPr indent="0" marL="0">
              <a:buNone/>
            </a:pPr>
            <a:r>
              <a:rPr lang="en-US" sz="1900" dirty="0">
                <a:solidFill>
                  <a:srgbClr val="1E2761"/>
                </a:solidFill>
                <a:latin typeface="Cambria" pitchFamily="34" charset="0"/>
                <a:ea typeface="Cambria" pitchFamily="34" charset="-122"/>
                <a:cs typeface="Cambria" pitchFamily="34" charset="-120"/>
              </a:rPr>
              <a:t>     den tapfern Paddy Fingal.</a:t>
            </a:r>
            <a:endParaRPr lang="en-US" sz="1900" dirty="0"/>
          </a:p>
        </p:txBody>
      </p:sp>
      <p:sp>
        <p:nvSpPr>
          <p:cNvPr id="14" name="Text 11"/>
          <p:cNvSpPr txBox="1"/>
          <p:nvPr/>
        </p:nvSpPr>
        <p:spPr>
          <a:xfrm>
            <a:off x="548640" y="4114800"/>
            <a:ext cx="11064240" cy="457200"/>
          </a:xfrm>
          <a:prstGeom prst="rect">
            <a:avLst/>
          </a:prstGeom>
          <a:noFill/>
          <a:ln/>
        </p:spPr>
        <p:txBody>
          <a:bodyPr wrap="square" lIns="0" tIns="0" rIns="0" bIns="0" rtlCol="0" anchor="t"/>
          <a:lstStyle/>
          <a:p>
            <a:pPr indent="0" marL="0">
              <a:buNone/>
            </a:pPr>
            <a:r>
              <a:rPr lang="en-US" sz="1900" b="1" dirty="0">
                <a:solidFill>
                  <a:srgbClr val="D9534F"/>
                </a:solidFill>
                <a:latin typeface="Calibri" pitchFamily="34" charset="0"/>
                <a:ea typeface="Calibri" pitchFamily="34" charset="-122"/>
                <a:cs typeface="Calibri" pitchFamily="34" charset="-120"/>
              </a:rPr>
              <a:t>b  </a:t>
            </a:r>
            <a:pPr indent="0" marL="0">
              <a:buNone/>
            </a:pPr>
            <a:r>
              <a:rPr lang="en-US" sz="1900" b="1" dirty="0">
                <a:solidFill>
                  <a:srgbClr val="1E2761"/>
                </a:solidFill>
                <a:latin typeface="Calibri" pitchFamily="34" charset="0"/>
                <a:ea typeface="Calibri" pitchFamily="34" charset="-122"/>
                <a:cs typeface="Calibri" pitchFamily="34" charset="-120"/>
              </a:rPr>
              <a:t>Erkläre in je einem Satz: Strophe · Vers · Kehrreim</a:t>
            </a:r>
            <a:endParaRPr lang="en-US" sz="1900" dirty="0"/>
          </a:p>
        </p:txBody>
      </p:sp>
      <p:sp>
        <p:nvSpPr>
          <p:cNvPr id="15" name="Shape 12"/>
          <p:cNvSpPr/>
          <p:nvPr/>
        </p:nvSpPr>
        <p:spPr>
          <a:xfrm>
            <a:off x="548640" y="5715000"/>
            <a:ext cx="11064240" cy="502920"/>
          </a:xfrm>
          <a:prstGeom prst="roundRect">
            <a:avLst>
              <a:gd name="adj" fmla="val 14545"/>
            </a:avLst>
          </a:prstGeom>
          <a:solidFill>
            <a:srgbClr val="EAF0FA"/>
          </a:solidFill>
          <a:ln/>
        </p:spPr>
      </p:sp>
      <p:sp>
        <p:nvSpPr>
          <p:cNvPr id="16" name="Text 13"/>
          <p:cNvSpPr txBox="1"/>
          <p:nvPr/>
        </p:nvSpPr>
        <p:spPr>
          <a:xfrm>
            <a:off x="777240" y="5788152"/>
            <a:ext cx="10698480" cy="365760"/>
          </a:xfrm>
          <a:prstGeom prst="rect">
            <a:avLst/>
          </a:prstGeom>
          <a:noFill/>
          <a:ln/>
        </p:spPr>
        <p:txBody>
          <a:bodyPr wrap="square" lIns="0" tIns="0" rIns="0" bIns="0" rtlCol="0" anchor="t"/>
          <a:lstStyle/>
          <a:p>
            <a:pPr indent="0" marL="0">
              <a:buNone/>
            </a:pPr>
            <a:r>
              <a:rPr lang="en-US" sz="1600" b="1" dirty="0">
                <a:solidFill>
                  <a:srgbClr val="1E2761"/>
                </a:solidFill>
                <a:latin typeface="Calibri" pitchFamily="34" charset="0"/>
                <a:ea typeface="Calibri" pitchFamily="34" charset="-122"/>
                <a:cs typeface="Calibri" pitchFamily="34" charset="-120"/>
              </a:rPr>
              <a:t>Zeit: </a:t>
            </a:r>
            <a:pPr indent="0" marL="0">
              <a:buNone/>
            </a:pPr>
            <a:r>
              <a:rPr lang="en-US" sz="1600" dirty="0">
                <a:solidFill>
                  <a:srgbClr val="1E2761"/>
                </a:solidFill>
                <a:latin typeface="Calibri" pitchFamily="34" charset="0"/>
                <a:ea typeface="Calibri" pitchFamily="34" charset="-122"/>
                <a:cs typeface="Calibri" pitchFamily="34" charset="-120"/>
              </a:rPr>
              <a:t>4 Minuten · allein im Heft      </a:t>
            </a:r>
            <a:pPr indent="0" marL="0">
              <a:buNone/>
            </a:pPr>
            <a:r>
              <a:rPr lang="en-US" sz="1600" i="1" dirty="0">
                <a:solidFill>
                  <a:srgbClr val="5B6B8C"/>
                </a:solidFill>
                <a:latin typeface="Calibri" pitchFamily="34" charset="0"/>
                <a:ea typeface="Calibri" pitchFamily="34" charset="-122"/>
                <a:cs typeface="Calibri" pitchFamily="34" charset="-120"/>
              </a:rPr>
              <a:t>Fertig? Stift hinlegen.</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VORWISSEN AKTIVIEREN · Ü1 LÖSUNG</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Ü1  Lösung</a:t>
            </a:r>
            <a:endParaRPr lang="en-US" sz="3200" dirty="0"/>
          </a:p>
        </p:txBody>
      </p:sp>
      <p:sp>
        <p:nvSpPr>
          <p:cNvPr id="4" name="Text 2"/>
          <p:cNvSpPr txBox="1"/>
          <p:nvPr/>
        </p:nvSpPr>
        <p:spPr>
          <a:xfrm>
            <a:off x="548640" y="6400800"/>
            <a:ext cx="64008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Freitag, 6.11. · Die Ballade als Ur-Ei · Deutsch 7A</a:t>
            </a:r>
            <a:endParaRPr lang="en-US" sz="1000" dirty="0"/>
          </a:p>
        </p:txBody>
      </p:sp>
      <p:sp>
        <p:nvSpPr>
          <p:cNvPr id="5" name="Text 3"/>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4</a:t>
            </a:r>
            <a:endParaRPr lang="en-US" sz="1000" dirty="0"/>
          </a:p>
        </p:txBody>
      </p:sp>
      <p:sp>
        <p:nvSpPr>
          <p:cNvPr id="7" name="Shape 4"/>
          <p:cNvSpPr/>
          <p:nvPr/>
        </p:nvSpPr>
        <p:spPr>
          <a:xfrm>
            <a:off x="548640" y="1554480"/>
            <a:ext cx="2103120" cy="548640"/>
          </a:xfrm>
          <a:prstGeom prst="roundRect">
            <a:avLst>
              <a:gd name="adj" fmla="val 13333"/>
            </a:avLst>
          </a:prstGeom>
          <a:solidFill>
            <a:srgbClr val="F4F7FD"/>
          </a:solidFill>
          <a:ln/>
        </p:spPr>
      </p:sp>
      <p:sp>
        <p:nvSpPr>
          <p:cNvPr id="8" name="Text 5"/>
          <p:cNvSpPr txBox="1"/>
          <p:nvPr/>
        </p:nvSpPr>
        <p:spPr>
          <a:xfrm>
            <a:off x="548640" y="1600200"/>
            <a:ext cx="2103120" cy="457200"/>
          </a:xfrm>
          <a:prstGeom prst="rect">
            <a:avLst/>
          </a:prstGeom>
          <a:noFill/>
          <a:ln/>
        </p:spPr>
        <p:txBody>
          <a:bodyPr wrap="square" lIns="0" tIns="0" rIns="0" bIns="0" rtlCol="0" anchor="ctr"/>
          <a:lstStyle/>
          <a:p>
            <a:pPr algn="ctr" indent="0" marL="0">
              <a:buNone/>
            </a:pPr>
            <a:r>
              <a:rPr lang="en-US" sz="1700" dirty="0">
                <a:solidFill>
                  <a:srgbClr val="1E2761"/>
                </a:solidFill>
                <a:latin typeface="Cambria" pitchFamily="34" charset="0"/>
                <a:ea typeface="Cambria" pitchFamily="34" charset="-122"/>
                <a:cs typeface="Cambria" pitchFamily="34" charset="-120"/>
              </a:rPr>
              <a:t>Siegesgeschrei</a:t>
            </a:r>
            <a:endParaRPr lang="en-US" sz="1700" dirty="0"/>
          </a:p>
        </p:txBody>
      </p:sp>
      <p:sp>
        <p:nvSpPr>
          <p:cNvPr id="9" name="Shape 6"/>
          <p:cNvSpPr/>
          <p:nvPr/>
        </p:nvSpPr>
        <p:spPr>
          <a:xfrm>
            <a:off x="1280160" y="2194560"/>
            <a:ext cx="640080" cy="411480"/>
          </a:xfrm>
          <a:prstGeom prst="roundRect">
            <a:avLst>
              <a:gd name="adj" fmla="val 48889"/>
            </a:avLst>
          </a:prstGeom>
          <a:solidFill>
            <a:srgbClr val="2A8C8C"/>
          </a:solidFill>
          <a:ln/>
        </p:spPr>
      </p:sp>
      <p:sp>
        <p:nvSpPr>
          <p:cNvPr id="10" name="Text 7"/>
          <p:cNvSpPr txBox="1"/>
          <p:nvPr/>
        </p:nvSpPr>
        <p:spPr>
          <a:xfrm>
            <a:off x="1280160" y="2194560"/>
            <a:ext cx="640080" cy="4114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a:t>
            </a:r>
            <a:endParaRPr lang="en-US" sz="2000" dirty="0"/>
          </a:p>
        </p:txBody>
      </p:sp>
      <p:sp>
        <p:nvSpPr>
          <p:cNvPr id="11" name="Shape 8"/>
          <p:cNvSpPr/>
          <p:nvPr/>
        </p:nvSpPr>
        <p:spPr>
          <a:xfrm>
            <a:off x="2788920" y="1554480"/>
            <a:ext cx="2103120" cy="548640"/>
          </a:xfrm>
          <a:prstGeom prst="roundRect">
            <a:avLst>
              <a:gd name="adj" fmla="val 13333"/>
            </a:avLst>
          </a:prstGeom>
          <a:solidFill>
            <a:srgbClr val="F4F7FD"/>
          </a:solidFill>
          <a:ln/>
        </p:spPr>
      </p:sp>
      <p:sp>
        <p:nvSpPr>
          <p:cNvPr id="12" name="Text 9"/>
          <p:cNvSpPr txBox="1"/>
          <p:nvPr/>
        </p:nvSpPr>
        <p:spPr>
          <a:xfrm>
            <a:off x="2788920" y="1600200"/>
            <a:ext cx="2103120" cy="457200"/>
          </a:xfrm>
          <a:prstGeom prst="rect">
            <a:avLst/>
          </a:prstGeom>
          <a:noFill/>
          <a:ln/>
        </p:spPr>
        <p:txBody>
          <a:bodyPr wrap="square" lIns="0" tIns="0" rIns="0" bIns="0" rtlCol="0" anchor="ctr"/>
          <a:lstStyle/>
          <a:p>
            <a:pPr algn="ctr" indent="0" marL="0">
              <a:buNone/>
            </a:pPr>
            <a:r>
              <a:rPr lang="en-US" sz="1700" dirty="0">
                <a:solidFill>
                  <a:srgbClr val="1E2761"/>
                </a:solidFill>
                <a:latin typeface="Cambria" pitchFamily="34" charset="0"/>
                <a:ea typeface="Cambria" pitchFamily="34" charset="-122"/>
                <a:cs typeface="Cambria" pitchFamily="34" charset="-120"/>
              </a:rPr>
              <a:t>herbei</a:t>
            </a:r>
            <a:endParaRPr lang="en-US" sz="1700" dirty="0"/>
          </a:p>
        </p:txBody>
      </p:sp>
      <p:sp>
        <p:nvSpPr>
          <p:cNvPr id="13" name="Shape 10"/>
          <p:cNvSpPr/>
          <p:nvPr/>
        </p:nvSpPr>
        <p:spPr>
          <a:xfrm>
            <a:off x="3520440" y="2194560"/>
            <a:ext cx="640080" cy="411480"/>
          </a:xfrm>
          <a:prstGeom prst="roundRect">
            <a:avLst>
              <a:gd name="adj" fmla="val 48889"/>
            </a:avLst>
          </a:prstGeom>
          <a:solidFill>
            <a:srgbClr val="2A8C8C"/>
          </a:solidFill>
          <a:ln/>
        </p:spPr>
      </p:sp>
      <p:sp>
        <p:nvSpPr>
          <p:cNvPr id="14" name="Text 11"/>
          <p:cNvSpPr txBox="1"/>
          <p:nvPr/>
        </p:nvSpPr>
        <p:spPr>
          <a:xfrm>
            <a:off x="3520440" y="2194560"/>
            <a:ext cx="640080" cy="4114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a:t>
            </a:r>
            <a:endParaRPr lang="en-US" sz="2000" dirty="0"/>
          </a:p>
        </p:txBody>
      </p:sp>
      <p:sp>
        <p:nvSpPr>
          <p:cNvPr id="15" name="Shape 12"/>
          <p:cNvSpPr/>
          <p:nvPr/>
        </p:nvSpPr>
        <p:spPr>
          <a:xfrm>
            <a:off x="5029200" y="1554480"/>
            <a:ext cx="2103120" cy="548640"/>
          </a:xfrm>
          <a:prstGeom prst="roundRect">
            <a:avLst>
              <a:gd name="adj" fmla="val 13333"/>
            </a:avLst>
          </a:prstGeom>
          <a:solidFill>
            <a:srgbClr val="F4F7FD"/>
          </a:solidFill>
          <a:ln/>
        </p:spPr>
      </p:sp>
      <p:sp>
        <p:nvSpPr>
          <p:cNvPr id="16" name="Text 13"/>
          <p:cNvSpPr txBox="1"/>
          <p:nvPr/>
        </p:nvSpPr>
        <p:spPr>
          <a:xfrm>
            <a:off x="5029200" y="1600200"/>
            <a:ext cx="2103120" cy="457200"/>
          </a:xfrm>
          <a:prstGeom prst="rect">
            <a:avLst/>
          </a:prstGeom>
          <a:noFill/>
          <a:ln/>
        </p:spPr>
        <p:txBody>
          <a:bodyPr wrap="square" lIns="0" tIns="0" rIns="0" bIns="0" rtlCol="0" anchor="ctr"/>
          <a:lstStyle/>
          <a:p>
            <a:pPr algn="ctr" indent="0" marL="0">
              <a:buNone/>
            </a:pPr>
            <a:r>
              <a:rPr lang="en-US" sz="1700" dirty="0">
                <a:solidFill>
                  <a:srgbClr val="1E2761"/>
                </a:solidFill>
                <a:latin typeface="Cambria" pitchFamily="34" charset="0"/>
                <a:ea typeface="Cambria" pitchFamily="34" charset="-122"/>
                <a:cs typeface="Cambria" pitchFamily="34" charset="-120"/>
              </a:rPr>
              <a:t>an</a:t>
            </a:r>
            <a:endParaRPr lang="en-US" sz="1700" dirty="0"/>
          </a:p>
        </p:txBody>
      </p:sp>
      <p:sp>
        <p:nvSpPr>
          <p:cNvPr id="17" name="Shape 14"/>
          <p:cNvSpPr/>
          <p:nvPr/>
        </p:nvSpPr>
        <p:spPr>
          <a:xfrm>
            <a:off x="5760720" y="2194560"/>
            <a:ext cx="640080" cy="411480"/>
          </a:xfrm>
          <a:prstGeom prst="roundRect">
            <a:avLst>
              <a:gd name="adj" fmla="val 48889"/>
            </a:avLst>
          </a:prstGeom>
          <a:solidFill>
            <a:srgbClr val="C77C12"/>
          </a:solidFill>
          <a:ln/>
        </p:spPr>
      </p:sp>
      <p:sp>
        <p:nvSpPr>
          <p:cNvPr id="18" name="Text 15"/>
          <p:cNvSpPr txBox="1"/>
          <p:nvPr/>
        </p:nvSpPr>
        <p:spPr>
          <a:xfrm>
            <a:off x="5760720" y="2194560"/>
            <a:ext cx="640080" cy="4114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b</a:t>
            </a:r>
            <a:endParaRPr lang="en-US" sz="2000" dirty="0"/>
          </a:p>
        </p:txBody>
      </p:sp>
      <p:sp>
        <p:nvSpPr>
          <p:cNvPr id="19" name="Shape 16"/>
          <p:cNvSpPr/>
          <p:nvPr/>
        </p:nvSpPr>
        <p:spPr>
          <a:xfrm>
            <a:off x="7269480" y="1554480"/>
            <a:ext cx="2103120" cy="548640"/>
          </a:xfrm>
          <a:prstGeom prst="roundRect">
            <a:avLst>
              <a:gd name="adj" fmla="val 13333"/>
            </a:avLst>
          </a:prstGeom>
          <a:solidFill>
            <a:srgbClr val="F4F7FD"/>
          </a:solidFill>
          <a:ln/>
        </p:spPr>
      </p:sp>
      <p:sp>
        <p:nvSpPr>
          <p:cNvPr id="20" name="Text 17"/>
          <p:cNvSpPr txBox="1"/>
          <p:nvPr/>
        </p:nvSpPr>
        <p:spPr>
          <a:xfrm>
            <a:off x="7269480" y="1600200"/>
            <a:ext cx="2103120" cy="457200"/>
          </a:xfrm>
          <a:prstGeom prst="rect">
            <a:avLst/>
          </a:prstGeom>
          <a:noFill/>
          <a:ln/>
        </p:spPr>
        <p:txBody>
          <a:bodyPr wrap="square" lIns="0" tIns="0" rIns="0" bIns="0" rtlCol="0" anchor="ctr"/>
          <a:lstStyle/>
          <a:p>
            <a:pPr algn="ctr" indent="0" marL="0">
              <a:buNone/>
            </a:pPr>
            <a:r>
              <a:rPr lang="en-US" sz="1700" dirty="0">
                <a:solidFill>
                  <a:srgbClr val="1E2761"/>
                </a:solidFill>
                <a:latin typeface="Cambria" pitchFamily="34" charset="0"/>
                <a:ea typeface="Cambria" pitchFamily="34" charset="-122"/>
                <a:cs typeface="Cambria" pitchFamily="34" charset="-120"/>
              </a:rPr>
              <a:t>dann</a:t>
            </a:r>
            <a:endParaRPr lang="en-US" sz="1700" dirty="0"/>
          </a:p>
        </p:txBody>
      </p:sp>
      <p:sp>
        <p:nvSpPr>
          <p:cNvPr id="21" name="Shape 18"/>
          <p:cNvSpPr/>
          <p:nvPr/>
        </p:nvSpPr>
        <p:spPr>
          <a:xfrm>
            <a:off x="8001000" y="2194560"/>
            <a:ext cx="640080" cy="411480"/>
          </a:xfrm>
          <a:prstGeom prst="roundRect">
            <a:avLst>
              <a:gd name="adj" fmla="val 48889"/>
            </a:avLst>
          </a:prstGeom>
          <a:solidFill>
            <a:srgbClr val="C77C12"/>
          </a:solidFill>
          <a:ln/>
        </p:spPr>
      </p:sp>
      <p:sp>
        <p:nvSpPr>
          <p:cNvPr id="22" name="Text 19"/>
          <p:cNvSpPr txBox="1"/>
          <p:nvPr/>
        </p:nvSpPr>
        <p:spPr>
          <a:xfrm>
            <a:off x="8001000" y="2194560"/>
            <a:ext cx="640080" cy="4114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b</a:t>
            </a:r>
            <a:endParaRPr lang="en-US" sz="2000" dirty="0"/>
          </a:p>
        </p:txBody>
      </p:sp>
      <p:sp>
        <p:nvSpPr>
          <p:cNvPr id="23" name="Shape 20"/>
          <p:cNvSpPr/>
          <p:nvPr/>
        </p:nvSpPr>
        <p:spPr>
          <a:xfrm>
            <a:off x="9509760" y="1554480"/>
            <a:ext cx="2103120" cy="548640"/>
          </a:xfrm>
          <a:prstGeom prst="roundRect">
            <a:avLst>
              <a:gd name="adj" fmla="val 13333"/>
            </a:avLst>
          </a:prstGeom>
          <a:solidFill>
            <a:srgbClr val="F4F7FD"/>
          </a:solidFill>
          <a:ln/>
        </p:spPr>
      </p:sp>
      <p:sp>
        <p:nvSpPr>
          <p:cNvPr id="24" name="Text 21"/>
          <p:cNvSpPr txBox="1"/>
          <p:nvPr/>
        </p:nvSpPr>
        <p:spPr>
          <a:xfrm>
            <a:off x="9509760" y="1600200"/>
            <a:ext cx="2103120" cy="457200"/>
          </a:xfrm>
          <a:prstGeom prst="rect">
            <a:avLst/>
          </a:prstGeom>
          <a:noFill/>
          <a:ln/>
        </p:spPr>
        <p:txBody>
          <a:bodyPr wrap="square" lIns="0" tIns="0" rIns="0" bIns="0" rtlCol="0" anchor="ctr"/>
          <a:lstStyle/>
          <a:p>
            <a:pPr algn="ctr" indent="0" marL="0">
              <a:buNone/>
            </a:pPr>
            <a:r>
              <a:rPr lang="en-US" sz="1700" dirty="0">
                <a:solidFill>
                  <a:srgbClr val="1E2761"/>
                </a:solidFill>
                <a:latin typeface="Cambria" pitchFamily="34" charset="0"/>
                <a:ea typeface="Cambria" pitchFamily="34" charset="-122"/>
                <a:cs typeface="Cambria" pitchFamily="34" charset="-120"/>
              </a:rPr>
              <a:t>Paddy Fingal</a:t>
            </a:r>
            <a:endParaRPr lang="en-US" sz="1700" dirty="0"/>
          </a:p>
        </p:txBody>
      </p:sp>
      <p:sp>
        <p:nvSpPr>
          <p:cNvPr id="25" name="Shape 22"/>
          <p:cNvSpPr/>
          <p:nvPr/>
        </p:nvSpPr>
        <p:spPr>
          <a:xfrm>
            <a:off x="10241280" y="2194560"/>
            <a:ext cx="640080" cy="411480"/>
          </a:xfrm>
          <a:prstGeom prst="roundRect">
            <a:avLst>
              <a:gd name="adj" fmla="val 48889"/>
            </a:avLst>
          </a:prstGeom>
          <a:solidFill>
            <a:srgbClr val="5B6B8C"/>
          </a:solidFill>
          <a:ln/>
        </p:spPr>
      </p:sp>
      <p:sp>
        <p:nvSpPr>
          <p:cNvPr id="26" name="Text 23"/>
          <p:cNvSpPr txBox="1"/>
          <p:nvPr/>
        </p:nvSpPr>
        <p:spPr>
          <a:xfrm>
            <a:off x="10241280" y="2194560"/>
            <a:ext cx="640080" cy="4114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x</a:t>
            </a:r>
            <a:endParaRPr lang="en-US" sz="2000" dirty="0"/>
          </a:p>
        </p:txBody>
      </p:sp>
      <p:sp>
        <p:nvSpPr>
          <p:cNvPr id="27" name="Text 24"/>
          <p:cNvSpPr txBox="1"/>
          <p:nvPr/>
        </p:nvSpPr>
        <p:spPr>
          <a:xfrm>
            <a:off x="548640" y="2788920"/>
            <a:ext cx="11064240" cy="457200"/>
          </a:xfrm>
          <a:prstGeom prst="rect">
            <a:avLst/>
          </a:prstGeom>
          <a:noFill/>
          <a:ln/>
        </p:spPr>
        <p:txBody>
          <a:bodyPr wrap="square" lIns="0" tIns="0" rIns="0" bIns="0" rtlCol="0" anchor="t"/>
          <a:lstStyle/>
          <a:p>
            <a:pPr indent="0" marL="0">
              <a:buNone/>
            </a:pPr>
            <a:r>
              <a:rPr lang="en-US" sz="2100" b="1" dirty="0">
                <a:solidFill>
                  <a:srgbClr val="D9534F"/>
                </a:solidFill>
                <a:latin typeface="Calibri" pitchFamily="34" charset="0"/>
                <a:ea typeface="Calibri" pitchFamily="34" charset="-122"/>
                <a:cs typeface="Calibri" pitchFamily="34" charset="-120"/>
              </a:rPr>
              <a:t>a  </a:t>
            </a:r>
            <a:pPr indent="0" marL="0">
              <a:buNone/>
            </a:pPr>
            <a:r>
              <a:rPr lang="en-US" sz="2100" b="1" dirty="0">
                <a:solidFill>
                  <a:srgbClr val="1E2761"/>
                </a:solidFill>
                <a:latin typeface="Calibri" pitchFamily="34" charset="0"/>
                <a:ea typeface="Calibri" pitchFamily="34" charset="-122"/>
                <a:cs typeface="Calibri" pitchFamily="34" charset="-120"/>
              </a:rPr>
              <a:t>Paarreim (aabb) + Kehrreim (x)</a:t>
            </a:r>
            <a:endParaRPr lang="en-US" sz="2100" dirty="0"/>
          </a:p>
        </p:txBody>
      </p:sp>
      <p:sp>
        <p:nvSpPr>
          <p:cNvPr id="28" name="Shape 25"/>
          <p:cNvSpPr/>
          <p:nvPr/>
        </p:nvSpPr>
        <p:spPr>
          <a:xfrm>
            <a:off x="548640" y="3383280"/>
            <a:ext cx="11064240" cy="2103120"/>
          </a:xfrm>
          <a:prstGeom prst="roundRect">
            <a:avLst>
              <a:gd name="adj" fmla="val 3478"/>
            </a:avLst>
          </a:prstGeom>
          <a:solidFill>
            <a:srgbClr val="EAF0FA"/>
          </a:solidFill>
          <a:ln/>
        </p:spPr>
      </p:sp>
      <p:sp>
        <p:nvSpPr>
          <p:cNvPr id="29" name="Text 26"/>
          <p:cNvSpPr txBox="1"/>
          <p:nvPr/>
        </p:nvSpPr>
        <p:spPr>
          <a:xfrm>
            <a:off x="822960" y="3520440"/>
            <a:ext cx="10607040" cy="1828800"/>
          </a:xfrm>
          <a:prstGeom prst="rect">
            <a:avLst/>
          </a:prstGeom>
          <a:noFill/>
          <a:ln/>
        </p:spPr>
        <p:txBody>
          <a:bodyPr wrap="square" lIns="0" tIns="0" rIns="0" bIns="0" rtlCol="0" anchor="t"/>
          <a:lstStyle/>
          <a:p>
            <a:pPr indent="0" marL="0">
              <a:buNone/>
            </a:pPr>
            <a:r>
              <a:rPr lang="en-US" sz="1900" b="1" dirty="0">
                <a:solidFill>
                  <a:srgbClr val="D9534F"/>
                </a:solidFill>
                <a:latin typeface="Calibri" pitchFamily="34" charset="0"/>
                <a:ea typeface="Calibri" pitchFamily="34" charset="-122"/>
                <a:cs typeface="Calibri" pitchFamily="34" charset="-120"/>
              </a:rPr>
              <a:t>b  Strophe: </a:t>
            </a:r>
            <a:pPr indent="0" marL="0">
              <a:buNone/>
            </a:pPr>
            <a:r>
              <a:rPr lang="en-US" sz="1900" dirty="0">
                <a:solidFill>
                  <a:srgbClr val="1E2761"/>
                </a:solidFill>
                <a:latin typeface="Calibri" pitchFamily="34" charset="0"/>
                <a:ea typeface="Calibri" pitchFamily="34" charset="-122"/>
                <a:cs typeface="Calibri" pitchFamily="34" charset="-120"/>
              </a:rPr>
              <a:t>ein Abschnitt der Ballade; zwischen zwei Strophen steht eine Leerzeile.
</a:t>
            </a:r>
            <a:pPr indent="0" marL="0">
              <a:buNone/>
            </a:pPr>
            <a:r>
              <a:rPr lang="en-US" sz="1900" b="1" dirty="0">
                <a:solidFill>
                  <a:srgbClr val="D9534F"/>
                </a:solidFill>
                <a:latin typeface="Calibri" pitchFamily="34" charset="0"/>
                <a:ea typeface="Calibri" pitchFamily="34" charset="-122"/>
                <a:cs typeface="Calibri" pitchFamily="34" charset="-120"/>
              </a:rPr>
              <a:t>    Vers: </a:t>
            </a:r>
            <a:pPr indent="0" marL="0">
              <a:buNone/>
            </a:pPr>
            <a:r>
              <a:rPr lang="en-US" sz="1900" dirty="0">
                <a:solidFill>
                  <a:srgbClr val="1E2761"/>
                </a:solidFill>
                <a:latin typeface="Calibri" pitchFamily="34" charset="0"/>
                <a:ea typeface="Calibri" pitchFamily="34" charset="-122"/>
                <a:cs typeface="Calibri" pitchFamily="34" charset="-120"/>
              </a:rPr>
              <a:t>eine Zeile der Ballade.
</a:t>
            </a:r>
            <a:pPr indent="0" marL="0">
              <a:buNone/>
            </a:pPr>
            <a:r>
              <a:rPr lang="en-US" sz="1900" b="1" dirty="0">
                <a:solidFill>
                  <a:srgbClr val="D9534F"/>
                </a:solidFill>
                <a:latin typeface="Calibri" pitchFamily="34" charset="0"/>
                <a:ea typeface="Calibri" pitchFamily="34" charset="-122"/>
                <a:cs typeface="Calibri" pitchFamily="34" charset="-120"/>
              </a:rPr>
              <a:t>    Kehrreim: </a:t>
            </a:r>
            <a:pPr indent="0" marL="0">
              <a:buNone/>
            </a:pPr>
            <a:r>
              <a:rPr lang="en-US" sz="1900" dirty="0">
                <a:solidFill>
                  <a:srgbClr val="1E2761"/>
                </a:solidFill>
                <a:latin typeface="Calibri" pitchFamily="34" charset="0"/>
                <a:ea typeface="Calibri" pitchFamily="34" charset="-122"/>
                <a:cs typeface="Calibri" pitchFamily="34" charset="-120"/>
              </a:rPr>
              <a:t>ein Vers, der sich in jeder Strophe wiederholt (hier: „… Paddy Fingal“).</a:t>
            </a:r>
            <a:endParaRPr lang="en-US" sz="1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INFORMIEREN · DIE BALLADE ALS „UR-EI“</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Goethe: Die Ballade ist ein „Ur-Ei“</a:t>
            </a:r>
            <a:endParaRPr lang="en-US" sz="3200" dirty="0"/>
          </a:p>
        </p:txBody>
      </p:sp>
      <p:sp>
        <p:nvSpPr>
          <p:cNvPr id="4" name="Text 2"/>
          <p:cNvSpPr txBox="1"/>
          <p:nvPr/>
        </p:nvSpPr>
        <p:spPr>
          <a:xfrm>
            <a:off x="548640" y="6400800"/>
            <a:ext cx="64008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Freitag, 6.11. · Die Ballade als Ur-Ei · Deutsch 7A</a:t>
            </a:r>
            <a:endParaRPr lang="en-US" sz="1000" dirty="0"/>
          </a:p>
        </p:txBody>
      </p:sp>
      <p:sp>
        <p:nvSpPr>
          <p:cNvPr id="5" name="Text 3"/>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5</a:t>
            </a:r>
            <a:endParaRPr lang="en-US" sz="1000" dirty="0"/>
          </a:p>
        </p:txBody>
      </p:sp>
      <p:sp>
        <p:nvSpPr>
          <p:cNvPr id="7" name="Shape 4"/>
          <p:cNvSpPr/>
          <p:nvPr/>
        </p:nvSpPr>
        <p:spPr>
          <a:xfrm>
            <a:off x="2194560" y="1417320"/>
            <a:ext cx="7772400" cy="4480560"/>
          </a:xfrm>
          <a:prstGeom prst="ellipse">
            <a:avLst/>
          </a:prstGeom>
          <a:solidFill>
            <a:srgbClr val="F4F7FD"/>
          </a:solidFill>
          <a:ln w="31750">
            <a:solidFill>
              <a:srgbClr val="1E2761"/>
            </a:solidFill>
            <a:prstDash val="solid"/>
          </a:ln>
        </p:spPr>
      </p:sp>
      <p:sp>
        <p:nvSpPr>
          <p:cNvPr id="8" name="Shape 5"/>
          <p:cNvSpPr/>
          <p:nvPr/>
        </p:nvSpPr>
        <p:spPr>
          <a:xfrm>
            <a:off x="4754880" y="1600200"/>
            <a:ext cx="0" cy="4114800"/>
          </a:xfrm>
          <a:prstGeom prst="line">
            <a:avLst/>
          </a:prstGeom>
          <a:noFill/>
          <a:ln w="19050">
            <a:solidFill>
              <a:srgbClr val="1E2761"/>
            </a:solidFill>
            <a:prstDash val="dash"/>
          </a:ln>
        </p:spPr>
      </p:sp>
      <p:sp>
        <p:nvSpPr>
          <p:cNvPr id="9" name="Shape 6"/>
          <p:cNvSpPr/>
          <p:nvPr/>
        </p:nvSpPr>
        <p:spPr>
          <a:xfrm>
            <a:off x="7406640" y="1600200"/>
            <a:ext cx="0" cy="4114800"/>
          </a:xfrm>
          <a:prstGeom prst="line">
            <a:avLst/>
          </a:prstGeom>
          <a:noFill/>
          <a:ln w="19050">
            <a:solidFill>
              <a:srgbClr val="1E2761"/>
            </a:solidFill>
            <a:prstDash val="dash"/>
          </a:ln>
        </p:spPr>
      </p:sp>
      <p:sp>
        <p:nvSpPr>
          <p:cNvPr id="10" name="Text 7"/>
          <p:cNvSpPr txBox="1"/>
          <p:nvPr/>
        </p:nvSpPr>
        <p:spPr>
          <a:xfrm>
            <a:off x="2514600" y="2971800"/>
            <a:ext cx="2468880" cy="548640"/>
          </a:xfrm>
          <a:prstGeom prst="rect">
            <a:avLst/>
          </a:prstGeom>
          <a:noFill/>
          <a:ln/>
        </p:spPr>
        <p:txBody>
          <a:bodyPr wrap="square" lIns="0" tIns="0" rIns="0" bIns="0" rtlCol="0" anchor="t"/>
          <a:lstStyle/>
          <a:p>
            <a:pPr algn="ctr" indent="0" marL="0">
              <a:buNone/>
            </a:pPr>
            <a:r>
              <a:rPr lang="en-US" sz="2800" b="1" dirty="0">
                <a:solidFill>
                  <a:srgbClr val="2A8C8C"/>
                </a:solidFill>
                <a:latin typeface="Cambria" pitchFamily="34" charset="0"/>
                <a:ea typeface="Cambria" pitchFamily="34" charset="-122"/>
                <a:cs typeface="Cambria" pitchFamily="34" charset="-120"/>
              </a:rPr>
              <a:t>Lyrik</a:t>
            </a:r>
            <a:endParaRPr lang="en-US" sz="2800" dirty="0"/>
          </a:p>
        </p:txBody>
      </p:sp>
      <p:sp>
        <p:nvSpPr>
          <p:cNvPr id="11" name="Text 8"/>
          <p:cNvSpPr txBox="1"/>
          <p:nvPr/>
        </p:nvSpPr>
        <p:spPr>
          <a:xfrm>
            <a:off x="2514600" y="3566160"/>
            <a:ext cx="2468880" cy="457200"/>
          </a:xfrm>
          <a:prstGeom prst="rect">
            <a:avLst/>
          </a:prstGeom>
          <a:noFill/>
          <a:ln/>
        </p:spPr>
        <p:txBody>
          <a:bodyPr wrap="square" lIns="0" tIns="0" rIns="0" bIns="0" rtlCol="0" anchor="t"/>
          <a:lstStyle/>
          <a:p>
            <a:pPr algn="ctr" indent="0" marL="0">
              <a:buNone/>
            </a:pPr>
            <a:r>
              <a:rPr lang="en-US" sz="1600" dirty="0">
                <a:solidFill>
                  <a:srgbClr val="1E2761"/>
                </a:solidFill>
                <a:latin typeface="Calibri" pitchFamily="34" charset="0"/>
                <a:ea typeface="Calibri" pitchFamily="34" charset="-122"/>
                <a:cs typeface="Calibri" pitchFamily="34" charset="-120"/>
              </a:rPr>
              <a:t>wie ein Gedicht</a:t>
            </a:r>
            <a:endParaRPr lang="en-US" sz="1600" dirty="0"/>
          </a:p>
        </p:txBody>
      </p:sp>
      <p:sp>
        <p:nvSpPr>
          <p:cNvPr id="12" name="Text 9"/>
          <p:cNvSpPr txBox="1"/>
          <p:nvPr/>
        </p:nvSpPr>
        <p:spPr>
          <a:xfrm>
            <a:off x="4846320" y="2971800"/>
            <a:ext cx="2468880" cy="548640"/>
          </a:xfrm>
          <a:prstGeom prst="rect">
            <a:avLst/>
          </a:prstGeom>
          <a:noFill/>
          <a:ln/>
        </p:spPr>
        <p:txBody>
          <a:bodyPr wrap="square" lIns="0" tIns="0" rIns="0" bIns="0" rtlCol="0" anchor="t"/>
          <a:lstStyle/>
          <a:p>
            <a:pPr algn="ctr" indent="0" marL="0">
              <a:buNone/>
            </a:pPr>
            <a:r>
              <a:rPr lang="en-US" sz="2800" b="1" dirty="0">
                <a:solidFill>
                  <a:srgbClr val="7A5BA6"/>
                </a:solidFill>
                <a:latin typeface="Cambria" pitchFamily="34" charset="0"/>
                <a:ea typeface="Cambria" pitchFamily="34" charset="-122"/>
                <a:cs typeface="Cambria" pitchFamily="34" charset="-120"/>
              </a:rPr>
              <a:t>Epik</a:t>
            </a:r>
            <a:endParaRPr lang="en-US" sz="2800" dirty="0"/>
          </a:p>
        </p:txBody>
      </p:sp>
      <p:sp>
        <p:nvSpPr>
          <p:cNvPr id="13" name="Text 10"/>
          <p:cNvSpPr txBox="1"/>
          <p:nvPr/>
        </p:nvSpPr>
        <p:spPr>
          <a:xfrm>
            <a:off x="4846320" y="3566160"/>
            <a:ext cx="2468880" cy="457200"/>
          </a:xfrm>
          <a:prstGeom prst="rect">
            <a:avLst/>
          </a:prstGeom>
          <a:noFill/>
          <a:ln/>
        </p:spPr>
        <p:txBody>
          <a:bodyPr wrap="square" lIns="0" tIns="0" rIns="0" bIns="0" rtlCol="0" anchor="t"/>
          <a:lstStyle/>
          <a:p>
            <a:pPr algn="ctr" indent="0" marL="0">
              <a:buNone/>
            </a:pPr>
            <a:r>
              <a:rPr lang="en-US" sz="1600" dirty="0">
                <a:solidFill>
                  <a:srgbClr val="1E2761"/>
                </a:solidFill>
                <a:latin typeface="Calibri" pitchFamily="34" charset="0"/>
                <a:ea typeface="Calibri" pitchFamily="34" charset="-122"/>
                <a:cs typeface="Calibri" pitchFamily="34" charset="-120"/>
              </a:rPr>
              <a:t>wie eine Erzählung</a:t>
            </a:r>
            <a:endParaRPr lang="en-US" sz="1600" dirty="0"/>
          </a:p>
        </p:txBody>
      </p:sp>
      <p:sp>
        <p:nvSpPr>
          <p:cNvPr id="14" name="Text 11"/>
          <p:cNvSpPr txBox="1"/>
          <p:nvPr/>
        </p:nvSpPr>
        <p:spPr>
          <a:xfrm>
            <a:off x="7498080" y="2971800"/>
            <a:ext cx="2468880" cy="548640"/>
          </a:xfrm>
          <a:prstGeom prst="rect">
            <a:avLst/>
          </a:prstGeom>
          <a:noFill/>
          <a:ln/>
        </p:spPr>
        <p:txBody>
          <a:bodyPr wrap="square" lIns="0" tIns="0" rIns="0" bIns="0" rtlCol="0" anchor="t"/>
          <a:lstStyle/>
          <a:p>
            <a:pPr algn="ctr" indent="0" marL="0">
              <a:buNone/>
            </a:pPr>
            <a:r>
              <a:rPr lang="en-US" sz="2800" b="1" dirty="0">
                <a:solidFill>
                  <a:srgbClr val="C77C12"/>
                </a:solidFill>
                <a:latin typeface="Cambria" pitchFamily="34" charset="0"/>
                <a:ea typeface="Cambria" pitchFamily="34" charset="-122"/>
                <a:cs typeface="Cambria" pitchFamily="34" charset="-120"/>
              </a:rPr>
              <a:t>Dramatik</a:t>
            </a:r>
            <a:endParaRPr lang="en-US" sz="2800" dirty="0"/>
          </a:p>
        </p:txBody>
      </p:sp>
      <p:sp>
        <p:nvSpPr>
          <p:cNvPr id="15" name="Text 12"/>
          <p:cNvSpPr txBox="1"/>
          <p:nvPr/>
        </p:nvSpPr>
        <p:spPr>
          <a:xfrm>
            <a:off x="7498080" y="3566160"/>
            <a:ext cx="2468880" cy="457200"/>
          </a:xfrm>
          <a:prstGeom prst="rect">
            <a:avLst/>
          </a:prstGeom>
          <a:noFill/>
          <a:ln/>
        </p:spPr>
        <p:txBody>
          <a:bodyPr wrap="square" lIns="0" tIns="0" rIns="0" bIns="0" rtlCol="0" anchor="t"/>
          <a:lstStyle/>
          <a:p>
            <a:pPr algn="ctr" indent="0" marL="0">
              <a:buNone/>
            </a:pPr>
            <a:r>
              <a:rPr lang="en-US" sz="1600" dirty="0">
                <a:solidFill>
                  <a:srgbClr val="1E2761"/>
                </a:solidFill>
                <a:latin typeface="Calibri" pitchFamily="34" charset="0"/>
                <a:ea typeface="Calibri" pitchFamily="34" charset="-122"/>
                <a:cs typeface="Calibri" pitchFamily="34" charset="-120"/>
              </a:rPr>
              <a:t>wie ein Theaterstück</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INFORMIEREN · EIN TRAINING – DREI GATTUNGEN</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Welcher Text ist Lyrik, Epik, Dramatik?</a:t>
            </a:r>
            <a:endParaRPr lang="en-US" sz="3200" dirty="0"/>
          </a:p>
        </p:txBody>
      </p:sp>
      <p:sp>
        <p:nvSpPr>
          <p:cNvPr id="4" name="Text 2"/>
          <p:cNvSpPr txBox="1"/>
          <p:nvPr/>
        </p:nvSpPr>
        <p:spPr>
          <a:xfrm>
            <a:off x="548640" y="6400800"/>
            <a:ext cx="64008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Freitag, 6.11. · Die Ballade als Ur-Ei · Deutsch 7A</a:t>
            </a:r>
            <a:endParaRPr lang="en-US" sz="1000" dirty="0"/>
          </a:p>
        </p:txBody>
      </p:sp>
      <p:sp>
        <p:nvSpPr>
          <p:cNvPr id="5" name="Text 3"/>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6</a:t>
            </a:r>
            <a:endParaRPr lang="en-US" sz="1000" dirty="0"/>
          </a:p>
        </p:txBody>
      </p:sp>
      <p:sp>
        <p:nvSpPr>
          <p:cNvPr id="7" name="Shape 4"/>
          <p:cNvSpPr/>
          <p:nvPr/>
        </p:nvSpPr>
        <p:spPr>
          <a:xfrm>
            <a:off x="548640" y="1417320"/>
            <a:ext cx="3611880" cy="502920"/>
          </a:xfrm>
          <a:prstGeom prst="roundRect">
            <a:avLst>
              <a:gd name="adj" fmla="val 14545"/>
            </a:avLst>
          </a:prstGeom>
          <a:solidFill>
            <a:srgbClr val="1E2761"/>
          </a:solidFill>
          <a:ln/>
        </p:spPr>
      </p:sp>
      <p:sp>
        <p:nvSpPr>
          <p:cNvPr id="8" name="Text 5"/>
          <p:cNvSpPr txBox="1"/>
          <p:nvPr/>
        </p:nvSpPr>
        <p:spPr>
          <a:xfrm>
            <a:off x="548640" y="1417320"/>
            <a:ext cx="361188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Text A</a:t>
            </a:r>
            <a:endParaRPr lang="en-US" sz="1900" dirty="0"/>
          </a:p>
        </p:txBody>
      </p:sp>
      <p:sp>
        <p:nvSpPr>
          <p:cNvPr id="9" name="Shape 6"/>
          <p:cNvSpPr/>
          <p:nvPr/>
        </p:nvSpPr>
        <p:spPr>
          <a:xfrm>
            <a:off x="548640" y="2011680"/>
            <a:ext cx="3611880" cy="3429000"/>
          </a:xfrm>
          <a:prstGeom prst="roundRect">
            <a:avLst>
              <a:gd name="adj" fmla="val 2133"/>
            </a:avLst>
          </a:prstGeom>
          <a:solidFill>
            <a:srgbClr val="F4F7FD"/>
          </a:solidFill>
          <a:ln/>
        </p:spPr>
      </p:sp>
      <p:sp>
        <p:nvSpPr>
          <p:cNvPr id="10" name="Text 7"/>
          <p:cNvSpPr txBox="1"/>
          <p:nvPr/>
        </p:nvSpPr>
        <p:spPr>
          <a:xfrm>
            <a:off x="685800" y="2103120"/>
            <a:ext cx="3337560" cy="3246120"/>
          </a:xfrm>
          <a:prstGeom prst="rect">
            <a:avLst/>
          </a:prstGeom>
          <a:noFill/>
          <a:ln/>
        </p:spPr>
        <p:txBody>
          <a:bodyPr wrap="square" lIns="0" tIns="0" rIns="0" bIns="0" rtlCol="0" anchor="t"/>
          <a:lstStyle/>
          <a:p>
            <a:pPr indent="0" marL="0">
              <a:buNone/>
            </a:pPr>
            <a:r>
              <a:rPr lang="en-US" sz="1500" dirty="0">
                <a:solidFill>
                  <a:srgbClr val="1E2761"/>
                </a:solidFill>
                <a:latin typeface="Cambria" pitchFamily="34" charset="0"/>
                <a:ea typeface="Cambria" pitchFamily="34" charset="-122"/>
                <a:cs typeface="Cambria" pitchFamily="34" charset="-120"/>
              </a:rPr>
              <a:t>Bei der letzten Runde waren meine Beine schwer wie Blei. Ich bekam kaum noch Luft und wollte aufhören. „Noch zwanzig Meter!“, rief mein Trainer vom Rand. Ich biss die Zähne zusammen und lief bis zur Linie.</a:t>
            </a:r>
            <a:endParaRPr lang="en-US" sz="1500" dirty="0"/>
          </a:p>
        </p:txBody>
      </p:sp>
      <p:sp>
        <p:nvSpPr>
          <p:cNvPr id="11" name="Shape 8"/>
          <p:cNvSpPr/>
          <p:nvPr/>
        </p:nvSpPr>
        <p:spPr>
          <a:xfrm>
            <a:off x="4297680" y="1417320"/>
            <a:ext cx="3611880" cy="502920"/>
          </a:xfrm>
          <a:prstGeom prst="roundRect">
            <a:avLst>
              <a:gd name="adj" fmla="val 14545"/>
            </a:avLst>
          </a:prstGeom>
          <a:solidFill>
            <a:srgbClr val="1E2761"/>
          </a:solidFill>
          <a:ln/>
        </p:spPr>
      </p:sp>
      <p:sp>
        <p:nvSpPr>
          <p:cNvPr id="12" name="Text 9"/>
          <p:cNvSpPr txBox="1"/>
          <p:nvPr/>
        </p:nvSpPr>
        <p:spPr>
          <a:xfrm>
            <a:off x="4297680" y="1417320"/>
            <a:ext cx="361188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Text B</a:t>
            </a:r>
            <a:endParaRPr lang="en-US" sz="1900" dirty="0"/>
          </a:p>
        </p:txBody>
      </p:sp>
      <p:sp>
        <p:nvSpPr>
          <p:cNvPr id="13" name="Shape 10"/>
          <p:cNvSpPr/>
          <p:nvPr/>
        </p:nvSpPr>
        <p:spPr>
          <a:xfrm>
            <a:off x="4297680" y="2011680"/>
            <a:ext cx="3611880" cy="3429000"/>
          </a:xfrm>
          <a:prstGeom prst="roundRect">
            <a:avLst>
              <a:gd name="adj" fmla="val 2133"/>
            </a:avLst>
          </a:prstGeom>
          <a:solidFill>
            <a:srgbClr val="F4F7FD"/>
          </a:solidFill>
          <a:ln/>
        </p:spPr>
      </p:sp>
      <p:sp>
        <p:nvSpPr>
          <p:cNvPr id="14" name="Text 11"/>
          <p:cNvSpPr txBox="1"/>
          <p:nvPr/>
        </p:nvSpPr>
        <p:spPr>
          <a:xfrm>
            <a:off x="4434840" y="2103120"/>
            <a:ext cx="3337560" cy="3246120"/>
          </a:xfrm>
          <a:prstGeom prst="rect">
            <a:avLst/>
          </a:prstGeom>
          <a:noFill/>
          <a:ln/>
        </p:spPr>
        <p:txBody>
          <a:bodyPr wrap="square" lIns="0" tIns="0" rIns="0" bIns="0" rtlCol="0" anchor="t"/>
          <a:lstStyle/>
          <a:p>
            <a:pPr indent="0" marL="0">
              <a:buNone/>
            </a:pPr>
            <a:r>
              <a:rPr lang="en-US" sz="1500" b="1" dirty="0">
                <a:solidFill>
                  <a:srgbClr val="1E2761"/>
                </a:solidFill>
                <a:latin typeface="Cambria" pitchFamily="34" charset="0"/>
                <a:ea typeface="Cambria" pitchFamily="34" charset="-122"/>
                <a:cs typeface="Cambria" pitchFamily="34" charset="-120"/>
              </a:rPr>
              <a:t>TRAINER </a:t>
            </a:r>
            <a:pPr indent="0" marL="0">
              <a:buNone/>
            </a:pPr>
            <a:r>
              <a:rPr lang="en-US" sz="1500" i="1" dirty="0">
                <a:solidFill>
                  <a:srgbClr val="1E2761"/>
                </a:solidFill>
                <a:latin typeface="Cambria" pitchFamily="34" charset="0"/>
                <a:ea typeface="Cambria" pitchFamily="34" charset="-122"/>
                <a:cs typeface="Cambria" pitchFamily="34" charset="-120"/>
              </a:rPr>
              <a:t>(klatscht in die Hände)</a:t>
            </a:r>
            <a:pPr indent="0" marL="0">
              <a:buNone/>
            </a:pPr>
            <a:r>
              <a:rPr lang="en-US" sz="1500" dirty="0">
                <a:solidFill>
                  <a:srgbClr val="1E2761"/>
                </a:solidFill>
                <a:latin typeface="Cambria" pitchFamily="34" charset="0"/>
                <a:ea typeface="Cambria" pitchFamily="34" charset="-122"/>
                <a:cs typeface="Cambria" pitchFamily="34" charset="-120"/>
              </a:rPr>
              <a:t>: Letzte Runde! Los!
</a:t>
            </a:r>
            <a:pPr indent="0" marL="0">
              <a:buNone/>
            </a:pPr>
            <a:r>
              <a:rPr lang="en-US" sz="1500" b="1" dirty="0">
                <a:solidFill>
                  <a:srgbClr val="1E2761"/>
                </a:solidFill>
                <a:latin typeface="Cambria" pitchFamily="34" charset="0"/>
                <a:ea typeface="Cambria" pitchFamily="34" charset="-122"/>
                <a:cs typeface="Cambria" pitchFamily="34" charset="-120"/>
              </a:rPr>
              <a:t>SPORTLERIN </a:t>
            </a:r>
            <a:pPr indent="0" marL="0">
              <a:buNone/>
            </a:pPr>
            <a:r>
              <a:rPr lang="en-US" sz="1500" i="1" dirty="0">
                <a:solidFill>
                  <a:srgbClr val="1E2761"/>
                </a:solidFill>
                <a:latin typeface="Cambria" pitchFamily="34" charset="0"/>
                <a:ea typeface="Cambria" pitchFamily="34" charset="-122"/>
                <a:cs typeface="Cambria" pitchFamily="34" charset="-120"/>
              </a:rPr>
              <a:t>(keucht)</a:t>
            </a:r>
            <a:pPr indent="0" marL="0">
              <a:buNone/>
            </a:pPr>
            <a:r>
              <a:rPr lang="en-US" sz="1500" dirty="0">
                <a:solidFill>
                  <a:srgbClr val="1E2761"/>
                </a:solidFill>
                <a:latin typeface="Cambria" pitchFamily="34" charset="0"/>
                <a:ea typeface="Cambria" pitchFamily="34" charset="-122"/>
                <a:cs typeface="Cambria" pitchFamily="34" charset="-120"/>
              </a:rPr>
              <a:t>: Ich kann nicht mehr …
</a:t>
            </a:r>
            <a:pPr indent="0" marL="0">
              <a:buNone/>
            </a:pPr>
            <a:r>
              <a:rPr lang="en-US" sz="1500" b="1" dirty="0">
                <a:solidFill>
                  <a:srgbClr val="1E2761"/>
                </a:solidFill>
                <a:latin typeface="Cambria" pitchFamily="34" charset="0"/>
                <a:ea typeface="Cambria" pitchFamily="34" charset="-122"/>
                <a:cs typeface="Cambria" pitchFamily="34" charset="-120"/>
              </a:rPr>
              <a:t>TRAINER</a:t>
            </a:r>
            <a:pPr indent="0" marL="0">
              <a:buNone/>
            </a:pPr>
            <a:r>
              <a:rPr lang="en-US" sz="1500" dirty="0">
                <a:solidFill>
                  <a:srgbClr val="1E2761"/>
                </a:solidFill>
                <a:latin typeface="Cambria" pitchFamily="34" charset="0"/>
                <a:ea typeface="Cambria" pitchFamily="34" charset="-122"/>
                <a:cs typeface="Cambria" pitchFamily="34" charset="-120"/>
              </a:rPr>
              <a:t>: Noch zwanzig Meter! Du schaffst das!
</a:t>
            </a:r>
            <a:pPr indent="0" marL="0">
              <a:buNone/>
            </a:pPr>
            <a:r>
              <a:rPr lang="en-US" sz="1500" i="1" dirty="0">
                <a:solidFill>
                  <a:srgbClr val="1E2761"/>
                </a:solidFill>
                <a:latin typeface="Cambria" pitchFamily="34" charset="0"/>
                <a:ea typeface="Cambria" pitchFamily="34" charset="-122"/>
                <a:cs typeface="Cambria" pitchFamily="34" charset="-120"/>
              </a:rPr>
              <a:t>(Die Sportlerin läuft bis zur Linie und lässt sich ins Gras fallen.)</a:t>
            </a:r>
            <a:endParaRPr lang="en-US" sz="1500" dirty="0"/>
          </a:p>
        </p:txBody>
      </p:sp>
      <p:sp>
        <p:nvSpPr>
          <p:cNvPr id="15" name="Shape 12"/>
          <p:cNvSpPr/>
          <p:nvPr/>
        </p:nvSpPr>
        <p:spPr>
          <a:xfrm>
            <a:off x="8046720" y="1417320"/>
            <a:ext cx="3611880" cy="502920"/>
          </a:xfrm>
          <a:prstGeom prst="roundRect">
            <a:avLst>
              <a:gd name="adj" fmla="val 14545"/>
            </a:avLst>
          </a:prstGeom>
          <a:solidFill>
            <a:srgbClr val="1E2761"/>
          </a:solidFill>
          <a:ln/>
        </p:spPr>
      </p:sp>
      <p:sp>
        <p:nvSpPr>
          <p:cNvPr id="16" name="Text 13"/>
          <p:cNvSpPr txBox="1"/>
          <p:nvPr/>
        </p:nvSpPr>
        <p:spPr>
          <a:xfrm>
            <a:off x="8046720" y="1417320"/>
            <a:ext cx="361188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Text C</a:t>
            </a:r>
            <a:endParaRPr lang="en-US" sz="1900" dirty="0"/>
          </a:p>
        </p:txBody>
      </p:sp>
      <p:sp>
        <p:nvSpPr>
          <p:cNvPr id="17" name="Shape 14"/>
          <p:cNvSpPr/>
          <p:nvPr/>
        </p:nvSpPr>
        <p:spPr>
          <a:xfrm>
            <a:off x="8046720" y="2011680"/>
            <a:ext cx="3611880" cy="3429000"/>
          </a:xfrm>
          <a:prstGeom prst="roundRect">
            <a:avLst>
              <a:gd name="adj" fmla="val 2133"/>
            </a:avLst>
          </a:prstGeom>
          <a:solidFill>
            <a:srgbClr val="F4F7FD"/>
          </a:solidFill>
          <a:ln/>
        </p:spPr>
      </p:sp>
      <p:sp>
        <p:nvSpPr>
          <p:cNvPr id="18" name="Text 15"/>
          <p:cNvSpPr txBox="1"/>
          <p:nvPr/>
        </p:nvSpPr>
        <p:spPr>
          <a:xfrm>
            <a:off x="8183880" y="2103120"/>
            <a:ext cx="3337560" cy="3246120"/>
          </a:xfrm>
          <a:prstGeom prst="rect">
            <a:avLst/>
          </a:prstGeom>
          <a:noFill/>
          <a:ln/>
        </p:spPr>
        <p:txBody>
          <a:bodyPr wrap="square" lIns="0" tIns="0" rIns="0" bIns="0" rtlCol="0" anchor="t"/>
          <a:lstStyle/>
          <a:p>
            <a:pPr indent="0" marL="0">
              <a:buNone/>
            </a:pPr>
            <a:r>
              <a:rPr lang="en-US" sz="1500" dirty="0">
                <a:solidFill>
                  <a:srgbClr val="1E2761"/>
                </a:solidFill>
                <a:latin typeface="Cambria" pitchFamily="34" charset="0"/>
                <a:ea typeface="Cambria" pitchFamily="34" charset="-122"/>
                <a:cs typeface="Cambria" pitchFamily="34" charset="-120"/>
              </a:rPr>
              <a:t>Die letzte Runde, die Beine schwer,</a:t>
            </a:r>
            <a:endParaRPr lang="en-US" sz="1500" dirty="0"/>
          </a:p>
          <a:p>
            <a:pPr indent="0" marL="0">
              <a:buNone/>
            </a:pPr>
            <a:r>
              <a:rPr lang="en-US" sz="1500" dirty="0">
                <a:solidFill>
                  <a:srgbClr val="1E2761"/>
                </a:solidFill>
                <a:latin typeface="Cambria" pitchFamily="34" charset="0"/>
                <a:ea typeface="Cambria" pitchFamily="34" charset="-122"/>
                <a:cs typeface="Cambria" pitchFamily="34" charset="-120"/>
              </a:rPr>
              <a:t>die Luft wird knapp, ich kann nicht mehr.</a:t>
            </a:r>
            <a:endParaRPr lang="en-US" sz="1500" dirty="0"/>
          </a:p>
          <a:p>
            <a:pPr indent="0" marL="0">
              <a:buNone/>
            </a:pPr>
            <a:r>
              <a:rPr lang="en-US" sz="1500" dirty="0">
                <a:solidFill>
                  <a:srgbClr val="1E2761"/>
                </a:solidFill>
                <a:latin typeface="Cambria" pitchFamily="34" charset="0"/>
                <a:ea typeface="Cambria" pitchFamily="34" charset="-122"/>
                <a:cs typeface="Cambria" pitchFamily="34" charset="-120"/>
              </a:rPr>
              <a:t>Ein Schritt noch, dann ist’s geschafft,</a:t>
            </a:r>
            <a:endParaRPr lang="en-US" sz="1500" dirty="0"/>
          </a:p>
          <a:p>
            <a:pPr indent="0" marL="0">
              <a:buNone/>
            </a:pPr>
            <a:r>
              <a:rPr lang="en-US" sz="1500" dirty="0">
                <a:solidFill>
                  <a:srgbClr val="1E2761"/>
                </a:solidFill>
                <a:latin typeface="Cambria" pitchFamily="34" charset="0"/>
                <a:ea typeface="Cambria" pitchFamily="34" charset="-122"/>
                <a:cs typeface="Cambria" pitchFamily="34" charset="-120"/>
              </a:rPr>
              <a:t>ich hol mir aus dem Bauch die Kraft.</a:t>
            </a:r>
            <a:endParaRPr lang="en-US" sz="1500" dirty="0"/>
          </a:p>
        </p:txBody>
      </p:sp>
      <p:sp>
        <p:nvSpPr>
          <p:cNvPr id="19" name="Text 16"/>
          <p:cNvSpPr txBox="1"/>
          <p:nvPr/>
        </p:nvSpPr>
        <p:spPr>
          <a:xfrm>
            <a:off x="548640" y="5577840"/>
            <a:ext cx="11064240" cy="502920"/>
          </a:xfrm>
          <a:prstGeom prst="rect">
            <a:avLst/>
          </a:prstGeom>
          <a:noFill/>
          <a:ln/>
        </p:spPr>
        <p:txBody>
          <a:bodyPr wrap="square" lIns="0" tIns="0" rIns="0" bIns="0" rtlCol="0" anchor="t"/>
          <a:lstStyle/>
          <a:p>
            <a:pPr indent="0" marL="0">
              <a:buNone/>
            </a:pPr>
            <a:r>
              <a:rPr lang="en-US" sz="1600" b="1" dirty="0">
                <a:solidFill>
                  <a:srgbClr val="1E2761"/>
                </a:solidFill>
                <a:latin typeface="Calibri" pitchFamily="34" charset="0"/>
                <a:ea typeface="Calibri" pitchFamily="34" charset="-122"/>
                <a:cs typeface="Calibri" pitchFamily="34" charset="-120"/>
              </a:rPr>
              <a:t>Zu zweit: Ordnet A, B, C zu und notiert je ein Merkmal. Tipp: Wer erzählt hier – und gibt es überhaupt einen Erzähler?</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INFORMIEREN · EIN TRAINING – DREI GATTUNGEN</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So erkennst du die Gattung</a:t>
            </a:r>
            <a:endParaRPr lang="en-US" sz="3200" dirty="0"/>
          </a:p>
        </p:txBody>
      </p:sp>
      <p:sp>
        <p:nvSpPr>
          <p:cNvPr id="4" name="Text 2"/>
          <p:cNvSpPr txBox="1"/>
          <p:nvPr/>
        </p:nvSpPr>
        <p:spPr>
          <a:xfrm>
            <a:off x="548640" y="6400800"/>
            <a:ext cx="64008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Freitag, 6.11. · Die Ballade als Ur-Ei · Deutsch 7A</a:t>
            </a:r>
            <a:endParaRPr lang="en-US" sz="1000" dirty="0"/>
          </a:p>
        </p:txBody>
      </p:sp>
      <p:sp>
        <p:nvSpPr>
          <p:cNvPr id="5" name="Text 3"/>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7</a:t>
            </a:r>
            <a:endParaRPr lang="en-US" sz="1000" dirty="0"/>
          </a:p>
        </p:txBody>
      </p:sp>
      <p:sp>
        <p:nvSpPr>
          <p:cNvPr id="7" name="Shape 4"/>
          <p:cNvSpPr/>
          <p:nvPr/>
        </p:nvSpPr>
        <p:spPr>
          <a:xfrm>
            <a:off x="548640" y="1417320"/>
            <a:ext cx="3611880" cy="502920"/>
          </a:xfrm>
          <a:prstGeom prst="roundRect">
            <a:avLst>
              <a:gd name="adj" fmla="val 14545"/>
            </a:avLst>
          </a:prstGeom>
          <a:solidFill>
            <a:srgbClr val="7A5BA6"/>
          </a:solidFill>
          <a:ln/>
        </p:spPr>
      </p:sp>
      <p:sp>
        <p:nvSpPr>
          <p:cNvPr id="8" name="Text 5"/>
          <p:cNvSpPr txBox="1"/>
          <p:nvPr/>
        </p:nvSpPr>
        <p:spPr>
          <a:xfrm>
            <a:off x="548640" y="1417320"/>
            <a:ext cx="361188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A  Epik</a:t>
            </a:r>
            <a:endParaRPr lang="en-US" sz="1900" dirty="0"/>
          </a:p>
        </p:txBody>
      </p:sp>
      <p:sp>
        <p:nvSpPr>
          <p:cNvPr id="9" name="Shape 6"/>
          <p:cNvSpPr/>
          <p:nvPr/>
        </p:nvSpPr>
        <p:spPr>
          <a:xfrm>
            <a:off x="548640" y="2011680"/>
            <a:ext cx="3611880" cy="2240280"/>
          </a:xfrm>
          <a:prstGeom prst="roundRect">
            <a:avLst>
              <a:gd name="adj" fmla="val 3265"/>
            </a:avLst>
          </a:prstGeom>
          <a:solidFill>
            <a:srgbClr val="F4F7FD"/>
          </a:solidFill>
          <a:ln/>
        </p:spPr>
      </p:sp>
      <p:sp>
        <p:nvSpPr>
          <p:cNvPr id="10" name="Text 7"/>
          <p:cNvSpPr txBox="1"/>
          <p:nvPr/>
        </p:nvSpPr>
        <p:spPr>
          <a:xfrm>
            <a:off x="685800" y="2103120"/>
            <a:ext cx="3337560" cy="2057400"/>
          </a:xfrm>
          <a:prstGeom prst="rect">
            <a:avLst/>
          </a:prstGeom>
          <a:noFill/>
          <a:ln/>
        </p:spPr>
        <p:txBody>
          <a:bodyPr wrap="square" lIns="0" tIns="0" rIns="0" bIns="0" rtlCol="0" anchor="t"/>
          <a:lstStyle/>
          <a:p>
            <a:pPr indent="0" marL="0">
              <a:buNone/>
            </a:pPr>
            <a:r>
              <a:rPr lang="en-US" sz="1500" dirty="0">
                <a:solidFill>
                  <a:srgbClr val="1E2761"/>
                </a:solidFill>
                <a:latin typeface="Cambria" pitchFamily="34" charset="0"/>
                <a:ea typeface="Cambria" pitchFamily="34" charset="-122"/>
                <a:cs typeface="Cambria" pitchFamily="34" charset="-120"/>
              </a:rPr>
              <a:t>Bei der letzten Runde waren meine Beine schwer wie Blei. Ich bekam kaum noch Luft und wollte aufhören. „Noch zwanzig Meter!“, rief mein Trainer vom Rand. Ich biss die Zähne zusammen und lief bis zur Linie.</a:t>
            </a:r>
            <a:endParaRPr lang="en-US" sz="1250" dirty="0"/>
          </a:p>
        </p:txBody>
      </p:sp>
      <p:sp>
        <p:nvSpPr>
          <p:cNvPr id="11" name="Shape 8"/>
          <p:cNvSpPr/>
          <p:nvPr/>
        </p:nvSpPr>
        <p:spPr>
          <a:xfrm>
            <a:off x="548640" y="4343400"/>
            <a:ext cx="3611880" cy="1280160"/>
          </a:xfrm>
          <a:prstGeom prst="roundRect">
            <a:avLst>
              <a:gd name="adj" fmla="val 5714"/>
            </a:avLst>
          </a:prstGeom>
          <a:solidFill>
            <a:srgbClr val="FFFFFF"/>
          </a:solidFill>
          <a:ln w="25400">
            <a:solidFill>
              <a:srgbClr val="7A5BA6"/>
            </a:solidFill>
            <a:prstDash val="solid"/>
          </a:ln>
        </p:spPr>
      </p:sp>
      <p:sp>
        <p:nvSpPr>
          <p:cNvPr id="12" name="Text 9"/>
          <p:cNvSpPr txBox="1"/>
          <p:nvPr/>
        </p:nvSpPr>
        <p:spPr>
          <a:xfrm>
            <a:off x="658368" y="4407408"/>
            <a:ext cx="3383280" cy="1188720"/>
          </a:xfrm>
          <a:prstGeom prst="rect">
            <a:avLst/>
          </a:prstGeom>
          <a:noFill/>
          <a:ln/>
        </p:spPr>
        <p:txBody>
          <a:bodyPr wrap="square" lIns="0" tIns="0" rIns="0" bIns="0" rtlCol="0" anchor="t"/>
          <a:lstStyle/>
          <a:p>
            <a:pPr indent="0" marL="0">
              <a:buNone/>
            </a:pPr>
            <a:r>
              <a:rPr lang="en-US" sz="1250" dirty="0">
                <a:solidFill>
                  <a:srgbClr val="1E2761"/>
                </a:solidFill>
                <a:latin typeface="Calibri" pitchFamily="34" charset="0"/>
                <a:ea typeface="Calibri" pitchFamily="34" charset="-122"/>
                <a:cs typeface="Calibri" pitchFamily="34" charset="-120"/>
              </a:rPr>
              <a:t>• Ein Erzähler erzählt (hier: Ich-Erzähler)
</a:t>
            </a:r>
            <a:pPr indent="0" marL="0">
              <a:buNone/>
            </a:pPr>
            <a:r>
              <a:rPr lang="en-US" sz="1250" dirty="0">
                <a:solidFill>
                  <a:srgbClr val="1E2761"/>
                </a:solidFill>
                <a:latin typeface="Calibri" pitchFamily="34" charset="0"/>
                <a:ea typeface="Calibri" pitchFamily="34" charset="-122"/>
                <a:cs typeface="Calibri" pitchFamily="34" charset="-120"/>
              </a:rPr>
              <a:t>• im Nachhinein, Präteritum
</a:t>
            </a:r>
            <a:pPr indent="0" marL="0">
              <a:buNone/>
            </a:pPr>
            <a:r>
              <a:rPr lang="en-US" sz="1250" dirty="0">
                <a:solidFill>
                  <a:srgbClr val="1E2761"/>
                </a:solidFill>
                <a:latin typeface="Calibri" pitchFamily="34" charset="0"/>
                <a:ea typeface="Calibri" pitchFamily="34" charset="-122"/>
                <a:cs typeface="Calibri" pitchFamily="34" charset="-120"/>
              </a:rPr>
              <a:t>• er gibt die Rede wieder und leitet sie ein („rief mein Trainer“)</a:t>
            </a:r>
            <a:endParaRPr lang="en-US" sz="1250" dirty="0"/>
          </a:p>
        </p:txBody>
      </p:sp>
      <p:sp>
        <p:nvSpPr>
          <p:cNvPr id="13" name="Shape 10"/>
          <p:cNvSpPr/>
          <p:nvPr/>
        </p:nvSpPr>
        <p:spPr>
          <a:xfrm>
            <a:off x="4297680" y="1417320"/>
            <a:ext cx="3611880" cy="502920"/>
          </a:xfrm>
          <a:prstGeom prst="roundRect">
            <a:avLst>
              <a:gd name="adj" fmla="val 14545"/>
            </a:avLst>
          </a:prstGeom>
          <a:solidFill>
            <a:srgbClr val="C77C12"/>
          </a:solidFill>
          <a:ln/>
        </p:spPr>
      </p:sp>
      <p:sp>
        <p:nvSpPr>
          <p:cNvPr id="14" name="Text 11"/>
          <p:cNvSpPr txBox="1"/>
          <p:nvPr/>
        </p:nvSpPr>
        <p:spPr>
          <a:xfrm>
            <a:off x="4297680" y="1417320"/>
            <a:ext cx="361188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B  Dramatik</a:t>
            </a:r>
            <a:endParaRPr lang="en-US" sz="1900" dirty="0"/>
          </a:p>
        </p:txBody>
      </p:sp>
      <p:sp>
        <p:nvSpPr>
          <p:cNvPr id="15" name="Shape 12"/>
          <p:cNvSpPr/>
          <p:nvPr/>
        </p:nvSpPr>
        <p:spPr>
          <a:xfrm>
            <a:off x="4297680" y="2011680"/>
            <a:ext cx="3611880" cy="2240280"/>
          </a:xfrm>
          <a:prstGeom prst="roundRect">
            <a:avLst>
              <a:gd name="adj" fmla="val 3265"/>
            </a:avLst>
          </a:prstGeom>
          <a:solidFill>
            <a:srgbClr val="F4F7FD"/>
          </a:solidFill>
          <a:ln/>
        </p:spPr>
      </p:sp>
      <p:sp>
        <p:nvSpPr>
          <p:cNvPr id="16" name="Text 13"/>
          <p:cNvSpPr txBox="1"/>
          <p:nvPr/>
        </p:nvSpPr>
        <p:spPr>
          <a:xfrm>
            <a:off x="4434840" y="2103120"/>
            <a:ext cx="3337560" cy="2057400"/>
          </a:xfrm>
          <a:prstGeom prst="rect">
            <a:avLst/>
          </a:prstGeom>
          <a:noFill/>
          <a:ln/>
        </p:spPr>
        <p:txBody>
          <a:bodyPr wrap="square" lIns="0" tIns="0" rIns="0" bIns="0" rtlCol="0" anchor="t"/>
          <a:lstStyle/>
          <a:p>
            <a:pPr indent="0" marL="0">
              <a:buNone/>
            </a:pPr>
            <a:r>
              <a:rPr lang="en-US" sz="1500" b="1" dirty="0">
                <a:solidFill>
                  <a:srgbClr val="1E2761"/>
                </a:solidFill>
                <a:latin typeface="Cambria" pitchFamily="34" charset="0"/>
                <a:ea typeface="Cambria" pitchFamily="34" charset="-122"/>
                <a:cs typeface="Cambria" pitchFamily="34" charset="-120"/>
              </a:rPr>
              <a:t>TRAINER </a:t>
            </a:r>
            <a:pPr indent="0" marL="0">
              <a:buNone/>
            </a:pPr>
            <a:r>
              <a:rPr lang="en-US" sz="1500" i="1" dirty="0">
                <a:solidFill>
                  <a:srgbClr val="1E2761"/>
                </a:solidFill>
                <a:latin typeface="Cambria" pitchFamily="34" charset="0"/>
                <a:ea typeface="Cambria" pitchFamily="34" charset="-122"/>
                <a:cs typeface="Cambria" pitchFamily="34" charset="-120"/>
              </a:rPr>
              <a:t>(klatscht in die Hände)</a:t>
            </a:r>
            <a:pPr indent="0" marL="0">
              <a:buNone/>
            </a:pPr>
            <a:r>
              <a:rPr lang="en-US" sz="1500" dirty="0">
                <a:solidFill>
                  <a:srgbClr val="1E2761"/>
                </a:solidFill>
                <a:latin typeface="Cambria" pitchFamily="34" charset="0"/>
                <a:ea typeface="Cambria" pitchFamily="34" charset="-122"/>
                <a:cs typeface="Cambria" pitchFamily="34" charset="-120"/>
              </a:rPr>
              <a:t>: Letzte Runde! Los!
</a:t>
            </a:r>
            <a:pPr indent="0" marL="0">
              <a:buNone/>
            </a:pPr>
            <a:r>
              <a:rPr lang="en-US" sz="1500" b="1" dirty="0">
                <a:solidFill>
                  <a:srgbClr val="1E2761"/>
                </a:solidFill>
                <a:latin typeface="Cambria" pitchFamily="34" charset="0"/>
                <a:ea typeface="Cambria" pitchFamily="34" charset="-122"/>
                <a:cs typeface="Cambria" pitchFamily="34" charset="-120"/>
              </a:rPr>
              <a:t>SPORTLERIN </a:t>
            </a:r>
            <a:pPr indent="0" marL="0">
              <a:buNone/>
            </a:pPr>
            <a:r>
              <a:rPr lang="en-US" sz="1500" i="1" dirty="0">
                <a:solidFill>
                  <a:srgbClr val="1E2761"/>
                </a:solidFill>
                <a:latin typeface="Cambria" pitchFamily="34" charset="0"/>
                <a:ea typeface="Cambria" pitchFamily="34" charset="-122"/>
                <a:cs typeface="Cambria" pitchFamily="34" charset="-120"/>
              </a:rPr>
              <a:t>(keucht)</a:t>
            </a:r>
            <a:pPr indent="0" marL="0">
              <a:buNone/>
            </a:pPr>
            <a:r>
              <a:rPr lang="en-US" sz="1500" dirty="0">
                <a:solidFill>
                  <a:srgbClr val="1E2761"/>
                </a:solidFill>
                <a:latin typeface="Cambria" pitchFamily="34" charset="0"/>
                <a:ea typeface="Cambria" pitchFamily="34" charset="-122"/>
                <a:cs typeface="Cambria" pitchFamily="34" charset="-120"/>
              </a:rPr>
              <a:t>: Ich kann nicht mehr …
</a:t>
            </a:r>
            <a:pPr indent="0" marL="0">
              <a:buNone/>
            </a:pPr>
            <a:r>
              <a:rPr lang="en-US" sz="1500" b="1" dirty="0">
                <a:solidFill>
                  <a:srgbClr val="1E2761"/>
                </a:solidFill>
                <a:latin typeface="Cambria" pitchFamily="34" charset="0"/>
                <a:ea typeface="Cambria" pitchFamily="34" charset="-122"/>
                <a:cs typeface="Cambria" pitchFamily="34" charset="-120"/>
              </a:rPr>
              <a:t>TRAINER</a:t>
            </a:r>
            <a:pPr indent="0" marL="0">
              <a:buNone/>
            </a:pPr>
            <a:r>
              <a:rPr lang="en-US" sz="1500" dirty="0">
                <a:solidFill>
                  <a:srgbClr val="1E2761"/>
                </a:solidFill>
                <a:latin typeface="Cambria" pitchFamily="34" charset="0"/>
                <a:ea typeface="Cambria" pitchFamily="34" charset="-122"/>
                <a:cs typeface="Cambria" pitchFamily="34" charset="-120"/>
              </a:rPr>
              <a:t>: Noch zwanzig Meter! Du schaffst das!
</a:t>
            </a:r>
            <a:pPr indent="0" marL="0">
              <a:buNone/>
            </a:pPr>
            <a:r>
              <a:rPr lang="en-US" sz="1500" i="1" dirty="0">
                <a:solidFill>
                  <a:srgbClr val="1E2761"/>
                </a:solidFill>
                <a:latin typeface="Cambria" pitchFamily="34" charset="0"/>
                <a:ea typeface="Cambria" pitchFamily="34" charset="-122"/>
                <a:cs typeface="Cambria" pitchFamily="34" charset="-120"/>
              </a:rPr>
              <a:t>(Die Sportlerin läuft bis zur Linie und lässt sich ins Gras fallen.)</a:t>
            </a:r>
            <a:endParaRPr lang="en-US" sz="1250" dirty="0"/>
          </a:p>
        </p:txBody>
      </p:sp>
      <p:sp>
        <p:nvSpPr>
          <p:cNvPr id="17" name="Shape 14"/>
          <p:cNvSpPr/>
          <p:nvPr/>
        </p:nvSpPr>
        <p:spPr>
          <a:xfrm>
            <a:off x="4297680" y="4343400"/>
            <a:ext cx="3611880" cy="1280160"/>
          </a:xfrm>
          <a:prstGeom prst="roundRect">
            <a:avLst>
              <a:gd name="adj" fmla="val 5714"/>
            </a:avLst>
          </a:prstGeom>
          <a:solidFill>
            <a:srgbClr val="FFFFFF"/>
          </a:solidFill>
          <a:ln w="25400">
            <a:solidFill>
              <a:srgbClr val="C77C12"/>
            </a:solidFill>
            <a:prstDash val="solid"/>
          </a:ln>
        </p:spPr>
      </p:sp>
      <p:sp>
        <p:nvSpPr>
          <p:cNvPr id="18" name="Text 15"/>
          <p:cNvSpPr txBox="1"/>
          <p:nvPr/>
        </p:nvSpPr>
        <p:spPr>
          <a:xfrm>
            <a:off x="4407408" y="4407408"/>
            <a:ext cx="3383280" cy="1188720"/>
          </a:xfrm>
          <a:prstGeom prst="rect">
            <a:avLst/>
          </a:prstGeom>
          <a:noFill/>
          <a:ln/>
        </p:spPr>
        <p:txBody>
          <a:bodyPr wrap="square" lIns="0" tIns="0" rIns="0" bIns="0" rtlCol="0" anchor="t"/>
          <a:lstStyle/>
          <a:p>
            <a:pPr indent="0" marL="0">
              <a:buNone/>
            </a:pPr>
            <a:r>
              <a:rPr lang="en-US" sz="1250" dirty="0">
                <a:solidFill>
                  <a:srgbClr val="1E2761"/>
                </a:solidFill>
                <a:latin typeface="Calibri" pitchFamily="34" charset="0"/>
                <a:ea typeface="Calibri" pitchFamily="34" charset="-122"/>
                <a:cs typeface="Calibri" pitchFamily="34" charset="-120"/>
              </a:rPr>
              <a:t>• Kein Erzähler
</a:t>
            </a:r>
            <a:pPr indent="0" marL="0">
              <a:buNone/>
            </a:pPr>
            <a:r>
              <a:rPr lang="en-US" sz="1250" dirty="0">
                <a:solidFill>
                  <a:srgbClr val="1E2761"/>
                </a:solidFill>
                <a:latin typeface="Calibri" pitchFamily="34" charset="0"/>
                <a:ea typeface="Calibri" pitchFamily="34" charset="-122"/>
                <a:cs typeface="Calibri" pitchFamily="34" charset="-120"/>
              </a:rPr>
              <a:t>• die Figuren sprechen direkt miteinander, Name vor der Rede
</a:t>
            </a:r>
            <a:pPr indent="0" marL="0">
              <a:buNone/>
            </a:pPr>
            <a:r>
              <a:rPr lang="en-US" sz="1250" dirty="0">
                <a:solidFill>
                  <a:srgbClr val="1E2761"/>
                </a:solidFill>
                <a:latin typeface="Calibri" pitchFamily="34" charset="0"/>
                <a:ea typeface="Calibri" pitchFamily="34" charset="-122"/>
                <a:cs typeface="Calibri" pitchFamily="34" charset="-120"/>
              </a:rPr>
              <a:t>• es passiert jetzt (Präsens)
</a:t>
            </a:r>
            <a:pPr indent="0" marL="0">
              <a:buNone/>
            </a:pPr>
            <a:r>
              <a:rPr lang="en-US" sz="1250" dirty="0">
                <a:solidFill>
                  <a:srgbClr val="1E2761"/>
                </a:solidFill>
                <a:latin typeface="Calibri" pitchFamily="34" charset="0"/>
                <a:ea typeface="Calibri" pitchFamily="34" charset="-122"/>
                <a:cs typeface="Calibri" pitchFamily="34" charset="-120"/>
              </a:rPr>
              <a:t>• Regieanweisungen in Klammern</a:t>
            </a:r>
            <a:endParaRPr lang="en-US" sz="1250" dirty="0"/>
          </a:p>
        </p:txBody>
      </p:sp>
      <p:sp>
        <p:nvSpPr>
          <p:cNvPr id="19" name="Shape 16"/>
          <p:cNvSpPr/>
          <p:nvPr/>
        </p:nvSpPr>
        <p:spPr>
          <a:xfrm>
            <a:off x="8046720" y="1417320"/>
            <a:ext cx="3611880" cy="502920"/>
          </a:xfrm>
          <a:prstGeom prst="roundRect">
            <a:avLst>
              <a:gd name="adj" fmla="val 14545"/>
            </a:avLst>
          </a:prstGeom>
          <a:solidFill>
            <a:srgbClr val="2A8C8C"/>
          </a:solidFill>
          <a:ln/>
        </p:spPr>
      </p:sp>
      <p:sp>
        <p:nvSpPr>
          <p:cNvPr id="20" name="Text 17"/>
          <p:cNvSpPr txBox="1"/>
          <p:nvPr/>
        </p:nvSpPr>
        <p:spPr>
          <a:xfrm>
            <a:off x="8046720" y="1417320"/>
            <a:ext cx="361188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C  Lyrik</a:t>
            </a:r>
            <a:endParaRPr lang="en-US" sz="1900" dirty="0"/>
          </a:p>
        </p:txBody>
      </p:sp>
      <p:sp>
        <p:nvSpPr>
          <p:cNvPr id="21" name="Shape 18"/>
          <p:cNvSpPr/>
          <p:nvPr/>
        </p:nvSpPr>
        <p:spPr>
          <a:xfrm>
            <a:off x="8046720" y="2011680"/>
            <a:ext cx="3611880" cy="2240280"/>
          </a:xfrm>
          <a:prstGeom prst="roundRect">
            <a:avLst>
              <a:gd name="adj" fmla="val 3265"/>
            </a:avLst>
          </a:prstGeom>
          <a:solidFill>
            <a:srgbClr val="F4F7FD"/>
          </a:solidFill>
          <a:ln/>
        </p:spPr>
      </p:sp>
      <p:sp>
        <p:nvSpPr>
          <p:cNvPr id="22" name="Text 19"/>
          <p:cNvSpPr txBox="1"/>
          <p:nvPr/>
        </p:nvSpPr>
        <p:spPr>
          <a:xfrm>
            <a:off x="8183880" y="2103120"/>
            <a:ext cx="3337560" cy="2057400"/>
          </a:xfrm>
          <a:prstGeom prst="rect">
            <a:avLst/>
          </a:prstGeom>
          <a:noFill/>
          <a:ln/>
        </p:spPr>
        <p:txBody>
          <a:bodyPr wrap="square" lIns="0" tIns="0" rIns="0" bIns="0" rtlCol="0" anchor="t"/>
          <a:lstStyle/>
          <a:p>
            <a:pPr indent="0" marL="0">
              <a:buNone/>
            </a:pPr>
            <a:r>
              <a:rPr lang="en-US" sz="1500" dirty="0">
                <a:solidFill>
                  <a:srgbClr val="1E2761"/>
                </a:solidFill>
                <a:latin typeface="Cambria" pitchFamily="34" charset="0"/>
                <a:ea typeface="Cambria" pitchFamily="34" charset="-122"/>
                <a:cs typeface="Cambria" pitchFamily="34" charset="-120"/>
              </a:rPr>
              <a:t>Die letzte Runde, die Beine schwer,</a:t>
            </a:r>
            <a:endParaRPr lang="en-US" sz="1250" dirty="0"/>
          </a:p>
          <a:p>
            <a:pPr indent="0" marL="0">
              <a:buNone/>
            </a:pPr>
            <a:r>
              <a:rPr lang="en-US" sz="1500" dirty="0">
                <a:solidFill>
                  <a:srgbClr val="1E2761"/>
                </a:solidFill>
                <a:latin typeface="Cambria" pitchFamily="34" charset="0"/>
                <a:ea typeface="Cambria" pitchFamily="34" charset="-122"/>
                <a:cs typeface="Cambria" pitchFamily="34" charset="-120"/>
              </a:rPr>
              <a:t>die Luft wird knapp, ich kann nicht mehr.</a:t>
            </a:r>
            <a:endParaRPr lang="en-US" sz="1250" dirty="0"/>
          </a:p>
          <a:p>
            <a:pPr indent="0" marL="0">
              <a:buNone/>
            </a:pPr>
            <a:r>
              <a:rPr lang="en-US" sz="1500" dirty="0">
                <a:solidFill>
                  <a:srgbClr val="1E2761"/>
                </a:solidFill>
                <a:latin typeface="Cambria" pitchFamily="34" charset="0"/>
                <a:ea typeface="Cambria" pitchFamily="34" charset="-122"/>
                <a:cs typeface="Cambria" pitchFamily="34" charset="-120"/>
              </a:rPr>
              <a:t>Ein Schritt noch, dann ist’s geschafft,</a:t>
            </a:r>
            <a:endParaRPr lang="en-US" sz="1250" dirty="0"/>
          </a:p>
          <a:p>
            <a:pPr indent="0" marL="0">
              <a:buNone/>
            </a:pPr>
            <a:r>
              <a:rPr lang="en-US" sz="1500" dirty="0">
                <a:solidFill>
                  <a:srgbClr val="1E2761"/>
                </a:solidFill>
                <a:latin typeface="Cambria" pitchFamily="34" charset="0"/>
                <a:ea typeface="Cambria" pitchFamily="34" charset="-122"/>
                <a:cs typeface="Cambria" pitchFamily="34" charset="-120"/>
              </a:rPr>
              <a:t>ich hol mir aus dem Bauch die Kraft.</a:t>
            </a:r>
            <a:endParaRPr lang="en-US" sz="1250" dirty="0"/>
          </a:p>
        </p:txBody>
      </p:sp>
      <p:sp>
        <p:nvSpPr>
          <p:cNvPr id="23" name="Shape 20"/>
          <p:cNvSpPr/>
          <p:nvPr/>
        </p:nvSpPr>
        <p:spPr>
          <a:xfrm>
            <a:off x="8046720" y="4343400"/>
            <a:ext cx="3611880" cy="1280160"/>
          </a:xfrm>
          <a:prstGeom prst="roundRect">
            <a:avLst>
              <a:gd name="adj" fmla="val 5714"/>
            </a:avLst>
          </a:prstGeom>
          <a:solidFill>
            <a:srgbClr val="FFFFFF"/>
          </a:solidFill>
          <a:ln w="25400">
            <a:solidFill>
              <a:srgbClr val="2A8C8C"/>
            </a:solidFill>
            <a:prstDash val="solid"/>
          </a:ln>
        </p:spPr>
      </p:sp>
      <p:sp>
        <p:nvSpPr>
          <p:cNvPr id="24" name="Text 21"/>
          <p:cNvSpPr txBox="1"/>
          <p:nvPr/>
        </p:nvSpPr>
        <p:spPr>
          <a:xfrm>
            <a:off x="8156448" y="4407408"/>
            <a:ext cx="3383280" cy="1188720"/>
          </a:xfrm>
          <a:prstGeom prst="rect">
            <a:avLst/>
          </a:prstGeom>
          <a:noFill/>
          <a:ln/>
        </p:spPr>
        <p:txBody>
          <a:bodyPr wrap="square" lIns="0" tIns="0" rIns="0" bIns="0" rtlCol="0" anchor="t"/>
          <a:lstStyle/>
          <a:p>
            <a:pPr indent="0" marL="0">
              <a:buNone/>
            </a:pPr>
            <a:r>
              <a:rPr lang="en-US" sz="1250" dirty="0">
                <a:solidFill>
                  <a:srgbClr val="1E2761"/>
                </a:solidFill>
                <a:latin typeface="Calibri" pitchFamily="34" charset="0"/>
                <a:ea typeface="Calibri" pitchFamily="34" charset="-122"/>
                <a:cs typeface="Calibri" pitchFamily="34" charset="-120"/>
              </a:rPr>
              <a:t>• Verse und Strophe
</a:t>
            </a:r>
            <a:pPr indent="0" marL="0">
              <a:buNone/>
            </a:pPr>
            <a:r>
              <a:rPr lang="en-US" sz="1250" dirty="0">
                <a:solidFill>
                  <a:srgbClr val="1E2761"/>
                </a:solidFill>
                <a:latin typeface="Calibri" pitchFamily="34" charset="0"/>
                <a:ea typeface="Calibri" pitchFamily="34" charset="-122"/>
                <a:cs typeface="Calibri" pitchFamily="34" charset="-120"/>
              </a:rPr>
              <a:t>• Reim (Paarreim: schwer – mehr, geschafft – Kraft)
</a:t>
            </a:r>
            <a:pPr indent="0" marL="0">
              <a:buNone/>
            </a:pPr>
            <a:r>
              <a:rPr lang="en-US" sz="1250" dirty="0">
                <a:solidFill>
                  <a:srgbClr val="1E2761"/>
                </a:solidFill>
                <a:latin typeface="Calibri" pitchFamily="34" charset="0"/>
                <a:ea typeface="Calibri" pitchFamily="34" charset="-122"/>
                <a:cs typeface="Calibri" pitchFamily="34" charset="-120"/>
              </a:rPr>
              <a:t>• Rhythmus</a:t>
            </a:r>
            <a:endParaRPr lang="en-US" sz="1250" dirty="0"/>
          </a:p>
        </p:txBody>
      </p:sp>
      <p:sp>
        <p:nvSpPr>
          <p:cNvPr id="25" name="Text 22"/>
          <p:cNvSpPr txBox="1"/>
          <p:nvPr/>
        </p:nvSpPr>
        <p:spPr>
          <a:xfrm>
            <a:off x="548640" y="5760720"/>
            <a:ext cx="11064240" cy="411480"/>
          </a:xfrm>
          <a:prstGeom prst="rect">
            <a:avLst/>
          </a:prstGeom>
          <a:noFill/>
          <a:ln/>
        </p:spPr>
        <p:txBody>
          <a:bodyPr wrap="square" lIns="0" tIns="0" rIns="0" bIns="0" rtlCol="0" anchor="t"/>
          <a:lstStyle/>
          <a:p>
            <a:pPr algn="ctr" indent="0" marL="0">
              <a:buNone/>
            </a:pPr>
            <a:r>
              <a:rPr lang="en-US" sz="1800" b="1" dirty="0">
                <a:solidFill>
                  <a:srgbClr val="1E2761"/>
                </a:solidFill>
                <a:latin typeface="Calibri" pitchFamily="34" charset="0"/>
                <a:ea typeface="Calibri" pitchFamily="34" charset="-122"/>
                <a:cs typeface="Calibri" pitchFamily="34" charset="-120"/>
              </a:rPr>
              <a:t>Mit Erzähler = Epik · ohne Erzähler = Dramatik · gebundene Form = Lyrik</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INFORMIEREN · ÜBERTRAGEN AUF PADDY FINGAL</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Und in der Ballade?</a:t>
            </a:r>
            <a:endParaRPr lang="en-US" sz="3200" dirty="0"/>
          </a:p>
        </p:txBody>
      </p:sp>
      <p:sp>
        <p:nvSpPr>
          <p:cNvPr id="4" name="Text 2"/>
          <p:cNvSpPr txBox="1"/>
          <p:nvPr/>
        </p:nvSpPr>
        <p:spPr>
          <a:xfrm>
            <a:off x="548640" y="6400800"/>
            <a:ext cx="64008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Freitag, 6.11. · Die Ballade als Ur-Ei · Deutsch 7A</a:t>
            </a:r>
            <a:endParaRPr lang="en-US" sz="1000" dirty="0"/>
          </a:p>
        </p:txBody>
      </p:sp>
      <p:sp>
        <p:nvSpPr>
          <p:cNvPr id="5" name="Text 3"/>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8</a:t>
            </a:r>
            <a:endParaRPr lang="en-US" sz="1000" dirty="0"/>
          </a:p>
        </p:txBody>
      </p:sp>
      <p:sp>
        <p:nvSpPr>
          <p:cNvPr id="7" name="Shape 4"/>
          <p:cNvSpPr/>
          <p:nvPr/>
        </p:nvSpPr>
        <p:spPr>
          <a:xfrm>
            <a:off x="548640" y="1463040"/>
            <a:ext cx="5440680" cy="502920"/>
          </a:xfrm>
          <a:prstGeom prst="roundRect">
            <a:avLst>
              <a:gd name="adj" fmla="val 14545"/>
            </a:avLst>
          </a:prstGeom>
          <a:solidFill>
            <a:srgbClr val="7A5BA6"/>
          </a:solidFill>
          <a:ln/>
        </p:spPr>
      </p:sp>
      <p:sp>
        <p:nvSpPr>
          <p:cNvPr id="8" name="Text 5"/>
          <p:cNvSpPr txBox="1"/>
          <p:nvPr/>
        </p:nvSpPr>
        <p:spPr>
          <a:xfrm>
            <a:off x="548640" y="1463040"/>
            <a:ext cx="544068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Mit Erzähler (Epik)</a:t>
            </a:r>
            <a:endParaRPr lang="en-US" sz="1900" dirty="0"/>
          </a:p>
        </p:txBody>
      </p:sp>
      <p:sp>
        <p:nvSpPr>
          <p:cNvPr id="9" name="Shape 6"/>
          <p:cNvSpPr/>
          <p:nvPr/>
        </p:nvSpPr>
        <p:spPr>
          <a:xfrm>
            <a:off x="548640" y="2057400"/>
            <a:ext cx="5440680" cy="1737360"/>
          </a:xfrm>
          <a:prstGeom prst="roundRect">
            <a:avLst>
              <a:gd name="adj" fmla="val 4211"/>
            </a:avLst>
          </a:prstGeom>
          <a:solidFill>
            <a:srgbClr val="F4F7FD"/>
          </a:solidFill>
          <a:ln/>
        </p:spPr>
      </p:sp>
      <p:sp>
        <p:nvSpPr>
          <p:cNvPr id="10" name="Text 7"/>
          <p:cNvSpPr txBox="1"/>
          <p:nvPr/>
        </p:nvSpPr>
        <p:spPr>
          <a:xfrm>
            <a:off x="731520" y="2194560"/>
            <a:ext cx="5074920" cy="1463040"/>
          </a:xfrm>
          <a:prstGeom prst="rect">
            <a:avLst/>
          </a:prstGeom>
          <a:noFill/>
          <a:ln/>
        </p:spPr>
        <p:txBody>
          <a:bodyPr wrap="square" lIns="0" tIns="0" rIns="0" bIns="0" rtlCol="0" anchor="t"/>
          <a:lstStyle/>
          <a:p>
            <a:pPr indent="0" marL="0">
              <a:buNone/>
            </a:pPr>
            <a:r>
              <a:rPr lang="en-US" sz="1800" dirty="0">
                <a:solidFill>
                  <a:srgbClr val="1E2761"/>
                </a:solidFill>
                <a:latin typeface="Cambria" pitchFamily="34" charset="0"/>
                <a:ea typeface="Cambria" pitchFamily="34" charset="-122"/>
                <a:cs typeface="Cambria" pitchFamily="34" charset="-120"/>
              </a:rPr>
              <a:t>Da lief er heim in jähem Schreck:</a:t>
            </a:r>
            <a:endParaRPr lang="en-US" sz="1800" dirty="0"/>
          </a:p>
          <a:p>
            <a:pPr indent="0" marL="0">
              <a:buNone/>
            </a:pPr>
            <a:r>
              <a:rPr lang="en-US" sz="1800" dirty="0">
                <a:solidFill>
                  <a:srgbClr val="1E2761"/>
                </a:solidFill>
                <a:latin typeface="Cambria" pitchFamily="34" charset="0"/>
                <a:ea typeface="Cambria" pitchFamily="34" charset="-122"/>
                <a:cs typeface="Cambria" pitchFamily="34" charset="-120"/>
              </a:rPr>
              <a:t>„O Schaya, birg mich im Versteck! …“</a:t>
            </a:r>
            <a:endParaRPr lang="en-US" sz="1800" dirty="0"/>
          </a:p>
        </p:txBody>
      </p:sp>
      <p:sp>
        <p:nvSpPr>
          <p:cNvPr id="11" name="Text 8"/>
          <p:cNvSpPr txBox="1"/>
          <p:nvPr/>
        </p:nvSpPr>
        <p:spPr>
          <a:xfrm>
            <a:off x="548640" y="3886200"/>
            <a:ext cx="5440680" cy="457200"/>
          </a:xfrm>
          <a:prstGeom prst="rect">
            <a:avLst/>
          </a:prstGeom>
          <a:noFill/>
          <a:ln/>
        </p:spPr>
        <p:txBody>
          <a:bodyPr wrap="square" lIns="0" tIns="0" rIns="0" bIns="0" rtlCol="0" anchor="t"/>
          <a:lstStyle/>
          <a:p>
            <a:pPr algn="ctr" indent="0" marL="0">
              <a:buNone/>
            </a:pPr>
            <a:r>
              <a:rPr lang="en-US" sz="1500" i="1" dirty="0">
                <a:solidFill>
                  <a:srgbClr val="5B6B8C"/>
                </a:solidFill>
                <a:latin typeface="Calibri" pitchFamily="34" charset="0"/>
                <a:ea typeface="Calibri" pitchFamily="34" charset="-122"/>
                <a:cs typeface="Calibri" pitchFamily="34" charset="-120"/>
              </a:rPr>
              <a:t>Str. 4, V. 16–17 – der Erzähler leitet Paddys Rede ein</a:t>
            </a:r>
            <a:endParaRPr lang="en-US" sz="1500" dirty="0"/>
          </a:p>
        </p:txBody>
      </p:sp>
      <p:sp>
        <p:nvSpPr>
          <p:cNvPr id="12" name="Shape 9"/>
          <p:cNvSpPr/>
          <p:nvPr/>
        </p:nvSpPr>
        <p:spPr>
          <a:xfrm>
            <a:off x="6172200" y="1463040"/>
            <a:ext cx="5440680" cy="502920"/>
          </a:xfrm>
          <a:prstGeom prst="roundRect">
            <a:avLst>
              <a:gd name="adj" fmla="val 14545"/>
            </a:avLst>
          </a:prstGeom>
          <a:solidFill>
            <a:srgbClr val="C77C12"/>
          </a:solidFill>
          <a:ln/>
        </p:spPr>
      </p:sp>
      <p:sp>
        <p:nvSpPr>
          <p:cNvPr id="13" name="Text 10"/>
          <p:cNvSpPr txBox="1"/>
          <p:nvPr/>
        </p:nvSpPr>
        <p:spPr>
          <a:xfrm>
            <a:off x="6172200" y="1463040"/>
            <a:ext cx="544068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Ohne Erzähler (Dramatik)</a:t>
            </a:r>
            <a:endParaRPr lang="en-US" sz="1900" dirty="0"/>
          </a:p>
        </p:txBody>
      </p:sp>
      <p:sp>
        <p:nvSpPr>
          <p:cNvPr id="14" name="Shape 11"/>
          <p:cNvSpPr/>
          <p:nvPr/>
        </p:nvSpPr>
        <p:spPr>
          <a:xfrm>
            <a:off x="6172200" y="2057400"/>
            <a:ext cx="5440680" cy="1737360"/>
          </a:xfrm>
          <a:prstGeom prst="roundRect">
            <a:avLst>
              <a:gd name="adj" fmla="val 4211"/>
            </a:avLst>
          </a:prstGeom>
          <a:solidFill>
            <a:srgbClr val="F4F7FD"/>
          </a:solidFill>
          <a:ln/>
        </p:spPr>
      </p:sp>
      <p:sp>
        <p:nvSpPr>
          <p:cNvPr id="15" name="Text 12"/>
          <p:cNvSpPr txBox="1"/>
          <p:nvPr/>
        </p:nvSpPr>
        <p:spPr>
          <a:xfrm>
            <a:off x="6355080" y="2194560"/>
            <a:ext cx="5074920" cy="1463040"/>
          </a:xfrm>
          <a:prstGeom prst="rect">
            <a:avLst/>
          </a:prstGeom>
          <a:noFill/>
          <a:ln/>
        </p:spPr>
        <p:txBody>
          <a:bodyPr wrap="square" lIns="0" tIns="0" rIns="0" bIns="0" rtlCol="0" anchor="t"/>
          <a:lstStyle/>
          <a:p>
            <a:pPr indent="0" marL="0">
              <a:buNone/>
            </a:pPr>
            <a:r>
              <a:rPr lang="en-US" sz="1800" dirty="0">
                <a:solidFill>
                  <a:srgbClr val="1E2761"/>
                </a:solidFill>
                <a:latin typeface="Cambria" pitchFamily="34" charset="0"/>
                <a:ea typeface="Cambria" pitchFamily="34" charset="-122"/>
                <a:cs typeface="Cambria" pitchFamily="34" charset="-120"/>
              </a:rPr>
              <a:t>„Tut leise, Fremder, und tretet sacht,</a:t>
            </a:r>
            <a:endParaRPr lang="en-US" sz="1800" dirty="0"/>
          </a:p>
          <a:p>
            <a:pPr indent="0" marL="0">
              <a:buNone/>
            </a:pPr>
            <a:r>
              <a:rPr lang="en-US" sz="1800" dirty="0">
                <a:solidFill>
                  <a:srgbClr val="1E2761"/>
                </a:solidFill>
                <a:latin typeface="Cambria" pitchFamily="34" charset="0"/>
                <a:ea typeface="Cambria" pitchFamily="34" charset="-122"/>
                <a:cs typeface="Cambria" pitchFamily="34" charset="-120"/>
              </a:rPr>
              <a:t>dass Paddys Kindlein nicht erwacht! …“</a:t>
            </a:r>
            <a:endParaRPr lang="en-US" sz="1800" dirty="0"/>
          </a:p>
        </p:txBody>
      </p:sp>
      <p:sp>
        <p:nvSpPr>
          <p:cNvPr id="16" name="Text 13"/>
          <p:cNvSpPr txBox="1"/>
          <p:nvPr/>
        </p:nvSpPr>
        <p:spPr>
          <a:xfrm>
            <a:off x="6172200" y="3886200"/>
            <a:ext cx="5440680" cy="457200"/>
          </a:xfrm>
          <a:prstGeom prst="rect">
            <a:avLst/>
          </a:prstGeom>
          <a:noFill/>
          <a:ln/>
        </p:spPr>
        <p:txBody>
          <a:bodyPr wrap="square" lIns="0" tIns="0" rIns="0" bIns="0" rtlCol="0" anchor="t"/>
          <a:lstStyle/>
          <a:p>
            <a:pPr algn="ctr" indent="0" marL="0">
              <a:buNone/>
            </a:pPr>
            <a:r>
              <a:rPr lang="en-US" sz="1500" i="1" dirty="0">
                <a:solidFill>
                  <a:srgbClr val="5B6B8C"/>
                </a:solidFill>
                <a:latin typeface="Calibri" pitchFamily="34" charset="0"/>
                <a:ea typeface="Calibri" pitchFamily="34" charset="-122"/>
                <a:cs typeface="Calibri" pitchFamily="34" charset="-120"/>
              </a:rPr>
              <a:t>Str. 7 – die ganze Strophe ist Schayas Rede, kein Erzähler</a:t>
            </a:r>
            <a:endParaRPr lang="en-US" sz="1500" dirty="0"/>
          </a:p>
        </p:txBody>
      </p:sp>
      <p:sp>
        <p:nvSpPr>
          <p:cNvPr id="17" name="Shape 14"/>
          <p:cNvSpPr/>
          <p:nvPr/>
        </p:nvSpPr>
        <p:spPr>
          <a:xfrm>
            <a:off x="548640" y="4572000"/>
            <a:ext cx="11064240" cy="822960"/>
          </a:xfrm>
          <a:prstGeom prst="roundRect">
            <a:avLst>
              <a:gd name="adj" fmla="val 8889"/>
            </a:avLst>
          </a:prstGeom>
          <a:solidFill>
            <a:srgbClr val="EAF0FA"/>
          </a:solidFill>
          <a:ln/>
        </p:spPr>
      </p:sp>
      <p:sp>
        <p:nvSpPr>
          <p:cNvPr id="18" name="Text 15"/>
          <p:cNvSpPr txBox="1"/>
          <p:nvPr/>
        </p:nvSpPr>
        <p:spPr>
          <a:xfrm>
            <a:off x="822960" y="4754880"/>
            <a:ext cx="10607040" cy="457200"/>
          </a:xfrm>
          <a:prstGeom prst="rect">
            <a:avLst/>
          </a:prstGeom>
          <a:noFill/>
          <a:ln/>
        </p:spPr>
        <p:txBody>
          <a:bodyPr wrap="square" lIns="0" tIns="0" rIns="0" bIns="0" rtlCol="0" anchor="t"/>
          <a:lstStyle/>
          <a:p>
            <a:pPr indent="0" marL="0">
              <a:buNone/>
            </a:pPr>
            <a:r>
              <a:rPr lang="en-US" sz="1900" b="1" dirty="0">
                <a:solidFill>
                  <a:srgbClr val="2A8C8C"/>
                </a:solidFill>
                <a:latin typeface="Calibri" pitchFamily="34" charset="0"/>
                <a:ea typeface="Calibri" pitchFamily="34" charset="-122"/>
                <a:cs typeface="Calibri" pitchFamily="34" charset="-120"/>
              </a:rPr>
              <a:t>Und alles in Versen mit Reim: </a:t>
            </a:r>
            <a:pPr indent="0" marL="0">
              <a:buNone/>
            </a:pPr>
            <a:r>
              <a:rPr lang="en-US" sz="1900" dirty="0">
                <a:solidFill>
                  <a:srgbClr val="1E2761"/>
                </a:solidFill>
                <a:latin typeface="Calibri" pitchFamily="34" charset="0"/>
                <a:ea typeface="Calibri" pitchFamily="34" charset="-122"/>
                <a:cs typeface="Calibri" pitchFamily="34" charset="-120"/>
              </a:rPr>
              <a:t>Lyrik. Die Ballade verbindet alle drei – ein „Ur-Ei“.</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VERARBEITEN · SCHNIPSEL</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Ü2  Merkmale an Paddy Fingal nachweisen</a:t>
            </a:r>
            <a:endParaRPr lang="en-US" sz="3200" dirty="0"/>
          </a:p>
        </p:txBody>
      </p:sp>
      <p:sp>
        <p:nvSpPr>
          <p:cNvPr id="4" name="Text 2"/>
          <p:cNvSpPr txBox="1"/>
          <p:nvPr/>
        </p:nvSpPr>
        <p:spPr>
          <a:xfrm>
            <a:off x="548640" y="6400800"/>
            <a:ext cx="64008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Freitag, 6.11. · Die Ballade als Ur-Ei · Deutsch 7A</a:t>
            </a:r>
            <a:endParaRPr lang="en-US" sz="1000" dirty="0"/>
          </a:p>
        </p:txBody>
      </p:sp>
      <p:sp>
        <p:nvSpPr>
          <p:cNvPr id="5" name="Text 3"/>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9</a:t>
            </a:r>
            <a:endParaRPr lang="en-US" sz="1000" dirty="0"/>
          </a:p>
        </p:txBody>
      </p:sp>
      <p:sp>
        <p:nvSpPr>
          <p:cNvPr id="7" name="Shape 4"/>
          <p:cNvSpPr/>
          <p:nvPr/>
        </p:nvSpPr>
        <p:spPr>
          <a:xfrm>
            <a:off x="548640" y="1600200"/>
            <a:ext cx="457200" cy="457200"/>
          </a:xfrm>
          <a:prstGeom prst="ellipse">
            <a:avLst/>
          </a:prstGeom>
          <a:solidFill>
            <a:srgbClr val="1E2761"/>
          </a:solidFill>
          <a:ln/>
        </p:spPr>
      </p:sp>
      <p:sp>
        <p:nvSpPr>
          <p:cNvPr id="8" name="Text 5"/>
          <p:cNvSpPr txBox="1"/>
          <p:nvPr/>
        </p:nvSpPr>
        <p:spPr>
          <a:xfrm>
            <a:off x="548640" y="16002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9" name="Text 6"/>
          <p:cNvSpPr txBox="1"/>
          <p:nvPr/>
        </p:nvSpPr>
        <p:spPr>
          <a:xfrm>
            <a:off x="1188720" y="1636776"/>
            <a:ext cx="10332720" cy="640080"/>
          </a:xfrm>
          <a:prstGeom prst="rect">
            <a:avLst/>
          </a:prstGeom>
          <a:noFill/>
          <a:ln/>
        </p:spPr>
        <p:txBody>
          <a:bodyPr wrap="square" lIns="0" tIns="0" rIns="0" bIns="0" rtlCol="0" anchor="t"/>
          <a:lstStyle/>
          <a:p>
            <a:pPr indent="0" marL="0">
              <a:buNone/>
            </a:pPr>
            <a:r>
              <a:rPr lang="en-US" sz="2100" b="1" dirty="0">
                <a:solidFill>
                  <a:srgbClr val="1E2761"/>
                </a:solidFill>
                <a:latin typeface="Calibri" pitchFamily="34" charset="0"/>
                <a:ea typeface="Calibri" pitchFamily="34" charset="-122"/>
                <a:cs typeface="Calibri" pitchFamily="34" charset="-120"/>
              </a:rPr>
              <a:t>Fülle Nr. 1–3 (Lyrik) aus – das kennst du schon.</a:t>
            </a:r>
            <a:endParaRPr lang="en-US" sz="2100" dirty="0"/>
          </a:p>
        </p:txBody>
      </p:sp>
      <p:sp>
        <p:nvSpPr>
          <p:cNvPr id="10" name="Shape 7"/>
          <p:cNvSpPr/>
          <p:nvPr/>
        </p:nvSpPr>
        <p:spPr>
          <a:xfrm>
            <a:off x="548640" y="2331720"/>
            <a:ext cx="457200" cy="457200"/>
          </a:xfrm>
          <a:prstGeom prst="ellipse">
            <a:avLst/>
          </a:prstGeom>
          <a:solidFill>
            <a:srgbClr val="1E2761"/>
          </a:solidFill>
          <a:ln/>
        </p:spPr>
      </p:sp>
      <p:sp>
        <p:nvSpPr>
          <p:cNvPr id="11" name="Text 8"/>
          <p:cNvSpPr txBox="1"/>
          <p:nvPr/>
        </p:nvSpPr>
        <p:spPr>
          <a:xfrm>
            <a:off x="548640" y="23317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9"/>
          <p:cNvSpPr txBox="1"/>
          <p:nvPr/>
        </p:nvSpPr>
        <p:spPr>
          <a:xfrm>
            <a:off x="1188720" y="2368296"/>
            <a:ext cx="10332720" cy="640080"/>
          </a:xfrm>
          <a:prstGeom prst="rect">
            <a:avLst/>
          </a:prstGeom>
          <a:noFill/>
          <a:ln/>
        </p:spPr>
        <p:txBody>
          <a:bodyPr wrap="square" lIns="0" tIns="0" rIns="0" bIns="0" rtlCol="0" anchor="t"/>
          <a:lstStyle/>
          <a:p>
            <a:pPr indent="0" marL="0">
              <a:buNone/>
            </a:pPr>
            <a:r>
              <a:rPr lang="en-US" sz="2100" b="1" dirty="0">
                <a:solidFill>
                  <a:srgbClr val="1E2761"/>
                </a:solidFill>
                <a:latin typeface="Calibri" pitchFamily="34" charset="0"/>
                <a:ea typeface="Calibri" pitchFamily="34" charset="-122"/>
                <a:cs typeface="Calibri" pitchFamily="34" charset="-120"/>
              </a:rPr>
              <a:t>Weise Nr. 4–7 (Epik, Dramatik) an Paddy Fingal nach.</a:t>
            </a:r>
            <a:endParaRPr lang="en-US" sz="2100" dirty="0"/>
          </a:p>
        </p:txBody>
      </p:sp>
      <p:sp>
        <p:nvSpPr>
          <p:cNvPr id="13" name="Shape 10"/>
          <p:cNvSpPr/>
          <p:nvPr/>
        </p:nvSpPr>
        <p:spPr>
          <a:xfrm>
            <a:off x="548640" y="3063240"/>
            <a:ext cx="457200" cy="457200"/>
          </a:xfrm>
          <a:prstGeom prst="ellipse">
            <a:avLst/>
          </a:prstGeom>
          <a:solidFill>
            <a:srgbClr val="1E2761"/>
          </a:solidFill>
          <a:ln/>
        </p:spPr>
      </p:sp>
      <p:sp>
        <p:nvSpPr>
          <p:cNvPr id="14" name="Text 11"/>
          <p:cNvSpPr txBox="1"/>
          <p:nvPr/>
        </p:nvSpPr>
        <p:spPr>
          <a:xfrm>
            <a:off x="548640" y="30632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5" name="Text 12"/>
          <p:cNvSpPr txBox="1"/>
          <p:nvPr/>
        </p:nvSpPr>
        <p:spPr>
          <a:xfrm>
            <a:off x="1188720" y="3099816"/>
            <a:ext cx="10332720" cy="640080"/>
          </a:xfrm>
          <a:prstGeom prst="rect">
            <a:avLst/>
          </a:prstGeom>
          <a:noFill/>
          <a:ln/>
        </p:spPr>
        <p:txBody>
          <a:bodyPr wrap="square" lIns="0" tIns="0" rIns="0" bIns="0" rtlCol="0" anchor="t"/>
          <a:lstStyle/>
          <a:p>
            <a:pPr indent="0" marL="0">
              <a:buNone/>
            </a:pPr>
            <a:r>
              <a:rPr lang="en-US" sz="2100" b="1" dirty="0">
                <a:solidFill>
                  <a:srgbClr val="1E2761"/>
                </a:solidFill>
                <a:latin typeface="Calibri" pitchFamily="34" charset="0"/>
                <a:ea typeface="Calibri" pitchFamily="34" charset="-122"/>
                <a:cs typeface="Calibri" pitchFamily="34" charset="-120"/>
              </a:rPr>
              <a:t>Notiere bei jedem Merkmal die Strophe.</a:t>
            </a:r>
            <a:endParaRPr lang="en-US" sz="2100" dirty="0"/>
          </a:p>
        </p:txBody>
      </p:sp>
      <p:sp>
        <p:nvSpPr>
          <p:cNvPr id="16" name="Shape 13"/>
          <p:cNvSpPr/>
          <p:nvPr/>
        </p:nvSpPr>
        <p:spPr>
          <a:xfrm>
            <a:off x="548640" y="3794760"/>
            <a:ext cx="457200" cy="457200"/>
          </a:xfrm>
          <a:prstGeom prst="ellipse">
            <a:avLst/>
          </a:prstGeom>
          <a:solidFill>
            <a:srgbClr val="1E2761"/>
          </a:solidFill>
          <a:ln/>
        </p:spPr>
      </p:sp>
      <p:sp>
        <p:nvSpPr>
          <p:cNvPr id="17" name="Text 14"/>
          <p:cNvSpPr txBox="1"/>
          <p:nvPr/>
        </p:nvSpPr>
        <p:spPr>
          <a:xfrm>
            <a:off x="548640" y="37947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5"/>
          <p:cNvSpPr txBox="1"/>
          <p:nvPr/>
        </p:nvSpPr>
        <p:spPr>
          <a:xfrm>
            <a:off x="1188720" y="3831336"/>
            <a:ext cx="10332720" cy="640080"/>
          </a:xfrm>
          <a:prstGeom prst="rect">
            <a:avLst/>
          </a:prstGeom>
          <a:noFill/>
          <a:ln/>
        </p:spPr>
        <p:txBody>
          <a:bodyPr wrap="square" lIns="0" tIns="0" rIns="0" bIns="0" rtlCol="0" anchor="t"/>
          <a:lstStyle/>
          <a:p>
            <a:pPr indent="0" marL="0">
              <a:buNone/>
            </a:pPr>
            <a:r>
              <a:rPr lang="en-US" sz="2100" b="1" dirty="0">
                <a:solidFill>
                  <a:srgbClr val="1E2761"/>
                </a:solidFill>
                <a:latin typeface="Calibri" pitchFamily="34" charset="0"/>
                <a:ea typeface="Calibri" pitchFamily="34" charset="-122"/>
                <a:cs typeface="Calibri" pitchFamily="34" charset="-120"/>
              </a:rPr>
              <a:t>Fertig? Dann * Nr. 8.</a:t>
            </a:r>
            <a:endParaRPr lang="en-US" sz="2100" dirty="0"/>
          </a:p>
        </p:txBody>
      </p:sp>
      <p:sp>
        <p:nvSpPr>
          <p:cNvPr id="19" name="Shape 16"/>
          <p:cNvSpPr/>
          <p:nvPr/>
        </p:nvSpPr>
        <p:spPr>
          <a:xfrm>
            <a:off x="548640" y="5715000"/>
            <a:ext cx="11064240" cy="502920"/>
          </a:xfrm>
          <a:prstGeom prst="roundRect">
            <a:avLst>
              <a:gd name="adj" fmla="val 14545"/>
            </a:avLst>
          </a:prstGeom>
          <a:solidFill>
            <a:srgbClr val="EAF0FA"/>
          </a:solidFill>
          <a:ln/>
        </p:spPr>
      </p:sp>
      <p:sp>
        <p:nvSpPr>
          <p:cNvPr id="20" name="Text 17"/>
          <p:cNvSpPr txBox="1"/>
          <p:nvPr/>
        </p:nvSpPr>
        <p:spPr>
          <a:xfrm>
            <a:off x="777240" y="5788152"/>
            <a:ext cx="10698480" cy="365760"/>
          </a:xfrm>
          <a:prstGeom prst="rect">
            <a:avLst/>
          </a:prstGeom>
          <a:noFill/>
          <a:ln/>
        </p:spPr>
        <p:txBody>
          <a:bodyPr wrap="square" lIns="0" tIns="0" rIns="0" bIns="0" rtlCol="0" anchor="t"/>
          <a:lstStyle/>
          <a:p>
            <a:pPr indent="0" marL="0">
              <a:buNone/>
            </a:pPr>
            <a:r>
              <a:rPr lang="en-US" sz="1600" b="1" dirty="0">
                <a:solidFill>
                  <a:srgbClr val="1E2761"/>
                </a:solidFill>
                <a:latin typeface="Calibri" pitchFamily="34" charset="0"/>
                <a:ea typeface="Calibri" pitchFamily="34" charset="-122"/>
                <a:cs typeface="Calibri" pitchFamily="34" charset="-120"/>
              </a:rPr>
              <a:t>Zeit: </a:t>
            </a:r>
            <a:pPr indent="0" marL="0">
              <a:buNone/>
            </a:pPr>
            <a:r>
              <a:rPr lang="en-US" sz="1600" dirty="0">
                <a:solidFill>
                  <a:srgbClr val="1E2761"/>
                </a:solidFill>
                <a:latin typeface="Calibri" pitchFamily="34" charset="0"/>
                <a:ea typeface="Calibri" pitchFamily="34" charset="-122"/>
                <a:cs typeface="Calibri" pitchFamily="34" charset="-120"/>
              </a:rPr>
              <a:t>12 Minuten · allein      </a:t>
            </a:r>
            <a:pPr indent="0" marL="0">
              <a:buNone/>
            </a:pPr>
            <a:r>
              <a:rPr lang="en-US" sz="1600" i="1" dirty="0">
                <a:solidFill>
                  <a:srgbClr val="5B6B8C"/>
                </a:solidFill>
                <a:latin typeface="Calibri" pitchFamily="34" charset="0"/>
                <a:ea typeface="Calibri" pitchFamily="34" charset="-122"/>
                <a:cs typeface="Calibri" pitchFamily="34" charset="-120"/>
              </a:rPr>
              <a:t>Fertig? Stift hinlegen.</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AUSWERTEN · Ü2 GEMEINSAM PRÜFEN</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Ü2  Lösung – Lyrik – wie ein Gedicht</a:t>
            </a:r>
            <a:endParaRPr lang="en-US" sz="3200" dirty="0"/>
          </a:p>
        </p:txBody>
      </p:sp>
      <p:sp>
        <p:nvSpPr>
          <p:cNvPr id="4" name="Text 2"/>
          <p:cNvSpPr txBox="1"/>
          <p:nvPr/>
        </p:nvSpPr>
        <p:spPr>
          <a:xfrm>
            <a:off x="548640" y="6400800"/>
            <a:ext cx="64008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Freitag, 6.11. · Die Ballade als Ur-Ei · Deutsch 7A</a:t>
            </a:r>
            <a:endParaRPr lang="en-US" sz="1000" dirty="0"/>
          </a:p>
        </p:txBody>
      </p:sp>
      <p:sp>
        <p:nvSpPr>
          <p:cNvPr id="5" name="Text 3"/>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10</a:t>
            </a:r>
            <a:endParaRPr lang="en-US" sz="1000" dirty="0"/>
          </a:p>
        </p:txBody>
      </p:sp>
      <p:sp>
        <p:nvSpPr>
          <p:cNvPr id="7" name="Shape 4"/>
          <p:cNvSpPr/>
          <p:nvPr/>
        </p:nvSpPr>
        <p:spPr>
          <a:xfrm>
            <a:off x="548640" y="1417320"/>
            <a:ext cx="11064240" cy="109728"/>
          </a:xfrm>
          <a:prstGeom prst="roundRect">
            <a:avLst>
              <a:gd name="adj" fmla="val 66667"/>
            </a:avLst>
          </a:prstGeom>
          <a:solidFill>
            <a:srgbClr val="2A8C8C"/>
          </a:solidFill>
          <a:ln/>
        </p:spPr>
      </p:sp>
      <p:sp>
        <p:nvSpPr>
          <p:cNvPr id="8" name="Shape 5"/>
          <p:cNvSpPr/>
          <p:nvPr/>
        </p:nvSpPr>
        <p:spPr>
          <a:xfrm>
            <a:off x="548640" y="1737360"/>
            <a:ext cx="11064240" cy="914400"/>
          </a:xfrm>
          <a:prstGeom prst="roundRect">
            <a:avLst>
              <a:gd name="adj" fmla="val 8000"/>
            </a:avLst>
          </a:prstGeom>
          <a:solidFill>
            <a:srgbClr val="F4F7FD"/>
          </a:solidFill>
          <a:ln/>
        </p:spPr>
      </p:sp>
      <p:sp>
        <p:nvSpPr>
          <p:cNvPr id="9" name="Text 6"/>
          <p:cNvSpPr txBox="1"/>
          <p:nvPr/>
        </p:nvSpPr>
        <p:spPr>
          <a:xfrm>
            <a:off x="731520" y="1965960"/>
            <a:ext cx="731520" cy="457200"/>
          </a:xfrm>
          <a:prstGeom prst="rect">
            <a:avLst/>
          </a:prstGeom>
          <a:noFill/>
          <a:ln/>
        </p:spPr>
        <p:txBody>
          <a:bodyPr wrap="square" lIns="0" tIns="0" rIns="0" bIns="0" rtlCol="0" anchor="t"/>
          <a:lstStyle/>
          <a:p>
            <a:pPr indent="0" marL="0">
              <a:buNone/>
            </a:pPr>
            <a:r>
              <a:rPr lang="en-US" sz="2200" b="1" dirty="0">
                <a:solidFill>
                  <a:srgbClr val="2A8C8C"/>
                </a:solidFill>
                <a:latin typeface="Calibri" pitchFamily="34" charset="0"/>
                <a:ea typeface="Calibri" pitchFamily="34" charset="-122"/>
                <a:cs typeface="Calibri" pitchFamily="34" charset="-120"/>
              </a:rPr>
              <a:t>1</a:t>
            </a:r>
            <a:endParaRPr lang="en-US" sz="2200" dirty="0"/>
          </a:p>
        </p:txBody>
      </p:sp>
      <p:sp>
        <p:nvSpPr>
          <p:cNvPr id="10" name="Text 7"/>
          <p:cNvSpPr txBox="1"/>
          <p:nvPr/>
        </p:nvSpPr>
        <p:spPr>
          <a:xfrm>
            <a:off x="1463040" y="1874520"/>
            <a:ext cx="9966960" cy="685800"/>
          </a:xfrm>
          <a:prstGeom prst="rect">
            <a:avLst/>
          </a:prstGeom>
          <a:noFill/>
          <a:ln/>
        </p:spPr>
        <p:txBody>
          <a:bodyPr wrap="square" lIns="0" tIns="0" rIns="0" bIns="0" rtlCol="0" anchor="ctr"/>
          <a:lstStyle/>
          <a:p>
            <a:pPr indent="0" marL="0">
              <a:buNone/>
            </a:pPr>
            <a:r>
              <a:rPr lang="en-US" sz="2000" dirty="0">
                <a:solidFill>
                  <a:srgbClr val="1E2761"/>
                </a:solidFill>
                <a:latin typeface="Calibri" pitchFamily="34" charset="0"/>
                <a:ea typeface="Calibri" pitchFamily="34" charset="-122"/>
                <a:cs typeface="Calibri" pitchFamily="34" charset="-120"/>
              </a:rPr>
              <a:t>11 Strophen mit je 5 Versen</a:t>
            </a:r>
            <a:endParaRPr lang="en-US" sz="2000" dirty="0"/>
          </a:p>
        </p:txBody>
      </p:sp>
      <p:sp>
        <p:nvSpPr>
          <p:cNvPr id="11" name="Shape 8"/>
          <p:cNvSpPr/>
          <p:nvPr/>
        </p:nvSpPr>
        <p:spPr>
          <a:xfrm>
            <a:off x="548640" y="2834640"/>
            <a:ext cx="11064240" cy="914400"/>
          </a:xfrm>
          <a:prstGeom prst="roundRect">
            <a:avLst>
              <a:gd name="adj" fmla="val 8000"/>
            </a:avLst>
          </a:prstGeom>
          <a:solidFill>
            <a:srgbClr val="F4F7FD"/>
          </a:solidFill>
          <a:ln/>
        </p:spPr>
      </p:sp>
      <p:sp>
        <p:nvSpPr>
          <p:cNvPr id="12" name="Text 9"/>
          <p:cNvSpPr txBox="1"/>
          <p:nvPr/>
        </p:nvSpPr>
        <p:spPr>
          <a:xfrm>
            <a:off x="731520" y="3063240"/>
            <a:ext cx="731520" cy="457200"/>
          </a:xfrm>
          <a:prstGeom prst="rect">
            <a:avLst/>
          </a:prstGeom>
          <a:noFill/>
          <a:ln/>
        </p:spPr>
        <p:txBody>
          <a:bodyPr wrap="square" lIns="0" tIns="0" rIns="0" bIns="0" rtlCol="0" anchor="t"/>
          <a:lstStyle/>
          <a:p>
            <a:pPr indent="0" marL="0">
              <a:buNone/>
            </a:pPr>
            <a:r>
              <a:rPr lang="en-US" sz="2200" b="1" dirty="0">
                <a:solidFill>
                  <a:srgbClr val="2A8C8C"/>
                </a:solidFill>
                <a:latin typeface="Calibri" pitchFamily="34" charset="0"/>
                <a:ea typeface="Calibri" pitchFamily="34" charset="-122"/>
                <a:cs typeface="Calibri" pitchFamily="34" charset="-120"/>
              </a:rPr>
              <a:t>2</a:t>
            </a:r>
            <a:endParaRPr lang="en-US" sz="2200" dirty="0"/>
          </a:p>
        </p:txBody>
      </p:sp>
      <p:sp>
        <p:nvSpPr>
          <p:cNvPr id="13" name="Text 10"/>
          <p:cNvSpPr txBox="1"/>
          <p:nvPr/>
        </p:nvSpPr>
        <p:spPr>
          <a:xfrm>
            <a:off x="1463040" y="2971800"/>
            <a:ext cx="9966960" cy="685800"/>
          </a:xfrm>
          <a:prstGeom prst="rect">
            <a:avLst/>
          </a:prstGeom>
          <a:noFill/>
          <a:ln/>
        </p:spPr>
        <p:txBody>
          <a:bodyPr wrap="square" lIns="0" tIns="0" rIns="0" bIns="0" rtlCol="0" anchor="ctr"/>
          <a:lstStyle/>
          <a:p>
            <a:pPr indent="0" marL="0">
              <a:buNone/>
            </a:pPr>
            <a:r>
              <a:rPr lang="en-US" sz="2000" dirty="0">
                <a:solidFill>
                  <a:srgbClr val="1E2761"/>
                </a:solidFill>
                <a:latin typeface="Calibri" pitchFamily="34" charset="0"/>
                <a:ea typeface="Calibri" pitchFamily="34" charset="-122"/>
                <a:cs typeface="Calibri" pitchFamily="34" charset="-120"/>
              </a:rPr>
              <a:t>Paarreim (aabb), z. B. Riesenart / Bart (Str. 1)</a:t>
            </a:r>
            <a:endParaRPr lang="en-US" sz="2000" dirty="0"/>
          </a:p>
        </p:txBody>
      </p:sp>
      <p:sp>
        <p:nvSpPr>
          <p:cNvPr id="14" name="Shape 11"/>
          <p:cNvSpPr/>
          <p:nvPr/>
        </p:nvSpPr>
        <p:spPr>
          <a:xfrm>
            <a:off x="548640" y="3931920"/>
            <a:ext cx="11064240" cy="914400"/>
          </a:xfrm>
          <a:prstGeom prst="roundRect">
            <a:avLst>
              <a:gd name="adj" fmla="val 8000"/>
            </a:avLst>
          </a:prstGeom>
          <a:solidFill>
            <a:srgbClr val="F4F7FD"/>
          </a:solidFill>
          <a:ln/>
        </p:spPr>
      </p:sp>
      <p:sp>
        <p:nvSpPr>
          <p:cNvPr id="15" name="Text 12"/>
          <p:cNvSpPr txBox="1"/>
          <p:nvPr/>
        </p:nvSpPr>
        <p:spPr>
          <a:xfrm>
            <a:off x="731520" y="4160520"/>
            <a:ext cx="731520" cy="457200"/>
          </a:xfrm>
          <a:prstGeom prst="rect">
            <a:avLst/>
          </a:prstGeom>
          <a:noFill/>
          <a:ln/>
        </p:spPr>
        <p:txBody>
          <a:bodyPr wrap="square" lIns="0" tIns="0" rIns="0" bIns="0" rtlCol="0" anchor="t"/>
          <a:lstStyle/>
          <a:p>
            <a:pPr indent="0" marL="0">
              <a:buNone/>
            </a:pPr>
            <a:r>
              <a:rPr lang="en-US" sz="2200" b="1" dirty="0">
                <a:solidFill>
                  <a:srgbClr val="2A8C8C"/>
                </a:solidFill>
                <a:latin typeface="Calibri" pitchFamily="34" charset="0"/>
                <a:ea typeface="Calibri" pitchFamily="34" charset="-122"/>
                <a:cs typeface="Calibri" pitchFamily="34" charset="-120"/>
              </a:rPr>
              <a:t>3</a:t>
            </a:r>
            <a:endParaRPr lang="en-US" sz="2200" dirty="0"/>
          </a:p>
        </p:txBody>
      </p:sp>
      <p:sp>
        <p:nvSpPr>
          <p:cNvPr id="16" name="Text 13"/>
          <p:cNvSpPr txBox="1"/>
          <p:nvPr/>
        </p:nvSpPr>
        <p:spPr>
          <a:xfrm>
            <a:off x="1463040" y="4069080"/>
            <a:ext cx="9966960" cy="685800"/>
          </a:xfrm>
          <a:prstGeom prst="rect">
            <a:avLst/>
          </a:prstGeom>
          <a:noFill/>
          <a:ln/>
        </p:spPr>
        <p:txBody>
          <a:bodyPr wrap="square" lIns="0" tIns="0" rIns="0" bIns="0" rtlCol="0" anchor="ctr"/>
          <a:lstStyle/>
          <a:p>
            <a:pPr indent="0" marL="0">
              <a:buNone/>
            </a:pPr>
            <a:r>
              <a:rPr lang="en-US" sz="2000" dirty="0">
                <a:solidFill>
                  <a:srgbClr val="1E2761"/>
                </a:solidFill>
                <a:latin typeface="Calibri" pitchFamily="34" charset="0"/>
                <a:ea typeface="Calibri" pitchFamily="34" charset="-122"/>
                <a:cs typeface="Calibri" pitchFamily="34" charset="-120"/>
              </a:rPr>
              <a:t>„… Paddy Fingal“ – der Kehrreim (wird leicht abgewandelt)</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AUSWERTEN · Ü2 GEMEINSAM PRÜFEN</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Ü2  Lösung – Epik – wie eine Erzählung</a:t>
            </a:r>
            <a:endParaRPr lang="en-US" sz="3200" dirty="0"/>
          </a:p>
        </p:txBody>
      </p:sp>
      <p:sp>
        <p:nvSpPr>
          <p:cNvPr id="4" name="Text 2"/>
          <p:cNvSpPr txBox="1"/>
          <p:nvPr/>
        </p:nvSpPr>
        <p:spPr>
          <a:xfrm>
            <a:off x="548640" y="6400800"/>
            <a:ext cx="64008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Freitag, 6.11. · Die Ballade als Ur-Ei · Deutsch 7A</a:t>
            </a:r>
            <a:endParaRPr lang="en-US" sz="1000" dirty="0"/>
          </a:p>
        </p:txBody>
      </p:sp>
      <p:sp>
        <p:nvSpPr>
          <p:cNvPr id="5" name="Text 3"/>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11</a:t>
            </a:r>
            <a:endParaRPr lang="en-US" sz="1000" dirty="0"/>
          </a:p>
        </p:txBody>
      </p:sp>
      <p:sp>
        <p:nvSpPr>
          <p:cNvPr id="7" name="Shape 4"/>
          <p:cNvSpPr/>
          <p:nvPr/>
        </p:nvSpPr>
        <p:spPr>
          <a:xfrm>
            <a:off x="548640" y="1417320"/>
            <a:ext cx="11064240" cy="109728"/>
          </a:xfrm>
          <a:prstGeom prst="roundRect">
            <a:avLst>
              <a:gd name="adj" fmla="val 66667"/>
            </a:avLst>
          </a:prstGeom>
          <a:solidFill>
            <a:srgbClr val="7A5BA6"/>
          </a:solidFill>
          <a:ln/>
        </p:spPr>
      </p:sp>
      <p:sp>
        <p:nvSpPr>
          <p:cNvPr id="8" name="Shape 5"/>
          <p:cNvSpPr/>
          <p:nvPr/>
        </p:nvSpPr>
        <p:spPr>
          <a:xfrm>
            <a:off x="548640" y="1737360"/>
            <a:ext cx="11064240" cy="914400"/>
          </a:xfrm>
          <a:prstGeom prst="roundRect">
            <a:avLst>
              <a:gd name="adj" fmla="val 8000"/>
            </a:avLst>
          </a:prstGeom>
          <a:solidFill>
            <a:srgbClr val="F4F7FD"/>
          </a:solidFill>
          <a:ln/>
        </p:spPr>
      </p:sp>
      <p:sp>
        <p:nvSpPr>
          <p:cNvPr id="9" name="Text 6"/>
          <p:cNvSpPr txBox="1"/>
          <p:nvPr/>
        </p:nvSpPr>
        <p:spPr>
          <a:xfrm>
            <a:off x="731520" y="1965960"/>
            <a:ext cx="731520" cy="457200"/>
          </a:xfrm>
          <a:prstGeom prst="rect">
            <a:avLst/>
          </a:prstGeom>
          <a:noFill/>
          <a:ln/>
        </p:spPr>
        <p:txBody>
          <a:bodyPr wrap="square" lIns="0" tIns="0" rIns="0" bIns="0" rtlCol="0" anchor="t"/>
          <a:lstStyle/>
          <a:p>
            <a:pPr indent="0" marL="0">
              <a:buNone/>
            </a:pPr>
            <a:r>
              <a:rPr lang="en-US" sz="2200" b="1" dirty="0">
                <a:solidFill>
                  <a:srgbClr val="7A5BA6"/>
                </a:solidFill>
                <a:latin typeface="Calibri" pitchFamily="34" charset="0"/>
                <a:ea typeface="Calibri" pitchFamily="34" charset="-122"/>
                <a:cs typeface="Calibri" pitchFamily="34" charset="-120"/>
              </a:rPr>
              <a:t>4</a:t>
            </a:r>
            <a:endParaRPr lang="en-US" sz="2200" dirty="0"/>
          </a:p>
        </p:txBody>
      </p:sp>
      <p:sp>
        <p:nvSpPr>
          <p:cNvPr id="10" name="Text 7"/>
          <p:cNvSpPr txBox="1"/>
          <p:nvPr/>
        </p:nvSpPr>
        <p:spPr>
          <a:xfrm>
            <a:off x="1463040" y="1874520"/>
            <a:ext cx="9966960" cy="685800"/>
          </a:xfrm>
          <a:prstGeom prst="rect">
            <a:avLst/>
          </a:prstGeom>
          <a:noFill/>
          <a:ln/>
        </p:spPr>
        <p:txBody>
          <a:bodyPr wrap="square" lIns="0" tIns="0" rIns="0" bIns="0" rtlCol="0" anchor="ctr"/>
          <a:lstStyle/>
          <a:p>
            <a:pPr indent="0" marL="0">
              <a:buNone/>
            </a:pPr>
            <a:r>
              <a:rPr lang="en-US" sz="2000" dirty="0">
                <a:solidFill>
                  <a:srgbClr val="1E2761"/>
                </a:solidFill>
                <a:latin typeface="Calibri" pitchFamily="34" charset="0"/>
                <a:ea typeface="Calibri" pitchFamily="34" charset="-122"/>
                <a:cs typeface="Calibri" pitchFamily="34" charset="-120"/>
              </a:rPr>
              <a:t>Figuren: Paddy Fingal, Schaya, der Schotte (* die Nachbarn)</a:t>
            </a:r>
            <a:endParaRPr lang="en-US" sz="2000" dirty="0"/>
          </a:p>
        </p:txBody>
      </p:sp>
      <p:sp>
        <p:nvSpPr>
          <p:cNvPr id="11" name="Shape 8"/>
          <p:cNvSpPr/>
          <p:nvPr/>
        </p:nvSpPr>
        <p:spPr>
          <a:xfrm>
            <a:off x="548640" y="2834640"/>
            <a:ext cx="11064240" cy="914400"/>
          </a:xfrm>
          <a:prstGeom prst="roundRect">
            <a:avLst>
              <a:gd name="adj" fmla="val 8000"/>
            </a:avLst>
          </a:prstGeom>
          <a:solidFill>
            <a:srgbClr val="F4F7FD"/>
          </a:solidFill>
          <a:ln/>
        </p:spPr>
      </p:sp>
      <p:sp>
        <p:nvSpPr>
          <p:cNvPr id="12" name="Text 9"/>
          <p:cNvSpPr txBox="1"/>
          <p:nvPr/>
        </p:nvSpPr>
        <p:spPr>
          <a:xfrm>
            <a:off x="731520" y="3063240"/>
            <a:ext cx="731520" cy="457200"/>
          </a:xfrm>
          <a:prstGeom prst="rect">
            <a:avLst/>
          </a:prstGeom>
          <a:noFill/>
          <a:ln/>
        </p:spPr>
        <p:txBody>
          <a:bodyPr wrap="square" lIns="0" tIns="0" rIns="0" bIns="0" rtlCol="0" anchor="t"/>
          <a:lstStyle/>
          <a:p>
            <a:pPr indent="0" marL="0">
              <a:buNone/>
            </a:pPr>
            <a:r>
              <a:rPr lang="en-US" sz="2200" b="1" dirty="0">
                <a:solidFill>
                  <a:srgbClr val="7A5BA6"/>
                </a:solidFill>
                <a:latin typeface="Calibri" pitchFamily="34" charset="0"/>
                <a:ea typeface="Calibri" pitchFamily="34" charset="-122"/>
                <a:cs typeface="Calibri" pitchFamily="34" charset="-120"/>
              </a:rPr>
              <a:t>5</a:t>
            </a:r>
            <a:endParaRPr lang="en-US" sz="2200" dirty="0"/>
          </a:p>
        </p:txBody>
      </p:sp>
      <p:sp>
        <p:nvSpPr>
          <p:cNvPr id="13" name="Text 10"/>
          <p:cNvSpPr txBox="1"/>
          <p:nvPr/>
        </p:nvSpPr>
        <p:spPr>
          <a:xfrm>
            <a:off x="1463040" y="2971800"/>
            <a:ext cx="9966960" cy="685800"/>
          </a:xfrm>
          <a:prstGeom prst="rect">
            <a:avLst/>
          </a:prstGeom>
          <a:noFill/>
          <a:ln/>
        </p:spPr>
        <p:txBody>
          <a:bodyPr wrap="square" lIns="0" tIns="0" rIns="0" bIns="0" rtlCol="0" anchor="ctr"/>
          <a:lstStyle/>
          <a:p>
            <a:pPr indent="0" marL="0">
              <a:buNone/>
            </a:pPr>
            <a:r>
              <a:rPr lang="en-US" sz="2000" dirty="0">
                <a:solidFill>
                  <a:srgbClr val="1E2761"/>
                </a:solidFill>
                <a:latin typeface="Calibri" pitchFamily="34" charset="0"/>
                <a:ea typeface="Calibri" pitchFamily="34" charset="-122"/>
                <a:cs typeface="Calibri" pitchFamily="34" charset="-120"/>
              </a:rPr>
              <a:t>Anfang Str. 1–3 · Höhepunkt Str. 8–9 (der Schotte sieht die Nase) · Ende Str. 10–11</a:t>
            </a:r>
            <a:endParaRPr lang="en-US" sz="2000" dirty="0"/>
          </a:p>
        </p:txBody>
      </p:sp>
      <p:sp>
        <p:nvSpPr>
          <p:cNvPr id="14" name="Shape 11"/>
          <p:cNvSpPr/>
          <p:nvPr/>
        </p:nvSpPr>
        <p:spPr>
          <a:xfrm>
            <a:off x="548640" y="3931920"/>
            <a:ext cx="11064240" cy="914400"/>
          </a:xfrm>
          <a:prstGeom prst="roundRect">
            <a:avLst>
              <a:gd name="adj" fmla="val 8000"/>
            </a:avLst>
          </a:prstGeom>
          <a:solidFill>
            <a:srgbClr val="F4F7FD"/>
          </a:solidFill>
          <a:ln/>
        </p:spPr>
      </p:sp>
      <p:sp>
        <p:nvSpPr>
          <p:cNvPr id="15" name="Text 12"/>
          <p:cNvSpPr txBox="1"/>
          <p:nvPr/>
        </p:nvSpPr>
        <p:spPr>
          <a:xfrm>
            <a:off x="731520" y="4160520"/>
            <a:ext cx="731520" cy="457200"/>
          </a:xfrm>
          <a:prstGeom prst="rect">
            <a:avLst/>
          </a:prstGeom>
          <a:noFill/>
          <a:ln/>
        </p:spPr>
        <p:txBody>
          <a:bodyPr wrap="square" lIns="0" tIns="0" rIns="0" bIns="0" rtlCol="0" anchor="t"/>
          <a:lstStyle/>
          <a:p>
            <a:pPr indent="0" marL="0">
              <a:buNone/>
            </a:pPr>
            <a:r>
              <a:rPr lang="en-US" sz="2200" b="1" dirty="0">
                <a:solidFill>
                  <a:srgbClr val="7A5BA6"/>
                </a:solidFill>
                <a:latin typeface="Calibri" pitchFamily="34" charset="0"/>
                <a:ea typeface="Calibri" pitchFamily="34" charset="-122"/>
                <a:cs typeface="Calibri" pitchFamily="34" charset="-120"/>
              </a:rPr>
              <a:t>6</a:t>
            </a:r>
            <a:endParaRPr lang="en-US" sz="2200" dirty="0"/>
          </a:p>
        </p:txBody>
      </p:sp>
      <p:sp>
        <p:nvSpPr>
          <p:cNvPr id="16" name="Text 13"/>
          <p:cNvSpPr txBox="1"/>
          <p:nvPr/>
        </p:nvSpPr>
        <p:spPr>
          <a:xfrm>
            <a:off x="1463040" y="4069080"/>
            <a:ext cx="9966960" cy="685800"/>
          </a:xfrm>
          <a:prstGeom prst="rect">
            <a:avLst/>
          </a:prstGeom>
          <a:noFill/>
          <a:ln/>
        </p:spPr>
        <p:txBody>
          <a:bodyPr wrap="square" lIns="0" tIns="0" rIns="0" bIns="0" rtlCol="0" anchor="ctr"/>
          <a:lstStyle/>
          <a:p>
            <a:pPr indent="0" marL="0">
              <a:buNone/>
            </a:pPr>
            <a:r>
              <a:rPr lang="en-US" sz="2000" dirty="0">
                <a:solidFill>
                  <a:srgbClr val="1E2761"/>
                </a:solidFill>
                <a:latin typeface="Calibri" pitchFamily="34" charset="0"/>
                <a:ea typeface="Calibri" pitchFamily="34" charset="-122"/>
                <a:cs typeface="Calibri" pitchFamily="34" charset="-120"/>
              </a:rPr>
              <a:t>Er-Erzähler · Präteritum („war“, „kroch“) · er leitet Figurenrede ein, z. B. Str. 4, V. 16 „Da lief er heim in jähem Schreck:“ oder Str. 6, V. 29</a:t>
            </a:r>
            <a:endParaRPr lang="en-US"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AUSWERTEN · Ü2 GEMEINSAM PRÜFEN</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Ü2  Lösung – Dramatik – wie ein Theaterstück</a:t>
            </a:r>
            <a:endParaRPr lang="en-US" sz="3200" dirty="0"/>
          </a:p>
        </p:txBody>
      </p:sp>
      <p:sp>
        <p:nvSpPr>
          <p:cNvPr id="4" name="Text 2"/>
          <p:cNvSpPr txBox="1"/>
          <p:nvPr/>
        </p:nvSpPr>
        <p:spPr>
          <a:xfrm>
            <a:off x="548640" y="6400800"/>
            <a:ext cx="64008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Freitag, 6.11. · Die Ballade als Ur-Ei · Deutsch 7A</a:t>
            </a:r>
            <a:endParaRPr lang="en-US" sz="1000" dirty="0"/>
          </a:p>
        </p:txBody>
      </p:sp>
      <p:sp>
        <p:nvSpPr>
          <p:cNvPr id="5" name="Text 3"/>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12</a:t>
            </a:r>
            <a:endParaRPr lang="en-US" sz="1000" dirty="0"/>
          </a:p>
        </p:txBody>
      </p:sp>
      <p:sp>
        <p:nvSpPr>
          <p:cNvPr id="7" name="Shape 4"/>
          <p:cNvSpPr/>
          <p:nvPr/>
        </p:nvSpPr>
        <p:spPr>
          <a:xfrm>
            <a:off x="548640" y="1417320"/>
            <a:ext cx="11064240" cy="109728"/>
          </a:xfrm>
          <a:prstGeom prst="roundRect">
            <a:avLst>
              <a:gd name="adj" fmla="val 66667"/>
            </a:avLst>
          </a:prstGeom>
          <a:solidFill>
            <a:srgbClr val="C77C12"/>
          </a:solidFill>
          <a:ln/>
        </p:spPr>
      </p:sp>
      <p:sp>
        <p:nvSpPr>
          <p:cNvPr id="8" name="Shape 5"/>
          <p:cNvSpPr/>
          <p:nvPr/>
        </p:nvSpPr>
        <p:spPr>
          <a:xfrm>
            <a:off x="548640" y="1737360"/>
            <a:ext cx="11064240" cy="914400"/>
          </a:xfrm>
          <a:prstGeom prst="roundRect">
            <a:avLst>
              <a:gd name="adj" fmla="val 8000"/>
            </a:avLst>
          </a:prstGeom>
          <a:solidFill>
            <a:srgbClr val="F4F7FD"/>
          </a:solidFill>
          <a:ln/>
        </p:spPr>
      </p:sp>
      <p:sp>
        <p:nvSpPr>
          <p:cNvPr id="9" name="Text 6"/>
          <p:cNvSpPr txBox="1"/>
          <p:nvPr/>
        </p:nvSpPr>
        <p:spPr>
          <a:xfrm>
            <a:off x="731520" y="1965960"/>
            <a:ext cx="731520" cy="457200"/>
          </a:xfrm>
          <a:prstGeom prst="rect">
            <a:avLst/>
          </a:prstGeom>
          <a:noFill/>
          <a:ln/>
        </p:spPr>
        <p:txBody>
          <a:bodyPr wrap="square" lIns="0" tIns="0" rIns="0" bIns="0" rtlCol="0" anchor="t"/>
          <a:lstStyle/>
          <a:p>
            <a:pPr indent="0" marL="0">
              <a:buNone/>
            </a:pPr>
            <a:r>
              <a:rPr lang="en-US" sz="2200" b="1" dirty="0">
                <a:solidFill>
                  <a:srgbClr val="C77C12"/>
                </a:solidFill>
                <a:latin typeface="Calibri" pitchFamily="34" charset="0"/>
                <a:ea typeface="Calibri" pitchFamily="34" charset="-122"/>
                <a:cs typeface="Calibri" pitchFamily="34" charset="-120"/>
              </a:rPr>
              <a:t>7</a:t>
            </a:r>
            <a:endParaRPr lang="en-US" sz="2200" dirty="0"/>
          </a:p>
        </p:txBody>
      </p:sp>
      <p:sp>
        <p:nvSpPr>
          <p:cNvPr id="10" name="Text 7"/>
          <p:cNvSpPr txBox="1"/>
          <p:nvPr/>
        </p:nvSpPr>
        <p:spPr>
          <a:xfrm>
            <a:off x="1463040" y="1874520"/>
            <a:ext cx="9966960" cy="685800"/>
          </a:xfrm>
          <a:prstGeom prst="rect">
            <a:avLst/>
          </a:prstGeom>
          <a:noFill/>
          <a:ln/>
        </p:spPr>
        <p:txBody>
          <a:bodyPr wrap="square" lIns="0" tIns="0" rIns="0" bIns="0" rtlCol="0" anchor="ctr"/>
          <a:lstStyle/>
          <a:p>
            <a:pPr indent="0" marL="0">
              <a:buNone/>
            </a:pPr>
            <a:r>
              <a:rPr lang="en-US" sz="2000" dirty="0">
                <a:solidFill>
                  <a:srgbClr val="1E2761"/>
                </a:solidFill>
                <a:latin typeface="Calibri" pitchFamily="34" charset="0"/>
                <a:ea typeface="Calibri" pitchFamily="34" charset="-122"/>
                <a:cs typeface="Calibri" pitchFamily="34" charset="-120"/>
              </a:rPr>
              <a:t>Str. 7 (Schaya) oder Str. 9 (der Schotte): die ganze Strophe ist Figurenrede, kein Erzähler</a:t>
            </a:r>
            <a:endParaRPr lang="en-US" sz="2000" dirty="0"/>
          </a:p>
        </p:txBody>
      </p:sp>
      <p:sp>
        <p:nvSpPr>
          <p:cNvPr id="11" name="Shape 8"/>
          <p:cNvSpPr/>
          <p:nvPr/>
        </p:nvSpPr>
        <p:spPr>
          <a:xfrm>
            <a:off x="548640" y="2834640"/>
            <a:ext cx="11064240" cy="914400"/>
          </a:xfrm>
          <a:prstGeom prst="roundRect">
            <a:avLst>
              <a:gd name="adj" fmla="val 8000"/>
            </a:avLst>
          </a:prstGeom>
          <a:solidFill>
            <a:srgbClr val="F4F7FD"/>
          </a:solidFill>
          <a:ln/>
        </p:spPr>
      </p:sp>
      <p:sp>
        <p:nvSpPr>
          <p:cNvPr id="12" name="Text 9"/>
          <p:cNvSpPr txBox="1"/>
          <p:nvPr/>
        </p:nvSpPr>
        <p:spPr>
          <a:xfrm>
            <a:off x="731520" y="3063240"/>
            <a:ext cx="731520" cy="457200"/>
          </a:xfrm>
          <a:prstGeom prst="rect">
            <a:avLst/>
          </a:prstGeom>
          <a:noFill/>
          <a:ln/>
        </p:spPr>
        <p:txBody>
          <a:bodyPr wrap="square" lIns="0" tIns="0" rIns="0" bIns="0" rtlCol="0" anchor="t"/>
          <a:lstStyle/>
          <a:p>
            <a:pPr indent="0" marL="0">
              <a:buNone/>
            </a:pPr>
            <a:r>
              <a:rPr lang="en-US" sz="2200" b="1" dirty="0">
                <a:solidFill>
                  <a:srgbClr val="C77C12"/>
                </a:solidFill>
                <a:latin typeface="Calibri" pitchFamily="34" charset="0"/>
                <a:ea typeface="Calibri" pitchFamily="34" charset="-122"/>
                <a:cs typeface="Calibri" pitchFamily="34" charset="-120"/>
              </a:rPr>
              <a:t>* 8</a:t>
            </a:r>
            <a:endParaRPr lang="en-US" sz="2200" dirty="0"/>
          </a:p>
        </p:txBody>
      </p:sp>
      <p:sp>
        <p:nvSpPr>
          <p:cNvPr id="13" name="Text 10"/>
          <p:cNvSpPr txBox="1"/>
          <p:nvPr/>
        </p:nvSpPr>
        <p:spPr>
          <a:xfrm>
            <a:off x="1463040" y="2971800"/>
            <a:ext cx="9966960" cy="685800"/>
          </a:xfrm>
          <a:prstGeom prst="rect">
            <a:avLst/>
          </a:prstGeom>
          <a:noFill/>
          <a:ln/>
        </p:spPr>
        <p:txBody>
          <a:bodyPr wrap="square" lIns="0" tIns="0" rIns="0" bIns="0" rtlCol="0" anchor="ctr"/>
          <a:lstStyle/>
          <a:p>
            <a:pPr indent="0" marL="0">
              <a:buNone/>
            </a:pPr>
            <a:r>
              <a:rPr lang="en-US" sz="2000" dirty="0">
                <a:solidFill>
                  <a:srgbClr val="1E2761"/>
                </a:solidFill>
                <a:latin typeface="Calibri" pitchFamily="34" charset="0"/>
                <a:ea typeface="Calibri" pitchFamily="34" charset="-122"/>
                <a:cs typeface="Calibri" pitchFamily="34" charset="-120"/>
              </a:rPr>
              <a:t>Paddy gegen den Schotten – Frage: Findet der Schotte Paddy? Wer ist stärker?</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AUSWERTEN</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Zielcheck: Hast du das Ziel erreicht?</a:t>
            </a:r>
            <a:endParaRPr lang="en-US" sz="3200" dirty="0"/>
          </a:p>
        </p:txBody>
      </p:sp>
      <p:sp>
        <p:nvSpPr>
          <p:cNvPr id="4" name="Text 2"/>
          <p:cNvSpPr txBox="1"/>
          <p:nvPr/>
        </p:nvSpPr>
        <p:spPr>
          <a:xfrm>
            <a:off x="548640" y="6400800"/>
            <a:ext cx="64008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Freitag, 6.11. · Die Ballade als Ur-Ei · Deutsch 7A</a:t>
            </a:r>
            <a:endParaRPr lang="en-US" sz="1000" dirty="0"/>
          </a:p>
        </p:txBody>
      </p:sp>
      <p:sp>
        <p:nvSpPr>
          <p:cNvPr id="5" name="Text 3"/>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13</a:t>
            </a:r>
            <a:endParaRPr lang="en-US" sz="1000" dirty="0"/>
          </a:p>
        </p:txBody>
      </p:sp>
      <p:sp>
        <p:nvSpPr>
          <p:cNvPr id="7" name="Text 4"/>
          <p:cNvSpPr txBox="1"/>
          <p:nvPr/>
        </p:nvSpPr>
        <p:spPr>
          <a:xfrm>
            <a:off x="548640" y="1371600"/>
            <a:ext cx="11064240" cy="411480"/>
          </a:xfrm>
          <a:prstGeom prst="rect">
            <a:avLst/>
          </a:prstGeom>
          <a:noFill/>
          <a:ln/>
        </p:spPr>
        <p:txBody>
          <a:bodyPr wrap="square" lIns="0" tIns="0" rIns="0" bIns="0" rtlCol="0" anchor="t"/>
          <a:lstStyle/>
          <a:p>
            <a:pPr indent="0" marL="0">
              <a:buNone/>
            </a:pPr>
            <a:r>
              <a:rPr lang="en-US" sz="1800" b="1" dirty="0">
                <a:solidFill>
                  <a:srgbClr val="1E2761"/>
                </a:solidFill>
                <a:latin typeface="Calibri" pitchFamily="34" charset="0"/>
                <a:ea typeface="Calibri" pitchFamily="34" charset="-122"/>
                <a:cs typeface="Calibri" pitchFamily="34" charset="-120"/>
              </a:rPr>
              <a:t>Ordne jede Stelle einer Gattung zu: Lyrik, Epik oder Dramatik. Begründe mit dem Merkmal.</a:t>
            </a:r>
            <a:endParaRPr lang="en-US" sz="1800" dirty="0"/>
          </a:p>
        </p:txBody>
      </p:sp>
      <p:sp>
        <p:nvSpPr>
          <p:cNvPr id="8" name="Shape 5"/>
          <p:cNvSpPr/>
          <p:nvPr/>
        </p:nvSpPr>
        <p:spPr>
          <a:xfrm>
            <a:off x="548640" y="1874520"/>
            <a:ext cx="11064240" cy="713232"/>
          </a:xfrm>
          <a:prstGeom prst="roundRect">
            <a:avLst>
              <a:gd name="adj" fmla="val 10256"/>
            </a:avLst>
          </a:prstGeom>
          <a:solidFill>
            <a:srgbClr val="F4F7FD"/>
          </a:solidFill>
          <a:ln/>
        </p:spPr>
      </p:sp>
      <p:sp>
        <p:nvSpPr>
          <p:cNvPr id="9" name="Text 6"/>
          <p:cNvSpPr txBox="1"/>
          <p:nvPr/>
        </p:nvSpPr>
        <p:spPr>
          <a:xfrm>
            <a:off x="777240" y="1984248"/>
            <a:ext cx="548640" cy="502920"/>
          </a:xfrm>
          <a:prstGeom prst="rect">
            <a:avLst/>
          </a:prstGeom>
          <a:noFill/>
          <a:ln/>
        </p:spPr>
        <p:txBody>
          <a:bodyPr wrap="square" lIns="0" tIns="0" rIns="0" bIns="0" rtlCol="0" anchor="t"/>
          <a:lstStyle/>
          <a:p>
            <a:pPr indent="0" marL="0">
              <a:buNone/>
            </a:pPr>
            <a:r>
              <a:rPr lang="en-US" sz="2400" b="1" dirty="0">
                <a:solidFill>
                  <a:srgbClr val="D9534F"/>
                </a:solidFill>
                <a:latin typeface="Cambria" pitchFamily="34" charset="0"/>
                <a:ea typeface="Cambria" pitchFamily="34" charset="-122"/>
                <a:cs typeface="Cambria" pitchFamily="34" charset="-120"/>
              </a:rPr>
              <a:t>A</a:t>
            </a:r>
            <a:endParaRPr lang="en-US" sz="2400" dirty="0"/>
          </a:p>
        </p:txBody>
      </p:sp>
      <p:sp>
        <p:nvSpPr>
          <p:cNvPr id="10" name="Text 7"/>
          <p:cNvSpPr txBox="1"/>
          <p:nvPr/>
        </p:nvSpPr>
        <p:spPr>
          <a:xfrm>
            <a:off x="1463040" y="2020824"/>
            <a:ext cx="8138160" cy="457200"/>
          </a:xfrm>
          <a:prstGeom prst="rect">
            <a:avLst/>
          </a:prstGeom>
          <a:noFill/>
          <a:ln/>
        </p:spPr>
        <p:txBody>
          <a:bodyPr wrap="square" lIns="0" tIns="0" rIns="0" bIns="0" rtlCol="0" anchor="t"/>
          <a:lstStyle/>
          <a:p>
            <a:pPr indent="0" marL="0">
              <a:buNone/>
            </a:pPr>
            <a:r>
              <a:rPr lang="en-US" sz="1900" dirty="0">
                <a:solidFill>
                  <a:srgbClr val="1E2761"/>
                </a:solidFill>
                <a:latin typeface="Cambria" pitchFamily="34" charset="0"/>
                <a:ea typeface="Cambria" pitchFamily="34" charset="-122"/>
                <a:cs typeface="Cambria" pitchFamily="34" charset="-120"/>
              </a:rPr>
              <a:t>Riesenart – Bart</a:t>
            </a:r>
            <a:endParaRPr lang="en-US" sz="1900" dirty="0"/>
          </a:p>
        </p:txBody>
      </p:sp>
      <p:sp>
        <p:nvSpPr>
          <p:cNvPr id="11" name="Text 8"/>
          <p:cNvSpPr txBox="1"/>
          <p:nvPr/>
        </p:nvSpPr>
        <p:spPr>
          <a:xfrm>
            <a:off x="9509760" y="2075688"/>
            <a:ext cx="1920240" cy="365760"/>
          </a:xfrm>
          <a:prstGeom prst="rect">
            <a:avLst/>
          </a:prstGeom>
          <a:noFill/>
          <a:ln/>
        </p:spPr>
        <p:txBody>
          <a:bodyPr wrap="square" lIns="0" tIns="0" rIns="0" bIns="0" rtlCol="0" anchor="t"/>
          <a:lstStyle/>
          <a:p>
            <a:pPr algn="r" indent="0" marL="0">
              <a:buNone/>
            </a:pPr>
            <a:r>
              <a:rPr lang="en-US" sz="1400" dirty="0">
                <a:solidFill>
                  <a:srgbClr val="5B6B8C"/>
                </a:solidFill>
                <a:latin typeface="Calibri" pitchFamily="34" charset="0"/>
                <a:ea typeface="Calibri" pitchFamily="34" charset="-122"/>
                <a:cs typeface="Calibri" pitchFamily="34" charset="-120"/>
              </a:rPr>
              <a:t>Str. 1</a:t>
            </a:r>
            <a:endParaRPr lang="en-US" sz="1400" dirty="0"/>
          </a:p>
        </p:txBody>
      </p:sp>
      <p:sp>
        <p:nvSpPr>
          <p:cNvPr id="12" name="Shape 9"/>
          <p:cNvSpPr/>
          <p:nvPr/>
        </p:nvSpPr>
        <p:spPr>
          <a:xfrm>
            <a:off x="548640" y="2697480"/>
            <a:ext cx="11064240" cy="713232"/>
          </a:xfrm>
          <a:prstGeom prst="roundRect">
            <a:avLst>
              <a:gd name="adj" fmla="val 10256"/>
            </a:avLst>
          </a:prstGeom>
          <a:solidFill>
            <a:srgbClr val="F4F7FD"/>
          </a:solidFill>
          <a:ln/>
        </p:spPr>
      </p:sp>
      <p:sp>
        <p:nvSpPr>
          <p:cNvPr id="13" name="Text 10"/>
          <p:cNvSpPr txBox="1"/>
          <p:nvPr/>
        </p:nvSpPr>
        <p:spPr>
          <a:xfrm>
            <a:off x="777240" y="2807208"/>
            <a:ext cx="548640" cy="502920"/>
          </a:xfrm>
          <a:prstGeom prst="rect">
            <a:avLst/>
          </a:prstGeom>
          <a:noFill/>
          <a:ln/>
        </p:spPr>
        <p:txBody>
          <a:bodyPr wrap="square" lIns="0" tIns="0" rIns="0" bIns="0" rtlCol="0" anchor="t"/>
          <a:lstStyle/>
          <a:p>
            <a:pPr indent="0" marL="0">
              <a:buNone/>
            </a:pPr>
            <a:r>
              <a:rPr lang="en-US" sz="2400" b="1" dirty="0">
                <a:solidFill>
                  <a:srgbClr val="D9534F"/>
                </a:solidFill>
                <a:latin typeface="Cambria" pitchFamily="34" charset="0"/>
                <a:ea typeface="Cambria" pitchFamily="34" charset="-122"/>
                <a:cs typeface="Cambria" pitchFamily="34" charset="-120"/>
              </a:rPr>
              <a:t>B</a:t>
            </a:r>
            <a:endParaRPr lang="en-US" sz="2400" dirty="0"/>
          </a:p>
        </p:txBody>
      </p:sp>
      <p:sp>
        <p:nvSpPr>
          <p:cNvPr id="14" name="Text 11"/>
          <p:cNvSpPr txBox="1"/>
          <p:nvPr/>
        </p:nvSpPr>
        <p:spPr>
          <a:xfrm>
            <a:off x="1463040" y="2843784"/>
            <a:ext cx="8138160" cy="457200"/>
          </a:xfrm>
          <a:prstGeom prst="rect">
            <a:avLst/>
          </a:prstGeom>
          <a:noFill/>
          <a:ln/>
        </p:spPr>
        <p:txBody>
          <a:bodyPr wrap="square" lIns="0" tIns="0" rIns="0" bIns="0" rtlCol="0" anchor="t"/>
          <a:lstStyle/>
          <a:p>
            <a:pPr indent="0" marL="0">
              <a:buNone/>
            </a:pPr>
            <a:r>
              <a:rPr lang="en-US" sz="1900" dirty="0">
                <a:solidFill>
                  <a:srgbClr val="1E2761"/>
                </a:solidFill>
                <a:latin typeface="Cambria" pitchFamily="34" charset="0"/>
                <a:ea typeface="Cambria" pitchFamily="34" charset="-122"/>
                <a:cs typeface="Cambria" pitchFamily="34" charset="-120"/>
              </a:rPr>
              <a:t>Da lief er heim in jähem Schreck.</a:t>
            </a:r>
            <a:endParaRPr lang="en-US" sz="1900" dirty="0"/>
          </a:p>
        </p:txBody>
      </p:sp>
      <p:sp>
        <p:nvSpPr>
          <p:cNvPr id="15" name="Text 12"/>
          <p:cNvSpPr txBox="1"/>
          <p:nvPr/>
        </p:nvSpPr>
        <p:spPr>
          <a:xfrm>
            <a:off x="9509760" y="2898648"/>
            <a:ext cx="1920240" cy="365760"/>
          </a:xfrm>
          <a:prstGeom prst="rect">
            <a:avLst/>
          </a:prstGeom>
          <a:noFill/>
          <a:ln/>
        </p:spPr>
        <p:txBody>
          <a:bodyPr wrap="square" lIns="0" tIns="0" rIns="0" bIns="0" rtlCol="0" anchor="t"/>
          <a:lstStyle/>
          <a:p>
            <a:pPr algn="r" indent="0" marL="0">
              <a:buNone/>
            </a:pPr>
            <a:r>
              <a:rPr lang="en-US" sz="1400" dirty="0">
                <a:solidFill>
                  <a:srgbClr val="5B6B8C"/>
                </a:solidFill>
                <a:latin typeface="Calibri" pitchFamily="34" charset="0"/>
                <a:ea typeface="Calibri" pitchFamily="34" charset="-122"/>
                <a:cs typeface="Calibri" pitchFamily="34" charset="-120"/>
              </a:rPr>
              <a:t>Str. 4, V. 16</a:t>
            </a:r>
            <a:endParaRPr lang="en-US" sz="1400" dirty="0"/>
          </a:p>
        </p:txBody>
      </p:sp>
      <p:sp>
        <p:nvSpPr>
          <p:cNvPr id="16" name="Shape 13"/>
          <p:cNvSpPr/>
          <p:nvPr/>
        </p:nvSpPr>
        <p:spPr>
          <a:xfrm>
            <a:off x="548640" y="3520440"/>
            <a:ext cx="11064240" cy="713232"/>
          </a:xfrm>
          <a:prstGeom prst="roundRect">
            <a:avLst>
              <a:gd name="adj" fmla="val 10256"/>
            </a:avLst>
          </a:prstGeom>
          <a:solidFill>
            <a:srgbClr val="F4F7FD"/>
          </a:solidFill>
          <a:ln/>
        </p:spPr>
      </p:sp>
      <p:sp>
        <p:nvSpPr>
          <p:cNvPr id="17" name="Text 14"/>
          <p:cNvSpPr txBox="1"/>
          <p:nvPr/>
        </p:nvSpPr>
        <p:spPr>
          <a:xfrm>
            <a:off x="777240" y="3630168"/>
            <a:ext cx="548640" cy="502920"/>
          </a:xfrm>
          <a:prstGeom prst="rect">
            <a:avLst/>
          </a:prstGeom>
          <a:noFill/>
          <a:ln/>
        </p:spPr>
        <p:txBody>
          <a:bodyPr wrap="square" lIns="0" tIns="0" rIns="0" bIns="0" rtlCol="0" anchor="t"/>
          <a:lstStyle/>
          <a:p>
            <a:pPr indent="0" marL="0">
              <a:buNone/>
            </a:pPr>
            <a:r>
              <a:rPr lang="en-US" sz="2400" b="1" dirty="0">
                <a:solidFill>
                  <a:srgbClr val="D9534F"/>
                </a:solidFill>
                <a:latin typeface="Cambria" pitchFamily="34" charset="0"/>
                <a:ea typeface="Cambria" pitchFamily="34" charset="-122"/>
                <a:cs typeface="Cambria" pitchFamily="34" charset="-120"/>
              </a:rPr>
              <a:t>C</a:t>
            </a:r>
            <a:endParaRPr lang="en-US" sz="2400" dirty="0"/>
          </a:p>
        </p:txBody>
      </p:sp>
      <p:sp>
        <p:nvSpPr>
          <p:cNvPr id="18" name="Text 15"/>
          <p:cNvSpPr txBox="1"/>
          <p:nvPr/>
        </p:nvSpPr>
        <p:spPr>
          <a:xfrm>
            <a:off x="1463040" y="3666744"/>
            <a:ext cx="8138160" cy="457200"/>
          </a:xfrm>
          <a:prstGeom prst="rect">
            <a:avLst/>
          </a:prstGeom>
          <a:noFill/>
          <a:ln/>
        </p:spPr>
        <p:txBody>
          <a:bodyPr wrap="square" lIns="0" tIns="0" rIns="0" bIns="0" rtlCol="0" anchor="t"/>
          <a:lstStyle/>
          <a:p>
            <a:pPr indent="0" marL="0">
              <a:buNone/>
            </a:pPr>
            <a:r>
              <a:rPr lang="en-US" sz="1900" dirty="0">
                <a:solidFill>
                  <a:srgbClr val="1E2761"/>
                </a:solidFill>
                <a:latin typeface="Cambria" pitchFamily="34" charset="0"/>
                <a:ea typeface="Cambria" pitchFamily="34" charset="-122"/>
                <a:cs typeface="Cambria" pitchFamily="34" charset="-120"/>
              </a:rPr>
              <a:t>„Ist das ein Baby, wie Ihr sagt, / ein Narr, wer’s mit ihm selber wagt!“</a:t>
            </a:r>
            <a:endParaRPr lang="en-US" sz="1900" dirty="0"/>
          </a:p>
        </p:txBody>
      </p:sp>
      <p:sp>
        <p:nvSpPr>
          <p:cNvPr id="19" name="Text 16"/>
          <p:cNvSpPr txBox="1"/>
          <p:nvPr/>
        </p:nvSpPr>
        <p:spPr>
          <a:xfrm>
            <a:off x="9509760" y="3721608"/>
            <a:ext cx="1920240" cy="365760"/>
          </a:xfrm>
          <a:prstGeom prst="rect">
            <a:avLst/>
          </a:prstGeom>
          <a:noFill/>
          <a:ln/>
        </p:spPr>
        <p:txBody>
          <a:bodyPr wrap="square" lIns="0" tIns="0" rIns="0" bIns="0" rtlCol="0" anchor="t"/>
          <a:lstStyle/>
          <a:p>
            <a:pPr algn="r" indent="0" marL="0">
              <a:buNone/>
            </a:pPr>
            <a:r>
              <a:rPr lang="en-US" sz="1400" dirty="0">
                <a:solidFill>
                  <a:srgbClr val="5B6B8C"/>
                </a:solidFill>
                <a:latin typeface="Calibri" pitchFamily="34" charset="0"/>
                <a:ea typeface="Calibri" pitchFamily="34" charset="-122"/>
                <a:cs typeface="Calibri" pitchFamily="34" charset="-120"/>
              </a:rPr>
              <a:t>Str. 9, V. 43–44</a:t>
            </a:r>
            <a:endParaRPr lang="en-US" sz="1400" dirty="0"/>
          </a:p>
        </p:txBody>
      </p:sp>
      <p:sp>
        <p:nvSpPr>
          <p:cNvPr id="20" name="Shape 17"/>
          <p:cNvSpPr/>
          <p:nvPr/>
        </p:nvSpPr>
        <p:spPr>
          <a:xfrm>
            <a:off x="548640" y="4434840"/>
            <a:ext cx="11064240" cy="1097280"/>
          </a:xfrm>
          <a:prstGeom prst="roundRect">
            <a:avLst>
              <a:gd name="adj" fmla="val 6667"/>
            </a:avLst>
          </a:prstGeom>
          <a:solidFill>
            <a:srgbClr val="EAF0FA"/>
          </a:solidFill>
          <a:ln w="19050">
            <a:solidFill>
              <a:srgbClr val="D9534F"/>
            </a:solidFill>
            <a:prstDash val="solid"/>
          </a:ln>
        </p:spPr>
      </p:sp>
      <p:sp>
        <p:nvSpPr>
          <p:cNvPr id="21" name="Text 18"/>
          <p:cNvSpPr txBox="1"/>
          <p:nvPr/>
        </p:nvSpPr>
        <p:spPr>
          <a:xfrm>
            <a:off x="822960" y="4544568"/>
            <a:ext cx="10607040" cy="914400"/>
          </a:xfrm>
          <a:prstGeom prst="rect">
            <a:avLst/>
          </a:prstGeom>
          <a:noFill/>
          <a:ln/>
        </p:spPr>
        <p:txBody>
          <a:bodyPr wrap="square" lIns="0" tIns="0" rIns="0" bIns="0" rtlCol="0" anchor="t"/>
          <a:lstStyle/>
          <a:p>
            <a:pPr indent="0" marL="0">
              <a:buNone/>
            </a:pPr>
            <a:r>
              <a:rPr lang="en-US" sz="1800" b="1" dirty="0">
                <a:solidFill>
                  <a:srgbClr val="D9534F"/>
                </a:solidFill>
                <a:latin typeface="Calibri" pitchFamily="34" charset="0"/>
                <a:ea typeface="Calibri" pitchFamily="34" charset="-122"/>
                <a:cs typeface="Calibri" pitchFamily="34" charset="-120"/>
              </a:rPr>
              <a:t>D  Prüfstein: </a:t>
            </a:r>
            <a:pPr indent="0" marL="0">
              <a:buNone/>
            </a:pPr>
            <a:r>
              <a:rPr lang="en-US" sz="1800" dirty="0">
                <a:solidFill>
                  <a:srgbClr val="1E2761"/>
                </a:solidFill>
                <a:latin typeface="Cambria" pitchFamily="34" charset="0"/>
                <a:ea typeface="Cambria" pitchFamily="34" charset="-122"/>
                <a:cs typeface="Cambria" pitchFamily="34" charset="-120"/>
              </a:rPr>
              <a:t>„Da lief er heim in jähem Schreck: / O Schaya, birg mich im Versteck!“ (Str. 4, V. 16–17)
</a:t>
            </a:r>
            <a:pPr indent="0" marL="0">
              <a:buNone/>
            </a:pPr>
            <a:r>
              <a:rPr lang="en-US" sz="1800" b="1" dirty="0">
                <a:solidFill>
                  <a:srgbClr val="1E2761"/>
                </a:solidFill>
                <a:latin typeface="Calibri" pitchFamily="34" charset="0"/>
                <a:ea typeface="Calibri" pitchFamily="34" charset="-122"/>
                <a:cs typeface="Calibri" pitchFamily="34" charset="-120"/>
              </a:rPr>
              <a:t>Epik oder Dramatik? Begründe.</a:t>
            </a:r>
            <a:endParaRPr lang="en-US" sz="1800" dirty="0"/>
          </a:p>
        </p:txBody>
      </p:sp>
      <p:sp>
        <p:nvSpPr>
          <p:cNvPr id="22" name="Shape 19"/>
          <p:cNvSpPr/>
          <p:nvPr/>
        </p:nvSpPr>
        <p:spPr>
          <a:xfrm>
            <a:off x="548640" y="5715000"/>
            <a:ext cx="11064240" cy="502920"/>
          </a:xfrm>
          <a:prstGeom prst="roundRect">
            <a:avLst>
              <a:gd name="adj" fmla="val 14545"/>
            </a:avLst>
          </a:prstGeom>
          <a:solidFill>
            <a:srgbClr val="EAF0FA"/>
          </a:solidFill>
          <a:ln/>
        </p:spPr>
      </p:sp>
      <p:sp>
        <p:nvSpPr>
          <p:cNvPr id="23" name="Text 20"/>
          <p:cNvSpPr txBox="1"/>
          <p:nvPr/>
        </p:nvSpPr>
        <p:spPr>
          <a:xfrm>
            <a:off x="777240" y="5788152"/>
            <a:ext cx="10698480" cy="365760"/>
          </a:xfrm>
          <a:prstGeom prst="rect">
            <a:avLst/>
          </a:prstGeom>
          <a:noFill/>
          <a:ln/>
        </p:spPr>
        <p:txBody>
          <a:bodyPr wrap="square" lIns="0" tIns="0" rIns="0" bIns="0" rtlCol="0" anchor="t"/>
          <a:lstStyle/>
          <a:p>
            <a:pPr indent="0" marL="0">
              <a:buNone/>
            </a:pPr>
            <a:r>
              <a:rPr lang="en-US" sz="1600" b="1" dirty="0">
                <a:solidFill>
                  <a:srgbClr val="1E2761"/>
                </a:solidFill>
                <a:latin typeface="Calibri" pitchFamily="34" charset="0"/>
                <a:ea typeface="Calibri" pitchFamily="34" charset="-122"/>
                <a:cs typeface="Calibri" pitchFamily="34" charset="-120"/>
              </a:rPr>
              <a:t>Zeit: </a:t>
            </a:r>
            <a:pPr indent="0" marL="0">
              <a:buNone/>
            </a:pPr>
            <a:r>
              <a:rPr lang="en-US" sz="1600" dirty="0">
                <a:solidFill>
                  <a:srgbClr val="1E2761"/>
                </a:solidFill>
                <a:latin typeface="Calibri" pitchFamily="34" charset="0"/>
                <a:ea typeface="Calibri" pitchFamily="34" charset="-122"/>
                <a:cs typeface="Calibri" pitchFamily="34" charset="-120"/>
              </a:rPr>
              <a:t>4 Minuten · allein im Heft      </a:t>
            </a:r>
            <a:pPr indent="0" marL="0">
              <a:buNone/>
            </a:pPr>
            <a:r>
              <a:rPr lang="en-US" sz="1600" i="1" dirty="0">
                <a:solidFill>
                  <a:srgbClr val="5B6B8C"/>
                </a:solidFill>
                <a:latin typeface="Calibri" pitchFamily="34" charset="0"/>
                <a:ea typeface="Calibri" pitchFamily="34" charset="-122"/>
                <a:cs typeface="Calibri" pitchFamily="34" charset="-120"/>
              </a:rPr>
              <a:t>Fertig? Stift hinlegen.</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AUSWERTEN · SELBSTKONTROLLE</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Zielcheck – Lösung</a:t>
            </a:r>
            <a:endParaRPr lang="en-US" sz="3200" dirty="0"/>
          </a:p>
        </p:txBody>
      </p:sp>
      <p:sp>
        <p:nvSpPr>
          <p:cNvPr id="4" name="Text 2"/>
          <p:cNvSpPr txBox="1"/>
          <p:nvPr/>
        </p:nvSpPr>
        <p:spPr>
          <a:xfrm>
            <a:off x="548640" y="6400800"/>
            <a:ext cx="64008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Freitag, 6.11. · Die Ballade als Ur-Ei · Deutsch 7A</a:t>
            </a:r>
            <a:endParaRPr lang="en-US" sz="1000" dirty="0"/>
          </a:p>
        </p:txBody>
      </p:sp>
      <p:sp>
        <p:nvSpPr>
          <p:cNvPr id="5" name="Text 3"/>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14</a:t>
            </a:r>
            <a:endParaRPr lang="en-US" sz="1000" dirty="0"/>
          </a:p>
        </p:txBody>
      </p:sp>
      <p:sp>
        <p:nvSpPr>
          <p:cNvPr id="7" name="Shape 4"/>
          <p:cNvSpPr/>
          <p:nvPr/>
        </p:nvSpPr>
        <p:spPr>
          <a:xfrm>
            <a:off x="548640" y="1463040"/>
            <a:ext cx="11064240" cy="822960"/>
          </a:xfrm>
          <a:prstGeom prst="roundRect">
            <a:avLst>
              <a:gd name="adj" fmla="val 8889"/>
            </a:avLst>
          </a:prstGeom>
          <a:solidFill>
            <a:srgbClr val="F4F7FD"/>
          </a:solidFill>
          <a:ln/>
        </p:spPr>
      </p:sp>
      <p:sp>
        <p:nvSpPr>
          <p:cNvPr id="8" name="Shape 5"/>
          <p:cNvSpPr/>
          <p:nvPr/>
        </p:nvSpPr>
        <p:spPr>
          <a:xfrm>
            <a:off x="548640" y="1463040"/>
            <a:ext cx="109728" cy="822960"/>
          </a:xfrm>
          <a:prstGeom prst="rect">
            <a:avLst/>
          </a:prstGeom>
          <a:solidFill>
            <a:srgbClr val="2A8C8C"/>
          </a:solidFill>
          <a:ln/>
        </p:spPr>
      </p:sp>
      <p:sp>
        <p:nvSpPr>
          <p:cNvPr id="9" name="Text 6"/>
          <p:cNvSpPr txBox="1"/>
          <p:nvPr/>
        </p:nvSpPr>
        <p:spPr>
          <a:xfrm>
            <a:off x="868680" y="1645920"/>
            <a:ext cx="10515600" cy="502920"/>
          </a:xfrm>
          <a:prstGeom prst="rect">
            <a:avLst/>
          </a:prstGeom>
          <a:noFill/>
          <a:ln/>
        </p:spPr>
        <p:txBody>
          <a:bodyPr wrap="square" lIns="0" tIns="0" rIns="0" bIns="0" rtlCol="0" anchor="t"/>
          <a:lstStyle/>
          <a:p>
            <a:pPr indent="0" marL="0">
              <a:buNone/>
            </a:pPr>
            <a:r>
              <a:rPr lang="en-US" sz="1900" b="1" dirty="0">
                <a:solidFill>
                  <a:srgbClr val="D9534F"/>
                </a:solidFill>
                <a:latin typeface="Calibri" pitchFamily="34" charset="0"/>
                <a:ea typeface="Calibri" pitchFamily="34" charset="-122"/>
                <a:cs typeface="Calibri" pitchFamily="34" charset="-120"/>
              </a:rPr>
              <a:t>A  </a:t>
            </a:r>
            <a:pPr indent="0" marL="0">
              <a:buNone/>
            </a:pPr>
            <a:r>
              <a:rPr lang="en-US" sz="1900" b="1" dirty="0">
                <a:solidFill>
                  <a:srgbClr val="2A8C8C"/>
                </a:solidFill>
                <a:latin typeface="Calibri" pitchFamily="34" charset="0"/>
                <a:ea typeface="Calibri" pitchFamily="34" charset="-122"/>
                <a:cs typeface="Calibri" pitchFamily="34" charset="-120"/>
              </a:rPr>
              <a:t>Lyrik: </a:t>
            </a:r>
            <a:pPr indent="0" marL="0">
              <a:buNone/>
            </a:pPr>
            <a:r>
              <a:rPr lang="en-US" sz="1900" dirty="0">
                <a:solidFill>
                  <a:srgbClr val="1E2761"/>
                </a:solidFill>
                <a:latin typeface="Calibri" pitchFamily="34" charset="0"/>
                <a:ea typeface="Calibri" pitchFamily="34" charset="-122"/>
                <a:cs typeface="Calibri" pitchFamily="34" charset="-120"/>
              </a:rPr>
              <a:t>Reim: Riesenart und Bart klingen ab dem betonten Vokal gleich (Paarreim).</a:t>
            </a:r>
            <a:endParaRPr lang="en-US" sz="1900" dirty="0"/>
          </a:p>
        </p:txBody>
      </p:sp>
      <p:sp>
        <p:nvSpPr>
          <p:cNvPr id="10" name="Shape 7"/>
          <p:cNvSpPr/>
          <p:nvPr/>
        </p:nvSpPr>
        <p:spPr>
          <a:xfrm>
            <a:off x="548640" y="2423160"/>
            <a:ext cx="11064240" cy="822960"/>
          </a:xfrm>
          <a:prstGeom prst="roundRect">
            <a:avLst>
              <a:gd name="adj" fmla="val 8889"/>
            </a:avLst>
          </a:prstGeom>
          <a:solidFill>
            <a:srgbClr val="F4F7FD"/>
          </a:solidFill>
          <a:ln/>
        </p:spPr>
      </p:sp>
      <p:sp>
        <p:nvSpPr>
          <p:cNvPr id="11" name="Shape 8"/>
          <p:cNvSpPr/>
          <p:nvPr/>
        </p:nvSpPr>
        <p:spPr>
          <a:xfrm>
            <a:off x="548640" y="2423160"/>
            <a:ext cx="109728" cy="822960"/>
          </a:xfrm>
          <a:prstGeom prst="rect">
            <a:avLst/>
          </a:prstGeom>
          <a:solidFill>
            <a:srgbClr val="7A5BA6"/>
          </a:solidFill>
          <a:ln/>
        </p:spPr>
      </p:sp>
      <p:sp>
        <p:nvSpPr>
          <p:cNvPr id="12" name="Text 9"/>
          <p:cNvSpPr txBox="1"/>
          <p:nvPr/>
        </p:nvSpPr>
        <p:spPr>
          <a:xfrm>
            <a:off x="868680" y="2606040"/>
            <a:ext cx="10515600" cy="502920"/>
          </a:xfrm>
          <a:prstGeom prst="rect">
            <a:avLst/>
          </a:prstGeom>
          <a:noFill/>
          <a:ln/>
        </p:spPr>
        <p:txBody>
          <a:bodyPr wrap="square" lIns="0" tIns="0" rIns="0" bIns="0" rtlCol="0" anchor="t"/>
          <a:lstStyle/>
          <a:p>
            <a:pPr indent="0" marL="0">
              <a:buNone/>
            </a:pPr>
            <a:r>
              <a:rPr lang="en-US" sz="1900" b="1" dirty="0">
                <a:solidFill>
                  <a:srgbClr val="D9534F"/>
                </a:solidFill>
                <a:latin typeface="Calibri" pitchFamily="34" charset="0"/>
                <a:ea typeface="Calibri" pitchFamily="34" charset="-122"/>
                <a:cs typeface="Calibri" pitchFamily="34" charset="-120"/>
              </a:rPr>
              <a:t>B  </a:t>
            </a:r>
            <a:pPr indent="0" marL="0">
              <a:buNone/>
            </a:pPr>
            <a:r>
              <a:rPr lang="en-US" sz="1900" b="1" dirty="0">
                <a:solidFill>
                  <a:srgbClr val="7A5BA6"/>
                </a:solidFill>
                <a:latin typeface="Calibri" pitchFamily="34" charset="0"/>
                <a:ea typeface="Calibri" pitchFamily="34" charset="-122"/>
                <a:cs typeface="Calibri" pitchFamily="34" charset="-120"/>
              </a:rPr>
              <a:t>Epik: </a:t>
            </a:r>
            <a:pPr indent="0" marL="0">
              <a:buNone/>
            </a:pPr>
            <a:r>
              <a:rPr lang="en-US" sz="1900" dirty="0">
                <a:solidFill>
                  <a:srgbClr val="1E2761"/>
                </a:solidFill>
                <a:latin typeface="Calibri" pitchFamily="34" charset="0"/>
                <a:ea typeface="Calibri" pitchFamily="34" charset="-122"/>
                <a:cs typeface="Calibri" pitchFamily="34" charset="-120"/>
              </a:rPr>
              <a:t>Ein Erzähler erzählt, was passiert – im Präteritum („lief“).</a:t>
            </a:r>
            <a:endParaRPr lang="en-US" sz="1900" dirty="0"/>
          </a:p>
        </p:txBody>
      </p:sp>
      <p:sp>
        <p:nvSpPr>
          <p:cNvPr id="13" name="Shape 10"/>
          <p:cNvSpPr/>
          <p:nvPr/>
        </p:nvSpPr>
        <p:spPr>
          <a:xfrm>
            <a:off x="548640" y="3383280"/>
            <a:ext cx="11064240" cy="822960"/>
          </a:xfrm>
          <a:prstGeom prst="roundRect">
            <a:avLst>
              <a:gd name="adj" fmla="val 8889"/>
            </a:avLst>
          </a:prstGeom>
          <a:solidFill>
            <a:srgbClr val="F4F7FD"/>
          </a:solidFill>
          <a:ln/>
        </p:spPr>
      </p:sp>
      <p:sp>
        <p:nvSpPr>
          <p:cNvPr id="14" name="Shape 11"/>
          <p:cNvSpPr/>
          <p:nvPr/>
        </p:nvSpPr>
        <p:spPr>
          <a:xfrm>
            <a:off x="548640" y="3383280"/>
            <a:ext cx="109728" cy="822960"/>
          </a:xfrm>
          <a:prstGeom prst="rect">
            <a:avLst/>
          </a:prstGeom>
          <a:solidFill>
            <a:srgbClr val="C77C12"/>
          </a:solidFill>
          <a:ln/>
        </p:spPr>
      </p:sp>
      <p:sp>
        <p:nvSpPr>
          <p:cNvPr id="15" name="Text 12"/>
          <p:cNvSpPr txBox="1"/>
          <p:nvPr/>
        </p:nvSpPr>
        <p:spPr>
          <a:xfrm>
            <a:off x="868680" y="3566160"/>
            <a:ext cx="10515600" cy="502920"/>
          </a:xfrm>
          <a:prstGeom prst="rect">
            <a:avLst/>
          </a:prstGeom>
          <a:noFill/>
          <a:ln/>
        </p:spPr>
        <p:txBody>
          <a:bodyPr wrap="square" lIns="0" tIns="0" rIns="0" bIns="0" rtlCol="0" anchor="t"/>
          <a:lstStyle/>
          <a:p>
            <a:pPr indent="0" marL="0">
              <a:buNone/>
            </a:pPr>
            <a:r>
              <a:rPr lang="en-US" sz="1900" b="1" dirty="0">
                <a:solidFill>
                  <a:srgbClr val="D9534F"/>
                </a:solidFill>
                <a:latin typeface="Calibri" pitchFamily="34" charset="0"/>
                <a:ea typeface="Calibri" pitchFamily="34" charset="-122"/>
                <a:cs typeface="Calibri" pitchFamily="34" charset="-120"/>
              </a:rPr>
              <a:t>C  </a:t>
            </a:r>
            <a:pPr indent="0" marL="0">
              <a:buNone/>
            </a:pPr>
            <a:r>
              <a:rPr lang="en-US" sz="1900" b="1" dirty="0">
                <a:solidFill>
                  <a:srgbClr val="C77C12"/>
                </a:solidFill>
                <a:latin typeface="Calibri" pitchFamily="34" charset="0"/>
                <a:ea typeface="Calibri" pitchFamily="34" charset="-122"/>
                <a:cs typeface="Calibri" pitchFamily="34" charset="-120"/>
              </a:rPr>
              <a:t>Dramatik: </a:t>
            </a:r>
            <a:pPr indent="0" marL="0">
              <a:buNone/>
            </a:pPr>
            <a:r>
              <a:rPr lang="en-US" sz="1900" dirty="0">
                <a:solidFill>
                  <a:srgbClr val="1E2761"/>
                </a:solidFill>
                <a:latin typeface="Calibri" pitchFamily="34" charset="0"/>
                <a:ea typeface="Calibri" pitchFamily="34" charset="-122"/>
                <a:cs typeface="Calibri" pitchFamily="34" charset="-120"/>
              </a:rPr>
              <a:t>Die ganze Strophe ist Rede des Schotten – kein Erzähler dazwischen.</a:t>
            </a:r>
            <a:endParaRPr lang="en-US" sz="1900" dirty="0"/>
          </a:p>
        </p:txBody>
      </p:sp>
      <p:sp>
        <p:nvSpPr>
          <p:cNvPr id="16" name="Shape 13"/>
          <p:cNvSpPr/>
          <p:nvPr/>
        </p:nvSpPr>
        <p:spPr>
          <a:xfrm>
            <a:off x="548640" y="4343400"/>
            <a:ext cx="11064240" cy="822960"/>
          </a:xfrm>
          <a:prstGeom prst="roundRect">
            <a:avLst>
              <a:gd name="adj" fmla="val 8889"/>
            </a:avLst>
          </a:prstGeom>
          <a:solidFill>
            <a:srgbClr val="F4F7FD"/>
          </a:solidFill>
          <a:ln/>
        </p:spPr>
      </p:sp>
      <p:sp>
        <p:nvSpPr>
          <p:cNvPr id="17" name="Shape 14"/>
          <p:cNvSpPr/>
          <p:nvPr/>
        </p:nvSpPr>
        <p:spPr>
          <a:xfrm>
            <a:off x="548640" y="4343400"/>
            <a:ext cx="109728" cy="822960"/>
          </a:xfrm>
          <a:prstGeom prst="rect">
            <a:avLst/>
          </a:prstGeom>
          <a:solidFill>
            <a:srgbClr val="7A5BA6"/>
          </a:solidFill>
          <a:ln/>
        </p:spPr>
      </p:sp>
      <p:sp>
        <p:nvSpPr>
          <p:cNvPr id="18" name="Text 15"/>
          <p:cNvSpPr txBox="1"/>
          <p:nvPr/>
        </p:nvSpPr>
        <p:spPr>
          <a:xfrm>
            <a:off x="868680" y="4526280"/>
            <a:ext cx="10515600" cy="502920"/>
          </a:xfrm>
          <a:prstGeom prst="rect">
            <a:avLst/>
          </a:prstGeom>
          <a:noFill/>
          <a:ln/>
        </p:spPr>
        <p:txBody>
          <a:bodyPr wrap="square" lIns="0" tIns="0" rIns="0" bIns="0" rtlCol="0" anchor="t"/>
          <a:lstStyle/>
          <a:p>
            <a:pPr indent="0" marL="0">
              <a:buNone/>
            </a:pPr>
            <a:r>
              <a:rPr lang="en-US" sz="1900" b="1" dirty="0">
                <a:solidFill>
                  <a:srgbClr val="D9534F"/>
                </a:solidFill>
                <a:latin typeface="Calibri" pitchFamily="34" charset="0"/>
                <a:ea typeface="Calibri" pitchFamily="34" charset="-122"/>
                <a:cs typeface="Calibri" pitchFamily="34" charset="-120"/>
              </a:rPr>
              <a:t>D  </a:t>
            </a:r>
            <a:pPr indent="0" marL="0">
              <a:buNone/>
            </a:pPr>
            <a:r>
              <a:rPr lang="en-US" sz="1900" b="1" dirty="0">
                <a:solidFill>
                  <a:srgbClr val="7A5BA6"/>
                </a:solidFill>
                <a:latin typeface="Calibri" pitchFamily="34" charset="0"/>
                <a:ea typeface="Calibri" pitchFamily="34" charset="-122"/>
                <a:cs typeface="Calibri" pitchFamily="34" charset="-120"/>
              </a:rPr>
              <a:t>Epik: </a:t>
            </a:r>
            <a:pPr indent="0" marL="0">
              <a:buNone/>
            </a:pPr>
            <a:r>
              <a:rPr lang="en-US" sz="1900" dirty="0">
                <a:solidFill>
                  <a:srgbClr val="1E2761"/>
                </a:solidFill>
                <a:latin typeface="Calibri" pitchFamily="34" charset="0"/>
                <a:ea typeface="Calibri" pitchFamily="34" charset="-122"/>
                <a:cs typeface="Calibri" pitchFamily="34" charset="-120"/>
              </a:rPr>
              <a:t>Zwar wörtliche Rede – aber der Erzähler leitet sie ein („Da lief er heim …:“). Er vermittelt.</a:t>
            </a:r>
            <a:endParaRPr lang="en-US" sz="1900" dirty="0"/>
          </a:p>
        </p:txBody>
      </p:sp>
      <p:sp>
        <p:nvSpPr>
          <p:cNvPr id="19" name="Text 16"/>
          <p:cNvSpPr txBox="1"/>
          <p:nvPr/>
        </p:nvSpPr>
        <p:spPr>
          <a:xfrm>
            <a:off x="548640" y="5440680"/>
            <a:ext cx="11064240" cy="411480"/>
          </a:xfrm>
          <a:prstGeom prst="rect">
            <a:avLst/>
          </a:prstGeom>
          <a:noFill/>
          <a:ln/>
        </p:spPr>
        <p:txBody>
          <a:bodyPr wrap="square" lIns="0" tIns="0" rIns="0" bIns="0" rtlCol="0" anchor="t"/>
          <a:lstStyle/>
          <a:p>
            <a:pPr algn="ctr" indent="0" marL="0">
              <a:buNone/>
            </a:pPr>
            <a:r>
              <a:rPr lang="en-US" sz="1900" b="1" dirty="0">
                <a:solidFill>
                  <a:srgbClr val="1E2761"/>
                </a:solidFill>
                <a:latin typeface="Calibri" pitchFamily="34" charset="0"/>
                <a:ea typeface="Calibri" pitchFamily="34" charset="-122"/>
                <a:cs typeface="Calibri" pitchFamily="34" charset="-120"/>
              </a:rPr>
              <a:t>Verbessere mit Grün. Alles richtig? Dann hast du das Ziel erreicht.</a:t>
            </a:r>
            <a:endParaRPr lang="en-US" sz="1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Deutsch 7A – Freitag 6.11.</dc:title>
  <dc:subject>PptxGenJS Presentation</dc:subject>
  <dc:creator>PptxGenJS</dc:creator>
  <cp:lastModifiedBy>PptxGenJS</cp:lastModifiedBy>
  <cp:revision>1</cp:revision>
  <dcterms:created xsi:type="dcterms:W3CDTF">2026-10-31T12:03:15Z</dcterms:created>
  <dcterms:modified xsi:type="dcterms:W3CDTF">2026-10-31T12:03:15Z</dcterms:modified>
</cp:coreProperties>
</file>