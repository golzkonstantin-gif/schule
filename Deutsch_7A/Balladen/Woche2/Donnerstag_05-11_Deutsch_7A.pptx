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 vorlesen; am Ende im Zielcheck darauf zurückkommen. Ziel und Ablauf stehen auch an der Seitentafel.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…, weil ich noch duschen muss. 2 …, dass wir morgen frei haben. 3 Weißt du, ob der Neue auch kommt? 4 Ich freue mich, weil wir frei haben. (Komma fehlt). Reflexion: Beim Sprechen hört man oft „weil ich muss …“ – geschrieben ist das falsch.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Vergleichen und mit Grün verbessern. Kurz reflektieren: Beim Sprechen hört man oft „weil ich muss …“ – geschrieben ist das falsch.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Wiederholung vom Mittwoch: Beleg = Str. + V. + Zitat in Anführungszeichen. Lösung auf der nächsten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 Grün verbessern. Auf Anführungszeichen und die Angabe von Strophe UND Vers achten.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Strophe 1 im Chor lesen (Methodenkarte „Chorisches Lesen“). Dann fragen: Hört auf die Enden der Verse – welche klingen gleich? Ab wo klingen Bart und Riesenart gleich?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nach dem Gespräch zeigen. Reim = gleicher Klang ab dem letzten betonten Vokal (-art, -oss). Gleiche Reime bekommen denselben Buchstaben. Vers 5 reimt sich nicht (x), kommt aber in jeder Strophe wieder: Kehrreim. aabb heißt Paarreim. Überleitung: Schnipsel austeilen, Merkkasten gemeinsam lesen.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Schnipsel austeilen, einkleben lassen, gemeinsam lesen. Kontrollfragen: Wie heißt das Muster, wenn sich Vers 1 und 3 reimen? (abab, Kreuzreim) – und Vers 1 und 4? (abba, umarmender Reim).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Lösungen auf den folgenden Aufdeck-Folien. Jeder Text passt zu einer Sportart der Klasse (Gewichtheben, Judo, Handball). Wer fertig ist: * bei Nr. 1 den Kehrreim bestimmen.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einen Schüler die Buchstaben und die Reimart nennen lassen, dann diese Folie zeigen. Alle verbessern mit Grün. Der Kehrreim reimt sich nicht (x), wiederholt sich aber in jeder Strophe.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einen Schüler die Buchstaben und die Reimart nennen lassen, dann diese Folie zeigen. Alle verbessern mit Grün.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einen Schüler die Buchstaben und die Reimart nennen lassen, dann diese Folie zeigen. Alle verbessern mit Grün.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einen Schüler die Buchstaben und die Reimart nennen lassen, dann diese Folie zeigen. Alle verbessern mit Grün.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Allein im Heft, 4 Minuten, dann Lösungsfolie. Herumgehen: Wer bei a noch Fehler hat, wird am Freitag in der Wiederholung gezielt drangenommen.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 Grün verbessern. Alles richtig? Dann ist das Ziel erreicht.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Puffer: Nur, wenn die Stunde vorher fertig ist (oder falls Ü3 am Mittwoch nicht geschafft wurde). Die Stichwörter geben die Reihenfolge vor – keine fertigen Sätze. A erzählt Abschnitt 1–4, B Abschnitt 5–8, der andere hakt die Checkliste ab. Die Verknüpfungswörter (als, weil) knüpfen an Teil 2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 · 5.11.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Fingal – Reime erkennen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eine Ballade klingt: Reim und Reimschema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 und Ablauf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AF0FA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1554480"/>
            <a:ext cx="109728" cy="91440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1783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 </a:t>
            </a:r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Reime erkennen und das Reimschema einer Strophe bestimmen.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822960" y="278892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4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81635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Wiederholung: Ü1 Fehler im Chat · Ü2 Belegen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2960" y="3410712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4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3438144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 in Strophe 1 entdecken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822960" y="4032504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2960" y="40325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4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405993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Ü3 Reime erkennen (Schnipsel)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22960" y="4654296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46542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40" dirty="0"/>
          </a:p>
        </p:txBody>
      </p:sp>
      <p:sp>
        <p:nvSpPr>
          <p:cNvPr id="21" name="Text 18"/>
          <p:cNvSpPr txBox="1"/>
          <p:nvPr/>
        </p:nvSpPr>
        <p:spPr>
          <a:xfrm>
            <a:off x="1417320" y="468172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Zielcheck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22960" y="5276088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2960" y="52760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40" dirty="0"/>
          </a:p>
        </p:txBody>
      </p:sp>
      <p:sp>
        <p:nvSpPr>
          <p:cNvPr id="24" name="Text 21"/>
          <p:cNvSpPr txBox="1"/>
          <p:nvPr/>
        </p:nvSpPr>
        <p:spPr>
          <a:xfrm>
            <a:off x="1417320" y="5303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Nacherzählen mit Stichwörtern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VORWISSEN AKTIVIEREN · WIEDERHOLUNG SPRACHTRAINING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Ü1  Was stimmt im Chat nicht?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6583680" cy="4114800"/>
          </a:xfrm>
          <a:prstGeom prst="roundRect">
            <a:avLst>
              <a:gd name="adj" fmla="val 1778"/>
            </a:avLst>
          </a:prstGeom>
          <a:solidFill>
            <a:srgbClr val="E9EEF6"/>
          </a:solidFill>
          <a:ln/>
        </p:spPr>
      </p:sp>
      <p:sp>
        <p:nvSpPr>
          <p:cNvPr id="8" name="Shape 5"/>
          <p:cNvSpPr/>
          <p:nvPr/>
        </p:nvSpPr>
        <p:spPr>
          <a:xfrm>
            <a:off x="777240" y="160020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17556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Komme später, weil ich muss noch duschen 🙈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148840" y="256032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DCF3E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331720" y="27157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Trainer hat gesagt, dass wir haben morgen frei!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77240" y="352044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36758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Weißt du, ob kommt der Neue auch?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2148840" y="448056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DCF3E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331720" y="46360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Ich freue mich weil wir frei haben 💪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406640" y="1645920"/>
            <a:ext cx="411480" cy="41148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0664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4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16459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Finde in jeder Nachricht den Fehler.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406640" y="2560320"/>
            <a:ext cx="411480" cy="41148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0664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40" dirty="0"/>
          </a:p>
        </p:txBody>
      </p:sp>
      <p:sp>
        <p:nvSpPr>
          <p:cNvPr id="21" name="Text 18"/>
          <p:cNvSpPr txBox="1"/>
          <p:nvPr/>
        </p:nvSpPr>
        <p:spPr>
          <a:xfrm>
            <a:off x="795528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Satz richtig ins Heft.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7406640" y="3474720"/>
            <a:ext cx="411480" cy="41148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40664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40" dirty="0"/>
          </a:p>
        </p:txBody>
      </p:sp>
      <p:sp>
        <p:nvSpPr>
          <p:cNvPr id="24" name="Text 21"/>
          <p:cNvSpPr txBox="1"/>
          <p:nvPr/>
        </p:nvSpPr>
        <p:spPr>
          <a:xfrm>
            <a:off x="7955280" y="3474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Notiere: Verbstellung oder Komma?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allein, dann Lösung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VORWISSEN AKTIVIEREN · Ü1 LÖSUNG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Ü1  So ist es richtig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16459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Komme später, </a:t>
            </a:r>
            <a:pPr indent="0" marL="0">
              <a:buNone/>
            </a:pPr>
            <a:r>
              <a:rPr lang="en-US" sz="2200" b="1" dirty="0">
                <a:solidFill>
                  <a:srgbClr val="7A5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weil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ich noch duschen </a:t>
            </a:r>
            <a:pPr indent="0" marL="0">
              <a:buNone/>
            </a:pPr>
            <a:r>
              <a:rPr lang="en-US" sz="2200" b="1" u="sng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muss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9509760" y="1645920"/>
            <a:ext cx="1920240" cy="411480"/>
          </a:xfrm>
          <a:prstGeom prst="roundRect">
            <a:avLst>
              <a:gd name="adj" fmla="val 48889"/>
            </a:avLst>
          </a:prstGeom>
          <a:solidFill>
            <a:srgbClr val="7A5BA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509760" y="1645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Verbstellung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24231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4F7F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1520" y="26243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2606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Trainer hat gesagt, </a:t>
            </a:r>
            <a:pPr indent="0" marL="0">
              <a:buNone/>
            </a:pPr>
            <a:r>
              <a:rPr lang="en-US" sz="2200" b="1" dirty="0">
                <a:solidFill>
                  <a:srgbClr val="7A5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dass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wir morgen frei </a:t>
            </a:r>
            <a:pPr indent="0" marL="0">
              <a:buNone/>
            </a:pPr>
            <a:r>
              <a:rPr lang="en-US" sz="2200" b="1" u="sng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haben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509760" y="2606040"/>
            <a:ext cx="1920240" cy="411480"/>
          </a:xfrm>
          <a:prstGeom prst="roundRect">
            <a:avLst>
              <a:gd name="adj" fmla="val 48889"/>
            </a:avLst>
          </a:prstGeom>
          <a:solidFill>
            <a:srgbClr val="7A5BA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509760" y="2606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Verbstellung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3383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4F7F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31520" y="35844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Weißt du, </a:t>
            </a:r>
            <a:pPr indent="0" marL="0">
              <a:buNone/>
            </a:pPr>
            <a:r>
              <a:rPr lang="en-US" sz="2200" b="1" dirty="0">
                <a:solidFill>
                  <a:srgbClr val="7A5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der Neue auch </a:t>
            </a:r>
            <a:pPr indent="0" marL="0">
              <a:buNone/>
            </a:pPr>
            <a:r>
              <a:rPr lang="en-US" sz="2200" b="1" u="sng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kommt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9509760" y="3566160"/>
            <a:ext cx="1920240" cy="411480"/>
          </a:xfrm>
          <a:prstGeom prst="roundRect">
            <a:avLst>
              <a:gd name="adj" fmla="val 48889"/>
            </a:avLst>
          </a:prstGeom>
          <a:solidFill>
            <a:srgbClr val="7A5BA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509760" y="35661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Verbstellung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43434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4F7F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31520" y="45445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4526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freue mich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7A5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weil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wir frei </a:t>
            </a:r>
            <a:pPr indent="0" marL="0">
              <a:buNone/>
            </a:pPr>
            <a:r>
              <a:rPr lang="en-US" sz="2200" b="1" u="sng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haben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509760" y="4526280"/>
            <a:ext cx="1920240" cy="411480"/>
          </a:xfrm>
          <a:prstGeom prst="roundRect">
            <a:avLst>
              <a:gd name="adj" fmla="val 48889"/>
            </a:avLst>
          </a:prstGeom>
          <a:solidFill>
            <a:srgbClr val="E8A33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509760" y="4526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Komma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VORWISSEN AKTIVIEREN · WIEDERHOLUNG BELEGEN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Ü2  Wo steht das?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3677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steht, dass Paddy ins Bett kriecht?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682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bittet Schaya den Fremden, leise zu sein?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09981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 jeweils Strophe, Vers und Zitat an.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im Heft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VORWISSEN AKTIVIEREN · Ü2 LÖSUNG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Ü2  Lösung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8" name="Shape 5"/>
          <p:cNvSpPr/>
          <p:nvPr/>
        </p:nvSpPr>
        <p:spPr>
          <a:xfrm>
            <a:off x="822960" y="2075688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554480" y="21031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Str. 5, V. 21: „Ins Bette Paddy Fingal kroch“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30175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2" name="Shape 9"/>
          <p:cNvSpPr/>
          <p:nvPr/>
        </p:nvSpPr>
        <p:spPr>
          <a:xfrm>
            <a:off x="822960" y="3264408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554480" y="32918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Str. 7, V. 31: „Tut leise, Fremder, und tretet sacht“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 und verbessere mit Grün.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INFORMIEREN · REIME ENTDECKEN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Wörter klingen gleich?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916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Fingal war von Riesen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774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Sechs Ellen flog sein schwarzer B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48640" y="2971800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3081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063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seine Fäuste waren wie Tonnen gr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oß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48640" y="3657600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008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3749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einen Mastbaum führt’ er als Wurfgesch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oss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–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48640" y="4343400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40080" y="4453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44348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so ein Kerl war Paddy Fingal!</a:t>
            </a:r>
            <a:pPr indent="0" marL="0">
              <a:buNone/>
            </a:pPr>
            <a:pPr indent="0" marL="0">
              <a:buNone/>
            </a:pP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Hört auf die Enden der Verse. Welche klingen gleich – und ab welchem Laut?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INFORMIEREN · REIME ENTDECKEN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Strophe 1: aabb + Kehrreim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916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Fingal war von Riesen</a:t>
            </a:r>
            <a:pPr indent="0" marL="0">
              <a:buNone/>
            </a:pPr>
            <a:r>
              <a:rPr lang="en-US" sz="2200" b="1" dirty="0">
                <a:solidFill>
                  <a:srgbClr val="2A8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9555480" y="1645920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2A8C8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555480" y="1645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48640" y="2286000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774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Sechs Ellen flog sein schwarzer B</a:t>
            </a:r>
            <a:pPr indent="0" marL="0">
              <a:buNone/>
            </a:pPr>
            <a:r>
              <a:rPr lang="en-US" sz="2200" b="1" dirty="0">
                <a:solidFill>
                  <a:srgbClr val="2A8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9555480" y="2331720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2A8C8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555480" y="23317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548640" y="2971800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0080" y="3081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3063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seine Fäuste waren wie Tonnen gr</a:t>
            </a:r>
            <a:pPr indent="0" marL="0">
              <a:buNone/>
            </a:pPr>
            <a:r>
              <a:rPr lang="en-US" sz="2200" b="1" dirty="0">
                <a:solidFill>
                  <a:srgbClr val="C77C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oß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9555480" y="3017520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C77C1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555480" y="30175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548640" y="3657600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008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3749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einen Mastbaum führt’ er als Wurfgesch</a:t>
            </a:r>
            <a:pPr indent="0" marL="0">
              <a:buNone/>
            </a:pPr>
            <a:r>
              <a:rPr lang="en-US" sz="2200" b="1" dirty="0">
                <a:solidFill>
                  <a:srgbClr val="C77C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oss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–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9555480" y="3703320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C77C1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555480" y="3703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48640" y="4343400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40080" y="4453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188720" y="44348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so ein Kerl war Paddy Fingal!</a:t>
            </a:r>
            <a:pPr indent="0" marL="0">
              <a:buNone/>
            </a:pPr>
            <a:pPr indent="0" marL="0">
              <a:buNone/>
            </a:pP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9555480" y="4389120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555480" y="4389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48640" y="516636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53492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aabb = Paarreim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Vers ohne Reim, kehrt in jeder Strophe wieder: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Kehrreim (Refrain)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MERKKASTEN – SCHNIPSEL EINKLEBEN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Reim und Reimschema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1106424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55448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Reim: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Wörter reimen sich, wenn sie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dem letzten betonten Vokal gleich klingen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Schreck – Versteck, daher – sehr.
</a:t>
            </a:r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Reimschema: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Versenden, die sich reimen, bekommen den gleichen Buchstaben (a, b, c …). Ein Vers ohne Reim bekommt ein x.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3520440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3584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Paarreim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ctr" indent="0" marL="0">
              <a:buNone/>
            </a:pPr>
            <a:r>
              <a:rPr lang="en-US" sz="2400" b="1" dirty="0">
                <a:solidFill>
                  <a:srgbClr val="2A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ctr" indent="0" marL="0">
              <a:buNone/>
            </a:pPr>
            <a:r>
              <a:rPr lang="en-US" sz="2400" b="1" dirty="0">
                <a:solidFill>
                  <a:srgbClr val="C7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ctr" indent="0" marL="0">
              <a:buNone/>
            </a:pPr>
            <a:r>
              <a:rPr lang="en-US" sz="2400" b="1" dirty="0">
                <a:solidFill>
                  <a:srgbClr val="C7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297680" y="3520440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97680" y="3584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Kreuzreim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ctr" indent="0" marL="0">
              <a:buNone/>
            </a:pPr>
            <a:r>
              <a:rPr lang="en-US" sz="2400" b="1" dirty="0">
                <a:solidFill>
                  <a:srgbClr val="C7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ctr" indent="0" marL="0">
              <a:buNone/>
            </a:pPr>
            <a:r>
              <a:rPr lang="en-US" sz="2400" b="1" dirty="0">
                <a:solidFill>
                  <a:srgbClr val="2A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ctr" indent="0" marL="0">
              <a:buNone/>
            </a:pPr>
            <a:r>
              <a:rPr lang="en-US" sz="2400" b="1" dirty="0">
                <a:solidFill>
                  <a:srgbClr val="C7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046720" y="3520440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046720" y="3584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umarmender Reim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ctr" indent="0" marL="0">
              <a:buNone/>
            </a:pPr>
            <a:r>
              <a:rPr lang="en-US" sz="2400" b="1" dirty="0">
                <a:solidFill>
                  <a:srgbClr val="C7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ctr" indent="0" marL="0">
              <a:buNone/>
            </a:pPr>
            <a:r>
              <a:rPr lang="en-US" sz="2400" b="1" dirty="0">
                <a:solidFill>
                  <a:srgbClr val="C7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ctr" indent="0" marL="0">
              <a:buNone/>
            </a:pPr>
            <a:r>
              <a:rPr lang="en-US" sz="2400" b="1" dirty="0">
                <a:solidFill>
                  <a:srgbClr val="2A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48640" y="4754880"/>
            <a:ext cx="5440680" cy="868680"/>
          </a:xfrm>
          <a:prstGeom prst="roundRect">
            <a:avLst>
              <a:gd name="adj" fmla="val 8421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482803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Wofür?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 und Reimschema sind Merkmale der Lyrik – du brauchst sie für die Analyse einer Ballade.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72200" y="4754880"/>
            <a:ext cx="5440680" cy="868680"/>
          </a:xfrm>
          <a:prstGeom prst="roundRect">
            <a:avLst>
              <a:gd name="adj" fmla="val 8421"/>
            </a:avLst>
          </a:prstGeom>
          <a:solidFill>
            <a:srgbClr val="EAF0F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355080" y="482803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die Versenden laut. Klingen sie ab dem betonten Vokal gleich? Dann bekommen sie denselben Buchstaben.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SCHNIPSEL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Ü3  Reime erkennen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3677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die Versenden halblaut.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682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hinter jeden Vers den Buchstaben (a, b … oder x).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09981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 die Reimart: Paarreim, Kreuzreim oder umarmender Reim.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Minuten · allein · 1 Paddy Fingal · 2 Beim Heben · 3 Auf der Matte · 4 Im Siebenmeterkreis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Ü3 GEMEINSAM PRÜFEN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Ü3  Lösung – 1  Paddy Fingal, Str. 4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645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 Schreck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9555480" y="1600200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2A8C8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555480" y="1600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48640" y="2212848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230428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 Versteck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9555480" y="2258568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2A8C8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555480" y="22585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2871216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296265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 daher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9555480" y="2916936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C77C1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555480" y="2916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48640" y="3529584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621024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 sehr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9555480" y="3575304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C77C1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555480" y="35753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4187952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2960" y="427939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 … Paddy Fingal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9555480" y="4233672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555480" y="42336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AF0FA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22960" y="523036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Reimart: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Paarreim (aabb) + Kehrreim (x)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Ü3 GEMEINSAM PRÜFEN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Ü3  Lösung – 2  Beim Heben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645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Halle ist noch kalt und leer,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9555480" y="1600200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2A8C8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555480" y="1600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48640" y="2212848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230428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Hantel liegt schon da.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9555480" y="2258568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C77C1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555480" y="22585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2871216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296265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erste Versuch fällt mir schwer,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9555480" y="2916936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2A8C8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555480" y="2916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48640" y="3529584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621024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doch dann ruft jemand: „Ja!“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9555480" y="3575304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C77C1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555480" y="35753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AF0F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2960" y="523036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Reimart: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Kreuzreim (abab)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Ü3 GEMEINSAM PRÜFEN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Ü3  Lösung – 3  Auf der Matte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645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Kampf beginnt, ich greife zu,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9555480" y="1600200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2A8C8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555480" y="1600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48640" y="2212848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230428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mein Gegner hält mich am Kragen,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9555480" y="2258568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C77C1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555480" y="22585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2871216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296265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muss jetzt alles wagen –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9555480" y="2916936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C77C1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555480" y="2916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48640" y="3529584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621024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Wurf, und dann ist Ruh.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9555480" y="3575304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2A8C8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555480" y="35753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AF0F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2960" y="523036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Reimart: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umarmender Reim (abba)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Ü3 GEMEINSAM PRÜFEN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Ü3  Lösung – 4  Im Siebenmeterkreis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645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Zehn Sekunden noch, der Ball ist frei,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9555480" y="1600200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2A8C8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555480" y="1600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48640" y="2212848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230428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zieh nach innen, schnell vorbei,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9555480" y="2258568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2A8C8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555480" y="22585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2871216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2962656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steige hoch, der Wurf geht rein –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9555480" y="2916936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C77C1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555480" y="2916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48640" y="3529584"/>
            <a:ext cx="8778240" cy="548640"/>
          </a:xfrm>
          <a:prstGeom prst="roundRect">
            <a:avLst>
              <a:gd name="adj" fmla="val 13333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621024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ganze Halle fängt an zu schrein!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9555480" y="3575304"/>
            <a:ext cx="822960" cy="457200"/>
          </a:xfrm>
          <a:prstGeom prst="roundRect">
            <a:avLst>
              <a:gd name="adj" fmla="val 50000"/>
            </a:avLst>
          </a:prstGeom>
          <a:solidFill>
            <a:srgbClr val="C77C1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555480" y="35753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AF0F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2960" y="523036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Reimart: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Paarreim (aabb)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Zielcheck: Hast du das Ziel erreicht?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11064240" cy="2788920"/>
          </a:xfrm>
          <a:prstGeom prst="roundRect">
            <a:avLst>
              <a:gd name="adj" fmla="val 2623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6002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Bestimme das Reimschema von Strophe 6 (V. 26–30) und nenne die Reimart. Welcher Vers ist der Kehrreim?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228600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Indem so schob der Schotte herein,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265176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den Balken rührte sein Scheitelbein,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301752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 er schnob und wischte sich den Schweiß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338328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 rollte die Augen wild im Kreis: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80160" y="374904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„Wo steckt der Paddy Fingal?“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4348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" y="47091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Reimart ist das?  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Ball – Tor – Fall – vor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im Heft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AUSWERTEN · SELBSTKONTROLLE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Zielcheck – Lösung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73736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herein – Scheitelbein (a a) · Schweiß – Kreis (b b) · „Wo steckt der Paddy Fingal?“ (x)
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Paarreim (aabb) – V. 30 ist der Kehrreim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548640" y="32461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3474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– Fall (a a), Tor – vor (b b) im Wechsel: abab =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Kreuzreim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Verbessere mit Grün. Alles richtig? Dann hast du das Ziel erreicht.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PUFFER · NACHERZÄHLEN VOM MITTWOCH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 Erzählt die Ballade nach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Donnerstag, 5.11. · Reime erkennen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3716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" y="1463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Einstieg: 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der Ballade „Paddy Fingal“ von Wilhelm Brandes geht es um …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F4F7F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8368" y="213055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13969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Paddy – Riese – Bart – Mastbaum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983480" y="2148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1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2670048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F4F7F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8368" y="278892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27980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Hüne aus Schottland – Wer ist stärker?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983480" y="28072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328416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F4F7F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34472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3456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Ufer – zehn Schuh größer – Schreck – Versteck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983480" y="346557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3–4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3986784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F4F7F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58368" y="410565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41148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Schaya – Bett – Kissen – nur die Nase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4983480" y="412394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5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72200" y="201168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F4F7F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281928" y="213055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629400" y="213969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Schotte sucht – Schayas Warnung – „Kindlein“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607040" y="2148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6–7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72200" y="2670048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F4F7F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281928" y="278892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6629400" y="27980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Nase – Baby? – riesiger Vater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10607040" y="28072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8–9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172200" y="3328416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F4F7FD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281928" y="34472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6629400" y="3456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Flucht – Sund – fast ertrunken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10607040" y="346557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10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172200" y="3986784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F4F7FD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281928" y="410565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6629400" y="41148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Siegesgeschrei – Nachbarn – „tapfer“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10607040" y="412394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11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548640" y="4709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</a:t>
            </a:r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1–4  ·  </a:t>
            </a:r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</a:t>
            </a:r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Abschnitt 5–8  ·  </a:t>
            </a:r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Verknüpfe: </a:t>
            </a:r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zuerst · dann · als … · weil … · daraufhin · schließlich · am Ende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Checkliste: </a:t>
            </a:r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Titel und Autor · richtige Reihenfolge · nichts dazuerfinden · alle wichtigen Details · * spannend mit wörtlicher Rede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Minuten · Tandem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Deutsch 7A – Donnerstag 5.11.</dc:title>
  <dc:subject>PptxGenJS Presentation</dc:subject>
  <dc:creator>PptxGenJS</dc:creator>
  <cp:lastModifiedBy>PptxGenJS</cp:lastModifiedBy>
  <cp:revision>1</cp:revision>
  <dcterms:created xsi:type="dcterms:W3CDTF">2026-10-31T11:29:02Z</dcterms:created>
  <dcterms:modified xsi:type="dcterms:W3CDTF">2026-10-31T11:29:02Z</dcterms:modified>
</cp:coreProperties>
</file>