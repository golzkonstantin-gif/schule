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Anfang zeigen und am Ende noch einmal: Was haben wir geschafft? Ziele und Ablauf stehen zusätzlich an der Seitentafel.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A orientierend, weil ich nur eine Information suche · B überfliegend, weil ich nur wissen will, wie es ausgeht · C genau, weil ich etwas erklären soll. Die „weil“-Sätze aufheben: In Teil 2 schauen wir sie uns genauer an. Falls am Montag E (Überfliegen) nicht geschafft wurde: jetzt 1 Minute überfliegen lassen, Satz „In der Ballade geht es um …“.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Methodenkarte Tandemlesen. Arbeitsblatt austeilen. Die Aussagen sind bewusst in eigenen Worten formuliert: Die Schüler müssen die Stelle verstanden haben, um sie zu finden. Herumgehen; wer fertig ist, macht * Nr. 9. Lösungen auf den folgenden Aufdeck-Folien.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Wir prüfen jetzt gemeinsam, Aussage für Aussage. Wer drankommt, sagt: richtig oder falsch und den Beleg. Erst dann decke ich auf. Alle verbessern auf dem Arbeitsblatt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1: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2: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3: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4: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5: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6: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7: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8: erst einen Schüler Urteil und Beleg nennen lassen, bei falschen Aussagen auch „Richtig ist …“. Dann diese Folie zeigen.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9: erst einen Schüler Urteil und Beleg nennen lassen, bei falschen Aussagen auch „Richtig ist …“. Dann diese Folie zeigen. Alle verbessern mit Grün. Nr. 9 ist eine Deutungsfrage: Die Ballade ist ironisch – der Feigling wird als Held gefeiert.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Nur, wenn die Zeit reicht; sonst Einstieg am Donnerstag. Herumgehen, ein gelungenes Paar kurz vorerzählen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Wiederholung aus der Verb-Einheit: Das finite Verb (die Personalform) richtet sich nach der Person. Lösung: war, lief – beide an Position 2 (nach dem ersten Satzglied). Merksatz der Verb-Einheit nicht wiederholen lassen, nur kurz fragen: Woran erkennst du das finite Verb? (ändert sich mit der Person: ich war, du warst).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dass … war · dass … erwacht · als … sah. Erstes Wort: dass, als (Subjunktion). Das finite Verb steht am Ende. Vor der Subjunktion steht ein Komma (im Gedicht teils am Versende). Überleitung: Das ist eine Regel – Merksatz-Schnipsel austeilen.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Schnipsel austeilen und einkleben lassen (nicht abschreiben). Gemeinsam lesen. Bezug Verb-Einheit: Im Perfekt ist das Hilfsverb finit – es wandert ans Ende. Bezug Englisch: because he is afraid – dort bleibt das Verb vorne.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Ich trainiere heute länger, weil am Samstag ein Wettkampf ist. 2 Der Trainer sagt, dass wir nach Frankfurt (Oder) fahren. 3 Ich war nervös, als ich auf der Matte stand. 4 Wir gewinnen, wenn wir als Team spielen. 5 Ich bin stolz, weil ich 80 kg gestoßen habe. *6 Der Trainer fragt, ob ich gut geschlafen habe. Danach gemeinsam auf den Aufdeck-Folien prüfen: Wer drankommt, liest seinen Satz vor und sagt, wo das finite Verb steht. Dann aufdecken,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1: erst einen Schüler vorlesen lassen und fragen, wo das finite Verb steht und wo das Komma hin muss. Dann aufdecken.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2: erst einen Schüler vorlesen lassen und fragen, wo das finite Verb steht und wo das Komma hin muss. Dann aufdecken.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3: erst einen Schüler vorlesen lassen und fragen, wo das finite Verb steht und wo das Komma hin muss. Dann aufdecken.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4: erst einen Schüler vorlesen lassen und fragen, wo das finite Verb steht und wo das Komma hin muss. Dann aufdecken.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5: erst einen Schüler vorlesen lassen und fragen, wo das finite Verb steht und wo das Komma hin muss. Dann aufdecken. Alle verbessern mit Grün. Nachfragen: Welches Verb ist finit? habe – das Hilfsverb (rot) wandert ans 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6: erst einen Schüler vorlesen lassen und fragen, wo das finite Verb steht und wo das Komma hin muss. Dann aufdecken. Alle verbessern mit Grün. Auch richtig: …, ob du gut geschlafen hast.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…, weil ich noch duschen muss. 2 …, dass wir morgen frei haben. 3 Weißt du, ob der Neue auch kommt? 4 Ich freue mich, weil wir frei haben. (Komma fehlt). Reflexion: Beim Sprechen hört man oft „weil ich muss …“ – geschrieben ist das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Vergleichen und mit Grün verbessern. Kurz reflektieren: Beim Sprechen hört man oft „weil ich muss …“ – geschrieben ist das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Nur, wenn Zeit bleibt. Satzanfänge, keine fertigen Sätze. Mögliche Ergänzungen: … weil er Angst vor dem Schotten hat · … dass Paddy ein Baby sei/ist · … als er die riesige Nase sieht · … weil er glaubt, dass der Vater noch größer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(*) Forscherfrage mündlich: In Str. 3 steht „als er stapfte durch den Sund“ – das Verb steht nicht am Ende, wegen Reim und Rhythmus (Sund – stund). Dichter dürfen abweichen, im Aufsatz gilt die Regel. Dann Zielcheck allein im Heft (4 Min.), danach Lösungsfolie: Selbstkontrolle mit Grün. Herumgehen und schauen, wer noch Fehler hat – am Donnerstag in der Wiederholung aufgreifen.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Grün verbessern. Wer bei 2 a oder 2 b einen Fehler hat, schaut sich den Merksatz noch einmal an. Am Donnerstag beginnt die Wiederholung genau mit diesen Fehlern.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MITTWOCH · 4.11.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Deutsch 7A – Paddy Fingal: Inhalt und Sprachtraining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480560" cy="64008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Den Inhalt erschließen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577840" y="3749040"/>
            <a:ext cx="4480560" cy="640080"/>
          </a:xfrm>
          <a:prstGeom prst="roundRect">
            <a:avLst>
              <a:gd name="adj" fmla="val 50000"/>
            </a:avLst>
          </a:prstGeom>
          <a:solidFill>
            <a:srgbClr val="7A5B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7784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Sprachtraining an der Ballade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Doppelstunde: Ablauf und Ziele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Mittwoch, 4.11.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18288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2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1719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– den Inhalt erschließen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40 Min.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2128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Aussagen zur Ballade prüfen und mit Textbelegen begründen, ob sie richtig oder falsch sind.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7614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Lesetechniken · Tandemlesen · Ü1 Aussagen prüfen und gemeinsam auswerten · * LB-Aufgabe 1 b (nacherzählen)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4F7FD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3611880"/>
            <a:ext cx="109728" cy="1828800"/>
          </a:xfrm>
          <a:prstGeom prst="rect">
            <a:avLst/>
          </a:prstGeom>
          <a:solidFill>
            <a:srgbClr val="7A5BA6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3886200"/>
            <a:ext cx="548640" cy="54864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2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776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Sprachtraining: Nebensätze mit Subjunktion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45 Min.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42702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</a:t>
            </a:r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Nebensätze mit Subjunktion erkennen und richtig bilden: Das finite Verb steht am Ende.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48188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Ü2 Entdecken in der Ballade · Merksatz · Ü3 Sätze verbinden · Ü4 Fehler finden · * Ü5 zurück zur Ballade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nur, wenn die Zeit reicht. Am Ende: Zielcheck – zwei kurze Aufgaben zu unseren Zielen.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– den Inhalt erschließen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Wilhelm Brandes · Lehrbuch S. 136 f.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WIEDERHOLUNG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Lesetechnik brauchst du? Begründe mit „weil“.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7190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8470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willst wissen, woher der Fremde kommt.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8163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9443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willst wissen, ob die Ballade gut ausgeht.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9136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40416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sollst erklären, welche List Paddys Frau anwendet.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Heft: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orientierend, weil …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allein, dann mit dem Nachbarn vergleichen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(ARBEITSBLATT)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Paddy Fingal – Aussagen prüfen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die Ballade im Tandem: abwechselnd Strophe für Strophe.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jede Aussage auf dem Arbeitsblatt allein: richtig oder falsch?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Belegt mit Strophe, Vers und Zitat.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83133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die Aussage falsch? Schreibt auf, was richtig ist.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48640" y="4617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AF0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4773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„Paddy hat einen roten Bart.“ – falsch · Str. 1, V. 2, „Sechs Ellen flog sein schwarzer Bart“ · Richtig ist: Paddys Bart ist schwarz.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Min. lesen (Tandem) + 10 Min. prüfen (allein) · Nr. 9 mit *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drankommt, sagt: richtig oder falsch – und den Beleg. Erst dann wird aufgedeckt. Alle verbessern mit Grün.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37" name="Shape 34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1: </a:t>
            </a:r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1, V. 4: „einen Mastbaum führt’ er als Wurfgeschoss“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39" name="Shape 36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2: </a:t>
            </a:r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2, V. 7–9: „der hörte von Fingals starker Hand; da wollt’ er erproben alsogleich, wer fester sei …“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ist: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hat von Paddys Kraft gehört und will herausfinden, wer von beiden stärker ist.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41" name="Shape 38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3: </a:t>
            </a:r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3, V. 14: „dass der Fremdling zehn Schuh größer war“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ist: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ist viel größer als Paddy.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04120" y="2542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0412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43" name="Shape 40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4: </a:t>
            </a:r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4, V. 16–17: „Da lief er heim in jähem Schreck: O Schaya, birg mich im Versteck!“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ist: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bekommt Angst und will sich verstecken.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04120" y="2542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0412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04120" y="293522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10412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45" name="Shape 42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5: </a:t>
            </a:r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7, V. 31–32: „Tut leise, Fremder, und tretet sacht, dass Paddys Kindlein nicht erwacht!“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04120" y="2542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0412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04120" y="293522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10412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104120" y="33284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0412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47" name="Shape 44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6: </a:t>
            </a:r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8, V. 37: „der Schotte neugierig ans Lager ging“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ist: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geht trotz der Warnung neugierig ans Bett.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04120" y="2542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0412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04120" y="293522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10412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104120" y="33284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0412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0104120" y="372160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104120" y="3721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49" name="Shape 46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7: </a:t>
            </a:r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9, V. 43–44: „Ist das ein Baby, wie Ihr sagt, ein Narr, wer’s mit ihm selber wagt!“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ist: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hält Paddy für ein Baby und fürchtet sich vor dessen riesigem Vater.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04120" y="2542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0412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04120" y="293522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10412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104120" y="33284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0412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0104120" y="372160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104120" y="3721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0104120" y="41148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010412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51" name="Shape 48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8: </a:t>
            </a:r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10, V. 48: „fast wär ertrunken der gute Held“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TEIL 1 ·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Richtig oder falsch?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80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9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ist so stark, dass er einen Schiffsmast wie einen Speer wirft.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04120" y="13624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04120" y="1362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71907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773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783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kommt zu Paddy, weil er ihn als Verbündeten gegen einen Feind gewinnen will.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04120" y="17556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04120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11226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1762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Paddy den Fremden von Weitem sieht, merkt er, dass beide ungefähr gleich groß sind.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104120" y="21488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10412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50545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2569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will sich dem Kampf stellen und bittet Schaya, ihm beim Vorbereiten zu helfen.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04120" y="2542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0412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2898648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953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2962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bittet den Fremden, leise zu sein, damit das Kind nicht aufwacht.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04120" y="293522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10412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3291840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346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188720" y="33558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hält sich an Schayas Warnung und bleibt vom Bett weg.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0104120" y="33284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0412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3685032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88720" y="3749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erkennt Paddy im Bett und flieht vor ihm.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0104120" y="372160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104120" y="3721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4078224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40080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188720" y="4142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der Flucht hätte der Schotte beinahe sein Leben verloren.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0104120" y="41148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010412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richtig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8640" y="4471416"/>
            <a:ext cx="11064240" cy="347472"/>
          </a:xfrm>
          <a:prstGeom prst="roundRect">
            <a:avLst>
              <a:gd name="adj" fmla="val 10526"/>
            </a:avLst>
          </a:prstGeom>
          <a:solidFill>
            <a:srgbClr val="FFF4DE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4008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1188720" y="45354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wird am Ende zu Recht als tapferer Held gefeiert, weil er den Schotten besiegt hat.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10104120" y="45079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10104120" y="4507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0FA"/>
          </a:solidFill>
          <a:ln/>
        </p:spPr>
      </p:sp>
      <p:sp>
        <p:nvSpPr>
          <p:cNvPr id="53" name="Shape 50"/>
          <p:cNvSpPr/>
          <p:nvPr/>
        </p:nvSpPr>
        <p:spPr>
          <a:xfrm>
            <a:off x="548640" y="4937760"/>
            <a:ext cx="109728" cy="13258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22960" y="504748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Aussage 9: </a:t>
            </a:r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Beleg: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11, V. 55: „den tapfern Paddy Fingal“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ist: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hat nie gekämpft und gewinnt nur durch Schayas List – „tapfer“ ist ironisch gemeint.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VERARBEITEN · LB-AUFGABE 1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 Ü1 b  Erzählt die Ballade nach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Paddy Fingal – den Inhalt erschließen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erzählt Strophe 1–5 nach, B hört zu und hakt die Checkliste ab.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Wechselt: B erzählt Strophe 6–11, A prüft.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euer Arbeitsblatt aus Ü1 als Spickzettel.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4069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Checkliste: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und Autor  ·  richtige Reihenfolge  ·  nichts dazuerfinden  ·  alle wichtigen Details  ·  * spannend mit wörtlicher Rede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 · Tandem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7A5B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Sprachtraining an der Ballade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Nebensätze mit Subjunktion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VERB-EINHEIT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steht das finite Verb?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beide Sätze ab und unterstreiche das finite Verb.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44144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war von Riesenart.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58444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lief er heim in jähem Schreck.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4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Frage: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welcher Stelle steht das finite Verb?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ENTDECKEN IN DER BALLADE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Was passiert mit dem finiten Verb?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64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6276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und maß von ferne klipp und klar,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 der Fremdling zehn Schuh größer war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2532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7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49631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 leise, Fremder, und tretet sacht,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 Paddys Kindlein nicht erwacht</a:t>
            </a:r>
            <a:pPr indent="0" marL="0">
              <a:buNone/>
            </a:pPr>
            <a:r>
              <a:rPr lang="en-US" sz="21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401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8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36499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heiliger Patrick, wie ward ihm da,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er die Nase ragen sah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1879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die fett gedruckten Teile ins Heft.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6908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Unterstreiche das finite Verb. Kreise das erste Wort ein.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519379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 mit den Sätzen von eben: Was fällt dir auf?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allein, 2 Minuten zu zweit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– SCHNIPSEL EINKLEBEN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Nebensätze mit Subjunktion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600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(dass, als, weil, wenn, ob, obwohl, während, nachdem) leitet einen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Nebensatz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ein. Im Nebensatz steht das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Verb am Ende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Vor der Subjunktion steht ein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Komma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88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Schotte flieht,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er Angst vor dem Vater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 stolz,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80 kg gestoßen </a:t>
            </a:r>
            <a:pPr indent="0" marL="0">
              <a:buNone/>
            </a:pPr>
            <a:r>
              <a:rPr lang="en-US" sz="2200" b="1" u="sng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pPr indent="0" marL="0">
              <a:buNone/>
            </a:pPr>
            <a:r>
              <a:rPr lang="en-US" sz="22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(Perfekt: das Hilfsverb ist finit)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Hauptsatz</a:t>
            </a:r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finites Verb an Position 2   ·  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Nebensatz</a:t>
            </a:r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finites Verb am Ende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EAF0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6817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Wofür?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begründen und Zusammenhänge zeigen – in jeder Analyse: „Die Ballade ist spannend, weil …“. Im Englischen bleibt das Verb vorne: because he is afraid.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46177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EAF0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55080" y="46817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Anfang dass, als, weil, wenn …? Dann muss das finite Verb ans Ende – und davor ein Komma.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Markieren: Subjunktion einkreisen · finites Verb unterstreichen (Hilfsverb rot)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Sätze verbinden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8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4356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 die Sätze mit der Subjunktion in Klammern.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8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8928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ganzen Satz ins Heft. Denk an das Komma.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350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Kreise die Subjunktion ein, unterstreiche das finite Verb.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2880360"/>
            <a:ext cx="11064240" cy="2697480"/>
          </a:xfrm>
          <a:prstGeom prst="roundRect">
            <a:avLst>
              <a:gd name="adj" fmla="val 2712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29900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trainiere heute länger. Am Samstag ist ein Wettkampf.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(weil)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4198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4198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Trainer sagt. Wir fahren nach Frankfurt (Oder).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(dass)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849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38496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war nervös. Ich stand auf der Matte.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875520" y="3849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(als)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793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279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gewinnen. Wir spielen als Team.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87552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(wenn)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41732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stolz. Ich habe 80 kg gestoßen.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875520" y="4709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(weil)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5138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6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417320" y="5138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Trainer fragt. Hast du gut geschlafen?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875520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(ob)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 · allein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Satz für Satz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trainiere heute länger,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Samstag ein Wettkampf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240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Trainer sagt. Wir fahren nach Frankfurt (Oder). (dass)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9535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war nervös. Ich stand auf der Matte. (als)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6667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gewinnen. Wir spielen als Team. (wenn)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79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3799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stolz. Ich habe 80 kg gestoßen. (weil)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093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093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Der Trainer fragt. Hast du gut geschlafen? (ob)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 eingekreist (violett) · finites Verb unterstrichen · Hilfsverb rot · Komma vor der Subjunktion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Satz für Satz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trainiere heute länger,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Samstag ein Wettkampf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sagt,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nach Frankfurt (Oder)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9535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war nervös. Ich stand auf der Matte. (als)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6667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gewinnen. Wir spielen als Team. (wenn)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79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3799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stolz. Ich habe 80 kg gestoßen. (weil)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093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093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Der Trainer fragt. Hast du gut geschlafen? (ob)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 eingekreist (violett) · finites Verb unterstrichen · Hilfsverb rot · Komma vor der Subjunktion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Satz für Satz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trainiere heute länger,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Samstag ein Wettkampf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sagt,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nach Frankfurt (Oder)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9260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war nervös,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auf der Matte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6667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gewinnen. Wir spielen als Team. (wenn)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79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3799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stolz. Ich habe 80 kg gestoßen. (weil)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093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093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Der Trainer fragt. Hast du gut geschlafen? (ob)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 eingekreist (violett) · finites Verb unterstrichen · Hilfsverb rot · Komma vor der Subjunktion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Satz für Satz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trainiere heute länger,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Samstag ein Wettkampf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sagt,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nach Frankfurt (Oder)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9260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war nervös,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auf der Matte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639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gewinnen,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als Team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79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3799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stolz. Ich habe 80 kg gestoßen. (weil)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093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093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Der Trainer fragt. Hast du gut geschlafen? (ob)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 eingekreist (violett) · finites Verb unterstrichen · Hilfsverb rot · Komma vor der Subjunktion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Satz für Satz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trainiere heute länger,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Samstag ein Wettkampf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sagt,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nach Frankfurt (Oder)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9260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war nervös,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auf der Matte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639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gewinnen,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als Team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79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35254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 stolz,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80 kg gestoßen </a:t>
            </a:r>
            <a:pPr indent="0" marL="0">
              <a:buNone/>
            </a:pPr>
            <a:r>
              <a:rPr lang="en-US" sz="2000" b="1" u="sng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093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093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Der Trainer fragt. Hast du gut geschlafen? (ob)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 eingekreist (violett) · finites Verb unterstrichen · Hilfsverb rot · Komma vor der Subjunktion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Satz für Satz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trainiere heute länger,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Samstag ein Wettkampf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sagt,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nach Frankfurt (Oder)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2953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9260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war nervös,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auf der Matte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511296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639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gewinnen,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als Team </a:t>
            </a:r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22452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79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35254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 stolz,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80 kg gestoßen </a:t>
            </a:r>
            <a:pPr indent="0" marL="0">
              <a:buNone/>
            </a:pPr>
            <a:r>
              <a:rPr lang="en-US" sz="2000" b="1" u="sng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093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06577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fragt, </a:t>
            </a:r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gut geschlafen </a:t>
            </a:r>
            <a:pPr indent="0" marL="0">
              <a:buNone/>
            </a:pPr>
            <a:r>
              <a:rPr lang="en-US" sz="2000" b="1" u="sng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Subjunktion eingekreist (violett) · finites Verb unterstrichen · Hilfsverb rot · Komma vor der Subjunktion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FEHLER FINDEN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Ü4  Was stimmt im Chat nicht?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583680" cy="4114800"/>
          </a:xfrm>
          <a:prstGeom prst="roundRect">
            <a:avLst>
              <a:gd name="adj" fmla="val 1778"/>
            </a:avLst>
          </a:prstGeom>
          <a:solidFill>
            <a:srgbClr val="E9EEF6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60020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1755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Komme später, weil ich muss noch duschen 🙈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148840" y="256032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DCF3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31720" y="2715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Trainer hat gesagt, dass wir haben morgen frei!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77240" y="352044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Weißt du, ob kommt der Neue auch?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48840" y="448056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DCF3E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331720" y="4636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Ich freue mich weil wir frei haben 💪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406640" y="1645920"/>
            <a:ext cx="411480" cy="41148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06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 in jeder Nachricht den Fehler.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406640" y="2560320"/>
            <a:ext cx="411480" cy="41148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Satz richtig ins Heft.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406640" y="3474720"/>
            <a:ext cx="411480" cy="41148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06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Notiere: Verbstellung oder Komma?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 · zu zweit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Ü4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Ü4  So ist es richtig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45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Komme später,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noch duschen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509760" y="16459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A5B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0976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Verbstellung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hat gesagt,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morgen frei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09760" y="260604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A5BA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50976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Verbstellung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3584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Weißt du,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der Neue auch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09760" y="356616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A5BA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50976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Verbstellung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4544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freue mich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frei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09760" y="45262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E8A3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509760" y="4526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Komma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VERARBEITEN · ZURÜCK ZUR BALLADE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 Ü5  Erkläre die Ballade mit Nebensätzen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mindestens drei Sätze ins Heft. Kreise die Subjunktion ein und unterstreiche das finite Verb.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31343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versteckt sich im Bett, weil …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86207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9352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Schaya erzählt dem Schotten, dass …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8386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5570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Schotte erschrickt, als …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410565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1788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Schotte flieht, weil …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72744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8006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Nachbarn staunen, als …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 · allein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Zielcheck: Hast du die Ziele erreicht?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Forscherfrage: </a:t>
            </a:r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3: „Und als er stapfte durch den Sund“ – was ist hier anders, und warum?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468880"/>
            <a:ext cx="109728" cy="7772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2651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1: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 mit Beleg: „Der Schotte flieht, weil Paddy ihn im Bett angreift.“ – richtig oder falsch?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383280"/>
            <a:ext cx="109728" cy="777240"/>
          </a:xfrm>
          <a:prstGeom prst="rect">
            <a:avLst/>
          </a:prstGeom>
          <a:solidFill>
            <a:srgbClr val="7A5B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2 a: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Verbinde: Der Schotte erschrickt. Er sieht die riesige Nase. (als)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4297680"/>
            <a:ext cx="109728" cy="777240"/>
          </a:xfrm>
          <a:prstGeom prst="rect">
            <a:avLst/>
          </a:prstGeom>
          <a:solidFill>
            <a:srgbClr val="7A5BA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4480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2 b: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oder falsch? Begründe:  „Paddy versteckt sich, weil er hat Angst.“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im Heft, dann Lösung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SELBSTKONTROLLE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Zielcheck – Lösung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 · Sprachtraining: Nebensätze mit Subjunktion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645920"/>
            <a:ext cx="109728" cy="96012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874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1: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Falsch: Paddy greift nicht an. Der Schotte sieht die riesige Nase des „Babys“ und fürchtet den Vater (Str. 8–9, z. B. V. 44: „ein Narr, wer’s mit ihm selber wagt“).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788920"/>
            <a:ext cx="109728" cy="960120"/>
          </a:xfrm>
          <a:prstGeom prst="rect">
            <a:avLst/>
          </a:prstGeom>
          <a:solidFill>
            <a:srgbClr val="7A5B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017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2 a: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Schotte erschrickt, als er die riesige Nase sieht.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3931920"/>
            <a:ext cx="109728" cy="960120"/>
          </a:xfrm>
          <a:prstGeom prst="rect">
            <a:avLst/>
          </a:prstGeom>
          <a:solidFill>
            <a:srgbClr val="7A5BA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160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2 b: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Falsch: Im Nebensatz steht das finite Verb am Ende → …, weil er Angst hat.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Verbessere mit Grün. Alles richtig? Dann hast du beide Ziele erreicht.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Deutsch 7A – Mittwoch 4.11.</dc:title>
  <dc:subject>PptxGenJS Presentation</dc:subject>
  <dc:creator>PptxGenJS</dc:creator>
  <cp:lastModifiedBy>PptxGenJS</cp:lastModifiedBy>
  <cp:revision>1</cp:revision>
  <dcterms:created xsi:type="dcterms:W3CDTF">2026-10-31T10:57:46Z</dcterms:created>
  <dcterms:modified xsi:type="dcterms:W3CDTF">2026-10-31T10:57:46Z</dcterms:modified>
</cp:coreProperties>
</file>