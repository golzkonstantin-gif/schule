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 Anfang zeigen und am Ende noch einmal: Was haben wir geschafft? Ziele und Ablauf stehen zusätzlich an der Seitentafel.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A orientierend, weil ich nur eine Information suche · B überfliegend, weil ich nur wissen will, wie es ausgeht · C genau, weil ich etwas erklären soll. Die „weil“-Sätze aufheben: In Teil 2 schauen wir sie uns genauer an. Falls am Montag E (Überfliegen) nicht geschafft wurde: jetzt 1 Minute überfliegen lassen, Satz „In der Ballade geht es um …“.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Methodenkarte Tandemlesen. Lösung: 1 Riese, schwarzer Bart sechs Ellen lang, Fäuste so groß wie Tonnen, wirft mit einem Mastbaum (Str. 1). 2 Der Schotte will herausfinden, wer von beiden stärker ist (Str. 2). 3 Schaya steckt Paddy ins Bett, türmt die Kissen hoch und gibt ihn als Baby aus; der Schotte sieht nur die riesige Nase, denkt an einen riesigen Vater und flieht (Str. 5–10).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Drei Schüler schreiben je eine Antwort in Stichworten mit Strophe an die Tafel. Alle prüfen mit und verbessern mit Grün. Bei Frage 3 nachfragen: Welche Lesetechnik hast du gebraucht? (genau). Lösungen siehe Folie davor.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Nur, wenn die Zeit reicht; sonst Einstieg am Donnerstag. Herumgehen, ein gelungenes Paar kurz vorerzählen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Wiederholung aus der Verb-Einheit: Das finite Verb (die Personalform) richtet sich nach der Person. Lösung: war, lief – beide an Position 2 (nach dem ersten Satzglied). Merksatz der Verb-Einheit nicht wiederholen lassen, nur kurz fragen: Woran erkennst du das finite Verb? (ändert sich mit der Person: ich war, du warst).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dass … war · dass … erwacht · als … sah. Erstes Wort: dass, als (Subjunktion). Das finite Verb steht am Ende. Vor der Subjunktion steht ein Komma (im Gedicht teils am Versende). Überleitung: Das ist eine Regel – Merksatz-Schnipsel austeilen.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Schnipsel austeilen und einkleben lassen (nicht abschreiben). Gemeinsam lesen. Bezug Verb-Einheit: Im Perfekt ist das Hilfsverb finit – es wandert ans Ende. Bezug Englisch: because he is afraid – dort bleibt das Verb vorne.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Ich trainiere heute länger, weil am Samstag ein Wettkampf ist. 2 Der Trainer sagt, dass wir nach Frankfurt (Oder) fahren. 3 Ich war nervös, als ich auf der Matte stand. 4 Wir gewinnen, wenn wir als Team spielen. 5 Ich bin stolz, weil ich 80 kg gestoßen habe. *6 Der Trainer fragt, ob ich gut geschlafen habe. Vergleich in der Kreide-Kette: Wer drankommt, schreibt einen Satz an, alle prüfen 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…, weil ich noch duschen muss. 2 …, dass wir morgen frei haben. 3 Weißt du, ob der Neue auch kommt? 4 Ich freue mich, weil wir frei haben. (Komma fehlt). Reflexion: Beim Sprechen hört man oft „weil ich muss …“ – geschrieben ist das falsch.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Nur, wenn Zeit bleibt. Satzanfänge, keine fertigen Sätze. Mögliche Ergänzungen: … weil er Angst vor dem Schotten hat · … dass Paddy ein Baby sei/ist · … als er die riesige Nase sieht · … weil er glaubt, dass der Vater noch größer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die Forscherfrage stellen (*): In Str. 3 steht „als er stapfte durch den Sund“ – das Verb steht nicht am Ende. Warum? Wegen Reim und Rhythmus (Sund – stund): Dichter dürfen von der Regel abweichen. Im Aufsatz gilt die Regel. Dann „Heute habe ich gelernt, …“ ins Heft, zwei Schüler lesen vor.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MITTWOCH · 4.11.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Deutsch 7A – Paddy Fingal: Inhalt und Grammatik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822960" y="3749040"/>
            <a:ext cx="4480560" cy="64008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Den Inhalt erschließen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577840" y="3749040"/>
            <a:ext cx="4480560" cy="640080"/>
          </a:xfrm>
          <a:prstGeom prst="roundRect">
            <a:avLst>
              <a:gd name="adj" fmla="val 50000"/>
            </a:avLst>
          </a:prstGeom>
          <a:solidFill>
            <a:srgbClr val="7A5BA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577840" y="37490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Grammatik in der Ballade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Unsere Doppelstunde: Ablauf und Ziele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Mittwoch, 4.11.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1554480"/>
            <a:ext cx="109728" cy="182880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9" name="Shape 6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20" dirty="0"/>
          </a:p>
        </p:txBody>
      </p:sp>
      <p:sp>
        <p:nvSpPr>
          <p:cNvPr id="11" name="Text 8"/>
          <p:cNvSpPr txBox="1"/>
          <p:nvPr/>
        </p:nvSpPr>
        <p:spPr>
          <a:xfrm>
            <a:off x="1645920" y="1719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Fingal – den Inhalt erschließen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69264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40 Min.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2212848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</a:t>
            </a:r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kann Fragen zum Inhalt der Ballade mit Textbeleg beantworten.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645920" y="2761488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Lesetechniken · Tandemlesen · LB-Aufgabe 1 a · * LB-Aufgabe 1 b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61188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/>
        </p:spPr>
      </p:sp>
      <p:sp>
        <p:nvSpPr>
          <p:cNvPr id="16" name="Shape 13"/>
          <p:cNvSpPr/>
          <p:nvPr/>
        </p:nvSpPr>
        <p:spPr>
          <a:xfrm>
            <a:off x="548640" y="3611880"/>
            <a:ext cx="109728" cy="1828800"/>
          </a:xfrm>
          <a:prstGeom prst="rect">
            <a:avLst/>
          </a:prstGeom>
          <a:solidFill>
            <a:srgbClr val="7A5BA6"/>
          </a:solidFill>
          <a:ln/>
        </p:spPr>
      </p:sp>
      <p:sp>
        <p:nvSpPr>
          <p:cNvPr id="17" name="Shape 14"/>
          <p:cNvSpPr/>
          <p:nvPr/>
        </p:nvSpPr>
        <p:spPr>
          <a:xfrm>
            <a:off x="868680" y="3886200"/>
            <a:ext cx="548640" cy="54864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6868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20" dirty="0"/>
          </a:p>
        </p:txBody>
      </p:sp>
      <p:sp>
        <p:nvSpPr>
          <p:cNvPr id="19" name="Text 16"/>
          <p:cNvSpPr txBox="1"/>
          <p:nvPr/>
        </p:nvSpPr>
        <p:spPr>
          <a:xfrm>
            <a:off x="1645920" y="37764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 in der Ballade: Nebensätze mit Subjunktion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9692640" y="37947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45 Min.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645920" y="4270248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</a:t>
            </a:r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kann Nebensätze mit Subjunktion erkennen und richtig bilden: Das finite Verb steht am Ende.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1645920" y="4818888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Ü2 Entdecken in der Ballade · Merksatz · Ü3 Sätze verbinden · Ü4 Fehler finden · * Ü5 zurück zur Ballade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= nur, wenn die Zeit reicht. Am Ende: „Heute habe ich gelernt, …“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Fingal – den Inhalt erschließen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Wilhelm Brandes · Lehrbuch S. 136 f.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VORWISSEN AKTIVIEREN · WIEDERHOLUNG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Lesetechnik brauchst du? Begründe mit „weil“.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 · Paddy Fingal – den Inhalt erschließen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71907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84708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willst wissen, woher der Fremde kommt.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548640" y="26974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281635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1645920" y="294436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willst wissen, ob die Ballade gut ausgeht.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" y="391363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645920" y="40416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sollst erklären, welche List Paddys Frau anwendet.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ins Heft: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orientierend, weil …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allein, dann mit dem Nachbarn vergleichen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 · LB-AUFGABE 1 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Ü1  Wovon handelt die Ballade?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 · Paddy Fingal – den Inhalt erschließen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63677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 die Ballade im Tandem: abwechselnd Strophe für Strophe.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36829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Beantwortet die drei Fragen im Heft in ganzen Sätzen.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09981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Notiert hinter jeder Antwort die Strophe.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548640" y="388620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402336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Wie sieht Paddy Fingal aus?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4988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Was möchte der Riese aus Schottland von Paddy?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97433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Welche List wendet Paddys Frau an?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Min. lesen (Tandem) + 8 Min. schreiben (allein)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AUSWERTEN · TEIL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Vergleich in der Kreide-Kette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 · Paddy Fingal – den Inhalt erschließen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drankommt, schreibt die Antwort in Stichworten mit Strophe an die Tafel.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286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anderen prüfen mit und verbessern im Heft mit Grün.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48640" y="320040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EAF0F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34290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 – Ziel erreicht?  </a:t>
            </a:r>
            <a:pPr indent="0" marL="0">
              <a:buNone/>
            </a:pPr>
            <a:r>
              <a:rPr lang="en-US" sz="2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kann Fragen zum Inhalt der Ballade mit Textbeleg beantworten.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VERARBEITEN · LB-AUFGABE 1 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* Ü1 b  Erzählt die Ballade nach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 · Paddy Fingal – den Inhalt erschließen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63677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erzählt Strophe 1–5 nach, B hört zu und hakt die Checkliste ab.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36829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Wechselt: B erzählt Strophe 6–11, A prüft.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09981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Nutzt eure Antworten aus Ü1 als Spickzettel.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548640" y="388620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40690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Checkliste: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Titel und Autor  ·  richtige Reihenfolge  ·  nichts dazuerfinden  ·  alle wichtigen Details  ·  * spannend mit wörtlicher Rede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Minuten · Tandem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7A5BA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 in der Ballade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Nebensätze mit Subjunktion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VORWISSEN AKTIVIEREN · VERB-EINHEIT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 steht das finite Verb?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Grammatik in der Ballade: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beide Sätze ab und unterstreiche das finite Verb.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2402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2441448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Fingal war von Riesenart.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9966960" y="25146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1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3832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8680" y="3584448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lief er heim in jähem Schreck.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9966960" y="36576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4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Frage: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welcher Stelle steht das finite Verb?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INFORMIEREN · ENTDECKEN IN DER BALLADE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Ü2  Was passiert mit dem finiten Verb?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Grammatik in der Ballade: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64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62763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 und maß von ferne klipp und klar,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dass der Fremdling zehn Schuh größer war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31520" y="25328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7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645920" y="249631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Tut leise, Fremder, und tretet sacht,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dass Paddys Kindlein nicht erwacht</a:t>
            </a:r>
            <a:pPr indent="0" marL="0">
              <a:buNone/>
            </a:pPr>
            <a:r>
              <a:rPr lang="en-US" sz="21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31520" y="3401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8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645920" y="336499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heiliger Patrick, wie ward ihm da,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 er die Nase ragen sah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4160520"/>
            <a:ext cx="384048" cy="384048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8" name="Text 15"/>
          <p:cNvSpPr txBox="1"/>
          <p:nvPr/>
        </p:nvSpPr>
        <p:spPr>
          <a:xfrm>
            <a:off x="1097280" y="4187952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die fett gedruckten Teile ins Heft.</a:t>
            </a:r>
            <a:endParaRPr lang="en-US" sz="1900" dirty="0"/>
          </a:p>
        </p:txBody>
      </p:sp>
      <p:sp>
        <p:nvSpPr>
          <p:cNvPr id="19" name="Shape 16"/>
          <p:cNvSpPr/>
          <p:nvPr/>
        </p:nvSpPr>
        <p:spPr>
          <a:xfrm>
            <a:off x="548640" y="4663440"/>
            <a:ext cx="384048" cy="384048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21" name="Text 18"/>
          <p:cNvSpPr txBox="1"/>
          <p:nvPr/>
        </p:nvSpPr>
        <p:spPr>
          <a:xfrm>
            <a:off x="1097280" y="4690872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Unterstreiche das finite Verb. Kreise das erste Wort ein.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548640" y="5166360"/>
            <a:ext cx="384048" cy="384048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5166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5193792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 mit den Sätzen von eben: Was fällt dir auf?</a:t>
            </a:r>
            <a:endParaRPr lang="en-US" sz="1900" dirty="0"/>
          </a:p>
        </p:txBody>
      </p:sp>
      <p:sp>
        <p:nvSpPr>
          <p:cNvPr id="25" name="Shape 2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allein, 2 Minuten zu zweit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– SCHNIPSEL EINKLEBEN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Nebensätze mit Subjunktion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Grammatik in der Ballade: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1106424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6002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</a:t>
            </a:r>
            <a:pPr indent="0" marL="0">
              <a:buNone/>
            </a:pPr>
            <a:r>
              <a:rPr lang="en-US" sz="22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Subjunktion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(dass, als, weil, wenn, ob, obwohl, während, nachdem) leitet einen 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Nebensatz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ein. Im Nebensatz steht das </a:t>
            </a:r>
            <a:pPr indent="0" marL="0">
              <a:buNone/>
            </a:pPr>
            <a:r>
              <a:rPr lang="en-US" sz="2200" b="1" u="sng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 Verb am Ende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Vor der Subjunktion steht ein 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Komma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788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Schotte flieht, </a:t>
            </a:r>
            <a:pPr indent="0" marL="0">
              <a:buNone/>
            </a:pPr>
            <a:r>
              <a:rPr lang="en-US" sz="2200" b="1" dirty="0">
                <a:solidFill>
                  <a:srgbClr val="7A5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weil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er Angst vor dem Vater </a:t>
            </a:r>
            <a:pPr indent="0" marL="0">
              <a:buNone/>
            </a:pPr>
            <a:r>
              <a:rPr lang="en-US" sz="2200" b="1" u="sng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hat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337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bin stolz, </a:t>
            </a:r>
            <a:pPr indent="0" marL="0">
              <a:buNone/>
            </a:pPr>
            <a:r>
              <a:rPr lang="en-US" sz="2200" b="1" dirty="0">
                <a:solidFill>
                  <a:srgbClr val="7A5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weil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ich 80 kg gestoßen </a:t>
            </a:r>
            <a:pPr indent="0" marL="0">
              <a:buNone/>
            </a:pPr>
            <a:r>
              <a:rPr lang="en-US" sz="2200" b="1" u="sng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habe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pPr indent="0" marL="0">
              <a:buNone/>
            </a:pPr>
            <a:r>
              <a:rPr lang="en-US" sz="22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(Perfekt: das Hilfsverb ist finit)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Hauptsatz</a:t>
            </a:r>
            <a:pPr indent="0" marL="0">
              <a:buNone/>
            </a:pPr>
            <a:r>
              <a:rPr lang="en-US" sz="18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finites Verb an Position 2   ·   </a:t>
            </a:r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Nebensatz</a:t>
            </a:r>
            <a:pPr indent="0" marL="0">
              <a:buNone/>
            </a:pPr>
            <a:r>
              <a:rPr lang="en-US" sz="18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finites Verb am Ende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" y="461772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EAF0F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1520" y="4681728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Wofür?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kann begründen und Zusammenhänge zeigen – in jeder Analyse: „Die Ballade ist spannend, weil …“. Im Englischen bleibt das Verb vorne: because he is afraid.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72200" y="461772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EAF0F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355080" y="4681728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Steht am Anfang dass, als, weil, wenn …? Dann muss das finite Verb ans Ende – und davor ein Komma.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Markieren: Subjunktion einkreisen · finites Verb unterstreichen (Hilfsverb rot)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Ü3  Sätze verbinden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Grammatik in der Ballade: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365760" cy="36576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8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143560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Verbinde die Sätze mit der Subjunktion in Klammern.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365760" cy="36576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8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189280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ganzen Satz ins Heft. Denk an das Komma.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331720"/>
            <a:ext cx="365760" cy="36576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8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" y="235000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Kreise die Subjunktion ein, unterstreiche das finite Verb.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2880360"/>
            <a:ext cx="11064240" cy="2697480"/>
          </a:xfrm>
          <a:prstGeom prst="roundRect">
            <a:avLst>
              <a:gd name="adj" fmla="val 2712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29900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299008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trainiere heute länger. Am Samstag ist ein Wettkampf.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875520" y="29900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(weil)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41985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417320" y="3419856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Trainer sagt. Wir fahren nach Frankfurt (Oder).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875520" y="341985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(dass)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8496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417320" y="384962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war nervös. Ich stand auf der Matte.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9875520" y="38496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(als)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427939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417320" y="42793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gewinnen. Wir spielen als Team.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875520" y="42793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(wenn)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417320" y="4709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bin stolz. Ich habe 80 kg gestoßen.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9875520" y="4709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(weil)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51389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6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1417320" y="51389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Trainer fragt. Hast du gut geschlafen?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9875520" y="51389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(ob)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Minuten · allein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 · FEHLER FINDEN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Ü4  Was stimmt im Chat nicht?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Grammatik in der Ballade: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6583680" cy="4114800"/>
          </a:xfrm>
          <a:prstGeom prst="roundRect">
            <a:avLst>
              <a:gd name="adj" fmla="val 1778"/>
            </a:avLst>
          </a:prstGeom>
          <a:solidFill>
            <a:srgbClr val="E9EEF6"/>
          </a:solidFill>
          <a:ln/>
        </p:spPr>
      </p:sp>
      <p:sp>
        <p:nvSpPr>
          <p:cNvPr id="8" name="Shape 5"/>
          <p:cNvSpPr/>
          <p:nvPr/>
        </p:nvSpPr>
        <p:spPr>
          <a:xfrm>
            <a:off x="777240" y="1600200"/>
            <a:ext cx="4754880" cy="731520"/>
          </a:xfrm>
          <a:prstGeom prst="roundRect">
            <a:avLst>
              <a:gd name="adj" fmla="val 22500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17556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Komme später, weil ich muss noch duschen 🙈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2148840" y="2560320"/>
            <a:ext cx="4754880" cy="731520"/>
          </a:xfrm>
          <a:prstGeom prst="roundRect">
            <a:avLst>
              <a:gd name="adj" fmla="val 22500"/>
            </a:avLst>
          </a:prstGeom>
          <a:solidFill>
            <a:srgbClr val="DCF3E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331720" y="27157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Trainer hat gesagt, dass wir haben morgen frei!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77240" y="3520440"/>
            <a:ext cx="4754880" cy="731520"/>
          </a:xfrm>
          <a:prstGeom prst="roundRect">
            <a:avLst>
              <a:gd name="adj" fmla="val 2250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367588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Weißt du, ob kommt der Neue auch?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2148840" y="4480560"/>
            <a:ext cx="4754880" cy="731520"/>
          </a:xfrm>
          <a:prstGeom prst="roundRect">
            <a:avLst>
              <a:gd name="adj" fmla="val 22500"/>
            </a:avLst>
          </a:prstGeom>
          <a:solidFill>
            <a:srgbClr val="DCF3E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331720" y="46360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Ich freue mich weil wir frei haben 💪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406640" y="1645920"/>
            <a:ext cx="411480" cy="41148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0664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4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16459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Finde in jeder Nachricht den Fehler.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406640" y="2560320"/>
            <a:ext cx="411480" cy="41148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0664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40" dirty="0"/>
          </a:p>
        </p:txBody>
      </p:sp>
      <p:sp>
        <p:nvSpPr>
          <p:cNvPr id="21" name="Text 18"/>
          <p:cNvSpPr txBox="1"/>
          <p:nvPr/>
        </p:nvSpPr>
        <p:spPr>
          <a:xfrm>
            <a:off x="795528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Satz richtig ins Heft.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7406640" y="3474720"/>
            <a:ext cx="411480" cy="41148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406640" y="3474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40" dirty="0"/>
          </a:p>
        </p:txBody>
      </p:sp>
      <p:sp>
        <p:nvSpPr>
          <p:cNvPr id="24" name="Text 21"/>
          <p:cNvSpPr txBox="1"/>
          <p:nvPr/>
        </p:nvSpPr>
        <p:spPr>
          <a:xfrm>
            <a:off x="7955280" y="3474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Notiere: Verbstellung oder Komma?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zu zweit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VERARBEITEN · ZURÜCK ZUR BALLADE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* Ü5  Erkläre die Ballade mit Nebensätzen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Grammatik in der Ballade: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mindestens drei Sätze ins Heft. Kreise die Subjunktion ein und unterstreiche das finite Verb.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24028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2313432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versteckt sich im Bett, weil …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2862072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2935224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Schaya erzählt dem Schotten, dass …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8386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3557016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Schotte erschrickt, als …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4105656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" y="417880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Schotte flieht, weil …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72744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2960" y="480060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Nachbarn staunen, als …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allein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 erreicht?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Grammatik in der Ballade: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1463040"/>
            <a:ext cx="109728" cy="82296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645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1:  </a:t>
            </a:r>
            <a:pPr indent="0" marL="0">
              <a:buNone/>
            </a:pPr>
            <a:r>
              <a:rPr lang="en-US" sz="18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kann Fragen zum Inhalt der Ballade mit Textbeleg beantworten.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242316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11" name="Shape 8"/>
          <p:cNvSpPr/>
          <p:nvPr/>
        </p:nvSpPr>
        <p:spPr>
          <a:xfrm>
            <a:off x="548640" y="2423160"/>
            <a:ext cx="109728" cy="822960"/>
          </a:xfrm>
          <a:prstGeom prst="rect">
            <a:avLst/>
          </a:prstGeom>
          <a:solidFill>
            <a:srgbClr val="7A5BA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8680" y="2606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2:  </a:t>
            </a:r>
            <a:pPr indent="0" marL="0">
              <a:buNone/>
            </a:pPr>
            <a:r>
              <a:rPr lang="en-US" sz="18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kann Nebensätze mit Subjunktion erkennen und richtig bilden: Das finite Verb steht am Ende.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5204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AF0F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" y="363016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Forscherfrage: </a:t>
            </a:r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Strophe 3 steht: „Und als er stapfte durch den Sund“. Was ist hier anders – und warum macht der Dichter das?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846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Schreibe ins Heft:  Heute habe ich gelernt, …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Deutsch 7A – Mittwoch 4.11.</dc:title>
  <dc:subject>PptxGenJS Presentation</dc:subject>
  <dc:creator>PptxGenJS</dc:creator>
  <cp:lastModifiedBy>PptxGenJS</cp:lastModifiedBy>
  <cp:revision>1</cp:revision>
  <dcterms:created xsi:type="dcterms:W3CDTF">2026-10-31T10:30:23Z</dcterms:created>
  <dcterms:modified xsi:type="dcterms:W3CDTF">2026-10-31T10:30:23Z</dcterms:modified>
</cp:coreProperties>
</file>