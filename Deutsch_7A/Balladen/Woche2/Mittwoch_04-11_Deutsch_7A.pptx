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Anfang zeigen und am Ende noch einmal: Was haben wir geschafft? Ziele und Ablauf stehen zusätzlich an der Seitentafel.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A orientierend, weil ich nur eine Information suche · B überfliegend, weil ich nur wissen will, wie es ausgeht · C genau, weil ich etwas erklären soll. Die „weil“-Sätze aufheben: In Teil 2 schauen wir sie uns genauer an. Falls am Montag E (Überfliegen) nicht geschafft wurde: jetzt 1 Minute überfliegen lassen, Satz „In der Ballade geht es um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Methodenkarte Tandemlesen (Tandems lesestärker/leseschwächer). Herumgehen und zuhören.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 Wir: Lehrkraft zeigt an Strophe 1, was eine Strophe und was ein Vers ist, und zählt mit der Klasse die Verse. Im Lehrbuch auf die Verszählung am Rand hinweisen (5, 10, 15 …). Dann das Beleg-Format zeigen: Str. + V. + Zitat in Anführungszeichen. Der Merkkasten steht auch oben auf dem Arbeitsblatt zu Ü2.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auf der nächsten Folie. Beim Vergleich darauf achten: Anführungszeichen beim Zitat, Strophe UND 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 Grün verbessern. Rückbezug zu den Lesetechniken: Bei 2 und 3 lest ihr orientierend – ihr sucht eine bestimmte 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Arbeitsblatt austeilen. Die Aussagen sind bewusst in eigenen Worten formuliert: Die Schüler müssen die Stelle verstanden haben, um sie zu finden. Herumgehen; wer fertig ist, macht * Nr. 9. Lösungen auf den folgenden Aufdeck-Folien.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Wir prüfen jetzt gemeinsam, Aussage für Aussage. Wer drankommt, sagt: richtig oder falsch und den Beleg. Erst dann decke ich auf. Alle verbessern auf dem Arbeitsblatt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1: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2: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3: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4: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5: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6: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7: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8: erst einen Schüler Urteil und Beleg nennen lassen, bei falschen Aussagen auch „Richtig ist …“. Dann diese Folie zeigen.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Aussage 9: erst einen Schüler Urteil und Beleg nennen lassen, bei falschen Aussagen auch „Richtig ist …“. Dann diese Folie zeigen. Alle verbessern mit Grün. Nr. 9 ist eine Deutungsfrage: Die Ballade ist ironisch – der Feigling wird als Held gefeiert.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wenn die Zeit reicht; sonst Einstieg am Donnerstag. Die Stichwörter geben die Reihenfolge vor – keine fertigen Sätze. A erzählt Abschnitt 1–4, B Abschnitt 5–8, der andere hakt die Checkliste ab. Die Verknüpfungswörter (als, weil) knüpfen an Teil 2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Wiederholung aus der Verb-Einheit: Das finite Verb (die Personalform) richtet sich nach der Person. Lösung: war, lief – beide an Position 2 (nach dem ersten Satzglied). Merksatz der Verb-Einheit nicht wiederholen lassen, nur kurz fragen: Woran erkennst du das finite Verb? (ändert sich mit der Person: ich war, du warst).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dass … war · dass … erwacht · als … sah. Erstes Wort: dass, als (Subjunktion). Das finite Verb steht am Ende. Vor der Subjunktion steht ein Komma (im Gedicht teils am Versende). Überleitung: Das ist eine Regel – Merksatz-Schnipsel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Schnipsel austeilen und einkleben lassen (nicht abschreiben). Gemeinsam lesen. Bezug Verb-Einheit: Im Perfekt ist das Hilfsverb finit – es wandert ans Ende. Bezug Englisch: because he is afraid – dort bleibt das Verb vorne.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Ich trainiere heute länger, weil am Samstag ein Wettkampf ist. 2 Der Trainer sagt, dass wir nach Frankfurt (Oder) fahren. 3 Ich war nervös, als ich auf der Matte stand. 4 Wir gewinnen, wenn wir als Team spielen. 5 Ich bin stolz, weil ich 80 kg gestoßen habe. *6 Der Trainer fragt, ob ich gut geschlafen habe. Danach gemeinsam auf den Aufdeck-Folien prüfen: Wer drankommt, liest seinen Satz vor und sagt, wo das finite Verb steht.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1: erst einen Schüler vorlesen lassen und fragen, wo das finite Verb steht und wo das Komma hin muss.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2: erst einen Schüler vorlesen lassen und fragen, wo das finite Verb steht und wo das Komma hin muss.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3: erst einen Schüler vorlesen lassen und fragen, wo das finite Verb steht und wo das Komma hin muss.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4: erst einen Schüler vorlesen lassen und fragen, wo das finite Verb steht und wo das Komma hin muss.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5: erst einen Schüler vorlesen lassen und fragen, wo das finite Verb steht und wo das Komma hin muss. Dann aufdecken. Alle verbessern mit Grün. Nachfragen: Welches Verb ist finit? habe – das Hilfsverb (rot) wandert ans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Satz 6: erst einen Schüler vorlesen lassen und fragen, wo das finite Verb steht und wo das Komma hin muss. Dann aufdecken. Alle verbessern mit Grün. Auch richtig: …, ob du gut geschlafen hast.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wenn Zeit bleibt. Satzanfänge, keine fertigen Sätze. Mögliche Ergänzungen: … weil er Angst vor dem Schotten hat · … dass Paddy ein Baby sei/ist · … als er die riesige Nase sieht · … weil er glaubt, dass der Vater noch größer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 Forscherfrage mündlich: In Str. 3 steht „als er stapfte durch den Sund“ – das Verb steht nicht am Ende, wegen Reim und Rhythmus (Sund – stund). Dichter dürfen abweichen, im Aufsatz gilt die Regel. Dann Zielcheck allein im Heft (4 Min.), danach Lösungsfolie: Selbstkontrolle mit Grün. Herumgehen und schauen, wer noch Fehler hat – am Donnerstag in der Wiederholung aufgreifen.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 Grün verbessern. Wer bei 2 a oder 2 b einen Fehler hat, schaut sich den Merksatz noch einmal an. Am Donnerstag beginnt die Wiederholung genau mit diesen Fehlern.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926080" cy="384048"/>
          </a:xfrm>
          <a:prstGeom prst="roundRect">
            <a:avLst>
              <a:gd name="adj" fmla="val 50000"/>
            </a:avLst>
          </a:prstGeom>
          <a:solidFill>
            <a:srgbClr val="E8A33D"/>
          </a:solidFill>
          <a:ln/>
        </p:spPr>
      </p:sp>
      <p:sp>
        <p:nvSpPr>
          <p:cNvPr id="5" name="Text 3"/>
          <p:cNvSpPr txBox="1"/>
          <p:nvPr/>
        </p:nvSpPr>
        <p:spPr>
          <a:xfrm>
            <a:off x="822960" y="1874520"/>
            <a:ext cx="29260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MITTWOCH · 4.11.</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Deutsch 7A – Paddy Fingal: Inhalt und Sprachtraining</a:t>
            </a:r>
            <a:endParaRPr lang="en-US" sz="3800" dirty="0"/>
          </a:p>
        </p:txBody>
      </p:sp>
      <p:sp>
        <p:nvSpPr>
          <p:cNvPr id="7" name="Shape 5"/>
          <p:cNvSpPr/>
          <p:nvPr/>
        </p:nvSpPr>
        <p:spPr>
          <a:xfrm>
            <a:off x="822960" y="3749040"/>
            <a:ext cx="4480560" cy="640080"/>
          </a:xfrm>
          <a:prstGeom prst="roundRect">
            <a:avLst>
              <a:gd name="adj" fmla="val 50000"/>
            </a:avLst>
          </a:prstGeom>
          <a:solidFill>
            <a:srgbClr val="2E9E6B"/>
          </a:solidFill>
          <a:ln/>
        </p:spPr>
      </p:sp>
      <p:sp>
        <p:nvSpPr>
          <p:cNvPr id="8" name="Text 6"/>
          <p:cNvSpPr txBox="1"/>
          <p:nvPr/>
        </p:nvSpPr>
        <p:spPr>
          <a:xfrm>
            <a:off x="822960" y="3749040"/>
            <a:ext cx="44805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  Den Inhalt erschließen</a:t>
            </a:r>
            <a:endParaRPr lang="en-US" sz="2000" dirty="0"/>
          </a:p>
        </p:txBody>
      </p:sp>
      <p:sp>
        <p:nvSpPr>
          <p:cNvPr id="9" name="Shape 7"/>
          <p:cNvSpPr/>
          <p:nvPr/>
        </p:nvSpPr>
        <p:spPr>
          <a:xfrm>
            <a:off x="5577840" y="3749040"/>
            <a:ext cx="4480560" cy="640080"/>
          </a:xfrm>
          <a:prstGeom prst="roundRect">
            <a:avLst>
              <a:gd name="adj" fmla="val 50000"/>
            </a:avLst>
          </a:prstGeom>
          <a:solidFill>
            <a:srgbClr val="7A5BA6"/>
          </a:solidFill>
          <a:ln/>
        </p:spPr>
      </p:sp>
      <p:sp>
        <p:nvSpPr>
          <p:cNvPr id="10" name="Text 8"/>
          <p:cNvSpPr txBox="1"/>
          <p:nvPr/>
        </p:nvSpPr>
        <p:spPr>
          <a:xfrm>
            <a:off x="5577840" y="3749040"/>
            <a:ext cx="44805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  Sprachtraining an der Ballade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ÜBERBLICK</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Unsere Doppelstunde: Ablauf und Ziele</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Mittwoch, 4.11.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554480"/>
            <a:ext cx="11064240" cy="1828800"/>
          </a:xfrm>
          <a:prstGeom prst="roundRect">
            <a:avLst>
              <a:gd name="adj" fmla="val 4000"/>
            </a:avLst>
          </a:prstGeom>
          <a:solidFill>
            <a:srgbClr val="F4F7FD"/>
          </a:solidFill>
          <a:ln/>
        </p:spPr>
      </p:sp>
      <p:sp>
        <p:nvSpPr>
          <p:cNvPr id="8" name="Shape 5"/>
          <p:cNvSpPr/>
          <p:nvPr/>
        </p:nvSpPr>
        <p:spPr>
          <a:xfrm>
            <a:off x="548640" y="1554480"/>
            <a:ext cx="109728" cy="1828800"/>
          </a:xfrm>
          <a:prstGeom prst="rect">
            <a:avLst/>
          </a:prstGeom>
          <a:solidFill>
            <a:srgbClr val="2E9E6B"/>
          </a:solidFill>
          <a:ln/>
        </p:spPr>
      </p:sp>
      <p:sp>
        <p:nvSpPr>
          <p:cNvPr id="9" name="Shape 6"/>
          <p:cNvSpPr/>
          <p:nvPr/>
        </p:nvSpPr>
        <p:spPr>
          <a:xfrm>
            <a:off x="868680" y="1828800"/>
            <a:ext cx="548640" cy="548640"/>
          </a:xfrm>
          <a:prstGeom prst="ellipse">
            <a:avLst/>
          </a:prstGeom>
          <a:solidFill>
            <a:srgbClr val="2E9E6B"/>
          </a:solidFill>
          <a:ln/>
        </p:spPr>
      </p:sp>
      <p:sp>
        <p:nvSpPr>
          <p:cNvPr id="10" name="Text 7"/>
          <p:cNvSpPr txBox="1"/>
          <p:nvPr/>
        </p:nvSpPr>
        <p:spPr>
          <a:xfrm>
            <a:off x="868680" y="1828800"/>
            <a:ext cx="548640" cy="548640"/>
          </a:xfrm>
          <a:prstGeom prst="rect">
            <a:avLst/>
          </a:prstGeom>
          <a:noFill/>
          <a:ln/>
        </p:spPr>
        <p:txBody>
          <a:bodyPr wrap="square" lIns="0" tIns="0" rIns="0" bIns="0" rtlCol="0" anchor="ctr"/>
          <a:lstStyle/>
          <a:p>
            <a:pPr algn="ctr" indent="0" marL="0">
              <a:buNone/>
            </a:pPr>
            <a:r>
              <a:rPr lang="en-US" sz="1920" b="1" dirty="0">
                <a:solidFill>
                  <a:srgbClr val="FFFFFF"/>
                </a:solidFill>
                <a:latin typeface="Calibri" pitchFamily="34" charset="0"/>
                <a:ea typeface="Calibri" pitchFamily="34" charset="-122"/>
                <a:cs typeface="Calibri" pitchFamily="34" charset="-120"/>
              </a:rPr>
              <a:t>1</a:t>
            </a:r>
            <a:endParaRPr lang="en-US" sz="1920" dirty="0"/>
          </a:p>
        </p:txBody>
      </p:sp>
      <p:sp>
        <p:nvSpPr>
          <p:cNvPr id="11" name="Text 8"/>
          <p:cNvSpPr txBox="1"/>
          <p:nvPr/>
        </p:nvSpPr>
        <p:spPr>
          <a:xfrm>
            <a:off x="1645920" y="1719072"/>
            <a:ext cx="7863840" cy="457200"/>
          </a:xfrm>
          <a:prstGeom prst="rect">
            <a:avLst/>
          </a:prstGeom>
          <a:noFill/>
          <a:ln/>
        </p:spPr>
        <p:txBody>
          <a:bodyPr wrap="square" lIns="0" tIns="0" rIns="0" bIns="0" rtlCol="0" anchor="t"/>
          <a:lstStyle/>
          <a:p>
            <a:pPr indent="0" marL="0">
              <a:buNone/>
            </a:pPr>
            <a:r>
              <a:rPr lang="en-US" sz="2200" b="1" dirty="0">
                <a:solidFill>
                  <a:srgbClr val="1E2761"/>
                </a:solidFill>
                <a:latin typeface="Cambria" pitchFamily="34" charset="0"/>
                <a:ea typeface="Cambria" pitchFamily="34" charset="-122"/>
                <a:cs typeface="Cambria" pitchFamily="34" charset="-120"/>
              </a:rPr>
              <a:t>Paddy Fingal – den Inhalt erschließen</a:t>
            </a:r>
            <a:endParaRPr lang="en-US" sz="2200" dirty="0"/>
          </a:p>
        </p:txBody>
      </p:sp>
      <p:sp>
        <p:nvSpPr>
          <p:cNvPr id="12" name="Text 9"/>
          <p:cNvSpPr txBox="1"/>
          <p:nvPr/>
        </p:nvSpPr>
        <p:spPr>
          <a:xfrm>
            <a:off x="9692640" y="1737360"/>
            <a:ext cx="1737360" cy="365760"/>
          </a:xfrm>
          <a:prstGeom prst="rect">
            <a:avLst/>
          </a:prstGeom>
          <a:noFill/>
          <a:ln/>
        </p:spPr>
        <p:txBody>
          <a:bodyPr wrap="square" lIns="0" tIns="0" rIns="0" bIns="0" rtlCol="0" anchor="t"/>
          <a:lstStyle/>
          <a:p>
            <a:pPr algn="r" indent="0" marL="0">
              <a:buNone/>
            </a:pPr>
            <a:r>
              <a:rPr lang="en-US" sz="1600" b="1" dirty="0">
                <a:solidFill>
                  <a:srgbClr val="2E9E6B"/>
                </a:solidFill>
                <a:latin typeface="Calibri" pitchFamily="34" charset="0"/>
                <a:ea typeface="Calibri" pitchFamily="34" charset="-122"/>
                <a:cs typeface="Calibri" pitchFamily="34" charset="-120"/>
              </a:rPr>
              <a:t>ca. 45 Min.</a:t>
            </a:r>
            <a:endParaRPr lang="en-US" sz="1600" dirty="0"/>
          </a:p>
        </p:txBody>
      </p:sp>
      <p:sp>
        <p:nvSpPr>
          <p:cNvPr id="13" name="Text 10"/>
          <p:cNvSpPr txBox="1"/>
          <p:nvPr/>
        </p:nvSpPr>
        <p:spPr>
          <a:xfrm>
            <a:off x="1645920" y="2212848"/>
            <a:ext cx="9784080" cy="457200"/>
          </a:xfrm>
          <a:prstGeom prst="rect">
            <a:avLst/>
          </a:prstGeom>
          <a:noFill/>
          <a:ln/>
        </p:spPr>
        <p:txBody>
          <a:bodyPr wrap="square" lIns="0" tIns="0" rIns="0" bIns="0" rtlCol="0" anchor="t"/>
          <a:lstStyle/>
          <a:p>
            <a:pPr indent="0" marL="0">
              <a:buNone/>
            </a:pPr>
            <a:r>
              <a:rPr lang="en-US" sz="1700" b="1" dirty="0">
                <a:solidFill>
                  <a:srgbClr val="2E9E6B"/>
                </a:solidFill>
                <a:latin typeface="Calibri" pitchFamily="34" charset="0"/>
                <a:ea typeface="Calibri" pitchFamily="34" charset="-122"/>
                <a:cs typeface="Calibri" pitchFamily="34" charset="-120"/>
              </a:rPr>
              <a:t>Ziel: </a:t>
            </a:r>
            <a:pPr indent="0" marL="0">
              <a:buNone/>
            </a:pPr>
            <a:r>
              <a:rPr lang="en-US" sz="1700" i="1" dirty="0">
                <a:solidFill>
                  <a:srgbClr val="1E2761"/>
                </a:solidFill>
                <a:latin typeface="Calibri" pitchFamily="34" charset="0"/>
                <a:ea typeface="Calibri" pitchFamily="34" charset="-122"/>
                <a:cs typeface="Calibri" pitchFamily="34" charset="-120"/>
              </a:rPr>
              <a:t>Ich kann mit Strophe und Vers belegen, ob Aussagen zur Ballade richtig oder falsch sind.</a:t>
            </a:r>
            <a:endParaRPr lang="en-US" sz="1700" dirty="0"/>
          </a:p>
        </p:txBody>
      </p:sp>
      <p:sp>
        <p:nvSpPr>
          <p:cNvPr id="14" name="Text 11"/>
          <p:cNvSpPr txBox="1"/>
          <p:nvPr/>
        </p:nvSpPr>
        <p:spPr>
          <a:xfrm>
            <a:off x="1645920" y="2761488"/>
            <a:ext cx="9784080" cy="457200"/>
          </a:xfrm>
          <a:prstGeom prst="rect">
            <a:avLst/>
          </a:prstGeom>
          <a:noFill/>
          <a:ln/>
        </p:spPr>
        <p:txBody>
          <a:bodyPr wrap="square" lIns="0" tIns="0" rIns="0" bIns="0" rtlCol="0" anchor="t"/>
          <a:lstStyle/>
          <a:p>
            <a:pPr indent="0" marL="0">
              <a:buNone/>
            </a:pPr>
            <a:r>
              <a:rPr lang="en-US" sz="1500" dirty="0">
                <a:solidFill>
                  <a:srgbClr val="5B6B8C"/>
                </a:solidFill>
                <a:latin typeface="Calibri" pitchFamily="34" charset="0"/>
                <a:ea typeface="Calibri" pitchFamily="34" charset="-122"/>
                <a:cs typeface="Calibri" pitchFamily="34" charset="-120"/>
              </a:rPr>
              <a:t>Wiederholung Lesetechniken · Tandemlesen · Aufbau einer Ballade · Ü1 Belege finden · Ü2 Aussagen prüfen · * Ü3 nacherzählen</a:t>
            </a:r>
            <a:endParaRPr lang="en-US" sz="1500" dirty="0"/>
          </a:p>
        </p:txBody>
      </p:sp>
      <p:sp>
        <p:nvSpPr>
          <p:cNvPr id="15" name="Shape 12"/>
          <p:cNvSpPr/>
          <p:nvPr/>
        </p:nvSpPr>
        <p:spPr>
          <a:xfrm>
            <a:off x="548640" y="3611880"/>
            <a:ext cx="11064240" cy="1828800"/>
          </a:xfrm>
          <a:prstGeom prst="roundRect">
            <a:avLst>
              <a:gd name="adj" fmla="val 4000"/>
            </a:avLst>
          </a:prstGeom>
          <a:solidFill>
            <a:srgbClr val="F4F7FD"/>
          </a:solidFill>
          <a:ln/>
        </p:spPr>
      </p:sp>
      <p:sp>
        <p:nvSpPr>
          <p:cNvPr id="16" name="Shape 13"/>
          <p:cNvSpPr/>
          <p:nvPr/>
        </p:nvSpPr>
        <p:spPr>
          <a:xfrm>
            <a:off x="548640" y="3611880"/>
            <a:ext cx="109728" cy="1828800"/>
          </a:xfrm>
          <a:prstGeom prst="rect">
            <a:avLst/>
          </a:prstGeom>
          <a:solidFill>
            <a:srgbClr val="7A5BA6"/>
          </a:solidFill>
          <a:ln/>
        </p:spPr>
      </p:sp>
      <p:sp>
        <p:nvSpPr>
          <p:cNvPr id="17" name="Shape 14"/>
          <p:cNvSpPr/>
          <p:nvPr/>
        </p:nvSpPr>
        <p:spPr>
          <a:xfrm>
            <a:off x="868680" y="3886200"/>
            <a:ext cx="548640" cy="548640"/>
          </a:xfrm>
          <a:prstGeom prst="ellipse">
            <a:avLst/>
          </a:prstGeom>
          <a:solidFill>
            <a:srgbClr val="7A5BA6"/>
          </a:solidFill>
          <a:ln/>
        </p:spPr>
      </p:sp>
      <p:sp>
        <p:nvSpPr>
          <p:cNvPr id="18" name="Text 15"/>
          <p:cNvSpPr txBox="1"/>
          <p:nvPr/>
        </p:nvSpPr>
        <p:spPr>
          <a:xfrm>
            <a:off x="868680" y="3886200"/>
            <a:ext cx="548640" cy="548640"/>
          </a:xfrm>
          <a:prstGeom prst="rect">
            <a:avLst/>
          </a:prstGeom>
          <a:noFill/>
          <a:ln/>
        </p:spPr>
        <p:txBody>
          <a:bodyPr wrap="square" lIns="0" tIns="0" rIns="0" bIns="0" rtlCol="0" anchor="ctr"/>
          <a:lstStyle/>
          <a:p>
            <a:pPr algn="ctr" indent="0" marL="0">
              <a:buNone/>
            </a:pPr>
            <a:r>
              <a:rPr lang="en-US" sz="1920" b="1" dirty="0">
                <a:solidFill>
                  <a:srgbClr val="FFFFFF"/>
                </a:solidFill>
                <a:latin typeface="Calibri" pitchFamily="34" charset="0"/>
                <a:ea typeface="Calibri" pitchFamily="34" charset="-122"/>
                <a:cs typeface="Calibri" pitchFamily="34" charset="-120"/>
              </a:rPr>
              <a:t>2</a:t>
            </a:r>
            <a:endParaRPr lang="en-US" sz="1920" dirty="0"/>
          </a:p>
        </p:txBody>
      </p:sp>
      <p:sp>
        <p:nvSpPr>
          <p:cNvPr id="19" name="Text 16"/>
          <p:cNvSpPr txBox="1"/>
          <p:nvPr/>
        </p:nvSpPr>
        <p:spPr>
          <a:xfrm>
            <a:off x="1645920" y="3776472"/>
            <a:ext cx="7863840" cy="457200"/>
          </a:xfrm>
          <a:prstGeom prst="rect">
            <a:avLst/>
          </a:prstGeom>
          <a:noFill/>
          <a:ln/>
        </p:spPr>
        <p:txBody>
          <a:bodyPr wrap="square" lIns="0" tIns="0" rIns="0" bIns="0" rtlCol="0" anchor="t"/>
          <a:lstStyle/>
          <a:p>
            <a:pPr indent="0" marL="0">
              <a:buNone/>
            </a:pPr>
            <a:r>
              <a:rPr lang="en-US" sz="2200" b="1" dirty="0">
                <a:solidFill>
                  <a:srgbClr val="1E2761"/>
                </a:solidFill>
                <a:latin typeface="Cambria" pitchFamily="34" charset="0"/>
                <a:ea typeface="Cambria" pitchFamily="34" charset="-122"/>
                <a:cs typeface="Cambria" pitchFamily="34" charset="-120"/>
              </a:rPr>
              <a:t>Sprachtraining: Nebensätze mit Subjunktion</a:t>
            </a:r>
            <a:endParaRPr lang="en-US" sz="2200" dirty="0"/>
          </a:p>
        </p:txBody>
      </p:sp>
      <p:sp>
        <p:nvSpPr>
          <p:cNvPr id="20" name="Text 17"/>
          <p:cNvSpPr txBox="1"/>
          <p:nvPr/>
        </p:nvSpPr>
        <p:spPr>
          <a:xfrm>
            <a:off x="9692640" y="3794760"/>
            <a:ext cx="1737360" cy="365760"/>
          </a:xfrm>
          <a:prstGeom prst="rect">
            <a:avLst/>
          </a:prstGeom>
          <a:noFill/>
          <a:ln/>
        </p:spPr>
        <p:txBody>
          <a:bodyPr wrap="square" lIns="0" tIns="0" rIns="0" bIns="0" rtlCol="0" anchor="t"/>
          <a:lstStyle/>
          <a:p>
            <a:pPr algn="r" indent="0" marL="0">
              <a:buNone/>
            </a:pPr>
            <a:r>
              <a:rPr lang="en-US" sz="1600" b="1" dirty="0">
                <a:solidFill>
                  <a:srgbClr val="7A5BA6"/>
                </a:solidFill>
                <a:latin typeface="Calibri" pitchFamily="34" charset="0"/>
                <a:ea typeface="Calibri" pitchFamily="34" charset="-122"/>
                <a:cs typeface="Calibri" pitchFamily="34" charset="-120"/>
              </a:rPr>
              <a:t>ca. 40 Min.</a:t>
            </a:r>
            <a:endParaRPr lang="en-US" sz="1600" dirty="0"/>
          </a:p>
        </p:txBody>
      </p:sp>
      <p:sp>
        <p:nvSpPr>
          <p:cNvPr id="21" name="Text 18"/>
          <p:cNvSpPr txBox="1"/>
          <p:nvPr/>
        </p:nvSpPr>
        <p:spPr>
          <a:xfrm>
            <a:off x="1645920" y="4270248"/>
            <a:ext cx="9784080" cy="45720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Ziel: </a:t>
            </a:r>
            <a:pPr indent="0" marL="0">
              <a:buNone/>
            </a:pPr>
            <a:r>
              <a:rPr lang="en-US" sz="1700" i="1" dirty="0">
                <a:solidFill>
                  <a:srgbClr val="1E2761"/>
                </a:solidFill>
                <a:latin typeface="Calibri" pitchFamily="34" charset="0"/>
                <a:ea typeface="Calibri" pitchFamily="34" charset="-122"/>
                <a:cs typeface="Calibri" pitchFamily="34" charset="-120"/>
              </a:rPr>
              <a:t>Ich kann Nebensätze mit Subjunktion erkennen und richtig bilden: Das finite Verb steht am Ende.</a:t>
            </a:r>
            <a:endParaRPr lang="en-US" sz="1700" dirty="0"/>
          </a:p>
        </p:txBody>
      </p:sp>
      <p:sp>
        <p:nvSpPr>
          <p:cNvPr id="22" name="Text 19"/>
          <p:cNvSpPr txBox="1"/>
          <p:nvPr/>
        </p:nvSpPr>
        <p:spPr>
          <a:xfrm>
            <a:off x="1645920" y="4818888"/>
            <a:ext cx="9784080" cy="457200"/>
          </a:xfrm>
          <a:prstGeom prst="rect">
            <a:avLst/>
          </a:prstGeom>
          <a:noFill/>
          <a:ln/>
        </p:spPr>
        <p:txBody>
          <a:bodyPr wrap="square" lIns="0" tIns="0" rIns="0" bIns="0" rtlCol="0" anchor="t"/>
          <a:lstStyle/>
          <a:p>
            <a:pPr indent="0" marL="0">
              <a:buNone/>
            </a:pPr>
            <a:r>
              <a:rPr lang="en-US" sz="1500" dirty="0">
                <a:solidFill>
                  <a:srgbClr val="5B6B8C"/>
                </a:solidFill>
                <a:latin typeface="Calibri" pitchFamily="34" charset="0"/>
                <a:ea typeface="Calibri" pitchFamily="34" charset="-122"/>
                <a:cs typeface="Calibri" pitchFamily="34" charset="-120"/>
              </a:rPr>
              <a:t>Ü4 Entdecken in der Ballade · Merksatz · Ü5 Sätze verbinden · * Ü6 zurück zur Ballade</a:t>
            </a:r>
            <a:endParaRPr lang="en-US" sz="1500" dirty="0"/>
          </a:p>
        </p:txBody>
      </p:sp>
      <p:sp>
        <p:nvSpPr>
          <p:cNvPr id="23" name="Text 20"/>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 = nur, wenn die Zeit reicht. Am Ende: Zielcheck – zwei kurze Aufgaben zu unseren Zielen.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011680" cy="384048"/>
          </a:xfrm>
          <a:prstGeom prst="roundRect">
            <a:avLst>
              <a:gd name="adj" fmla="val 50000"/>
            </a:avLst>
          </a:prstGeom>
          <a:solidFill>
            <a:srgbClr val="2E9E6B"/>
          </a:solidFill>
          <a:ln/>
        </p:spPr>
      </p:sp>
      <p:sp>
        <p:nvSpPr>
          <p:cNvPr id="5" name="Text 3"/>
          <p:cNvSpPr txBox="1"/>
          <p:nvPr/>
        </p:nvSpPr>
        <p:spPr>
          <a:xfrm>
            <a:off x="822960" y="1874520"/>
            <a:ext cx="20116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TEIL 1</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Paddy Fingal – den Inhalt erschließen</a:t>
            </a:r>
            <a:endParaRPr lang="en-US" sz="4000" dirty="0"/>
          </a:p>
        </p:txBody>
      </p:sp>
      <p:sp>
        <p:nvSpPr>
          <p:cNvPr id="7" name="Text 5"/>
          <p:cNvSpPr txBox="1"/>
          <p:nvPr/>
        </p:nvSpPr>
        <p:spPr>
          <a:xfrm>
            <a:off x="822960" y="3429000"/>
            <a:ext cx="10515600" cy="457200"/>
          </a:xfrm>
          <a:prstGeom prst="rect">
            <a:avLst/>
          </a:prstGeom>
          <a:noFill/>
          <a:ln/>
        </p:spPr>
        <p:txBody>
          <a:bodyPr wrap="square" lIns="0" tIns="0" rIns="0" bIns="0" rtlCol="0" anchor="t"/>
          <a:lstStyle/>
          <a:p>
            <a:pPr indent="0" marL="0">
              <a:buNone/>
            </a:pPr>
            <a:r>
              <a:rPr lang="en-US" sz="2000" i="1" dirty="0">
                <a:solidFill>
                  <a:srgbClr val="CADCFC"/>
                </a:solidFill>
                <a:latin typeface="Calibri" pitchFamily="34" charset="0"/>
                <a:ea typeface="Calibri" pitchFamily="34" charset="-122"/>
                <a:cs typeface="Calibri" pitchFamily="34" charset="-120"/>
              </a:rPr>
              <a:t>Wilhelm Brandes · Lehrbuch S. 136 f.</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VORWISSEN AKTIVIEREN · WIEDERHOLUNG</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Welche Lesetechnik brauchst du? Begründe mit „weil“.</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600200"/>
            <a:ext cx="11064240" cy="914400"/>
          </a:xfrm>
          <a:prstGeom prst="roundRect">
            <a:avLst>
              <a:gd name="adj" fmla="val 8000"/>
            </a:avLst>
          </a:prstGeom>
          <a:solidFill>
            <a:srgbClr val="F4F7FD"/>
          </a:solidFill>
          <a:ln/>
        </p:spPr>
      </p:sp>
      <p:sp>
        <p:nvSpPr>
          <p:cNvPr id="8" name="Text 5"/>
          <p:cNvSpPr txBox="1"/>
          <p:nvPr/>
        </p:nvSpPr>
        <p:spPr>
          <a:xfrm>
            <a:off x="822960" y="1719072"/>
            <a:ext cx="731520" cy="640080"/>
          </a:xfrm>
          <a:prstGeom prst="rect">
            <a:avLst/>
          </a:prstGeom>
          <a:noFill/>
          <a:ln/>
        </p:spPr>
        <p:txBody>
          <a:bodyPr wrap="square" lIns="0" tIns="0" rIns="0" bIns="0" rtlCol="0" anchor="t"/>
          <a:lstStyle/>
          <a:p>
            <a:pPr indent="0" marL="0">
              <a:buNone/>
            </a:pPr>
            <a:r>
              <a:rPr lang="en-US" sz="3400" b="1" dirty="0">
                <a:solidFill>
                  <a:srgbClr val="2E9E6B"/>
                </a:solidFill>
                <a:latin typeface="Cambria" pitchFamily="34" charset="0"/>
                <a:ea typeface="Cambria" pitchFamily="34" charset="-122"/>
                <a:cs typeface="Cambria" pitchFamily="34" charset="-120"/>
              </a:rPr>
              <a:t>A</a:t>
            </a:r>
            <a:endParaRPr lang="en-US" sz="3400" dirty="0"/>
          </a:p>
        </p:txBody>
      </p:sp>
      <p:sp>
        <p:nvSpPr>
          <p:cNvPr id="9" name="Text 6"/>
          <p:cNvSpPr txBox="1"/>
          <p:nvPr/>
        </p:nvSpPr>
        <p:spPr>
          <a:xfrm>
            <a:off x="1645920" y="1847088"/>
            <a:ext cx="9692640" cy="548640"/>
          </a:xfrm>
          <a:prstGeom prst="rect">
            <a:avLst/>
          </a:prstGeom>
          <a:noFill/>
          <a:ln/>
        </p:spPr>
        <p:txBody>
          <a:bodyPr wrap="square" lIns="0" tIns="0" rIns="0" bIns="0" rtlCol="0" anchor="t"/>
          <a:lstStyle/>
          <a:p>
            <a:pPr indent="0" marL="0">
              <a:buNone/>
            </a:pPr>
            <a:r>
              <a:rPr lang="en-US" sz="2200" dirty="0">
                <a:solidFill>
                  <a:srgbClr val="1E2761"/>
                </a:solidFill>
                <a:latin typeface="Calibri" pitchFamily="34" charset="0"/>
                <a:ea typeface="Calibri" pitchFamily="34" charset="-122"/>
                <a:cs typeface="Calibri" pitchFamily="34" charset="-120"/>
              </a:rPr>
              <a:t>Du willst wissen, woher der Fremde kommt.</a:t>
            </a:r>
            <a:endParaRPr lang="en-US" sz="2200" dirty="0"/>
          </a:p>
        </p:txBody>
      </p:sp>
      <p:sp>
        <p:nvSpPr>
          <p:cNvPr id="10" name="Shape 7"/>
          <p:cNvSpPr/>
          <p:nvPr/>
        </p:nvSpPr>
        <p:spPr>
          <a:xfrm>
            <a:off x="548640" y="2697480"/>
            <a:ext cx="11064240" cy="914400"/>
          </a:xfrm>
          <a:prstGeom prst="roundRect">
            <a:avLst>
              <a:gd name="adj" fmla="val 8000"/>
            </a:avLst>
          </a:prstGeom>
          <a:solidFill>
            <a:srgbClr val="F4F7FD"/>
          </a:solidFill>
          <a:ln/>
        </p:spPr>
      </p:sp>
      <p:sp>
        <p:nvSpPr>
          <p:cNvPr id="11" name="Text 8"/>
          <p:cNvSpPr txBox="1"/>
          <p:nvPr/>
        </p:nvSpPr>
        <p:spPr>
          <a:xfrm>
            <a:off x="822960" y="2816352"/>
            <a:ext cx="731520" cy="640080"/>
          </a:xfrm>
          <a:prstGeom prst="rect">
            <a:avLst/>
          </a:prstGeom>
          <a:noFill/>
          <a:ln/>
        </p:spPr>
        <p:txBody>
          <a:bodyPr wrap="square" lIns="0" tIns="0" rIns="0" bIns="0" rtlCol="0" anchor="t"/>
          <a:lstStyle/>
          <a:p>
            <a:pPr indent="0" marL="0">
              <a:buNone/>
            </a:pPr>
            <a:r>
              <a:rPr lang="en-US" sz="3400" b="1" dirty="0">
                <a:solidFill>
                  <a:srgbClr val="2E9E6B"/>
                </a:solidFill>
                <a:latin typeface="Cambria" pitchFamily="34" charset="0"/>
                <a:ea typeface="Cambria" pitchFamily="34" charset="-122"/>
                <a:cs typeface="Cambria" pitchFamily="34" charset="-120"/>
              </a:rPr>
              <a:t>B</a:t>
            </a:r>
            <a:endParaRPr lang="en-US" sz="3400" dirty="0"/>
          </a:p>
        </p:txBody>
      </p:sp>
      <p:sp>
        <p:nvSpPr>
          <p:cNvPr id="12" name="Text 9"/>
          <p:cNvSpPr txBox="1"/>
          <p:nvPr/>
        </p:nvSpPr>
        <p:spPr>
          <a:xfrm>
            <a:off x="1645920" y="2944368"/>
            <a:ext cx="9692640" cy="548640"/>
          </a:xfrm>
          <a:prstGeom prst="rect">
            <a:avLst/>
          </a:prstGeom>
          <a:noFill/>
          <a:ln/>
        </p:spPr>
        <p:txBody>
          <a:bodyPr wrap="square" lIns="0" tIns="0" rIns="0" bIns="0" rtlCol="0" anchor="t"/>
          <a:lstStyle/>
          <a:p>
            <a:pPr indent="0" marL="0">
              <a:buNone/>
            </a:pPr>
            <a:r>
              <a:rPr lang="en-US" sz="2200" dirty="0">
                <a:solidFill>
                  <a:srgbClr val="1E2761"/>
                </a:solidFill>
                <a:latin typeface="Calibri" pitchFamily="34" charset="0"/>
                <a:ea typeface="Calibri" pitchFamily="34" charset="-122"/>
                <a:cs typeface="Calibri" pitchFamily="34" charset="-120"/>
              </a:rPr>
              <a:t>Du willst wissen, ob die Ballade gut ausgeht.</a:t>
            </a:r>
            <a:endParaRPr lang="en-US" sz="2200" dirty="0"/>
          </a:p>
        </p:txBody>
      </p:sp>
      <p:sp>
        <p:nvSpPr>
          <p:cNvPr id="13" name="Shape 10"/>
          <p:cNvSpPr/>
          <p:nvPr/>
        </p:nvSpPr>
        <p:spPr>
          <a:xfrm>
            <a:off x="548640" y="3794760"/>
            <a:ext cx="11064240" cy="914400"/>
          </a:xfrm>
          <a:prstGeom prst="roundRect">
            <a:avLst>
              <a:gd name="adj" fmla="val 8000"/>
            </a:avLst>
          </a:prstGeom>
          <a:solidFill>
            <a:srgbClr val="F4F7FD"/>
          </a:solidFill>
          <a:ln/>
        </p:spPr>
      </p:sp>
      <p:sp>
        <p:nvSpPr>
          <p:cNvPr id="14" name="Text 11"/>
          <p:cNvSpPr txBox="1"/>
          <p:nvPr/>
        </p:nvSpPr>
        <p:spPr>
          <a:xfrm>
            <a:off x="822960" y="3913632"/>
            <a:ext cx="731520" cy="640080"/>
          </a:xfrm>
          <a:prstGeom prst="rect">
            <a:avLst/>
          </a:prstGeom>
          <a:noFill/>
          <a:ln/>
        </p:spPr>
        <p:txBody>
          <a:bodyPr wrap="square" lIns="0" tIns="0" rIns="0" bIns="0" rtlCol="0" anchor="t"/>
          <a:lstStyle/>
          <a:p>
            <a:pPr indent="0" marL="0">
              <a:buNone/>
            </a:pPr>
            <a:r>
              <a:rPr lang="en-US" sz="3400" b="1" dirty="0">
                <a:solidFill>
                  <a:srgbClr val="2E9E6B"/>
                </a:solidFill>
                <a:latin typeface="Cambria" pitchFamily="34" charset="0"/>
                <a:ea typeface="Cambria" pitchFamily="34" charset="-122"/>
                <a:cs typeface="Cambria" pitchFamily="34" charset="-120"/>
              </a:rPr>
              <a:t>C</a:t>
            </a:r>
            <a:endParaRPr lang="en-US" sz="3400" dirty="0"/>
          </a:p>
        </p:txBody>
      </p:sp>
      <p:sp>
        <p:nvSpPr>
          <p:cNvPr id="15" name="Text 12"/>
          <p:cNvSpPr txBox="1"/>
          <p:nvPr/>
        </p:nvSpPr>
        <p:spPr>
          <a:xfrm>
            <a:off x="1645920" y="4041648"/>
            <a:ext cx="9692640" cy="548640"/>
          </a:xfrm>
          <a:prstGeom prst="rect">
            <a:avLst/>
          </a:prstGeom>
          <a:noFill/>
          <a:ln/>
        </p:spPr>
        <p:txBody>
          <a:bodyPr wrap="square" lIns="0" tIns="0" rIns="0" bIns="0" rtlCol="0" anchor="t"/>
          <a:lstStyle/>
          <a:p>
            <a:pPr indent="0" marL="0">
              <a:buNone/>
            </a:pPr>
            <a:r>
              <a:rPr lang="en-US" sz="2200" dirty="0">
                <a:solidFill>
                  <a:srgbClr val="1E2761"/>
                </a:solidFill>
                <a:latin typeface="Calibri" pitchFamily="34" charset="0"/>
                <a:ea typeface="Calibri" pitchFamily="34" charset="-122"/>
                <a:cs typeface="Calibri" pitchFamily="34" charset="-120"/>
              </a:rPr>
              <a:t>Du sollst erklären, welche List Paddys Frau anwendet.</a:t>
            </a:r>
            <a:endParaRPr lang="en-US" sz="2200" dirty="0"/>
          </a:p>
        </p:txBody>
      </p:sp>
      <p:sp>
        <p:nvSpPr>
          <p:cNvPr id="16" name="Text 13"/>
          <p:cNvSpPr txBox="1"/>
          <p:nvPr/>
        </p:nvSpPr>
        <p:spPr>
          <a:xfrm>
            <a:off x="548640" y="4983480"/>
            <a:ext cx="11064240" cy="457200"/>
          </a:xfrm>
          <a:prstGeom prst="rect">
            <a:avLst/>
          </a:prstGeom>
          <a:noFill/>
          <a:ln/>
        </p:spPr>
        <p:txBody>
          <a:bodyPr wrap="square" lIns="0" tIns="0" rIns="0" bIns="0" rtlCol="0" anchor="t"/>
          <a:lstStyle/>
          <a:p>
            <a:pPr indent="0" marL="0">
              <a:buNone/>
            </a:pPr>
            <a:r>
              <a:rPr lang="en-US" sz="2000" b="1" dirty="0">
                <a:solidFill>
                  <a:srgbClr val="1E2761"/>
                </a:solidFill>
                <a:latin typeface="Calibri" pitchFamily="34" charset="0"/>
                <a:ea typeface="Calibri" pitchFamily="34" charset="-122"/>
                <a:cs typeface="Calibri" pitchFamily="34" charset="-120"/>
              </a:rPr>
              <a:t>Schreibe ins Heft: </a:t>
            </a:r>
            <a:pPr indent="0" marL="0">
              <a:buNone/>
            </a:pPr>
            <a:r>
              <a:rPr lang="en-US" sz="2000" dirty="0">
                <a:solidFill>
                  <a:srgbClr val="1E2761"/>
                </a:solidFill>
                <a:latin typeface="Calibri" pitchFamily="34" charset="0"/>
                <a:ea typeface="Calibri" pitchFamily="34" charset="-122"/>
                <a:cs typeface="Calibri" pitchFamily="34" charset="-120"/>
              </a:rPr>
              <a:t>A orientierend, weil …</a:t>
            </a:r>
            <a:endParaRPr lang="en-US" sz="2000" dirty="0"/>
          </a:p>
        </p:txBody>
      </p:sp>
      <p:sp>
        <p:nvSpPr>
          <p:cNvPr id="17" name="Shape 14"/>
          <p:cNvSpPr/>
          <p:nvPr/>
        </p:nvSpPr>
        <p:spPr>
          <a:xfrm>
            <a:off x="548640" y="5715000"/>
            <a:ext cx="11064240" cy="502920"/>
          </a:xfrm>
          <a:prstGeom prst="roundRect">
            <a:avLst>
              <a:gd name="adj" fmla="val 14545"/>
            </a:avLst>
          </a:prstGeom>
          <a:solidFill>
            <a:srgbClr val="EAF0FA"/>
          </a:solidFill>
          <a:ln/>
        </p:spPr>
      </p:sp>
      <p:sp>
        <p:nvSpPr>
          <p:cNvPr id="18" name="Text 15"/>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3 Minuten · allein, dann mit dem Nachbarn vergleichen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LESEN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Paddy Fingal im Tandem lesen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600200"/>
            <a:ext cx="457200" cy="457200"/>
          </a:xfrm>
          <a:prstGeom prst="ellipse">
            <a:avLst/>
          </a:prstGeom>
          <a:solidFill>
            <a:srgbClr val="1E2761"/>
          </a:solidFill>
          <a:ln/>
        </p:spPr>
      </p:sp>
      <p:sp>
        <p:nvSpPr>
          <p:cNvPr id="8" name="Text 5"/>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3677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Lest die Ballade im Tandem: abwechselnd Strophe für Strophe.</a:t>
            </a:r>
            <a:endParaRPr lang="en-US" sz="2100" dirty="0"/>
          </a:p>
        </p:txBody>
      </p:sp>
      <p:sp>
        <p:nvSpPr>
          <p:cNvPr id="10" name="Shape 7"/>
          <p:cNvSpPr/>
          <p:nvPr/>
        </p:nvSpPr>
        <p:spPr>
          <a:xfrm>
            <a:off x="548640" y="2331720"/>
            <a:ext cx="457200" cy="457200"/>
          </a:xfrm>
          <a:prstGeom prst="ellipse">
            <a:avLst/>
          </a:prstGeom>
          <a:solidFill>
            <a:srgbClr val="1E2761"/>
          </a:solidFill>
          <a:ln/>
        </p:spPr>
      </p:sp>
      <p:sp>
        <p:nvSpPr>
          <p:cNvPr id="11"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188720" y="236829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Wer zuhört, liest leise mit und hilft bei Fehlern.</a:t>
            </a:r>
            <a:endParaRPr lang="en-US" sz="2100" dirty="0"/>
          </a:p>
        </p:txBody>
      </p:sp>
      <p:sp>
        <p:nvSpPr>
          <p:cNvPr id="13" name="Shape 10"/>
          <p:cNvSpPr/>
          <p:nvPr/>
        </p:nvSpPr>
        <p:spPr>
          <a:xfrm>
            <a:off x="548640" y="3063240"/>
            <a:ext cx="457200" cy="457200"/>
          </a:xfrm>
          <a:prstGeom prst="ellipse">
            <a:avLst/>
          </a:prstGeom>
          <a:solidFill>
            <a:srgbClr val="1E2761"/>
          </a:solidFill>
          <a:ln/>
        </p:spPr>
      </p:sp>
      <p:sp>
        <p:nvSpPr>
          <p:cNvPr id="14" name="Text 11"/>
          <p:cNvSpPr txBox="1"/>
          <p:nvPr/>
        </p:nvSpPr>
        <p:spPr>
          <a:xfrm>
            <a:off x="548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1188720" y="309981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Achtet darauf: Was passiert? Wer handelt?</a:t>
            </a:r>
            <a:endParaRPr lang="en-US" sz="2100" dirty="0"/>
          </a:p>
        </p:txBody>
      </p:sp>
      <p:sp>
        <p:nvSpPr>
          <p:cNvPr id="16" name="Shape 13"/>
          <p:cNvSpPr/>
          <p:nvPr/>
        </p:nvSpPr>
        <p:spPr>
          <a:xfrm>
            <a:off x="548640" y="5715000"/>
            <a:ext cx="11064240" cy="502920"/>
          </a:xfrm>
          <a:prstGeom prst="roundRect">
            <a:avLst>
              <a:gd name="adj" fmla="val 14545"/>
            </a:avLst>
          </a:prstGeom>
          <a:solidFill>
            <a:srgbClr val="EAF0FA"/>
          </a:solidFill>
          <a:ln/>
        </p:spPr>
      </p:sp>
      <p:sp>
        <p:nvSpPr>
          <p:cNvPr id="17" name="Text 14"/>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8 Minuten · Tandem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AUFBAU</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Aufbau einer Ballade – und wie ich belege</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48640" y="1463040"/>
            <a:ext cx="6035040" cy="3246120"/>
          </a:xfrm>
          <a:prstGeom prst="roundRect">
            <a:avLst>
              <a:gd name="adj" fmla="val 2254"/>
            </a:avLst>
          </a:prstGeom>
          <a:solidFill>
            <a:srgbClr val="F4F7FD"/>
          </a:solidFill>
          <a:ln/>
        </p:spPr>
      </p:sp>
      <p:sp>
        <p:nvSpPr>
          <p:cNvPr id="8" name="Text 5"/>
          <p:cNvSpPr txBox="1"/>
          <p:nvPr/>
        </p:nvSpPr>
        <p:spPr>
          <a:xfrm>
            <a:off x="777240" y="1554480"/>
            <a:ext cx="2743200" cy="320040"/>
          </a:xfrm>
          <a:prstGeom prst="rect">
            <a:avLst/>
          </a:prstGeom>
          <a:noFill/>
          <a:ln/>
        </p:spPr>
        <p:txBody>
          <a:bodyPr wrap="square" lIns="0" tIns="0" rIns="0" bIns="0" rtlCol="0" anchor="t"/>
          <a:lstStyle/>
          <a:p>
            <a:pPr indent="0" marL="0">
              <a:buNone/>
            </a:pPr>
            <a:r>
              <a:rPr lang="en-US" sz="1500" b="1" dirty="0">
                <a:solidFill>
                  <a:srgbClr val="2E9E6B"/>
                </a:solidFill>
                <a:latin typeface="Calibri" pitchFamily="34" charset="0"/>
                <a:ea typeface="Calibri" pitchFamily="34" charset="-122"/>
                <a:cs typeface="Calibri" pitchFamily="34" charset="-120"/>
              </a:rPr>
              <a:t>Strophe 1</a:t>
            </a:r>
            <a:endParaRPr lang="en-US" sz="1500" dirty="0"/>
          </a:p>
        </p:txBody>
      </p:sp>
      <p:sp>
        <p:nvSpPr>
          <p:cNvPr id="9" name="Text 6"/>
          <p:cNvSpPr txBox="1"/>
          <p:nvPr/>
        </p:nvSpPr>
        <p:spPr>
          <a:xfrm>
            <a:off x="685800" y="1965960"/>
            <a:ext cx="365760" cy="365760"/>
          </a:xfrm>
          <a:prstGeom prst="rect">
            <a:avLst/>
          </a:prstGeom>
          <a:noFill/>
          <a:ln/>
        </p:spPr>
        <p:txBody>
          <a:bodyPr wrap="square" lIns="0" tIns="0" rIns="0" bIns="0" rtlCol="0" anchor="t"/>
          <a:lstStyle/>
          <a:p>
            <a:pPr algn="r" indent="0" marL="0">
              <a:buNone/>
            </a:pPr>
            <a:r>
              <a:rPr lang="en-US" sz="1500" dirty="0">
                <a:solidFill>
                  <a:srgbClr val="5B6B8C"/>
                </a:solidFill>
                <a:latin typeface="Calibri" pitchFamily="34" charset="0"/>
                <a:ea typeface="Calibri" pitchFamily="34" charset="-122"/>
                <a:cs typeface="Calibri" pitchFamily="34" charset="-120"/>
              </a:rPr>
              <a:t>1</a:t>
            </a:r>
            <a:endParaRPr lang="en-US" sz="1500" dirty="0"/>
          </a:p>
        </p:txBody>
      </p:sp>
      <p:sp>
        <p:nvSpPr>
          <p:cNvPr id="10" name="Text 7"/>
          <p:cNvSpPr txBox="1"/>
          <p:nvPr/>
        </p:nvSpPr>
        <p:spPr>
          <a:xfrm>
            <a:off x="1188720" y="1938528"/>
            <a:ext cx="5303520" cy="41148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Paddy Fingal war von Riesenart:</a:t>
            </a:r>
            <a:endParaRPr lang="en-US" sz="1800" dirty="0"/>
          </a:p>
        </p:txBody>
      </p:sp>
      <p:sp>
        <p:nvSpPr>
          <p:cNvPr id="11" name="Text 8"/>
          <p:cNvSpPr txBox="1"/>
          <p:nvPr/>
        </p:nvSpPr>
        <p:spPr>
          <a:xfrm>
            <a:off x="685800" y="2468880"/>
            <a:ext cx="365760" cy="365760"/>
          </a:xfrm>
          <a:prstGeom prst="rect">
            <a:avLst/>
          </a:prstGeom>
          <a:noFill/>
          <a:ln/>
        </p:spPr>
        <p:txBody>
          <a:bodyPr wrap="square" lIns="0" tIns="0" rIns="0" bIns="0" rtlCol="0" anchor="t"/>
          <a:lstStyle/>
          <a:p>
            <a:pPr algn="r" indent="0" marL="0">
              <a:buNone/>
            </a:pPr>
            <a:r>
              <a:rPr lang="en-US" sz="1500" dirty="0">
                <a:solidFill>
                  <a:srgbClr val="5B6B8C"/>
                </a:solidFill>
                <a:latin typeface="Calibri" pitchFamily="34" charset="0"/>
                <a:ea typeface="Calibri" pitchFamily="34" charset="-122"/>
                <a:cs typeface="Calibri" pitchFamily="34" charset="-120"/>
              </a:rPr>
              <a:t>2</a:t>
            </a:r>
            <a:endParaRPr lang="en-US" sz="1500" dirty="0"/>
          </a:p>
        </p:txBody>
      </p:sp>
      <p:sp>
        <p:nvSpPr>
          <p:cNvPr id="12" name="Text 9"/>
          <p:cNvSpPr txBox="1"/>
          <p:nvPr/>
        </p:nvSpPr>
        <p:spPr>
          <a:xfrm>
            <a:off x="1188720" y="2441448"/>
            <a:ext cx="5303520" cy="41148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Sechs Ellen flog sein schwarzer Bart,</a:t>
            </a:r>
            <a:endParaRPr lang="en-US" sz="1800" dirty="0"/>
          </a:p>
        </p:txBody>
      </p:sp>
      <p:sp>
        <p:nvSpPr>
          <p:cNvPr id="13" name="Text 10"/>
          <p:cNvSpPr txBox="1"/>
          <p:nvPr/>
        </p:nvSpPr>
        <p:spPr>
          <a:xfrm>
            <a:off x="685800" y="2971800"/>
            <a:ext cx="365760" cy="365760"/>
          </a:xfrm>
          <a:prstGeom prst="rect">
            <a:avLst/>
          </a:prstGeom>
          <a:noFill/>
          <a:ln/>
        </p:spPr>
        <p:txBody>
          <a:bodyPr wrap="square" lIns="0" tIns="0" rIns="0" bIns="0" rtlCol="0" anchor="t"/>
          <a:lstStyle/>
          <a:p>
            <a:pPr algn="r" indent="0" marL="0">
              <a:buNone/>
            </a:pPr>
            <a:r>
              <a:rPr lang="en-US" sz="1500" dirty="0">
                <a:solidFill>
                  <a:srgbClr val="5B6B8C"/>
                </a:solidFill>
                <a:latin typeface="Calibri" pitchFamily="34" charset="0"/>
                <a:ea typeface="Calibri" pitchFamily="34" charset="-122"/>
                <a:cs typeface="Calibri" pitchFamily="34" charset="-120"/>
              </a:rPr>
              <a:t>3</a:t>
            </a:r>
            <a:endParaRPr lang="en-US" sz="1500" dirty="0"/>
          </a:p>
        </p:txBody>
      </p:sp>
      <p:sp>
        <p:nvSpPr>
          <p:cNvPr id="14" name="Text 11"/>
          <p:cNvSpPr txBox="1"/>
          <p:nvPr/>
        </p:nvSpPr>
        <p:spPr>
          <a:xfrm>
            <a:off x="1188720" y="2944368"/>
            <a:ext cx="5303520" cy="41148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seine Fäuste waren wie Tonnen groß,</a:t>
            </a:r>
            <a:endParaRPr lang="en-US" sz="1800" dirty="0"/>
          </a:p>
        </p:txBody>
      </p:sp>
      <p:sp>
        <p:nvSpPr>
          <p:cNvPr id="15" name="Text 12"/>
          <p:cNvSpPr txBox="1"/>
          <p:nvPr/>
        </p:nvSpPr>
        <p:spPr>
          <a:xfrm>
            <a:off x="685800" y="3474720"/>
            <a:ext cx="365760" cy="365760"/>
          </a:xfrm>
          <a:prstGeom prst="rect">
            <a:avLst/>
          </a:prstGeom>
          <a:noFill/>
          <a:ln/>
        </p:spPr>
        <p:txBody>
          <a:bodyPr wrap="square" lIns="0" tIns="0" rIns="0" bIns="0" rtlCol="0" anchor="t"/>
          <a:lstStyle/>
          <a:p>
            <a:pPr algn="r" indent="0" marL="0">
              <a:buNone/>
            </a:pPr>
            <a:r>
              <a:rPr lang="en-US" sz="1500" dirty="0">
                <a:solidFill>
                  <a:srgbClr val="5B6B8C"/>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188720" y="3447288"/>
            <a:ext cx="5303520" cy="41148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einen Mastbaum führt’ er als Wurfgeschoss –</a:t>
            </a:r>
            <a:endParaRPr lang="en-US" sz="1800" dirty="0"/>
          </a:p>
        </p:txBody>
      </p:sp>
      <p:sp>
        <p:nvSpPr>
          <p:cNvPr id="17" name="Text 14"/>
          <p:cNvSpPr txBox="1"/>
          <p:nvPr/>
        </p:nvSpPr>
        <p:spPr>
          <a:xfrm>
            <a:off x="685800" y="3977640"/>
            <a:ext cx="365760" cy="365760"/>
          </a:xfrm>
          <a:prstGeom prst="rect">
            <a:avLst/>
          </a:prstGeom>
          <a:noFill/>
          <a:ln/>
        </p:spPr>
        <p:txBody>
          <a:bodyPr wrap="square" lIns="0" tIns="0" rIns="0" bIns="0" rtlCol="0" anchor="t"/>
          <a:lstStyle/>
          <a:p>
            <a:pPr algn="r" indent="0" marL="0">
              <a:buNone/>
            </a:pPr>
            <a:r>
              <a:rPr lang="en-US" sz="1500" dirty="0">
                <a:solidFill>
                  <a:srgbClr val="5B6B8C"/>
                </a:solidFill>
                <a:latin typeface="Calibri" pitchFamily="34" charset="0"/>
                <a:ea typeface="Calibri" pitchFamily="34" charset="-122"/>
                <a:cs typeface="Calibri" pitchFamily="34" charset="-120"/>
              </a:rPr>
              <a:t>5</a:t>
            </a:r>
            <a:endParaRPr lang="en-US" sz="1500" dirty="0"/>
          </a:p>
        </p:txBody>
      </p:sp>
      <p:sp>
        <p:nvSpPr>
          <p:cNvPr id="18" name="Text 15"/>
          <p:cNvSpPr txBox="1"/>
          <p:nvPr/>
        </p:nvSpPr>
        <p:spPr>
          <a:xfrm>
            <a:off x="1188720" y="3950208"/>
            <a:ext cx="5303520" cy="41148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     so ein Kerl war Paddy Fingal!</a:t>
            </a:r>
            <a:endParaRPr lang="en-US" sz="1800" dirty="0"/>
          </a:p>
        </p:txBody>
      </p:sp>
      <p:sp>
        <p:nvSpPr>
          <p:cNvPr id="19" name="Shape 16"/>
          <p:cNvSpPr/>
          <p:nvPr/>
        </p:nvSpPr>
        <p:spPr>
          <a:xfrm>
            <a:off x="6400800" y="1920240"/>
            <a:ext cx="54864" cy="2560320"/>
          </a:xfrm>
          <a:prstGeom prst="rect">
            <a:avLst/>
          </a:prstGeom>
          <a:solidFill>
            <a:srgbClr val="2E9E6B"/>
          </a:solidFill>
          <a:ln/>
        </p:spPr>
      </p:sp>
      <p:sp>
        <p:nvSpPr>
          <p:cNvPr id="20" name="Text 17"/>
          <p:cNvSpPr txBox="1"/>
          <p:nvPr/>
        </p:nvSpPr>
        <p:spPr>
          <a:xfrm>
            <a:off x="5486400" y="2441448"/>
            <a:ext cx="914400" cy="365760"/>
          </a:xfrm>
          <a:prstGeom prst="rect">
            <a:avLst/>
          </a:prstGeom>
          <a:noFill/>
          <a:ln/>
        </p:spPr>
        <p:txBody>
          <a:bodyPr wrap="square" lIns="0" tIns="0" rIns="0" bIns="0" rtlCol="0" anchor="t"/>
          <a:lstStyle/>
          <a:p>
            <a:pPr indent="0" marL="0">
              <a:buNone/>
            </a:pPr>
            <a:r>
              <a:rPr lang="en-US" sz="1300" b="1" dirty="0">
                <a:solidFill>
                  <a:srgbClr val="D9534F"/>
                </a:solidFill>
                <a:latin typeface="Calibri" pitchFamily="34" charset="0"/>
                <a:ea typeface="Calibri" pitchFamily="34" charset="-122"/>
                <a:cs typeface="Calibri" pitchFamily="34" charset="-120"/>
              </a:rPr>
              <a:t>← Vers 2</a:t>
            </a:r>
            <a:endParaRPr lang="en-US" sz="1300" dirty="0"/>
          </a:p>
        </p:txBody>
      </p:sp>
      <p:sp>
        <p:nvSpPr>
          <p:cNvPr id="21" name="Shape 18"/>
          <p:cNvSpPr/>
          <p:nvPr/>
        </p:nvSpPr>
        <p:spPr>
          <a:xfrm>
            <a:off x="6812280" y="1463040"/>
            <a:ext cx="4800600" cy="1463040"/>
          </a:xfrm>
          <a:prstGeom prst="roundRect">
            <a:avLst>
              <a:gd name="adj" fmla="val 5000"/>
            </a:avLst>
          </a:prstGeom>
          <a:solidFill>
            <a:srgbClr val="EAF0FA"/>
          </a:solidFill>
          <a:ln/>
        </p:spPr>
      </p:sp>
      <p:sp>
        <p:nvSpPr>
          <p:cNvPr id="22" name="Text 19"/>
          <p:cNvSpPr txBox="1"/>
          <p:nvPr/>
        </p:nvSpPr>
        <p:spPr>
          <a:xfrm>
            <a:off x="6995160" y="1600200"/>
            <a:ext cx="4480560" cy="1234440"/>
          </a:xfrm>
          <a:prstGeom prst="rect">
            <a:avLst/>
          </a:prstGeom>
          <a:noFill/>
          <a:ln/>
        </p:spPr>
        <p:txBody>
          <a:bodyPr wrap="square" lIns="0" tIns="0" rIns="0" bIns="0" rtlCol="0" anchor="t"/>
          <a:lstStyle/>
          <a:p>
            <a:pPr indent="0" marL="0">
              <a:buNone/>
            </a:pPr>
            <a:r>
              <a:rPr lang="en-US" sz="1700" b="1" dirty="0">
                <a:solidFill>
                  <a:srgbClr val="2E9E6B"/>
                </a:solidFill>
                <a:latin typeface="Calibri" pitchFamily="34" charset="0"/>
                <a:ea typeface="Calibri" pitchFamily="34" charset="-122"/>
                <a:cs typeface="Calibri" pitchFamily="34" charset="-120"/>
              </a:rPr>
              <a:t>Strophe: </a:t>
            </a:r>
            <a:pPr indent="0" marL="0">
              <a:buNone/>
            </a:pPr>
            <a:r>
              <a:rPr lang="en-US" sz="1700" dirty="0">
                <a:solidFill>
                  <a:srgbClr val="1E2761"/>
                </a:solidFill>
                <a:latin typeface="Calibri" pitchFamily="34" charset="0"/>
                <a:ea typeface="Calibri" pitchFamily="34" charset="-122"/>
                <a:cs typeface="Calibri" pitchFamily="34" charset="-120"/>
              </a:rPr>
              <a:t>ein Abschnitt der Ballade; zwischen zwei Strophen steht eine Leerzeile. Paddy Fingal hat 11 Strophen.</a:t>
            </a:r>
            <a:endParaRPr lang="en-US" sz="1700" dirty="0"/>
          </a:p>
        </p:txBody>
      </p:sp>
      <p:sp>
        <p:nvSpPr>
          <p:cNvPr id="23" name="Shape 20"/>
          <p:cNvSpPr/>
          <p:nvPr/>
        </p:nvSpPr>
        <p:spPr>
          <a:xfrm>
            <a:off x="6812280" y="3108960"/>
            <a:ext cx="4800600" cy="1463040"/>
          </a:xfrm>
          <a:prstGeom prst="roundRect">
            <a:avLst>
              <a:gd name="adj" fmla="val 5000"/>
            </a:avLst>
          </a:prstGeom>
          <a:solidFill>
            <a:srgbClr val="EAF0FA"/>
          </a:solidFill>
          <a:ln/>
        </p:spPr>
      </p:sp>
      <p:sp>
        <p:nvSpPr>
          <p:cNvPr id="24" name="Text 21"/>
          <p:cNvSpPr txBox="1"/>
          <p:nvPr/>
        </p:nvSpPr>
        <p:spPr>
          <a:xfrm>
            <a:off x="6995160" y="3246120"/>
            <a:ext cx="4480560" cy="1234440"/>
          </a:xfrm>
          <a:prstGeom prst="rect">
            <a:avLst/>
          </a:prstGeom>
          <a:noFill/>
          <a:ln/>
        </p:spPr>
        <p:txBody>
          <a:bodyPr wrap="square" lIns="0" tIns="0" rIns="0" bIns="0" rtlCol="0" anchor="t"/>
          <a:lstStyle/>
          <a:p>
            <a:pPr indent="0" marL="0">
              <a:buNone/>
            </a:pPr>
            <a:r>
              <a:rPr lang="en-US" sz="1700" b="1" dirty="0">
                <a:solidFill>
                  <a:srgbClr val="2E9E6B"/>
                </a:solidFill>
                <a:latin typeface="Calibri" pitchFamily="34" charset="0"/>
                <a:ea typeface="Calibri" pitchFamily="34" charset="-122"/>
                <a:cs typeface="Calibri" pitchFamily="34" charset="-120"/>
              </a:rPr>
              <a:t>Vers: </a:t>
            </a:r>
            <a:pPr indent="0" marL="0">
              <a:buNone/>
            </a:pPr>
            <a:r>
              <a:rPr lang="en-US" sz="1700" dirty="0">
                <a:solidFill>
                  <a:srgbClr val="1E2761"/>
                </a:solidFill>
                <a:latin typeface="Calibri" pitchFamily="34" charset="0"/>
                <a:ea typeface="Calibri" pitchFamily="34" charset="-122"/>
                <a:cs typeface="Calibri" pitchFamily="34" charset="-120"/>
              </a:rPr>
              <a:t>eine Zeile der Ballade. Im Lehrbuch sind die Verse am Rand gezählt: 5, 10, 15 …</a:t>
            </a:r>
            <a:endParaRPr lang="en-US" sz="1700" dirty="0"/>
          </a:p>
        </p:txBody>
      </p:sp>
      <p:sp>
        <p:nvSpPr>
          <p:cNvPr id="25" name="Shape 22"/>
          <p:cNvSpPr/>
          <p:nvPr/>
        </p:nvSpPr>
        <p:spPr>
          <a:xfrm>
            <a:off x="548640" y="4937760"/>
            <a:ext cx="11064240" cy="1188720"/>
          </a:xfrm>
          <a:prstGeom prst="roundRect">
            <a:avLst>
              <a:gd name="adj" fmla="val 3846"/>
            </a:avLst>
          </a:prstGeom>
          <a:solidFill>
            <a:srgbClr val="FFFFFF"/>
          </a:solidFill>
          <a:ln w="31750">
            <a:solidFill>
              <a:srgbClr val="D9534F"/>
            </a:solidFill>
            <a:prstDash val="solid"/>
          </a:ln>
        </p:spPr>
      </p:sp>
      <p:sp>
        <p:nvSpPr>
          <p:cNvPr id="26" name="Text 23"/>
          <p:cNvSpPr txBox="1"/>
          <p:nvPr/>
        </p:nvSpPr>
        <p:spPr>
          <a:xfrm>
            <a:off x="822960" y="5074920"/>
            <a:ext cx="10607040" cy="96012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So belege ich: </a:t>
            </a:r>
            <a:pPr indent="0" marL="0">
              <a:buNone/>
            </a:pPr>
            <a:r>
              <a:rPr lang="en-US" sz="1900" dirty="0">
                <a:solidFill>
                  <a:srgbClr val="1E2761"/>
                </a:solidFill>
                <a:latin typeface="Calibri" pitchFamily="34" charset="0"/>
                <a:ea typeface="Calibri" pitchFamily="34" charset="-122"/>
                <a:cs typeface="Calibri" pitchFamily="34" charset="-120"/>
              </a:rPr>
              <a:t>Strophe + Vers + Zitat in Anführungszeichen
</a:t>
            </a:r>
            <a:pPr indent="0" marL="0">
              <a:buNone/>
            </a:pPr>
            <a:r>
              <a:rPr lang="en-US" sz="1900" b="1" dirty="0">
                <a:solidFill>
                  <a:srgbClr val="1E2761"/>
                </a:solidFill>
                <a:latin typeface="Cambria" pitchFamily="34" charset="0"/>
                <a:ea typeface="Cambria" pitchFamily="34" charset="-122"/>
                <a:cs typeface="Cambria" pitchFamily="34" charset="-120"/>
              </a:rPr>
              <a:t>Str. 1, V. 2: „Sechs Ellen flog sein schwarzer Bart“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AUFBAU</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Ü1  Belege finden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600200"/>
            <a:ext cx="457200" cy="457200"/>
          </a:xfrm>
          <a:prstGeom prst="ellipse">
            <a:avLst/>
          </a:prstGeom>
          <a:solidFill>
            <a:srgbClr val="1E2761"/>
          </a:solidFill>
          <a:ln/>
        </p:spPr>
      </p:sp>
      <p:sp>
        <p:nvSpPr>
          <p:cNvPr id="8" name="Text 5"/>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3677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Zähle: Wie viele Strophen hat die Ballade? Wie viele Verse hat jede Strophe?</a:t>
            </a:r>
            <a:endParaRPr lang="en-US" sz="2100" dirty="0"/>
          </a:p>
        </p:txBody>
      </p:sp>
      <p:sp>
        <p:nvSpPr>
          <p:cNvPr id="10" name="Shape 7"/>
          <p:cNvSpPr/>
          <p:nvPr/>
        </p:nvSpPr>
        <p:spPr>
          <a:xfrm>
            <a:off x="548640" y="2331720"/>
            <a:ext cx="457200" cy="457200"/>
          </a:xfrm>
          <a:prstGeom prst="ellipse">
            <a:avLst/>
          </a:prstGeom>
          <a:solidFill>
            <a:srgbClr val="1E2761"/>
          </a:solidFill>
          <a:ln/>
        </p:spPr>
      </p:sp>
      <p:sp>
        <p:nvSpPr>
          <p:cNvPr id="11"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188720" y="236829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Schlage nach: Was steht in Str. 3, V. 14? Schreibe das Zitat ab.</a:t>
            </a:r>
            <a:endParaRPr lang="en-US" sz="2100" dirty="0"/>
          </a:p>
        </p:txBody>
      </p:sp>
      <p:sp>
        <p:nvSpPr>
          <p:cNvPr id="13" name="Shape 10"/>
          <p:cNvSpPr/>
          <p:nvPr/>
        </p:nvSpPr>
        <p:spPr>
          <a:xfrm>
            <a:off x="548640" y="3063240"/>
            <a:ext cx="457200" cy="457200"/>
          </a:xfrm>
          <a:prstGeom prst="ellipse">
            <a:avLst/>
          </a:prstGeom>
          <a:solidFill>
            <a:srgbClr val="1E2761"/>
          </a:solidFill>
          <a:ln/>
        </p:spPr>
      </p:sp>
      <p:sp>
        <p:nvSpPr>
          <p:cNvPr id="14" name="Text 11"/>
          <p:cNvSpPr txBox="1"/>
          <p:nvPr/>
        </p:nvSpPr>
        <p:spPr>
          <a:xfrm>
            <a:off x="548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1188720" y="309981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Suche: Wo steht „birg mich im Versteck“? Gib Strophe und Vers an.</a:t>
            </a:r>
            <a:endParaRPr lang="en-US" sz="2100" dirty="0"/>
          </a:p>
        </p:txBody>
      </p:sp>
      <p:sp>
        <p:nvSpPr>
          <p:cNvPr id="16" name="Shape 13"/>
          <p:cNvSpPr/>
          <p:nvPr/>
        </p:nvSpPr>
        <p:spPr>
          <a:xfrm>
            <a:off x="548640" y="5715000"/>
            <a:ext cx="11064240" cy="502920"/>
          </a:xfrm>
          <a:prstGeom prst="roundRect">
            <a:avLst>
              <a:gd name="adj" fmla="val 14545"/>
            </a:avLst>
          </a:prstGeom>
          <a:solidFill>
            <a:srgbClr val="EAF0FA"/>
          </a:solidFill>
          <a:ln/>
        </p:spPr>
      </p:sp>
      <p:sp>
        <p:nvSpPr>
          <p:cNvPr id="17" name="Text 14"/>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3 Minuten · allein im Heft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AUFBAU</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Ü1  Lösung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645920"/>
            <a:ext cx="11064240" cy="914400"/>
          </a:xfrm>
          <a:prstGeom prst="roundRect">
            <a:avLst>
              <a:gd name="adj" fmla="val 8000"/>
            </a:avLst>
          </a:prstGeom>
          <a:solidFill>
            <a:srgbClr val="F4F7FD"/>
          </a:solidFill>
          <a:ln/>
        </p:spPr>
      </p:sp>
      <p:sp>
        <p:nvSpPr>
          <p:cNvPr id="8" name="Shape 5"/>
          <p:cNvSpPr/>
          <p:nvPr/>
        </p:nvSpPr>
        <p:spPr>
          <a:xfrm>
            <a:off x="822960" y="1874520"/>
            <a:ext cx="457200" cy="457200"/>
          </a:xfrm>
          <a:prstGeom prst="ellipse">
            <a:avLst/>
          </a:prstGeom>
          <a:solidFill>
            <a:srgbClr val="2E9E6B"/>
          </a:solidFill>
          <a:ln/>
        </p:spPr>
      </p:sp>
      <p:sp>
        <p:nvSpPr>
          <p:cNvPr id="9" name="Text 6"/>
          <p:cNvSpPr txBox="1"/>
          <p:nvPr/>
        </p:nvSpPr>
        <p:spPr>
          <a:xfrm>
            <a:off x="822960" y="1874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554480" y="1892808"/>
            <a:ext cx="9875520" cy="457200"/>
          </a:xfrm>
          <a:prstGeom prst="rect">
            <a:avLst/>
          </a:prstGeom>
          <a:noFill/>
          <a:ln/>
        </p:spPr>
        <p:txBody>
          <a:bodyPr wrap="square" lIns="0" tIns="0" rIns="0" bIns="0" rtlCol="0" anchor="t"/>
          <a:lstStyle/>
          <a:p>
            <a:pPr indent="0" marL="0">
              <a:buNone/>
            </a:pPr>
            <a:r>
              <a:rPr lang="en-US" sz="2200" dirty="0">
                <a:solidFill>
                  <a:srgbClr val="1E2761"/>
                </a:solidFill>
                <a:latin typeface="Cambria" pitchFamily="34" charset="0"/>
                <a:ea typeface="Cambria" pitchFamily="34" charset="-122"/>
                <a:cs typeface="Cambria" pitchFamily="34" charset="-120"/>
              </a:rPr>
              <a:t>11 Strophen mit je 5 Versen</a:t>
            </a:r>
            <a:endParaRPr lang="en-US" sz="2200" dirty="0"/>
          </a:p>
        </p:txBody>
      </p:sp>
      <p:sp>
        <p:nvSpPr>
          <p:cNvPr id="11" name="Shape 8"/>
          <p:cNvSpPr/>
          <p:nvPr/>
        </p:nvSpPr>
        <p:spPr>
          <a:xfrm>
            <a:off x="548640" y="2743200"/>
            <a:ext cx="11064240" cy="914400"/>
          </a:xfrm>
          <a:prstGeom prst="roundRect">
            <a:avLst>
              <a:gd name="adj" fmla="val 8000"/>
            </a:avLst>
          </a:prstGeom>
          <a:solidFill>
            <a:srgbClr val="F4F7FD"/>
          </a:solidFill>
          <a:ln/>
        </p:spPr>
      </p:sp>
      <p:sp>
        <p:nvSpPr>
          <p:cNvPr id="12" name="Shape 9"/>
          <p:cNvSpPr/>
          <p:nvPr/>
        </p:nvSpPr>
        <p:spPr>
          <a:xfrm>
            <a:off x="822960" y="2971800"/>
            <a:ext cx="457200" cy="457200"/>
          </a:xfrm>
          <a:prstGeom prst="ellipse">
            <a:avLst/>
          </a:prstGeom>
          <a:solidFill>
            <a:srgbClr val="2E9E6B"/>
          </a:solidFill>
          <a:ln/>
        </p:spPr>
      </p:sp>
      <p:sp>
        <p:nvSpPr>
          <p:cNvPr id="13" name="Text 10"/>
          <p:cNvSpPr txBox="1"/>
          <p:nvPr/>
        </p:nvSpPr>
        <p:spPr>
          <a:xfrm>
            <a:off x="822960" y="2971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1554480" y="2990088"/>
            <a:ext cx="9875520" cy="457200"/>
          </a:xfrm>
          <a:prstGeom prst="rect">
            <a:avLst/>
          </a:prstGeom>
          <a:noFill/>
          <a:ln/>
        </p:spPr>
        <p:txBody>
          <a:bodyPr wrap="square" lIns="0" tIns="0" rIns="0" bIns="0" rtlCol="0" anchor="t"/>
          <a:lstStyle/>
          <a:p>
            <a:pPr indent="0" marL="0">
              <a:buNone/>
            </a:pPr>
            <a:r>
              <a:rPr lang="en-US" sz="2200" dirty="0">
                <a:solidFill>
                  <a:srgbClr val="1E2761"/>
                </a:solidFill>
                <a:latin typeface="Cambria" pitchFamily="34" charset="0"/>
                <a:ea typeface="Cambria" pitchFamily="34" charset="-122"/>
                <a:cs typeface="Cambria" pitchFamily="34" charset="-120"/>
              </a:rPr>
              <a:t>Str. 3, V. 14: „dass der Fremdling zehn Schuh größer war“</a:t>
            </a:r>
            <a:endParaRPr lang="en-US" sz="2200" dirty="0"/>
          </a:p>
        </p:txBody>
      </p:sp>
      <p:sp>
        <p:nvSpPr>
          <p:cNvPr id="15" name="Shape 12"/>
          <p:cNvSpPr/>
          <p:nvPr/>
        </p:nvSpPr>
        <p:spPr>
          <a:xfrm>
            <a:off x="548640" y="3840480"/>
            <a:ext cx="11064240" cy="914400"/>
          </a:xfrm>
          <a:prstGeom prst="roundRect">
            <a:avLst>
              <a:gd name="adj" fmla="val 8000"/>
            </a:avLst>
          </a:prstGeom>
          <a:solidFill>
            <a:srgbClr val="F4F7FD"/>
          </a:solidFill>
          <a:ln/>
        </p:spPr>
      </p:sp>
      <p:sp>
        <p:nvSpPr>
          <p:cNvPr id="16" name="Shape 13"/>
          <p:cNvSpPr/>
          <p:nvPr/>
        </p:nvSpPr>
        <p:spPr>
          <a:xfrm>
            <a:off x="822960" y="4069080"/>
            <a:ext cx="457200" cy="457200"/>
          </a:xfrm>
          <a:prstGeom prst="ellipse">
            <a:avLst/>
          </a:prstGeom>
          <a:solidFill>
            <a:srgbClr val="2E9E6B"/>
          </a:solidFill>
          <a:ln/>
        </p:spPr>
      </p:sp>
      <p:sp>
        <p:nvSpPr>
          <p:cNvPr id="17" name="Text 14"/>
          <p:cNvSpPr txBox="1"/>
          <p:nvPr/>
        </p:nvSpPr>
        <p:spPr>
          <a:xfrm>
            <a:off x="822960" y="4069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txBox="1"/>
          <p:nvPr/>
        </p:nvSpPr>
        <p:spPr>
          <a:xfrm>
            <a:off x="1554480" y="4087368"/>
            <a:ext cx="9875520" cy="457200"/>
          </a:xfrm>
          <a:prstGeom prst="rect">
            <a:avLst/>
          </a:prstGeom>
          <a:noFill/>
          <a:ln/>
        </p:spPr>
        <p:txBody>
          <a:bodyPr wrap="square" lIns="0" tIns="0" rIns="0" bIns="0" rtlCol="0" anchor="t"/>
          <a:lstStyle/>
          <a:p>
            <a:pPr indent="0" marL="0">
              <a:buNone/>
            </a:pPr>
            <a:r>
              <a:rPr lang="en-US" sz="2200" dirty="0">
                <a:solidFill>
                  <a:srgbClr val="1E2761"/>
                </a:solidFill>
                <a:latin typeface="Cambria" pitchFamily="34" charset="0"/>
                <a:ea typeface="Cambria" pitchFamily="34" charset="-122"/>
                <a:cs typeface="Cambria" pitchFamily="34" charset="-120"/>
              </a:rPr>
              <a:t>Str. 4, V. 17: „O Schaya, birg mich im Versteck!“</a:t>
            </a:r>
            <a:endParaRPr lang="en-US" sz="2200" dirty="0"/>
          </a:p>
        </p:txBody>
      </p:sp>
      <p:sp>
        <p:nvSpPr>
          <p:cNvPr id="19" name="Text 16"/>
          <p:cNvSpPr txBox="1"/>
          <p:nvPr/>
        </p:nvSpPr>
        <p:spPr>
          <a:xfrm>
            <a:off x="548640" y="5120640"/>
            <a:ext cx="11064240" cy="457200"/>
          </a:xfrm>
          <a:prstGeom prst="rect">
            <a:avLst/>
          </a:prstGeom>
          <a:noFill/>
          <a:ln/>
        </p:spPr>
        <p:txBody>
          <a:bodyPr wrap="square" lIns="0" tIns="0" rIns="0" bIns="0" rtlCol="0" anchor="t"/>
          <a:lstStyle/>
          <a:p>
            <a:pPr algn="ctr" indent="0" marL="0">
              <a:buNone/>
            </a:pPr>
            <a:r>
              <a:rPr lang="en-US" sz="2000" b="1" dirty="0">
                <a:solidFill>
                  <a:srgbClr val="1E2761"/>
                </a:solidFill>
                <a:latin typeface="Calibri" pitchFamily="34" charset="0"/>
                <a:ea typeface="Calibri" pitchFamily="34" charset="-122"/>
                <a:cs typeface="Calibri" pitchFamily="34" charset="-120"/>
              </a:rPr>
              <a:t>Vergleiche und verbessere mit Grün.</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Ü2 (ARBEITSBLATT)</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Paddy Fingal – Aussagen prüfen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600200"/>
            <a:ext cx="457200" cy="457200"/>
          </a:xfrm>
          <a:prstGeom prst="ellipse">
            <a:avLst/>
          </a:prstGeom>
          <a:solidFill>
            <a:srgbClr val="1E2761"/>
          </a:solidFill>
          <a:ln/>
        </p:spPr>
      </p:sp>
      <p:sp>
        <p:nvSpPr>
          <p:cNvPr id="8" name="Text 5"/>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3677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Prüfe jede Aussage auf dem Arbeitsblatt allein: richtig oder falsch?</a:t>
            </a:r>
            <a:endParaRPr lang="en-US" sz="2100" dirty="0"/>
          </a:p>
        </p:txBody>
      </p:sp>
      <p:sp>
        <p:nvSpPr>
          <p:cNvPr id="10" name="Shape 7"/>
          <p:cNvSpPr/>
          <p:nvPr/>
        </p:nvSpPr>
        <p:spPr>
          <a:xfrm>
            <a:off x="548640" y="2331720"/>
            <a:ext cx="457200" cy="457200"/>
          </a:xfrm>
          <a:prstGeom prst="ellipse">
            <a:avLst/>
          </a:prstGeom>
          <a:solidFill>
            <a:srgbClr val="1E2761"/>
          </a:solidFill>
          <a:ln/>
        </p:spPr>
      </p:sp>
      <p:sp>
        <p:nvSpPr>
          <p:cNvPr id="11"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188720" y="236829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Belege mit Strophe, Vers und Zitat.</a:t>
            </a:r>
            <a:endParaRPr lang="en-US" sz="2100" dirty="0"/>
          </a:p>
        </p:txBody>
      </p:sp>
      <p:sp>
        <p:nvSpPr>
          <p:cNvPr id="13" name="Shape 10"/>
          <p:cNvSpPr/>
          <p:nvPr/>
        </p:nvSpPr>
        <p:spPr>
          <a:xfrm>
            <a:off x="548640" y="3063240"/>
            <a:ext cx="457200" cy="457200"/>
          </a:xfrm>
          <a:prstGeom prst="ellipse">
            <a:avLst/>
          </a:prstGeom>
          <a:solidFill>
            <a:srgbClr val="1E2761"/>
          </a:solidFill>
          <a:ln/>
        </p:spPr>
      </p:sp>
      <p:sp>
        <p:nvSpPr>
          <p:cNvPr id="14" name="Text 11"/>
          <p:cNvSpPr txBox="1"/>
          <p:nvPr/>
        </p:nvSpPr>
        <p:spPr>
          <a:xfrm>
            <a:off x="548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1188720" y="309981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Ist die Aussage falsch? Schreibe auf, was richtig ist.</a:t>
            </a:r>
            <a:endParaRPr lang="en-US" sz="2100" dirty="0"/>
          </a:p>
        </p:txBody>
      </p:sp>
      <p:sp>
        <p:nvSpPr>
          <p:cNvPr id="16" name="Shape 13"/>
          <p:cNvSpPr/>
          <p:nvPr/>
        </p:nvSpPr>
        <p:spPr>
          <a:xfrm>
            <a:off x="548640" y="3886200"/>
            <a:ext cx="11064240" cy="685800"/>
          </a:xfrm>
          <a:prstGeom prst="roundRect">
            <a:avLst>
              <a:gd name="adj" fmla="val 10667"/>
            </a:avLst>
          </a:prstGeom>
          <a:solidFill>
            <a:srgbClr val="EAF0FA"/>
          </a:solidFill>
          <a:ln/>
        </p:spPr>
      </p:sp>
      <p:sp>
        <p:nvSpPr>
          <p:cNvPr id="17" name="Text 14"/>
          <p:cNvSpPr txBox="1"/>
          <p:nvPr/>
        </p:nvSpPr>
        <p:spPr>
          <a:xfrm>
            <a:off x="777240" y="4041648"/>
            <a:ext cx="10607040" cy="457200"/>
          </a:xfrm>
          <a:prstGeom prst="rect">
            <a:avLst/>
          </a:prstGeom>
          <a:noFill/>
          <a:ln/>
        </p:spPr>
        <p:txBody>
          <a:bodyPr wrap="square" lIns="0" tIns="0" rIns="0" bIns="0" rtlCol="0" anchor="t"/>
          <a:lstStyle/>
          <a:p>
            <a:pPr indent="0" marL="0">
              <a:buNone/>
            </a:pPr>
            <a:r>
              <a:rPr lang="en-US" sz="1500" b="1" dirty="0">
                <a:solidFill>
                  <a:srgbClr val="2E9E6B"/>
                </a:solidFill>
                <a:latin typeface="Calibri" pitchFamily="34" charset="0"/>
                <a:ea typeface="Calibri" pitchFamily="34" charset="-122"/>
                <a:cs typeface="Calibri" pitchFamily="34" charset="-120"/>
              </a:rPr>
              <a:t>Beispiel: </a:t>
            </a:r>
            <a:pPr indent="0" marL="0">
              <a:buNone/>
            </a:pPr>
            <a:r>
              <a:rPr lang="en-US" sz="1500" dirty="0">
                <a:solidFill>
                  <a:srgbClr val="1E2761"/>
                </a:solidFill>
                <a:latin typeface="Calibri" pitchFamily="34" charset="0"/>
                <a:ea typeface="Calibri" pitchFamily="34" charset="-122"/>
                <a:cs typeface="Calibri" pitchFamily="34" charset="-120"/>
              </a:rPr>
              <a:t>„Paddy hat einen roten Bart.“ – falsch · Str. 1, V. 2, „Sechs Ellen flog sein schwarzer Bart“ · Richtig ist: Paddys Bart ist schwarz.</a:t>
            </a:r>
            <a:endParaRPr lang="en-US" sz="1500" dirty="0"/>
          </a:p>
        </p:txBody>
      </p:sp>
      <p:sp>
        <p:nvSpPr>
          <p:cNvPr id="18" name="Shape 15"/>
          <p:cNvSpPr/>
          <p:nvPr/>
        </p:nvSpPr>
        <p:spPr>
          <a:xfrm>
            <a:off x="548640" y="5715000"/>
            <a:ext cx="11064240" cy="502920"/>
          </a:xfrm>
          <a:prstGeom prst="roundRect">
            <a:avLst>
              <a:gd name="adj" fmla="val 14545"/>
            </a:avLst>
          </a:prstGeom>
          <a:solidFill>
            <a:srgbClr val="EAF0FA"/>
          </a:solidFill>
          <a:ln/>
        </p:spPr>
      </p:sp>
      <p:sp>
        <p:nvSpPr>
          <p:cNvPr id="19" name="Text 16"/>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10 Minuten · allein · Nr. 9 mit *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548640" y="1719072"/>
            <a:ext cx="11064240" cy="347472"/>
          </a:xfrm>
          <a:prstGeom prst="roundRect">
            <a:avLst>
              <a:gd name="adj" fmla="val 10526"/>
            </a:avLst>
          </a:prstGeom>
          <a:solidFill>
            <a:srgbClr val="FFFFFF"/>
          </a:solidFill>
          <a:ln/>
        </p:spPr>
      </p:sp>
      <p:sp>
        <p:nvSpPr>
          <p:cNvPr id="11" name="Text 8"/>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3" name="Shape 10"/>
          <p:cNvSpPr/>
          <p:nvPr/>
        </p:nvSpPr>
        <p:spPr>
          <a:xfrm>
            <a:off x="548640" y="2112264"/>
            <a:ext cx="11064240" cy="347472"/>
          </a:xfrm>
          <a:prstGeom prst="roundRect">
            <a:avLst>
              <a:gd name="adj" fmla="val 10526"/>
            </a:avLst>
          </a:prstGeom>
          <a:solidFill>
            <a:srgbClr val="F4F7FD"/>
          </a:solidFill>
          <a:ln/>
        </p:spPr>
      </p:sp>
      <p:sp>
        <p:nvSpPr>
          <p:cNvPr id="14" name="Text 11"/>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16" name="Shape 13"/>
          <p:cNvSpPr/>
          <p:nvPr/>
        </p:nvSpPr>
        <p:spPr>
          <a:xfrm>
            <a:off x="548640" y="2505456"/>
            <a:ext cx="11064240" cy="347472"/>
          </a:xfrm>
          <a:prstGeom prst="roundRect">
            <a:avLst>
              <a:gd name="adj" fmla="val 10526"/>
            </a:avLst>
          </a:prstGeom>
          <a:solidFill>
            <a:srgbClr val="FFFFFF"/>
          </a:solidFill>
          <a:ln/>
        </p:spPr>
      </p:sp>
      <p:sp>
        <p:nvSpPr>
          <p:cNvPr id="17" name="Text 14"/>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18" name="Text 15"/>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19" name="Shape 16"/>
          <p:cNvSpPr/>
          <p:nvPr/>
        </p:nvSpPr>
        <p:spPr>
          <a:xfrm>
            <a:off x="548640" y="2898648"/>
            <a:ext cx="11064240" cy="347472"/>
          </a:xfrm>
          <a:prstGeom prst="roundRect">
            <a:avLst>
              <a:gd name="adj" fmla="val 10526"/>
            </a:avLst>
          </a:prstGeom>
          <a:solidFill>
            <a:srgbClr val="F4F7FD"/>
          </a:solidFill>
          <a:ln/>
        </p:spPr>
      </p:sp>
      <p:sp>
        <p:nvSpPr>
          <p:cNvPr id="20" name="Text 17"/>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1" name="Text 18"/>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22" name="Shape 19"/>
          <p:cNvSpPr/>
          <p:nvPr/>
        </p:nvSpPr>
        <p:spPr>
          <a:xfrm>
            <a:off x="548640" y="3291840"/>
            <a:ext cx="11064240" cy="347472"/>
          </a:xfrm>
          <a:prstGeom prst="roundRect">
            <a:avLst>
              <a:gd name="adj" fmla="val 10526"/>
            </a:avLst>
          </a:prstGeom>
          <a:solidFill>
            <a:srgbClr val="FFFFFF"/>
          </a:solidFill>
          <a:ln/>
        </p:spPr>
      </p:sp>
      <p:sp>
        <p:nvSpPr>
          <p:cNvPr id="23" name="Text 2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24" name="Text 2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25" name="Shape 22"/>
          <p:cNvSpPr/>
          <p:nvPr/>
        </p:nvSpPr>
        <p:spPr>
          <a:xfrm>
            <a:off x="548640" y="3685032"/>
            <a:ext cx="11064240" cy="347472"/>
          </a:xfrm>
          <a:prstGeom prst="roundRect">
            <a:avLst>
              <a:gd name="adj" fmla="val 10526"/>
            </a:avLst>
          </a:prstGeom>
          <a:solidFill>
            <a:srgbClr val="F4F7FD"/>
          </a:solidFill>
          <a:ln/>
        </p:spPr>
      </p:sp>
      <p:sp>
        <p:nvSpPr>
          <p:cNvPr id="26" name="Text 23"/>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27" name="Text 24"/>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28" name="Shape 25"/>
          <p:cNvSpPr/>
          <p:nvPr/>
        </p:nvSpPr>
        <p:spPr>
          <a:xfrm>
            <a:off x="548640" y="4078224"/>
            <a:ext cx="11064240" cy="347472"/>
          </a:xfrm>
          <a:prstGeom prst="roundRect">
            <a:avLst>
              <a:gd name="adj" fmla="val 10526"/>
            </a:avLst>
          </a:prstGeom>
          <a:solidFill>
            <a:srgbClr val="FFFFFF"/>
          </a:solidFill>
          <a:ln/>
        </p:spPr>
      </p:sp>
      <p:sp>
        <p:nvSpPr>
          <p:cNvPr id="29" name="Text 26"/>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30" name="Text 27"/>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31" name="Shape 28"/>
          <p:cNvSpPr/>
          <p:nvPr/>
        </p:nvSpPr>
        <p:spPr>
          <a:xfrm>
            <a:off x="548640" y="4471416"/>
            <a:ext cx="11064240" cy="347472"/>
          </a:xfrm>
          <a:prstGeom prst="roundRect">
            <a:avLst>
              <a:gd name="adj" fmla="val 10526"/>
            </a:avLst>
          </a:prstGeom>
          <a:solidFill>
            <a:srgbClr val="F4F7FD"/>
          </a:solidFill>
          <a:ln/>
        </p:spPr>
      </p:sp>
      <p:sp>
        <p:nvSpPr>
          <p:cNvPr id="32" name="Text 29"/>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33" name="Text 30"/>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34" name="Text 31"/>
          <p:cNvSpPr txBox="1"/>
          <p:nvPr/>
        </p:nvSpPr>
        <p:spPr>
          <a:xfrm>
            <a:off x="548640" y="5074920"/>
            <a:ext cx="11064240" cy="731520"/>
          </a:xfrm>
          <a:prstGeom prst="rect">
            <a:avLst/>
          </a:prstGeom>
          <a:noFill/>
          <a:ln/>
        </p:spPr>
        <p:txBody>
          <a:bodyPr wrap="square" lIns="0" tIns="0" rIns="0" bIns="0" rtlCol="0" anchor="t"/>
          <a:lstStyle/>
          <a:p>
            <a:pPr indent="0" marL="0">
              <a:buNone/>
            </a:pPr>
            <a:r>
              <a:rPr lang="en-US" sz="1900" b="1" dirty="0">
                <a:solidFill>
                  <a:srgbClr val="1E2761"/>
                </a:solidFill>
                <a:latin typeface="Calibri" pitchFamily="34" charset="0"/>
                <a:ea typeface="Calibri" pitchFamily="34" charset="-122"/>
                <a:cs typeface="Calibri" pitchFamily="34" charset="-120"/>
              </a:rPr>
              <a:t>Wer drankommt, sagt: richtig oder falsch – und den Beleg. Erst dann wird aufgedeckt. Alle verbessern mit Grün.</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325880"/>
            <a:ext cx="11064240" cy="347472"/>
          </a:xfrm>
          <a:prstGeom prst="roundRect">
            <a:avLst>
              <a:gd name="adj" fmla="val 10526"/>
            </a:avLst>
          </a:prstGeom>
          <a:solidFill>
            <a:srgbClr val="FFF4DE"/>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548640" y="2112264"/>
            <a:ext cx="11064240" cy="347472"/>
          </a:xfrm>
          <a:prstGeom prst="roundRect">
            <a:avLst>
              <a:gd name="adj" fmla="val 10526"/>
            </a:avLst>
          </a:prstGeom>
          <a:solidFill>
            <a:srgbClr val="F4F7FD"/>
          </a:solidFill>
          <a:ln/>
        </p:spPr>
      </p:sp>
      <p:sp>
        <p:nvSpPr>
          <p:cNvPr id="16" name="Text 13"/>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18" name="Shape 15"/>
          <p:cNvSpPr/>
          <p:nvPr/>
        </p:nvSpPr>
        <p:spPr>
          <a:xfrm>
            <a:off x="548640" y="2505456"/>
            <a:ext cx="11064240" cy="347472"/>
          </a:xfrm>
          <a:prstGeom prst="roundRect">
            <a:avLst>
              <a:gd name="adj" fmla="val 10526"/>
            </a:avLst>
          </a:prstGeom>
          <a:solidFill>
            <a:srgbClr val="FFFFFF"/>
          </a:solidFill>
          <a:ln/>
        </p:spPr>
      </p:sp>
      <p:sp>
        <p:nvSpPr>
          <p:cNvPr id="19" name="Text 16"/>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1" name="Shape 18"/>
          <p:cNvSpPr/>
          <p:nvPr/>
        </p:nvSpPr>
        <p:spPr>
          <a:xfrm>
            <a:off x="548640" y="2898648"/>
            <a:ext cx="11064240" cy="347472"/>
          </a:xfrm>
          <a:prstGeom prst="roundRect">
            <a:avLst>
              <a:gd name="adj" fmla="val 10526"/>
            </a:avLst>
          </a:prstGeom>
          <a:solidFill>
            <a:srgbClr val="F4F7FD"/>
          </a:solidFill>
          <a:ln/>
        </p:spPr>
      </p:sp>
      <p:sp>
        <p:nvSpPr>
          <p:cNvPr id="22" name="Text 19"/>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3" name="Text 20"/>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24" name="Shape 21"/>
          <p:cNvSpPr/>
          <p:nvPr/>
        </p:nvSpPr>
        <p:spPr>
          <a:xfrm>
            <a:off x="548640" y="3291840"/>
            <a:ext cx="11064240" cy="347472"/>
          </a:xfrm>
          <a:prstGeom prst="roundRect">
            <a:avLst>
              <a:gd name="adj" fmla="val 10526"/>
            </a:avLst>
          </a:prstGeom>
          <a:solidFill>
            <a:srgbClr val="FFFFFF"/>
          </a:solidFill>
          <a:ln/>
        </p:spPr>
      </p:sp>
      <p:sp>
        <p:nvSpPr>
          <p:cNvPr id="25" name="Text 22"/>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26" name="Text 23"/>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27" name="Shape 24"/>
          <p:cNvSpPr/>
          <p:nvPr/>
        </p:nvSpPr>
        <p:spPr>
          <a:xfrm>
            <a:off x="548640" y="3685032"/>
            <a:ext cx="11064240" cy="347472"/>
          </a:xfrm>
          <a:prstGeom prst="roundRect">
            <a:avLst>
              <a:gd name="adj" fmla="val 10526"/>
            </a:avLst>
          </a:prstGeom>
          <a:solidFill>
            <a:srgbClr val="F4F7FD"/>
          </a:solidFill>
          <a:ln/>
        </p:spPr>
      </p:sp>
      <p:sp>
        <p:nvSpPr>
          <p:cNvPr id="28" name="Text 25"/>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29" name="Text 26"/>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30" name="Shape 27"/>
          <p:cNvSpPr/>
          <p:nvPr/>
        </p:nvSpPr>
        <p:spPr>
          <a:xfrm>
            <a:off x="548640" y="4078224"/>
            <a:ext cx="11064240" cy="347472"/>
          </a:xfrm>
          <a:prstGeom prst="roundRect">
            <a:avLst>
              <a:gd name="adj" fmla="val 10526"/>
            </a:avLst>
          </a:prstGeom>
          <a:solidFill>
            <a:srgbClr val="FFFFFF"/>
          </a:solidFill>
          <a:ln/>
        </p:spPr>
      </p:sp>
      <p:sp>
        <p:nvSpPr>
          <p:cNvPr id="31" name="Text 28"/>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32" name="Text 29"/>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33" name="Shape 30"/>
          <p:cNvSpPr/>
          <p:nvPr/>
        </p:nvSpPr>
        <p:spPr>
          <a:xfrm>
            <a:off x="548640" y="4471416"/>
            <a:ext cx="11064240" cy="347472"/>
          </a:xfrm>
          <a:prstGeom prst="roundRect">
            <a:avLst>
              <a:gd name="adj" fmla="val 10526"/>
            </a:avLst>
          </a:prstGeom>
          <a:solidFill>
            <a:srgbClr val="F4F7FD"/>
          </a:solidFill>
          <a:ln/>
        </p:spPr>
      </p:sp>
      <p:sp>
        <p:nvSpPr>
          <p:cNvPr id="34" name="Text 31"/>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35" name="Text 32"/>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36" name="Shape 33"/>
          <p:cNvSpPr/>
          <p:nvPr/>
        </p:nvSpPr>
        <p:spPr>
          <a:xfrm>
            <a:off x="548640" y="4937760"/>
            <a:ext cx="11064240" cy="1325880"/>
          </a:xfrm>
          <a:prstGeom prst="roundRect">
            <a:avLst>
              <a:gd name="adj" fmla="val 5517"/>
            </a:avLst>
          </a:prstGeom>
          <a:solidFill>
            <a:srgbClr val="EAF0FA"/>
          </a:solidFill>
          <a:ln/>
        </p:spPr>
      </p:sp>
      <p:sp>
        <p:nvSpPr>
          <p:cNvPr id="37" name="Shape 34"/>
          <p:cNvSpPr/>
          <p:nvPr/>
        </p:nvSpPr>
        <p:spPr>
          <a:xfrm>
            <a:off x="548640" y="4937760"/>
            <a:ext cx="109728" cy="1325880"/>
          </a:xfrm>
          <a:prstGeom prst="rect">
            <a:avLst/>
          </a:prstGeom>
          <a:solidFill>
            <a:srgbClr val="2E9E6B"/>
          </a:solidFill>
          <a:ln/>
        </p:spPr>
      </p:sp>
      <p:sp>
        <p:nvSpPr>
          <p:cNvPr id="38" name="Text 35"/>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1: </a:t>
            </a:r>
            <a:pPr indent="0" marL="0">
              <a:buNone/>
            </a:pPr>
            <a:r>
              <a:rPr lang="en-US" sz="1600" b="1" dirty="0">
                <a:solidFill>
                  <a:srgbClr val="2E9E6B"/>
                </a:solidFill>
                <a:latin typeface="Calibri" pitchFamily="34" charset="0"/>
                <a:ea typeface="Calibri" pitchFamily="34" charset="-122"/>
                <a:cs typeface="Calibri" pitchFamily="34" charset="-120"/>
              </a:rPr>
              <a:t>richtig</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1, V. 4: „einen Mastbaum führt’ er als Wurfgeschoss“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4DE"/>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548640" y="2505456"/>
            <a:ext cx="11064240" cy="347472"/>
          </a:xfrm>
          <a:prstGeom prst="roundRect">
            <a:avLst>
              <a:gd name="adj" fmla="val 10526"/>
            </a:avLst>
          </a:prstGeom>
          <a:solidFill>
            <a:srgbClr val="FFFFFF"/>
          </a:solidFill>
          <a:ln/>
        </p:spPr>
      </p:sp>
      <p:sp>
        <p:nvSpPr>
          <p:cNvPr id="21" name="Text 18"/>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3" name="Shape 20"/>
          <p:cNvSpPr/>
          <p:nvPr/>
        </p:nvSpPr>
        <p:spPr>
          <a:xfrm>
            <a:off x="548640" y="2898648"/>
            <a:ext cx="11064240" cy="347472"/>
          </a:xfrm>
          <a:prstGeom prst="roundRect">
            <a:avLst>
              <a:gd name="adj" fmla="val 10526"/>
            </a:avLst>
          </a:prstGeom>
          <a:solidFill>
            <a:srgbClr val="F4F7FD"/>
          </a:solidFill>
          <a:ln/>
        </p:spPr>
      </p:sp>
      <p:sp>
        <p:nvSpPr>
          <p:cNvPr id="24" name="Text 21"/>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5" name="Text 22"/>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26" name="Shape 23"/>
          <p:cNvSpPr/>
          <p:nvPr/>
        </p:nvSpPr>
        <p:spPr>
          <a:xfrm>
            <a:off x="548640" y="3291840"/>
            <a:ext cx="11064240" cy="347472"/>
          </a:xfrm>
          <a:prstGeom prst="roundRect">
            <a:avLst>
              <a:gd name="adj" fmla="val 10526"/>
            </a:avLst>
          </a:prstGeom>
          <a:solidFill>
            <a:srgbClr val="FFFFFF"/>
          </a:solidFill>
          <a:ln/>
        </p:spPr>
      </p:sp>
      <p:sp>
        <p:nvSpPr>
          <p:cNvPr id="27" name="Text 24"/>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28" name="Text 25"/>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29" name="Shape 26"/>
          <p:cNvSpPr/>
          <p:nvPr/>
        </p:nvSpPr>
        <p:spPr>
          <a:xfrm>
            <a:off x="548640" y="3685032"/>
            <a:ext cx="11064240" cy="347472"/>
          </a:xfrm>
          <a:prstGeom prst="roundRect">
            <a:avLst>
              <a:gd name="adj" fmla="val 10526"/>
            </a:avLst>
          </a:prstGeom>
          <a:solidFill>
            <a:srgbClr val="F4F7FD"/>
          </a:solidFill>
          <a:ln/>
        </p:spPr>
      </p:sp>
      <p:sp>
        <p:nvSpPr>
          <p:cNvPr id="30" name="Text 27"/>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1" name="Text 28"/>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32" name="Shape 29"/>
          <p:cNvSpPr/>
          <p:nvPr/>
        </p:nvSpPr>
        <p:spPr>
          <a:xfrm>
            <a:off x="548640" y="4078224"/>
            <a:ext cx="11064240" cy="347472"/>
          </a:xfrm>
          <a:prstGeom prst="roundRect">
            <a:avLst>
              <a:gd name="adj" fmla="val 10526"/>
            </a:avLst>
          </a:prstGeom>
          <a:solidFill>
            <a:srgbClr val="FFFFFF"/>
          </a:solidFill>
          <a:ln/>
        </p:spPr>
      </p:sp>
      <p:sp>
        <p:nvSpPr>
          <p:cNvPr id="33" name="Text 30"/>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34" name="Text 31"/>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35" name="Shape 32"/>
          <p:cNvSpPr/>
          <p:nvPr/>
        </p:nvSpPr>
        <p:spPr>
          <a:xfrm>
            <a:off x="548640" y="4471416"/>
            <a:ext cx="11064240" cy="347472"/>
          </a:xfrm>
          <a:prstGeom prst="roundRect">
            <a:avLst>
              <a:gd name="adj" fmla="val 10526"/>
            </a:avLst>
          </a:prstGeom>
          <a:solidFill>
            <a:srgbClr val="F4F7FD"/>
          </a:solidFill>
          <a:ln/>
        </p:spPr>
      </p:sp>
      <p:sp>
        <p:nvSpPr>
          <p:cNvPr id="36" name="Text 33"/>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37" name="Text 34"/>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38" name="Shape 35"/>
          <p:cNvSpPr/>
          <p:nvPr/>
        </p:nvSpPr>
        <p:spPr>
          <a:xfrm>
            <a:off x="548640" y="4937760"/>
            <a:ext cx="11064240" cy="1325880"/>
          </a:xfrm>
          <a:prstGeom prst="roundRect">
            <a:avLst>
              <a:gd name="adj" fmla="val 5517"/>
            </a:avLst>
          </a:prstGeom>
          <a:solidFill>
            <a:srgbClr val="EAF0FA"/>
          </a:solidFill>
          <a:ln/>
        </p:spPr>
      </p:sp>
      <p:sp>
        <p:nvSpPr>
          <p:cNvPr id="39" name="Shape 36"/>
          <p:cNvSpPr/>
          <p:nvPr/>
        </p:nvSpPr>
        <p:spPr>
          <a:xfrm>
            <a:off x="548640" y="4937760"/>
            <a:ext cx="109728" cy="1325880"/>
          </a:xfrm>
          <a:prstGeom prst="rect">
            <a:avLst/>
          </a:prstGeom>
          <a:solidFill>
            <a:srgbClr val="D9534F"/>
          </a:solidFill>
          <a:ln/>
        </p:spPr>
      </p:sp>
      <p:sp>
        <p:nvSpPr>
          <p:cNvPr id="40" name="Text 37"/>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2: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2, V. 7–9: „der hörte von Fingals starker Hand; da wollt’ er erproben alsogleich, wer fester sei …“</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Er hat von Paddys Kraft gehört und will herausfinden, wer von beiden stärker ist.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FF4DE"/>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548640" y="2898648"/>
            <a:ext cx="11064240" cy="347472"/>
          </a:xfrm>
          <a:prstGeom prst="roundRect">
            <a:avLst>
              <a:gd name="adj" fmla="val 10526"/>
            </a:avLst>
          </a:prstGeom>
          <a:solidFill>
            <a:srgbClr val="F4F7FD"/>
          </a:solidFill>
          <a:ln/>
        </p:spPr>
      </p:sp>
      <p:sp>
        <p:nvSpPr>
          <p:cNvPr id="26" name="Text 23"/>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7" name="Text 24"/>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28" name="Shape 25"/>
          <p:cNvSpPr/>
          <p:nvPr/>
        </p:nvSpPr>
        <p:spPr>
          <a:xfrm>
            <a:off x="548640" y="3291840"/>
            <a:ext cx="11064240" cy="347472"/>
          </a:xfrm>
          <a:prstGeom prst="roundRect">
            <a:avLst>
              <a:gd name="adj" fmla="val 10526"/>
            </a:avLst>
          </a:prstGeom>
          <a:solidFill>
            <a:srgbClr val="FFFFFF"/>
          </a:solidFill>
          <a:ln/>
        </p:spPr>
      </p:sp>
      <p:sp>
        <p:nvSpPr>
          <p:cNvPr id="29" name="Text 26"/>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1" name="Shape 28"/>
          <p:cNvSpPr/>
          <p:nvPr/>
        </p:nvSpPr>
        <p:spPr>
          <a:xfrm>
            <a:off x="548640" y="3685032"/>
            <a:ext cx="11064240" cy="347472"/>
          </a:xfrm>
          <a:prstGeom prst="roundRect">
            <a:avLst>
              <a:gd name="adj" fmla="val 10526"/>
            </a:avLst>
          </a:prstGeom>
          <a:solidFill>
            <a:srgbClr val="F4F7FD"/>
          </a:solidFill>
          <a:ln/>
        </p:spPr>
      </p:sp>
      <p:sp>
        <p:nvSpPr>
          <p:cNvPr id="32" name="Text 29"/>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3" name="Text 30"/>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34" name="Shape 31"/>
          <p:cNvSpPr/>
          <p:nvPr/>
        </p:nvSpPr>
        <p:spPr>
          <a:xfrm>
            <a:off x="548640" y="4078224"/>
            <a:ext cx="11064240" cy="347472"/>
          </a:xfrm>
          <a:prstGeom prst="roundRect">
            <a:avLst>
              <a:gd name="adj" fmla="val 10526"/>
            </a:avLst>
          </a:prstGeom>
          <a:solidFill>
            <a:srgbClr val="FFFFFF"/>
          </a:solidFill>
          <a:ln/>
        </p:spPr>
      </p:sp>
      <p:sp>
        <p:nvSpPr>
          <p:cNvPr id="35" name="Text 32"/>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36" name="Text 33"/>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37" name="Shape 34"/>
          <p:cNvSpPr/>
          <p:nvPr/>
        </p:nvSpPr>
        <p:spPr>
          <a:xfrm>
            <a:off x="548640" y="4471416"/>
            <a:ext cx="11064240" cy="347472"/>
          </a:xfrm>
          <a:prstGeom prst="roundRect">
            <a:avLst>
              <a:gd name="adj" fmla="val 10526"/>
            </a:avLst>
          </a:prstGeom>
          <a:solidFill>
            <a:srgbClr val="F4F7FD"/>
          </a:solidFill>
          <a:ln/>
        </p:spPr>
      </p:sp>
      <p:sp>
        <p:nvSpPr>
          <p:cNvPr id="38" name="Text 35"/>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39" name="Text 36"/>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40" name="Shape 37"/>
          <p:cNvSpPr/>
          <p:nvPr/>
        </p:nvSpPr>
        <p:spPr>
          <a:xfrm>
            <a:off x="548640" y="4937760"/>
            <a:ext cx="11064240" cy="1325880"/>
          </a:xfrm>
          <a:prstGeom prst="roundRect">
            <a:avLst>
              <a:gd name="adj" fmla="val 5517"/>
            </a:avLst>
          </a:prstGeom>
          <a:solidFill>
            <a:srgbClr val="EAF0FA"/>
          </a:solidFill>
          <a:ln/>
        </p:spPr>
      </p:sp>
      <p:sp>
        <p:nvSpPr>
          <p:cNvPr id="41" name="Shape 38"/>
          <p:cNvSpPr/>
          <p:nvPr/>
        </p:nvSpPr>
        <p:spPr>
          <a:xfrm>
            <a:off x="548640" y="4937760"/>
            <a:ext cx="109728" cy="1325880"/>
          </a:xfrm>
          <a:prstGeom prst="rect">
            <a:avLst/>
          </a:prstGeom>
          <a:solidFill>
            <a:srgbClr val="D9534F"/>
          </a:solidFill>
          <a:ln/>
        </p:spPr>
      </p:sp>
      <p:sp>
        <p:nvSpPr>
          <p:cNvPr id="42" name="Text 39"/>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3: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3, V. 14: „dass der Fremdling zehn Schuh größer war“</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Der Schotte ist viel größer als Paddy.</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4DE"/>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4F7FD"/>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548640" y="3291840"/>
            <a:ext cx="11064240" cy="347472"/>
          </a:xfrm>
          <a:prstGeom prst="roundRect">
            <a:avLst>
              <a:gd name="adj" fmla="val 10526"/>
            </a:avLst>
          </a:prstGeom>
          <a:solidFill>
            <a:srgbClr val="FFFFFF"/>
          </a:solidFill>
          <a:ln/>
        </p:spPr>
      </p:sp>
      <p:sp>
        <p:nvSpPr>
          <p:cNvPr id="31" name="Text 28"/>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2" name="Text 29"/>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3" name="Shape 30"/>
          <p:cNvSpPr/>
          <p:nvPr/>
        </p:nvSpPr>
        <p:spPr>
          <a:xfrm>
            <a:off x="548640" y="3685032"/>
            <a:ext cx="11064240" cy="347472"/>
          </a:xfrm>
          <a:prstGeom prst="roundRect">
            <a:avLst>
              <a:gd name="adj" fmla="val 10526"/>
            </a:avLst>
          </a:prstGeom>
          <a:solidFill>
            <a:srgbClr val="F4F7FD"/>
          </a:solidFill>
          <a:ln/>
        </p:spPr>
      </p:sp>
      <p:sp>
        <p:nvSpPr>
          <p:cNvPr id="34" name="Text 31"/>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5" name="Text 32"/>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36" name="Shape 33"/>
          <p:cNvSpPr/>
          <p:nvPr/>
        </p:nvSpPr>
        <p:spPr>
          <a:xfrm>
            <a:off x="548640" y="4078224"/>
            <a:ext cx="11064240" cy="347472"/>
          </a:xfrm>
          <a:prstGeom prst="roundRect">
            <a:avLst>
              <a:gd name="adj" fmla="val 10526"/>
            </a:avLst>
          </a:prstGeom>
          <a:solidFill>
            <a:srgbClr val="FFFFFF"/>
          </a:solidFill>
          <a:ln/>
        </p:spPr>
      </p:sp>
      <p:sp>
        <p:nvSpPr>
          <p:cNvPr id="37" name="Text 34"/>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38" name="Text 35"/>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39" name="Shape 36"/>
          <p:cNvSpPr/>
          <p:nvPr/>
        </p:nvSpPr>
        <p:spPr>
          <a:xfrm>
            <a:off x="548640" y="4471416"/>
            <a:ext cx="11064240" cy="347472"/>
          </a:xfrm>
          <a:prstGeom prst="roundRect">
            <a:avLst>
              <a:gd name="adj" fmla="val 10526"/>
            </a:avLst>
          </a:prstGeom>
          <a:solidFill>
            <a:srgbClr val="F4F7FD"/>
          </a:solidFill>
          <a:ln/>
        </p:spPr>
      </p:sp>
      <p:sp>
        <p:nvSpPr>
          <p:cNvPr id="40" name="Text 37"/>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1" name="Text 38"/>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42" name="Shape 39"/>
          <p:cNvSpPr/>
          <p:nvPr/>
        </p:nvSpPr>
        <p:spPr>
          <a:xfrm>
            <a:off x="548640" y="4937760"/>
            <a:ext cx="11064240" cy="1325880"/>
          </a:xfrm>
          <a:prstGeom prst="roundRect">
            <a:avLst>
              <a:gd name="adj" fmla="val 5517"/>
            </a:avLst>
          </a:prstGeom>
          <a:solidFill>
            <a:srgbClr val="EAF0FA"/>
          </a:solidFill>
          <a:ln/>
        </p:spPr>
      </p:sp>
      <p:sp>
        <p:nvSpPr>
          <p:cNvPr id="43" name="Shape 40"/>
          <p:cNvSpPr/>
          <p:nvPr/>
        </p:nvSpPr>
        <p:spPr>
          <a:xfrm>
            <a:off x="548640" y="4937760"/>
            <a:ext cx="109728" cy="1325880"/>
          </a:xfrm>
          <a:prstGeom prst="rect">
            <a:avLst/>
          </a:prstGeom>
          <a:solidFill>
            <a:srgbClr val="D9534F"/>
          </a:solidFill>
          <a:ln/>
        </p:spPr>
      </p:sp>
      <p:sp>
        <p:nvSpPr>
          <p:cNvPr id="44" name="Text 41"/>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4: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4, V. 16–17: „Da lief er heim in jähem Schreck: O Schaya, birg mich im Versteck!“</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Paddy bekommt Angst und will sich verstecken.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FF4DE"/>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10104120" y="2935224"/>
            <a:ext cx="1417320" cy="274320"/>
          </a:xfrm>
          <a:prstGeom prst="roundRect">
            <a:avLst>
              <a:gd name="adj" fmla="val 50000"/>
            </a:avLst>
          </a:prstGeom>
          <a:solidFill>
            <a:srgbClr val="2E9E6B"/>
          </a:solidFill>
          <a:ln/>
        </p:spPr>
      </p:sp>
      <p:sp>
        <p:nvSpPr>
          <p:cNvPr id="31" name="Text 28"/>
          <p:cNvSpPr txBox="1"/>
          <p:nvPr/>
        </p:nvSpPr>
        <p:spPr>
          <a:xfrm>
            <a:off x="10104120" y="2935224"/>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32" name="Shape 29"/>
          <p:cNvSpPr/>
          <p:nvPr/>
        </p:nvSpPr>
        <p:spPr>
          <a:xfrm>
            <a:off x="548640" y="3291840"/>
            <a:ext cx="11064240" cy="347472"/>
          </a:xfrm>
          <a:prstGeom prst="roundRect">
            <a:avLst>
              <a:gd name="adj" fmla="val 10526"/>
            </a:avLst>
          </a:prstGeom>
          <a:solidFill>
            <a:srgbClr val="FFFFFF"/>
          </a:solidFill>
          <a:ln/>
        </p:spPr>
      </p:sp>
      <p:sp>
        <p:nvSpPr>
          <p:cNvPr id="33" name="Text 3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4" name="Text 3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5" name="Shape 32"/>
          <p:cNvSpPr/>
          <p:nvPr/>
        </p:nvSpPr>
        <p:spPr>
          <a:xfrm>
            <a:off x="548640" y="3685032"/>
            <a:ext cx="11064240" cy="347472"/>
          </a:xfrm>
          <a:prstGeom prst="roundRect">
            <a:avLst>
              <a:gd name="adj" fmla="val 10526"/>
            </a:avLst>
          </a:prstGeom>
          <a:solidFill>
            <a:srgbClr val="F4F7FD"/>
          </a:solidFill>
          <a:ln/>
        </p:spPr>
      </p:sp>
      <p:sp>
        <p:nvSpPr>
          <p:cNvPr id="36" name="Text 33"/>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7" name="Text 34"/>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38" name="Shape 35"/>
          <p:cNvSpPr/>
          <p:nvPr/>
        </p:nvSpPr>
        <p:spPr>
          <a:xfrm>
            <a:off x="548640" y="4078224"/>
            <a:ext cx="11064240" cy="347472"/>
          </a:xfrm>
          <a:prstGeom prst="roundRect">
            <a:avLst>
              <a:gd name="adj" fmla="val 10526"/>
            </a:avLst>
          </a:prstGeom>
          <a:solidFill>
            <a:srgbClr val="FFFFFF"/>
          </a:solidFill>
          <a:ln/>
        </p:spPr>
      </p:sp>
      <p:sp>
        <p:nvSpPr>
          <p:cNvPr id="39" name="Text 36"/>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40" name="Text 37"/>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41" name="Shape 38"/>
          <p:cNvSpPr/>
          <p:nvPr/>
        </p:nvSpPr>
        <p:spPr>
          <a:xfrm>
            <a:off x="548640" y="4471416"/>
            <a:ext cx="11064240" cy="347472"/>
          </a:xfrm>
          <a:prstGeom prst="roundRect">
            <a:avLst>
              <a:gd name="adj" fmla="val 10526"/>
            </a:avLst>
          </a:prstGeom>
          <a:solidFill>
            <a:srgbClr val="F4F7FD"/>
          </a:solidFill>
          <a:ln/>
        </p:spPr>
      </p:sp>
      <p:sp>
        <p:nvSpPr>
          <p:cNvPr id="42" name="Text 39"/>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3" name="Text 40"/>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44" name="Shape 41"/>
          <p:cNvSpPr/>
          <p:nvPr/>
        </p:nvSpPr>
        <p:spPr>
          <a:xfrm>
            <a:off x="548640" y="4937760"/>
            <a:ext cx="11064240" cy="1325880"/>
          </a:xfrm>
          <a:prstGeom prst="roundRect">
            <a:avLst>
              <a:gd name="adj" fmla="val 5517"/>
            </a:avLst>
          </a:prstGeom>
          <a:solidFill>
            <a:srgbClr val="EAF0FA"/>
          </a:solidFill>
          <a:ln/>
        </p:spPr>
      </p:sp>
      <p:sp>
        <p:nvSpPr>
          <p:cNvPr id="45" name="Shape 42"/>
          <p:cNvSpPr/>
          <p:nvPr/>
        </p:nvSpPr>
        <p:spPr>
          <a:xfrm>
            <a:off x="548640" y="4937760"/>
            <a:ext cx="109728" cy="1325880"/>
          </a:xfrm>
          <a:prstGeom prst="rect">
            <a:avLst/>
          </a:prstGeom>
          <a:solidFill>
            <a:srgbClr val="2E9E6B"/>
          </a:solidFill>
          <a:ln/>
        </p:spPr>
      </p:sp>
      <p:sp>
        <p:nvSpPr>
          <p:cNvPr id="46" name="Text 43"/>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5: </a:t>
            </a:r>
            <a:pPr indent="0" marL="0">
              <a:buNone/>
            </a:pPr>
            <a:r>
              <a:rPr lang="en-US" sz="1600" b="1" dirty="0">
                <a:solidFill>
                  <a:srgbClr val="2E9E6B"/>
                </a:solidFill>
                <a:latin typeface="Calibri" pitchFamily="34" charset="0"/>
                <a:ea typeface="Calibri" pitchFamily="34" charset="-122"/>
                <a:cs typeface="Calibri" pitchFamily="34" charset="-120"/>
              </a:rPr>
              <a:t>richtig</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7, V. 31–32: „Tut leise, Fremder, und tretet sacht, dass Paddys Kindlein nicht erwacht!“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4F7FD"/>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10104120" y="2935224"/>
            <a:ext cx="1417320" cy="274320"/>
          </a:xfrm>
          <a:prstGeom prst="roundRect">
            <a:avLst>
              <a:gd name="adj" fmla="val 50000"/>
            </a:avLst>
          </a:prstGeom>
          <a:solidFill>
            <a:srgbClr val="2E9E6B"/>
          </a:solidFill>
          <a:ln/>
        </p:spPr>
      </p:sp>
      <p:sp>
        <p:nvSpPr>
          <p:cNvPr id="31" name="Text 28"/>
          <p:cNvSpPr txBox="1"/>
          <p:nvPr/>
        </p:nvSpPr>
        <p:spPr>
          <a:xfrm>
            <a:off x="10104120" y="2935224"/>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32" name="Shape 29"/>
          <p:cNvSpPr/>
          <p:nvPr/>
        </p:nvSpPr>
        <p:spPr>
          <a:xfrm>
            <a:off x="548640" y="3291840"/>
            <a:ext cx="11064240" cy="347472"/>
          </a:xfrm>
          <a:prstGeom prst="roundRect">
            <a:avLst>
              <a:gd name="adj" fmla="val 10526"/>
            </a:avLst>
          </a:prstGeom>
          <a:solidFill>
            <a:srgbClr val="FFF4DE"/>
          </a:solidFill>
          <a:ln/>
        </p:spPr>
      </p:sp>
      <p:sp>
        <p:nvSpPr>
          <p:cNvPr id="33" name="Text 3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4" name="Text 3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5" name="Shape 32"/>
          <p:cNvSpPr/>
          <p:nvPr/>
        </p:nvSpPr>
        <p:spPr>
          <a:xfrm>
            <a:off x="10104120" y="3328416"/>
            <a:ext cx="1417320" cy="274320"/>
          </a:xfrm>
          <a:prstGeom prst="roundRect">
            <a:avLst>
              <a:gd name="adj" fmla="val 50000"/>
            </a:avLst>
          </a:prstGeom>
          <a:solidFill>
            <a:srgbClr val="D9534F"/>
          </a:solidFill>
          <a:ln/>
        </p:spPr>
      </p:sp>
      <p:sp>
        <p:nvSpPr>
          <p:cNvPr id="36" name="Text 33"/>
          <p:cNvSpPr txBox="1"/>
          <p:nvPr/>
        </p:nvSpPr>
        <p:spPr>
          <a:xfrm>
            <a:off x="10104120" y="332841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37" name="Shape 34"/>
          <p:cNvSpPr/>
          <p:nvPr/>
        </p:nvSpPr>
        <p:spPr>
          <a:xfrm>
            <a:off x="548640" y="3685032"/>
            <a:ext cx="11064240" cy="347472"/>
          </a:xfrm>
          <a:prstGeom prst="roundRect">
            <a:avLst>
              <a:gd name="adj" fmla="val 10526"/>
            </a:avLst>
          </a:prstGeom>
          <a:solidFill>
            <a:srgbClr val="F4F7FD"/>
          </a:solidFill>
          <a:ln/>
        </p:spPr>
      </p:sp>
      <p:sp>
        <p:nvSpPr>
          <p:cNvPr id="38" name="Text 35"/>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9" name="Text 36"/>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40" name="Shape 37"/>
          <p:cNvSpPr/>
          <p:nvPr/>
        </p:nvSpPr>
        <p:spPr>
          <a:xfrm>
            <a:off x="548640" y="4078224"/>
            <a:ext cx="11064240" cy="347472"/>
          </a:xfrm>
          <a:prstGeom prst="roundRect">
            <a:avLst>
              <a:gd name="adj" fmla="val 10526"/>
            </a:avLst>
          </a:prstGeom>
          <a:solidFill>
            <a:srgbClr val="FFFFFF"/>
          </a:solidFill>
          <a:ln/>
        </p:spPr>
      </p:sp>
      <p:sp>
        <p:nvSpPr>
          <p:cNvPr id="41" name="Text 38"/>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42" name="Text 39"/>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43" name="Shape 40"/>
          <p:cNvSpPr/>
          <p:nvPr/>
        </p:nvSpPr>
        <p:spPr>
          <a:xfrm>
            <a:off x="548640" y="4471416"/>
            <a:ext cx="11064240" cy="347472"/>
          </a:xfrm>
          <a:prstGeom prst="roundRect">
            <a:avLst>
              <a:gd name="adj" fmla="val 10526"/>
            </a:avLst>
          </a:prstGeom>
          <a:solidFill>
            <a:srgbClr val="F4F7FD"/>
          </a:solidFill>
          <a:ln/>
        </p:spPr>
      </p:sp>
      <p:sp>
        <p:nvSpPr>
          <p:cNvPr id="44" name="Text 41"/>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5" name="Text 42"/>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46" name="Shape 43"/>
          <p:cNvSpPr/>
          <p:nvPr/>
        </p:nvSpPr>
        <p:spPr>
          <a:xfrm>
            <a:off x="548640" y="4937760"/>
            <a:ext cx="11064240" cy="1325880"/>
          </a:xfrm>
          <a:prstGeom prst="roundRect">
            <a:avLst>
              <a:gd name="adj" fmla="val 5517"/>
            </a:avLst>
          </a:prstGeom>
          <a:solidFill>
            <a:srgbClr val="EAF0FA"/>
          </a:solidFill>
          <a:ln/>
        </p:spPr>
      </p:sp>
      <p:sp>
        <p:nvSpPr>
          <p:cNvPr id="47" name="Shape 44"/>
          <p:cNvSpPr/>
          <p:nvPr/>
        </p:nvSpPr>
        <p:spPr>
          <a:xfrm>
            <a:off x="548640" y="4937760"/>
            <a:ext cx="109728" cy="1325880"/>
          </a:xfrm>
          <a:prstGeom prst="rect">
            <a:avLst/>
          </a:prstGeom>
          <a:solidFill>
            <a:srgbClr val="D9534F"/>
          </a:solidFill>
          <a:ln/>
        </p:spPr>
      </p:sp>
      <p:sp>
        <p:nvSpPr>
          <p:cNvPr id="48" name="Text 45"/>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6: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8, V. 37: „der Schotte neugierig ans Lager ging“</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Er geht trotz der Warnung neugierig ans Bett.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4F7FD"/>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10104120" y="2935224"/>
            <a:ext cx="1417320" cy="274320"/>
          </a:xfrm>
          <a:prstGeom prst="roundRect">
            <a:avLst>
              <a:gd name="adj" fmla="val 50000"/>
            </a:avLst>
          </a:prstGeom>
          <a:solidFill>
            <a:srgbClr val="2E9E6B"/>
          </a:solidFill>
          <a:ln/>
        </p:spPr>
      </p:sp>
      <p:sp>
        <p:nvSpPr>
          <p:cNvPr id="31" name="Text 28"/>
          <p:cNvSpPr txBox="1"/>
          <p:nvPr/>
        </p:nvSpPr>
        <p:spPr>
          <a:xfrm>
            <a:off x="10104120" y="2935224"/>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32" name="Shape 29"/>
          <p:cNvSpPr/>
          <p:nvPr/>
        </p:nvSpPr>
        <p:spPr>
          <a:xfrm>
            <a:off x="548640" y="3291840"/>
            <a:ext cx="11064240" cy="347472"/>
          </a:xfrm>
          <a:prstGeom prst="roundRect">
            <a:avLst>
              <a:gd name="adj" fmla="val 10526"/>
            </a:avLst>
          </a:prstGeom>
          <a:solidFill>
            <a:srgbClr val="FFFFFF"/>
          </a:solidFill>
          <a:ln/>
        </p:spPr>
      </p:sp>
      <p:sp>
        <p:nvSpPr>
          <p:cNvPr id="33" name="Text 3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4" name="Text 3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5" name="Shape 32"/>
          <p:cNvSpPr/>
          <p:nvPr/>
        </p:nvSpPr>
        <p:spPr>
          <a:xfrm>
            <a:off x="10104120" y="3328416"/>
            <a:ext cx="1417320" cy="274320"/>
          </a:xfrm>
          <a:prstGeom prst="roundRect">
            <a:avLst>
              <a:gd name="adj" fmla="val 50000"/>
            </a:avLst>
          </a:prstGeom>
          <a:solidFill>
            <a:srgbClr val="D9534F"/>
          </a:solidFill>
          <a:ln/>
        </p:spPr>
      </p:sp>
      <p:sp>
        <p:nvSpPr>
          <p:cNvPr id="36" name="Text 33"/>
          <p:cNvSpPr txBox="1"/>
          <p:nvPr/>
        </p:nvSpPr>
        <p:spPr>
          <a:xfrm>
            <a:off x="10104120" y="332841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37" name="Shape 34"/>
          <p:cNvSpPr/>
          <p:nvPr/>
        </p:nvSpPr>
        <p:spPr>
          <a:xfrm>
            <a:off x="548640" y="3685032"/>
            <a:ext cx="11064240" cy="347472"/>
          </a:xfrm>
          <a:prstGeom prst="roundRect">
            <a:avLst>
              <a:gd name="adj" fmla="val 10526"/>
            </a:avLst>
          </a:prstGeom>
          <a:solidFill>
            <a:srgbClr val="FFF4DE"/>
          </a:solidFill>
          <a:ln/>
        </p:spPr>
      </p:sp>
      <p:sp>
        <p:nvSpPr>
          <p:cNvPr id="38" name="Text 35"/>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9" name="Text 36"/>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40" name="Shape 37"/>
          <p:cNvSpPr/>
          <p:nvPr/>
        </p:nvSpPr>
        <p:spPr>
          <a:xfrm>
            <a:off x="10104120" y="3721608"/>
            <a:ext cx="1417320" cy="274320"/>
          </a:xfrm>
          <a:prstGeom prst="roundRect">
            <a:avLst>
              <a:gd name="adj" fmla="val 50000"/>
            </a:avLst>
          </a:prstGeom>
          <a:solidFill>
            <a:srgbClr val="D9534F"/>
          </a:solidFill>
          <a:ln/>
        </p:spPr>
      </p:sp>
      <p:sp>
        <p:nvSpPr>
          <p:cNvPr id="41" name="Text 38"/>
          <p:cNvSpPr txBox="1"/>
          <p:nvPr/>
        </p:nvSpPr>
        <p:spPr>
          <a:xfrm>
            <a:off x="10104120" y="372160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42" name="Shape 39"/>
          <p:cNvSpPr/>
          <p:nvPr/>
        </p:nvSpPr>
        <p:spPr>
          <a:xfrm>
            <a:off x="548640" y="4078224"/>
            <a:ext cx="11064240" cy="347472"/>
          </a:xfrm>
          <a:prstGeom prst="roundRect">
            <a:avLst>
              <a:gd name="adj" fmla="val 10526"/>
            </a:avLst>
          </a:prstGeom>
          <a:solidFill>
            <a:srgbClr val="FFFFFF"/>
          </a:solidFill>
          <a:ln/>
        </p:spPr>
      </p:sp>
      <p:sp>
        <p:nvSpPr>
          <p:cNvPr id="43" name="Text 40"/>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44" name="Text 41"/>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45" name="Shape 42"/>
          <p:cNvSpPr/>
          <p:nvPr/>
        </p:nvSpPr>
        <p:spPr>
          <a:xfrm>
            <a:off x="548640" y="4471416"/>
            <a:ext cx="11064240" cy="347472"/>
          </a:xfrm>
          <a:prstGeom prst="roundRect">
            <a:avLst>
              <a:gd name="adj" fmla="val 10526"/>
            </a:avLst>
          </a:prstGeom>
          <a:solidFill>
            <a:srgbClr val="F4F7FD"/>
          </a:solidFill>
          <a:ln/>
        </p:spPr>
      </p:sp>
      <p:sp>
        <p:nvSpPr>
          <p:cNvPr id="46" name="Text 43"/>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7" name="Text 44"/>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48" name="Shape 45"/>
          <p:cNvSpPr/>
          <p:nvPr/>
        </p:nvSpPr>
        <p:spPr>
          <a:xfrm>
            <a:off x="548640" y="4937760"/>
            <a:ext cx="11064240" cy="1325880"/>
          </a:xfrm>
          <a:prstGeom prst="roundRect">
            <a:avLst>
              <a:gd name="adj" fmla="val 5517"/>
            </a:avLst>
          </a:prstGeom>
          <a:solidFill>
            <a:srgbClr val="EAF0FA"/>
          </a:solidFill>
          <a:ln/>
        </p:spPr>
      </p:sp>
      <p:sp>
        <p:nvSpPr>
          <p:cNvPr id="49" name="Shape 46"/>
          <p:cNvSpPr/>
          <p:nvPr/>
        </p:nvSpPr>
        <p:spPr>
          <a:xfrm>
            <a:off x="548640" y="4937760"/>
            <a:ext cx="109728" cy="1325880"/>
          </a:xfrm>
          <a:prstGeom prst="rect">
            <a:avLst/>
          </a:prstGeom>
          <a:solidFill>
            <a:srgbClr val="D9534F"/>
          </a:solidFill>
          <a:ln/>
        </p:spPr>
      </p:sp>
      <p:sp>
        <p:nvSpPr>
          <p:cNvPr id="50" name="Text 47"/>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7: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9, V. 43–44: „Ist das ein Baby, wie Ihr sagt, ein Narr, wer’s mit ihm selber wagt!“</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Er hält Paddy für ein Baby und fürchtet sich vor dessen riesigem Vater.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4F7FD"/>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10104120" y="2935224"/>
            <a:ext cx="1417320" cy="274320"/>
          </a:xfrm>
          <a:prstGeom prst="roundRect">
            <a:avLst>
              <a:gd name="adj" fmla="val 50000"/>
            </a:avLst>
          </a:prstGeom>
          <a:solidFill>
            <a:srgbClr val="2E9E6B"/>
          </a:solidFill>
          <a:ln/>
        </p:spPr>
      </p:sp>
      <p:sp>
        <p:nvSpPr>
          <p:cNvPr id="31" name="Text 28"/>
          <p:cNvSpPr txBox="1"/>
          <p:nvPr/>
        </p:nvSpPr>
        <p:spPr>
          <a:xfrm>
            <a:off x="10104120" y="2935224"/>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32" name="Shape 29"/>
          <p:cNvSpPr/>
          <p:nvPr/>
        </p:nvSpPr>
        <p:spPr>
          <a:xfrm>
            <a:off x="548640" y="3291840"/>
            <a:ext cx="11064240" cy="347472"/>
          </a:xfrm>
          <a:prstGeom prst="roundRect">
            <a:avLst>
              <a:gd name="adj" fmla="val 10526"/>
            </a:avLst>
          </a:prstGeom>
          <a:solidFill>
            <a:srgbClr val="FFFFFF"/>
          </a:solidFill>
          <a:ln/>
        </p:spPr>
      </p:sp>
      <p:sp>
        <p:nvSpPr>
          <p:cNvPr id="33" name="Text 3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4" name="Text 3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5" name="Shape 32"/>
          <p:cNvSpPr/>
          <p:nvPr/>
        </p:nvSpPr>
        <p:spPr>
          <a:xfrm>
            <a:off x="10104120" y="3328416"/>
            <a:ext cx="1417320" cy="274320"/>
          </a:xfrm>
          <a:prstGeom prst="roundRect">
            <a:avLst>
              <a:gd name="adj" fmla="val 50000"/>
            </a:avLst>
          </a:prstGeom>
          <a:solidFill>
            <a:srgbClr val="D9534F"/>
          </a:solidFill>
          <a:ln/>
        </p:spPr>
      </p:sp>
      <p:sp>
        <p:nvSpPr>
          <p:cNvPr id="36" name="Text 33"/>
          <p:cNvSpPr txBox="1"/>
          <p:nvPr/>
        </p:nvSpPr>
        <p:spPr>
          <a:xfrm>
            <a:off x="10104120" y="332841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37" name="Shape 34"/>
          <p:cNvSpPr/>
          <p:nvPr/>
        </p:nvSpPr>
        <p:spPr>
          <a:xfrm>
            <a:off x="548640" y="3685032"/>
            <a:ext cx="11064240" cy="347472"/>
          </a:xfrm>
          <a:prstGeom prst="roundRect">
            <a:avLst>
              <a:gd name="adj" fmla="val 10526"/>
            </a:avLst>
          </a:prstGeom>
          <a:solidFill>
            <a:srgbClr val="F4F7FD"/>
          </a:solidFill>
          <a:ln/>
        </p:spPr>
      </p:sp>
      <p:sp>
        <p:nvSpPr>
          <p:cNvPr id="38" name="Text 35"/>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9" name="Text 36"/>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40" name="Shape 37"/>
          <p:cNvSpPr/>
          <p:nvPr/>
        </p:nvSpPr>
        <p:spPr>
          <a:xfrm>
            <a:off x="10104120" y="3721608"/>
            <a:ext cx="1417320" cy="274320"/>
          </a:xfrm>
          <a:prstGeom prst="roundRect">
            <a:avLst>
              <a:gd name="adj" fmla="val 50000"/>
            </a:avLst>
          </a:prstGeom>
          <a:solidFill>
            <a:srgbClr val="D9534F"/>
          </a:solidFill>
          <a:ln/>
        </p:spPr>
      </p:sp>
      <p:sp>
        <p:nvSpPr>
          <p:cNvPr id="41" name="Text 38"/>
          <p:cNvSpPr txBox="1"/>
          <p:nvPr/>
        </p:nvSpPr>
        <p:spPr>
          <a:xfrm>
            <a:off x="10104120" y="372160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42" name="Shape 39"/>
          <p:cNvSpPr/>
          <p:nvPr/>
        </p:nvSpPr>
        <p:spPr>
          <a:xfrm>
            <a:off x="548640" y="4078224"/>
            <a:ext cx="11064240" cy="347472"/>
          </a:xfrm>
          <a:prstGeom prst="roundRect">
            <a:avLst>
              <a:gd name="adj" fmla="val 10526"/>
            </a:avLst>
          </a:prstGeom>
          <a:solidFill>
            <a:srgbClr val="FFF4DE"/>
          </a:solidFill>
          <a:ln/>
        </p:spPr>
      </p:sp>
      <p:sp>
        <p:nvSpPr>
          <p:cNvPr id="43" name="Text 40"/>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44" name="Text 41"/>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45" name="Shape 42"/>
          <p:cNvSpPr/>
          <p:nvPr/>
        </p:nvSpPr>
        <p:spPr>
          <a:xfrm>
            <a:off x="10104120" y="4114800"/>
            <a:ext cx="1417320" cy="274320"/>
          </a:xfrm>
          <a:prstGeom prst="roundRect">
            <a:avLst>
              <a:gd name="adj" fmla="val 50000"/>
            </a:avLst>
          </a:prstGeom>
          <a:solidFill>
            <a:srgbClr val="2E9E6B"/>
          </a:solidFill>
          <a:ln/>
        </p:spPr>
      </p:sp>
      <p:sp>
        <p:nvSpPr>
          <p:cNvPr id="46" name="Text 43"/>
          <p:cNvSpPr txBox="1"/>
          <p:nvPr/>
        </p:nvSpPr>
        <p:spPr>
          <a:xfrm>
            <a:off x="10104120" y="411480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47" name="Shape 44"/>
          <p:cNvSpPr/>
          <p:nvPr/>
        </p:nvSpPr>
        <p:spPr>
          <a:xfrm>
            <a:off x="548640" y="4471416"/>
            <a:ext cx="11064240" cy="347472"/>
          </a:xfrm>
          <a:prstGeom prst="roundRect">
            <a:avLst>
              <a:gd name="adj" fmla="val 10526"/>
            </a:avLst>
          </a:prstGeom>
          <a:solidFill>
            <a:srgbClr val="F4F7FD"/>
          </a:solidFill>
          <a:ln/>
        </p:spPr>
      </p:sp>
      <p:sp>
        <p:nvSpPr>
          <p:cNvPr id="48" name="Text 45"/>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9" name="Text 46"/>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50" name="Shape 47"/>
          <p:cNvSpPr/>
          <p:nvPr/>
        </p:nvSpPr>
        <p:spPr>
          <a:xfrm>
            <a:off x="548640" y="4937760"/>
            <a:ext cx="11064240" cy="1325880"/>
          </a:xfrm>
          <a:prstGeom prst="roundRect">
            <a:avLst>
              <a:gd name="adj" fmla="val 5517"/>
            </a:avLst>
          </a:prstGeom>
          <a:solidFill>
            <a:srgbClr val="EAF0FA"/>
          </a:solidFill>
          <a:ln/>
        </p:spPr>
      </p:sp>
      <p:sp>
        <p:nvSpPr>
          <p:cNvPr id="51" name="Shape 48"/>
          <p:cNvSpPr/>
          <p:nvPr/>
        </p:nvSpPr>
        <p:spPr>
          <a:xfrm>
            <a:off x="548640" y="4937760"/>
            <a:ext cx="109728" cy="1325880"/>
          </a:xfrm>
          <a:prstGeom prst="rect">
            <a:avLst/>
          </a:prstGeom>
          <a:solidFill>
            <a:srgbClr val="2E9E6B"/>
          </a:solidFill>
          <a:ln/>
        </p:spPr>
      </p:sp>
      <p:sp>
        <p:nvSpPr>
          <p:cNvPr id="52" name="Text 49"/>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8: </a:t>
            </a:r>
            <a:pPr indent="0" marL="0">
              <a:buNone/>
            </a:pPr>
            <a:r>
              <a:rPr lang="en-US" sz="1600" b="1" dirty="0">
                <a:solidFill>
                  <a:srgbClr val="2E9E6B"/>
                </a:solidFill>
                <a:latin typeface="Calibri" pitchFamily="34" charset="0"/>
                <a:ea typeface="Calibri" pitchFamily="34" charset="-122"/>
                <a:cs typeface="Calibri" pitchFamily="34" charset="-120"/>
              </a:rPr>
              <a:t>richtig</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10, V. 48: „fast wär ertrunken der gute Held“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TEIL 1 ·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Richtig oder falsch?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325880"/>
            <a:ext cx="11064240" cy="347472"/>
          </a:xfrm>
          <a:prstGeom prst="roundRect">
            <a:avLst>
              <a:gd name="adj" fmla="val 10526"/>
            </a:avLst>
          </a:prstGeom>
          <a:solidFill>
            <a:srgbClr val="F4F7FD"/>
          </a:solidFill>
          <a:ln/>
        </p:spPr>
      </p:sp>
      <p:sp>
        <p:nvSpPr>
          <p:cNvPr id="8" name="Text 5"/>
          <p:cNvSpPr txBox="1"/>
          <p:nvPr/>
        </p:nvSpPr>
        <p:spPr>
          <a:xfrm>
            <a:off x="640080" y="138074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188720" y="138988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ist so stark, dass er einen Schiffsmast wie einen Speer wirft.</a:t>
            </a:r>
            <a:endParaRPr lang="en-US" sz="1400" dirty="0"/>
          </a:p>
        </p:txBody>
      </p:sp>
      <p:sp>
        <p:nvSpPr>
          <p:cNvPr id="10" name="Shape 7"/>
          <p:cNvSpPr/>
          <p:nvPr/>
        </p:nvSpPr>
        <p:spPr>
          <a:xfrm>
            <a:off x="10104120" y="1362456"/>
            <a:ext cx="1417320" cy="274320"/>
          </a:xfrm>
          <a:prstGeom prst="roundRect">
            <a:avLst>
              <a:gd name="adj" fmla="val 50000"/>
            </a:avLst>
          </a:prstGeom>
          <a:solidFill>
            <a:srgbClr val="2E9E6B"/>
          </a:solidFill>
          <a:ln/>
        </p:spPr>
      </p:sp>
      <p:sp>
        <p:nvSpPr>
          <p:cNvPr id="11" name="Text 8"/>
          <p:cNvSpPr txBox="1"/>
          <p:nvPr/>
        </p:nvSpPr>
        <p:spPr>
          <a:xfrm>
            <a:off x="10104120" y="136245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12" name="Shape 9"/>
          <p:cNvSpPr/>
          <p:nvPr/>
        </p:nvSpPr>
        <p:spPr>
          <a:xfrm>
            <a:off x="548640" y="1719072"/>
            <a:ext cx="11064240" cy="347472"/>
          </a:xfrm>
          <a:prstGeom prst="roundRect">
            <a:avLst>
              <a:gd name="adj" fmla="val 10526"/>
            </a:avLst>
          </a:prstGeom>
          <a:solidFill>
            <a:srgbClr val="FFFFFF"/>
          </a:solidFill>
          <a:ln/>
        </p:spPr>
      </p:sp>
      <p:sp>
        <p:nvSpPr>
          <p:cNvPr id="13" name="Text 10"/>
          <p:cNvSpPr txBox="1"/>
          <p:nvPr/>
        </p:nvSpPr>
        <p:spPr>
          <a:xfrm>
            <a:off x="640080" y="177393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88720" y="178308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kommt zu Paddy, weil er ihn als Verbündeten gegen einen Feind gewinnen will.</a:t>
            </a:r>
            <a:endParaRPr lang="en-US" sz="1400" dirty="0"/>
          </a:p>
        </p:txBody>
      </p:sp>
      <p:sp>
        <p:nvSpPr>
          <p:cNvPr id="15" name="Shape 12"/>
          <p:cNvSpPr/>
          <p:nvPr/>
        </p:nvSpPr>
        <p:spPr>
          <a:xfrm>
            <a:off x="10104120" y="1755648"/>
            <a:ext cx="1417320" cy="274320"/>
          </a:xfrm>
          <a:prstGeom prst="roundRect">
            <a:avLst>
              <a:gd name="adj" fmla="val 50000"/>
            </a:avLst>
          </a:prstGeom>
          <a:solidFill>
            <a:srgbClr val="D9534F"/>
          </a:solidFill>
          <a:ln/>
        </p:spPr>
      </p:sp>
      <p:sp>
        <p:nvSpPr>
          <p:cNvPr id="16" name="Text 13"/>
          <p:cNvSpPr txBox="1"/>
          <p:nvPr/>
        </p:nvSpPr>
        <p:spPr>
          <a:xfrm>
            <a:off x="10104120" y="175564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17" name="Shape 14"/>
          <p:cNvSpPr/>
          <p:nvPr/>
        </p:nvSpPr>
        <p:spPr>
          <a:xfrm>
            <a:off x="548640" y="2112264"/>
            <a:ext cx="11064240" cy="347472"/>
          </a:xfrm>
          <a:prstGeom prst="roundRect">
            <a:avLst>
              <a:gd name="adj" fmla="val 10526"/>
            </a:avLst>
          </a:prstGeom>
          <a:solidFill>
            <a:srgbClr val="F4F7FD"/>
          </a:solidFill>
          <a:ln/>
        </p:spPr>
      </p:sp>
      <p:sp>
        <p:nvSpPr>
          <p:cNvPr id="18" name="Text 15"/>
          <p:cNvSpPr txBox="1"/>
          <p:nvPr/>
        </p:nvSpPr>
        <p:spPr>
          <a:xfrm>
            <a:off x="640080" y="216712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1188720" y="217627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Als Paddy den Fremden von Weitem sieht, merkt er, dass beide ungefähr gleich groß sind.</a:t>
            </a:r>
            <a:endParaRPr lang="en-US" sz="1400" dirty="0"/>
          </a:p>
        </p:txBody>
      </p:sp>
      <p:sp>
        <p:nvSpPr>
          <p:cNvPr id="20" name="Shape 17"/>
          <p:cNvSpPr/>
          <p:nvPr/>
        </p:nvSpPr>
        <p:spPr>
          <a:xfrm>
            <a:off x="10104120" y="2148840"/>
            <a:ext cx="1417320" cy="274320"/>
          </a:xfrm>
          <a:prstGeom prst="roundRect">
            <a:avLst>
              <a:gd name="adj" fmla="val 50000"/>
            </a:avLst>
          </a:prstGeom>
          <a:solidFill>
            <a:srgbClr val="D9534F"/>
          </a:solidFill>
          <a:ln/>
        </p:spPr>
      </p:sp>
      <p:sp>
        <p:nvSpPr>
          <p:cNvPr id="21" name="Text 18"/>
          <p:cNvSpPr txBox="1"/>
          <p:nvPr/>
        </p:nvSpPr>
        <p:spPr>
          <a:xfrm>
            <a:off x="10104120" y="214884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2" name="Shape 19"/>
          <p:cNvSpPr/>
          <p:nvPr/>
        </p:nvSpPr>
        <p:spPr>
          <a:xfrm>
            <a:off x="548640" y="2505456"/>
            <a:ext cx="11064240" cy="347472"/>
          </a:xfrm>
          <a:prstGeom prst="roundRect">
            <a:avLst>
              <a:gd name="adj" fmla="val 10526"/>
            </a:avLst>
          </a:prstGeom>
          <a:solidFill>
            <a:srgbClr val="FFFFFF"/>
          </a:solidFill>
          <a:ln/>
        </p:spPr>
      </p:sp>
      <p:sp>
        <p:nvSpPr>
          <p:cNvPr id="23" name="Text 20"/>
          <p:cNvSpPr txBox="1"/>
          <p:nvPr/>
        </p:nvSpPr>
        <p:spPr>
          <a:xfrm>
            <a:off x="640080" y="256032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1188720" y="2569464"/>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Paddy will sich dem Kampf stellen und bittet Schaya, ihm beim Vorbereiten zu helfen.</a:t>
            </a:r>
            <a:endParaRPr lang="en-US" sz="1400" dirty="0"/>
          </a:p>
        </p:txBody>
      </p:sp>
      <p:sp>
        <p:nvSpPr>
          <p:cNvPr id="25" name="Shape 22"/>
          <p:cNvSpPr/>
          <p:nvPr/>
        </p:nvSpPr>
        <p:spPr>
          <a:xfrm>
            <a:off x="10104120" y="2542032"/>
            <a:ext cx="1417320" cy="274320"/>
          </a:xfrm>
          <a:prstGeom prst="roundRect">
            <a:avLst>
              <a:gd name="adj" fmla="val 50000"/>
            </a:avLst>
          </a:prstGeom>
          <a:solidFill>
            <a:srgbClr val="D9534F"/>
          </a:solidFill>
          <a:ln/>
        </p:spPr>
      </p:sp>
      <p:sp>
        <p:nvSpPr>
          <p:cNvPr id="26" name="Text 23"/>
          <p:cNvSpPr txBox="1"/>
          <p:nvPr/>
        </p:nvSpPr>
        <p:spPr>
          <a:xfrm>
            <a:off x="10104120" y="254203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27" name="Shape 24"/>
          <p:cNvSpPr/>
          <p:nvPr/>
        </p:nvSpPr>
        <p:spPr>
          <a:xfrm>
            <a:off x="548640" y="2898648"/>
            <a:ext cx="11064240" cy="347472"/>
          </a:xfrm>
          <a:prstGeom prst="roundRect">
            <a:avLst>
              <a:gd name="adj" fmla="val 10526"/>
            </a:avLst>
          </a:prstGeom>
          <a:solidFill>
            <a:srgbClr val="F4F7FD"/>
          </a:solidFill>
          <a:ln/>
        </p:spPr>
      </p:sp>
      <p:sp>
        <p:nvSpPr>
          <p:cNvPr id="28" name="Text 25"/>
          <p:cNvSpPr txBox="1"/>
          <p:nvPr/>
        </p:nvSpPr>
        <p:spPr>
          <a:xfrm>
            <a:off x="640080" y="2953512"/>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1188720" y="2962656"/>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Schaya bittet den Fremden, leise zu sein, damit das Kind nicht aufwacht.</a:t>
            </a:r>
            <a:endParaRPr lang="en-US" sz="1400" dirty="0"/>
          </a:p>
        </p:txBody>
      </p:sp>
      <p:sp>
        <p:nvSpPr>
          <p:cNvPr id="30" name="Shape 27"/>
          <p:cNvSpPr/>
          <p:nvPr/>
        </p:nvSpPr>
        <p:spPr>
          <a:xfrm>
            <a:off x="10104120" y="2935224"/>
            <a:ext cx="1417320" cy="274320"/>
          </a:xfrm>
          <a:prstGeom prst="roundRect">
            <a:avLst>
              <a:gd name="adj" fmla="val 50000"/>
            </a:avLst>
          </a:prstGeom>
          <a:solidFill>
            <a:srgbClr val="2E9E6B"/>
          </a:solidFill>
          <a:ln/>
        </p:spPr>
      </p:sp>
      <p:sp>
        <p:nvSpPr>
          <p:cNvPr id="31" name="Text 28"/>
          <p:cNvSpPr txBox="1"/>
          <p:nvPr/>
        </p:nvSpPr>
        <p:spPr>
          <a:xfrm>
            <a:off x="10104120" y="2935224"/>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32" name="Shape 29"/>
          <p:cNvSpPr/>
          <p:nvPr/>
        </p:nvSpPr>
        <p:spPr>
          <a:xfrm>
            <a:off x="548640" y="3291840"/>
            <a:ext cx="11064240" cy="347472"/>
          </a:xfrm>
          <a:prstGeom prst="roundRect">
            <a:avLst>
              <a:gd name="adj" fmla="val 10526"/>
            </a:avLst>
          </a:prstGeom>
          <a:solidFill>
            <a:srgbClr val="FFFFFF"/>
          </a:solidFill>
          <a:ln/>
        </p:spPr>
      </p:sp>
      <p:sp>
        <p:nvSpPr>
          <p:cNvPr id="33" name="Text 30"/>
          <p:cNvSpPr txBox="1"/>
          <p:nvPr/>
        </p:nvSpPr>
        <p:spPr>
          <a:xfrm>
            <a:off x="640080" y="3346704"/>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6</a:t>
            </a:r>
            <a:endParaRPr lang="en-US" sz="1400" dirty="0"/>
          </a:p>
        </p:txBody>
      </p:sp>
      <p:sp>
        <p:nvSpPr>
          <p:cNvPr id="34" name="Text 31"/>
          <p:cNvSpPr txBox="1"/>
          <p:nvPr/>
        </p:nvSpPr>
        <p:spPr>
          <a:xfrm>
            <a:off x="1188720" y="3355848"/>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hält sich an Schayas Warnung und bleibt vom Bett weg.</a:t>
            </a:r>
            <a:endParaRPr lang="en-US" sz="1400" dirty="0"/>
          </a:p>
        </p:txBody>
      </p:sp>
      <p:sp>
        <p:nvSpPr>
          <p:cNvPr id="35" name="Shape 32"/>
          <p:cNvSpPr/>
          <p:nvPr/>
        </p:nvSpPr>
        <p:spPr>
          <a:xfrm>
            <a:off x="10104120" y="3328416"/>
            <a:ext cx="1417320" cy="274320"/>
          </a:xfrm>
          <a:prstGeom prst="roundRect">
            <a:avLst>
              <a:gd name="adj" fmla="val 50000"/>
            </a:avLst>
          </a:prstGeom>
          <a:solidFill>
            <a:srgbClr val="D9534F"/>
          </a:solidFill>
          <a:ln/>
        </p:spPr>
      </p:sp>
      <p:sp>
        <p:nvSpPr>
          <p:cNvPr id="36" name="Text 33"/>
          <p:cNvSpPr txBox="1"/>
          <p:nvPr/>
        </p:nvSpPr>
        <p:spPr>
          <a:xfrm>
            <a:off x="10104120" y="3328416"/>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37" name="Shape 34"/>
          <p:cNvSpPr/>
          <p:nvPr/>
        </p:nvSpPr>
        <p:spPr>
          <a:xfrm>
            <a:off x="548640" y="3685032"/>
            <a:ext cx="11064240" cy="347472"/>
          </a:xfrm>
          <a:prstGeom prst="roundRect">
            <a:avLst>
              <a:gd name="adj" fmla="val 10526"/>
            </a:avLst>
          </a:prstGeom>
          <a:solidFill>
            <a:srgbClr val="F4F7FD"/>
          </a:solidFill>
          <a:ln/>
        </p:spPr>
      </p:sp>
      <p:sp>
        <p:nvSpPr>
          <p:cNvPr id="38" name="Text 35"/>
          <p:cNvSpPr txBox="1"/>
          <p:nvPr/>
        </p:nvSpPr>
        <p:spPr>
          <a:xfrm>
            <a:off x="640080" y="3739896"/>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7</a:t>
            </a:r>
            <a:endParaRPr lang="en-US" sz="1400" dirty="0"/>
          </a:p>
        </p:txBody>
      </p:sp>
      <p:sp>
        <p:nvSpPr>
          <p:cNvPr id="39" name="Text 36"/>
          <p:cNvSpPr txBox="1"/>
          <p:nvPr/>
        </p:nvSpPr>
        <p:spPr>
          <a:xfrm>
            <a:off x="1188720" y="3749040"/>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Der Schotte erkennt Paddy im Bett und flieht vor ihm.</a:t>
            </a:r>
            <a:endParaRPr lang="en-US" sz="1400" dirty="0"/>
          </a:p>
        </p:txBody>
      </p:sp>
      <p:sp>
        <p:nvSpPr>
          <p:cNvPr id="40" name="Shape 37"/>
          <p:cNvSpPr/>
          <p:nvPr/>
        </p:nvSpPr>
        <p:spPr>
          <a:xfrm>
            <a:off x="10104120" y="3721608"/>
            <a:ext cx="1417320" cy="274320"/>
          </a:xfrm>
          <a:prstGeom prst="roundRect">
            <a:avLst>
              <a:gd name="adj" fmla="val 50000"/>
            </a:avLst>
          </a:prstGeom>
          <a:solidFill>
            <a:srgbClr val="D9534F"/>
          </a:solidFill>
          <a:ln/>
        </p:spPr>
      </p:sp>
      <p:sp>
        <p:nvSpPr>
          <p:cNvPr id="41" name="Text 38"/>
          <p:cNvSpPr txBox="1"/>
          <p:nvPr/>
        </p:nvSpPr>
        <p:spPr>
          <a:xfrm>
            <a:off x="10104120" y="3721608"/>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42" name="Shape 39"/>
          <p:cNvSpPr/>
          <p:nvPr/>
        </p:nvSpPr>
        <p:spPr>
          <a:xfrm>
            <a:off x="548640" y="4078224"/>
            <a:ext cx="11064240" cy="347472"/>
          </a:xfrm>
          <a:prstGeom prst="roundRect">
            <a:avLst>
              <a:gd name="adj" fmla="val 10526"/>
            </a:avLst>
          </a:prstGeom>
          <a:solidFill>
            <a:srgbClr val="FFFFFF"/>
          </a:solidFill>
          <a:ln/>
        </p:spPr>
      </p:sp>
      <p:sp>
        <p:nvSpPr>
          <p:cNvPr id="43" name="Text 40"/>
          <p:cNvSpPr txBox="1"/>
          <p:nvPr/>
        </p:nvSpPr>
        <p:spPr>
          <a:xfrm>
            <a:off x="640080" y="4133088"/>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8</a:t>
            </a:r>
            <a:endParaRPr lang="en-US" sz="1400" dirty="0"/>
          </a:p>
        </p:txBody>
      </p:sp>
      <p:sp>
        <p:nvSpPr>
          <p:cNvPr id="44" name="Text 41"/>
          <p:cNvSpPr txBox="1"/>
          <p:nvPr/>
        </p:nvSpPr>
        <p:spPr>
          <a:xfrm>
            <a:off x="1188720" y="4142232"/>
            <a:ext cx="8778240" cy="27432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Auf der Flucht hätte der Schotte beinahe sein Leben verloren.</a:t>
            </a:r>
            <a:endParaRPr lang="en-US" sz="1400" dirty="0"/>
          </a:p>
        </p:txBody>
      </p:sp>
      <p:sp>
        <p:nvSpPr>
          <p:cNvPr id="45" name="Shape 42"/>
          <p:cNvSpPr/>
          <p:nvPr/>
        </p:nvSpPr>
        <p:spPr>
          <a:xfrm>
            <a:off x="10104120" y="4114800"/>
            <a:ext cx="1417320" cy="274320"/>
          </a:xfrm>
          <a:prstGeom prst="roundRect">
            <a:avLst>
              <a:gd name="adj" fmla="val 50000"/>
            </a:avLst>
          </a:prstGeom>
          <a:solidFill>
            <a:srgbClr val="2E9E6B"/>
          </a:solidFill>
          <a:ln/>
        </p:spPr>
      </p:sp>
      <p:sp>
        <p:nvSpPr>
          <p:cNvPr id="46" name="Text 43"/>
          <p:cNvSpPr txBox="1"/>
          <p:nvPr/>
        </p:nvSpPr>
        <p:spPr>
          <a:xfrm>
            <a:off x="10104120" y="4114800"/>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richtig</a:t>
            </a:r>
            <a:endParaRPr lang="en-US" sz="1300" dirty="0"/>
          </a:p>
        </p:txBody>
      </p:sp>
      <p:sp>
        <p:nvSpPr>
          <p:cNvPr id="47" name="Shape 44"/>
          <p:cNvSpPr/>
          <p:nvPr/>
        </p:nvSpPr>
        <p:spPr>
          <a:xfrm>
            <a:off x="548640" y="4471416"/>
            <a:ext cx="11064240" cy="347472"/>
          </a:xfrm>
          <a:prstGeom prst="roundRect">
            <a:avLst>
              <a:gd name="adj" fmla="val 10526"/>
            </a:avLst>
          </a:prstGeom>
          <a:solidFill>
            <a:srgbClr val="FFF4DE"/>
          </a:solidFill>
          <a:ln/>
        </p:spPr>
      </p:sp>
      <p:sp>
        <p:nvSpPr>
          <p:cNvPr id="48" name="Text 45"/>
          <p:cNvSpPr txBox="1"/>
          <p:nvPr/>
        </p:nvSpPr>
        <p:spPr>
          <a:xfrm>
            <a:off x="640080" y="4526280"/>
            <a:ext cx="502920" cy="274320"/>
          </a:xfrm>
          <a:prstGeom prst="rect">
            <a:avLst/>
          </a:prstGeom>
          <a:noFill/>
          <a:ln/>
        </p:spPr>
        <p:txBody>
          <a:bodyPr wrap="square" lIns="0" tIns="0" rIns="0" bIns="0" rtlCol="0" anchor="t"/>
          <a:lstStyle/>
          <a:p>
            <a:pPr algn="ctr" indent="0" marL="0">
              <a:buNone/>
            </a:pPr>
            <a:r>
              <a:rPr lang="en-US" sz="1400" b="1" dirty="0">
                <a:solidFill>
                  <a:srgbClr val="2E9E6B"/>
                </a:solidFill>
                <a:latin typeface="Calibri" pitchFamily="34" charset="0"/>
                <a:ea typeface="Calibri" pitchFamily="34" charset="-122"/>
                <a:cs typeface="Calibri" pitchFamily="34" charset="-120"/>
              </a:rPr>
              <a:t>* 9</a:t>
            </a:r>
            <a:endParaRPr lang="en-US" sz="1400" dirty="0"/>
          </a:p>
        </p:txBody>
      </p:sp>
      <p:sp>
        <p:nvSpPr>
          <p:cNvPr id="49" name="Text 46"/>
          <p:cNvSpPr txBox="1"/>
          <p:nvPr/>
        </p:nvSpPr>
        <p:spPr>
          <a:xfrm>
            <a:off x="1188720" y="4535424"/>
            <a:ext cx="8778240" cy="2743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Paddy wird am Ende zu Recht als tapferer Held gefeiert, weil er den Schotten besiegt hat.</a:t>
            </a:r>
            <a:endParaRPr lang="en-US" sz="1400" dirty="0"/>
          </a:p>
        </p:txBody>
      </p:sp>
      <p:sp>
        <p:nvSpPr>
          <p:cNvPr id="50" name="Shape 47"/>
          <p:cNvSpPr/>
          <p:nvPr/>
        </p:nvSpPr>
        <p:spPr>
          <a:xfrm>
            <a:off x="10104120" y="4507992"/>
            <a:ext cx="1417320" cy="274320"/>
          </a:xfrm>
          <a:prstGeom prst="roundRect">
            <a:avLst>
              <a:gd name="adj" fmla="val 50000"/>
            </a:avLst>
          </a:prstGeom>
          <a:solidFill>
            <a:srgbClr val="D9534F"/>
          </a:solidFill>
          <a:ln/>
        </p:spPr>
      </p:sp>
      <p:sp>
        <p:nvSpPr>
          <p:cNvPr id="51" name="Text 48"/>
          <p:cNvSpPr txBox="1"/>
          <p:nvPr/>
        </p:nvSpPr>
        <p:spPr>
          <a:xfrm>
            <a:off x="10104120" y="4507992"/>
            <a:ext cx="1417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falsch</a:t>
            </a:r>
            <a:endParaRPr lang="en-US" sz="1300" dirty="0"/>
          </a:p>
        </p:txBody>
      </p:sp>
      <p:sp>
        <p:nvSpPr>
          <p:cNvPr id="52" name="Shape 49"/>
          <p:cNvSpPr/>
          <p:nvPr/>
        </p:nvSpPr>
        <p:spPr>
          <a:xfrm>
            <a:off x="548640" y="4937760"/>
            <a:ext cx="11064240" cy="1325880"/>
          </a:xfrm>
          <a:prstGeom prst="roundRect">
            <a:avLst>
              <a:gd name="adj" fmla="val 5517"/>
            </a:avLst>
          </a:prstGeom>
          <a:solidFill>
            <a:srgbClr val="EAF0FA"/>
          </a:solidFill>
          <a:ln/>
        </p:spPr>
      </p:sp>
      <p:sp>
        <p:nvSpPr>
          <p:cNvPr id="53" name="Shape 50"/>
          <p:cNvSpPr/>
          <p:nvPr/>
        </p:nvSpPr>
        <p:spPr>
          <a:xfrm>
            <a:off x="548640" y="4937760"/>
            <a:ext cx="109728" cy="1325880"/>
          </a:xfrm>
          <a:prstGeom prst="rect">
            <a:avLst/>
          </a:prstGeom>
          <a:solidFill>
            <a:srgbClr val="D9534F"/>
          </a:solidFill>
          <a:ln/>
        </p:spPr>
      </p:sp>
      <p:sp>
        <p:nvSpPr>
          <p:cNvPr id="54" name="Text 51"/>
          <p:cNvSpPr txBox="1"/>
          <p:nvPr/>
        </p:nvSpPr>
        <p:spPr>
          <a:xfrm>
            <a:off x="822960" y="5047488"/>
            <a:ext cx="10607040" cy="11430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Aussage 9: </a:t>
            </a:r>
            <a:pPr indent="0" marL="0">
              <a:buNone/>
            </a:pPr>
            <a:r>
              <a:rPr lang="en-US" sz="1600" b="1" dirty="0">
                <a:solidFill>
                  <a:srgbClr val="D9534F"/>
                </a:solidFill>
                <a:latin typeface="Calibri" pitchFamily="34" charset="0"/>
                <a:ea typeface="Calibri" pitchFamily="34" charset="-122"/>
                <a:cs typeface="Calibri" pitchFamily="34" charset="-120"/>
              </a:rPr>
              <a:t>falsch</a:t>
            </a:r>
            <a:pPr indent="0" marL="0">
              <a:buNone/>
            </a:pPr>
            <a:r>
              <a:rPr lang="en-US" sz="1600" b="1" dirty="0">
                <a:solidFill>
                  <a:srgbClr val="1E2761"/>
                </a:solidFill>
                <a:latin typeface="Calibri" pitchFamily="34" charset="0"/>
                <a:ea typeface="Calibri" pitchFamily="34" charset="-122"/>
                <a:cs typeface="Calibri" pitchFamily="34" charset="-120"/>
              </a:rPr>
              <a:t>   ·   Beleg: </a:t>
            </a:r>
            <a:pPr indent="0" marL="0">
              <a:buNone/>
            </a:pPr>
            <a:r>
              <a:rPr lang="en-US" sz="1600" dirty="0">
                <a:solidFill>
                  <a:srgbClr val="1E2761"/>
                </a:solidFill>
                <a:latin typeface="Calibri" pitchFamily="34" charset="0"/>
                <a:ea typeface="Calibri" pitchFamily="34" charset="-122"/>
                <a:cs typeface="Calibri" pitchFamily="34" charset="-120"/>
              </a:rPr>
              <a:t>Str. 11, V. 55: „den tapfern Paddy Fingal“</a:t>
            </a:r>
            <a:pPr indent="0" marL="0">
              <a:buNone/>
            </a:pPr>
            <a:endParaRPr lang="en-US" sz="1600" dirty="0"/>
          </a:p>
          <a:p>
            <a:pPr indent="0" marL="0">
              <a:buNone/>
            </a:pPr>
            <a:r>
              <a:rPr lang="en-US" sz="1600" b="1" dirty="0">
                <a:solidFill>
                  <a:srgbClr val="1E2761"/>
                </a:solidFill>
                <a:latin typeface="Calibri" pitchFamily="34" charset="0"/>
                <a:ea typeface="Calibri" pitchFamily="34" charset="-122"/>
                <a:cs typeface="Calibri" pitchFamily="34" charset="-120"/>
              </a:rPr>
              <a:t>Richtig ist: </a:t>
            </a:r>
            <a:endParaRPr lang="en-US" sz="1600" dirty="0"/>
          </a:p>
          <a:p>
            <a:pPr indent="0" marL="0">
              <a:buNone/>
            </a:pPr>
            <a:r>
              <a:rPr lang="en-US" sz="1600" dirty="0">
                <a:solidFill>
                  <a:srgbClr val="1E2761"/>
                </a:solidFill>
                <a:latin typeface="Calibri" pitchFamily="34" charset="0"/>
                <a:ea typeface="Calibri" pitchFamily="34" charset="-122"/>
                <a:cs typeface="Calibri" pitchFamily="34" charset="-120"/>
              </a:rPr>
              <a:t>Paddy hat nie gekämpft und gewinnt nur durch Schayas List – „tapfer“ ist ironisch gemeint.</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 VERARBEITEN · LB-AUFGABE 1 B</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 Ü3  Erzählt die Ballade nach</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1 · Paddy Fingal – den Inhalt erschließen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371600"/>
            <a:ext cx="11064240" cy="502920"/>
          </a:xfrm>
          <a:prstGeom prst="roundRect">
            <a:avLst>
              <a:gd name="adj" fmla="val 14545"/>
            </a:avLst>
          </a:prstGeom>
          <a:solidFill>
            <a:srgbClr val="EAF0FA"/>
          </a:solidFill>
          <a:ln/>
        </p:spPr>
      </p:sp>
      <p:sp>
        <p:nvSpPr>
          <p:cNvPr id="8" name="Text 5"/>
          <p:cNvSpPr txBox="1"/>
          <p:nvPr/>
        </p:nvSpPr>
        <p:spPr>
          <a:xfrm>
            <a:off x="777240" y="1463040"/>
            <a:ext cx="10607040" cy="365760"/>
          </a:xfrm>
          <a:prstGeom prst="rect">
            <a:avLst/>
          </a:prstGeom>
          <a:noFill/>
          <a:ln/>
        </p:spPr>
        <p:txBody>
          <a:bodyPr wrap="square" lIns="0" tIns="0" rIns="0" bIns="0" rtlCol="0" anchor="t"/>
          <a:lstStyle/>
          <a:p>
            <a:pPr indent="0" marL="0">
              <a:buNone/>
            </a:pPr>
            <a:r>
              <a:rPr lang="en-US" sz="1700" b="1" dirty="0">
                <a:solidFill>
                  <a:srgbClr val="2E9E6B"/>
                </a:solidFill>
                <a:latin typeface="Calibri" pitchFamily="34" charset="0"/>
                <a:ea typeface="Calibri" pitchFamily="34" charset="-122"/>
                <a:cs typeface="Calibri" pitchFamily="34" charset="-120"/>
              </a:rPr>
              <a:t>Einstieg: </a:t>
            </a:r>
            <a:pPr indent="0" marL="0">
              <a:buNone/>
            </a:pPr>
            <a:r>
              <a:rPr lang="en-US" sz="1700" dirty="0">
                <a:solidFill>
                  <a:srgbClr val="1E2761"/>
                </a:solidFill>
                <a:latin typeface="Calibri" pitchFamily="34" charset="0"/>
                <a:ea typeface="Calibri" pitchFamily="34" charset="-122"/>
                <a:cs typeface="Calibri" pitchFamily="34" charset="-120"/>
              </a:rPr>
              <a:t>In der Ballade „Paddy Fingal“ von Wilhelm Brandes geht es um …</a:t>
            </a:r>
            <a:endParaRPr lang="en-US" sz="1700" dirty="0"/>
          </a:p>
        </p:txBody>
      </p:sp>
      <p:sp>
        <p:nvSpPr>
          <p:cNvPr id="9" name="Shape 6"/>
          <p:cNvSpPr/>
          <p:nvPr/>
        </p:nvSpPr>
        <p:spPr>
          <a:xfrm>
            <a:off x="548640" y="2011680"/>
            <a:ext cx="5440680" cy="566928"/>
          </a:xfrm>
          <a:prstGeom prst="roundRect">
            <a:avLst>
              <a:gd name="adj" fmla="val 12903"/>
            </a:avLst>
          </a:prstGeom>
          <a:solidFill>
            <a:srgbClr val="F4F7FD"/>
          </a:solidFill>
          <a:ln/>
        </p:spPr>
      </p:sp>
      <p:sp>
        <p:nvSpPr>
          <p:cNvPr id="10" name="Text 7"/>
          <p:cNvSpPr txBox="1"/>
          <p:nvPr/>
        </p:nvSpPr>
        <p:spPr>
          <a:xfrm>
            <a:off x="658368" y="2130552"/>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1005840" y="2139696"/>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Paddy – Riese – Bart – Mastbaum</a:t>
            </a:r>
            <a:endParaRPr lang="en-US" sz="1500" dirty="0"/>
          </a:p>
        </p:txBody>
      </p:sp>
      <p:sp>
        <p:nvSpPr>
          <p:cNvPr id="12" name="Text 9"/>
          <p:cNvSpPr txBox="1"/>
          <p:nvPr/>
        </p:nvSpPr>
        <p:spPr>
          <a:xfrm>
            <a:off x="4983480" y="2148840"/>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1</a:t>
            </a:r>
            <a:endParaRPr lang="en-US" sz="1200" dirty="0"/>
          </a:p>
        </p:txBody>
      </p:sp>
      <p:sp>
        <p:nvSpPr>
          <p:cNvPr id="13" name="Shape 10"/>
          <p:cNvSpPr/>
          <p:nvPr/>
        </p:nvSpPr>
        <p:spPr>
          <a:xfrm>
            <a:off x="548640" y="2670048"/>
            <a:ext cx="5440680" cy="566928"/>
          </a:xfrm>
          <a:prstGeom prst="roundRect">
            <a:avLst>
              <a:gd name="adj" fmla="val 12903"/>
            </a:avLst>
          </a:prstGeom>
          <a:solidFill>
            <a:srgbClr val="F4F7FD"/>
          </a:solidFill>
          <a:ln/>
        </p:spPr>
      </p:sp>
      <p:sp>
        <p:nvSpPr>
          <p:cNvPr id="14" name="Text 11"/>
          <p:cNvSpPr txBox="1"/>
          <p:nvPr/>
        </p:nvSpPr>
        <p:spPr>
          <a:xfrm>
            <a:off x="658368" y="2788920"/>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1005840" y="2798064"/>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Hüne aus Schottland – Wer ist stärker?</a:t>
            </a:r>
            <a:endParaRPr lang="en-US" sz="1500" dirty="0"/>
          </a:p>
        </p:txBody>
      </p:sp>
      <p:sp>
        <p:nvSpPr>
          <p:cNvPr id="16" name="Text 13"/>
          <p:cNvSpPr txBox="1"/>
          <p:nvPr/>
        </p:nvSpPr>
        <p:spPr>
          <a:xfrm>
            <a:off x="4983480" y="2807208"/>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2</a:t>
            </a:r>
            <a:endParaRPr lang="en-US" sz="1200" dirty="0"/>
          </a:p>
        </p:txBody>
      </p:sp>
      <p:sp>
        <p:nvSpPr>
          <p:cNvPr id="17" name="Shape 14"/>
          <p:cNvSpPr/>
          <p:nvPr/>
        </p:nvSpPr>
        <p:spPr>
          <a:xfrm>
            <a:off x="548640" y="3328416"/>
            <a:ext cx="5440680" cy="566928"/>
          </a:xfrm>
          <a:prstGeom prst="roundRect">
            <a:avLst>
              <a:gd name="adj" fmla="val 12903"/>
            </a:avLst>
          </a:prstGeom>
          <a:solidFill>
            <a:srgbClr val="F4F7FD"/>
          </a:solidFill>
          <a:ln/>
        </p:spPr>
      </p:sp>
      <p:sp>
        <p:nvSpPr>
          <p:cNvPr id="18" name="Text 15"/>
          <p:cNvSpPr txBox="1"/>
          <p:nvPr/>
        </p:nvSpPr>
        <p:spPr>
          <a:xfrm>
            <a:off x="658368" y="3447288"/>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1005840" y="3456432"/>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Ufer – zehn Schuh größer – Schreck – Versteck</a:t>
            </a:r>
            <a:endParaRPr lang="en-US" sz="1500" dirty="0"/>
          </a:p>
        </p:txBody>
      </p:sp>
      <p:sp>
        <p:nvSpPr>
          <p:cNvPr id="20" name="Text 17"/>
          <p:cNvSpPr txBox="1"/>
          <p:nvPr/>
        </p:nvSpPr>
        <p:spPr>
          <a:xfrm>
            <a:off x="4983480" y="3465576"/>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3–4</a:t>
            </a:r>
            <a:endParaRPr lang="en-US" sz="1200" dirty="0"/>
          </a:p>
        </p:txBody>
      </p:sp>
      <p:sp>
        <p:nvSpPr>
          <p:cNvPr id="21" name="Shape 18"/>
          <p:cNvSpPr/>
          <p:nvPr/>
        </p:nvSpPr>
        <p:spPr>
          <a:xfrm>
            <a:off x="548640" y="3986784"/>
            <a:ext cx="5440680" cy="566928"/>
          </a:xfrm>
          <a:prstGeom prst="roundRect">
            <a:avLst>
              <a:gd name="adj" fmla="val 12903"/>
            </a:avLst>
          </a:prstGeom>
          <a:solidFill>
            <a:srgbClr val="F4F7FD"/>
          </a:solidFill>
          <a:ln/>
        </p:spPr>
      </p:sp>
      <p:sp>
        <p:nvSpPr>
          <p:cNvPr id="22" name="Text 19"/>
          <p:cNvSpPr txBox="1"/>
          <p:nvPr/>
        </p:nvSpPr>
        <p:spPr>
          <a:xfrm>
            <a:off x="658368" y="4105656"/>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1005840" y="4114800"/>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Schaya – Bett – Kissen – nur die Nase</a:t>
            </a:r>
            <a:endParaRPr lang="en-US" sz="1500" dirty="0"/>
          </a:p>
        </p:txBody>
      </p:sp>
      <p:sp>
        <p:nvSpPr>
          <p:cNvPr id="24" name="Text 21"/>
          <p:cNvSpPr txBox="1"/>
          <p:nvPr/>
        </p:nvSpPr>
        <p:spPr>
          <a:xfrm>
            <a:off x="4983480" y="4123944"/>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5</a:t>
            </a:r>
            <a:endParaRPr lang="en-US" sz="1200" dirty="0"/>
          </a:p>
        </p:txBody>
      </p:sp>
      <p:sp>
        <p:nvSpPr>
          <p:cNvPr id="25" name="Shape 22"/>
          <p:cNvSpPr/>
          <p:nvPr/>
        </p:nvSpPr>
        <p:spPr>
          <a:xfrm>
            <a:off x="6172200" y="2011680"/>
            <a:ext cx="5440680" cy="566928"/>
          </a:xfrm>
          <a:prstGeom prst="roundRect">
            <a:avLst>
              <a:gd name="adj" fmla="val 12903"/>
            </a:avLst>
          </a:prstGeom>
          <a:solidFill>
            <a:srgbClr val="F4F7FD"/>
          </a:solidFill>
          <a:ln/>
        </p:spPr>
      </p:sp>
      <p:sp>
        <p:nvSpPr>
          <p:cNvPr id="26" name="Text 23"/>
          <p:cNvSpPr txBox="1"/>
          <p:nvPr/>
        </p:nvSpPr>
        <p:spPr>
          <a:xfrm>
            <a:off x="6281928" y="2130552"/>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5</a:t>
            </a:r>
            <a:endParaRPr lang="en-US" sz="1600" dirty="0"/>
          </a:p>
        </p:txBody>
      </p:sp>
      <p:sp>
        <p:nvSpPr>
          <p:cNvPr id="27" name="Text 24"/>
          <p:cNvSpPr txBox="1"/>
          <p:nvPr/>
        </p:nvSpPr>
        <p:spPr>
          <a:xfrm>
            <a:off x="6629400" y="2139696"/>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Schotte sucht – Schayas Warnung – „Kindlein“</a:t>
            </a:r>
            <a:endParaRPr lang="en-US" sz="1500" dirty="0"/>
          </a:p>
        </p:txBody>
      </p:sp>
      <p:sp>
        <p:nvSpPr>
          <p:cNvPr id="28" name="Text 25"/>
          <p:cNvSpPr txBox="1"/>
          <p:nvPr/>
        </p:nvSpPr>
        <p:spPr>
          <a:xfrm>
            <a:off x="10607040" y="2148840"/>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6–7</a:t>
            </a:r>
            <a:endParaRPr lang="en-US" sz="1200" dirty="0"/>
          </a:p>
        </p:txBody>
      </p:sp>
      <p:sp>
        <p:nvSpPr>
          <p:cNvPr id="29" name="Shape 26"/>
          <p:cNvSpPr/>
          <p:nvPr/>
        </p:nvSpPr>
        <p:spPr>
          <a:xfrm>
            <a:off x="6172200" y="2670048"/>
            <a:ext cx="5440680" cy="566928"/>
          </a:xfrm>
          <a:prstGeom prst="roundRect">
            <a:avLst>
              <a:gd name="adj" fmla="val 12903"/>
            </a:avLst>
          </a:prstGeom>
          <a:solidFill>
            <a:srgbClr val="F4F7FD"/>
          </a:solidFill>
          <a:ln/>
        </p:spPr>
      </p:sp>
      <p:sp>
        <p:nvSpPr>
          <p:cNvPr id="30" name="Text 27"/>
          <p:cNvSpPr txBox="1"/>
          <p:nvPr/>
        </p:nvSpPr>
        <p:spPr>
          <a:xfrm>
            <a:off x="6281928" y="2788920"/>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6</a:t>
            </a:r>
            <a:endParaRPr lang="en-US" sz="1600" dirty="0"/>
          </a:p>
        </p:txBody>
      </p:sp>
      <p:sp>
        <p:nvSpPr>
          <p:cNvPr id="31" name="Text 28"/>
          <p:cNvSpPr txBox="1"/>
          <p:nvPr/>
        </p:nvSpPr>
        <p:spPr>
          <a:xfrm>
            <a:off x="6629400" y="2798064"/>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Nase – Baby? – riesiger Vater</a:t>
            </a:r>
            <a:endParaRPr lang="en-US" sz="1500" dirty="0"/>
          </a:p>
        </p:txBody>
      </p:sp>
      <p:sp>
        <p:nvSpPr>
          <p:cNvPr id="32" name="Text 29"/>
          <p:cNvSpPr txBox="1"/>
          <p:nvPr/>
        </p:nvSpPr>
        <p:spPr>
          <a:xfrm>
            <a:off x="10607040" y="2807208"/>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8–9</a:t>
            </a:r>
            <a:endParaRPr lang="en-US" sz="1200" dirty="0"/>
          </a:p>
        </p:txBody>
      </p:sp>
      <p:sp>
        <p:nvSpPr>
          <p:cNvPr id="33" name="Shape 30"/>
          <p:cNvSpPr/>
          <p:nvPr/>
        </p:nvSpPr>
        <p:spPr>
          <a:xfrm>
            <a:off x="6172200" y="3328416"/>
            <a:ext cx="5440680" cy="566928"/>
          </a:xfrm>
          <a:prstGeom prst="roundRect">
            <a:avLst>
              <a:gd name="adj" fmla="val 12903"/>
            </a:avLst>
          </a:prstGeom>
          <a:solidFill>
            <a:srgbClr val="F4F7FD"/>
          </a:solidFill>
          <a:ln/>
        </p:spPr>
      </p:sp>
      <p:sp>
        <p:nvSpPr>
          <p:cNvPr id="34" name="Text 31"/>
          <p:cNvSpPr txBox="1"/>
          <p:nvPr/>
        </p:nvSpPr>
        <p:spPr>
          <a:xfrm>
            <a:off x="6281928" y="3447288"/>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7</a:t>
            </a:r>
            <a:endParaRPr lang="en-US" sz="1600" dirty="0"/>
          </a:p>
        </p:txBody>
      </p:sp>
      <p:sp>
        <p:nvSpPr>
          <p:cNvPr id="35" name="Text 32"/>
          <p:cNvSpPr txBox="1"/>
          <p:nvPr/>
        </p:nvSpPr>
        <p:spPr>
          <a:xfrm>
            <a:off x="6629400" y="3456432"/>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Flucht – Sund – fast ertrunken</a:t>
            </a:r>
            <a:endParaRPr lang="en-US" sz="1500" dirty="0"/>
          </a:p>
        </p:txBody>
      </p:sp>
      <p:sp>
        <p:nvSpPr>
          <p:cNvPr id="36" name="Text 33"/>
          <p:cNvSpPr txBox="1"/>
          <p:nvPr/>
        </p:nvSpPr>
        <p:spPr>
          <a:xfrm>
            <a:off x="10607040" y="3465576"/>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10</a:t>
            </a:r>
            <a:endParaRPr lang="en-US" sz="1200" dirty="0"/>
          </a:p>
        </p:txBody>
      </p:sp>
      <p:sp>
        <p:nvSpPr>
          <p:cNvPr id="37" name="Shape 34"/>
          <p:cNvSpPr/>
          <p:nvPr/>
        </p:nvSpPr>
        <p:spPr>
          <a:xfrm>
            <a:off x="6172200" y="3986784"/>
            <a:ext cx="5440680" cy="566928"/>
          </a:xfrm>
          <a:prstGeom prst="roundRect">
            <a:avLst>
              <a:gd name="adj" fmla="val 12903"/>
            </a:avLst>
          </a:prstGeom>
          <a:solidFill>
            <a:srgbClr val="F4F7FD"/>
          </a:solidFill>
          <a:ln/>
        </p:spPr>
      </p:sp>
      <p:sp>
        <p:nvSpPr>
          <p:cNvPr id="38" name="Text 35"/>
          <p:cNvSpPr txBox="1"/>
          <p:nvPr/>
        </p:nvSpPr>
        <p:spPr>
          <a:xfrm>
            <a:off x="6281928" y="4105656"/>
            <a:ext cx="320040" cy="347472"/>
          </a:xfrm>
          <a:prstGeom prst="rect">
            <a:avLst/>
          </a:prstGeom>
          <a:noFill/>
          <a:ln/>
        </p:spPr>
        <p:txBody>
          <a:bodyPr wrap="square" lIns="0" tIns="0" rIns="0" bIns="0" rtlCol="0" anchor="t"/>
          <a:lstStyle/>
          <a:p>
            <a:pPr indent="0" marL="0">
              <a:buNone/>
            </a:pPr>
            <a:r>
              <a:rPr lang="en-US" sz="1600" b="1" dirty="0">
                <a:solidFill>
                  <a:srgbClr val="2E9E6B"/>
                </a:solidFill>
                <a:latin typeface="Calibri" pitchFamily="34" charset="0"/>
                <a:ea typeface="Calibri" pitchFamily="34" charset="-122"/>
                <a:cs typeface="Calibri" pitchFamily="34" charset="-120"/>
              </a:rPr>
              <a:t>8</a:t>
            </a:r>
            <a:endParaRPr lang="en-US" sz="1600" dirty="0"/>
          </a:p>
        </p:txBody>
      </p:sp>
      <p:sp>
        <p:nvSpPr>
          <p:cNvPr id="39" name="Text 36"/>
          <p:cNvSpPr txBox="1"/>
          <p:nvPr/>
        </p:nvSpPr>
        <p:spPr>
          <a:xfrm>
            <a:off x="6629400" y="4114800"/>
            <a:ext cx="4023360" cy="347472"/>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Siegesgeschrei – Nachbarn – „tapfer“</a:t>
            </a:r>
            <a:endParaRPr lang="en-US" sz="1500" dirty="0"/>
          </a:p>
        </p:txBody>
      </p:sp>
      <p:sp>
        <p:nvSpPr>
          <p:cNvPr id="40" name="Text 37"/>
          <p:cNvSpPr txBox="1"/>
          <p:nvPr/>
        </p:nvSpPr>
        <p:spPr>
          <a:xfrm>
            <a:off x="10607040" y="4123944"/>
            <a:ext cx="914400" cy="320040"/>
          </a:xfrm>
          <a:prstGeom prst="rect">
            <a:avLst/>
          </a:prstGeom>
          <a:noFill/>
          <a:ln/>
        </p:spPr>
        <p:txBody>
          <a:bodyPr wrap="square" lIns="0" tIns="0" rIns="0" bIns="0" rtlCol="0" anchor="t"/>
          <a:lstStyle/>
          <a:p>
            <a:pPr algn="r" indent="0" marL="0">
              <a:buNone/>
            </a:pPr>
            <a:r>
              <a:rPr lang="en-US" sz="1200" dirty="0">
                <a:solidFill>
                  <a:srgbClr val="5B6B8C"/>
                </a:solidFill>
                <a:latin typeface="Calibri" pitchFamily="34" charset="0"/>
                <a:ea typeface="Calibri" pitchFamily="34" charset="-122"/>
                <a:cs typeface="Calibri" pitchFamily="34" charset="-120"/>
              </a:rPr>
              <a:t>Str. 11</a:t>
            </a:r>
            <a:endParaRPr lang="en-US" sz="1200" dirty="0"/>
          </a:p>
        </p:txBody>
      </p:sp>
      <p:sp>
        <p:nvSpPr>
          <p:cNvPr id="41" name="Text 38"/>
          <p:cNvSpPr txBox="1"/>
          <p:nvPr/>
        </p:nvSpPr>
        <p:spPr>
          <a:xfrm>
            <a:off x="548640" y="4709160"/>
            <a:ext cx="11064240" cy="36576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A: </a:t>
            </a:r>
            <a:pPr indent="0" marL="0">
              <a:buNone/>
            </a:pPr>
            <a:r>
              <a:rPr lang="en-US" sz="1500" dirty="0">
                <a:solidFill>
                  <a:srgbClr val="1E2761"/>
                </a:solidFill>
                <a:latin typeface="Calibri" pitchFamily="34" charset="0"/>
                <a:ea typeface="Calibri" pitchFamily="34" charset="-122"/>
                <a:cs typeface="Calibri" pitchFamily="34" charset="-120"/>
              </a:rPr>
              <a:t>Abschnitt 1–4  ·  </a:t>
            </a:r>
            <a:pPr indent="0" marL="0">
              <a:buNone/>
            </a:pPr>
            <a:r>
              <a:rPr lang="en-US" sz="1500" b="1" dirty="0">
                <a:solidFill>
                  <a:srgbClr val="1E2761"/>
                </a:solidFill>
                <a:latin typeface="Calibri" pitchFamily="34" charset="0"/>
                <a:ea typeface="Calibri" pitchFamily="34" charset="-122"/>
                <a:cs typeface="Calibri" pitchFamily="34" charset="-120"/>
              </a:rPr>
              <a:t>B: </a:t>
            </a:r>
            <a:pPr indent="0" marL="0">
              <a:buNone/>
            </a:pPr>
            <a:r>
              <a:rPr lang="en-US" sz="1500" dirty="0">
                <a:solidFill>
                  <a:srgbClr val="1E2761"/>
                </a:solidFill>
                <a:latin typeface="Calibri" pitchFamily="34" charset="0"/>
                <a:ea typeface="Calibri" pitchFamily="34" charset="-122"/>
                <a:cs typeface="Calibri" pitchFamily="34" charset="-120"/>
              </a:rPr>
              <a:t>Abschnitt 5–8  ·  </a:t>
            </a:r>
            <a:pPr indent="0" marL="0">
              <a:buNone/>
            </a:pPr>
            <a:r>
              <a:rPr lang="en-US" sz="1500" b="1" dirty="0">
                <a:solidFill>
                  <a:srgbClr val="2E9E6B"/>
                </a:solidFill>
                <a:latin typeface="Calibri" pitchFamily="34" charset="0"/>
                <a:ea typeface="Calibri" pitchFamily="34" charset="-122"/>
                <a:cs typeface="Calibri" pitchFamily="34" charset="-120"/>
              </a:rPr>
              <a:t>Verknüpfe: </a:t>
            </a:r>
            <a:pPr indent="0" marL="0">
              <a:buNone/>
            </a:pPr>
            <a:r>
              <a:rPr lang="en-US" sz="1500" dirty="0">
                <a:solidFill>
                  <a:srgbClr val="1E2761"/>
                </a:solidFill>
                <a:latin typeface="Calibri" pitchFamily="34" charset="0"/>
                <a:ea typeface="Calibri" pitchFamily="34" charset="-122"/>
                <a:cs typeface="Calibri" pitchFamily="34" charset="-120"/>
              </a:rPr>
              <a:t>zuerst · dann · als … · weil … · daraufhin · schließlich · am Ende</a:t>
            </a:r>
            <a:endParaRPr lang="en-US" sz="1500" dirty="0"/>
          </a:p>
        </p:txBody>
      </p:sp>
      <p:sp>
        <p:nvSpPr>
          <p:cNvPr id="42" name="Text 39"/>
          <p:cNvSpPr txBox="1"/>
          <p:nvPr/>
        </p:nvSpPr>
        <p:spPr>
          <a:xfrm>
            <a:off x="548640" y="5120640"/>
            <a:ext cx="11064240" cy="365760"/>
          </a:xfrm>
          <a:prstGeom prst="rect">
            <a:avLst/>
          </a:prstGeom>
          <a:noFill/>
          <a:ln/>
        </p:spPr>
        <p:txBody>
          <a:bodyPr wrap="square" lIns="0" tIns="0" rIns="0" bIns="0" rtlCol="0" anchor="t"/>
          <a:lstStyle/>
          <a:p>
            <a:pPr indent="0" marL="0">
              <a:buNone/>
            </a:pPr>
            <a:r>
              <a:rPr lang="en-US" sz="1400" b="1" dirty="0">
                <a:solidFill>
                  <a:srgbClr val="2E9E6B"/>
                </a:solidFill>
                <a:latin typeface="Calibri" pitchFamily="34" charset="0"/>
                <a:ea typeface="Calibri" pitchFamily="34" charset="-122"/>
                <a:cs typeface="Calibri" pitchFamily="34" charset="-120"/>
              </a:rPr>
              <a:t>Checkliste: </a:t>
            </a:r>
            <a:pPr indent="0" marL="0">
              <a:buNone/>
            </a:pPr>
            <a:r>
              <a:rPr lang="en-US" sz="1400" dirty="0">
                <a:solidFill>
                  <a:srgbClr val="5B6B8C"/>
                </a:solidFill>
                <a:latin typeface="Calibri" pitchFamily="34" charset="0"/>
                <a:ea typeface="Calibri" pitchFamily="34" charset="-122"/>
                <a:cs typeface="Calibri" pitchFamily="34" charset="-120"/>
              </a:rPr>
              <a:t>Titel und Autor · richtige Reihenfolge · nichts dazuerfinden · alle wichtigen Details · * spannend mit wörtlicher Rede</a:t>
            </a:r>
            <a:endParaRPr lang="en-US" sz="1400" dirty="0"/>
          </a:p>
        </p:txBody>
      </p:sp>
      <p:sp>
        <p:nvSpPr>
          <p:cNvPr id="43" name="Shape 40"/>
          <p:cNvSpPr/>
          <p:nvPr/>
        </p:nvSpPr>
        <p:spPr>
          <a:xfrm>
            <a:off x="548640" y="5715000"/>
            <a:ext cx="11064240" cy="502920"/>
          </a:xfrm>
          <a:prstGeom prst="roundRect">
            <a:avLst>
              <a:gd name="adj" fmla="val 14545"/>
            </a:avLst>
          </a:prstGeom>
          <a:solidFill>
            <a:srgbClr val="EAF0FA"/>
          </a:solidFill>
          <a:ln/>
        </p:spPr>
      </p:sp>
      <p:sp>
        <p:nvSpPr>
          <p:cNvPr id="44" name="Text 41"/>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7 Minuten · Tandem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011680" cy="384048"/>
          </a:xfrm>
          <a:prstGeom prst="roundRect">
            <a:avLst>
              <a:gd name="adj" fmla="val 50000"/>
            </a:avLst>
          </a:prstGeom>
          <a:solidFill>
            <a:srgbClr val="7A5BA6"/>
          </a:solidFill>
          <a:ln/>
        </p:spPr>
      </p:sp>
      <p:sp>
        <p:nvSpPr>
          <p:cNvPr id="5" name="Text 3"/>
          <p:cNvSpPr txBox="1"/>
          <p:nvPr/>
        </p:nvSpPr>
        <p:spPr>
          <a:xfrm>
            <a:off x="822960" y="1874520"/>
            <a:ext cx="20116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TEIL 2</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Sprachtraining an der Ballade</a:t>
            </a:r>
            <a:endParaRPr lang="en-US" sz="4000" dirty="0"/>
          </a:p>
        </p:txBody>
      </p:sp>
      <p:sp>
        <p:nvSpPr>
          <p:cNvPr id="7" name="Text 5"/>
          <p:cNvSpPr txBox="1"/>
          <p:nvPr/>
        </p:nvSpPr>
        <p:spPr>
          <a:xfrm>
            <a:off x="822960" y="3429000"/>
            <a:ext cx="10515600" cy="457200"/>
          </a:xfrm>
          <a:prstGeom prst="rect">
            <a:avLst/>
          </a:prstGeom>
          <a:noFill/>
          <a:ln/>
        </p:spPr>
        <p:txBody>
          <a:bodyPr wrap="square" lIns="0" tIns="0" rIns="0" bIns="0" rtlCol="0" anchor="t"/>
          <a:lstStyle/>
          <a:p>
            <a:pPr indent="0" marL="0">
              <a:buNone/>
            </a:pPr>
            <a:r>
              <a:rPr lang="en-US" sz="2000" i="1" dirty="0">
                <a:solidFill>
                  <a:srgbClr val="CADCFC"/>
                </a:solidFill>
                <a:latin typeface="Calibri" pitchFamily="34" charset="0"/>
                <a:ea typeface="Calibri" pitchFamily="34" charset="-122"/>
                <a:cs typeface="Calibri" pitchFamily="34" charset="-120"/>
              </a:rPr>
              <a:t>Nebensätze mit Subjunktion</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VORWISSEN AKTIVIEREN · VERB-EINHEIT</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Wo steht das finite Verb?</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22</a:t>
            </a:r>
            <a:endParaRPr lang="en-US" sz="1000" dirty="0"/>
          </a:p>
        </p:txBody>
      </p:sp>
      <p:sp>
        <p:nvSpPr>
          <p:cNvPr id="7" name="Text 4"/>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2000" b="1" dirty="0">
                <a:solidFill>
                  <a:srgbClr val="1E2761"/>
                </a:solidFill>
                <a:latin typeface="Calibri" pitchFamily="34" charset="0"/>
                <a:ea typeface="Calibri" pitchFamily="34" charset="-122"/>
                <a:cs typeface="Calibri" pitchFamily="34" charset="-120"/>
              </a:rPr>
              <a:t>Schreibe beide Sätze ab und unterstreiche das finite Verb.</a:t>
            </a:r>
            <a:endParaRPr lang="en-US" sz="2000" dirty="0"/>
          </a:p>
        </p:txBody>
      </p:sp>
      <p:sp>
        <p:nvSpPr>
          <p:cNvPr id="8" name="Shape 5"/>
          <p:cNvSpPr/>
          <p:nvPr/>
        </p:nvSpPr>
        <p:spPr>
          <a:xfrm>
            <a:off x="548640" y="2240280"/>
            <a:ext cx="11064240" cy="914400"/>
          </a:xfrm>
          <a:prstGeom prst="roundRect">
            <a:avLst>
              <a:gd name="adj" fmla="val 8000"/>
            </a:avLst>
          </a:prstGeom>
          <a:solidFill>
            <a:srgbClr val="F4F7FD"/>
          </a:solidFill>
          <a:ln/>
        </p:spPr>
      </p:sp>
      <p:sp>
        <p:nvSpPr>
          <p:cNvPr id="9" name="Text 6"/>
          <p:cNvSpPr txBox="1"/>
          <p:nvPr/>
        </p:nvSpPr>
        <p:spPr>
          <a:xfrm>
            <a:off x="868680" y="2441448"/>
            <a:ext cx="8961120" cy="548640"/>
          </a:xfrm>
          <a:prstGeom prst="rect">
            <a:avLst/>
          </a:prstGeom>
          <a:noFill/>
          <a:ln/>
        </p:spPr>
        <p:txBody>
          <a:bodyPr wrap="square" lIns="0" tIns="0" rIns="0" bIns="0" rtlCol="0" anchor="t"/>
          <a:lstStyle/>
          <a:p>
            <a:pPr indent="0" marL="0">
              <a:buNone/>
            </a:pPr>
            <a:r>
              <a:rPr lang="en-US" sz="2800" dirty="0">
                <a:solidFill>
                  <a:srgbClr val="1E2761"/>
                </a:solidFill>
                <a:latin typeface="Cambria" pitchFamily="34" charset="0"/>
                <a:ea typeface="Cambria" pitchFamily="34" charset="-122"/>
                <a:cs typeface="Cambria" pitchFamily="34" charset="-120"/>
              </a:rPr>
              <a:t>Paddy Fingal war von Riesenart.</a:t>
            </a:r>
            <a:endParaRPr lang="en-US" sz="2800" dirty="0"/>
          </a:p>
        </p:txBody>
      </p:sp>
      <p:sp>
        <p:nvSpPr>
          <p:cNvPr id="10" name="Text 7"/>
          <p:cNvSpPr txBox="1"/>
          <p:nvPr/>
        </p:nvSpPr>
        <p:spPr>
          <a:xfrm>
            <a:off x="9966960" y="2514600"/>
            <a:ext cx="1463040" cy="457200"/>
          </a:xfrm>
          <a:prstGeom prst="rect">
            <a:avLst/>
          </a:prstGeom>
          <a:noFill/>
          <a:ln/>
        </p:spPr>
        <p:txBody>
          <a:bodyPr wrap="square" lIns="0" tIns="0" rIns="0" bIns="0" rtlCol="0" anchor="t"/>
          <a:lstStyle/>
          <a:p>
            <a:pPr algn="r" indent="0" marL="0">
              <a:buNone/>
            </a:pPr>
            <a:r>
              <a:rPr lang="en-US" sz="1600" dirty="0">
                <a:solidFill>
                  <a:srgbClr val="5B6B8C"/>
                </a:solidFill>
                <a:latin typeface="Calibri" pitchFamily="34" charset="0"/>
                <a:ea typeface="Calibri" pitchFamily="34" charset="-122"/>
                <a:cs typeface="Calibri" pitchFamily="34" charset="-120"/>
              </a:rPr>
              <a:t>Str. 1</a:t>
            </a:r>
            <a:endParaRPr lang="en-US" sz="1600" dirty="0"/>
          </a:p>
        </p:txBody>
      </p:sp>
      <p:sp>
        <p:nvSpPr>
          <p:cNvPr id="11" name="Shape 8"/>
          <p:cNvSpPr/>
          <p:nvPr/>
        </p:nvSpPr>
        <p:spPr>
          <a:xfrm>
            <a:off x="548640" y="3383280"/>
            <a:ext cx="11064240" cy="914400"/>
          </a:xfrm>
          <a:prstGeom prst="roundRect">
            <a:avLst>
              <a:gd name="adj" fmla="val 8000"/>
            </a:avLst>
          </a:prstGeom>
          <a:solidFill>
            <a:srgbClr val="F4F7FD"/>
          </a:solidFill>
          <a:ln/>
        </p:spPr>
      </p:sp>
      <p:sp>
        <p:nvSpPr>
          <p:cNvPr id="12" name="Text 9"/>
          <p:cNvSpPr txBox="1"/>
          <p:nvPr/>
        </p:nvSpPr>
        <p:spPr>
          <a:xfrm>
            <a:off x="868680" y="3584448"/>
            <a:ext cx="8961120" cy="548640"/>
          </a:xfrm>
          <a:prstGeom prst="rect">
            <a:avLst/>
          </a:prstGeom>
          <a:noFill/>
          <a:ln/>
        </p:spPr>
        <p:txBody>
          <a:bodyPr wrap="square" lIns="0" tIns="0" rIns="0" bIns="0" rtlCol="0" anchor="t"/>
          <a:lstStyle/>
          <a:p>
            <a:pPr indent="0" marL="0">
              <a:buNone/>
            </a:pPr>
            <a:r>
              <a:rPr lang="en-US" sz="2800" dirty="0">
                <a:solidFill>
                  <a:srgbClr val="1E2761"/>
                </a:solidFill>
                <a:latin typeface="Cambria" pitchFamily="34" charset="0"/>
                <a:ea typeface="Cambria" pitchFamily="34" charset="-122"/>
                <a:cs typeface="Cambria" pitchFamily="34" charset="-120"/>
              </a:rPr>
              <a:t>Da lief er heim in jähem Schreck.</a:t>
            </a:r>
            <a:endParaRPr lang="en-US" sz="2800" dirty="0"/>
          </a:p>
        </p:txBody>
      </p:sp>
      <p:sp>
        <p:nvSpPr>
          <p:cNvPr id="13" name="Text 10"/>
          <p:cNvSpPr txBox="1"/>
          <p:nvPr/>
        </p:nvSpPr>
        <p:spPr>
          <a:xfrm>
            <a:off x="9966960" y="3657600"/>
            <a:ext cx="1463040" cy="457200"/>
          </a:xfrm>
          <a:prstGeom prst="rect">
            <a:avLst/>
          </a:prstGeom>
          <a:noFill/>
          <a:ln/>
        </p:spPr>
        <p:txBody>
          <a:bodyPr wrap="square" lIns="0" tIns="0" rIns="0" bIns="0" rtlCol="0" anchor="t"/>
          <a:lstStyle/>
          <a:p>
            <a:pPr algn="r" indent="0" marL="0">
              <a:buNone/>
            </a:pPr>
            <a:r>
              <a:rPr lang="en-US" sz="1600" dirty="0">
                <a:solidFill>
                  <a:srgbClr val="5B6B8C"/>
                </a:solidFill>
                <a:latin typeface="Calibri" pitchFamily="34" charset="0"/>
                <a:ea typeface="Calibri" pitchFamily="34" charset="-122"/>
                <a:cs typeface="Calibri" pitchFamily="34" charset="-120"/>
              </a:rPr>
              <a:t>Str. 4</a:t>
            </a:r>
            <a:endParaRPr lang="en-US" sz="1600" dirty="0"/>
          </a:p>
        </p:txBody>
      </p:sp>
      <p:sp>
        <p:nvSpPr>
          <p:cNvPr id="14" name="Text 11"/>
          <p:cNvSpPr txBox="1"/>
          <p:nvPr/>
        </p:nvSpPr>
        <p:spPr>
          <a:xfrm>
            <a:off x="548640" y="4663440"/>
            <a:ext cx="11064240" cy="457200"/>
          </a:xfrm>
          <a:prstGeom prst="rect">
            <a:avLst/>
          </a:prstGeom>
          <a:noFill/>
          <a:ln/>
        </p:spPr>
        <p:txBody>
          <a:bodyPr wrap="square" lIns="0" tIns="0" rIns="0" bIns="0" rtlCol="0" anchor="t"/>
          <a:lstStyle/>
          <a:p>
            <a:pPr indent="0" marL="0">
              <a:buNone/>
            </a:pPr>
            <a:r>
              <a:rPr lang="en-US" sz="2000" b="1" dirty="0">
                <a:solidFill>
                  <a:srgbClr val="7A5BA6"/>
                </a:solidFill>
                <a:latin typeface="Calibri" pitchFamily="34" charset="0"/>
                <a:ea typeface="Calibri" pitchFamily="34" charset="-122"/>
                <a:cs typeface="Calibri" pitchFamily="34" charset="-120"/>
              </a:rPr>
              <a:t>Frage: </a:t>
            </a:r>
            <a:pPr indent="0" marL="0">
              <a:buNone/>
            </a:pPr>
            <a:r>
              <a:rPr lang="en-US" sz="2000" dirty="0">
                <a:solidFill>
                  <a:srgbClr val="1E2761"/>
                </a:solidFill>
                <a:latin typeface="Calibri" pitchFamily="34" charset="0"/>
                <a:ea typeface="Calibri" pitchFamily="34" charset="-122"/>
                <a:cs typeface="Calibri" pitchFamily="34" charset="-120"/>
              </a:rPr>
              <a:t>An welcher Stelle steht das finite Verb?</a:t>
            </a:r>
            <a:endParaRPr lang="en-US" sz="2000" dirty="0"/>
          </a:p>
        </p:txBody>
      </p:sp>
      <p:sp>
        <p:nvSpPr>
          <p:cNvPr id="15" name="Shape 12"/>
          <p:cNvSpPr/>
          <p:nvPr/>
        </p:nvSpPr>
        <p:spPr>
          <a:xfrm>
            <a:off x="548640" y="5715000"/>
            <a:ext cx="11064240" cy="502920"/>
          </a:xfrm>
          <a:prstGeom prst="roundRect">
            <a:avLst>
              <a:gd name="adj" fmla="val 14545"/>
            </a:avLst>
          </a:prstGeom>
          <a:solidFill>
            <a:srgbClr val="EAF0FA"/>
          </a:solidFill>
          <a:ln/>
        </p:spPr>
      </p:sp>
      <p:sp>
        <p:nvSpPr>
          <p:cNvPr id="16" name="Text 13"/>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3 Minuten · allein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ENTDECKEN IN DER BALLADE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Ü4  Was passiert mit dem finiten Verb?</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23</a:t>
            </a:r>
            <a:endParaRPr lang="en-US" sz="1000" dirty="0"/>
          </a:p>
        </p:txBody>
      </p:sp>
      <p:sp>
        <p:nvSpPr>
          <p:cNvPr id="7" name="Shape 4"/>
          <p:cNvSpPr/>
          <p:nvPr/>
        </p:nvSpPr>
        <p:spPr>
          <a:xfrm>
            <a:off x="548640" y="1463040"/>
            <a:ext cx="11064240" cy="731520"/>
          </a:xfrm>
          <a:prstGeom prst="roundRect">
            <a:avLst>
              <a:gd name="adj" fmla="val 10000"/>
            </a:avLst>
          </a:prstGeom>
          <a:solidFill>
            <a:srgbClr val="F4F7FD"/>
          </a:solidFill>
          <a:ln/>
        </p:spPr>
      </p:sp>
      <p:sp>
        <p:nvSpPr>
          <p:cNvPr id="8" name="Text 5"/>
          <p:cNvSpPr txBox="1"/>
          <p:nvPr/>
        </p:nvSpPr>
        <p:spPr>
          <a:xfrm>
            <a:off x="731520" y="1664208"/>
            <a:ext cx="914400" cy="365760"/>
          </a:xfrm>
          <a:prstGeom prst="rect">
            <a:avLst/>
          </a:prstGeom>
          <a:noFill/>
          <a:ln/>
        </p:spPr>
        <p:txBody>
          <a:bodyPr wrap="square" lIns="0" tIns="0" rIns="0" bIns="0" rtlCol="0" anchor="t"/>
          <a:lstStyle/>
          <a:p>
            <a:pPr indent="0" marL="0">
              <a:buNone/>
            </a:pPr>
            <a:r>
              <a:rPr lang="en-US" sz="1500" dirty="0">
                <a:solidFill>
                  <a:srgbClr val="5B6B8C"/>
                </a:solidFill>
                <a:latin typeface="Calibri" pitchFamily="34" charset="0"/>
                <a:ea typeface="Calibri" pitchFamily="34" charset="-122"/>
                <a:cs typeface="Calibri" pitchFamily="34" charset="-120"/>
              </a:rPr>
              <a:t>Str. 3</a:t>
            </a:r>
            <a:endParaRPr lang="en-US" sz="1500" dirty="0"/>
          </a:p>
        </p:txBody>
      </p:sp>
      <p:sp>
        <p:nvSpPr>
          <p:cNvPr id="9" name="Text 6"/>
          <p:cNvSpPr txBox="1"/>
          <p:nvPr/>
        </p:nvSpPr>
        <p:spPr>
          <a:xfrm>
            <a:off x="1645920" y="1627632"/>
            <a:ext cx="9784080" cy="457200"/>
          </a:xfrm>
          <a:prstGeom prst="rect">
            <a:avLst/>
          </a:prstGeom>
          <a:noFill/>
          <a:ln/>
        </p:spPr>
        <p:txBody>
          <a:bodyPr wrap="square" lIns="0" tIns="0" rIns="0" bIns="0" rtlCol="0" anchor="t"/>
          <a:lstStyle/>
          <a:p>
            <a:pPr indent="0" marL="0">
              <a:buNone/>
            </a:pPr>
            <a:r>
              <a:rPr lang="en-US" sz="2100" dirty="0">
                <a:solidFill>
                  <a:srgbClr val="5B6B8C"/>
                </a:solidFill>
                <a:latin typeface="Cambria" pitchFamily="34" charset="0"/>
                <a:ea typeface="Cambria" pitchFamily="34" charset="-122"/>
                <a:cs typeface="Cambria" pitchFamily="34" charset="-120"/>
              </a:rPr>
              <a:t>… und maß von ferne klipp und klar, </a:t>
            </a:r>
            <a:pPr indent="0" marL="0">
              <a:buNone/>
            </a:pPr>
            <a:r>
              <a:rPr lang="en-US" sz="2100" b="1" dirty="0">
                <a:solidFill>
                  <a:srgbClr val="1E2761"/>
                </a:solidFill>
                <a:latin typeface="Cambria" pitchFamily="34" charset="0"/>
                <a:ea typeface="Cambria" pitchFamily="34" charset="-122"/>
                <a:cs typeface="Cambria" pitchFamily="34" charset="-120"/>
              </a:rPr>
              <a:t>dass der Fremdling zehn Schuh größer war</a:t>
            </a:r>
            <a:endParaRPr lang="en-US" sz="1600" dirty="0"/>
          </a:p>
        </p:txBody>
      </p:sp>
      <p:sp>
        <p:nvSpPr>
          <p:cNvPr id="10" name="Shape 7"/>
          <p:cNvSpPr/>
          <p:nvPr/>
        </p:nvSpPr>
        <p:spPr>
          <a:xfrm>
            <a:off x="548640" y="2331720"/>
            <a:ext cx="11064240" cy="731520"/>
          </a:xfrm>
          <a:prstGeom prst="roundRect">
            <a:avLst>
              <a:gd name="adj" fmla="val 10000"/>
            </a:avLst>
          </a:prstGeom>
          <a:solidFill>
            <a:srgbClr val="F4F7FD"/>
          </a:solidFill>
          <a:ln/>
        </p:spPr>
      </p:sp>
      <p:sp>
        <p:nvSpPr>
          <p:cNvPr id="11" name="Text 8"/>
          <p:cNvSpPr txBox="1"/>
          <p:nvPr/>
        </p:nvSpPr>
        <p:spPr>
          <a:xfrm>
            <a:off x="731520" y="2532888"/>
            <a:ext cx="914400" cy="365760"/>
          </a:xfrm>
          <a:prstGeom prst="rect">
            <a:avLst/>
          </a:prstGeom>
          <a:noFill/>
          <a:ln/>
        </p:spPr>
        <p:txBody>
          <a:bodyPr wrap="square" lIns="0" tIns="0" rIns="0" bIns="0" rtlCol="0" anchor="t"/>
          <a:lstStyle/>
          <a:p>
            <a:pPr indent="0" marL="0">
              <a:buNone/>
            </a:pPr>
            <a:r>
              <a:rPr lang="en-US" sz="1500" dirty="0">
                <a:solidFill>
                  <a:srgbClr val="5B6B8C"/>
                </a:solidFill>
                <a:latin typeface="Calibri" pitchFamily="34" charset="0"/>
                <a:ea typeface="Calibri" pitchFamily="34" charset="-122"/>
                <a:cs typeface="Calibri" pitchFamily="34" charset="-120"/>
              </a:rPr>
              <a:t>Str. 7</a:t>
            </a:r>
            <a:endParaRPr lang="en-US" sz="1500" dirty="0"/>
          </a:p>
        </p:txBody>
      </p:sp>
      <p:sp>
        <p:nvSpPr>
          <p:cNvPr id="12" name="Text 9"/>
          <p:cNvSpPr txBox="1"/>
          <p:nvPr/>
        </p:nvSpPr>
        <p:spPr>
          <a:xfrm>
            <a:off x="1645920" y="2496312"/>
            <a:ext cx="9784080" cy="457200"/>
          </a:xfrm>
          <a:prstGeom prst="rect">
            <a:avLst/>
          </a:prstGeom>
          <a:noFill/>
          <a:ln/>
        </p:spPr>
        <p:txBody>
          <a:bodyPr wrap="square" lIns="0" tIns="0" rIns="0" bIns="0" rtlCol="0" anchor="t"/>
          <a:lstStyle/>
          <a:p>
            <a:pPr indent="0" marL="0">
              <a:buNone/>
            </a:pPr>
            <a:r>
              <a:rPr lang="en-US" sz="2100" dirty="0">
                <a:solidFill>
                  <a:srgbClr val="5B6B8C"/>
                </a:solidFill>
                <a:latin typeface="Cambria" pitchFamily="34" charset="0"/>
                <a:ea typeface="Cambria" pitchFamily="34" charset="-122"/>
                <a:cs typeface="Cambria" pitchFamily="34" charset="-120"/>
              </a:rPr>
              <a:t>Tut leise, Fremder, und tretet sacht, </a:t>
            </a:r>
            <a:pPr indent="0" marL="0">
              <a:buNone/>
            </a:pPr>
            <a:r>
              <a:rPr lang="en-US" sz="2100" b="1" dirty="0">
                <a:solidFill>
                  <a:srgbClr val="1E2761"/>
                </a:solidFill>
                <a:latin typeface="Cambria" pitchFamily="34" charset="0"/>
                <a:ea typeface="Cambria" pitchFamily="34" charset="-122"/>
                <a:cs typeface="Cambria" pitchFamily="34" charset="-120"/>
              </a:rPr>
              <a:t>dass Paddys Kindlein nicht erwacht</a:t>
            </a:r>
            <a:pPr indent="0" marL="0">
              <a:buNone/>
            </a:pPr>
            <a:r>
              <a:rPr lang="en-US" sz="2100" dirty="0">
                <a:solidFill>
                  <a:srgbClr val="5B6B8C"/>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3200400"/>
            <a:ext cx="11064240" cy="731520"/>
          </a:xfrm>
          <a:prstGeom prst="roundRect">
            <a:avLst>
              <a:gd name="adj" fmla="val 10000"/>
            </a:avLst>
          </a:prstGeom>
          <a:solidFill>
            <a:srgbClr val="F4F7FD"/>
          </a:solidFill>
          <a:ln/>
        </p:spPr>
      </p:sp>
      <p:sp>
        <p:nvSpPr>
          <p:cNvPr id="14" name="Text 11"/>
          <p:cNvSpPr txBox="1"/>
          <p:nvPr/>
        </p:nvSpPr>
        <p:spPr>
          <a:xfrm>
            <a:off x="731520" y="3401568"/>
            <a:ext cx="914400" cy="365760"/>
          </a:xfrm>
          <a:prstGeom prst="rect">
            <a:avLst/>
          </a:prstGeom>
          <a:noFill/>
          <a:ln/>
        </p:spPr>
        <p:txBody>
          <a:bodyPr wrap="square" lIns="0" tIns="0" rIns="0" bIns="0" rtlCol="0" anchor="t"/>
          <a:lstStyle/>
          <a:p>
            <a:pPr indent="0" marL="0">
              <a:buNone/>
            </a:pPr>
            <a:r>
              <a:rPr lang="en-US" sz="1500" dirty="0">
                <a:solidFill>
                  <a:srgbClr val="5B6B8C"/>
                </a:solidFill>
                <a:latin typeface="Calibri" pitchFamily="34" charset="0"/>
                <a:ea typeface="Calibri" pitchFamily="34" charset="-122"/>
                <a:cs typeface="Calibri" pitchFamily="34" charset="-120"/>
              </a:rPr>
              <a:t>Str. 8</a:t>
            </a:r>
            <a:endParaRPr lang="en-US" sz="1500" dirty="0"/>
          </a:p>
        </p:txBody>
      </p:sp>
      <p:sp>
        <p:nvSpPr>
          <p:cNvPr id="15" name="Text 12"/>
          <p:cNvSpPr txBox="1"/>
          <p:nvPr/>
        </p:nvSpPr>
        <p:spPr>
          <a:xfrm>
            <a:off x="1645920" y="3364992"/>
            <a:ext cx="9784080" cy="457200"/>
          </a:xfrm>
          <a:prstGeom prst="rect">
            <a:avLst/>
          </a:prstGeom>
          <a:noFill/>
          <a:ln/>
        </p:spPr>
        <p:txBody>
          <a:bodyPr wrap="square" lIns="0" tIns="0" rIns="0" bIns="0" rtlCol="0" anchor="t"/>
          <a:lstStyle/>
          <a:p>
            <a:pPr indent="0" marL="0">
              <a:buNone/>
            </a:pPr>
            <a:r>
              <a:rPr lang="en-US" sz="2100" dirty="0">
                <a:solidFill>
                  <a:srgbClr val="5B6B8C"/>
                </a:solidFill>
                <a:latin typeface="Cambria" pitchFamily="34" charset="0"/>
                <a:ea typeface="Cambria" pitchFamily="34" charset="-122"/>
                <a:cs typeface="Cambria" pitchFamily="34" charset="-120"/>
              </a:rPr>
              <a:t>O heiliger Patrick, wie ward ihm da, </a:t>
            </a:r>
            <a:pPr indent="0" marL="0">
              <a:buNone/>
            </a:pPr>
            <a:r>
              <a:rPr lang="en-US" sz="2100" b="1" dirty="0">
                <a:solidFill>
                  <a:srgbClr val="1E2761"/>
                </a:solidFill>
                <a:latin typeface="Cambria" pitchFamily="34" charset="0"/>
                <a:ea typeface="Cambria" pitchFamily="34" charset="-122"/>
                <a:cs typeface="Cambria" pitchFamily="34" charset="-120"/>
              </a:rPr>
              <a:t>als er die Nase ragen sah</a:t>
            </a:r>
            <a:endParaRPr lang="en-US" sz="1600" dirty="0"/>
          </a:p>
        </p:txBody>
      </p:sp>
      <p:sp>
        <p:nvSpPr>
          <p:cNvPr id="16" name="Shape 13"/>
          <p:cNvSpPr/>
          <p:nvPr/>
        </p:nvSpPr>
        <p:spPr>
          <a:xfrm>
            <a:off x="548640" y="4160520"/>
            <a:ext cx="384048" cy="384048"/>
          </a:xfrm>
          <a:prstGeom prst="ellipse">
            <a:avLst/>
          </a:prstGeom>
          <a:solidFill>
            <a:srgbClr val="7A5BA6"/>
          </a:solidFill>
          <a:ln/>
        </p:spPr>
      </p:sp>
      <p:sp>
        <p:nvSpPr>
          <p:cNvPr id="17" name="Text 14"/>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344" b="1" dirty="0">
                <a:solidFill>
                  <a:srgbClr val="FFFFFF"/>
                </a:solidFill>
                <a:latin typeface="Calibri" pitchFamily="34" charset="0"/>
                <a:ea typeface="Calibri" pitchFamily="34" charset="-122"/>
                <a:cs typeface="Calibri" pitchFamily="34" charset="-120"/>
              </a:rPr>
              <a:t>1</a:t>
            </a:r>
            <a:endParaRPr lang="en-US" sz="1344" dirty="0"/>
          </a:p>
        </p:txBody>
      </p:sp>
      <p:sp>
        <p:nvSpPr>
          <p:cNvPr id="18" name="Text 15"/>
          <p:cNvSpPr txBox="1"/>
          <p:nvPr/>
        </p:nvSpPr>
        <p:spPr>
          <a:xfrm>
            <a:off x="1097280" y="4187952"/>
            <a:ext cx="10332720" cy="411480"/>
          </a:xfrm>
          <a:prstGeom prst="rect">
            <a:avLst/>
          </a:prstGeom>
          <a:noFill/>
          <a:ln/>
        </p:spPr>
        <p:txBody>
          <a:bodyPr wrap="square" lIns="0" tIns="0" rIns="0" bIns="0" rtlCol="0" anchor="t"/>
          <a:lstStyle/>
          <a:p>
            <a:pPr indent="0" marL="0">
              <a:buNone/>
            </a:pPr>
            <a:r>
              <a:rPr lang="en-US" sz="1900" b="1" dirty="0">
                <a:solidFill>
                  <a:srgbClr val="1E2761"/>
                </a:solidFill>
                <a:latin typeface="Calibri" pitchFamily="34" charset="0"/>
                <a:ea typeface="Calibri" pitchFamily="34" charset="-122"/>
                <a:cs typeface="Calibri" pitchFamily="34" charset="-120"/>
              </a:rPr>
              <a:t>Schreibe die fett gedruckten Teile ins Heft.</a:t>
            </a:r>
            <a:endParaRPr lang="en-US" sz="1900" dirty="0"/>
          </a:p>
        </p:txBody>
      </p:sp>
      <p:sp>
        <p:nvSpPr>
          <p:cNvPr id="19" name="Shape 16"/>
          <p:cNvSpPr/>
          <p:nvPr/>
        </p:nvSpPr>
        <p:spPr>
          <a:xfrm>
            <a:off x="548640" y="4663440"/>
            <a:ext cx="384048" cy="384048"/>
          </a:xfrm>
          <a:prstGeom prst="ellipse">
            <a:avLst/>
          </a:prstGeom>
          <a:solidFill>
            <a:srgbClr val="7A5BA6"/>
          </a:solidFill>
          <a:ln/>
        </p:spPr>
      </p:sp>
      <p:sp>
        <p:nvSpPr>
          <p:cNvPr id="20" name="Text 17"/>
          <p:cNvSpPr txBox="1"/>
          <p:nvPr/>
        </p:nvSpPr>
        <p:spPr>
          <a:xfrm>
            <a:off x="548640" y="4663440"/>
            <a:ext cx="384048" cy="384048"/>
          </a:xfrm>
          <a:prstGeom prst="rect">
            <a:avLst/>
          </a:prstGeom>
          <a:noFill/>
          <a:ln/>
        </p:spPr>
        <p:txBody>
          <a:bodyPr wrap="square" lIns="0" tIns="0" rIns="0" bIns="0" rtlCol="0" anchor="ctr"/>
          <a:lstStyle/>
          <a:p>
            <a:pPr algn="ctr" indent="0" marL="0">
              <a:buNone/>
            </a:pPr>
            <a:r>
              <a:rPr lang="en-US" sz="1344" b="1" dirty="0">
                <a:solidFill>
                  <a:srgbClr val="FFFFFF"/>
                </a:solidFill>
                <a:latin typeface="Calibri" pitchFamily="34" charset="0"/>
                <a:ea typeface="Calibri" pitchFamily="34" charset="-122"/>
                <a:cs typeface="Calibri" pitchFamily="34" charset="-120"/>
              </a:rPr>
              <a:t>2</a:t>
            </a:r>
            <a:endParaRPr lang="en-US" sz="1344" dirty="0"/>
          </a:p>
        </p:txBody>
      </p:sp>
      <p:sp>
        <p:nvSpPr>
          <p:cNvPr id="21" name="Text 18"/>
          <p:cNvSpPr txBox="1"/>
          <p:nvPr/>
        </p:nvSpPr>
        <p:spPr>
          <a:xfrm>
            <a:off x="1097280" y="4690872"/>
            <a:ext cx="10332720" cy="411480"/>
          </a:xfrm>
          <a:prstGeom prst="rect">
            <a:avLst/>
          </a:prstGeom>
          <a:noFill/>
          <a:ln/>
        </p:spPr>
        <p:txBody>
          <a:bodyPr wrap="square" lIns="0" tIns="0" rIns="0" bIns="0" rtlCol="0" anchor="t"/>
          <a:lstStyle/>
          <a:p>
            <a:pPr indent="0" marL="0">
              <a:buNone/>
            </a:pPr>
            <a:r>
              <a:rPr lang="en-US" sz="1900" b="1" dirty="0">
                <a:solidFill>
                  <a:srgbClr val="1E2761"/>
                </a:solidFill>
                <a:latin typeface="Calibri" pitchFamily="34" charset="0"/>
                <a:ea typeface="Calibri" pitchFamily="34" charset="-122"/>
                <a:cs typeface="Calibri" pitchFamily="34" charset="-120"/>
              </a:rPr>
              <a:t>Unterstreiche das finite Verb. Kreise das erste Wort ein.</a:t>
            </a:r>
            <a:endParaRPr lang="en-US" sz="1900" dirty="0"/>
          </a:p>
        </p:txBody>
      </p:sp>
      <p:sp>
        <p:nvSpPr>
          <p:cNvPr id="22" name="Shape 19"/>
          <p:cNvSpPr/>
          <p:nvPr/>
        </p:nvSpPr>
        <p:spPr>
          <a:xfrm>
            <a:off x="548640" y="5166360"/>
            <a:ext cx="384048" cy="384048"/>
          </a:xfrm>
          <a:prstGeom prst="ellipse">
            <a:avLst/>
          </a:prstGeom>
          <a:solidFill>
            <a:srgbClr val="7A5BA6"/>
          </a:solidFill>
          <a:ln/>
        </p:spPr>
      </p:sp>
      <p:sp>
        <p:nvSpPr>
          <p:cNvPr id="23" name="Text 20"/>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344" b="1" dirty="0">
                <a:solidFill>
                  <a:srgbClr val="FFFFFF"/>
                </a:solidFill>
                <a:latin typeface="Calibri" pitchFamily="34" charset="0"/>
                <a:ea typeface="Calibri" pitchFamily="34" charset="-122"/>
                <a:cs typeface="Calibri" pitchFamily="34" charset="-120"/>
              </a:rPr>
              <a:t>3</a:t>
            </a:r>
            <a:endParaRPr lang="en-US" sz="1344" dirty="0"/>
          </a:p>
        </p:txBody>
      </p:sp>
      <p:sp>
        <p:nvSpPr>
          <p:cNvPr id="24" name="Text 21"/>
          <p:cNvSpPr txBox="1"/>
          <p:nvPr/>
        </p:nvSpPr>
        <p:spPr>
          <a:xfrm>
            <a:off x="1097280" y="5193792"/>
            <a:ext cx="10332720" cy="411480"/>
          </a:xfrm>
          <a:prstGeom prst="rect">
            <a:avLst/>
          </a:prstGeom>
          <a:noFill/>
          <a:ln/>
        </p:spPr>
        <p:txBody>
          <a:bodyPr wrap="square" lIns="0" tIns="0" rIns="0" bIns="0" rtlCol="0" anchor="t"/>
          <a:lstStyle/>
          <a:p>
            <a:pPr indent="0" marL="0">
              <a:buNone/>
            </a:pPr>
            <a:r>
              <a:rPr lang="en-US" sz="1900" b="1" dirty="0">
                <a:solidFill>
                  <a:srgbClr val="1E2761"/>
                </a:solidFill>
                <a:latin typeface="Calibri" pitchFamily="34" charset="0"/>
                <a:ea typeface="Calibri" pitchFamily="34" charset="-122"/>
                <a:cs typeface="Calibri" pitchFamily="34" charset="-120"/>
              </a:rPr>
              <a:t>Vergleiche mit den Sätzen von eben: Was fällt dir auf?</a:t>
            </a:r>
            <a:endParaRPr lang="en-US" sz="1900" dirty="0"/>
          </a:p>
        </p:txBody>
      </p:sp>
      <p:sp>
        <p:nvSpPr>
          <p:cNvPr id="25" name="Shape 22"/>
          <p:cNvSpPr/>
          <p:nvPr/>
        </p:nvSpPr>
        <p:spPr>
          <a:xfrm>
            <a:off x="548640" y="5715000"/>
            <a:ext cx="11064240" cy="502920"/>
          </a:xfrm>
          <a:prstGeom prst="roundRect">
            <a:avLst>
              <a:gd name="adj" fmla="val 14545"/>
            </a:avLst>
          </a:prstGeom>
          <a:solidFill>
            <a:srgbClr val="EAF0FA"/>
          </a:solidFill>
          <a:ln/>
        </p:spPr>
      </p:sp>
      <p:sp>
        <p:nvSpPr>
          <p:cNvPr id="26" name="Text 23"/>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4 Minuten allein, 2 Minuten zu zweit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MERKSATZ – SCHNIPSEL EINKLEBEN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Nebensätze mit Subjunktion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24</a:t>
            </a:r>
            <a:endParaRPr lang="en-US" sz="1000" dirty="0"/>
          </a:p>
        </p:txBody>
      </p:sp>
      <p:sp>
        <p:nvSpPr>
          <p:cNvPr id="7" name="Shape 4"/>
          <p:cNvSpPr/>
          <p:nvPr/>
        </p:nvSpPr>
        <p:spPr>
          <a:xfrm>
            <a:off x="548640" y="1417320"/>
            <a:ext cx="11064240" cy="3017520"/>
          </a:xfrm>
          <a:prstGeom prst="roundRect">
            <a:avLst>
              <a:gd name="adj" fmla="val 1515"/>
            </a:avLst>
          </a:prstGeom>
          <a:solidFill>
            <a:srgbClr val="FFFFFF"/>
          </a:solidFill>
          <a:ln w="38100">
            <a:solidFill>
              <a:srgbClr val="D9534F"/>
            </a:solidFill>
            <a:prstDash val="solid"/>
          </a:ln>
        </p:spPr>
      </p:sp>
      <p:sp>
        <p:nvSpPr>
          <p:cNvPr id="8" name="Text 5"/>
          <p:cNvSpPr txBox="1"/>
          <p:nvPr/>
        </p:nvSpPr>
        <p:spPr>
          <a:xfrm>
            <a:off x="868680" y="1600200"/>
            <a:ext cx="10424160" cy="1097280"/>
          </a:xfrm>
          <a:prstGeom prst="rect">
            <a:avLst/>
          </a:prstGeom>
          <a:noFill/>
          <a:ln/>
        </p:spPr>
        <p:txBody>
          <a:bodyPr wrap="square" lIns="0" tIns="0" rIns="0" bIns="0" rtlCol="0" anchor="t"/>
          <a:lstStyle/>
          <a:p>
            <a:pPr indent="0" marL="0">
              <a:buNone/>
            </a:pPr>
            <a:r>
              <a:rPr lang="en-US" sz="2200" dirty="0">
                <a:solidFill>
                  <a:srgbClr val="1E2761"/>
                </a:solidFill>
                <a:latin typeface="Calibri" pitchFamily="34" charset="0"/>
                <a:ea typeface="Calibri" pitchFamily="34" charset="-122"/>
                <a:cs typeface="Calibri" pitchFamily="34" charset="-120"/>
              </a:rPr>
              <a:t>Eine </a:t>
            </a:r>
            <a:pPr indent="0" marL="0">
              <a:buNone/>
            </a:pPr>
            <a:r>
              <a:rPr lang="en-US" sz="2200" b="1" dirty="0">
                <a:solidFill>
                  <a:srgbClr val="7A5BA6"/>
                </a:solidFill>
                <a:latin typeface="Calibri" pitchFamily="34" charset="0"/>
                <a:ea typeface="Calibri" pitchFamily="34" charset="-122"/>
                <a:cs typeface="Calibri" pitchFamily="34" charset="-120"/>
              </a:rPr>
              <a:t>Subjunktion</a:t>
            </a:r>
            <a:pPr indent="0" marL="0">
              <a:buNone/>
            </a:pPr>
            <a:r>
              <a:rPr lang="en-US" sz="2200" dirty="0">
                <a:solidFill>
                  <a:srgbClr val="1E2761"/>
                </a:solidFill>
                <a:latin typeface="Calibri" pitchFamily="34" charset="0"/>
                <a:ea typeface="Calibri" pitchFamily="34" charset="-122"/>
                <a:cs typeface="Calibri" pitchFamily="34" charset="-120"/>
              </a:rPr>
              <a:t> (dass, als, weil, wenn, ob, obwohl, während, nachdem) leitet einen </a:t>
            </a:r>
            <a:pPr indent="0" marL="0">
              <a:buNone/>
            </a:pPr>
            <a:r>
              <a:rPr lang="en-US" sz="2200" b="1" dirty="0">
                <a:solidFill>
                  <a:srgbClr val="1E2761"/>
                </a:solidFill>
                <a:latin typeface="Calibri" pitchFamily="34" charset="0"/>
                <a:ea typeface="Calibri" pitchFamily="34" charset="-122"/>
                <a:cs typeface="Calibri" pitchFamily="34" charset="-120"/>
              </a:rPr>
              <a:t>Nebensatz</a:t>
            </a:r>
            <a:pPr indent="0" marL="0">
              <a:buNone/>
            </a:pPr>
            <a:r>
              <a:rPr lang="en-US" sz="2200" dirty="0">
                <a:solidFill>
                  <a:srgbClr val="1E2761"/>
                </a:solidFill>
                <a:latin typeface="Calibri" pitchFamily="34" charset="0"/>
                <a:ea typeface="Calibri" pitchFamily="34" charset="-122"/>
                <a:cs typeface="Calibri" pitchFamily="34" charset="-120"/>
              </a:rPr>
              <a:t> ein. Im Nebensatz steht das </a:t>
            </a:r>
            <a:pPr indent="0" marL="0">
              <a:buNone/>
            </a:pPr>
            <a:r>
              <a:rPr lang="en-US" sz="2200" b="1" u="sng" dirty="0">
                <a:solidFill>
                  <a:srgbClr val="1E2761"/>
                </a:solidFill>
                <a:latin typeface="Calibri" pitchFamily="34" charset="0"/>
                <a:ea typeface="Calibri" pitchFamily="34" charset="-122"/>
                <a:cs typeface="Calibri" pitchFamily="34" charset="-120"/>
              </a:rPr>
              <a:t>finite Verb am Ende</a:t>
            </a:r>
            <a:pPr indent="0" marL="0">
              <a:buNone/>
            </a:pPr>
            <a:r>
              <a:rPr lang="en-US" sz="2200" dirty="0">
                <a:solidFill>
                  <a:srgbClr val="1E2761"/>
                </a:solidFill>
                <a:latin typeface="Calibri" pitchFamily="34" charset="0"/>
                <a:ea typeface="Calibri" pitchFamily="34" charset="-122"/>
                <a:cs typeface="Calibri" pitchFamily="34" charset="-120"/>
              </a:rPr>
              <a:t>. Vor der Subjunktion steht ein </a:t>
            </a:r>
            <a:pPr indent="0" marL="0">
              <a:buNone/>
            </a:pPr>
            <a:r>
              <a:rPr lang="en-US" sz="2200" b="1" dirty="0">
                <a:solidFill>
                  <a:srgbClr val="1E2761"/>
                </a:solidFill>
                <a:latin typeface="Calibri" pitchFamily="34" charset="0"/>
                <a:ea typeface="Calibri" pitchFamily="34" charset="-122"/>
                <a:cs typeface="Calibri" pitchFamily="34" charset="-120"/>
              </a:rPr>
              <a:t>Komma</a:t>
            </a:r>
            <a:pPr indent="0" marL="0">
              <a:buNone/>
            </a:pPr>
            <a:r>
              <a:rPr lang="en-US" sz="2200" dirty="0">
                <a:solidFill>
                  <a:srgbClr val="1E2761"/>
                </a:solidFill>
                <a:latin typeface="Calibri" pitchFamily="34" charset="0"/>
                <a:ea typeface="Calibri" pitchFamily="34" charset="-122"/>
                <a:cs typeface="Calibri" pitchFamily="34" charset="-120"/>
              </a:rPr>
              <a:t>.</a:t>
            </a:r>
            <a:endParaRPr lang="en-US" sz="2200" dirty="0"/>
          </a:p>
        </p:txBody>
      </p:sp>
      <p:sp>
        <p:nvSpPr>
          <p:cNvPr id="9" name="Text 6"/>
          <p:cNvSpPr txBox="1"/>
          <p:nvPr/>
        </p:nvSpPr>
        <p:spPr>
          <a:xfrm>
            <a:off x="868680" y="2788920"/>
            <a:ext cx="10424160" cy="457200"/>
          </a:xfrm>
          <a:prstGeom prst="rect">
            <a:avLst/>
          </a:prstGeom>
          <a:noFill/>
          <a:ln/>
        </p:spPr>
        <p:txBody>
          <a:bodyPr wrap="square" lIns="0" tIns="0" rIns="0" bIns="0" rtlCol="0" anchor="t"/>
          <a:lstStyle/>
          <a:p>
            <a:pPr indent="0" marL="0">
              <a:buNone/>
            </a:pPr>
            <a:r>
              <a:rPr lang="en-US" sz="2200" dirty="0">
                <a:solidFill>
                  <a:srgbClr val="1E2761"/>
                </a:solidFill>
                <a:latin typeface="Cambria" pitchFamily="34" charset="0"/>
                <a:ea typeface="Cambria" pitchFamily="34" charset="-122"/>
                <a:cs typeface="Cambria" pitchFamily="34" charset="-120"/>
              </a:rPr>
              <a:t>Der Schotte flieht, </a:t>
            </a:r>
            <a:pPr indent="0" marL="0">
              <a:buNone/>
            </a:pPr>
            <a:r>
              <a:rPr lang="en-US" sz="2200" b="1" dirty="0">
                <a:solidFill>
                  <a:srgbClr val="7A5BA6"/>
                </a:solidFill>
                <a:latin typeface="Cambria" pitchFamily="34" charset="0"/>
                <a:ea typeface="Cambria" pitchFamily="34" charset="-122"/>
                <a:cs typeface="Cambria" pitchFamily="34" charset="-120"/>
              </a:rPr>
              <a:t>weil</a:t>
            </a:r>
            <a:pPr indent="0" marL="0">
              <a:buNone/>
            </a:pPr>
            <a:r>
              <a:rPr lang="en-US" sz="2200" dirty="0">
                <a:solidFill>
                  <a:srgbClr val="1E2761"/>
                </a:solidFill>
                <a:latin typeface="Cambria" pitchFamily="34" charset="0"/>
                <a:ea typeface="Cambria" pitchFamily="34" charset="-122"/>
                <a:cs typeface="Cambria" pitchFamily="34" charset="-120"/>
              </a:rPr>
              <a:t> er Angst vor dem Vater </a:t>
            </a:r>
            <a:pPr indent="0" marL="0">
              <a:buNone/>
            </a:pPr>
            <a:r>
              <a:rPr lang="en-US" sz="2200" b="1" u="sng" dirty="0">
                <a:solidFill>
                  <a:srgbClr val="1E2761"/>
                </a:solidFill>
                <a:latin typeface="Cambria" pitchFamily="34" charset="0"/>
                <a:ea typeface="Cambria" pitchFamily="34" charset="-122"/>
                <a:cs typeface="Cambria" pitchFamily="34" charset="-120"/>
              </a:rPr>
              <a:t>hat</a:t>
            </a:r>
            <a:pPr indent="0" marL="0">
              <a:buNone/>
            </a:pPr>
            <a:r>
              <a:rPr lang="en-US" sz="2200" dirty="0">
                <a:solidFill>
                  <a:srgbClr val="1E2761"/>
                </a:solidFill>
                <a:latin typeface="Cambria" pitchFamily="34" charset="0"/>
                <a:ea typeface="Cambria" pitchFamily="34" charset="-122"/>
                <a:cs typeface="Cambria" pitchFamily="34" charset="-120"/>
              </a:rPr>
              <a:t>.</a:t>
            </a:r>
            <a:endParaRPr lang="en-US" sz="1600" dirty="0"/>
          </a:p>
        </p:txBody>
      </p:sp>
      <p:sp>
        <p:nvSpPr>
          <p:cNvPr id="10" name="Text 7"/>
          <p:cNvSpPr txBox="1"/>
          <p:nvPr/>
        </p:nvSpPr>
        <p:spPr>
          <a:xfrm>
            <a:off x="868680" y="3337560"/>
            <a:ext cx="10424160" cy="457200"/>
          </a:xfrm>
          <a:prstGeom prst="rect">
            <a:avLst/>
          </a:prstGeom>
          <a:noFill/>
          <a:ln/>
        </p:spPr>
        <p:txBody>
          <a:bodyPr wrap="square" lIns="0" tIns="0" rIns="0" bIns="0" rtlCol="0" anchor="t"/>
          <a:lstStyle/>
          <a:p>
            <a:pPr indent="0" marL="0">
              <a:buNone/>
            </a:pPr>
            <a:r>
              <a:rPr lang="en-US" sz="2200" dirty="0">
                <a:solidFill>
                  <a:srgbClr val="1E2761"/>
                </a:solidFill>
                <a:latin typeface="Cambria" pitchFamily="34" charset="0"/>
                <a:ea typeface="Cambria" pitchFamily="34" charset="-122"/>
                <a:cs typeface="Cambria" pitchFamily="34" charset="-120"/>
              </a:rPr>
              <a:t>Ich bin stolz, </a:t>
            </a:r>
            <a:pPr indent="0" marL="0">
              <a:buNone/>
            </a:pPr>
            <a:r>
              <a:rPr lang="en-US" sz="2200" b="1" dirty="0">
                <a:solidFill>
                  <a:srgbClr val="7A5BA6"/>
                </a:solidFill>
                <a:latin typeface="Cambria" pitchFamily="34" charset="0"/>
                <a:ea typeface="Cambria" pitchFamily="34" charset="-122"/>
                <a:cs typeface="Cambria" pitchFamily="34" charset="-120"/>
              </a:rPr>
              <a:t>weil</a:t>
            </a:r>
            <a:pPr indent="0" marL="0">
              <a:buNone/>
            </a:pPr>
            <a:r>
              <a:rPr lang="en-US" sz="2200" dirty="0">
                <a:solidFill>
                  <a:srgbClr val="1E2761"/>
                </a:solidFill>
                <a:latin typeface="Cambria" pitchFamily="34" charset="0"/>
                <a:ea typeface="Cambria" pitchFamily="34" charset="-122"/>
                <a:cs typeface="Cambria" pitchFamily="34" charset="-120"/>
              </a:rPr>
              <a:t> ich 80 kg gestoßen </a:t>
            </a:r>
            <a:pPr indent="0" marL="0">
              <a:buNone/>
            </a:pPr>
            <a:r>
              <a:rPr lang="en-US" sz="2200" b="1" u="sng" dirty="0">
                <a:solidFill>
                  <a:srgbClr val="D9534F"/>
                </a:solidFill>
                <a:latin typeface="Cambria" pitchFamily="34" charset="0"/>
                <a:ea typeface="Cambria" pitchFamily="34" charset="-122"/>
                <a:cs typeface="Cambria" pitchFamily="34" charset="-120"/>
              </a:rPr>
              <a:t>habe</a:t>
            </a:r>
            <a:pPr indent="0" marL="0">
              <a:buNone/>
            </a:pPr>
            <a:r>
              <a:rPr lang="en-US" sz="2200" dirty="0">
                <a:solidFill>
                  <a:srgbClr val="1E2761"/>
                </a:solidFill>
                <a:latin typeface="Cambria" pitchFamily="34" charset="0"/>
                <a:ea typeface="Cambria" pitchFamily="34" charset="-122"/>
                <a:cs typeface="Cambria" pitchFamily="34" charset="-120"/>
              </a:rPr>
              <a:t>.</a:t>
            </a:r>
            <a:pPr indent="0" marL="0">
              <a:buNone/>
            </a:pPr>
            <a:r>
              <a:rPr lang="en-US" sz="2200" dirty="0">
                <a:solidFill>
                  <a:srgbClr val="5B6B8C"/>
                </a:solidFill>
                <a:latin typeface="Cambria" pitchFamily="34" charset="0"/>
                <a:ea typeface="Cambria" pitchFamily="34" charset="-122"/>
                <a:cs typeface="Cambria" pitchFamily="34" charset="-120"/>
              </a:rPr>
              <a:t>   (Perfekt: das Hilfsverb ist finit)</a:t>
            </a:r>
            <a:endParaRPr lang="en-US" sz="1600" dirty="0"/>
          </a:p>
        </p:txBody>
      </p:sp>
      <p:sp>
        <p:nvSpPr>
          <p:cNvPr id="11" name="Text 8"/>
          <p:cNvSpPr txBox="1"/>
          <p:nvPr/>
        </p:nvSpPr>
        <p:spPr>
          <a:xfrm>
            <a:off x="868680" y="3931920"/>
            <a:ext cx="10424160" cy="365760"/>
          </a:xfrm>
          <a:prstGeom prst="rect">
            <a:avLst/>
          </a:prstGeom>
          <a:noFill/>
          <a:ln/>
        </p:spPr>
        <p:txBody>
          <a:bodyPr wrap="square" lIns="0" tIns="0" rIns="0" bIns="0" rtlCol="0" anchor="t"/>
          <a:lstStyle/>
          <a:p>
            <a:pPr indent="0" marL="0">
              <a:buNone/>
            </a:pPr>
            <a:r>
              <a:rPr lang="en-US" sz="1800" b="1" dirty="0">
                <a:solidFill>
                  <a:srgbClr val="1E2761"/>
                </a:solidFill>
                <a:latin typeface="Calibri" pitchFamily="34" charset="0"/>
                <a:ea typeface="Calibri" pitchFamily="34" charset="-122"/>
                <a:cs typeface="Calibri" pitchFamily="34" charset="-120"/>
              </a:rPr>
              <a:t>Hauptsatz</a:t>
            </a:r>
            <a:pPr indent="0" marL="0">
              <a:buNone/>
            </a:pPr>
            <a:r>
              <a:rPr lang="en-US" sz="1800" dirty="0">
                <a:solidFill>
                  <a:srgbClr val="5B6B8C"/>
                </a:solidFill>
                <a:latin typeface="Calibri" pitchFamily="34" charset="0"/>
                <a:ea typeface="Calibri" pitchFamily="34" charset="-122"/>
                <a:cs typeface="Calibri" pitchFamily="34" charset="-120"/>
              </a:rPr>
              <a:t>: finites Verb an Position 2   ·   </a:t>
            </a:r>
            <a:pPr indent="0" marL="0">
              <a:buNone/>
            </a:pPr>
            <a:r>
              <a:rPr lang="en-US" sz="1800" b="1" dirty="0">
                <a:solidFill>
                  <a:srgbClr val="1E2761"/>
                </a:solidFill>
                <a:latin typeface="Calibri" pitchFamily="34" charset="0"/>
                <a:ea typeface="Calibri" pitchFamily="34" charset="-122"/>
                <a:cs typeface="Calibri" pitchFamily="34" charset="-120"/>
              </a:rPr>
              <a:t>Nebensatz</a:t>
            </a:r>
            <a:pPr indent="0" marL="0">
              <a:buNone/>
            </a:pPr>
            <a:r>
              <a:rPr lang="en-US" sz="1800" dirty="0">
                <a:solidFill>
                  <a:srgbClr val="5B6B8C"/>
                </a:solidFill>
                <a:latin typeface="Calibri" pitchFamily="34" charset="0"/>
                <a:ea typeface="Calibri" pitchFamily="34" charset="-122"/>
                <a:cs typeface="Calibri" pitchFamily="34" charset="-120"/>
              </a:rPr>
              <a:t>: finites Verb am Ende</a:t>
            </a:r>
            <a:endParaRPr lang="en-US" sz="1600" dirty="0"/>
          </a:p>
        </p:txBody>
      </p:sp>
      <p:sp>
        <p:nvSpPr>
          <p:cNvPr id="12" name="Shape 9"/>
          <p:cNvSpPr/>
          <p:nvPr/>
        </p:nvSpPr>
        <p:spPr>
          <a:xfrm>
            <a:off x="548640" y="4617720"/>
            <a:ext cx="5440680" cy="960120"/>
          </a:xfrm>
          <a:prstGeom prst="roundRect">
            <a:avLst>
              <a:gd name="adj" fmla="val 7619"/>
            </a:avLst>
          </a:prstGeom>
          <a:solidFill>
            <a:srgbClr val="EAF0FA"/>
          </a:solidFill>
          <a:ln/>
        </p:spPr>
      </p:sp>
      <p:sp>
        <p:nvSpPr>
          <p:cNvPr id="13" name="Text 10"/>
          <p:cNvSpPr txBox="1"/>
          <p:nvPr/>
        </p:nvSpPr>
        <p:spPr>
          <a:xfrm>
            <a:off x="731520" y="4681728"/>
            <a:ext cx="5120640" cy="8686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Wofür? </a:t>
            </a:r>
            <a:pPr indent="0" marL="0">
              <a:buNone/>
            </a:pPr>
            <a:r>
              <a:rPr lang="en-US" sz="1400" dirty="0">
                <a:solidFill>
                  <a:srgbClr val="1E2761"/>
                </a:solidFill>
                <a:latin typeface="Calibri" pitchFamily="34" charset="0"/>
                <a:ea typeface="Calibri" pitchFamily="34" charset="-122"/>
                <a:cs typeface="Calibri" pitchFamily="34" charset="-120"/>
              </a:rPr>
              <a:t>Ich kann begründen und Zusammenhänge zeigen – in jeder Analyse: „Die Ballade ist spannend, weil …“. Im Englischen bleibt das Verb vorne: because he is afraid.</a:t>
            </a:r>
            <a:endParaRPr lang="en-US" sz="1400" dirty="0"/>
          </a:p>
        </p:txBody>
      </p:sp>
      <p:sp>
        <p:nvSpPr>
          <p:cNvPr id="14" name="Shape 11"/>
          <p:cNvSpPr/>
          <p:nvPr/>
        </p:nvSpPr>
        <p:spPr>
          <a:xfrm>
            <a:off x="6172200" y="4617720"/>
            <a:ext cx="5440680" cy="960120"/>
          </a:xfrm>
          <a:prstGeom prst="roundRect">
            <a:avLst>
              <a:gd name="adj" fmla="val 7619"/>
            </a:avLst>
          </a:prstGeom>
          <a:solidFill>
            <a:srgbClr val="EAF0FA"/>
          </a:solidFill>
          <a:ln/>
        </p:spPr>
      </p:sp>
      <p:sp>
        <p:nvSpPr>
          <p:cNvPr id="15" name="Text 12"/>
          <p:cNvSpPr txBox="1"/>
          <p:nvPr/>
        </p:nvSpPr>
        <p:spPr>
          <a:xfrm>
            <a:off x="6355080" y="4681728"/>
            <a:ext cx="5120640" cy="8686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Test: </a:t>
            </a:r>
            <a:pPr indent="0" marL="0">
              <a:buNone/>
            </a:pPr>
            <a:r>
              <a:rPr lang="en-US" sz="1400" dirty="0">
                <a:solidFill>
                  <a:srgbClr val="1E2761"/>
                </a:solidFill>
                <a:latin typeface="Calibri" pitchFamily="34" charset="0"/>
                <a:ea typeface="Calibri" pitchFamily="34" charset="-122"/>
                <a:cs typeface="Calibri" pitchFamily="34" charset="-120"/>
              </a:rPr>
              <a:t>Steht am Anfang dass, als, weil, wenn …? Dann muss das finite Verb ans Ende – und davor ein Komma.</a:t>
            </a:r>
            <a:endParaRPr lang="en-US" sz="1400" dirty="0"/>
          </a:p>
        </p:txBody>
      </p:sp>
      <p:sp>
        <p:nvSpPr>
          <p:cNvPr id="16" name="Text 13"/>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500" i="1" dirty="0">
                <a:solidFill>
                  <a:srgbClr val="5B6B8C"/>
                </a:solidFill>
                <a:latin typeface="Calibri" pitchFamily="34" charset="0"/>
                <a:ea typeface="Calibri" pitchFamily="34" charset="-122"/>
                <a:cs typeface="Calibri" pitchFamily="34" charset="-120"/>
              </a:rPr>
              <a:t>Markieren: Subjunktion einkreisen · finites Verb unterstreichen (Hilfsverb rot)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Sätze verbinden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25</a:t>
            </a:r>
            <a:endParaRPr lang="en-US" sz="1000" dirty="0"/>
          </a:p>
        </p:txBody>
      </p:sp>
      <p:sp>
        <p:nvSpPr>
          <p:cNvPr id="7" name="Shape 4"/>
          <p:cNvSpPr/>
          <p:nvPr/>
        </p:nvSpPr>
        <p:spPr>
          <a:xfrm>
            <a:off x="548640" y="1417320"/>
            <a:ext cx="365760" cy="365760"/>
          </a:xfrm>
          <a:prstGeom prst="ellipse">
            <a:avLst/>
          </a:prstGeom>
          <a:solidFill>
            <a:srgbClr val="7A5BA6"/>
          </a:solidFill>
          <a:ln/>
        </p:spPr>
      </p:sp>
      <p:sp>
        <p:nvSpPr>
          <p:cNvPr id="8" name="Text 5"/>
          <p:cNvSpPr txBox="1"/>
          <p:nvPr/>
        </p:nvSpPr>
        <p:spPr>
          <a:xfrm>
            <a:off x="548640" y="1417320"/>
            <a:ext cx="365760" cy="365760"/>
          </a:xfrm>
          <a:prstGeom prst="rect">
            <a:avLst/>
          </a:prstGeom>
          <a:noFill/>
          <a:ln/>
        </p:spPr>
        <p:txBody>
          <a:bodyPr wrap="square" lIns="0" tIns="0" rIns="0" bIns="0" rtlCol="0" anchor="ctr"/>
          <a:lstStyle/>
          <a:p>
            <a:pPr algn="ctr" indent="0" marL="0">
              <a:buNone/>
            </a:pPr>
            <a:r>
              <a:rPr lang="en-US" sz="1280" b="1" dirty="0">
                <a:solidFill>
                  <a:srgbClr val="FFFFFF"/>
                </a:solidFill>
                <a:latin typeface="Calibri" pitchFamily="34" charset="0"/>
                <a:ea typeface="Calibri" pitchFamily="34" charset="-122"/>
                <a:cs typeface="Calibri" pitchFamily="34" charset="-120"/>
              </a:rPr>
              <a:t>1</a:t>
            </a:r>
            <a:endParaRPr lang="en-US" sz="1280" dirty="0"/>
          </a:p>
        </p:txBody>
      </p:sp>
      <p:sp>
        <p:nvSpPr>
          <p:cNvPr id="9" name="Text 6"/>
          <p:cNvSpPr txBox="1"/>
          <p:nvPr/>
        </p:nvSpPr>
        <p:spPr>
          <a:xfrm>
            <a:off x="1051560" y="1435608"/>
            <a:ext cx="10424160" cy="384048"/>
          </a:xfrm>
          <a:prstGeom prst="rect">
            <a:avLst/>
          </a:prstGeom>
          <a:noFill/>
          <a:ln/>
        </p:spPr>
        <p:txBody>
          <a:bodyPr wrap="square" lIns="0" tIns="0" rIns="0" bIns="0" rtlCol="0" anchor="t"/>
          <a:lstStyle/>
          <a:p>
            <a:pPr indent="0" marL="0">
              <a:buNone/>
            </a:pPr>
            <a:r>
              <a:rPr lang="en-US" sz="1800" b="1" dirty="0">
                <a:solidFill>
                  <a:srgbClr val="1E2761"/>
                </a:solidFill>
                <a:latin typeface="Calibri" pitchFamily="34" charset="0"/>
                <a:ea typeface="Calibri" pitchFamily="34" charset="-122"/>
                <a:cs typeface="Calibri" pitchFamily="34" charset="-120"/>
              </a:rPr>
              <a:t>Verbinde die Sätze mit der Subjunktion in Klammern.</a:t>
            </a:r>
            <a:endParaRPr lang="en-US" sz="1800" dirty="0"/>
          </a:p>
        </p:txBody>
      </p:sp>
      <p:sp>
        <p:nvSpPr>
          <p:cNvPr id="10" name="Shape 7"/>
          <p:cNvSpPr/>
          <p:nvPr/>
        </p:nvSpPr>
        <p:spPr>
          <a:xfrm>
            <a:off x="548640" y="1874520"/>
            <a:ext cx="365760" cy="365760"/>
          </a:xfrm>
          <a:prstGeom prst="ellipse">
            <a:avLst/>
          </a:prstGeom>
          <a:solidFill>
            <a:srgbClr val="7A5BA6"/>
          </a:solidFill>
          <a:ln/>
        </p:spPr>
      </p:sp>
      <p:sp>
        <p:nvSpPr>
          <p:cNvPr id="11" name="Text 8"/>
          <p:cNvSpPr txBox="1"/>
          <p:nvPr/>
        </p:nvSpPr>
        <p:spPr>
          <a:xfrm>
            <a:off x="548640" y="1874520"/>
            <a:ext cx="365760" cy="365760"/>
          </a:xfrm>
          <a:prstGeom prst="rect">
            <a:avLst/>
          </a:prstGeom>
          <a:noFill/>
          <a:ln/>
        </p:spPr>
        <p:txBody>
          <a:bodyPr wrap="square" lIns="0" tIns="0" rIns="0" bIns="0" rtlCol="0" anchor="ctr"/>
          <a:lstStyle/>
          <a:p>
            <a:pPr algn="ctr" indent="0" marL="0">
              <a:buNone/>
            </a:pPr>
            <a:r>
              <a:rPr lang="en-US" sz="1280" b="1" dirty="0">
                <a:solidFill>
                  <a:srgbClr val="FFFFFF"/>
                </a:solidFill>
                <a:latin typeface="Calibri" pitchFamily="34" charset="0"/>
                <a:ea typeface="Calibri" pitchFamily="34" charset="-122"/>
                <a:cs typeface="Calibri" pitchFamily="34" charset="-120"/>
              </a:rPr>
              <a:t>2</a:t>
            </a:r>
            <a:endParaRPr lang="en-US" sz="1280" dirty="0"/>
          </a:p>
        </p:txBody>
      </p:sp>
      <p:sp>
        <p:nvSpPr>
          <p:cNvPr id="12" name="Text 9"/>
          <p:cNvSpPr txBox="1"/>
          <p:nvPr/>
        </p:nvSpPr>
        <p:spPr>
          <a:xfrm>
            <a:off x="1051560" y="1892808"/>
            <a:ext cx="10424160" cy="384048"/>
          </a:xfrm>
          <a:prstGeom prst="rect">
            <a:avLst/>
          </a:prstGeom>
          <a:noFill/>
          <a:ln/>
        </p:spPr>
        <p:txBody>
          <a:bodyPr wrap="square" lIns="0" tIns="0" rIns="0" bIns="0" rtlCol="0" anchor="t"/>
          <a:lstStyle/>
          <a:p>
            <a:pPr indent="0" marL="0">
              <a:buNone/>
            </a:pPr>
            <a:r>
              <a:rPr lang="en-US" sz="1800" b="1" dirty="0">
                <a:solidFill>
                  <a:srgbClr val="1E2761"/>
                </a:solidFill>
                <a:latin typeface="Calibri" pitchFamily="34" charset="0"/>
                <a:ea typeface="Calibri" pitchFamily="34" charset="-122"/>
                <a:cs typeface="Calibri" pitchFamily="34" charset="-120"/>
              </a:rPr>
              <a:t>Schreibe den ganzen Satz ins Heft. Denk an das Komma.</a:t>
            </a:r>
            <a:endParaRPr lang="en-US" sz="1800" dirty="0"/>
          </a:p>
        </p:txBody>
      </p:sp>
      <p:sp>
        <p:nvSpPr>
          <p:cNvPr id="13" name="Shape 10"/>
          <p:cNvSpPr/>
          <p:nvPr/>
        </p:nvSpPr>
        <p:spPr>
          <a:xfrm>
            <a:off x="548640" y="2331720"/>
            <a:ext cx="365760" cy="365760"/>
          </a:xfrm>
          <a:prstGeom prst="ellipse">
            <a:avLst/>
          </a:prstGeom>
          <a:solidFill>
            <a:srgbClr val="7A5BA6"/>
          </a:solidFill>
          <a:ln/>
        </p:spPr>
      </p:sp>
      <p:sp>
        <p:nvSpPr>
          <p:cNvPr id="14" name="Text 11"/>
          <p:cNvSpPr txBox="1"/>
          <p:nvPr/>
        </p:nvSpPr>
        <p:spPr>
          <a:xfrm>
            <a:off x="548640" y="2331720"/>
            <a:ext cx="365760" cy="365760"/>
          </a:xfrm>
          <a:prstGeom prst="rect">
            <a:avLst/>
          </a:prstGeom>
          <a:noFill/>
          <a:ln/>
        </p:spPr>
        <p:txBody>
          <a:bodyPr wrap="square" lIns="0" tIns="0" rIns="0" bIns="0" rtlCol="0" anchor="ctr"/>
          <a:lstStyle/>
          <a:p>
            <a:pPr algn="ctr" indent="0" marL="0">
              <a:buNone/>
            </a:pPr>
            <a:r>
              <a:rPr lang="en-US" sz="1280" b="1" dirty="0">
                <a:solidFill>
                  <a:srgbClr val="FFFFFF"/>
                </a:solidFill>
                <a:latin typeface="Calibri" pitchFamily="34" charset="0"/>
                <a:ea typeface="Calibri" pitchFamily="34" charset="-122"/>
                <a:cs typeface="Calibri" pitchFamily="34" charset="-120"/>
              </a:rPr>
              <a:t>3</a:t>
            </a:r>
            <a:endParaRPr lang="en-US" sz="1280" dirty="0"/>
          </a:p>
        </p:txBody>
      </p:sp>
      <p:sp>
        <p:nvSpPr>
          <p:cNvPr id="15" name="Text 12"/>
          <p:cNvSpPr txBox="1"/>
          <p:nvPr/>
        </p:nvSpPr>
        <p:spPr>
          <a:xfrm>
            <a:off x="1051560" y="2350008"/>
            <a:ext cx="10424160" cy="384048"/>
          </a:xfrm>
          <a:prstGeom prst="rect">
            <a:avLst/>
          </a:prstGeom>
          <a:noFill/>
          <a:ln/>
        </p:spPr>
        <p:txBody>
          <a:bodyPr wrap="square" lIns="0" tIns="0" rIns="0" bIns="0" rtlCol="0" anchor="t"/>
          <a:lstStyle/>
          <a:p>
            <a:pPr indent="0" marL="0">
              <a:buNone/>
            </a:pPr>
            <a:r>
              <a:rPr lang="en-US" sz="1800" b="1" dirty="0">
                <a:solidFill>
                  <a:srgbClr val="1E2761"/>
                </a:solidFill>
                <a:latin typeface="Calibri" pitchFamily="34" charset="0"/>
                <a:ea typeface="Calibri" pitchFamily="34" charset="-122"/>
                <a:cs typeface="Calibri" pitchFamily="34" charset="-120"/>
              </a:rPr>
              <a:t>Kreise die Subjunktion ein, unterstreiche das finite Verb.</a:t>
            </a:r>
            <a:endParaRPr lang="en-US" sz="1800" dirty="0"/>
          </a:p>
        </p:txBody>
      </p:sp>
      <p:sp>
        <p:nvSpPr>
          <p:cNvPr id="16" name="Shape 13"/>
          <p:cNvSpPr/>
          <p:nvPr/>
        </p:nvSpPr>
        <p:spPr>
          <a:xfrm>
            <a:off x="548640" y="2880360"/>
            <a:ext cx="11064240" cy="2697480"/>
          </a:xfrm>
          <a:prstGeom prst="roundRect">
            <a:avLst>
              <a:gd name="adj" fmla="val 2712"/>
            </a:avLst>
          </a:prstGeom>
          <a:solidFill>
            <a:srgbClr val="F4F7FD"/>
          </a:solidFill>
          <a:ln/>
        </p:spPr>
      </p:sp>
      <p:sp>
        <p:nvSpPr>
          <p:cNvPr id="17" name="Text 14"/>
          <p:cNvSpPr txBox="1"/>
          <p:nvPr/>
        </p:nvSpPr>
        <p:spPr>
          <a:xfrm>
            <a:off x="777240" y="2990088"/>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1</a:t>
            </a:r>
            <a:endParaRPr lang="en-US" sz="1800" dirty="0"/>
          </a:p>
        </p:txBody>
      </p:sp>
      <p:sp>
        <p:nvSpPr>
          <p:cNvPr id="18" name="Text 15"/>
          <p:cNvSpPr txBox="1"/>
          <p:nvPr/>
        </p:nvSpPr>
        <p:spPr>
          <a:xfrm>
            <a:off x="1417320" y="2990088"/>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trainiere heute länger. Am Samstag ist ein Wettkampf.</a:t>
            </a:r>
            <a:endParaRPr lang="en-US" sz="1800" dirty="0"/>
          </a:p>
        </p:txBody>
      </p:sp>
      <p:sp>
        <p:nvSpPr>
          <p:cNvPr id="19" name="Text 16"/>
          <p:cNvSpPr txBox="1"/>
          <p:nvPr/>
        </p:nvSpPr>
        <p:spPr>
          <a:xfrm>
            <a:off x="9875520" y="2990088"/>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(weil)</a:t>
            </a:r>
            <a:endParaRPr lang="en-US" sz="1800" dirty="0"/>
          </a:p>
        </p:txBody>
      </p:sp>
      <p:sp>
        <p:nvSpPr>
          <p:cNvPr id="20" name="Text 17"/>
          <p:cNvSpPr txBox="1"/>
          <p:nvPr/>
        </p:nvSpPr>
        <p:spPr>
          <a:xfrm>
            <a:off x="777240" y="3419856"/>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2</a:t>
            </a:r>
            <a:endParaRPr lang="en-US" sz="1800" dirty="0"/>
          </a:p>
        </p:txBody>
      </p:sp>
      <p:sp>
        <p:nvSpPr>
          <p:cNvPr id="21" name="Text 18"/>
          <p:cNvSpPr txBox="1"/>
          <p:nvPr/>
        </p:nvSpPr>
        <p:spPr>
          <a:xfrm>
            <a:off x="1417320" y="3419856"/>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Der Trainer sagt. Wir fahren nach Frankfurt (Oder).</a:t>
            </a:r>
            <a:endParaRPr lang="en-US" sz="1800" dirty="0"/>
          </a:p>
        </p:txBody>
      </p:sp>
      <p:sp>
        <p:nvSpPr>
          <p:cNvPr id="22" name="Text 19"/>
          <p:cNvSpPr txBox="1"/>
          <p:nvPr/>
        </p:nvSpPr>
        <p:spPr>
          <a:xfrm>
            <a:off x="9875520" y="3419856"/>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(dass)</a:t>
            </a:r>
            <a:endParaRPr lang="en-US" sz="1800" dirty="0"/>
          </a:p>
        </p:txBody>
      </p:sp>
      <p:sp>
        <p:nvSpPr>
          <p:cNvPr id="23" name="Text 20"/>
          <p:cNvSpPr txBox="1"/>
          <p:nvPr/>
        </p:nvSpPr>
        <p:spPr>
          <a:xfrm>
            <a:off x="777240" y="3849624"/>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3</a:t>
            </a:r>
            <a:endParaRPr lang="en-US" sz="1800" dirty="0"/>
          </a:p>
        </p:txBody>
      </p:sp>
      <p:sp>
        <p:nvSpPr>
          <p:cNvPr id="24" name="Text 21"/>
          <p:cNvSpPr txBox="1"/>
          <p:nvPr/>
        </p:nvSpPr>
        <p:spPr>
          <a:xfrm>
            <a:off x="1417320" y="3849624"/>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war nervös. Ich stand auf der Matte.</a:t>
            </a:r>
            <a:endParaRPr lang="en-US" sz="1800" dirty="0"/>
          </a:p>
        </p:txBody>
      </p:sp>
      <p:sp>
        <p:nvSpPr>
          <p:cNvPr id="25" name="Text 22"/>
          <p:cNvSpPr txBox="1"/>
          <p:nvPr/>
        </p:nvSpPr>
        <p:spPr>
          <a:xfrm>
            <a:off x="9875520" y="3849624"/>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(als)</a:t>
            </a:r>
            <a:endParaRPr lang="en-US" sz="1800" dirty="0"/>
          </a:p>
        </p:txBody>
      </p:sp>
      <p:sp>
        <p:nvSpPr>
          <p:cNvPr id="26" name="Text 23"/>
          <p:cNvSpPr txBox="1"/>
          <p:nvPr/>
        </p:nvSpPr>
        <p:spPr>
          <a:xfrm>
            <a:off x="777240" y="4279392"/>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4</a:t>
            </a:r>
            <a:endParaRPr lang="en-US" sz="1800" dirty="0"/>
          </a:p>
        </p:txBody>
      </p:sp>
      <p:sp>
        <p:nvSpPr>
          <p:cNvPr id="27" name="Text 24"/>
          <p:cNvSpPr txBox="1"/>
          <p:nvPr/>
        </p:nvSpPr>
        <p:spPr>
          <a:xfrm>
            <a:off x="1417320" y="4279392"/>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Wir gewinnen. Wir spielen als Team.</a:t>
            </a:r>
            <a:endParaRPr lang="en-US" sz="1800" dirty="0"/>
          </a:p>
        </p:txBody>
      </p:sp>
      <p:sp>
        <p:nvSpPr>
          <p:cNvPr id="28" name="Text 25"/>
          <p:cNvSpPr txBox="1"/>
          <p:nvPr/>
        </p:nvSpPr>
        <p:spPr>
          <a:xfrm>
            <a:off x="9875520" y="4279392"/>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(wenn)</a:t>
            </a:r>
            <a:endParaRPr lang="en-US" sz="1800" dirty="0"/>
          </a:p>
        </p:txBody>
      </p:sp>
      <p:sp>
        <p:nvSpPr>
          <p:cNvPr id="29" name="Text 26"/>
          <p:cNvSpPr txBox="1"/>
          <p:nvPr/>
        </p:nvSpPr>
        <p:spPr>
          <a:xfrm>
            <a:off x="777240" y="4709160"/>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5</a:t>
            </a:r>
            <a:endParaRPr lang="en-US" sz="1800" dirty="0"/>
          </a:p>
        </p:txBody>
      </p:sp>
      <p:sp>
        <p:nvSpPr>
          <p:cNvPr id="30" name="Text 27"/>
          <p:cNvSpPr txBox="1"/>
          <p:nvPr/>
        </p:nvSpPr>
        <p:spPr>
          <a:xfrm>
            <a:off x="1417320" y="4709160"/>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Ich bin stolz. Ich habe 80 kg gestoßen.</a:t>
            </a:r>
            <a:endParaRPr lang="en-US" sz="1800" dirty="0"/>
          </a:p>
        </p:txBody>
      </p:sp>
      <p:sp>
        <p:nvSpPr>
          <p:cNvPr id="31" name="Text 28"/>
          <p:cNvSpPr txBox="1"/>
          <p:nvPr/>
        </p:nvSpPr>
        <p:spPr>
          <a:xfrm>
            <a:off x="9875520" y="4709160"/>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(weil)</a:t>
            </a:r>
            <a:endParaRPr lang="en-US" sz="1800" dirty="0"/>
          </a:p>
        </p:txBody>
      </p:sp>
      <p:sp>
        <p:nvSpPr>
          <p:cNvPr id="32" name="Text 29"/>
          <p:cNvSpPr txBox="1"/>
          <p:nvPr/>
        </p:nvSpPr>
        <p:spPr>
          <a:xfrm>
            <a:off x="777240" y="5138928"/>
            <a:ext cx="640080" cy="36576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 6</a:t>
            </a:r>
            <a:endParaRPr lang="en-US" sz="1800" dirty="0"/>
          </a:p>
        </p:txBody>
      </p:sp>
      <p:sp>
        <p:nvSpPr>
          <p:cNvPr id="33" name="Text 30"/>
          <p:cNvSpPr txBox="1"/>
          <p:nvPr/>
        </p:nvSpPr>
        <p:spPr>
          <a:xfrm>
            <a:off x="1417320" y="5138928"/>
            <a:ext cx="8412480" cy="365760"/>
          </a:xfrm>
          <a:prstGeom prst="rect">
            <a:avLst/>
          </a:prstGeom>
          <a:noFill/>
          <a:ln/>
        </p:spPr>
        <p:txBody>
          <a:bodyPr wrap="square" lIns="0" tIns="0" rIns="0" bIns="0" rtlCol="0" anchor="t"/>
          <a:lstStyle/>
          <a:p>
            <a:pPr indent="0" marL="0">
              <a:buNone/>
            </a:pPr>
            <a:r>
              <a:rPr lang="en-US" sz="1800" dirty="0">
                <a:solidFill>
                  <a:srgbClr val="1E2761"/>
                </a:solidFill>
                <a:latin typeface="Calibri" pitchFamily="34" charset="0"/>
                <a:ea typeface="Calibri" pitchFamily="34" charset="-122"/>
                <a:cs typeface="Calibri" pitchFamily="34" charset="-120"/>
              </a:rPr>
              <a:t>Der Trainer fragt. Hast du gut geschlafen?</a:t>
            </a:r>
            <a:endParaRPr lang="en-US" sz="1800" dirty="0"/>
          </a:p>
        </p:txBody>
      </p:sp>
      <p:sp>
        <p:nvSpPr>
          <p:cNvPr id="34" name="Text 31"/>
          <p:cNvSpPr txBox="1"/>
          <p:nvPr/>
        </p:nvSpPr>
        <p:spPr>
          <a:xfrm>
            <a:off x="9875520" y="5138928"/>
            <a:ext cx="1554480" cy="365760"/>
          </a:xfrm>
          <a:prstGeom prst="rect">
            <a:avLst/>
          </a:prstGeom>
          <a:noFill/>
          <a:ln/>
        </p:spPr>
        <p:txBody>
          <a:bodyPr wrap="square" lIns="0" tIns="0" rIns="0" bIns="0" rtlCol="0" anchor="t"/>
          <a:lstStyle/>
          <a:p>
            <a:pPr algn="r" indent="0" marL="0">
              <a:buNone/>
            </a:pPr>
            <a:r>
              <a:rPr lang="en-US" sz="1800" b="1" dirty="0">
                <a:solidFill>
                  <a:srgbClr val="7A5BA6"/>
                </a:solidFill>
                <a:latin typeface="Calibri" pitchFamily="34" charset="0"/>
                <a:ea typeface="Calibri" pitchFamily="34" charset="-122"/>
                <a:cs typeface="Calibri" pitchFamily="34" charset="-120"/>
              </a:rPr>
              <a:t>(ob)</a:t>
            </a:r>
            <a:endParaRPr lang="en-US" sz="1800" dirty="0"/>
          </a:p>
        </p:txBody>
      </p:sp>
      <p:sp>
        <p:nvSpPr>
          <p:cNvPr id="35" name="Shape 32"/>
          <p:cNvSpPr/>
          <p:nvPr/>
        </p:nvSpPr>
        <p:spPr>
          <a:xfrm>
            <a:off x="548640" y="5715000"/>
            <a:ext cx="11064240" cy="502920"/>
          </a:xfrm>
          <a:prstGeom prst="roundRect">
            <a:avLst>
              <a:gd name="adj" fmla="val 14545"/>
            </a:avLst>
          </a:prstGeom>
          <a:solidFill>
            <a:srgbClr val="EAF0FA"/>
          </a:solidFill>
          <a:ln/>
        </p:spPr>
      </p:sp>
      <p:sp>
        <p:nvSpPr>
          <p:cNvPr id="36" name="Text 33"/>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8 Minuten · allein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26</a:t>
            </a:r>
            <a:endParaRPr lang="en-US" sz="1000" dirty="0"/>
          </a:p>
        </p:txBody>
      </p:sp>
      <p:sp>
        <p:nvSpPr>
          <p:cNvPr id="7" name="Shape 4"/>
          <p:cNvSpPr/>
          <p:nvPr/>
        </p:nvSpPr>
        <p:spPr>
          <a:xfrm>
            <a:off x="548640" y="1371600"/>
            <a:ext cx="11064240" cy="621792"/>
          </a:xfrm>
          <a:prstGeom prst="roundRect">
            <a:avLst>
              <a:gd name="adj" fmla="val 7353"/>
            </a:avLst>
          </a:prstGeom>
          <a:solidFill>
            <a:srgbClr val="FFF4DE"/>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4F7FD"/>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40280"/>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Der Trainer sagt. Wir fahren nach Frankfurt (Oder). (dass)</a:t>
            </a:r>
            <a:endParaRPr lang="en-US" sz="1600" dirty="0"/>
          </a:p>
        </p:txBody>
      </p:sp>
      <p:sp>
        <p:nvSpPr>
          <p:cNvPr id="13" name="Shape 10"/>
          <p:cNvSpPr/>
          <p:nvPr/>
        </p:nvSpPr>
        <p:spPr>
          <a:xfrm>
            <a:off x="548640" y="2798064"/>
            <a:ext cx="11064240" cy="621792"/>
          </a:xfrm>
          <a:prstGeom prst="roundRect">
            <a:avLst>
              <a:gd name="adj" fmla="val 7353"/>
            </a:avLst>
          </a:prstGeom>
          <a:solidFill>
            <a:srgbClr val="F4F7FD"/>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53512"/>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war nervös. Ich stand auf der Matte. (als)</a:t>
            </a:r>
            <a:endParaRPr lang="en-US" sz="1600" dirty="0"/>
          </a:p>
        </p:txBody>
      </p:sp>
      <p:sp>
        <p:nvSpPr>
          <p:cNvPr id="16" name="Shape 13"/>
          <p:cNvSpPr/>
          <p:nvPr/>
        </p:nvSpPr>
        <p:spPr>
          <a:xfrm>
            <a:off x="548640" y="3511296"/>
            <a:ext cx="11064240" cy="621792"/>
          </a:xfrm>
          <a:prstGeom prst="roundRect">
            <a:avLst>
              <a:gd name="adj" fmla="val 7353"/>
            </a:avLst>
          </a:prstGeom>
          <a:solidFill>
            <a:srgbClr val="F4F7FD"/>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66744"/>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Wir gewinnen. Wir spielen als Team. (wenn)</a:t>
            </a:r>
            <a:endParaRPr lang="en-US" sz="1600" dirty="0"/>
          </a:p>
        </p:txBody>
      </p:sp>
      <p:sp>
        <p:nvSpPr>
          <p:cNvPr id="19" name="Shape 16"/>
          <p:cNvSpPr/>
          <p:nvPr/>
        </p:nvSpPr>
        <p:spPr>
          <a:xfrm>
            <a:off x="548640" y="4224528"/>
            <a:ext cx="11064240" cy="621792"/>
          </a:xfrm>
          <a:prstGeom prst="roundRect">
            <a:avLst>
              <a:gd name="adj" fmla="val 7353"/>
            </a:avLst>
          </a:prstGeom>
          <a:solidFill>
            <a:srgbClr val="F4F7FD"/>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79976"/>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bin stolz. Ich habe 80 kg gestoßen. (weil)</a:t>
            </a:r>
            <a:endParaRPr lang="en-US" sz="1600" dirty="0"/>
          </a:p>
        </p:txBody>
      </p:sp>
      <p:sp>
        <p:nvSpPr>
          <p:cNvPr id="22" name="Shape 19"/>
          <p:cNvSpPr/>
          <p:nvPr/>
        </p:nvSpPr>
        <p:spPr>
          <a:xfrm>
            <a:off x="548640" y="4937760"/>
            <a:ext cx="11064240" cy="621792"/>
          </a:xfrm>
          <a:prstGeom prst="roundRect">
            <a:avLst>
              <a:gd name="adj" fmla="val 7353"/>
            </a:avLst>
          </a:prstGeom>
          <a:solidFill>
            <a:srgbClr val="F4F7FD"/>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93208"/>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 Der Trainer fragt. Hast du gut geschlafen? (ob)</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27</a:t>
            </a:r>
            <a:endParaRPr lang="en-US" sz="1000" dirty="0"/>
          </a:p>
        </p:txBody>
      </p:sp>
      <p:sp>
        <p:nvSpPr>
          <p:cNvPr id="7" name="Shape 4"/>
          <p:cNvSpPr/>
          <p:nvPr/>
        </p:nvSpPr>
        <p:spPr>
          <a:xfrm>
            <a:off x="548640" y="1371600"/>
            <a:ext cx="11064240" cy="621792"/>
          </a:xfrm>
          <a:prstGeom prst="roundRect">
            <a:avLst>
              <a:gd name="adj" fmla="val 7353"/>
            </a:avLst>
          </a:prstGeom>
          <a:solidFill>
            <a:srgbClr val="F4F7FD"/>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FF4DE"/>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12848"/>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sagt, </a:t>
            </a:r>
            <a:pPr indent="0" marL="0">
              <a:buNone/>
            </a:pPr>
            <a:r>
              <a:rPr lang="en-US" sz="2000" b="1" dirty="0">
                <a:solidFill>
                  <a:srgbClr val="7A5BA6"/>
                </a:solidFill>
                <a:latin typeface="Cambria" pitchFamily="34" charset="0"/>
                <a:ea typeface="Cambria" pitchFamily="34" charset="-122"/>
                <a:cs typeface="Cambria" pitchFamily="34" charset="-120"/>
              </a:rPr>
              <a:t>dass</a:t>
            </a:r>
            <a:pPr indent="0" marL="0">
              <a:buNone/>
            </a:pPr>
            <a:r>
              <a:rPr lang="en-US" sz="2000" dirty="0">
                <a:solidFill>
                  <a:srgbClr val="1E2761"/>
                </a:solidFill>
                <a:latin typeface="Cambria" pitchFamily="34" charset="0"/>
                <a:ea typeface="Cambria" pitchFamily="34" charset="-122"/>
                <a:cs typeface="Cambria" pitchFamily="34" charset="-120"/>
              </a:rPr>
              <a:t> wir nach Frankfurt (Oder) </a:t>
            </a:r>
            <a:pPr indent="0" marL="0">
              <a:buNone/>
            </a:pPr>
            <a:r>
              <a:rPr lang="en-US" sz="2000" b="1" u="sng" dirty="0">
                <a:solidFill>
                  <a:srgbClr val="1E2761"/>
                </a:solidFill>
                <a:latin typeface="Cambria" pitchFamily="34" charset="0"/>
                <a:ea typeface="Cambria" pitchFamily="34" charset="-122"/>
                <a:cs typeface="Cambria" pitchFamily="34" charset="-120"/>
              </a:rPr>
              <a:t>fahren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2798064"/>
            <a:ext cx="11064240" cy="621792"/>
          </a:xfrm>
          <a:prstGeom prst="roundRect">
            <a:avLst>
              <a:gd name="adj" fmla="val 7353"/>
            </a:avLst>
          </a:prstGeom>
          <a:solidFill>
            <a:srgbClr val="F4F7FD"/>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53512"/>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war nervös. Ich stand auf der Matte. (als)</a:t>
            </a:r>
            <a:endParaRPr lang="en-US" sz="1600" dirty="0"/>
          </a:p>
        </p:txBody>
      </p:sp>
      <p:sp>
        <p:nvSpPr>
          <p:cNvPr id="16" name="Shape 13"/>
          <p:cNvSpPr/>
          <p:nvPr/>
        </p:nvSpPr>
        <p:spPr>
          <a:xfrm>
            <a:off x="548640" y="3511296"/>
            <a:ext cx="11064240" cy="621792"/>
          </a:xfrm>
          <a:prstGeom prst="roundRect">
            <a:avLst>
              <a:gd name="adj" fmla="val 7353"/>
            </a:avLst>
          </a:prstGeom>
          <a:solidFill>
            <a:srgbClr val="F4F7FD"/>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66744"/>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Wir gewinnen. Wir spielen als Team. (wenn)</a:t>
            </a:r>
            <a:endParaRPr lang="en-US" sz="1600" dirty="0"/>
          </a:p>
        </p:txBody>
      </p:sp>
      <p:sp>
        <p:nvSpPr>
          <p:cNvPr id="19" name="Shape 16"/>
          <p:cNvSpPr/>
          <p:nvPr/>
        </p:nvSpPr>
        <p:spPr>
          <a:xfrm>
            <a:off x="548640" y="4224528"/>
            <a:ext cx="11064240" cy="621792"/>
          </a:xfrm>
          <a:prstGeom prst="roundRect">
            <a:avLst>
              <a:gd name="adj" fmla="val 7353"/>
            </a:avLst>
          </a:prstGeom>
          <a:solidFill>
            <a:srgbClr val="F4F7FD"/>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79976"/>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bin stolz. Ich habe 80 kg gestoßen. (weil)</a:t>
            </a:r>
            <a:endParaRPr lang="en-US" sz="1600" dirty="0"/>
          </a:p>
        </p:txBody>
      </p:sp>
      <p:sp>
        <p:nvSpPr>
          <p:cNvPr id="22" name="Shape 19"/>
          <p:cNvSpPr/>
          <p:nvPr/>
        </p:nvSpPr>
        <p:spPr>
          <a:xfrm>
            <a:off x="548640" y="4937760"/>
            <a:ext cx="11064240" cy="621792"/>
          </a:xfrm>
          <a:prstGeom prst="roundRect">
            <a:avLst>
              <a:gd name="adj" fmla="val 7353"/>
            </a:avLst>
          </a:prstGeom>
          <a:solidFill>
            <a:srgbClr val="F4F7FD"/>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93208"/>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 Der Trainer fragt. Hast du gut geschlafen? (ob)</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28</a:t>
            </a:r>
            <a:endParaRPr lang="en-US" sz="1000" dirty="0"/>
          </a:p>
        </p:txBody>
      </p:sp>
      <p:sp>
        <p:nvSpPr>
          <p:cNvPr id="7" name="Shape 4"/>
          <p:cNvSpPr/>
          <p:nvPr/>
        </p:nvSpPr>
        <p:spPr>
          <a:xfrm>
            <a:off x="548640" y="1371600"/>
            <a:ext cx="11064240" cy="621792"/>
          </a:xfrm>
          <a:prstGeom prst="roundRect">
            <a:avLst>
              <a:gd name="adj" fmla="val 7353"/>
            </a:avLst>
          </a:prstGeom>
          <a:solidFill>
            <a:srgbClr val="F4F7FD"/>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4F7FD"/>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12848"/>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sagt, </a:t>
            </a:r>
            <a:pPr indent="0" marL="0">
              <a:buNone/>
            </a:pPr>
            <a:r>
              <a:rPr lang="en-US" sz="2000" b="1" dirty="0">
                <a:solidFill>
                  <a:srgbClr val="7A5BA6"/>
                </a:solidFill>
                <a:latin typeface="Cambria" pitchFamily="34" charset="0"/>
                <a:ea typeface="Cambria" pitchFamily="34" charset="-122"/>
                <a:cs typeface="Cambria" pitchFamily="34" charset="-120"/>
              </a:rPr>
              <a:t>dass</a:t>
            </a:r>
            <a:pPr indent="0" marL="0">
              <a:buNone/>
            </a:pPr>
            <a:r>
              <a:rPr lang="en-US" sz="2000" dirty="0">
                <a:solidFill>
                  <a:srgbClr val="1E2761"/>
                </a:solidFill>
                <a:latin typeface="Cambria" pitchFamily="34" charset="0"/>
                <a:ea typeface="Cambria" pitchFamily="34" charset="-122"/>
                <a:cs typeface="Cambria" pitchFamily="34" charset="-120"/>
              </a:rPr>
              <a:t> wir nach Frankfurt (Oder) </a:t>
            </a:r>
            <a:pPr indent="0" marL="0">
              <a:buNone/>
            </a:pPr>
            <a:r>
              <a:rPr lang="en-US" sz="2000" b="1" u="sng" dirty="0">
                <a:solidFill>
                  <a:srgbClr val="1E2761"/>
                </a:solidFill>
                <a:latin typeface="Cambria" pitchFamily="34" charset="0"/>
                <a:ea typeface="Cambria" pitchFamily="34" charset="-122"/>
                <a:cs typeface="Cambria" pitchFamily="34" charset="-120"/>
              </a:rPr>
              <a:t>fahren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2798064"/>
            <a:ext cx="11064240" cy="621792"/>
          </a:xfrm>
          <a:prstGeom prst="roundRect">
            <a:avLst>
              <a:gd name="adj" fmla="val 7353"/>
            </a:avLst>
          </a:prstGeom>
          <a:solidFill>
            <a:srgbClr val="FFF4DE"/>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26080"/>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war nervös, </a:t>
            </a:r>
            <a:pPr indent="0" marL="0">
              <a:buNone/>
            </a:pPr>
            <a:r>
              <a:rPr lang="en-US" sz="2000" b="1" dirty="0">
                <a:solidFill>
                  <a:srgbClr val="7A5BA6"/>
                </a:solidFill>
                <a:latin typeface="Cambria" pitchFamily="34" charset="0"/>
                <a:ea typeface="Cambria" pitchFamily="34" charset="-122"/>
                <a:cs typeface="Cambria" pitchFamily="34" charset="-120"/>
              </a:rPr>
              <a:t>als</a:t>
            </a:r>
            <a:pPr indent="0" marL="0">
              <a:buNone/>
            </a:pPr>
            <a:r>
              <a:rPr lang="en-US" sz="2000" dirty="0">
                <a:solidFill>
                  <a:srgbClr val="1E2761"/>
                </a:solidFill>
                <a:latin typeface="Cambria" pitchFamily="34" charset="0"/>
                <a:ea typeface="Cambria" pitchFamily="34" charset="-122"/>
                <a:cs typeface="Cambria" pitchFamily="34" charset="-120"/>
              </a:rPr>
              <a:t> ich auf der Matte </a:t>
            </a:r>
            <a:pPr indent="0" marL="0">
              <a:buNone/>
            </a:pPr>
            <a:r>
              <a:rPr lang="en-US" sz="2000" b="1" u="sng" dirty="0">
                <a:solidFill>
                  <a:srgbClr val="1E2761"/>
                </a:solidFill>
                <a:latin typeface="Cambria" pitchFamily="34" charset="0"/>
                <a:ea typeface="Cambria" pitchFamily="34" charset="-122"/>
                <a:cs typeface="Cambria" pitchFamily="34" charset="-120"/>
              </a:rPr>
              <a:t>stand</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6" name="Shape 13"/>
          <p:cNvSpPr/>
          <p:nvPr/>
        </p:nvSpPr>
        <p:spPr>
          <a:xfrm>
            <a:off x="548640" y="3511296"/>
            <a:ext cx="11064240" cy="621792"/>
          </a:xfrm>
          <a:prstGeom prst="roundRect">
            <a:avLst>
              <a:gd name="adj" fmla="val 7353"/>
            </a:avLst>
          </a:prstGeom>
          <a:solidFill>
            <a:srgbClr val="F4F7FD"/>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66744"/>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Wir gewinnen. Wir spielen als Team. (wenn)</a:t>
            </a:r>
            <a:endParaRPr lang="en-US" sz="1600" dirty="0"/>
          </a:p>
        </p:txBody>
      </p:sp>
      <p:sp>
        <p:nvSpPr>
          <p:cNvPr id="19" name="Shape 16"/>
          <p:cNvSpPr/>
          <p:nvPr/>
        </p:nvSpPr>
        <p:spPr>
          <a:xfrm>
            <a:off x="548640" y="4224528"/>
            <a:ext cx="11064240" cy="621792"/>
          </a:xfrm>
          <a:prstGeom prst="roundRect">
            <a:avLst>
              <a:gd name="adj" fmla="val 7353"/>
            </a:avLst>
          </a:prstGeom>
          <a:solidFill>
            <a:srgbClr val="F4F7FD"/>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79976"/>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bin stolz. Ich habe 80 kg gestoßen. (weil)</a:t>
            </a:r>
            <a:endParaRPr lang="en-US" sz="1600" dirty="0"/>
          </a:p>
        </p:txBody>
      </p:sp>
      <p:sp>
        <p:nvSpPr>
          <p:cNvPr id="22" name="Shape 19"/>
          <p:cNvSpPr/>
          <p:nvPr/>
        </p:nvSpPr>
        <p:spPr>
          <a:xfrm>
            <a:off x="548640" y="4937760"/>
            <a:ext cx="11064240" cy="621792"/>
          </a:xfrm>
          <a:prstGeom prst="roundRect">
            <a:avLst>
              <a:gd name="adj" fmla="val 7353"/>
            </a:avLst>
          </a:prstGeom>
          <a:solidFill>
            <a:srgbClr val="F4F7FD"/>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93208"/>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 Der Trainer fragt. Hast du gut geschlafen? (ob)</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29</a:t>
            </a:r>
            <a:endParaRPr lang="en-US" sz="1000" dirty="0"/>
          </a:p>
        </p:txBody>
      </p:sp>
      <p:sp>
        <p:nvSpPr>
          <p:cNvPr id="7" name="Shape 4"/>
          <p:cNvSpPr/>
          <p:nvPr/>
        </p:nvSpPr>
        <p:spPr>
          <a:xfrm>
            <a:off x="548640" y="1371600"/>
            <a:ext cx="11064240" cy="621792"/>
          </a:xfrm>
          <a:prstGeom prst="roundRect">
            <a:avLst>
              <a:gd name="adj" fmla="val 7353"/>
            </a:avLst>
          </a:prstGeom>
          <a:solidFill>
            <a:srgbClr val="F4F7FD"/>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4F7FD"/>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12848"/>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sagt, </a:t>
            </a:r>
            <a:pPr indent="0" marL="0">
              <a:buNone/>
            </a:pPr>
            <a:r>
              <a:rPr lang="en-US" sz="2000" b="1" dirty="0">
                <a:solidFill>
                  <a:srgbClr val="7A5BA6"/>
                </a:solidFill>
                <a:latin typeface="Cambria" pitchFamily="34" charset="0"/>
                <a:ea typeface="Cambria" pitchFamily="34" charset="-122"/>
                <a:cs typeface="Cambria" pitchFamily="34" charset="-120"/>
              </a:rPr>
              <a:t>dass</a:t>
            </a:r>
            <a:pPr indent="0" marL="0">
              <a:buNone/>
            </a:pPr>
            <a:r>
              <a:rPr lang="en-US" sz="2000" dirty="0">
                <a:solidFill>
                  <a:srgbClr val="1E2761"/>
                </a:solidFill>
                <a:latin typeface="Cambria" pitchFamily="34" charset="0"/>
                <a:ea typeface="Cambria" pitchFamily="34" charset="-122"/>
                <a:cs typeface="Cambria" pitchFamily="34" charset="-120"/>
              </a:rPr>
              <a:t> wir nach Frankfurt (Oder) </a:t>
            </a:r>
            <a:pPr indent="0" marL="0">
              <a:buNone/>
            </a:pPr>
            <a:r>
              <a:rPr lang="en-US" sz="2000" b="1" u="sng" dirty="0">
                <a:solidFill>
                  <a:srgbClr val="1E2761"/>
                </a:solidFill>
                <a:latin typeface="Cambria" pitchFamily="34" charset="0"/>
                <a:ea typeface="Cambria" pitchFamily="34" charset="-122"/>
                <a:cs typeface="Cambria" pitchFamily="34" charset="-120"/>
              </a:rPr>
              <a:t>fahren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2798064"/>
            <a:ext cx="11064240" cy="621792"/>
          </a:xfrm>
          <a:prstGeom prst="roundRect">
            <a:avLst>
              <a:gd name="adj" fmla="val 7353"/>
            </a:avLst>
          </a:prstGeom>
          <a:solidFill>
            <a:srgbClr val="F4F7FD"/>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26080"/>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war nervös, </a:t>
            </a:r>
            <a:pPr indent="0" marL="0">
              <a:buNone/>
            </a:pPr>
            <a:r>
              <a:rPr lang="en-US" sz="2000" b="1" dirty="0">
                <a:solidFill>
                  <a:srgbClr val="7A5BA6"/>
                </a:solidFill>
                <a:latin typeface="Cambria" pitchFamily="34" charset="0"/>
                <a:ea typeface="Cambria" pitchFamily="34" charset="-122"/>
                <a:cs typeface="Cambria" pitchFamily="34" charset="-120"/>
              </a:rPr>
              <a:t>als</a:t>
            </a:r>
            <a:pPr indent="0" marL="0">
              <a:buNone/>
            </a:pPr>
            <a:r>
              <a:rPr lang="en-US" sz="2000" dirty="0">
                <a:solidFill>
                  <a:srgbClr val="1E2761"/>
                </a:solidFill>
                <a:latin typeface="Cambria" pitchFamily="34" charset="0"/>
                <a:ea typeface="Cambria" pitchFamily="34" charset="-122"/>
                <a:cs typeface="Cambria" pitchFamily="34" charset="-120"/>
              </a:rPr>
              <a:t> ich auf der Matte </a:t>
            </a:r>
            <a:pPr indent="0" marL="0">
              <a:buNone/>
            </a:pPr>
            <a:r>
              <a:rPr lang="en-US" sz="2000" b="1" u="sng" dirty="0">
                <a:solidFill>
                  <a:srgbClr val="1E2761"/>
                </a:solidFill>
                <a:latin typeface="Cambria" pitchFamily="34" charset="0"/>
                <a:ea typeface="Cambria" pitchFamily="34" charset="-122"/>
                <a:cs typeface="Cambria" pitchFamily="34" charset="-120"/>
              </a:rPr>
              <a:t>stand</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6" name="Shape 13"/>
          <p:cNvSpPr/>
          <p:nvPr/>
        </p:nvSpPr>
        <p:spPr>
          <a:xfrm>
            <a:off x="548640" y="3511296"/>
            <a:ext cx="11064240" cy="621792"/>
          </a:xfrm>
          <a:prstGeom prst="roundRect">
            <a:avLst>
              <a:gd name="adj" fmla="val 7353"/>
            </a:avLst>
          </a:prstGeom>
          <a:solidFill>
            <a:srgbClr val="FFF4DE"/>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39312"/>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Wir gewinnen, </a:t>
            </a:r>
            <a:pPr indent="0" marL="0">
              <a:buNone/>
            </a:pPr>
            <a:r>
              <a:rPr lang="en-US" sz="2000" b="1" dirty="0">
                <a:solidFill>
                  <a:srgbClr val="7A5BA6"/>
                </a:solidFill>
                <a:latin typeface="Cambria" pitchFamily="34" charset="0"/>
                <a:ea typeface="Cambria" pitchFamily="34" charset="-122"/>
                <a:cs typeface="Cambria" pitchFamily="34" charset="-120"/>
              </a:rPr>
              <a:t>wenn</a:t>
            </a:r>
            <a:pPr indent="0" marL="0">
              <a:buNone/>
            </a:pPr>
            <a:r>
              <a:rPr lang="en-US" sz="2000" dirty="0">
                <a:solidFill>
                  <a:srgbClr val="1E2761"/>
                </a:solidFill>
                <a:latin typeface="Cambria" pitchFamily="34" charset="0"/>
                <a:ea typeface="Cambria" pitchFamily="34" charset="-122"/>
                <a:cs typeface="Cambria" pitchFamily="34" charset="-120"/>
              </a:rPr>
              <a:t> wir als Team </a:t>
            </a:r>
            <a:pPr indent="0" marL="0">
              <a:buNone/>
            </a:pPr>
            <a:r>
              <a:rPr lang="en-US" sz="2000" b="1" u="sng" dirty="0">
                <a:solidFill>
                  <a:srgbClr val="1E2761"/>
                </a:solidFill>
                <a:latin typeface="Cambria" pitchFamily="34" charset="0"/>
                <a:ea typeface="Cambria" pitchFamily="34" charset="-122"/>
                <a:cs typeface="Cambria" pitchFamily="34" charset="-120"/>
              </a:rPr>
              <a:t>spielen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9" name="Shape 16"/>
          <p:cNvSpPr/>
          <p:nvPr/>
        </p:nvSpPr>
        <p:spPr>
          <a:xfrm>
            <a:off x="548640" y="4224528"/>
            <a:ext cx="11064240" cy="621792"/>
          </a:xfrm>
          <a:prstGeom prst="roundRect">
            <a:avLst>
              <a:gd name="adj" fmla="val 7353"/>
            </a:avLst>
          </a:prstGeom>
          <a:solidFill>
            <a:srgbClr val="F4F7FD"/>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79976"/>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Ich bin stolz. Ich habe 80 kg gestoßen. (weil)</a:t>
            </a:r>
            <a:endParaRPr lang="en-US" sz="1600" dirty="0"/>
          </a:p>
        </p:txBody>
      </p:sp>
      <p:sp>
        <p:nvSpPr>
          <p:cNvPr id="22" name="Shape 19"/>
          <p:cNvSpPr/>
          <p:nvPr/>
        </p:nvSpPr>
        <p:spPr>
          <a:xfrm>
            <a:off x="548640" y="4937760"/>
            <a:ext cx="11064240" cy="621792"/>
          </a:xfrm>
          <a:prstGeom prst="roundRect">
            <a:avLst>
              <a:gd name="adj" fmla="val 7353"/>
            </a:avLst>
          </a:prstGeom>
          <a:solidFill>
            <a:srgbClr val="F4F7FD"/>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93208"/>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 Der Trainer fragt. Hast du gut geschlafen? (ob)</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30</a:t>
            </a:r>
            <a:endParaRPr lang="en-US" sz="1000" dirty="0"/>
          </a:p>
        </p:txBody>
      </p:sp>
      <p:sp>
        <p:nvSpPr>
          <p:cNvPr id="7" name="Shape 4"/>
          <p:cNvSpPr/>
          <p:nvPr/>
        </p:nvSpPr>
        <p:spPr>
          <a:xfrm>
            <a:off x="548640" y="1371600"/>
            <a:ext cx="11064240" cy="621792"/>
          </a:xfrm>
          <a:prstGeom prst="roundRect">
            <a:avLst>
              <a:gd name="adj" fmla="val 7353"/>
            </a:avLst>
          </a:prstGeom>
          <a:solidFill>
            <a:srgbClr val="F4F7FD"/>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4F7FD"/>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12848"/>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sagt, </a:t>
            </a:r>
            <a:pPr indent="0" marL="0">
              <a:buNone/>
            </a:pPr>
            <a:r>
              <a:rPr lang="en-US" sz="2000" b="1" dirty="0">
                <a:solidFill>
                  <a:srgbClr val="7A5BA6"/>
                </a:solidFill>
                <a:latin typeface="Cambria" pitchFamily="34" charset="0"/>
                <a:ea typeface="Cambria" pitchFamily="34" charset="-122"/>
                <a:cs typeface="Cambria" pitchFamily="34" charset="-120"/>
              </a:rPr>
              <a:t>dass</a:t>
            </a:r>
            <a:pPr indent="0" marL="0">
              <a:buNone/>
            </a:pPr>
            <a:r>
              <a:rPr lang="en-US" sz="2000" dirty="0">
                <a:solidFill>
                  <a:srgbClr val="1E2761"/>
                </a:solidFill>
                <a:latin typeface="Cambria" pitchFamily="34" charset="0"/>
                <a:ea typeface="Cambria" pitchFamily="34" charset="-122"/>
                <a:cs typeface="Cambria" pitchFamily="34" charset="-120"/>
              </a:rPr>
              <a:t> wir nach Frankfurt (Oder) </a:t>
            </a:r>
            <a:pPr indent="0" marL="0">
              <a:buNone/>
            </a:pPr>
            <a:r>
              <a:rPr lang="en-US" sz="2000" b="1" u="sng" dirty="0">
                <a:solidFill>
                  <a:srgbClr val="1E2761"/>
                </a:solidFill>
                <a:latin typeface="Cambria" pitchFamily="34" charset="0"/>
                <a:ea typeface="Cambria" pitchFamily="34" charset="-122"/>
                <a:cs typeface="Cambria" pitchFamily="34" charset="-120"/>
              </a:rPr>
              <a:t>fahren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2798064"/>
            <a:ext cx="11064240" cy="621792"/>
          </a:xfrm>
          <a:prstGeom prst="roundRect">
            <a:avLst>
              <a:gd name="adj" fmla="val 7353"/>
            </a:avLst>
          </a:prstGeom>
          <a:solidFill>
            <a:srgbClr val="F4F7FD"/>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26080"/>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war nervös, </a:t>
            </a:r>
            <a:pPr indent="0" marL="0">
              <a:buNone/>
            </a:pPr>
            <a:r>
              <a:rPr lang="en-US" sz="2000" b="1" dirty="0">
                <a:solidFill>
                  <a:srgbClr val="7A5BA6"/>
                </a:solidFill>
                <a:latin typeface="Cambria" pitchFamily="34" charset="0"/>
                <a:ea typeface="Cambria" pitchFamily="34" charset="-122"/>
                <a:cs typeface="Cambria" pitchFamily="34" charset="-120"/>
              </a:rPr>
              <a:t>als</a:t>
            </a:r>
            <a:pPr indent="0" marL="0">
              <a:buNone/>
            </a:pPr>
            <a:r>
              <a:rPr lang="en-US" sz="2000" dirty="0">
                <a:solidFill>
                  <a:srgbClr val="1E2761"/>
                </a:solidFill>
                <a:latin typeface="Cambria" pitchFamily="34" charset="0"/>
                <a:ea typeface="Cambria" pitchFamily="34" charset="-122"/>
                <a:cs typeface="Cambria" pitchFamily="34" charset="-120"/>
              </a:rPr>
              <a:t> ich auf der Matte </a:t>
            </a:r>
            <a:pPr indent="0" marL="0">
              <a:buNone/>
            </a:pPr>
            <a:r>
              <a:rPr lang="en-US" sz="2000" b="1" u="sng" dirty="0">
                <a:solidFill>
                  <a:srgbClr val="1E2761"/>
                </a:solidFill>
                <a:latin typeface="Cambria" pitchFamily="34" charset="0"/>
                <a:ea typeface="Cambria" pitchFamily="34" charset="-122"/>
                <a:cs typeface="Cambria" pitchFamily="34" charset="-120"/>
              </a:rPr>
              <a:t>stand</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6" name="Shape 13"/>
          <p:cNvSpPr/>
          <p:nvPr/>
        </p:nvSpPr>
        <p:spPr>
          <a:xfrm>
            <a:off x="548640" y="3511296"/>
            <a:ext cx="11064240" cy="621792"/>
          </a:xfrm>
          <a:prstGeom prst="roundRect">
            <a:avLst>
              <a:gd name="adj" fmla="val 7353"/>
            </a:avLst>
          </a:prstGeom>
          <a:solidFill>
            <a:srgbClr val="F4F7FD"/>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39312"/>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Wir gewinnen, </a:t>
            </a:r>
            <a:pPr indent="0" marL="0">
              <a:buNone/>
            </a:pPr>
            <a:r>
              <a:rPr lang="en-US" sz="2000" b="1" dirty="0">
                <a:solidFill>
                  <a:srgbClr val="7A5BA6"/>
                </a:solidFill>
                <a:latin typeface="Cambria" pitchFamily="34" charset="0"/>
                <a:ea typeface="Cambria" pitchFamily="34" charset="-122"/>
                <a:cs typeface="Cambria" pitchFamily="34" charset="-120"/>
              </a:rPr>
              <a:t>wenn</a:t>
            </a:r>
            <a:pPr indent="0" marL="0">
              <a:buNone/>
            </a:pPr>
            <a:r>
              <a:rPr lang="en-US" sz="2000" dirty="0">
                <a:solidFill>
                  <a:srgbClr val="1E2761"/>
                </a:solidFill>
                <a:latin typeface="Cambria" pitchFamily="34" charset="0"/>
                <a:ea typeface="Cambria" pitchFamily="34" charset="-122"/>
                <a:cs typeface="Cambria" pitchFamily="34" charset="-120"/>
              </a:rPr>
              <a:t> wir als Team </a:t>
            </a:r>
            <a:pPr indent="0" marL="0">
              <a:buNone/>
            </a:pPr>
            <a:r>
              <a:rPr lang="en-US" sz="2000" b="1" u="sng" dirty="0">
                <a:solidFill>
                  <a:srgbClr val="1E2761"/>
                </a:solidFill>
                <a:latin typeface="Cambria" pitchFamily="34" charset="0"/>
                <a:ea typeface="Cambria" pitchFamily="34" charset="-122"/>
                <a:cs typeface="Cambria" pitchFamily="34" charset="-120"/>
              </a:rPr>
              <a:t>spielen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9" name="Shape 16"/>
          <p:cNvSpPr/>
          <p:nvPr/>
        </p:nvSpPr>
        <p:spPr>
          <a:xfrm>
            <a:off x="548640" y="4224528"/>
            <a:ext cx="11064240" cy="621792"/>
          </a:xfrm>
          <a:prstGeom prst="roundRect">
            <a:avLst>
              <a:gd name="adj" fmla="val 7353"/>
            </a:avLst>
          </a:prstGeom>
          <a:solidFill>
            <a:srgbClr val="FFF4DE"/>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52544"/>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bin stolz,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ich 80 kg gestoßen </a:t>
            </a:r>
            <a:pPr indent="0" marL="0">
              <a:buNone/>
            </a:pPr>
            <a:r>
              <a:rPr lang="en-US" sz="2000" b="1" u="sng" dirty="0">
                <a:solidFill>
                  <a:srgbClr val="D9534F"/>
                </a:solidFill>
                <a:latin typeface="Cambria" pitchFamily="34" charset="0"/>
                <a:ea typeface="Cambria" pitchFamily="34" charset="-122"/>
                <a:cs typeface="Cambria" pitchFamily="34" charset="-120"/>
              </a:rPr>
              <a:t>habe</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22" name="Shape 19"/>
          <p:cNvSpPr/>
          <p:nvPr/>
        </p:nvSpPr>
        <p:spPr>
          <a:xfrm>
            <a:off x="548640" y="4937760"/>
            <a:ext cx="11064240" cy="621792"/>
          </a:xfrm>
          <a:prstGeom prst="roundRect">
            <a:avLst>
              <a:gd name="adj" fmla="val 7353"/>
            </a:avLst>
          </a:prstGeom>
          <a:solidFill>
            <a:srgbClr val="F4F7FD"/>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93208"/>
            <a:ext cx="10241280" cy="365760"/>
          </a:xfrm>
          <a:prstGeom prst="rect">
            <a:avLst/>
          </a:prstGeom>
          <a:noFill/>
          <a:ln/>
        </p:spPr>
        <p:txBody>
          <a:bodyPr wrap="square" lIns="0" tIns="0" rIns="0" bIns="0" rtlCol="0" anchor="t"/>
          <a:lstStyle/>
          <a:p>
            <a:pPr indent="0" marL="0">
              <a:buNone/>
            </a:pPr>
            <a:r>
              <a:rPr lang="en-US" sz="1600" dirty="0">
                <a:solidFill>
                  <a:srgbClr val="5B6B8C"/>
                </a:solidFill>
                <a:latin typeface="Calibri" pitchFamily="34" charset="0"/>
                <a:ea typeface="Calibri" pitchFamily="34" charset="-122"/>
                <a:cs typeface="Calibri" pitchFamily="34" charset="-120"/>
              </a:rPr>
              <a:t>* Der Trainer fragt. Hast du gut geschlafen? (ob)</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Ü5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Ü5  Lösung – Satz für Satz</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31</a:t>
            </a:r>
            <a:endParaRPr lang="en-US" sz="1000" dirty="0"/>
          </a:p>
        </p:txBody>
      </p:sp>
      <p:sp>
        <p:nvSpPr>
          <p:cNvPr id="7" name="Shape 4"/>
          <p:cNvSpPr/>
          <p:nvPr/>
        </p:nvSpPr>
        <p:spPr>
          <a:xfrm>
            <a:off x="548640" y="1371600"/>
            <a:ext cx="11064240" cy="621792"/>
          </a:xfrm>
          <a:prstGeom prst="roundRect">
            <a:avLst>
              <a:gd name="adj" fmla="val 7353"/>
            </a:avLst>
          </a:prstGeom>
          <a:solidFill>
            <a:srgbClr val="F4F7FD"/>
          </a:solidFill>
          <a:ln/>
        </p:spPr>
      </p:sp>
      <p:sp>
        <p:nvSpPr>
          <p:cNvPr id="8" name="Text 5"/>
          <p:cNvSpPr txBox="1"/>
          <p:nvPr/>
        </p:nvSpPr>
        <p:spPr>
          <a:xfrm>
            <a:off x="685800" y="152704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1</a:t>
            </a:r>
            <a:endParaRPr lang="en-US" sz="1700" dirty="0"/>
          </a:p>
        </p:txBody>
      </p:sp>
      <p:sp>
        <p:nvSpPr>
          <p:cNvPr id="9" name="Text 6"/>
          <p:cNvSpPr txBox="1"/>
          <p:nvPr/>
        </p:nvSpPr>
        <p:spPr>
          <a:xfrm>
            <a:off x="1188720" y="149961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trainiere heute länger,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am Samstag ein Wettkampf </a:t>
            </a:r>
            <a:pPr indent="0" marL="0">
              <a:buNone/>
            </a:pPr>
            <a:r>
              <a:rPr lang="en-US" sz="2000" b="1" u="sng" dirty="0">
                <a:solidFill>
                  <a:srgbClr val="1E2761"/>
                </a:solidFill>
                <a:latin typeface="Cambria" pitchFamily="34" charset="0"/>
                <a:ea typeface="Cambria" pitchFamily="34" charset="-122"/>
                <a:cs typeface="Cambria" pitchFamily="34" charset="-120"/>
              </a:rPr>
              <a:t>ist</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0" name="Shape 7"/>
          <p:cNvSpPr/>
          <p:nvPr/>
        </p:nvSpPr>
        <p:spPr>
          <a:xfrm>
            <a:off x="548640" y="2084832"/>
            <a:ext cx="11064240" cy="621792"/>
          </a:xfrm>
          <a:prstGeom prst="roundRect">
            <a:avLst>
              <a:gd name="adj" fmla="val 7353"/>
            </a:avLst>
          </a:prstGeom>
          <a:solidFill>
            <a:srgbClr val="F4F7FD"/>
          </a:solidFill>
          <a:ln/>
        </p:spPr>
      </p:sp>
      <p:sp>
        <p:nvSpPr>
          <p:cNvPr id="11" name="Text 8"/>
          <p:cNvSpPr txBox="1"/>
          <p:nvPr/>
        </p:nvSpPr>
        <p:spPr>
          <a:xfrm>
            <a:off x="685800" y="2240280"/>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2</a:t>
            </a:r>
            <a:endParaRPr lang="en-US" sz="1700" dirty="0"/>
          </a:p>
        </p:txBody>
      </p:sp>
      <p:sp>
        <p:nvSpPr>
          <p:cNvPr id="12" name="Text 9"/>
          <p:cNvSpPr txBox="1"/>
          <p:nvPr/>
        </p:nvSpPr>
        <p:spPr>
          <a:xfrm>
            <a:off x="1188720" y="2212848"/>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sagt, </a:t>
            </a:r>
            <a:pPr indent="0" marL="0">
              <a:buNone/>
            </a:pPr>
            <a:r>
              <a:rPr lang="en-US" sz="2000" b="1" dirty="0">
                <a:solidFill>
                  <a:srgbClr val="7A5BA6"/>
                </a:solidFill>
                <a:latin typeface="Cambria" pitchFamily="34" charset="0"/>
                <a:ea typeface="Cambria" pitchFamily="34" charset="-122"/>
                <a:cs typeface="Cambria" pitchFamily="34" charset="-120"/>
              </a:rPr>
              <a:t>dass</a:t>
            </a:r>
            <a:pPr indent="0" marL="0">
              <a:buNone/>
            </a:pPr>
            <a:r>
              <a:rPr lang="en-US" sz="2000" dirty="0">
                <a:solidFill>
                  <a:srgbClr val="1E2761"/>
                </a:solidFill>
                <a:latin typeface="Cambria" pitchFamily="34" charset="0"/>
                <a:ea typeface="Cambria" pitchFamily="34" charset="-122"/>
                <a:cs typeface="Cambria" pitchFamily="34" charset="-120"/>
              </a:rPr>
              <a:t> wir nach Frankfurt (Oder) </a:t>
            </a:r>
            <a:pPr indent="0" marL="0">
              <a:buNone/>
            </a:pPr>
            <a:r>
              <a:rPr lang="en-US" sz="2000" b="1" u="sng" dirty="0">
                <a:solidFill>
                  <a:srgbClr val="1E2761"/>
                </a:solidFill>
                <a:latin typeface="Cambria" pitchFamily="34" charset="0"/>
                <a:ea typeface="Cambria" pitchFamily="34" charset="-122"/>
                <a:cs typeface="Cambria" pitchFamily="34" charset="-120"/>
              </a:rPr>
              <a:t>fahren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3" name="Shape 10"/>
          <p:cNvSpPr/>
          <p:nvPr/>
        </p:nvSpPr>
        <p:spPr>
          <a:xfrm>
            <a:off x="548640" y="2798064"/>
            <a:ext cx="11064240" cy="621792"/>
          </a:xfrm>
          <a:prstGeom prst="roundRect">
            <a:avLst>
              <a:gd name="adj" fmla="val 7353"/>
            </a:avLst>
          </a:prstGeom>
          <a:solidFill>
            <a:srgbClr val="F4F7FD"/>
          </a:solidFill>
          <a:ln/>
        </p:spPr>
      </p:sp>
      <p:sp>
        <p:nvSpPr>
          <p:cNvPr id="14" name="Text 11"/>
          <p:cNvSpPr txBox="1"/>
          <p:nvPr/>
        </p:nvSpPr>
        <p:spPr>
          <a:xfrm>
            <a:off x="685800" y="2953512"/>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3</a:t>
            </a:r>
            <a:endParaRPr lang="en-US" sz="1700" dirty="0"/>
          </a:p>
        </p:txBody>
      </p:sp>
      <p:sp>
        <p:nvSpPr>
          <p:cNvPr id="15" name="Text 12"/>
          <p:cNvSpPr txBox="1"/>
          <p:nvPr/>
        </p:nvSpPr>
        <p:spPr>
          <a:xfrm>
            <a:off x="1188720" y="2926080"/>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war nervös, </a:t>
            </a:r>
            <a:pPr indent="0" marL="0">
              <a:buNone/>
            </a:pPr>
            <a:r>
              <a:rPr lang="en-US" sz="2000" b="1" dirty="0">
                <a:solidFill>
                  <a:srgbClr val="7A5BA6"/>
                </a:solidFill>
                <a:latin typeface="Cambria" pitchFamily="34" charset="0"/>
                <a:ea typeface="Cambria" pitchFamily="34" charset="-122"/>
                <a:cs typeface="Cambria" pitchFamily="34" charset="-120"/>
              </a:rPr>
              <a:t>als</a:t>
            </a:r>
            <a:pPr indent="0" marL="0">
              <a:buNone/>
            </a:pPr>
            <a:r>
              <a:rPr lang="en-US" sz="2000" dirty="0">
                <a:solidFill>
                  <a:srgbClr val="1E2761"/>
                </a:solidFill>
                <a:latin typeface="Cambria" pitchFamily="34" charset="0"/>
                <a:ea typeface="Cambria" pitchFamily="34" charset="-122"/>
                <a:cs typeface="Cambria" pitchFamily="34" charset="-120"/>
              </a:rPr>
              <a:t> ich auf der Matte </a:t>
            </a:r>
            <a:pPr indent="0" marL="0">
              <a:buNone/>
            </a:pPr>
            <a:r>
              <a:rPr lang="en-US" sz="2000" b="1" u="sng" dirty="0">
                <a:solidFill>
                  <a:srgbClr val="1E2761"/>
                </a:solidFill>
                <a:latin typeface="Cambria" pitchFamily="34" charset="0"/>
                <a:ea typeface="Cambria" pitchFamily="34" charset="-122"/>
                <a:cs typeface="Cambria" pitchFamily="34" charset="-120"/>
              </a:rPr>
              <a:t>stand</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6" name="Shape 13"/>
          <p:cNvSpPr/>
          <p:nvPr/>
        </p:nvSpPr>
        <p:spPr>
          <a:xfrm>
            <a:off x="548640" y="3511296"/>
            <a:ext cx="11064240" cy="621792"/>
          </a:xfrm>
          <a:prstGeom prst="roundRect">
            <a:avLst>
              <a:gd name="adj" fmla="val 7353"/>
            </a:avLst>
          </a:prstGeom>
          <a:solidFill>
            <a:srgbClr val="F4F7FD"/>
          </a:solidFill>
          <a:ln/>
        </p:spPr>
      </p:sp>
      <p:sp>
        <p:nvSpPr>
          <p:cNvPr id="17" name="Text 14"/>
          <p:cNvSpPr txBox="1"/>
          <p:nvPr/>
        </p:nvSpPr>
        <p:spPr>
          <a:xfrm>
            <a:off x="685800" y="3666744"/>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4</a:t>
            </a:r>
            <a:endParaRPr lang="en-US" sz="1700" dirty="0"/>
          </a:p>
        </p:txBody>
      </p:sp>
      <p:sp>
        <p:nvSpPr>
          <p:cNvPr id="18" name="Text 15"/>
          <p:cNvSpPr txBox="1"/>
          <p:nvPr/>
        </p:nvSpPr>
        <p:spPr>
          <a:xfrm>
            <a:off x="1188720" y="3639312"/>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Wir gewinnen, </a:t>
            </a:r>
            <a:pPr indent="0" marL="0">
              <a:buNone/>
            </a:pPr>
            <a:r>
              <a:rPr lang="en-US" sz="2000" b="1" dirty="0">
                <a:solidFill>
                  <a:srgbClr val="7A5BA6"/>
                </a:solidFill>
                <a:latin typeface="Cambria" pitchFamily="34" charset="0"/>
                <a:ea typeface="Cambria" pitchFamily="34" charset="-122"/>
                <a:cs typeface="Cambria" pitchFamily="34" charset="-120"/>
              </a:rPr>
              <a:t>wenn</a:t>
            </a:r>
            <a:pPr indent="0" marL="0">
              <a:buNone/>
            </a:pPr>
            <a:r>
              <a:rPr lang="en-US" sz="2000" dirty="0">
                <a:solidFill>
                  <a:srgbClr val="1E2761"/>
                </a:solidFill>
                <a:latin typeface="Cambria" pitchFamily="34" charset="0"/>
                <a:ea typeface="Cambria" pitchFamily="34" charset="-122"/>
                <a:cs typeface="Cambria" pitchFamily="34" charset="-120"/>
              </a:rPr>
              <a:t> wir als Team </a:t>
            </a:r>
            <a:pPr indent="0" marL="0">
              <a:buNone/>
            </a:pPr>
            <a:r>
              <a:rPr lang="en-US" sz="2000" b="1" u="sng" dirty="0">
                <a:solidFill>
                  <a:srgbClr val="1E2761"/>
                </a:solidFill>
                <a:latin typeface="Cambria" pitchFamily="34" charset="0"/>
                <a:ea typeface="Cambria" pitchFamily="34" charset="-122"/>
                <a:cs typeface="Cambria" pitchFamily="34" charset="-120"/>
              </a:rPr>
              <a:t>spielen</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19" name="Shape 16"/>
          <p:cNvSpPr/>
          <p:nvPr/>
        </p:nvSpPr>
        <p:spPr>
          <a:xfrm>
            <a:off x="548640" y="4224528"/>
            <a:ext cx="11064240" cy="621792"/>
          </a:xfrm>
          <a:prstGeom prst="roundRect">
            <a:avLst>
              <a:gd name="adj" fmla="val 7353"/>
            </a:avLst>
          </a:prstGeom>
          <a:solidFill>
            <a:srgbClr val="F4F7FD"/>
          </a:solidFill>
          <a:ln/>
        </p:spPr>
      </p:sp>
      <p:sp>
        <p:nvSpPr>
          <p:cNvPr id="20" name="Text 17"/>
          <p:cNvSpPr txBox="1"/>
          <p:nvPr/>
        </p:nvSpPr>
        <p:spPr>
          <a:xfrm>
            <a:off x="685800" y="4379976"/>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5</a:t>
            </a:r>
            <a:endParaRPr lang="en-US" sz="1700" dirty="0"/>
          </a:p>
        </p:txBody>
      </p:sp>
      <p:sp>
        <p:nvSpPr>
          <p:cNvPr id="21" name="Text 18"/>
          <p:cNvSpPr txBox="1"/>
          <p:nvPr/>
        </p:nvSpPr>
        <p:spPr>
          <a:xfrm>
            <a:off x="1188720" y="4352544"/>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Ich bin stolz, </a:t>
            </a:r>
            <a:pPr indent="0" marL="0">
              <a:buNone/>
            </a:pPr>
            <a:r>
              <a:rPr lang="en-US" sz="2000" b="1" dirty="0">
                <a:solidFill>
                  <a:srgbClr val="7A5BA6"/>
                </a:solidFill>
                <a:latin typeface="Cambria" pitchFamily="34" charset="0"/>
                <a:ea typeface="Cambria" pitchFamily="34" charset="-122"/>
                <a:cs typeface="Cambria" pitchFamily="34" charset="-120"/>
              </a:rPr>
              <a:t>weil</a:t>
            </a:r>
            <a:pPr indent="0" marL="0">
              <a:buNone/>
            </a:pPr>
            <a:r>
              <a:rPr lang="en-US" sz="2000" dirty="0">
                <a:solidFill>
                  <a:srgbClr val="1E2761"/>
                </a:solidFill>
                <a:latin typeface="Cambria" pitchFamily="34" charset="0"/>
                <a:ea typeface="Cambria" pitchFamily="34" charset="-122"/>
                <a:cs typeface="Cambria" pitchFamily="34" charset="-120"/>
              </a:rPr>
              <a:t> ich 80 kg gestoßen </a:t>
            </a:r>
            <a:pPr indent="0" marL="0">
              <a:buNone/>
            </a:pPr>
            <a:r>
              <a:rPr lang="en-US" sz="2000" b="1" u="sng" dirty="0">
                <a:solidFill>
                  <a:srgbClr val="D9534F"/>
                </a:solidFill>
                <a:latin typeface="Cambria" pitchFamily="34" charset="0"/>
                <a:ea typeface="Cambria" pitchFamily="34" charset="-122"/>
                <a:cs typeface="Cambria" pitchFamily="34" charset="-120"/>
              </a:rPr>
              <a:t>habe</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22" name="Shape 19"/>
          <p:cNvSpPr/>
          <p:nvPr/>
        </p:nvSpPr>
        <p:spPr>
          <a:xfrm>
            <a:off x="548640" y="4937760"/>
            <a:ext cx="11064240" cy="621792"/>
          </a:xfrm>
          <a:prstGeom prst="roundRect">
            <a:avLst>
              <a:gd name="adj" fmla="val 7353"/>
            </a:avLst>
          </a:prstGeom>
          <a:solidFill>
            <a:srgbClr val="FFF4DE"/>
          </a:solidFill>
          <a:ln/>
        </p:spPr>
      </p:sp>
      <p:sp>
        <p:nvSpPr>
          <p:cNvPr id="23" name="Text 20"/>
          <p:cNvSpPr txBox="1"/>
          <p:nvPr/>
        </p:nvSpPr>
        <p:spPr>
          <a:xfrm>
            <a:off x="685800" y="5093208"/>
            <a:ext cx="457200" cy="320040"/>
          </a:xfrm>
          <a:prstGeom prst="rect">
            <a:avLst/>
          </a:prstGeom>
          <a:noFill/>
          <a:ln/>
        </p:spPr>
        <p:txBody>
          <a:bodyPr wrap="square" lIns="0" tIns="0" rIns="0" bIns="0" rtlCol="0" anchor="t"/>
          <a:lstStyle/>
          <a:p>
            <a:pPr indent="0" marL="0">
              <a:buNone/>
            </a:pPr>
            <a:r>
              <a:rPr lang="en-US" sz="1700" b="1" dirty="0">
                <a:solidFill>
                  <a:srgbClr val="7A5BA6"/>
                </a:solidFill>
                <a:latin typeface="Calibri" pitchFamily="34" charset="0"/>
                <a:ea typeface="Calibri" pitchFamily="34" charset="-122"/>
                <a:cs typeface="Calibri" pitchFamily="34" charset="-120"/>
              </a:rPr>
              <a:t>6</a:t>
            </a:r>
            <a:endParaRPr lang="en-US" sz="1700" dirty="0"/>
          </a:p>
        </p:txBody>
      </p:sp>
      <p:sp>
        <p:nvSpPr>
          <p:cNvPr id="24" name="Text 21"/>
          <p:cNvSpPr txBox="1"/>
          <p:nvPr/>
        </p:nvSpPr>
        <p:spPr>
          <a:xfrm>
            <a:off x="1188720" y="5065776"/>
            <a:ext cx="1024128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Trainer fragt, </a:t>
            </a:r>
            <a:pPr indent="0" marL="0">
              <a:buNone/>
            </a:pPr>
            <a:r>
              <a:rPr lang="en-US" sz="2000" b="1" dirty="0">
                <a:solidFill>
                  <a:srgbClr val="7A5BA6"/>
                </a:solidFill>
                <a:latin typeface="Cambria" pitchFamily="34" charset="0"/>
                <a:ea typeface="Cambria" pitchFamily="34" charset="-122"/>
                <a:cs typeface="Cambria" pitchFamily="34" charset="-120"/>
              </a:rPr>
              <a:t>ob</a:t>
            </a:r>
            <a:pPr indent="0" marL="0">
              <a:buNone/>
            </a:pPr>
            <a:r>
              <a:rPr lang="en-US" sz="2000" dirty="0">
                <a:solidFill>
                  <a:srgbClr val="1E2761"/>
                </a:solidFill>
                <a:latin typeface="Cambria" pitchFamily="34" charset="0"/>
                <a:ea typeface="Cambria" pitchFamily="34" charset="-122"/>
                <a:cs typeface="Cambria" pitchFamily="34" charset="-120"/>
              </a:rPr>
              <a:t> ich gut geschlafen </a:t>
            </a:r>
            <a:pPr indent="0" marL="0">
              <a:buNone/>
            </a:pPr>
            <a:r>
              <a:rPr lang="en-US" sz="2000" b="1" u="sng" dirty="0">
                <a:solidFill>
                  <a:srgbClr val="D9534F"/>
                </a:solidFill>
                <a:latin typeface="Cambria" pitchFamily="34" charset="0"/>
                <a:ea typeface="Cambria" pitchFamily="34" charset="-122"/>
                <a:cs typeface="Cambria" pitchFamily="34" charset="-120"/>
              </a:rPr>
              <a:t>habe</a:t>
            </a:r>
            <a:pPr indent="0" marL="0">
              <a:buNone/>
            </a:pPr>
            <a:r>
              <a:rPr lang="en-US" sz="2000" dirty="0">
                <a:solidFill>
                  <a:srgbClr val="1E2761"/>
                </a:solidFill>
                <a:latin typeface="Cambria" pitchFamily="34" charset="0"/>
                <a:ea typeface="Cambria" pitchFamily="34" charset="-122"/>
                <a:cs typeface="Cambria" pitchFamily="34" charset="-120"/>
              </a:rPr>
              <a:t>.</a:t>
            </a:r>
            <a:endParaRPr lang="en-US" sz="1600" dirty="0"/>
          </a:p>
        </p:txBody>
      </p:sp>
      <p:sp>
        <p:nvSpPr>
          <p:cNvPr id="25" name="Text 22"/>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Subjunktion eingekreist (violett) · finites Verb unterstrichen · Hilfsverb rot · Komma vor der Subjunktion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 VERARBEITEN · ZURÜCK ZUR BALLADE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 Ü6  Erkläre die Ballade mit Nebensätzen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32</a:t>
            </a:r>
            <a:endParaRPr lang="en-US" sz="1000" dirty="0"/>
          </a:p>
        </p:txBody>
      </p:sp>
      <p:sp>
        <p:nvSpPr>
          <p:cNvPr id="7" name="Text 4"/>
          <p:cNvSpPr txBox="1"/>
          <p:nvPr/>
        </p:nvSpPr>
        <p:spPr>
          <a:xfrm>
            <a:off x="548640" y="1508760"/>
            <a:ext cx="11064240" cy="548640"/>
          </a:xfrm>
          <a:prstGeom prst="rect">
            <a:avLst/>
          </a:prstGeom>
          <a:noFill/>
          <a:ln/>
        </p:spPr>
        <p:txBody>
          <a:bodyPr wrap="square" lIns="0" tIns="0" rIns="0" bIns="0" rtlCol="0" anchor="t"/>
          <a:lstStyle/>
          <a:p>
            <a:pPr indent="0" marL="0">
              <a:buNone/>
            </a:pPr>
            <a:r>
              <a:rPr lang="en-US" sz="2000" b="1" dirty="0">
                <a:solidFill>
                  <a:srgbClr val="1E2761"/>
                </a:solidFill>
                <a:latin typeface="Calibri" pitchFamily="34" charset="0"/>
                <a:ea typeface="Calibri" pitchFamily="34" charset="-122"/>
                <a:cs typeface="Calibri" pitchFamily="34" charset="-120"/>
              </a:rPr>
              <a:t>Schreibe mindestens drei Sätze ins Heft. Kreise die Subjunktion ein und unterstreiche das finite Verb.</a:t>
            </a:r>
            <a:endParaRPr lang="en-US" sz="2000" dirty="0"/>
          </a:p>
        </p:txBody>
      </p:sp>
      <p:sp>
        <p:nvSpPr>
          <p:cNvPr id="8" name="Shape 5"/>
          <p:cNvSpPr/>
          <p:nvPr/>
        </p:nvSpPr>
        <p:spPr>
          <a:xfrm>
            <a:off x="548640" y="2240280"/>
            <a:ext cx="11064240" cy="512064"/>
          </a:xfrm>
          <a:prstGeom prst="roundRect">
            <a:avLst>
              <a:gd name="adj" fmla="val 14286"/>
            </a:avLst>
          </a:prstGeom>
          <a:solidFill>
            <a:srgbClr val="F4F7FD"/>
          </a:solidFill>
          <a:ln/>
        </p:spPr>
      </p:sp>
      <p:sp>
        <p:nvSpPr>
          <p:cNvPr id="9" name="Text 6"/>
          <p:cNvSpPr txBox="1"/>
          <p:nvPr/>
        </p:nvSpPr>
        <p:spPr>
          <a:xfrm>
            <a:off x="822960" y="2313432"/>
            <a:ext cx="1051560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Paddy versteckt sich im Bett, weil …</a:t>
            </a:r>
            <a:endParaRPr lang="en-US" sz="2000" dirty="0"/>
          </a:p>
        </p:txBody>
      </p:sp>
      <p:sp>
        <p:nvSpPr>
          <p:cNvPr id="10" name="Shape 7"/>
          <p:cNvSpPr/>
          <p:nvPr/>
        </p:nvSpPr>
        <p:spPr>
          <a:xfrm>
            <a:off x="548640" y="2862072"/>
            <a:ext cx="11064240" cy="512064"/>
          </a:xfrm>
          <a:prstGeom prst="roundRect">
            <a:avLst>
              <a:gd name="adj" fmla="val 14286"/>
            </a:avLst>
          </a:prstGeom>
          <a:solidFill>
            <a:srgbClr val="F4F7FD"/>
          </a:solidFill>
          <a:ln/>
        </p:spPr>
      </p:sp>
      <p:sp>
        <p:nvSpPr>
          <p:cNvPr id="11" name="Text 8"/>
          <p:cNvSpPr txBox="1"/>
          <p:nvPr/>
        </p:nvSpPr>
        <p:spPr>
          <a:xfrm>
            <a:off x="822960" y="2935224"/>
            <a:ext cx="1051560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Schaya erzählt dem Schotten, dass …</a:t>
            </a:r>
            <a:endParaRPr lang="en-US" sz="2000" dirty="0"/>
          </a:p>
        </p:txBody>
      </p:sp>
      <p:sp>
        <p:nvSpPr>
          <p:cNvPr id="12" name="Shape 9"/>
          <p:cNvSpPr/>
          <p:nvPr/>
        </p:nvSpPr>
        <p:spPr>
          <a:xfrm>
            <a:off x="548640" y="3483864"/>
            <a:ext cx="11064240" cy="512064"/>
          </a:xfrm>
          <a:prstGeom prst="roundRect">
            <a:avLst>
              <a:gd name="adj" fmla="val 14286"/>
            </a:avLst>
          </a:prstGeom>
          <a:solidFill>
            <a:srgbClr val="F4F7FD"/>
          </a:solidFill>
          <a:ln/>
        </p:spPr>
      </p:sp>
      <p:sp>
        <p:nvSpPr>
          <p:cNvPr id="13" name="Text 10"/>
          <p:cNvSpPr txBox="1"/>
          <p:nvPr/>
        </p:nvSpPr>
        <p:spPr>
          <a:xfrm>
            <a:off x="822960" y="3557016"/>
            <a:ext cx="1051560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Schotte erschrickt, als …</a:t>
            </a:r>
            <a:endParaRPr lang="en-US" sz="2000" dirty="0"/>
          </a:p>
        </p:txBody>
      </p:sp>
      <p:sp>
        <p:nvSpPr>
          <p:cNvPr id="14" name="Shape 11"/>
          <p:cNvSpPr/>
          <p:nvPr/>
        </p:nvSpPr>
        <p:spPr>
          <a:xfrm>
            <a:off x="548640" y="4105656"/>
            <a:ext cx="11064240" cy="512064"/>
          </a:xfrm>
          <a:prstGeom prst="roundRect">
            <a:avLst>
              <a:gd name="adj" fmla="val 14286"/>
            </a:avLst>
          </a:prstGeom>
          <a:solidFill>
            <a:srgbClr val="F4F7FD"/>
          </a:solidFill>
          <a:ln/>
        </p:spPr>
      </p:sp>
      <p:sp>
        <p:nvSpPr>
          <p:cNvPr id="15" name="Text 12"/>
          <p:cNvSpPr txBox="1"/>
          <p:nvPr/>
        </p:nvSpPr>
        <p:spPr>
          <a:xfrm>
            <a:off x="822960" y="4178808"/>
            <a:ext cx="1051560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Der Schotte flieht, weil …</a:t>
            </a:r>
            <a:endParaRPr lang="en-US" sz="2000" dirty="0"/>
          </a:p>
        </p:txBody>
      </p:sp>
      <p:sp>
        <p:nvSpPr>
          <p:cNvPr id="16" name="Shape 13"/>
          <p:cNvSpPr/>
          <p:nvPr/>
        </p:nvSpPr>
        <p:spPr>
          <a:xfrm>
            <a:off x="548640" y="4727448"/>
            <a:ext cx="11064240" cy="512064"/>
          </a:xfrm>
          <a:prstGeom prst="roundRect">
            <a:avLst>
              <a:gd name="adj" fmla="val 14286"/>
            </a:avLst>
          </a:prstGeom>
          <a:solidFill>
            <a:srgbClr val="F4F7FD"/>
          </a:solidFill>
          <a:ln/>
        </p:spPr>
      </p:sp>
      <p:sp>
        <p:nvSpPr>
          <p:cNvPr id="17" name="Text 14"/>
          <p:cNvSpPr txBox="1"/>
          <p:nvPr/>
        </p:nvSpPr>
        <p:spPr>
          <a:xfrm>
            <a:off x="822960" y="4800600"/>
            <a:ext cx="10515600" cy="384048"/>
          </a:xfrm>
          <a:prstGeom prst="rect">
            <a:avLst/>
          </a:prstGeom>
          <a:noFill/>
          <a:ln/>
        </p:spPr>
        <p:txBody>
          <a:bodyPr wrap="square" lIns="0" tIns="0" rIns="0" bIns="0" rtlCol="0" anchor="t"/>
          <a:lstStyle/>
          <a:p>
            <a:pPr indent="0" marL="0">
              <a:buNone/>
            </a:pPr>
            <a:r>
              <a:rPr lang="en-US" sz="2000" dirty="0">
                <a:solidFill>
                  <a:srgbClr val="1E2761"/>
                </a:solidFill>
                <a:latin typeface="Cambria" pitchFamily="34" charset="0"/>
                <a:ea typeface="Cambria" pitchFamily="34" charset="-122"/>
                <a:cs typeface="Cambria" pitchFamily="34" charset="-120"/>
              </a:rPr>
              <a:t>Die Nachbarn staunen, als …</a:t>
            </a:r>
            <a:endParaRPr lang="en-US" sz="2000" dirty="0"/>
          </a:p>
        </p:txBody>
      </p:sp>
      <p:sp>
        <p:nvSpPr>
          <p:cNvPr id="18" name="Shape 15"/>
          <p:cNvSpPr/>
          <p:nvPr/>
        </p:nvSpPr>
        <p:spPr>
          <a:xfrm>
            <a:off x="548640" y="5715000"/>
            <a:ext cx="11064240" cy="502920"/>
          </a:xfrm>
          <a:prstGeom prst="roundRect">
            <a:avLst>
              <a:gd name="adj" fmla="val 14545"/>
            </a:avLst>
          </a:prstGeom>
          <a:solidFill>
            <a:srgbClr val="EAF0FA"/>
          </a:solidFill>
          <a:ln/>
        </p:spPr>
      </p:sp>
      <p:sp>
        <p:nvSpPr>
          <p:cNvPr id="19" name="Text 16"/>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5 Minuten · allein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Zielcheck: Hast du die Ziele erreicht?</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33</a:t>
            </a:r>
            <a:endParaRPr lang="en-US" sz="1000" dirty="0"/>
          </a:p>
        </p:txBody>
      </p:sp>
      <p:sp>
        <p:nvSpPr>
          <p:cNvPr id="7" name="Shape 4"/>
          <p:cNvSpPr/>
          <p:nvPr/>
        </p:nvSpPr>
        <p:spPr>
          <a:xfrm>
            <a:off x="548640" y="1417320"/>
            <a:ext cx="11064240" cy="777240"/>
          </a:xfrm>
          <a:prstGeom prst="roundRect">
            <a:avLst>
              <a:gd name="adj" fmla="val 9412"/>
            </a:avLst>
          </a:prstGeom>
          <a:solidFill>
            <a:srgbClr val="EAF0FA"/>
          </a:solidFill>
          <a:ln/>
        </p:spPr>
      </p:sp>
      <p:sp>
        <p:nvSpPr>
          <p:cNvPr id="8" name="Text 5"/>
          <p:cNvSpPr txBox="1"/>
          <p:nvPr/>
        </p:nvSpPr>
        <p:spPr>
          <a:xfrm>
            <a:off x="822960" y="1554480"/>
            <a:ext cx="10607040" cy="548640"/>
          </a:xfrm>
          <a:prstGeom prst="rect">
            <a:avLst/>
          </a:prstGeom>
          <a:noFill/>
          <a:ln/>
        </p:spPr>
        <p:txBody>
          <a:bodyPr wrap="square" lIns="0" tIns="0" rIns="0" bIns="0" rtlCol="0" anchor="t"/>
          <a:lstStyle/>
          <a:p>
            <a:pPr indent="0" marL="0">
              <a:buNone/>
            </a:pPr>
            <a:r>
              <a:rPr lang="en-US" sz="1800" b="1" dirty="0">
                <a:solidFill>
                  <a:srgbClr val="7A5BA6"/>
                </a:solidFill>
                <a:latin typeface="Calibri" pitchFamily="34" charset="0"/>
                <a:ea typeface="Calibri" pitchFamily="34" charset="-122"/>
                <a:cs typeface="Calibri" pitchFamily="34" charset="-120"/>
              </a:rPr>
              <a:t>* Forscherfrage: </a:t>
            </a:r>
            <a:pPr indent="0" marL="0">
              <a:buNone/>
            </a:pPr>
            <a:r>
              <a:rPr lang="en-US" sz="1800" dirty="0">
                <a:solidFill>
                  <a:srgbClr val="1E2761"/>
                </a:solidFill>
                <a:latin typeface="Calibri" pitchFamily="34" charset="0"/>
                <a:ea typeface="Calibri" pitchFamily="34" charset="-122"/>
                <a:cs typeface="Calibri" pitchFamily="34" charset="-120"/>
              </a:rPr>
              <a:t>Str. 3: „Und als er stapfte durch den Sund“ – was ist hier anders, und warum?</a:t>
            </a:r>
            <a:endParaRPr lang="en-US" sz="1800" dirty="0"/>
          </a:p>
        </p:txBody>
      </p:sp>
      <p:sp>
        <p:nvSpPr>
          <p:cNvPr id="9" name="Shape 6"/>
          <p:cNvSpPr/>
          <p:nvPr/>
        </p:nvSpPr>
        <p:spPr>
          <a:xfrm>
            <a:off x="548640" y="2468880"/>
            <a:ext cx="11064240" cy="777240"/>
          </a:xfrm>
          <a:prstGeom prst="roundRect">
            <a:avLst>
              <a:gd name="adj" fmla="val 9412"/>
            </a:avLst>
          </a:prstGeom>
          <a:solidFill>
            <a:srgbClr val="F4F7FD"/>
          </a:solidFill>
          <a:ln/>
        </p:spPr>
      </p:sp>
      <p:sp>
        <p:nvSpPr>
          <p:cNvPr id="10" name="Shape 7"/>
          <p:cNvSpPr/>
          <p:nvPr/>
        </p:nvSpPr>
        <p:spPr>
          <a:xfrm>
            <a:off x="548640" y="2468880"/>
            <a:ext cx="109728" cy="777240"/>
          </a:xfrm>
          <a:prstGeom prst="rect">
            <a:avLst/>
          </a:prstGeom>
          <a:solidFill>
            <a:srgbClr val="2E9E6B"/>
          </a:solidFill>
          <a:ln/>
        </p:spPr>
      </p:sp>
      <p:sp>
        <p:nvSpPr>
          <p:cNvPr id="11" name="Text 8"/>
          <p:cNvSpPr txBox="1"/>
          <p:nvPr/>
        </p:nvSpPr>
        <p:spPr>
          <a:xfrm>
            <a:off x="868680" y="2651760"/>
            <a:ext cx="10515600" cy="502920"/>
          </a:xfrm>
          <a:prstGeom prst="rect">
            <a:avLst/>
          </a:prstGeom>
          <a:noFill/>
          <a:ln/>
        </p:spPr>
        <p:txBody>
          <a:bodyPr wrap="square" lIns="0" tIns="0" rIns="0" bIns="0" rtlCol="0" anchor="t"/>
          <a:lstStyle/>
          <a:p>
            <a:pPr indent="0" marL="0">
              <a:buNone/>
            </a:pPr>
            <a:r>
              <a:rPr lang="en-US" sz="1900" b="1" dirty="0">
                <a:solidFill>
                  <a:srgbClr val="2E9E6B"/>
                </a:solidFill>
                <a:latin typeface="Calibri" pitchFamily="34" charset="0"/>
                <a:ea typeface="Calibri" pitchFamily="34" charset="-122"/>
                <a:cs typeface="Calibri" pitchFamily="34" charset="-120"/>
              </a:rPr>
              <a:t>Ziel 1:  </a:t>
            </a:r>
            <a:pPr indent="0" marL="0">
              <a:buNone/>
            </a:pPr>
            <a:r>
              <a:rPr lang="en-US" sz="1900" dirty="0">
                <a:solidFill>
                  <a:srgbClr val="1E2761"/>
                </a:solidFill>
                <a:latin typeface="Calibri" pitchFamily="34" charset="0"/>
                <a:ea typeface="Calibri" pitchFamily="34" charset="-122"/>
                <a:cs typeface="Calibri" pitchFamily="34" charset="-120"/>
              </a:rPr>
              <a:t>Prüfe mit Strophe und Vers: „Der Schotte flieht, weil Paddy ihn im Bett angreift.“ – richtig oder falsch?</a:t>
            </a:r>
            <a:endParaRPr lang="en-US" sz="1900" dirty="0"/>
          </a:p>
        </p:txBody>
      </p:sp>
      <p:sp>
        <p:nvSpPr>
          <p:cNvPr id="12" name="Shape 9"/>
          <p:cNvSpPr/>
          <p:nvPr/>
        </p:nvSpPr>
        <p:spPr>
          <a:xfrm>
            <a:off x="548640" y="3383280"/>
            <a:ext cx="11064240" cy="777240"/>
          </a:xfrm>
          <a:prstGeom prst="roundRect">
            <a:avLst>
              <a:gd name="adj" fmla="val 9412"/>
            </a:avLst>
          </a:prstGeom>
          <a:solidFill>
            <a:srgbClr val="F4F7FD"/>
          </a:solidFill>
          <a:ln/>
        </p:spPr>
      </p:sp>
      <p:sp>
        <p:nvSpPr>
          <p:cNvPr id="13" name="Shape 10"/>
          <p:cNvSpPr/>
          <p:nvPr/>
        </p:nvSpPr>
        <p:spPr>
          <a:xfrm>
            <a:off x="548640" y="3383280"/>
            <a:ext cx="109728" cy="777240"/>
          </a:xfrm>
          <a:prstGeom prst="rect">
            <a:avLst/>
          </a:prstGeom>
          <a:solidFill>
            <a:srgbClr val="7A5BA6"/>
          </a:solidFill>
          <a:ln/>
        </p:spPr>
      </p:sp>
      <p:sp>
        <p:nvSpPr>
          <p:cNvPr id="14" name="Text 11"/>
          <p:cNvSpPr txBox="1"/>
          <p:nvPr/>
        </p:nvSpPr>
        <p:spPr>
          <a:xfrm>
            <a:off x="868680" y="3566160"/>
            <a:ext cx="10515600" cy="502920"/>
          </a:xfrm>
          <a:prstGeom prst="rect">
            <a:avLst/>
          </a:prstGeom>
          <a:noFill/>
          <a:ln/>
        </p:spPr>
        <p:txBody>
          <a:bodyPr wrap="square" lIns="0" tIns="0" rIns="0" bIns="0" rtlCol="0" anchor="t"/>
          <a:lstStyle/>
          <a:p>
            <a:pPr indent="0" marL="0">
              <a:buNone/>
            </a:pPr>
            <a:r>
              <a:rPr lang="en-US" sz="1900" b="1" dirty="0">
                <a:solidFill>
                  <a:srgbClr val="7A5BA6"/>
                </a:solidFill>
                <a:latin typeface="Calibri" pitchFamily="34" charset="0"/>
                <a:ea typeface="Calibri" pitchFamily="34" charset="-122"/>
                <a:cs typeface="Calibri" pitchFamily="34" charset="-120"/>
              </a:rPr>
              <a:t>Ziel 2 a:  </a:t>
            </a:r>
            <a:pPr indent="0" marL="0">
              <a:buNone/>
            </a:pPr>
            <a:r>
              <a:rPr lang="en-US" sz="1900" dirty="0">
                <a:solidFill>
                  <a:srgbClr val="1E2761"/>
                </a:solidFill>
                <a:latin typeface="Calibri" pitchFamily="34" charset="0"/>
                <a:ea typeface="Calibri" pitchFamily="34" charset="-122"/>
                <a:cs typeface="Calibri" pitchFamily="34" charset="-120"/>
              </a:rPr>
              <a:t>Verbinde: Der Schotte erschrickt. Er sieht die riesige Nase. (als)</a:t>
            </a:r>
            <a:endParaRPr lang="en-US" sz="1900" dirty="0"/>
          </a:p>
        </p:txBody>
      </p:sp>
      <p:sp>
        <p:nvSpPr>
          <p:cNvPr id="15" name="Shape 12"/>
          <p:cNvSpPr/>
          <p:nvPr/>
        </p:nvSpPr>
        <p:spPr>
          <a:xfrm>
            <a:off x="548640" y="4297680"/>
            <a:ext cx="11064240" cy="777240"/>
          </a:xfrm>
          <a:prstGeom prst="roundRect">
            <a:avLst>
              <a:gd name="adj" fmla="val 9412"/>
            </a:avLst>
          </a:prstGeom>
          <a:solidFill>
            <a:srgbClr val="F4F7FD"/>
          </a:solidFill>
          <a:ln/>
        </p:spPr>
      </p:sp>
      <p:sp>
        <p:nvSpPr>
          <p:cNvPr id="16" name="Shape 13"/>
          <p:cNvSpPr/>
          <p:nvPr/>
        </p:nvSpPr>
        <p:spPr>
          <a:xfrm>
            <a:off x="548640" y="4297680"/>
            <a:ext cx="109728" cy="777240"/>
          </a:xfrm>
          <a:prstGeom prst="rect">
            <a:avLst/>
          </a:prstGeom>
          <a:solidFill>
            <a:srgbClr val="7A5BA6"/>
          </a:solidFill>
          <a:ln/>
        </p:spPr>
      </p:sp>
      <p:sp>
        <p:nvSpPr>
          <p:cNvPr id="17" name="Text 14"/>
          <p:cNvSpPr txBox="1"/>
          <p:nvPr/>
        </p:nvSpPr>
        <p:spPr>
          <a:xfrm>
            <a:off x="868680" y="4480560"/>
            <a:ext cx="10515600" cy="502920"/>
          </a:xfrm>
          <a:prstGeom prst="rect">
            <a:avLst/>
          </a:prstGeom>
          <a:noFill/>
          <a:ln/>
        </p:spPr>
        <p:txBody>
          <a:bodyPr wrap="square" lIns="0" tIns="0" rIns="0" bIns="0" rtlCol="0" anchor="t"/>
          <a:lstStyle/>
          <a:p>
            <a:pPr indent="0" marL="0">
              <a:buNone/>
            </a:pPr>
            <a:r>
              <a:rPr lang="en-US" sz="1900" b="1" dirty="0">
                <a:solidFill>
                  <a:srgbClr val="7A5BA6"/>
                </a:solidFill>
                <a:latin typeface="Calibri" pitchFamily="34" charset="0"/>
                <a:ea typeface="Calibri" pitchFamily="34" charset="-122"/>
                <a:cs typeface="Calibri" pitchFamily="34" charset="-120"/>
              </a:rPr>
              <a:t>Ziel 2 b:  </a:t>
            </a:r>
            <a:pPr indent="0" marL="0">
              <a:buNone/>
            </a:pPr>
            <a:r>
              <a:rPr lang="en-US" sz="1900" dirty="0">
                <a:solidFill>
                  <a:srgbClr val="1E2761"/>
                </a:solidFill>
                <a:latin typeface="Calibri" pitchFamily="34" charset="0"/>
                <a:ea typeface="Calibri" pitchFamily="34" charset="-122"/>
                <a:cs typeface="Calibri" pitchFamily="34" charset="-120"/>
              </a:rPr>
              <a:t>Richtig oder falsch? Begründe:  „Paddy versteckt sich, weil er hat Angst.“</a:t>
            </a:r>
            <a:endParaRPr lang="en-US" sz="1900" dirty="0"/>
          </a:p>
        </p:txBody>
      </p:sp>
      <p:sp>
        <p:nvSpPr>
          <p:cNvPr id="18" name="Shape 15"/>
          <p:cNvSpPr/>
          <p:nvPr/>
        </p:nvSpPr>
        <p:spPr>
          <a:xfrm>
            <a:off x="548640" y="5715000"/>
            <a:ext cx="11064240" cy="502920"/>
          </a:xfrm>
          <a:prstGeom prst="roundRect">
            <a:avLst>
              <a:gd name="adj" fmla="val 14545"/>
            </a:avLst>
          </a:prstGeom>
          <a:solidFill>
            <a:srgbClr val="EAF0FA"/>
          </a:solidFill>
          <a:ln/>
        </p:spPr>
      </p:sp>
      <p:sp>
        <p:nvSpPr>
          <p:cNvPr id="19" name="Text 16"/>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4 Minuten · allein im Heft, dann Lösung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SELBSTKONTROLLE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Zielcheck – Lösung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Teil 2 · Sprachtraining: Nebensätze mit Subjunktion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34</a:t>
            </a:r>
            <a:endParaRPr lang="en-US" sz="1000" dirty="0"/>
          </a:p>
        </p:txBody>
      </p:sp>
      <p:sp>
        <p:nvSpPr>
          <p:cNvPr id="7" name="Shape 4"/>
          <p:cNvSpPr/>
          <p:nvPr/>
        </p:nvSpPr>
        <p:spPr>
          <a:xfrm>
            <a:off x="548640" y="1645920"/>
            <a:ext cx="11064240" cy="960120"/>
          </a:xfrm>
          <a:prstGeom prst="roundRect">
            <a:avLst>
              <a:gd name="adj" fmla="val 7619"/>
            </a:avLst>
          </a:prstGeom>
          <a:solidFill>
            <a:srgbClr val="F4F7FD"/>
          </a:solidFill>
          <a:ln/>
        </p:spPr>
      </p:sp>
      <p:sp>
        <p:nvSpPr>
          <p:cNvPr id="8" name="Shape 5"/>
          <p:cNvSpPr/>
          <p:nvPr/>
        </p:nvSpPr>
        <p:spPr>
          <a:xfrm>
            <a:off x="548640" y="1645920"/>
            <a:ext cx="109728" cy="960120"/>
          </a:xfrm>
          <a:prstGeom prst="rect">
            <a:avLst/>
          </a:prstGeom>
          <a:solidFill>
            <a:srgbClr val="2E9E6B"/>
          </a:solidFill>
          <a:ln/>
        </p:spPr>
      </p:sp>
      <p:sp>
        <p:nvSpPr>
          <p:cNvPr id="9" name="Text 6"/>
          <p:cNvSpPr txBox="1"/>
          <p:nvPr/>
        </p:nvSpPr>
        <p:spPr>
          <a:xfrm>
            <a:off x="868680" y="1874520"/>
            <a:ext cx="10515600" cy="594360"/>
          </a:xfrm>
          <a:prstGeom prst="rect">
            <a:avLst/>
          </a:prstGeom>
          <a:noFill/>
          <a:ln/>
        </p:spPr>
        <p:txBody>
          <a:bodyPr wrap="square" lIns="0" tIns="0" rIns="0" bIns="0" rtlCol="0" anchor="t"/>
          <a:lstStyle/>
          <a:p>
            <a:pPr indent="0" marL="0">
              <a:buNone/>
            </a:pPr>
            <a:r>
              <a:rPr lang="en-US" sz="2000" b="1" dirty="0">
                <a:solidFill>
                  <a:srgbClr val="2E9E6B"/>
                </a:solidFill>
                <a:latin typeface="Calibri" pitchFamily="34" charset="0"/>
                <a:ea typeface="Calibri" pitchFamily="34" charset="-122"/>
                <a:cs typeface="Calibri" pitchFamily="34" charset="-120"/>
              </a:rPr>
              <a:t>Ziel 1:  </a:t>
            </a:r>
            <a:pPr indent="0" marL="0">
              <a:buNone/>
            </a:pPr>
            <a:r>
              <a:rPr lang="en-US" sz="2000" dirty="0">
                <a:solidFill>
                  <a:srgbClr val="1E2761"/>
                </a:solidFill>
                <a:latin typeface="Calibri" pitchFamily="34" charset="0"/>
                <a:ea typeface="Calibri" pitchFamily="34" charset="-122"/>
                <a:cs typeface="Calibri" pitchFamily="34" charset="-120"/>
              </a:rPr>
              <a:t>Falsch: Paddy greift nicht an. Der Schotte sieht die riesige Nase des „Babys“ und fürchtet den Vater (Str. 8–9, z. B. V. 44: „ein Narr, wer’s mit ihm selber wagt“).</a:t>
            </a:r>
            <a:endParaRPr lang="en-US" sz="2000" dirty="0"/>
          </a:p>
        </p:txBody>
      </p:sp>
      <p:sp>
        <p:nvSpPr>
          <p:cNvPr id="10" name="Shape 7"/>
          <p:cNvSpPr/>
          <p:nvPr/>
        </p:nvSpPr>
        <p:spPr>
          <a:xfrm>
            <a:off x="548640" y="2788920"/>
            <a:ext cx="11064240" cy="960120"/>
          </a:xfrm>
          <a:prstGeom prst="roundRect">
            <a:avLst>
              <a:gd name="adj" fmla="val 7619"/>
            </a:avLst>
          </a:prstGeom>
          <a:solidFill>
            <a:srgbClr val="F4F7FD"/>
          </a:solidFill>
          <a:ln/>
        </p:spPr>
      </p:sp>
      <p:sp>
        <p:nvSpPr>
          <p:cNvPr id="11" name="Shape 8"/>
          <p:cNvSpPr/>
          <p:nvPr/>
        </p:nvSpPr>
        <p:spPr>
          <a:xfrm>
            <a:off x="548640" y="2788920"/>
            <a:ext cx="109728" cy="960120"/>
          </a:xfrm>
          <a:prstGeom prst="rect">
            <a:avLst/>
          </a:prstGeom>
          <a:solidFill>
            <a:srgbClr val="7A5BA6"/>
          </a:solidFill>
          <a:ln/>
        </p:spPr>
      </p:sp>
      <p:sp>
        <p:nvSpPr>
          <p:cNvPr id="12" name="Text 9"/>
          <p:cNvSpPr txBox="1"/>
          <p:nvPr/>
        </p:nvSpPr>
        <p:spPr>
          <a:xfrm>
            <a:off x="868680" y="3017520"/>
            <a:ext cx="10515600" cy="594360"/>
          </a:xfrm>
          <a:prstGeom prst="rect">
            <a:avLst/>
          </a:prstGeom>
          <a:noFill/>
          <a:ln/>
        </p:spPr>
        <p:txBody>
          <a:bodyPr wrap="square" lIns="0" tIns="0" rIns="0" bIns="0" rtlCol="0" anchor="t"/>
          <a:lstStyle/>
          <a:p>
            <a:pPr indent="0" marL="0">
              <a:buNone/>
            </a:pPr>
            <a:r>
              <a:rPr lang="en-US" sz="2000" b="1" dirty="0">
                <a:solidFill>
                  <a:srgbClr val="7A5BA6"/>
                </a:solidFill>
                <a:latin typeface="Calibri" pitchFamily="34" charset="0"/>
                <a:ea typeface="Calibri" pitchFamily="34" charset="-122"/>
                <a:cs typeface="Calibri" pitchFamily="34" charset="-120"/>
              </a:rPr>
              <a:t>Ziel 2 a:  </a:t>
            </a:r>
            <a:pPr indent="0" marL="0">
              <a:buNone/>
            </a:pPr>
            <a:r>
              <a:rPr lang="en-US" sz="2000" dirty="0">
                <a:solidFill>
                  <a:srgbClr val="1E2761"/>
                </a:solidFill>
                <a:latin typeface="Calibri" pitchFamily="34" charset="0"/>
                <a:ea typeface="Calibri" pitchFamily="34" charset="-122"/>
                <a:cs typeface="Calibri" pitchFamily="34" charset="-120"/>
              </a:rPr>
              <a:t>Der Schotte erschrickt, als er die riesige Nase sieht.</a:t>
            </a:r>
            <a:endParaRPr lang="en-US" sz="2000" dirty="0"/>
          </a:p>
        </p:txBody>
      </p:sp>
      <p:sp>
        <p:nvSpPr>
          <p:cNvPr id="13" name="Shape 10"/>
          <p:cNvSpPr/>
          <p:nvPr/>
        </p:nvSpPr>
        <p:spPr>
          <a:xfrm>
            <a:off x="548640" y="3931920"/>
            <a:ext cx="11064240" cy="960120"/>
          </a:xfrm>
          <a:prstGeom prst="roundRect">
            <a:avLst>
              <a:gd name="adj" fmla="val 7619"/>
            </a:avLst>
          </a:prstGeom>
          <a:solidFill>
            <a:srgbClr val="F4F7FD"/>
          </a:solidFill>
          <a:ln/>
        </p:spPr>
      </p:sp>
      <p:sp>
        <p:nvSpPr>
          <p:cNvPr id="14" name="Shape 11"/>
          <p:cNvSpPr/>
          <p:nvPr/>
        </p:nvSpPr>
        <p:spPr>
          <a:xfrm>
            <a:off x="548640" y="3931920"/>
            <a:ext cx="109728" cy="960120"/>
          </a:xfrm>
          <a:prstGeom prst="rect">
            <a:avLst/>
          </a:prstGeom>
          <a:solidFill>
            <a:srgbClr val="7A5BA6"/>
          </a:solidFill>
          <a:ln/>
        </p:spPr>
      </p:sp>
      <p:sp>
        <p:nvSpPr>
          <p:cNvPr id="15" name="Text 12"/>
          <p:cNvSpPr txBox="1"/>
          <p:nvPr/>
        </p:nvSpPr>
        <p:spPr>
          <a:xfrm>
            <a:off x="868680" y="4160520"/>
            <a:ext cx="10515600" cy="594360"/>
          </a:xfrm>
          <a:prstGeom prst="rect">
            <a:avLst/>
          </a:prstGeom>
          <a:noFill/>
          <a:ln/>
        </p:spPr>
        <p:txBody>
          <a:bodyPr wrap="square" lIns="0" tIns="0" rIns="0" bIns="0" rtlCol="0" anchor="t"/>
          <a:lstStyle/>
          <a:p>
            <a:pPr indent="0" marL="0">
              <a:buNone/>
            </a:pPr>
            <a:r>
              <a:rPr lang="en-US" sz="2000" b="1" dirty="0">
                <a:solidFill>
                  <a:srgbClr val="7A5BA6"/>
                </a:solidFill>
                <a:latin typeface="Calibri" pitchFamily="34" charset="0"/>
                <a:ea typeface="Calibri" pitchFamily="34" charset="-122"/>
                <a:cs typeface="Calibri" pitchFamily="34" charset="-120"/>
              </a:rPr>
              <a:t>Ziel 2 b:  </a:t>
            </a:r>
            <a:pPr indent="0" marL="0">
              <a:buNone/>
            </a:pPr>
            <a:r>
              <a:rPr lang="en-US" sz="2000" dirty="0">
                <a:solidFill>
                  <a:srgbClr val="1E2761"/>
                </a:solidFill>
                <a:latin typeface="Calibri" pitchFamily="34" charset="0"/>
                <a:ea typeface="Calibri" pitchFamily="34" charset="-122"/>
                <a:cs typeface="Calibri" pitchFamily="34" charset="-120"/>
              </a:rPr>
              <a:t>Falsch: Im Nebensatz steht das finite Verb am Ende → …, weil er Angst hat.</a:t>
            </a:r>
            <a:endParaRPr lang="en-US" sz="2000" dirty="0"/>
          </a:p>
        </p:txBody>
      </p:sp>
      <p:sp>
        <p:nvSpPr>
          <p:cNvPr id="16" name="Text 13"/>
          <p:cNvSpPr txBox="1"/>
          <p:nvPr/>
        </p:nvSpPr>
        <p:spPr>
          <a:xfrm>
            <a:off x="548640" y="5257800"/>
            <a:ext cx="11064240" cy="457200"/>
          </a:xfrm>
          <a:prstGeom prst="rect">
            <a:avLst/>
          </a:prstGeom>
          <a:noFill/>
          <a:ln/>
        </p:spPr>
        <p:txBody>
          <a:bodyPr wrap="square" lIns="0" tIns="0" rIns="0" bIns="0" rtlCol="0" anchor="t"/>
          <a:lstStyle/>
          <a:p>
            <a:pPr algn="ctr" indent="0" marL="0">
              <a:buNone/>
            </a:pPr>
            <a:r>
              <a:rPr lang="en-US" sz="2000" b="1" dirty="0">
                <a:solidFill>
                  <a:srgbClr val="1E2761"/>
                </a:solidFill>
                <a:latin typeface="Calibri" pitchFamily="34" charset="0"/>
                <a:ea typeface="Calibri" pitchFamily="34" charset="-122"/>
                <a:cs typeface="Calibri" pitchFamily="34" charset="-120"/>
              </a:rPr>
              <a:t>Verbessere mit Grün. Alles richtig? Dann hast du beide Ziele erreicht.</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Deutsch 7A – Mittwoch 4.11.</dc:title>
  <dc:subject>PptxGenJS Presentation</dc:subject>
  <dc:creator>PptxGenJS</dc:creator>
  <cp:lastModifiedBy>PptxGenJS</cp:lastModifiedBy>
  <cp:revision>1</cp:revision>
  <dcterms:created xsi:type="dcterms:W3CDTF">2026-10-31T11:13:47Z</dcterms:created>
  <dcterms:modified xsi:type="dcterms:W3CDTF">2026-10-31T11:13:47Z</dcterms:modified>
</cp:coreProperties>
</file>