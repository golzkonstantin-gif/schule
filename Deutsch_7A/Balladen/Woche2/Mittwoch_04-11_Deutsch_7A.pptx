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 Anfang zeigen und am Ende noch einmal: Was haben wir geschafft? Ziele und Ablauf stehen zusätzlich an der Seitentafel.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A orientierend, weil ich nur eine Information suche · B überfliegend, weil ich nur wissen will, wie es ausgeht · C genau, weil ich etwas erklären soll. Die „weil“-Sätze aufheben: In Teil 2 schauen wir sie uns genauer an. Falls am Montag E (Überfliegen) nicht geschafft wurde: jetzt 1 Minute überfliegen lassen, Satz „In der Ballade geht es um …“.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Methodenkarte Tandemlesen. Lösung: 1 Riese, schwarzer Bart sechs Ellen lang, Fäuste so groß wie Tonnen, wirft mit einem Mastbaum (Str. 1). 2 Der Schotte will herausfinden, wer von beiden stärker ist (Str. 2). 3 Schaya steckt Paddy ins Bett, türmt die Kissen hoch und gibt ihn als Baby aus; der Schotte sieht nur die riesige Nase, denkt an einen riesigen Vater und flieht (Str. 5–10).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Ablauf: S1 schreibt Antwort 1 in Stichworten mit Strophe an. S2 prüft sie zuerst (✓ oder ✗ + Stichwort zur Begründung) und schreibt dann Antwort 2. S3 prüft 2 und schreibt 3. S4 prüft 3. Alle anderen vergleichen mit ihrem Heft und verbessern mit Grün. Lösungen siehe Folie davor.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Nur, wenn die Zeit reicht; sonst Einstieg am Donnerstag. Herumgehen, ein gelungenes Paar kurz vorerzählen lassen.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Wiederholung aus der Verb-Einheit: Das finite Verb (die Personalform) richtet sich nach der Person. Lösung: war, lief – beide an Position 2 (nach dem ersten Satzglied). Merksatz der Verb-Einheit nicht wiederholen lassen, nur kurz fragen: Woran erkennst du das finite Verb? (ändert sich mit der Person: ich war, du warst).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dass … war · dass … erwacht · als … sah. Erstes Wort: dass, als (Subjunktion). Das finite Verb steht am Ende. Vor der Subjunktion steht ein Komma (im Gedicht teils am Versende). Überleitung: Das ist eine Regel – Merksatz-Schnipsel austeilen.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Schnipsel austeilen und einkleben lassen (nicht abschreiben). Gemeinsam lesen. Bezug Verb-Einheit: Im Perfekt ist das Hilfsverb finit – es wandert ans Ende. Bezug Englisch: because he is afraid – dort bleibt das Verb vorne.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Ich trainiere heute länger, weil am Samstag ein Wettkampf ist. 2 Der Trainer sagt, dass wir nach Frankfurt (Oder) fahren. 3 Ich war nervös, als ich auf der Matte stand. 4 Wir gewinnen, wenn wir als Team spielen. 5 Ich bin stolz, weil ich 80 kg gestoßen habe. *6 Der Trainer fragt, ob ich gut geschlafen habe. Prüf-Kette: S1 schreibt Satz 1 an. S2 prüft ihn (✓/✗ + Begründung: Verb am Ende? Komma?) und schreibt Satz 2 usw. Alle anderen vergleichen mit ihrem Heft und verbessern mit Grün.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Lösung: 1 …, weil ich noch duschen muss. 2 …, dass wir morgen frei haben. 3 Weißt du, ob der Neue auch kommt? 4 Ich freue mich, weil wir frei haben. (Komma fehlt). Reflexion: Beim Sprechen hört man oft „weil ich muss …“ – geschrieben ist das falsch.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Nur, wenn Zeit bleibt. Satzanfänge, keine fertigen Sätze. Mögliche Ergänzungen: … weil er Angst vor dem Schotten hat · … dass Paddy ein Baby sei/ist · … als er die riesige Nase sieht · … weil er glaubt, dass der Vater noch größer ist.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Erst (*) Forscherfrage mündlich: In Str. 3 steht „als er stapfte durch den Sund“ – das Verb steht nicht am Ende, wegen Reim und Rhythmus (Sund – stund). Dichter dürfen abweichen, im Aufsatz gilt die Regel. Dann Zielcheck allein im Heft (4 Min.), danach Lösungsfolie: Selbstkontrolle mit Grün. Herumgehen und schauen, wer noch Fehler hat – am Donnerstag in der Wiederholung aufgreifen.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Mit Grün verbessern. Wer bei 2 a oder 2 b einen Fehler hat, schaut sich den Merksatz noch einmal an. Am Donnerstag beginnt die Wiederholung genau mit diesen Fehlern.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E8A33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 · 4.11.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Deutsch 7A – Paddy Fingal: Inhalt und Grammatik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822960" y="3749040"/>
            <a:ext cx="4480560" cy="640080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Den Inhalt erschließen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577840" y="3749040"/>
            <a:ext cx="4480560" cy="640080"/>
          </a:xfrm>
          <a:prstGeom prst="roundRect">
            <a:avLst>
              <a:gd name="adj" fmla="val 50000"/>
            </a:avLst>
          </a:prstGeom>
          <a:solidFill>
            <a:srgbClr val="7A5BA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577840" y="3749040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Grammatik in der Ballade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ÜBERBLICK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Unsere Doppelstunde: Ablauf und Ziele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Mittwoch, 4.11.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554480"/>
            <a:ext cx="109728" cy="182880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Shape 6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868680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920" dirty="0"/>
          </a:p>
        </p:txBody>
      </p:sp>
      <p:sp>
        <p:nvSpPr>
          <p:cNvPr id="11" name="Text 8"/>
          <p:cNvSpPr txBox="1"/>
          <p:nvPr/>
        </p:nvSpPr>
        <p:spPr>
          <a:xfrm>
            <a:off x="1645920" y="17190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den Inhalt erschließen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9692640" y="17373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40 Min.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1645920" y="22128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Fragen zum Inhalt der Ballade mit Textbeleg beantworten.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1645920" y="276148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Wiederholung Lesetechniken · Tandemlesen · LB-Aufgabe 1 a · * LB-Aufgabe 1 b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611880"/>
            <a:ext cx="11064240" cy="1828800"/>
          </a:xfrm>
          <a:prstGeom prst="roundRect">
            <a:avLst>
              <a:gd name="adj" fmla="val 4000"/>
            </a:avLst>
          </a:prstGeom>
          <a:solidFill>
            <a:srgbClr val="F4F7FD"/>
          </a:solidFill>
          <a:ln/>
        </p:spPr>
      </p:sp>
      <p:sp>
        <p:nvSpPr>
          <p:cNvPr id="16" name="Shape 13"/>
          <p:cNvSpPr/>
          <p:nvPr/>
        </p:nvSpPr>
        <p:spPr>
          <a:xfrm>
            <a:off x="548640" y="3611880"/>
            <a:ext cx="109728" cy="182880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7" name="Shape 14"/>
          <p:cNvSpPr/>
          <p:nvPr/>
        </p:nvSpPr>
        <p:spPr>
          <a:xfrm>
            <a:off x="868680" y="3886200"/>
            <a:ext cx="548640" cy="54864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6868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2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920" dirty="0"/>
          </a:p>
        </p:txBody>
      </p:sp>
      <p:sp>
        <p:nvSpPr>
          <p:cNvPr id="19" name="Text 16"/>
          <p:cNvSpPr txBox="1"/>
          <p:nvPr/>
        </p:nvSpPr>
        <p:spPr>
          <a:xfrm>
            <a:off x="1645920" y="377647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in der Ballade: Nebensätze mit Subjunktion</a:t>
            </a:r>
            <a:endParaRPr lang="en-US" sz="2200" dirty="0"/>
          </a:p>
        </p:txBody>
      </p:sp>
      <p:sp>
        <p:nvSpPr>
          <p:cNvPr id="20" name="Text 17"/>
          <p:cNvSpPr txBox="1"/>
          <p:nvPr/>
        </p:nvSpPr>
        <p:spPr>
          <a:xfrm>
            <a:off x="9692640" y="379476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45 Min.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27024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Ziel: </a:t>
            </a:r>
            <a:pPr indent="0" marL="0">
              <a:buNone/>
            </a:pPr>
            <a:r>
              <a:rPr lang="en-US" sz="17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Nebensätze mit Subjunktion erkennen und richtig bilden: Das finite Verb steht am Ende.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1645920" y="4818888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Ü2 Entdecken in der Ballade · Merksatz · Ü3 Sätze verbinden · Ü4 Fehler finden · * Ü5 zurück zur Ballade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= nur, wenn die Zeit reicht. Am Ende: Zielcheck – zwei kurze Aufgaben zu unseren Zielen.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2E9E6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– den Inhalt erschließen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Wilhelm Brandes · Lehrbuch S. 136 f.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WIEDERHOLUNG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Welche Lesetechnik brauchst du? Begründe mit „weil“.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71907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84708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woher der Fremde kommt.</a:t>
            </a:r>
            <a:endParaRPr lang="en-US" sz="220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81635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94436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willst wissen, ob die Ballade gut ausgeht.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548640" y="37947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22960" y="3913632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2E9E6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40416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sollst erklären, welche List Paddys Frau anwendet.</a:t>
            </a:r>
            <a:endParaRPr lang="en-US" sz="22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983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ins Heft: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orientierend, weil …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allein, dann mit dem Nachbarn vergleichen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LB-AUFGABE 1 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Ü1  Wovon handelt die Ballade?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Lest die Ballade im Tandem: abwechselnd Strophe für Strophe.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Beantwortet die drei Fragen im Heft in ganzen Sätzen.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Notiert hinter jeder Antwort die Strophe.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3886200"/>
            <a:ext cx="11064240" cy="1600200"/>
          </a:xfrm>
          <a:prstGeom prst="roundRect">
            <a:avLst>
              <a:gd name="adj" fmla="val 4571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023360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Wie sieht Paddy Fingal aus?</a:t>
            </a:r>
            <a:endParaRPr lang="en-US" sz="2000" dirty="0"/>
          </a:p>
        </p:txBody>
      </p:sp>
      <p:sp>
        <p:nvSpPr>
          <p:cNvPr id="18" name="Text 15"/>
          <p:cNvSpPr txBox="1"/>
          <p:nvPr/>
        </p:nvSpPr>
        <p:spPr>
          <a:xfrm>
            <a:off x="868680" y="4498848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Was möchte der Riese aus Schottland von Paddy?</a:t>
            </a:r>
            <a:endParaRPr lang="en-US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974336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Welche List wendet Paddys Frau an?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Min. lesen (Tandem) + 8 Min. schreiben (allein)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· TEIL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Prüf-Kette: Stimmt die Antwort?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824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 drankommt, prüft zuerst die Antwort davor:  ✓ oder ✗  +  Begründung in Stichworten.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42316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4231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45973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Dann schreibt er die nächste Antwort in Stichworten mit Strophe an.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457200" cy="457200"/>
          </a:xfrm>
          <a:prstGeom prst="ellipse">
            <a:avLst/>
          </a:prstGeom>
          <a:solidFill>
            <a:srgbClr val="2E9E6B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2369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 anderen vergleichen mit ihrem Heft und verbessern mit Grün.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4206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EAF0FA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4348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Beispiel: 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– Strophe 1 stimmt, alle Merkmale genannt   ·   ✗ – die List steht in Str. 5–10, nicht in Str. 2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VERARBEITEN · LB-AUFGABE 1 B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Ü1 b  Erzählt die Ballade nach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1 · Paddy Fingal – den Inhalt erschließen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188720" y="163677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erzählt Strophe 1–5 nach, B hört zu und hakt die Checkliste ab.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2331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236829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Wechselt: B erzählt Strophe 6–11, A prüft.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8640" y="3063240"/>
            <a:ext cx="457200" cy="45720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188720" y="3099816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Nutzt eure Antworten aus Ü1 als Spickzettel.</a:t>
            </a:r>
            <a:endParaRPr lang="en-US" sz="2100" dirty="0"/>
          </a:p>
        </p:txBody>
      </p:sp>
      <p:sp>
        <p:nvSpPr>
          <p:cNvPr id="16" name="Shape 13"/>
          <p:cNvSpPr/>
          <p:nvPr/>
        </p:nvSpPr>
        <p:spPr>
          <a:xfrm>
            <a:off x="548640" y="3886200"/>
            <a:ext cx="11064240" cy="1188720"/>
          </a:xfrm>
          <a:prstGeom prst="roundRect">
            <a:avLst>
              <a:gd name="adj" fmla="val 6154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069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Checkliste: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Titel und Autor  ·  richtige Reihenfolge  ·  nichts dazuerfinden  ·  alle wichtigen Details  ·  * spannend mit wörtlicher Rede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Tandem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206240"/>
            <a:ext cx="3657600" cy="3657600"/>
          </a:xfrm>
          <a:prstGeom prst="ellipse">
            <a:avLst/>
          </a:prstGeom>
          <a:solidFill>
            <a:srgbClr val="24306E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87452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7A5BA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8745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Grammatik in der Ballade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429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Nebensätze mit Subjunktion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VORWISSEN AKTIVIEREN · VERB-EINHEIT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 steht das finite Verb?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beide Sätze ab und unterstreiche das finite Verb.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2441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Fingal war von Riesenart.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9966960" y="2514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1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48640" y="33832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4F7FD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584448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lief er heim in jähem Schreck.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9966960" y="36576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4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46634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Frage: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welcher Stelle steht das finite Verb?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INFORMIEREN · ENTDECKEN IN DER BALLADE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Ü2  Was passiert mit dem finiten Verb?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6304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1664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62763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 und maß von ferne klipp und klar,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 der Fremdling zehn Schuh größer war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7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49631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Tut leise, Fremder, und tretet sacht,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dass Paddys Kindlein nicht erwacht</a:t>
            </a:r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4F7F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731520" y="34015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8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3364992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heiliger Patrick, wie ward ihm da, </a:t>
            </a:r>
            <a:pPr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als er die Nase ragen sah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48640" y="416052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548640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44" dirty="0"/>
          </a:p>
        </p:txBody>
      </p:sp>
      <p:sp>
        <p:nvSpPr>
          <p:cNvPr id="18" name="Text 15"/>
          <p:cNvSpPr txBox="1"/>
          <p:nvPr/>
        </p:nvSpPr>
        <p:spPr>
          <a:xfrm>
            <a:off x="1097280" y="418795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die fett gedruckten Teile ins Heft.</a:t>
            </a:r>
            <a:endParaRPr lang="en-US" sz="1900" dirty="0"/>
          </a:p>
        </p:txBody>
      </p:sp>
      <p:sp>
        <p:nvSpPr>
          <p:cNvPr id="19" name="Shape 16"/>
          <p:cNvSpPr/>
          <p:nvPr/>
        </p:nvSpPr>
        <p:spPr>
          <a:xfrm>
            <a:off x="548640" y="466344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48640" y="4663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44" dirty="0"/>
          </a:p>
        </p:txBody>
      </p:sp>
      <p:sp>
        <p:nvSpPr>
          <p:cNvPr id="21" name="Text 18"/>
          <p:cNvSpPr txBox="1"/>
          <p:nvPr/>
        </p:nvSpPr>
        <p:spPr>
          <a:xfrm>
            <a:off x="1097280" y="469087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Unterstreiche das finite Verb. Kreise das erste Wort ein.</a:t>
            </a:r>
            <a:endParaRPr lang="en-US" sz="1900" dirty="0"/>
          </a:p>
        </p:txBody>
      </p:sp>
      <p:sp>
        <p:nvSpPr>
          <p:cNvPr id="22" name="Shape 19"/>
          <p:cNvSpPr/>
          <p:nvPr/>
        </p:nvSpPr>
        <p:spPr>
          <a:xfrm>
            <a:off x="548640" y="5166360"/>
            <a:ext cx="384048" cy="384048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548640" y="5166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44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44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5193792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Vergleiche mit den Sätzen von eben: Was fällt dir auf?</a:t>
            </a:r>
            <a:endParaRPr lang="en-US" sz="19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allein, 2 Minuten zu zweit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MERKSATZ – SCHNIPSEL EINKLEBEN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Nebensätze mit Subjunktion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11064240" cy="3017520"/>
          </a:xfrm>
          <a:prstGeom prst="roundRect">
            <a:avLst>
              <a:gd name="adj" fmla="val 1515"/>
            </a:avLst>
          </a:prstGeom>
          <a:solidFill>
            <a:srgbClr val="FFFFFF"/>
          </a:solidFill>
          <a:ln w="38100">
            <a:solidFill>
              <a:srgbClr val="D9534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1600200"/>
            <a:ext cx="10424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Subjunktion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(dass, als, weil, wenn, ob, obwohl, während, nachdem) leitet einen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Nebensatz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ein. Im Nebensatz steht das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finite Verb am Ende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Vor der Subjunktion steht ein </a:t>
            </a:r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Komma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7889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flieht,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er Angst vor dem Vater </a:t>
            </a:r>
            <a:pPr indent="0" marL="0">
              <a:buNone/>
            </a:pPr>
            <a:r>
              <a:rPr lang="en-US" sz="2200" b="1" u="sng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hat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3375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Ich bin stolz, </a:t>
            </a:r>
            <a:pPr indent="0" marL="0">
              <a:buNone/>
            </a:pPr>
            <a:r>
              <a:rPr lang="en-US" sz="2200" b="1" dirty="0">
                <a:solidFill>
                  <a:srgbClr val="7A5B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weil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ich 80 kg gestoßen </a:t>
            </a:r>
            <a:pPr indent="0" marL="0">
              <a:buNone/>
            </a:pPr>
            <a:r>
              <a:rPr lang="en-US" sz="2200" b="1" u="sng" dirty="0">
                <a:solidFill>
                  <a:srgbClr val="D953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habe</a:t>
            </a:r>
            <a:pPr indent="0" marL="0">
              <a:buNone/>
            </a:pPr>
            <a:r>
              <a:rPr lang="en-US" sz="22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pPr indent="0" marL="0">
              <a:buNone/>
            </a:pPr>
            <a:r>
              <a:rPr lang="en-US" sz="2200" dirty="0">
                <a:solidFill>
                  <a:srgbClr val="5B6B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(Perfekt: das Hilfsverb ist finit)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Hauptsatz</a:t>
            </a:r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finites Verb an Position 2   ·   </a:t>
            </a:r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Nebensatz</a:t>
            </a:r>
            <a:pPr indent="0" marL="0">
              <a:buNone/>
            </a:pPr>
            <a:r>
              <a:rPr lang="en-US" sz="18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finites Verb am Ende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" y="46177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31520" y="4681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Wofür?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kann begründen und Zusammenhänge zeigen – in jeder Analyse: „Die Ballade ist spannend, weil …“. Im Englischen bleibt das Verb vorne: because he is afraid.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6172200" y="4617720"/>
            <a:ext cx="5440680" cy="960120"/>
          </a:xfrm>
          <a:prstGeom prst="roundRect">
            <a:avLst>
              <a:gd name="adj" fmla="val 7619"/>
            </a:avLst>
          </a:prstGeom>
          <a:solidFill>
            <a:srgbClr val="EAF0F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355080" y="4681728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Steht am Anfang dass, als, weil, wenn …? Dann muss das finite Verb ans Ende – und davor ein Komma.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Markieren: Subjunktion einkreisen · finites Verb unterstreichen (Hilfsverb rot)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Ü3  Sätze verbinden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80" dirty="0"/>
          </a:p>
        </p:txBody>
      </p:sp>
      <p:sp>
        <p:nvSpPr>
          <p:cNvPr id="9" name="Text 6"/>
          <p:cNvSpPr txBox="1"/>
          <p:nvPr/>
        </p:nvSpPr>
        <p:spPr>
          <a:xfrm>
            <a:off x="1051560" y="14356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Verbinde die Sätze mit der Subjunktion in Klammern.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18745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48640" y="18745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80" dirty="0"/>
          </a:p>
        </p:txBody>
      </p:sp>
      <p:sp>
        <p:nvSpPr>
          <p:cNvPr id="12" name="Text 9"/>
          <p:cNvSpPr txBox="1"/>
          <p:nvPr/>
        </p:nvSpPr>
        <p:spPr>
          <a:xfrm>
            <a:off x="1051560" y="18928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ganzen Satz ins Heft. Denk an das Komma.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2331720"/>
            <a:ext cx="365760" cy="36576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8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80" dirty="0"/>
          </a:p>
        </p:txBody>
      </p:sp>
      <p:sp>
        <p:nvSpPr>
          <p:cNvPr id="15" name="Text 12"/>
          <p:cNvSpPr txBox="1"/>
          <p:nvPr/>
        </p:nvSpPr>
        <p:spPr>
          <a:xfrm>
            <a:off x="1051560" y="2350008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Kreise die Subjunktion ein, unterstreiche das finite Verb.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48640" y="2880360"/>
            <a:ext cx="11064240" cy="2697480"/>
          </a:xfrm>
          <a:prstGeom prst="roundRect">
            <a:avLst>
              <a:gd name="adj" fmla="val 2712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77240" y="299008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299008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trainiere heute länger. Am Samstag ist ein Wettkampf.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9875520" y="299008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(weil)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777240" y="3419856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1417320" y="3419856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Trainer sagt. Wir fahren nach Frankfurt (Oder).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3419856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(dass)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77240" y="384962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1417320" y="384962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war nervös. Ich stand auf der Matte.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9875520" y="3849624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(als)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77240" y="427939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1417320" y="42793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 gewinnen. Wir spielen als Team.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875520" y="4279392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(wenn)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77240" y="4709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1417320" y="47091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bin stolz. Ich habe 80 kg gestoßen.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9875520" y="47091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(weil)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777240" y="513892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6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1417320" y="5138928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Trainer fragt. Hast du gut geschlafen?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9875520" y="51389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(ob)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VERARBEITEN · FEHLER FINDEN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Ü4  Was stimmt im Chat nicht?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6583680" cy="4114800"/>
          </a:xfrm>
          <a:prstGeom prst="roundRect">
            <a:avLst>
              <a:gd name="adj" fmla="val 1778"/>
            </a:avLst>
          </a:prstGeom>
          <a:solidFill>
            <a:srgbClr val="E9EEF6"/>
          </a:solidFill>
          <a:ln/>
        </p:spPr>
      </p:sp>
      <p:sp>
        <p:nvSpPr>
          <p:cNvPr id="8" name="Shape 5"/>
          <p:cNvSpPr/>
          <p:nvPr/>
        </p:nvSpPr>
        <p:spPr>
          <a:xfrm>
            <a:off x="777240" y="160020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60120" y="175564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Komme später, weil ich muss noch duschen 🙈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2148840" y="256032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331720" y="271576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Trainer hat gesagt, dass wir haben morgen frei!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77240" y="352044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60120" y="367588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Weißt du, ob kommt der Neue auch?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2148840" y="4480560"/>
            <a:ext cx="4754880" cy="731520"/>
          </a:xfrm>
          <a:prstGeom prst="roundRect">
            <a:avLst>
              <a:gd name="adj" fmla="val 22500"/>
            </a:avLst>
          </a:prstGeom>
          <a:solidFill>
            <a:srgbClr val="DCF3E4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2331720" y="4636008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Ich freue mich weil wir frei haben 💪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7406640" y="16459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406640" y="16459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4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16459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 in jeder Nachricht den Fehler.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7406640" y="25603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406640" y="25603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40" dirty="0"/>
          </a:p>
        </p:txBody>
      </p:sp>
      <p:sp>
        <p:nvSpPr>
          <p:cNvPr id="21" name="Text 18"/>
          <p:cNvSpPr txBox="1"/>
          <p:nvPr/>
        </p:nvSpPr>
        <p:spPr>
          <a:xfrm>
            <a:off x="7955280" y="25603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den Satz richtig ins Heft.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7406640" y="3474720"/>
            <a:ext cx="411480" cy="411480"/>
          </a:xfrm>
          <a:prstGeom prst="ellipse">
            <a:avLst/>
          </a:prstGeom>
          <a:solidFill>
            <a:srgbClr val="7A5BA6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406640" y="34747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4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40" dirty="0"/>
          </a:p>
        </p:txBody>
      </p:sp>
      <p:sp>
        <p:nvSpPr>
          <p:cNvPr id="24" name="Text 21"/>
          <p:cNvSpPr txBox="1"/>
          <p:nvPr/>
        </p:nvSpPr>
        <p:spPr>
          <a:xfrm>
            <a:off x="795528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Notiere: Verbstellung oder Komma?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zu zweit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VERARBEITEN · ZURÜCK ZUR BALLADE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* Ü5  Erkläre die Ballade mit Nebensätzen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087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Schreibe mindestens drei Sätze ins Heft. Kreise die Subjunktion ein und unterstreiche das finite Verb.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548640" y="2240280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22960" y="2313432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Paddy versteckt sich im Bett, weil …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862072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22960" y="2935224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Schaya erzählt dem Schotten, dass …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548640" y="3483864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22960" y="3557016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erschrickt, als …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48640" y="4105656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22960" y="4178808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 Schotte flieht, weil …</a:t>
            </a:r>
            <a:endParaRPr lang="en-US" sz="2000" dirty="0"/>
          </a:p>
        </p:txBody>
      </p:sp>
      <p:sp>
        <p:nvSpPr>
          <p:cNvPr id="16" name="Shape 13"/>
          <p:cNvSpPr/>
          <p:nvPr/>
        </p:nvSpPr>
        <p:spPr>
          <a:xfrm>
            <a:off x="548640" y="4727448"/>
            <a:ext cx="11064240" cy="512064"/>
          </a:xfrm>
          <a:prstGeom prst="roundRect">
            <a:avLst>
              <a:gd name="adj" fmla="val 14286"/>
            </a:avLst>
          </a:prstGeom>
          <a:solidFill>
            <a:srgbClr val="F4F7FD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22960" y="4800600"/>
            <a:ext cx="10515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 Nachbarn staunen, als …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Minuten · allein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Zielcheck: Hast du die Ziele erreicht?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4173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EAF0F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22960" y="155448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Forscherfrage: </a:t>
            </a:r>
            <a:pPr indent="0" marL="0">
              <a:buNone/>
            </a:pPr>
            <a:r>
              <a:rPr lang="en-US" sz="18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Str. 3: „Und als er stapfte durch den Sund“ – was ist hier anders, und warum?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48640" y="24688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0" name="Shape 7"/>
          <p:cNvSpPr/>
          <p:nvPr/>
        </p:nvSpPr>
        <p:spPr>
          <a:xfrm>
            <a:off x="548640" y="2468880"/>
            <a:ext cx="109728" cy="77724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8680" y="26517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1: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Beantworte mit Strophe: Warum flieht der Schotte am Ende?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548640" y="33832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3" name="Shape 10"/>
          <p:cNvSpPr/>
          <p:nvPr/>
        </p:nvSpPr>
        <p:spPr>
          <a:xfrm>
            <a:off x="548640" y="3383280"/>
            <a:ext cx="109728" cy="77724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68680" y="35661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a: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Verbinde: Der Schotte erschrickt. Er sieht die riesige Nase. (als)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548640" y="429768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4F7FD"/>
          </a:solidFill>
          <a:ln/>
        </p:spPr>
      </p:sp>
      <p:sp>
        <p:nvSpPr>
          <p:cNvPr id="16" name="Shape 13"/>
          <p:cNvSpPr/>
          <p:nvPr/>
        </p:nvSpPr>
        <p:spPr>
          <a:xfrm>
            <a:off x="548640" y="4297680"/>
            <a:ext cx="109728" cy="77724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68680" y="44805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b:  </a:t>
            </a:r>
            <a:pPr indent="0" marL="0">
              <a:buNone/>
            </a:pPr>
            <a:r>
              <a:rPr lang="en-US" sz="19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Richtig oder falsch? Begründe:  „Paddy versteckt sich, weil er hat Angst.“</a:t>
            </a:r>
            <a:endParaRPr lang="en-US" sz="1900" dirty="0"/>
          </a:p>
        </p:txBody>
      </p:sp>
      <p:sp>
        <p:nvSpPr>
          <p:cNvPr id="18" name="Shape 15"/>
          <p:cNvSpPr/>
          <p:nvPr/>
        </p:nvSpPr>
        <p:spPr>
          <a:xfrm>
            <a:off x="548640" y="5715000"/>
            <a:ext cx="11064240" cy="502920"/>
          </a:xfrm>
          <a:prstGeom prst="roundRect">
            <a:avLst>
              <a:gd name="adj" fmla="val 14545"/>
            </a:avLst>
          </a:prstGeom>
          <a:solidFill>
            <a:srgbClr val="EAF0FA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77240" y="5788152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Zeit: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Minuten · allein im Heft, dann Lösung      </a:t>
            </a:r>
            <a:pPr indent="0" marL="0">
              <a:buNone/>
            </a:pPr>
            <a:r>
              <a:rPr lang="en-US" sz="16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Fertig? Stift hinlegen.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spc="200" kern="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AUSWERTEN · SELBSTKONTROLLE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Zielcheck – Lösung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008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Teil 2 · Grammatik in der Ballade: Nebensätze mit Subjunktion · Deutsch 7A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8" name="Shape 5"/>
          <p:cNvSpPr/>
          <p:nvPr/>
        </p:nvSpPr>
        <p:spPr>
          <a:xfrm>
            <a:off x="548640" y="1645920"/>
            <a:ext cx="109728" cy="960120"/>
          </a:xfrm>
          <a:prstGeom prst="rect">
            <a:avLst/>
          </a:prstGeom>
          <a:solidFill>
            <a:srgbClr val="2E9E6B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874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2E9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1: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 sieht die riesige Nase des „Babys“ und glaubt, der Vater müsse noch viel größer sein (Str. 8–10).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548640" y="2788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1" name="Shape 8"/>
          <p:cNvSpPr/>
          <p:nvPr/>
        </p:nvSpPr>
        <p:spPr>
          <a:xfrm>
            <a:off x="548640" y="2788920"/>
            <a:ext cx="109728" cy="96012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68680" y="3017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a: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 Schotte erschrickt, als er die riesige Nase sieht.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3931920"/>
            <a:ext cx="11064240" cy="960120"/>
          </a:xfrm>
          <a:prstGeom prst="roundRect">
            <a:avLst>
              <a:gd name="adj" fmla="val 7619"/>
            </a:avLst>
          </a:prstGeom>
          <a:solidFill>
            <a:srgbClr val="F4F7FD"/>
          </a:solidFill>
          <a:ln/>
        </p:spPr>
      </p:sp>
      <p:sp>
        <p:nvSpPr>
          <p:cNvPr id="14" name="Shape 11"/>
          <p:cNvSpPr/>
          <p:nvPr/>
        </p:nvSpPr>
        <p:spPr>
          <a:xfrm>
            <a:off x="548640" y="3931920"/>
            <a:ext cx="109728" cy="960120"/>
          </a:xfrm>
          <a:prstGeom prst="rect">
            <a:avLst/>
          </a:prstGeom>
          <a:solidFill>
            <a:srgbClr val="7A5BA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68680" y="416052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7A5B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Ziel 2 b:  </a:t>
            </a:r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Falsch: Im Nebensatz steht das finite Verb am Ende → …, weil er Angst hat.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2578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Verbessere mit Grün. Alles richtig? Dann hast du beide Ziele erreicht.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Deutsch 7A – Mittwoch 4.11.</dc:title>
  <dc:subject>PptxGenJS Presentation</dc:subject>
  <dc:creator>PptxGenJS</dc:creator>
  <cp:lastModifiedBy>PptxGenJS</cp:lastModifiedBy>
  <cp:revision>1</cp:revision>
  <dcterms:created xsi:type="dcterms:W3CDTF">2026-10-31T10:39:55Z</dcterms:created>
  <dcterms:modified xsi:type="dcterms:W3CDTF">2026-10-31T10:39:55Z</dcterms:modified>
</cp:coreProperties>
</file>