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Lst>
  <p:notesMasterIdLst>
    <p:notesMasterId r:id="rId31"/>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notesMaster" Target="notesMasters/notesMaster1.xml"/><Relationship Id="rId32" Type="http://schemas.openxmlformats.org/officeDocument/2006/relationships/presProps" Target="presProps.xml"/><Relationship Id="rId33" Type="http://schemas.openxmlformats.org/officeDocument/2006/relationships/viewProps" Target="viewProps.xml"/><Relationship Id="rId34" Type="http://schemas.openxmlformats.org/officeDocument/2006/relationships/theme" Target="theme/theme1.xml"/><Relationship Id="rId35"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Diese Folie am Anfang zeigen und am Ende noch einmal: Was haben wir geschafft?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Gruppen A und B im Wechsel austeilen. Erst austeilen, dann gemeinsam starten.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Start- und Endzeit an die Tafel schreiben. Fünf Minuten vor Schluss ansagen.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Blätter einsammeln (Gruppen getrennt). Kurze Bewegungspause, dann Teil 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Beide Fragen zählen. Wer sich oft meldet, aber nur Bekanntes wiederholt, landet nicht bei 1 – und wer viel weiß, aber nie etwas sagt, auch nicht.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Von unten nach oben: Mit jeder Stufe kommt etwas dazu. Die Stufe darunter muss erfüllt sein.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Wichtig: Der Unterschied zwischen 5 und 6 liegt in der Richtigkeit der Antworten, wenn ich jemanden drannehme.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Der Sprung von 4 zu 3: regelmäßig von sich aus melden UND Neues mit Früherem verknüpfen.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Für die 1 braucht es eigenständige Gedanken: ein Problem erkennen, sachlich beurteilen und klar formulieren.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Beispiel aus der Verb-Einheit. Die Antworten zeigen, wie dieselbe Frage auf verschiedenen Stufen beantwortet werden kann.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Kurz mit der Klasse sammeln, dann die Folie zeigen. Wichtig: Es geht darum, dass alle lernen können, nicht um Strafe.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Stufen an die Schulordnung bzw. Absprachen der Klassenleitung anpassen. Die Stufen gelten pro Stunde; wer sich wieder fängt, startet in der nächsten Stunde neu. Wiederholte Störungen fließen in die Einschätzung der Mitarbeit ein, weil sachliche, regelmäßige Mitarbeit dann nicht möglich ist.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Konkrete Tipps; gerne gemeinsam an die Tafel schreiben lassen, was sich jeder bis Weihnachten vornimmt.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Noten am besten einzeln mitteilen (z. B. während einer Arbeitsphase), nicht im Plenum.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Ziel einmal vorlesen. Die Folie bleibt am Ende für die Auswertung wichtig (Folie „Ziel erreicht?“).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Zwei Vermutungen vorlesen lassen (Riese, Seemann, Raufbold …). Noch nicht lesen – nur Titel und erstes Bild.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Lösung: A gezielt suchen (orientierend) · B schnell drüber (überfliegend) · C langsam, Wort für Wort (genau). Überleitung: Diese drei Leseweisen haben Namen – die Lesetechniken.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Rückbezug: A = orientierend, B = überfliegend, C = genau. Die Schüler ergänzen die Fachbegriffe in ihren Notizen von vorhin.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Zeit laut stoppen: „Start … Stopp. Buch zu.“ Lösung z. B.: In der Ballade geht es um den Riesen Paddy Fingal und einen noch größeren Schotten, vor dem er sich versteckt.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Methodenkarte „Chorisches Lesen“: Lehrkraft liest die Strophen, die Klasse spricht die letzte Zeile jeder Strophe im Chor. Vorher Tempo und Lautstärke festlegen. Danach schreiben alle den ersten Eindruck in Ü1; zwei lesen vor.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Lösung: 1 sechs Ellen (Str. 1) · 2 aus Schottland (Str. 2) · 3 Schaya (Str. 4) · 4 nur seine Nase (Str. 5) · *5 eine flache Stelle in einem Fluss oder Bach (Worterklärung 7). Nachfragen: Wie hast du die Stelle so schnell gefunden? (Schlüsselwörter, Fußnoten)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Lösung: Str. 7 Schaya warnt: Paddys Kind schläft. · Str. 8 Der Schotte schaut ins Bett und sieht die riesige Nase. · Str. 9 Er denkt: Wenn schon das Baby so groß ist, wie groß ist dann der Vater? · Warum? Schayas List: Sie gibt Paddy als Baby aus – der Schotte bekommt Angst vor dem „Vater“.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Danach erklärt ein Schüler im Plenum Schayas List (Frage 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Lösung: 1 überfliegend · 2 orientierend · 3 genau.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Zwei Schüler lesen vor. Erwartet: die drei Lesetechniken und wann man sie benutzt. * Wenn Zeit bleibt: LB-Aufgabe 1 b – ein Schüler erzählt die Ballade mündlich nach (Titel, Autor, Reihenfolge, nichts dazuerfinden).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E2761"/>
        </a:solidFill>
      </p:bgPr>
    </p:bg>
    <p:spTree>
      <p:nvGrpSpPr>
        <p:cNvPr id="1" name=""/>
        <p:cNvGrpSpPr/>
        <p:nvPr/>
      </p:nvGrpSpPr>
      <p:grpSpPr>
        <a:xfrm>
          <a:off x="0" y="0"/>
          <a:ext cx="0" cy="0"/>
          <a:chOff x="0" y="0"/>
          <a:chExt cx="0" cy="0"/>
        </a:xfrm>
      </p:grpSpPr>
      <p:sp>
        <p:nvSpPr>
          <p:cNvPr id="2" name="Shape 0"/>
          <p:cNvSpPr/>
          <p:nvPr/>
        </p:nvSpPr>
        <p:spPr>
          <a:xfrm>
            <a:off x="9692640" y="-1463040"/>
            <a:ext cx="4206240" cy="4206240"/>
          </a:xfrm>
          <a:prstGeom prst="ellipse">
            <a:avLst/>
          </a:prstGeom>
          <a:solidFill>
            <a:srgbClr val="24306E"/>
          </a:solidFill>
          <a:ln/>
        </p:spPr>
      </p:sp>
      <p:sp>
        <p:nvSpPr>
          <p:cNvPr id="3" name="Shape 1"/>
          <p:cNvSpPr/>
          <p:nvPr/>
        </p:nvSpPr>
        <p:spPr>
          <a:xfrm>
            <a:off x="-1371600" y="4206240"/>
            <a:ext cx="3657600" cy="3657600"/>
          </a:xfrm>
          <a:prstGeom prst="ellipse">
            <a:avLst/>
          </a:prstGeom>
          <a:solidFill>
            <a:srgbClr val="24306E"/>
          </a:solidFill>
          <a:ln/>
        </p:spPr>
      </p:sp>
      <p:sp>
        <p:nvSpPr>
          <p:cNvPr id="4" name="Shape 2"/>
          <p:cNvSpPr/>
          <p:nvPr/>
        </p:nvSpPr>
        <p:spPr>
          <a:xfrm>
            <a:off x="822960" y="1874520"/>
            <a:ext cx="2926080" cy="384048"/>
          </a:xfrm>
          <a:prstGeom prst="roundRect">
            <a:avLst>
              <a:gd name="adj" fmla="val 50000"/>
            </a:avLst>
          </a:prstGeom>
          <a:solidFill>
            <a:srgbClr val="E8A33D"/>
          </a:solidFill>
          <a:ln/>
        </p:spPr>
      </p:sp>
      <p:sp>
        <p:nvSpPr>
          <p:cNvPr id="5" name="Text 3"/>
          <p:cNvSpPr txBox="1"/>
          <p:nvPr/>
        </p:nvSpPr>
        <p:spPr>
          <a:xfrm>
            <a:off x="822960" y="1874520"/>
            <a:ext cx="292608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MITTWOCH · 14.10.</a:t>
            </a:r>
            <a:endParaRPr lang="en-US" sz="1200" dirty="0"/>
          </a:p>
        </p:txBody>
      </p:sp>
      <p:sp>
        <p:nvSpPr>
          <p:cNvPr id="6" name="Text 4"/>
          <p:cNvSpPr txBox="1"/>
          <p:nvPr/>
        </p:nvSpPr>
        <p:spPr>
          <a:xfrm>
            <a:off x="822960" y="2423160"/>
            <a:ext cx="10972800" cy="914400"/>
          </a:xfrm>
          <a:prstGeom prst="rect">
            <a:avLst/>
          </a:prstGeom>
          <a:noFill/>
          <a:ln/>
        </p:spPr>
        <p:txBody>
          <a:bodyPr wrap="square" lIns="0" tIns="0" rIns="0" bIns="0" rtlCol="0" anchor="t"/>
          <a:lstStyle/>
          <a:p>
            <a:pPr indent="0" marL="0">
              <a:buNone/>
            </a:pPr>
            <a:r>
              <a:rPr lang="en-US" sz="4000" b="1" dirty="0">
                <a:solidFill>
                  <a:srgbClr val="FFFFFF"/>
                </a:solidFill>
                <a:latin typeface="Cambria" pitchFamily="34" charset="0"/>
                <a:ea typeface="Cambria" pitchFamily="34" charset="-122"/>
                <a:cs typeface="Cambria" pitchFamily="34" charset="-120"/>
              </a:rPr>
              <a:t>Deutsch 7A – heute in drei Teilen</a:t>
            </a:r>
            <a:endParaRPr lang="en-US" sz="4000" dirty="0"/>
          </a:p>
        </p:txBody>
      </p:sp>
      <p:sp>
        <p:nvSpPr>
          <p:cNvPr id="7" name="Shape 5"/>
          <p:cNvSpPr/>
          <p:nvPr/>
        </p:nvSpPr>
        <p:spPr>
          <a:xfrm>
            <a:off x="822960" y="3749040"/>
            <a:ext cx="3291840" cy="640080"/>
          </a:xfrm>
          <a:prstGeom prst="roundRect">
            <a:avLst>
              <a:gd name="adj" fmla="val 50000"/>
            </a:avLst>
          </a:prstGeom>
          <a:solidFill>
            <a:srgbClr val="D9534F"/>
          </a:solidFill>
          <a:ln/>
        </p:spPr>
      </p:sp>
      <p:sp>
        <p:nvSpPr>
          <p:cNvPr id="8" name="Text 6"/>
          <p:cNvSpPr txBox="1"/>
          <p:nvPr/>
        </p:nvSpPr>
        <p:spPr>
          <a:xfrm>
            <a:off x="822960" y="3749040"/>
            <a:ext cx="3291840" cy="64008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  Leistungskontrolle</a:t>
            </a:r>
            <a:endParaRPr lang="en-US" sz="2000" dirty="0"/>
          </a:p>
        </p:txBody>
      </p:sp>
      <p:sp>
        <p:nvSpPr>
          <p:cNvPr id="9" name="Shape 7"/>
          <p:cNvSpPr/>
          <p:nvPr/>
        </p:nvSpPr>
        <p:spPr>
          <a:xfrm>
            <a:off x="4389120" y="3749040"/>
            <a:ext cx="3291840" cy="640080"/>
          </a:xfrm>
          <a:prstGeom prst="roundRect">
            <a:avLst>
              <a:gd name="adj" fmla="val 50000"/>
            </a:avLst>
          </a:prstGeom>
          <a:solidFill>
            <a:srgbClr val="3F7CC4"/>
          </a:solidFill>
          <a:ln/>
        </p:spPr>
      </p:sp>
      <p:sp>
        <p:nvSpPr>
          <p:cNvPr id="10" name="Text 8"/>
          <p:cNvSpPr txBox="1"/>
          <p:nvPr/>
        </p:nvSpPr>
        <p:spPr>
          <a:xfrm>
            <a:off x="4389120" y="3749040"/>
            <a:ext cx="3291840" cy="64008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2  Mündliche Noten</a:t>
            </a:r>
            <a:endParaRPr lang="en-US" sz="2000" dirty="0"/>
          </a:p>
        </p:txBody>
      </p:sp>
      <p:sp>
        <p:nvSpPr>
          <p:cNvPr id="11" name="Shape 9"/>
          <p:cNvSpPr/>
          <p:nvPr/>
        </p:nvSpPr>
        <p:spPr>
          <a:xfrm>
            <a:off x="7955280" y="3749040"/>
            <a:ext cx="3291840" cy="640080"/>
          </a:xfrm>
          <a:prstGeom prst="roundRect">
            <a:avLst>
              <a:gd name="adj" fmla="val 50000"/>
            </a:avLst>
          </a:prstGeom>
          <a:solidFill>
            <a:srgbClr val="2E9E6B"/>
          </a:solidFill>
          <a:ln/>
        </p:spPr>
      </p:sp>
      <p:sp>
        <p:nvSpPr>
          <p:cNvPr id="12" name="Text 10"/>
          <p:cNvSpPr txBox="1"/>
          <p:nvPr/>
        </p:nvSpPr>
        <p:spPr>
          <a:xfrm>
            <a:off x="7955280" y="3749040"/>
            <a:ext cx="3291840" cy="64008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3  Paddy Fingal</a:t>
            </a:r>
            <a:endParaRPr lang="en-US" sz="2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8229600" cy="274320"/>
          </a:xfrm>
          <a:prstGeom prst="rect">
            <a:avLst/>
          </a:prstGeom>
          <a:noFill/>
          <a:ln/>
        </p:spPr>
        <p:txBody>
          <a:bodyPr wrap="square" lIns="0" tIns="0" rIns="0" bIns="0" rtlCol="0" anchor="t"/>
          <a:lstStyle/>
          <a:p>
            <a:pPr indent="0" marL="0">
              <a:buNone/>
            </a:pPr>
            <a:r>
              <a:rPr lang="en-US" sz="1200" spc="200" kern="0" dirty="0">
                <a:solidFill>
                  <a:srgbClr val="5B6B8C"/>
                </a:solidFill>
                <a:latin typeface="Calibri" pitchFamily="34" charset="0"/>
                <a:ea typeface="Calibri" pitchFamily="34" charset="-122"/>
                <a:cs typeface="Calibri" pitchFamily="34" charset="-120"/>
              </a:rPr>
              <a:t>ÜBERBLICK</a:t>
            </a:r>
            <a:endParaRPr lang="en-US" sz="1200" dirty="0"/>
          </a:p>
        </p:txBody>
      </p:sp>
      <p:sp>
        <p:nvSpPr>
          <p:cNvPr id="3" name="Text 1"/>
          <p:cNvSpPr txBox="1"/>
          <p:nvPr/>
        </p:nvSpPr>
        <p:spPr>
          <a:xfrm>
            <a:off x="548640" y="658368"/>
            <a:ext cx="11064240" cy="640080"/>
          </a:xfrm>
          <a:prstGeom prst="rect">
            <a:avLst/>
          </a:prstGeom>
          <a:noFill/>
          <a:ln/>
        </p:spPr>
        <p:txBody>
          <a:bodyPr wrap="square" lIns="0" tIns="0" rIns="0" bIns="0" rtlCol="0" anchor="t"/>
          <a:lstStyle/>
          <a:p>
            <a:pPr indent="0" marL="0">
              <a:buNone/>
            </a:pPr>
            <a:r>
              <a:rPr lang="en-US" sz="3200" b="1" dirty="0">
                <a:solidFill>
                  <a:srgbClr val="1E2761"/>
                </a:solidFill>
                <a:latin typeface="Cambria" pitchFamily="34" charset="0"/>
                <a:ea typeface="Cambria" pitchFamily="34" charset="-122"/>
                <a:cs typeface="Cambria" pitchFamily="34" charset="-120"/>
              </a:rPr>
              <a:t>Unsere Doppelstunde: Ablauf und Ziele</a:t>
            </a:r>
            <a:endParaRPr lang="en-US" sz="3200" dirty="0"/>
          </a:p>
        </p:txBody>
      </p:sp>
      <p:sp>
        <p:nvSpPr>
          <p:cNvPr id="4" name="Text 2"/>
          <p:cNvSpPr txBox="1"/>
          <p:nvPr/>
        </p:nvSpPr>
        <p:spPr>
          <a:xfrm>
            <a:off x="548640" y="6400800"/>
            <a:ext cx="6400800" cy="228600"/>
          </a:xfrm>
          <a:prstGeom prst="rect">
            <a:avLst/>
          </a:prstGeom>
          <a:noFill/>
          <a:ln/>
        </p:spPr>
        <p:txBody>
          <a:bodyPr wrap="square" lIns="0" tIns="0" rIns="0" bIns="0" rtlCol="0" anchor="t"/>
          <a:lstStyle/>
          <a:p>
            <a:pPr indent="0" marL="0">
              <a:buNone/>
            </a:pPr>
            <a:r>
              <a:rPr lang="en-US" sz="1000" dirty="0">
                <a:solidFill>
                  <a:srgbClr val="5B6B8C"/>
                </a:solidFill>
                <a:latin typeface="Calibri" pitchFamily="34" charset="0"/>
                <a:ea typeface="Calibri" pitchFamily="34" charset="-122"/>
                <a:cs typeface="Calibri" pitchFamily="34" charset="-120"/>
              </a:rPr>
              <a:t>Mittwoch, 14.10. · Deutsch 7A</a:t>
            </a:r>
            <a:endParaRPr lang="en-US" sz="1000" dirty="0"/>
          </a:p>
        </p:txBody>
      </p:sp>
      <p:sp>
        <p:nvSpPr>
          <p:cNvPr id="5" name="Text 3"/>
          <p:cNvSpPr txBox="1"/>
          <p:nvPr/>
        </p:nvSpPr>
        <p:spPr>
          <a:xfrm>
            <a:off x="11155680" y="6400800"/>
            <a:ext cx="457200" cy="228600"/>
          </a:xfrm>
          <a:prstGeom prst="rect">
            <a:avLst/>
          </a:prstGeom>
          <a:noFill/>
          <a:ln/>
        </p:spPr>
        <p:txBody>
          <a:bodyPr wrap="square" lIns="0" tIns="0" rIns="0" bIns="0" rtlCol="0" anchor="t"/>
          <a:lstStyle/>
          <a:p>
            <a:pPr algn="r" indent="0" marL="0">
              <a:buNone/>
            </a:pPr>
            <a:r>
              <a:rPr lang="en-US" sz="1000" dirty="0">
                <a:solidFill>
                  <a:srgbClr val="5B6B8C"/>
                </a:solidFill>
                <a:latin typeface="Calibri" pitchFamily="34" charset="0"/>
                <a:ea typeface="Calibri" pitchFamily="34" charset="-122"/>
                <a:cs typeface="Calibri" pitchFamily="34" charset="-120"/>
              </a:rPr>
              <a:t>2</a:t>
            </a:r>
            <a:endParaRPr lang="en-US" sz="1000" dirty="0"/>
          </a:p>
        </p:txBody>
      </p:sp>
      <p:sp>
        <p:nvSpPr>
          <p:cNvPr id="7" name="Shape 4"/>
          <p:cNvSpPr/>
          <p:nvPr/>
        </p:nvSpPr>
        <p:spPr>
          <a:xfrm>
            <a:off x="548640" y="1554480"/>
            <a:ext cx="11064240" cy="1280160"/>
          </a:xfrm>
          <a:prstGeom prst="roundRect">
            <a:avLst>
              <a:gd name="adj" fmla="val 5714"/>
            </a:avLst>
          </a:prstGeom>
          <a:solidFill>
            <a:srgbClr val="F4F7FD"/>
          </a:solidFill>
          <a:ln/>
        </p:spPr>
      </p:sp>
      <p:sp>
        <p:nvSpPr>
          <p:cNvPr id="8" name="Shape 5"/>
          <p:cNvSpPr/>
          <p:nvPr/>
        </p:nvSpPr>
        <p:spPr>
          <a:xfrm>
            <a:off x="548640" y="1554480"/>
            <a:ext cx="109728" cy="1280160"/>
          </a:xfrm>
          <a:prstGeom prst="rect">
            <a:avLst/>
          </a:prstGeom>
          <a:solidFill>
            <a:srgbClr val="D9534F"/>
          </a:solidFill>
          <a:ln/>
        </p:spPr>
      </p:sp>
      <p:sp>
        <p:nvSpPr>
          <p:cNvPr id="9" name="Shape 6"/>
          <p:cNvSpPr/>
          <p:nvPr/>
        </p:nvSpPr>
        <p:spPr>
          <a:xfrm>
            <a:off x="868680" y="1828800"/>
            <a:ext cx="548640" cy="548640"/>
          </a:xfrm>
          <a:prstGeom prst="ellipse">
            <a:avLst/>
          </a:prstGeom>
          <a:solidFill>
            <a:srgbClr val="D9534F"/>
          </a:solidFill>
          <a:ln/>
        </p:spPr>
      </p:sp>
      <p:sp>
        <p:nvSpPr>
          <p:cNvPr id="10" name="Text 7"/>
          <p:cNvSpPr txBox="1"/>
          <p:nvPr/>
        </p:nvSpPr>
        <p:spPr>
          <a:xfrm>
            <a:off x="868680" y="1828800"/>
            <a:ext cx="548640" cy="548640"/>
          </a:xfrm>
          <a:prstGeom prst="rect">
            <a:avLst/>
          </a:prstGeom>
          <a:noFill/>
          <a:ln/>
        </p:spPr>
        <p:txBody>
          <a:bodyPr wrap="square" lIns="0" tIns="0" rIns="0" bIns="0" rtlCol="0" anchor="ctr"/>
          <a:lstStyle/>
          <a:p>
            <a:pPr algn="ctr" indent="0" marL="0">
              <a:buNone/>
            </a:pPr>
            <a:r>
              <a:rPr lang="en-US" sz="1920" b="1" dirty="0">
                <a:solidFill>
                  <a:srgbClr val="FFFFFF"/>
                </a:solidFill>
                <a:latin typeface="Calibri" pitchFamily="34" charset="0"/>
                <a:ea typeface="Calibri" pitchFamily="34" charset="-122"/>
                <a:cs typeface="Calibri" pitchFamily="34" charset="-120"/>
              </a:rPr>
              <a:t>1</a:t>
            </a:r>
            <a:endParaRPr lang="en-US" sz="1920" dirty="0"/>
          </a:p>
        </p:txBody>
      </p:sp>
      <p:sp>
        <p:nvSpPr>
          <p:cNvPr id="11" name="Text 8"/>
          <p:cNvSpPr txBox="1"/>
          <p:nvPr/>
        </p:nvSpPr>
        <p:spPr>
          <a:xfrm>
            <a:off x="1645920" y="1719072"/>
            <a:ext cx="7772400" cy="457200"/>
          </a:xfrm>
          <a:prstGeom prst="rect">
            <a:avLst/>
          </a:prstGeom>
          <a:noFill/>
          <a:ln/>
        </p:spPr>
        <p:txBody>
          <a:bodyPr wrap="square" lIns="0" tIns="0" rIns="0" bIns="0" rtlCol="0" anchor="t"/>
          <a:lstStyle/>
          <a:p>
            <a:pPr indent="0" marL="0">
              <a:buNone/>
            </a:pPr>
            <a:r>
              <a:rPr lang="en-US" sz="2200" b="1" dirty="0">
                <a:solidFill>
                  <a:srgbClr val="1E2761"/>
                </a:solidFill>
                <a:latin typeface="Cambria" pitchFamily="34" charset="0"/>
                <a:ea typeface="Cambria" pitchFamily="34" charset="-122"/>
                <a:cs typeface="Cambria" pitchFamily="34" charset="-120"/>
              </a:rPr>
              <a:t>Leistungskontrolle Verben</a:t>
            </a:r>
            <a:endParaRPr lang="en-US" sz="2200" dirty="0"/>
          </a:p>
        </p:txBody>
      </p:sp>
      <p:sp>
        <p:nvSpPr>
          <p:cNvPr id="12" name="Text 9"/>
          <p:cNvSpPr txBox="1"/>
          <p:nvPr/>
        </p:nvSpPr>
        <p:spPr>
          <a:xfrm>
            <a:off x="9692640" y="1737360"/>
            <a:ext cx="1737360" cy="365760"/>
          </a:xfrm>
          <a:prstGeom prst="rect">
            <a:avLst/>
          </a:prstGeom>
          <a:noFill/>
          <a:ln/>
        </p:spPr>
        <p:txBody>
          <a:bodyPr wrap="square" lIns="0" tIns="0" rIns="0" bIns="0" rtlCol="0" anchor="t"/>
          <a:lstStyle/>
          <a:p>
            <a:pPr algn="r" indent="0" marL="0">
              <a:buNone/>
            </a:pPr>
            <a:r>
              <a:rPr lang="en-US" sz="1600" b="1" dirty="0">
                <a:solidFill>
                  <a:srgbClr val="D9534F"/>
                </a:solidFill>
                <a:latin typeface="Calibri" pitchFamily="34" charset="0"/>
                <a:ea typeface="Calibri" pitchFamily="34" charset="-122"/>
                <a:cs typeface="Calibri" pitchFamily="34" charset="-120"/>
              </a:rPr>
              <a:t>30 Min.</a:t>
            </a:r>
            <a:endParaRPr lang="en-US" sz="1600" dirty="0"/>
          </a:p>
        </p:txBody>
      </p:sp>
      <p:sp>
        <p:nvSpPr>
          <p:cNvPr id="13" name="Text 10"/>
          <p:cNvSpPr txBox="1"/>
          <p:nvPr/>
        </p:nvSpPr>
        <p:spPr>
          <a:xfrm>
            <a:off x="1645920" y="2194560"/>
            <a:ext cx="9784080" cy="548640"/>
          </a:xfrm>
          <a:prstGeom prst="rect">
            <a:avLst/>
          </a:prstGeom>
          <a:noFill/>
          <a:ln/>
        </p:spPr>
        <p:txBody>
          <a:bodyPr wrap="square" lIns="0" tIns="0" rIns="0" bIns="0" rtlCol="0" anchor="t"/>
          <a:lstStyle/>
          <a:p>
            <a:pPr indent="0" marL="0">
              <a:buNone/>
            </a:pPr>
            <a:r>
              <a:rPr lang="en-US" sz="1600" b="1" dirty="0">
                <a:solidFill>
                  <a:srgbClr val="D9534F"/>
                </a:solidFill>
                <a:latin typeface="Calibri" pitchFamily="34" charset="0"/>
                <a:ea typeface="Calibri" pitchFamily="34" charset="-122"/>
                <a:cs typeface="Calibri" pitchFamily="34" charset="-120"/>
              </a:rPr>
              <a:t>Ziel: </a:t>
            </a:r>
            <a:pPr indent="0" marL="0">
              <a:buNone/>
            </a:pPr>
            <a:r>
              <a:rPr lang="en-US" sz="1600" i="1" dirty="0">
                <a:solidFill>
                  <a:srgbClr val="1E2761"/>
                </a:solidFill>
                <a:latin typeface="Calibri" pitchFamily="34" charset="0"/>
                <a:ea typeface="Calibri" pitchFamily="34" charset="-122"/>
                <a:cs typeface="Calibri" pitchFamily="34" charset="-120"/>
              </a:rPr>
              <a:t>Ich zeige, was ich über Verbformen und Zeitformen kann.</a:t>
            </a:r>
            <a:endParaRPr lang="en-US" sz="1600" dirty="0"/>
          </a:p>
        </p:txBody>
      </p:sp>
      <p:sp>
        <p:nvSpPr>
          <p:cNvPr id="14" name="Shape 11"/>
          <p:cNvSpPr/>
          <p:nvPr/>
        </p:nvSpPr>
        <p:spPr>
          <a:xfrm>
            <a:off x="548640" y="3017520"/>
            <a:ext cx="11064240" cy="1280160"/>
          </a:xfrm>
          <a:prstGeom prst="roundRect">
            <a:avLst>
              <a:gd name="adj" fmla="val 5714"/>
            </a:avLst>
          </a:prstGeom>
          <a:solidFill>
            <a:srgbClr val="F4F7FD"/>
          </a:solidFill>
          <a:ln/>
        </p:spPr>
      </p:sp>
      <p:sp>
        <p:nvSpPr>
          <p:cNvPr id="15" name="Shape 12"/>
          <p:cNvSpPr/>
          <p:nvPr/>
        </p:nvSpPr>
        <p:spPr>
          <a:xfrm>
            <a:off x="548640" y="3017520"/>
            <a:ext cx="109728" cy="1280160"/>
          </a:xfrm>
          <a:prstGeom prst="rect">
            <a:avLst/>
          </a:prstGeom>
          <a:solidFill>
            <a:srgbClr val="3F7CC4"/>
          </a:solidFill>
          <a:ln/>
        </p:spPr>
      </p:sp>
      <p:sp>
        <p:nvSpPr>
          <p:cNvPr id="16" name="Shape 13"/>
          <p:cNvSpPr/>
          <p:nvPr/>
        </p:nvSpPr>
        <p:spPr>
          <a:xfrm>
            <a:off x="868680" y="3291840"/>
            <a:ext cx="548640" cy="548640"/>
          </a:xfrm>
          <a:prstGeom prst="ellipse">
            <a:avLst/>
          </a:prstGeom>
          <a:solidFill>
            <a:srgbClr val="3F7CC4"/>
          </a:solidFill>
          <a:ln/>
        </p:spPr>
      </p:sp>
      <p:sp>
        <p:nvSpPr>
          <p:cNvPr id="17" name="Text 14"/>
          <p:cNvSpPr txBox="1"/>
          <p:nvPr/>
        </p:nvSpPr>
        <p:spPr>
          <a:xfrm>
            <a:off x="868680" y="3291840"/>
            <a:ext cx="548640" cy="548640"/>
          </a:xfrm>
          <a:prstGeom prst="rect">
            <a:avLst/>
          </a:prstGeom>
          <a:noFill/>
          <a:ln/>
        </p:spPr>
        <p:txBody>
          <a:bodyPr wrap="square" lIns="0" tIns="0" rIns="0" bIns="0" rtlCol="0" anchor="ctr"/>
          <a:lstStyle/>
          <a:p>
            <a:pPr algn="ctr" indent="0" marL="0">
              <a:buNone/>
            </a:pPr>
            <a:r>
              <a:rPr lang="en-US" sz="1920" b="1" dirty="0">
                <a:solidFill>
                  <a:srgbClr val="FFFFFF"/>
                </a:solidFill>
                <a:latin typeface="Calibri" pitchFamily="34" charset="0"/>
                <a:ea typeface="Calibri" pitchFamily="34" charset="-122"/>
                <a:cs typeface="Calibri" pitchFamily="34" charset="-120"/>
              </a:rPr>
              <a:t>2</a:t>
            </a:r>
            <a:endParaRPr lang="en-US" sz="1920" dirty="0"/>
          </a:p>
        </p:txBody>
      </p:sp>
      <p:sp>
        <p:nvSpPr>
          <p:cNvPr id="18" name="Text 15"/>
          <p:cNvSpPr txBox="1"/>
          <p:nvPr/>
        </p:nvSpPr>
        <p:spPr>
          <a:xfrm>
            <a:off x="1645920" y="3182112"/>
            <a:ext cx="7772400" cy="457200"/>
          </a:xfrm>
          <a:prstGeom prst="rect">
            <a:avLst/>
          </a:prstGeom>
          <a:noFill/>
          <a:ln/>
        </p:spPr>
        <p:txBody>
          <a:bodyPr wrap="square" lIns="0" tIns="0" rIns="0" bIns="0" rtlCol="0" anchor="t"/>
          <a:lstStyle/>
          <a:p>
            <a:pPr indent="0" marL="0">
              <a:buNone/>
            </a:pPr>
            <a:r>
              <a:rPr lang="en-US" sz="2200" b="1" dirty="0">
                <a:solidFill>
                  <a:srgbClr val="1E2761"/>
                </a:solidFill>
                <a:latin typeface="Cambria" pitchFamily="34" charset="0"/>
                <a:ea typeface="Cambria" pitchFamily="34" charset="-122"/>
                <a:cs typeface="Cambria" pitchFamily="34" charset="-120"/>
              </a:rPr>
              <a:t>Wie entsteht meine mündliche Note?</a:t>
            </a:r>
            <a:endParaRPr lang="en-US" sz="2200" dirty="0"/>
          </a:p>
        </p:txBody>
      </p:sp>
      <p:sp>
        <p:nvSpPr>
          <p:cNvPr id="19" name="Text 16"/>
          <p:cNvSpPr txBox="1"/>
          <p:nvPr/>
        </p:nvSpPr>
        <p:spPr>
          <a:xfrm>
            <a:off x="9692640" y="3200400"/>
            <a:ext cx="1737360" cy="365760"/>
          </a:xfrm>
          <a:prstGeom prst="rect">
            <a:avLst/>
          </a:prstGeom>
          <a:noFill/>
          <a:ln/>
        </p:spPr>
        <p:txBody>
          <a:bodyPr wrap="square" lIns="0" tIns="0" rIns="0" bIns="0" rtlCol="0" anchor="t"/>
          <a:lstStyle/>
          <a:p>
            <a:pPr algn="r" indent="0" marL="0">
              <a:buNone/>
            </a:pPr>
            <a:r>
              <a:rPr lang="en-US" sz="1600" b="1" dirty="0">
                <a:solidFill>
                  <a:srgbClr val="3F7CC4"/>
                </a:solidFill>
                <a:latin typeface="Calibri" pitchFamily="34" charset="0"/>
                <a:ea typeface="Calibri" pitchFamily="34" charset="-122"/>
                <a:cs typeface="Calibri" pitchFamily="34" charset="-120"/>
              </a:rPr>
              <a:t>ca. 15 Min.</a:t>
            </a:r>
            <a:endParaRPr lang="en-US" sz="1600" dirty="0"/>
          </a:p>
        </p:txBody>
      </p:sp>
      <p:sp>
        <p:nvSpPr>
          <p:cNvPr id="20" name="Text 17"/>
          <p:cNvSpPr txBox="1"/>
          <p:nvPr/>
        </p:nvSpPr>
        <p:spPr>
          <a:xfrm>
            <a:off x="1645920" y="3657600"/>
            <a:ext cx="9784080" cy="548640"/>
          </a:xfrm>
          <a:prstGeom prst="rect">
            <a:avLst/>
          </a:prstGeom>
          <a:noFill/>
          <a:ln/>
        </p:spPr>
        <p:txBody>
          <a:bodyPr wrap="square" lIns="0" tIns="0" rIns="0" bIns="0" rtlCol="0" anchor="t"/>
          <a:lstStyle/>
          <a:p>
            <a:pPr indent="0" marL="0">
              <a:buNone/>
            </a:pPr>
            <a:r>
              <a:rPr lang="en-US" sz="1600" b="1" dirty="0">
                <a:solidFill>
                  <a:srgbClr val="3F7CC4"/>
                </a:solidFill>
                <a:latin typeface="Calibri" pitchFamily="34" charset="0"/>
                <a:ea typeface="Calibri" pitchFamily="34" charset="-122"/>
                <a:cs typeface="Calibri" pitchFamily="34" charset="-120"/>
              </a:rPr>
              <a:t>Ziel: </a:t>
            </a:r>
            <a:pPr indent="0" marL="0">
              <a:buNone/>
            </a:pPr>
            <a:r>
              <a:rPr lang="en-US" sz="1600" i="1" dirty="0">
                <a:solidFill>
                  <a:srgbClr val="1E2761"/>
                </a:solidFill>
                <a:latin typeface="Calibri" pitchFamily="34" charset="0"/>
                <a:ea typeface="Calibri" pitchFamily="34" charset="-122"/>
                <a:cs typeface="Calibri" pitchFamily="34" charset="-120"/>
              </a:rPr>
              <a:t>Ich kenne die Kriterien für meine mündliche Note und weiß, wie ich mich verbessern kann.</a:t>
            </a:r>
            <a:endParaRPr lang="en-US" sz="1600" dirty="0"/>
          </a:p>
        </p:txBody>
      </p:sp>
      <p:sp>
        <p:nvSpPr>
          <p:cNvPr id="21" name="Shape 18"/>
          <p:cNvSpPr/>
          <p:nvPr/>
        </p:nvSpPr>
        <p:spPr>
          <a:xfrm>
            <a:off x="548640" y="4480560"/>
            <a:ext cx="11064240" cy="1280160"/>
          </a:xfrm>
          <a:prstGeom prst="roundRect">
            <a:avLst>
              <a:gd name="adj" fmla="val 5714"/>
            </a:avLst>
          </a:prstGeom>
          <a:solidFill>
            <a:srgbClr val="F4F7FD"/>
          </a:solidFill>
          <a:ln/>
        </p:spPr>
      </p:sp>
      <p:sp>
        <p:nvSpPr>
          <p:cNvPr id="22" name="Shape 19"/>
          <p:cNvSpPr/>
          <p:nvPr/>
        </p:nvSpPr>
        <p:spPr>
          <a:xfrm>
            <a:off x="548640" y="4480560"/>
            <a:ext cx="109728" cy="1280160"/>
          </a:xfrm>
          <a:prstGeom prst="rect">
            <a:avLst/>
          </a:prstGeom>
          <a:solidFill>
            <a:srgbClr val="2E9E6B"/>
          </a:solidFill>
          <a:ln/>
        </p:spPr>
      </p:sp>
      <p:sp>
        <p:nvSpPr>
          <p:cNvPr id="23" name="Shape 20"/>
          <p:cNvSpPr/>
          <p:nvPr/>
        </p:nvSpPr>
        <p:spPr>
          <a:xfrm>
            <a:off x="868680" y="4754880"/>
            <a:ext cx="548640" cy="548640"/>
          </a:xfrm>
          <a:prstGeom prst="ellipse">
            <a:avLst/>
          </a:prstGeom>
          <a:solidFill>
            <a:srgbClr val="2E9E6B"/>
          </a:solidFill>
          <a:ln/>
        </p:spPr>
      </p:sp>
      <p:sp>
        <p:nvSpPr>
          <p:cNvPr id="24" name="Text 21"/>
          <p:cNvSpPr txBox="1"/>
          <p:nvPr/>
        </p:nvSpPr>
        <p:spPr>
          <a:xfrm>
            <a:off x="868680" y="4754880"/>
            <a:ext cx="548640" cy="548640"/>
          </a:xfrm>
          <a:prstGeom prst="rect">
            <a:avLst/>
          </a:prstGeom>
          <a:noFill/>
          <a:ln/>
        </p:spPr>
        <p:txBody>
          <a:bodyPr wrap="square" lIns="0" tIns="0" rIns="0" bIns="0" rtlCol="0" anchor="ctr"/>
          <a:lstStyle/>
          <a:p>
            <a:pPr algn="ctr" indent="0" marL="0">
              <a:buNone/>
            </a:pPr>
            <a:r>
              <a:rPr lang="en-US" sz="1920" b="1" dirty="0">
                <a:solidFill>
                  <a:srgbClr val="FFFFFF"/>
                </a:solidFill>
                <a:latin typeface="Calibri" pitchFamily="34" charset="0"/>
                <a:ea typeface="Calibri" pitchFamily="34" charset="-122"/>
                <a:cs typeface="Calibri" pitchFamily="34" charset="-120"/>
              </a:rPr>
              <a:t>3</a:t>
            </a:r>
            <a:endParaRPr lang="en-US" sz="1920" dirty="0"/>
          </a:p>
        </p:txBody>
      </p:sp>
      <p:sp>
        <p:nvSpPr>
          <p:cNvPr id="25" name="Text 22"/>
          <p:cNvSpPr txBox="1"/>
          <p:nvPr/>
        </p:nvSpPr>
        <p:spPr>
          <a:xfrm>
            <a:off x="1645920" y="4645152"/>
            <a:ext cx="7772400" cy="457200"/>
          </a:xfrm>
          <a:prstGeom prst="rect">
            <a:avLst/>
          </a:prstGeom>
          <a:noFill/>
          <a:ln/>
        </p:spPr>
        <p:txBody>
          <a:bodyPr wrap="square" lIns="0" tIns="0" rIns="0" bIns="0" rtlCol="0" anchor="t"/>
          <a:lstStyle/>
          <a:p>
            <a:pPr indent="0" marL="0">
              <a:buNone/>
            </a:pPr>
            <a:r>
              <a:rPr lang="en-US" sz="2200" b="1" dirty="0">
                <a:solidFill>
                  <a:srgbClr val="1E2761"/>
                </a:solidFill>
                <a:latin typeface="Cambria" pitchFamily="34" charset="0"/>
                <a:ea typeface="Cambria" pitchFamily="34" charset="-122"/>
                <a:cs typeface="Cambria" pitchFamily="34" charset="-120"/>
              </a:rPr>
              <a:t>Paddy Fingal – Lesetechniken</a:t>
            </a:r>
            <a:endParaRPr lang="en-US" sz="2200" dirty="0"/>
          </a:p>
        </p:txBody>
      </p:sp>
      <p:sp>
        <p:nvSpPr>
          <p:cNvPr id="26" name="Text 23"/>
          <p:cNvSpPr txBox="1"/>
          <p:nvPr/>
        </p:nvSpPr>
        <p:spPr>
          <a:xfrm>
            <a:off x="9692640" y="4663440"/>
            <a:ext cx="1737360" cy="365760"/>
          </a:xfrm>
          <a:prstGeom prst="rect">
            <a:avLst/>
          </a:prstGeom>
          <a:noFill/>
          <a:ln/>
        </p:spPr>
        <p:txBody>
          <a:bodyPr wrap="square" lIns="0" tIns="0" rIns="0" bIns="0" rtlCol="0" anchor="t"/>
          <a:lstStyle/>
          <a:p>
            <a:pPr algn="r" indent="0" marL="0">
              <a:buNone/>
            </a:pPr>
            <a:r>
              <a:rPr lang="en-US" sz="1600" b="1" dirty="0">
                <a:solidFill>
                  <a:srgbClr val="2E9E6B"/>
                </a:solidFill>
                <a:latin typeface="Calibri" pitchFamily="34" charset="0"/>
                <a:ea typeface="Calibri" pitchFamily="34" charset="-122"/>
                <a:cs typeface="Calibri" pitchFamily="34" charset="-120"/>
              </a:rPr>
              <a:t>45 Min.</a:t>
            </a:r>
            <a:endParaRPr lang="en-US" sz="1600" dirty="0"/>
          </a:p>
        </p:txBody>
      </p:sp>
      <p:sp>
        <p:nvSpPr>
          <p:cNvPr id="27" name="Text 24"/>
          <p:cNvSpPr txBox="1"/>
          <p:nvPr/>
        </p:nvSpPr>
        <p:spPr>
          <a:xfrm>
            <a:off x="1645920" y="5120640"/>
            <a:ext cx="9784080" cy="548640"/>
          </a:xfrm>
          <a:prstGeom prst="rect">
            <a:avLst/>
          </a:prstGeom>
          <a:noFill/>
          <a:ln/>
        </p:spPr>
        <p:txBody>
          <a:bodyPr wrap="square" lIns="0" tIns="0" rIns="0" bIns="0" rtlCol="0" anchor="t"/>
          <a:lstStyle/>
          <a:p>
            <a:pPr indent="0" marL="0">
              <a:buNone/>
            </a:pPr>
            <a:r>
              <a:rPr lang="en-US" sz="1600" b="1" dirty="0">
                <a:solidFill>
                  <a:srgbClr val="2E9E6B"/>
                </a:solidFill>
                <a:latin typeface="Calibri" pitchFamily="34" charset="0"/>
                <a:ea typeface="Calibri" pitchFamily="34" charset="-122"/>
                <a:cs typeface="Calibri" pitchFamily="34" charset="-120"/>
              </a:rPr>
              <a:t>Ziel: </a:t>
            </a:r>
            <a:pPr indent="0" marL="0">
              <a:buNone/>
            </a:pPr>
            <a:r>
              <a:rPr lang="en-US" sz="1600" i="1" dirty="0">
                <a:solidFill>
                  <a:srgbClr val="1E2761"/>
                </a:solidFill>
                <a:latin typeface="Calibri" pitchFamily="34" charset="0"/>
                <a:ea typeface="Calibri" pitchFamily="34" charset="-122"/>
                <a:cs typeface="Calibri" pitchFamily="34" charset="-120"/>
              </a:rPr>
              <a:t>Ich kann je nach Leseziel überfliegend, orientierend oder genau lesen und meinen ersten Eindruck von einer Ballade begründen.</a:t>
            </a:r>
            <a:endParaRPr lang="en-US" sz="1600" dirty="0"/>
          </a:p>
        </p:txBody>
      </p:sp>
      <p:sp>
        <p:nvSpPr>
          <p:cNvPr id="28" name="Text 25"/>
          <p:cNvSpPr txBox="1"/>
          <p:nvPr/>
        </p:nvSpPr>
        <p:spPr>
          <a:xfrm>
            <a:off x="548640" y="5943600"/>
            <a:ext cx="11064240" cy="320040"/>
          </a:xfrm>
          <a:prstGeom prst="rect">
            <a:avLst/>
          </a:prstGeom>
          <a:noFill/>
          <a:ln/>
        </p:spPr>
        <p:txBody>
          <a:bodyPr wrap="square" lIns="0" tIns="0" rIns="0" bIns="0" rtlCol="0" anchor="t"/>
          <a:lstStyle/>
          <a:p>
            <a:pPr indent="0" marL="0">
              <a:buNone/>
            </a:pPr>
            <a:r>
              <a:rPr lang="en-US" sz="1400" i="1" dirty="0">
                <a:solidFill>
                  <a:srgbClr val="5B6B8C"/>
                </a:solidFill>
                <a:latin typeface="Calibri" pitchFamily="34" charset="0"/>
                <a:ea typeface="Calibri" pitchFamily="34" charset="-122"/>
                <a:cs typeface="Calibri" pitchFamily="34" charset="-120"/>
              </a:rPr>
              <a:t>* In Teil 3 kann LB-Aufgabe 1 entfallen, wenn die Zeit nicht reicht.</a:t>
            </a:r>
            <a:endParaRPr lang="en-US" sz="14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1E2761"/>
        </a:solidFill>
      </p:bgPr>
    </p:bg>
    <p:spTree>
      <p:nvGrpSpPr>
        <p:cNvPr id="1" name=""/>
        <p:cNvGrpSpPr/>
        <p:nvPr/>
      </p:nvGrpSpPr>
      <p:grpSpPr>
        <a:xfrm>
          <a:off x="0" y="0"/>
          <a:ext cx="0" cy="0"/>
          <a:chOff x="0" y="0"/>
          <a:chExt cx="0" cy="0"/>
        </a:xfrm>
      </p:grpSpPr>
      <p:sp>
        <p:nvSpPr>
          <p:cNvPr id="2" name="Shape 0"/>
          <p:cNvSpPr/>
          <p:nvPr/>
        </p:nvSpPr>
        <p:spPr>
          <a:xfrm>
            <a:off x="9692640" y="-1463040"/>
            <a:ext cx="4206240" cy="4206240"/>
          </a:xfrm>
          <a:prstGeom prst="ellipse">
            <a:avLst/>
          </a:prstGeom>
          <a:solidFill>
            <a:srgbClr val="24306E"/>
          </a:solidFill>
          <a:ln/>
        </p:spPr>
      </p:sp>
      <p:sp>
        <p:nvSpPr>
          <p:cNvPr id="3" name="Shape 1"/>
          <p:cNvSpPr/>
          <p:nvPr/>
        </p:nvSpPr>
        <p:spPr>
          <a:xfrm>
            <a:off x="-1371600" y="4206240"/>
            <a:ext cx="3657600" cy="3657600"/>
          </a:xfrm>
          <a:prstGeom prst="ellipse">
            <a:avLst/>
          </a:prstGeom>
          <a:solidFill>
            <a:srgbClr val="24306E"/>
          </a:solidFill>
          <a:ln/>
        </p:spPr>
      </p:sp>
      <p:sp>
        <p:nvSpPr>
          <p:cNvPr id="4" name="Shape 2"/>
          <p:cNvSpPr/>
          <p:nvPr/>
        </p:nvSpPr>
        <p:spPr>
          <a:xfrm>
            <a:off x="822960" y="1874520"/>
            <a:ext cx="2011680" cy="384048"/>
          </a:xfrm>
          <a:prstGeom prst="roundRect">
            <a:avLst>
              <a:gd name="adj" fmla="val 50000"/>
            </a:avLst>
          </a:prstGeom>
          <a:solidFill>
            <a:srgbClr val="D9534F"/>
          </a:solidFill>
          <a:ln/>
        </p:spPr>
      </p:sp>
      <p:sp>
        <p:nvSpPr>
          <p:cNvPr id="5" name="Text 3"/>
          <p:cNvSpPr txBox="1"/>
          <p:nvPr/>
        </p:nvSpPr>
        <p:spPr>
          <a:xfrm>
            <a:off x="822960" y="1874520"/>
            <a:ext cx="201168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TEIL 1</a:t>
            </a:r>
            <a:endParaRPr lang="en-US" sz="1200" dirty="0"/>
          </a:p>
        </p:txBody>
      </p:sp>
      <p:sp>
        <p:nvSpPr>
          <p:cNvPr id="6" name="Text 4"/>
          <p:cNvSpPr txBox="1"/>
          <p:nvPr/>
        </p:nvSpPr>
        <p:spPr>
          <a:xfrm>
            <a:off x="822960" y="2423160"/>
            <a:ext cx="10972800" cy="914400"/>
          </a:xfrm>
          <a:prstGeom prst="rect">
            <a:avLst/>
          </a:prstGeom>
          <a:noFill/>
          <a:ln/>
        </p:spPr>
        <p:txBody>
          <a:bodyPr wrap="square" lIns="0" tIns="0" rIns="0" bIns="0" rtlCol="0" anchor="t"/>
          <a:lstStyle/>
          <a:p>
            <a:pPr indent="0" marL="0">
              <a:buNone/>
            </a:pPr>
            <a:r>
              <a:rPr lang="en-US" sz="4000" b="1" dirty="0">
                <a:solidFill>
                  <a:srgbClr val="FFFFFF"/>
                </a:solidFill>
                <a:latin typeface="Cambria" pitchFamily="34" charset="0"/>
                <a:ea typeface="Cambria" pitchFamily="34" charset="-122"/>
                <a:cs typeface="Cambria" pitchFamily="34" charset="-120"/>
              </a:rPr>
              <a:t>Leistungskontrolle Verben</a:t>
            </a:r>
            <a:endParaRPr lang="en-US" sz="4000" dirty="0"/>
          </a:p>
        </p:txBody>
      </p:sp>
      <p:sp>
        <p:nvSpPr>
          <p:cNvPr id="7" name="Text 5"/>
          <p:cNvSpPr txBox="1"/>
          <p:nvPr/>
        </p:nvSpPr>
        <p:spPr>
          <a:xfrm>
            <a:off x="822960" y="3429000"/>
            <a:ext cx="10515600" cy="457200"/>
          </a:xfrm>
          <a:prstGeom prst="rect">
            <a:avLst/>
          </a:prstGeom>
          <a:noFill/>
          <a:ln/>
        </p:spPr>
        <p:txBody>
          <a:bodyPr wrap="square" lIns="0" tIns="0" rIns="0" bIns="0" rtlCol="0" anchor="t"/>
          <a:lstStyle/>
          <a:p>
            <a:pPr indent="0" marL="0">
              <a:buNone/>
            </a:pPr>
            <a:r>
              <a:rPr lang="en-US" sz="2000" i="1" dirty="0">
                <a:solidFill>
                  <a:srgbClr val="CADCFC"/>
                </a:solidFill>
                <a:latin typeface="Calibri" pitchFamily="34" charset="0"/>
                <a:ea typeface="Calibri" pitchFamily="34" charset="-122"/>
                <a:cs typeface="Calibri" pitchFamily="34" charset="-120"/>
              </a:rPr>
              <a:t>Verben und Zeitformen · 30 Minuten · Gruppe A und B</a:t>
            </a:r>
            <a:endParaRPr lang="en-US" sz="2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8229600" cy="274320"/>
          </a:xfrm>
          <a:prstGeom prst="rect">
            <a:avLst/>
          </a:prstGeom>
          <a:noFill/>
          <a:ln/>
        </p:spPr>
        <p:txBody>
          <a:bodyPr wrap="square" lIns="0" tIns="0" rIns="0" bIns="0" rtlCol="0" anchor="t"/>
          <a:lstStyle/>
          <a:p>
            <a:pPr indent="0" marL="0">
              <a:buNone/>
            </a:pPr>
            <a:r>
              <a:rPr lang="en-US" sz="1200" spc="200" kern="0" dirty="0">
                <a:solidFill>
                  <a:srgbClr val="5B6B8C"/>
                </a:solidFill>
                <a:latin typeface="Calibri" pitchFamily="34" charset="0"/>
                <a:ea typeface="Calibri" pitchFamily="34" charset="-122"/>
                <a:cs typeface="Calibri" pitchFamily="34" charset="-120"/>
              </a:rPr>
              <a:t>TEIL 1 · LEISTUNGSKONTROLLE</a:t>
            </a:r>
            <a:endParaRPr lang="en-US" sz="1200" dirty="0"/>
          </a:p>
        </p:txBody>
      </p:sp>
      <p:sp>
        <p:nvSpPr>
          <p:cNvPr id="3" name="Text 1"/>
          <p:cNvSpPr txBox="1"/>
          <p:nvPr/>
        </p:nvSpPr>
        <p:spPr>
          <a:xfrm>
            <a:off x="548640" y="658368"/>
            <a:ext cx="11064240" cy="640080"/>
          </a:xfrm>
          <a:prstGeom prst="rect">
            <a:avLst/>
          </a:prstGeom>
          <a:noFill/>
          <a:ln/>
        </p:spPr>
        <p:txBody>
          <a:bodyPr wrap="square" lIns="0" tIns="0" rIns="0" bIns="0" rtlCol="0" anchor="t"/>
          <a:lstStyle/>
          <a:p>
            <a:pPr indent="0" marL="0">
              <a:buNone/>
            </a:pPr>
            <a:r>
              <a:rPr lang="en-US" sz="3200" b="1" dirty="0">
                <a:solidFill>
                  <a:srgbClr val="1E2761"/>
                </a:solidFill>
                <a:latin typeface="Cambria" pitchFamily="34" charset="0"/>
                <a:ea typeface="Cambria" pitchFamily="34" charset="-122"/>
                <a:cs typeface="Cambria" pitchFamily="34" charset="-120"/>
              </a:rPr>
              <a:t>So läuft die Leistungskontrolle</a:t>
            </a:r>
            <a:endParaRPr lang="en-US" sz="3200" dirty="0"/>
          </a:p>
        </p:txBody>
      </p:sp>
      <p:sp>
        <p:nvSpPr>
          <p:cNvPr id="4" name="Text 2"/>
          <p:cNvSpPr txBox="1"/>
          <p:nvPr/>
        </p:nvSpPr>
        <p:spPr>
          <a:xfrm>
            <a:off x="548640" y="6400800"/>
            <a:ext cx="6400800" cy="228600"/>
          </a:xfrm>
          <a:prstGeom prst="rect">
            <a:avLst/>
          </a:prstGeom>
          <a:noFill/>
          <a:ln/>
        </p:spPr>
        <p:txBody>
          <a:bodyPr wrap="square" lIns="0" tIns="0" rIns="0" bIns="0" rtlCol="0" anchor="t"/>
          <a:lstStyle/>
          <a:p>
            <a:pPr indent="0" marL="0">
              <a:buNone/>
            </a:pPr>
            <a:r>
              <a:rPr lang="en-US" sz="1000" dirty="0">
                <a:solidFill>
                  <a:srgbClr val="5B6B8C"/>
                </a:solidFill>
                <a:latin typeface="Calibri" pitchFamily="34" charset="0"/>
                <a:ea typeface="Calibri" pitchFamily="34" charset="-122"/>
                <a:cs typeface="Calibri" pitchFamily="34" charset="-120"/>
              </a:rPr>
              <a:t>Teil 1 · Leistungskontrolle Verben · Deutsch 7A</a:t>
            </a:r>
            <a:endParaRPr lang="en-US" sz="1000" dirty="0"/>
          </a:p>
        </p:txBody>
      </p:sp>
      <p:sp>
        <p:nvSpPr>
          <p:cNvPr id="5" name="Text 3"/>
          <p:cNvSpPr txBox="1"/>
          <p:nvPr/>
        </p:nvSpPr>
        <p:spPr>
          <a:xfrm>
            <a:off x="11155680" y="6400800"/>
            <a:ext cx="457200" cy="228600"/>
          </a:xfrm>
          <a:prstGeom prst="rect">
            <a:avLst/>
          </a:prstGeom>
          <a:noFill/>
          <a:ln/>
        </p:spPr>
        <p:txBody>
          <a:bodyPr wrap="square" lIns="0" tIns="0" rIns="0" bIns="0" rtlCol="0" anchor="t"/>
          <a:lstStyle/>
          <a:p>
            <a:pPr algn="r" indent="0" marL="0">
              <a:buNone/>
            </a:pPr>
            <a:r>
              <a:rPr lang="en-US" sz="1000" dirty="0">
                <a:solidFill>
                  <a:srgbClr val="5B6B8C"/>
                </a:solidFill>
                <a:latin typeface="Calibri" pitchFamily="34" charset="0"/>
                <a:ea typeface="Calibri" pitchFamily="34" charset="-122"/>
                <a:cs typeface="Calibri" pitchFamily="34" charset="-120"/>
              </a:rPr>
              <a:t>4</a:t>
            </a:r>
            <a:endParaRPr lang="en-US" sz="1000" dirty="0"/>
          </a:p>
        </p:txBody>
      </p:sp>
      <p:sp>
        <p:nvSpPr>
          <p:cNvPr id="7" name="Shape 4"/>
          <p:cNvSpPr/>
          <p:nvPr/>
        </p:nvSpPr>
        <p:spPr>
          <a:xfrm>
            <a:off x="548640" y="1645920"/>
            <a:ext cx="457200" cy="457200"/>
          </a:xfrm>
          <a:prstGeom prst="ellipse">
            <a:avLst/>
          </a:prstGeom>
          <a:solidFill>
            <a:srgbClr val="1E2761"/>
          </a:solidFill>
          <a:ln/>
        </p:spPr>
      </p:sp>
      <p:sp>
        <p:nvSpPr>
          <p:cNvPr id="8" name="Text 5"/>
          <p:cNvSpPr txBox="1"/>
          <p:nvPr/>
        </p:nvSpPr>
        <p:spPr>
          <a:xfrm>
            <a:off x="548640" y="1645920"/>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1</a:t>
            </a:r>
            <a:endParaRPr lang="en-US" sz="1600" dirty="0"/>
          </a:p>
        </p:txBody>
      </p:sp>
      <p:sp>
        <p:nvSpPr>
          <p:cNvPr id="9" name="Text 6"/>
          <p:cNvSpPr txBox="1"/>
          <p:nvPr/>
        </p:nvSpPr>
        <p:spPr>
          <a:xfrm>
            <a:off x="1188720" y="1682496"/>
            <a:ext cx="10332720" cy="731520"/>
          </a:xfrm>
          <a:prstGeom prst="rect">
            <a:avLst/>
          </a:prstGeom>
          <a:noFill/>
          <a:ln/>
        </p:spPr>
        <p:txBody>
          <a:bodyPr wrap="square" lIns="0" tIns="0" rIns="0" bIns="0" rtlCol="0" anchor="t"/>
          <a:lstStyle/>
          <a:p>
            <a:pPr indent="0" marL="0">
              <a:buNone/>
            </a:pPr>
            <a:r>
              <a:rPr lang="en-US" sz="2100" dirty="0">
                <a:solidFill>
                  <a:srgbClr val="1E2761"/>
                </a:solidFill>
                <a:latin typeface="Calibri" pitchFamily="34" charset="0"/>
                <a:ea typeface="Calibri" pitchFamily="34" charset="-122"/>
                <a:cs typeface="Calibri" pitchFamily="34" charset="-120"/>
              </a:rPr>
              <a:t>Schreibe deinen Namen auf das Blatt. Die Gruppe (A oder B) steht schon drauf.</a:t>
            </a:r>
            <a:endParaRPr lang="en-US" sz="2100" dirty="0"/>
          </a:p>
        </p:txBody>
      </p:sp>
      <p:sp>
        <p:nvSpPr>
          <p:cNvPr id="10" name="Shape 7"/>
          <p:cNvSpPr/>
          <p:nvPr/>
        </p:nvSpPr>
        <p:spPr>
          <a:xfrm>
            <a:off x="548640" y="2514600"/>
            <a:ext cx="457200" cy="457200"/>
          </a:xfrm>
          <a:prstGeom prst="ellipse">
            <a:avLst/>
          </a:prstGeom>
          <a:solidFill>
            <a:srgbClr val="1E2761"/>
          </a:solidFill>
          <a:ln/>
        </p:spPr>
      </p:sp>
      <p:sp>
        <p:nvSpPr>
          <p:cNvPr id="11" name="Text 8"/>
          <p:cNvSpPr txBox="1"/>
          <p:nvPr/>
        </p:nvSpPr>
        <p:spPr>
          <a:xfrm>
            <a:off x="548640" y="2514600"/>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2</a:t>
            </a:r>
            <a:endParaRPr lang="en-US" sz="1600" dirty="0"/>
          </a:p>
        </p:txBody>
      </p:sp>
      <p:sp>
        <p:nvSpPr>
          <p:cNvPr id="12" name="Text 9"/>
          <p:cNvSpPr txBox="1"/>
          <p:nvPr/>
        </p:nvSpPr>
        <p:spPr>
          <a:xfrm>
            <a:off x="1188720" y="2551176"/>
            <a:ext cx="10332720" cy="731520"/>
          </a:xfrm>
          <a:prstGeom prst="rect">
            <a:avLst/>
          </a:prstGeom>
          <a:noFill/>
          <a:ln/>
        </p:spPr>
        <p:txBody>
          <a:bodyPr wrap="square" lIns="0" tIns="0" rIns="0" bIns="0" rtlCol="0" anchor="t"/>
          <a:lstStyle/>
          <a:p>
            <a:pPr indent="0" marL="0">
              <a:buNone/>
            </a:pPr>
            <a:r>
              <a:rPr lang="en-US" sz="2100" dirty="0">
                <a:solidFill>
                  <a:srgbClr val="1E2761"/>
                </a:solidFill>
                <a:latin typeface="Calibri" pitchFamily="34" charset="0"/>
                <a:ea typeface="Calibri" pitchFamily="34" charset="-122"/>
                <a:cs typeface="Calibri" pitchFamily="34" charset="-120"/>
              </a:rPr>
              <a:t>Vorderseite: Aufgabe 1 und 2 · Rückseite: Aufgabe 3, 4 und Zusatz.</a:t>
            </a:r>
            <a:endParaRPr lang="en-US" sz="2100" dirty="0"/>
          </a:p>
        </p:txBody>
      </p:sp>
      <p:sp>
        <p:nvSpPr>
          <p:cNvPr id="13" name="Shape 10"/>
          <p:cNvSpPr/>
          <p:nvPr/>
        </p:nvSpPr>
        <p:spPr>
          <a:xfrm>
            <a:off x="548640" y="3383280"/>
            <a:ext cx="457200" cy="457200"/>
          </a:xfrm>
          <a:prstGeom prst="ellipse">
            <a:avLst/>
          </a:prstGeom>
          <a:solidFill>
            <a:srgbClr val="1E2761"/>
          </a:solidFill>
          <a:ln/>
        </p:spPr>
      </p:sp>
      <p:sp>
        <p:nvSpPr>
          <p:cNvPr id="14" name="Text 11"/>
          <p:cNvSpPr txBox="1"/>
          <p:nvPr/>
        </p:nvSpPr>
        <p:spPr>
          <a:xfrm>
            <a:off x="548640" y="3383280"/>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3</a:t>
            </a:r>
            <a:endParaRPr lang="en-US" sz="1600" dirty="0"/>
          </a:p>
        </p:txBody>
      </p:sp>
      <p:sp>
        <p:nvSpPr>
          <p:cNvPr id="15" name="Text 12"/>
          <p:cNvSpPr txBox="1"/>
          <p:nvPr/>
        </p:nvSpPr>
        <p:spPr>
          <a:xfrm>
            <a:off x="1188720" y="3419856"/>
            <a:ext cx="10332720" cy="731520"/>
          </a:xfrm>
          <a:prstGeom prst="rect">
            <a:avLst/>
          </a:prstGeom>
          <a:noFill/>
          <a:ln/>
        </p:spPr>
        <p:txBody>
          <a:bodyPr wrap="square" lIns="0" tIns="0" rIns="0" bIns="0" rtlCol="0" anchor="t"/>
          <a:lstStyle/>
          <a:p>
            <a:pPr indent="0" marL="0">
              <a:buNone/>
            </a:pPr>
            <a:r>
              <a:rPr lang="en-US" sz="2100" dirty="0">
                <a:solidFill>
                  <a:srgbClr val="1E2761"/>
                </a:solidFill>
                <a:latin typeface="Calibri" pitchFamily="34" charset="0"/>
                <a:ea typeface="Calibri" pitchFamily="34" charset="-122"/>
                <a:cs typeface="Calibri" pitchFamily="34" charset="-120"/>
              </a:rPr>
              <a:t>Für Aufgabe 4 brauchst du Rot, Gelb und Blau (ohne Farbstifte: einfach und doppelt unterstreichen).</a:t>
            </a:r>
            <a:endParaRPr lang="en-US" sz="2100" dirty="0"/>
          </a:p>
        </p:txBody>
      </p:sp>
      <p:sp>
        <p:nvSpPr>
          <p:cNvPr id="16" name="Shape 13"/>
          <p:cNvSpPr/>
          <p:nvPr/>
        </p:nvSpPr>
        <p:spPr>
          <a:xfrm>
            <a:off x="548640" y="4251960"/>
            <a:ext cx="457200" cy="457200"/>
          </a:xfrm>
          <a:prstGeom prst="ellipse">
            <a:avLst/>
          </a:prstGeom>
          <a:solidFill>
            <a:srgbClr val="1E2761"/>
          </a:solidFill>
          <a:ln/>
        </p:spPr>
      </p:sp>
      <p:sp>
        <p:nvSpPr>
          <p:cNvPr id="17" name="Text 14"/>
          <p:cNvSpPr txBox="1"/>
          <p:nvPr/>
        </p:nvSpPr>
        <p:spPr>
          <a:xfrm>
            <a:off x="548640" y="4251960"/>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4</a:t>
            </a:r>
            <a:endParaRPr lang="en-US" sz="1600" dirty="0"/>
          </a:p>
        </p:txBody>
      </p:sp>
      <p:sp>
        <p:nvSpPr>
          <p:cNvPr id="18" name="Text 15"/>
          <p:cNvSpPr txBox="1"/>
          <p:nvPr/>
        </p:nvSpPr>
        <p:spPr>
          <a:xfrm>
            <a:off x="1188720" y="4288536"/>
            <a:ext cx="10332720" cy="731520"/>
          </a:xfrm>
          <a:prstGeom prst="rect">
            <a:avLst/>
          </a:prstGeom>
          <a:noFill/>
          <a:ln/>
        </p:spPr>
        <p:txBody>
          <a:bodyPr wrap="square" lIns="0" tIns="0" rIns="0" bIns="0" rtlCol="0" anchor="t"/>
          <a:lstStyle/>
          <a:p>
            <a:pPr indent="0" marL="0">
              <a:buNone/>
            </a:pPr>
            <a:r>
              <a:rPr lang="en-US" sz="2100" dirty="0">
                <a:solidFill>
                  <a:srgbClr val="1E2761"/>
                </a:solidFill>
                <a:latin typeface="Calibri" pitchFamily="34" charset="0"/>
                <a:ea typeface="Calibri" pitchFamily="34" charset="-122"/>
                <a:cs typeface="Calibri" pitchFamily="34" charset="-120"/>
              </a:rPr>
              <a:t>Du arbeitest allein und leise. Zeit: 30 Minuten.</a:t>
            </a:r>
            <a:endParaRPr lang="en-US" sz="2100" dirty="0"/>
          </a:p>
        </p:txBody>
      </p:sp>
      <p:sp>
        <p:nvSpPr>
          <p:cNvPr id="19" name="Shape 16"/>
          <p:cNvSpPr/>
          <p:nvPr/>
        </p:nvSpPr>
        <p:spPr>
          <a:xfrm>
            <a:off x="548640" y="5120640"/>
            <a:ext cx="457200" cy="457200"/>
          </a:xfrm>
          <a:prstGeom prst="ellipse">
            <a:avLst/>
          </a:prstGeom>
          <a:solidFill>
            <a:srgbClr val="1E2761"/>
          </a:solidFill>
          <a:ln/>
        </p:spPr>
      </p:sp>
      <p:sp>
        <p:nvSpPr>
          <p:cNvPr id="20" name="Text 17"/>
          <p:cNvSpPr txBox="1"/>
          <p:nvPr/>
        </p:nvSpPr>
        <p:spPr>
          <a:xfrm>
            <a:off x="548640" y="5120640"/>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5</a:t>
            </a:r>
            <a:endParaRPr lang="en-US" sz="1600" dirty="0"/>
          </a:p>
        </p:txBody>
      </p:sp>
      <p:sp>
        <p:nvSpPr>
          <p:cNvPr id="21" name="Text 18"/>
          <p:cNvSpPr txBox="1"/>
          <p:nvPr/>
        </p:nvSpPr>
        <p:spPr>
          <a:xfrm>
            <a:off x="1188720" y="5157216"/>
            <a:ext cx="10332720" cy="731520"/>
          </a:xfrm>
          <a:prstGeom prst="rect">
            <a:avLst/>
          </a:prstGeom>
          <a:noFill/>
          <a:ln/>
        </p:spPr>
        <p:txBody>
          <a:bodyPr wrap="square" lIns="0" tIns="0" rIns="0" bIns="0" rtlCol="0" anchor="t"/>
          <a:lstStyle/>
          <a:p>
            <a:pPr indent="0" marL="0">
              <a:buNone/>
            </a:pPr>
            <a:r>
              <a:rPr lang="en-US" sz="2100" dirty="0">
                <a:solidFill>
                  <a:srgbClr val="1E2761"/>
                </a:solidFill>
                <a:latin typeface="Calibri" pitchFamily="34" charset="0"/>
                <a:ea typeface="Calibri" pitchFamily="34" charset="-122"/>
                <a:cs typeface="Calibri" pitchFamily="34" charset="-120"/>
              </a:rPr>
              <a:t>Fertig? Lies alles noch einmal durch und prüfe die Hilfsverben. Dann Blatt umdrehen und still lesen.</a:t>
            </a:r>
            <a:endParaRPr lang="en-US" sz="2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011680"/>
            <a:ext cx="11064240" cy="1463040"/>
          </a:xfrm>
          <a:prstGeom prst="rect">
            <a:avLst/>
          </a:prstGeom>
          <a:noFill/>
          <a:ln/>
        </p:spPr>
        <p:txBody>
          <a:bodyPr wrap="square" lIns="0" tIns="0" rIns="0" bIns="0" rtlCol="0" anchor="ctr"/>
          <a:lstStyle/>
          <a:p>
            <a:pPr algn="ctr" indent="0" marL="0">
              <a:buNone/>
            </a:pPr>
            <a:r>
              <a:rPr lang="en-US" sz="7200" b="1" dirty="0">
                <a:solidFill>
                  <a:srgbClr val="D9534F"/>
                </a:solidFill>
                <a:latin typeface="Cambria" pitchFamily="34" charset="0"/>
                <a:ea typeface="Cambria" pitchFamily="34" charset="-122"/>
                <a:cs typeface="Cambria" pitchFamily="34" charset="-120"/>
              </a:rPr>
              <a:t>⏱  30 Minuten</a:t>
            </a:r>
            <a:endParaRPr lang="en-US" sz="7200" dirty="0"/>
          </a:p>
        </p:txBody>
      </p:sp>
      <p:sp>
        <p:nvSpPr>
          <p:cNvPr id="3" name="Text 1"/>
          <p:cNvSpPr txBox="1"/>
          <p:nvPr/>
        </p:nvSpPr>
        <p:spPr>
          <a:xfrm>
            <a:off x="548640" y="3657600"/>
            <a:ext cx="11064240" cy="731520"/>
          </a:xfrm>
          <a:prstGeom prst="rect">
            <a:avLst/>
          </a:prstGeom>
          <a:noFill/>
          <a:ln/>
        </p:spPr>
        <p:txBody>
          <a:bodyPr wrap="square" lIns="0" tIns="0" rIns="0" bIns="0" rtlCol="0" anchor="t"/>
          <a:lstStyle/>
          <a:p>
            <a:pPr algn="ctr" indent="0" marL="0">
              <a:buNone/>
            </a:pPr>
            <a:r>
              <a:rPr lang="en-US" sz="3600" dirty="0">
                <a:solidFill>
                  <a:srgbClr val="1E2761"/>
                </a:solidFill>
                <a:latin typeface="Cambria" pitchFamily="34" charset="0"/>
                <a:ea typeface="Cambria" pitchFamily="34" charset="-122"/>
                <a:cs typeface="Cambria" pitchFamily="34" charset="-120"/>
              </a:rPr>
              <a:t>Viel Erfolg!</a:t>
            </a:r>
            <a:endParaRPr lang="en-US" sz="3600" dirty="0"/>
          </a:p>
        </p:txBody>
      </p:sp>
      <p:sp>
        <p:nvSpPr>
          <p:cNvPr id="4" name="Text 2"/>
          <p:cNvSpPr txBox="1"/>
          <p:nvPr/>
        </p:nvSpPr>
        <p:spPr>
          <a:xfrm>
            <a:off x="548640" y="4754880"/>
            <a:ext cx="11064240" cy="548640"/>
          </a:xfrm>
          <a:prstGeom prst="rect">
            <a:avLst/>
          </a:prstGeom>
          <a:noFill/>
          <a:ln/>
        </p:spPr>
        <p:txBody>
          <a:bodyPr wrap="square" lIns="0" tIns="0" rIns="0" bIns="0" rtlCol="0" anchor="t"/>
          <a:lstStyle/>
          <a:p>
            <a:pPr algn="ctr" indent="0" marL="0">
              <a:buNone/>
            </a:pPr>
            <a:r>
              <a:rPr lang="en-US" sz="2400" dirty="0">
                <a:solidFill>
                  <a:srgbClr val="5B6B8C"/>
                </a:solidFill>
                <a:latin typeface="Calibri" pitchFamily="34" charset="0"/>
                <a:ea typeface="Calibri" pitchFamily="34" charset="-122"/>
                <a:cs typeface="Calibri" pitchFamily="34" charset="-120"/>
              </a:rPr>
              <a:t>Start: ______   Ende: ______</a:t>
            </a:r>
            <a:endParaRPr lang="en-US" sz="24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8229600" cy="274320"/>
          </a:xfrm>
          <a:prstGeom prst="rect">
            <a:avLst/>
          </a:prstGeom>
          <a:noFill/>
          <a:ln/>
        </p:spPr>
        <p:txBody>
          <a:bodyPr wrap="square" lIns="0" tIns="0" rIns="0" bIns="0" rtlCol="0" anchor="t"/>
          <a:lstStyle/>
          <a:p>
            <a:pPr indent="0" marL="0">
              <a:buNone/>
            </a:pPr>
            <a:r>
              <a:rPr lang="en-US" sz="1200" spc="200" kern="0" dirty="0">
                <a:solidFill>
                  <a:srgbClr val="5B6B8C"/>
                </a:solidFill>
                <a:latin typeface="Calibri" pitchFamily="34" charset="0"/>
                <a:ea typeface="Calibri" pitchFamily="34" charset="-122"/>
                <a:cs typeface="Calibri" pitchFamily="34" charset="-120"/>
              </a:rPr>
              <a:t>TEIL 1 · LEISTUNGSKONTROLLE</a:t>
            </a:r>
            <a:endParaRPr lang="en-US" sz="1200" dirty="0"/>
          </a:p>
        </p:txBody>
      </p:sp>
      <p:sp>
        <p:nvSpPr>
          <p:cNvPr id="3" name="Text 1"/>
          <p:cNvSpPr txBox="1"/>
          <p:nvPr/>
        </p:nvSpPr>
        <p:spPr>
          <a:xfrm>
            <a:off x="548640" y="658368"/>
            <a:ext cx="11064240" cy="640080"/>
          </a:xfrm>
          <a:prstGeom prst="rect">
            <a:avLst/>
          </a:prstGeom>
          <a:noFill/>
          <a:ln/>
        </p:spPr>
        <p:txBody>
          <a:bodyPr wrap="square" lIns="0" tIns="0" rIns="0" bIns="0" rtlCol="0" anchor="t"/>
          <a:lstStyle/>
          <a:p>
            <a:pPr indent="0" marL="0">
              <a:buNone/>
            </a:pPr>
            <a:r>
              <a:rPr lang="en-US" sz="3200" b="1" dirty="0">
                <a:solidFill>
                  <a:srgbClr val="1E2761"/>
                </a:solidFill>
                <a:latin typeface="Cambria" pitchFamily="34" charset="0"/>
                <a:ea typeface="Cambria" pitchFamily="34" charset="-122"/>
                <a:cs typeface="Cambria" pitchFamily="34" charset="-120"/>
              </a:rPr>
              <a:t>Stifte hinlegen</a:t>
            </a:r>
            <a:endParaRPr lang="en-US" sz="3200" dirty="0"/>
          </a:p>
        </p:txBody>
      </p:sp>
      <p:sp>
        <p:nvSpPr>
          <p:cNvPr id="4" name="Text 2"/>
          <p:cNvSpPr txBox="1"/>
          <p:nvPr/>
        </p:nvSpPr>
        <p:spPr>
          <a:xfrm>
            <a:off x="548640" y="6400800"/>
            <a:ext cx="6400800" cy="228600"/>
          </a:xfrm>
          <a:prstGeom prst="rect">
            <a:avLst/>
          </a:prstGeom>
          <a:noFill/>
          <a:ln/>
        </p:spPr>
        <p:txBody>
          <a:bodyPr wrap="square" lIns="0" tIns="0" rIns="0" bIns="0" rtlCol="0" anchor="t"/>
          <a:lstStyle/>
          <a:p>
            <a:pPr indent="0" marL="0">
              <a:buNone/>
            </a:pPr>
            <a:r>
              <a:rPr lang="en-US" sz="1000" dirty="0">
                <a:solidFill>
                  <a:srgbClr val="5B6B8C"/>
                </a:solidFill>
                <a:latin typeface="Calibri" pitchFamily="34" charset="0"/>
                <a:ea typeface="Calibri" pitchFamily="34" charset="-122"/>
                <a:cs typeface="Calibri" pitchFamily="34" charset="-120"/>
              </a:rPr>
              <a:t>Teil 1 · Leistungskontrolle Verben · Deutsch 7A</a:t>
            </a:r>
            <a:endParaRPr lang="en-US" sz="1000" dirty="0"/>
          </a:p>
        </p:txBody>
      </p:sp>
      <p:sp>
        <p:nvSpPr>
          <p:cNvPr id="5" name="Text 3"/>
          <p:cNvSpPr txBox="1"/>
          <p:nvPr/>
        </p:nvSpPr>
        <p:spPr>
          <a:xfrm>
            <a:off x="11155680" y="6400800"/>
            <a:ext cx="457200" cy="228600"/>
          </a:xfrm>
          <a:prstGeom prst="rect">
            <a:avLst/>
          </a:prstGeom>
          <a:noFill/>
          <a:ln/>
        </p:spPr>
        <p:txBody>
          <a:bodyPr wrap="square" lIns="0" tIns="0" rIns="0" bIns="0" rtlCol="0" anchor="t"/>
          <a:lstStyle/>
          <a:p>
            <a:pPr algn="r" indent="0" marL="0">
              <a:buNone/>
            </a:pPr>
            <a:r>
              <a:rPr lang="en-US" sz="1000" dirty="0">
                <a:solidFill>
                  <a:srgbClr val="5B6B8C"/>
                </a:solidFill>
                <a:latin typeface="Calibri" pitchFamily="34" charset="0"/>
                <a:ea typeface="Calibri" pitchFamily="34" charset="-122"/>
                <a:cs typeface="Calibri" pitchFamily="34" charset="-120"/>
              </a:rPr>
              <a:t>6</a:t>
            </a:r>
            <a:endParaRPr lang="en-US" sz="1000" dirty="0"/>
          </a:p>
        </p:txBody>
      </p:sp>
      <p:sp>
        <p:nvSpPr>
          <p:cNvPr id="7" name="Text 4"/>
          <p:cNvSpPr txBox="1"/>
          <p:nvPr/>
        </p:nvSpPr>
        <p:spPr>
          <a:xfrm>
            <a:off x="548640" y="2377440"/>
            <a:ext cx="11064240" cy="914400"/>
          </a:xfrm>
          <a:prstGeom prst="rect">
            <a:avLst/>
          </a:prstGeom>
          <a:noFill/>
          <a:ln/>
        </p:spPr>
        <p:txBody>
          <a:bodyPr wrap="square" lIns="0" tIns="0" rIns="0" bIns="0" rtlCol="0" anchor="t"/>
          <a:lstStyle/>
          <a:p>
            <a:pPr algn="ctr" indent="0" marL="0">
              <a:buNone/>
            </a:pPr>
            <a:r>
              <a:rPr lang="en-US" sz="4400" b="1" dirty="0">
                <a:solidFill>
                  <a:srgbClr val="D9534F"/>
                </a:solidFill>
                <a:latin typeface="Cambria" pitchFamily="34" charset="0"/>
                <a:ea typeface="Cambria" pitchFamily="34" charset="-122"/>
                <a:cs typeface="Cambria" pitchFamily="34" charset="-120"/>
              </a:rPr>
              <a:t>Stifte liegen. Ich sammle ein.</a:t>
            </a:r>
            <a:endParaRPr lang="en-US" sz="4400" dirty="0"/>
          </a:p>
        </p:txBody>
      </p:sp>
      <p:sp>
        <p:nvSpPr>
          <p:cNvPr id="8" name="Text 5"/>
          <p:cNvSpPr txBox="1"/>
          <p:nvPr/>
        </p:nvSpPr>
        <p:spPr>
          <a:xfrm>
            <a:off x="548640" y="3657600"/>
            <a:ext cx="11064240" cy="548640"/>
          </a:xfrm>
          <a:prstGeom prst="rect">
            <a:avLst/>
          </a:prstGeom>
          <a:noFill/>
          <a:ln/>
        </p:spPr>
        <p:txBody>
          <a:bodyPr wrap="square" lIns="0" tIns="0" rIns="0" bIns="0" rtlCol="0" anchor="t"/>
          <a:lstStyle/>
          <a:p>
            <a:pPr algn="ctr" indent="0" marL="0">
              <a:buNone/>
            </a:pPr>
            <a:r>
              <a:rPr lang="en-US" sz="2400" dirty="0">
                <a:solidFill>
                  <a:srgbClr val="5B6B8C"/>
                </a:solidFill>
                <a:latin typeface="Calibri" pitchFamily="34" charset="0"/>
                <a:ea typeface="Calibri" pitchFamily="34" charset="-122"/>
                <a:cs typeface="Calibri" pitchFamily="34" charset="-120"/>
              </a:rPr>
              <a:t>Danach: Wie entsteht meine mündliche Note?</a:t>
            </a:r>
            <a:endParaRPr lang="en-US" sz="24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1E2761"/>
        </a:solidFill>
      </p:bgPr>
    </p:bg>
    <p:spTree>
      <p:nvGrpSpPr>
        <p:cNvPr id="1" name=""/>
        <p:cNvGrpSpPr/>
        <p:nvPr/>
      </p:nvGrpSpPr>
      <p:grpSpPr>
        <a:xfrm>
          <a:off x="0" y="0"/>
          <a:ext cx="0" cy="0"/>
          <a:chOff x="0" y="0"/>
          <a:chExt cx="0" cy="0"/>
        </a:xfrm>
      </p:grpSpPr>
      <p:sp>
        <p:nvSpPr>
          <p:cNvPr id="2" name="Shape 0"/>
          <p:cNvSpPr/>
          <p:nvPr/>
        </p:nvSpPr>
        <p:spPr>
          <a:xfrm>
            <a:off x="9692640" y="-1463040"/>
            <a:ext cx="4206240" cy="4206240"/>
          </a:xfrm>
          <a:prstGeom prst="ellipse">
            <a:avLst/>
          </a:prstGeom>
          <a:solidFill>
            <a:srgbClr val="24306E"/>
          </a:solidFill>
          <a:ln/>
        </p:spPr>
      </p:sp>
      <p:sp>
        <p:nvSpPr>
          <p:cNvPr id="3" name="Shape 1"/>
          <p:cNvSpPr/>
          <p:nvPr/>
        </p:nvSpPr>
        <p:spPr>
          <a:xfrm>
            <a:off x="-1371600" y="4206240"/>
            <a:ext cx="3657600" cy="3657600"/>
          </a:xfrm>
          <a:prstGeom prst="ellipse">
            <a:avLst/>
          </a:prstGeom>
          <a:solidFill>
            <a:srgbClr val="24306E"/>
          </a:solidFill>
          <a:ln/>
        </p:spPr>
      </p:sp>
      <p:sp>
        <p:nvSpPr>
          <p:cNvPr id="4" name="Shape 2"/>
          <p:cNvSpPr/>
          <p:nvPr/>
        </p:nvSpPr>
        <p:spPr>
          <a:xfrm>
            <a:off x="822960" y="1874520"/>
            <a:ext cx="2011680" cy="384048"/>
          </a:xfrm>
          <a:prstGeom prst="roundRect">
            <a:avLst>
              <a:gd name="adj" fmla="val 50000"/>
            </a:avLst>
          </a:prstGeom>
          <a:solidFill>
            <a:srgbClr val="3F7CC4"/>
          </a:solidFill>
          <a:ln/>
        </p:spPr>
      </p:sp>
      <p:sp>
        <p:nvSpPr>
          <p:cNvPr id="5" name="Text 3"/>
          <p:cNvSpPr txBox="1"/>
          <p:nvPr/>
        </p:nvSpPr>
        <p:spPr>
          <a:xfrm>
            <a:off x="822960" y="1874520"/>
            <a:ext cx="201168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TEIL 2</a:t>
            </a:r>
            <a:endParaRPr lang="en-US" sz="1200" dirty="0"/>
          </a:p>
        </p:txBody>
      </p:sp>
      <p:sp>
        <p:nvSpPr>
          <p:cNvPr id="6" name="Text 4"/>
          <p:cNvSpPr txBox="1"/>
          <p:nvPr/>
        </p:nvSpPr>
        <p:spPr>
          <a:xfrm>
            <a:off x="822960" y="2423160"/>
            <a:ext cx="10972800" cy="914400"/>
          </a:xfrm>
          <a:prstGeom prst="rect">
            <a:avLst/>
          </a:prstGeom>
          <a:noFill/>
          <a:ln/>
        </p:spPr>
        <p:txBody>
          <a:bodyPr wrap="square" lIns="0" tIns="0" rIns="0" bIns="0" rtlCol="0" anchor="t"/>
          <a:lstStyle/>
          <a:p>
            <a:pPr indent="0" marL="0">
              <a:buNone/>
            </a:pPr>
            <a:r>
              <a:rPr lang="en-US" sz="4000" b="1" dirty="0">
                <a:solidFill>
                  <a:srgbClr val="FFFFFF"/>
                </a:solidFill>
                <a:latin typeface="Cambria" pitchFamily="34" charset="0"/>
                <a:ea typeface="Cambria" pitchFamily="34" charset="-122"/>
                <a:cs typeface="Cambria" pitchFamily="34" charset="-120"/>
              </a:rPr>
              <a:t>Wie entsteht meine mündliche Note?</a:t>
            </a:r>
            <a:endParaRPr lang="en-US" sz="4000" dirty="0"/>
          </a:p>
        </p:txBody>
      </p:sp>
      <p:sp>
        <p:nvSpPr>
          <p:cNvPr id="7" name="Text 5"/>
          <p:cNvSpPr txBox="1"/>
          <p:nvPr/>
        </p:nvSpPr>
        <p:spPr>
          <a:xfrm>
            <a:off x="822960" y="3429000"/>
            <a:ext cx="10515600" cy="457200"/>
          </a:xfrm>
          <a:prstGeom prst="rect">
            <a:avLst/>
          </a:prstGeom>
          <a:noFill/>
          <a:ln/>
        </p:spPr>
        <p:txBody>
          <a:bodyPr wrap="square" lIns="0" tIns="0" rIns="0" bIns="0" rtlCol="0" anchor="t"/>
          <a:lstStyle/>
          <a:p>
            <a:pPr indent="0" marL="0">
              <a:buNone/>
            </a:pPr>
            <a:r>
              <a:rPr lang="en-US" sz="2000" i="1" dirty="0">
                <a:solidFill>
                  <a:srgbClr val="CADCFC"/>
                </a:solidFill>
                <a:latin typeface="Calibri" pitchFamily="34" charset="0"/>
                <a:ea typeface="Calibri" pitchFamily="34" charset="-122"/>
                <a:cs typeface="Calibri" pitchFamily="34" charset="-120"/>
              </a:rPr>
              <a:t>Die Kriterien – und wie du dich verbessern kannst</a:t>
            </a:r>
            <a:endParaRPr lang="en-US" sz="2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8229600" cy="274320"/>
          </a:xfrm>
          <a:prstGeom prst="rect">
            <a:avLst/>
          </a:prstGeom>
          <a:noFill/>
          <a:ln/>
        </p:spPr>
        <p:txBody>
          <a:bodyPr wrap="square" lIns="0" tIns="0" rIns="0" bIns="0" rtlCol="0" anchor="t"/>
          <a:lstStyle/>
          <a:p>
            <a:pPr indent="0" marL="0">
              <a:buNone/>
            </a:pPr>
            <a:r>
              <a:rPr lang="en-US" sz="1200" spc="200" kern="0" dirty="0">
                <a:solidFill>
                  <a:srgbClr val="5B6B8C"/>
                </a:solidFill>
                <a:latin typeface="Calibri" pitchFamily="34" charset="0"/>
                <a:ea typeface="Calibri" pitchFamily="34" charset="-122"/>
                <a:cs typeface="Calibri" pitchFamily="34" charset="-120"/>
              </a:rPr>
              <a:t>WORAUF ICH ACHTE</a:t>
            </a:r>
            <a:endParaRPr lang="en-US" sz="1200" dirty="0"/>
          </a:p>
        </p:txBody>
      </p:sp>
      <p:sp>
        <p:nvSpPr>
          <p:cNvPr id="3" name="Text 1"/>
          <p:cNvSpPr txBox="1"/>
          <p:nvPr/>
        </p:nvSpPr>
        <p:spPr>
          <a:xfrm>
            <a:off x="548640" y="658368"/>
            <a:ext cx="11064240" cy="640080"/>
          </a:xfrm>
          <a:prstGeom prst="rect">
            <a:avLst/>
          </a:prstGeom>
          <a:noFill/>
          <a:ln/>
        </p:spPr>
        <p:txBody>
          <a:bodyPr wrap="square" lIns="0" tIns="0" rIns="0" bIns="0" rtlCol="0" anchor="t"/>
          <a:lstStyle/>
          <a:p>
            <a:pPr indent="0" marL="0">
              <a:buNone/>
            </a:pPr>
            <a:r>
              <a:rPr lang="en-US" sz="3200" b="1" dirty="0">
                <a:solidFill>
                  <a:srgbClr val="1E2761"/>
                </a:solidFill>
                <a:latin typeface="Cambria" pitchFamily="34" charset="0"/>
                <a:ea typeface="Cambria" pitchFamily="34" charset="-122"/>
                <a:cs typeface="Cambria" pitchFamily="34" charset="-120"/>
              </a:rPr>
              <a:t>Zwei Fragen entscheiden über deine Note</a:t>
            </a:r>
            <a:endParaRPr lang="en-US" sz="3200" dirty="0"/>
          </a:p>
        </p:txBody>
      </p:sp>
      <p:sp>
        <p:nvSpPr>
          <p:cNvPr id="4" name="Text 2"/>
          <p:cNvSpPr txBox="1"/>
          <p:nvPr/>
        </p:nvSpPr>
        <p:spPr>
          <a:xfrm>
            <a:off x="548640" y="6400800"/>
            <a:ext cx="6400800" cy="228600"/>
          </a:xfrm>
          <a:prstGeom prst="rect">
            <a:avLst/>
          </a:prstGeom>
          <a:noFill/>
          <a:ln/>
        </p:spPr>
        <p:txBody>
          <a:bodyPr wrap="square" lIns="0" tIns="0" rIns="0" bIns="0" rtlCol="0" anchor="t"/>
          <a:lstStyle/>
          <a:p>
            <a:pPr indent="0" marL="0">
              <a:buNone/>
            </a:pPr>
            <a:r>
              <a:rPr lang="en-US" sz="1000" dirty="0">
                <a:solidFill>
                  <a:srgbClr val="5B6B8C"/>
                </a:solidFill>
                <a:latin typeface="Calibri" pitchFamily="34" charset="0"/>
                <a:ea typeface="Calibri" pitchFamily="34" charset="-122"/>
                <a:cs typeface="Calibri" pitchFamily="34" charset="-120"/>
              </a:rPr>
              <a:t>Teil 2 · Mündliche Noten · Deutsch 7A</a:t>
            </a:r>
            <a:endParaRPr lang="en-US" sz="1000" dirty="0"/>
          </a:p>
        </p:txBody>
      </p:sp>
      <p:sp>
        <p:nvSpPr>
          <p:cNvPr id="5" name="Text 3"/>
          <p:cNvSpPr txBox="1"/>
          <p:nvPr/>
        </p:nvSpPr>
        <p:spPr>
          <a:xfrm>
            <a:off x="11155680" y="6400800"/>
            <a:ext cx="457200" cy="228600"/>
          </a:xfrm>
          <a:prstGeom prst="rect">
            <a:avLst/>
          </a:prstGeom>
          <a:noFill/>
          <a:ln/>
        </p:spPr>
        <p:txBody>
          <a:bodyPr wrap="square" lIns="0" tIns="0" rIns="0" bIns="0" rtlCol="0" anchor="t"/>
          <a:lstStyle/>
          <a:p>
            <a:pPr algn="r" indent="0" marL="0">
              <a:buNone/>
            </a:pPr>
            <a:r>
              <a:rPr lang="en-US" sz="1000" dirty="0">
                <a:solidFill>
                  <a:srgbClr val="5B6B8C"/>
                </a:solidFill>
                <a:latin typeface="Calibri" pitchFamily="34" charset="0"/>
                <a:ea typeface="Calibri" pitchFamily="34" charset="-122"/>
                <a:cs typeface="Calibri" pitchFamily="34" charset="-120"/>
              </a:rPr>
              <a:t>8</a:t>
            </a:r>
            <a:endParaRPr lang="en-US" sz="1000" dirty="0"/>
          </a:p>
        </p:txBody>
      </p:sp>
      <p:sp>
        <p:nvSpPr>
          <p:cNvPr id="7" name="Shape 4"/>
          <p:cNvSpPr/>
          <p:nvPr/>
        </p:nvSpPr>
        <p:spPr>
          <a:xfrm>
            <a:off x="548640" y="1600200"/>
            <a:ext cx="5349240" cy="4480560"/>
          </a:xfrm>
          <a:prstGeom prst="roundRect">
            <a:avLst>
              <a:gd name="adj" fmla="val 1633"/>
            </a:avLst>
          </a:prstGeom>
          <a:solidFill>
            <a:srgbClr val="F4F7FD"/>
          </a:solidFill>
          <a:ln/>
        </p:spPr>
      </p:sp>
      <p:sp>
        <p:nvSpPr>
          <p:cNvPr id="8" name="Shape 5"/>
          <p:cNvSpPr/>
          <p:nvPr/>
        </p:nvSpPr>
        <p:spPr>
          <a:xfrm>
            <a:off x="548640" y="1600200"/>
            <a:ext cx="109728" cy="4480560"/>
          </a:xfrm>
          <a:prstGeom prst="rect">
            <a:avLst/>
          </a:prstGeom>
          <a:solidFill>
            <a:srgbClr val="3F7CC4"/>
          </a:solidFill>
          <a:ln/>
        </p:spPr>
      </p:sp>
      <p:sp>
        <p:nvSpPr>
          <p:cNvPr id="9" name="Text 6"/>
          <p:cNvSpPr txBox="1"/>
          <p:nvPr/>
        </p:nvSpPr>
        <p:spPr>
          <a:xfrm>
            <a:off x="914400" y="1783080"/>
            <a:ext cx="914400" cy="548640"/>
          </a:xfrm>
          <a:prstGeom prst="rect">
            <a:avLst/>
          </a:prstGeom>
          <a:noFill/>
          <a:ln/>
        </p:spPr>
        <p:txBody>
          <a:bodyPr wrap="square" lIns="0" tIns="0" rIns="0" bIns="0" rtlCol="0" anchor="t"/>
          <a:lstStyle/>
          <a:p>
            <a:pPr indent="0" marL="0">
              <a:buNone/>
            </a:pPr>
            <a:r>
              <a:rPr lang="en-US" sz="3600" b="1" dirty="0">
                <a:solidFill>
                  <a:srgbClr val="3F7CC4"/>
                </a:solidFill>
                <a:latin typeface="Cambria" pitchFamily="34" charset="0"/>
                <a:ea typeface="Cambria" pitchFamily="34" charset="-122"/>
                <a:cs typeface="Cambria" pitchFamily="34" charset="-120"/>
              </a:rPr>
              <a:t>1</a:t>
            </a:r>
            <a:endParaRPr lang="en-US" sz="3600" dirty="0"/>
          </a:p>
        </p:txBody>
      </p:sp>
      <p:sp>
        <p:nvSpPr>
          <p:cNvPr id="10" name="Text 7"/>
          <p:cNvSpPr txBox="1"/>
          <p:nvPr/>
        </p:nvSpPr>
        <p:spPr>
          <a:xfrm>
            <a:off x="1645920" y="1828800"/>
            <a:ext cx="4023360" cy="548640"/>
          </a:xfrm>
          <a:prstGeom prst="rect">
            <a:avLst/>
          </a:prstGeom>
          <a:noFill/>
          <a:ln/>
        </p:spPr>
        <p:txBody>
          <a:bodyPr wrap="square" lIns="0" tIns="0" rIns="0" bIns="0" rtlCol="0" anchor="t"/>
          <a:lstStyle/>
          <a:p>
            <a:pPr indent="0" marL="0">
              <a:buNone/>
            </a:pPr>
            <a:r>
              <a:rPr lang="en-US" sz="2400" b="1" dirty="0">
                <a:solidFill>
                  <a:srgbClr val="1E2761"/>
                </a:solidFill>
                <a:latin typeface="Cambria" pitchFamily="34" charset="0"/>
                <a:ea typeface="Cambria" pitchFamily="34" charset="-122"/>
                <a:cs typeface="Cambria" pitchFamily="34" charset="-120"/>
              </a:rPr>
              <a:t>Wie oft?</a:t>
            </a:r>
            <a:endParaRPr lang="en-US" sz="2400" dirty="0"/>
          </a:p>
        </p:txBody>
      </p:sp>
      <p:sp>
        <p:nvSpPr>
          <p:cNvPr id="11" name="Text 8"/>
          <p:cNvSpPr txBox="1"/>
          <p:nvPr/>
        </p:nvSpPr>
        <p:spPr>
          <a:xfrm>
            <a:off x="1645920" y="2377440"/>
            <a:ext cx="4023360" cy="365760"/>
          </a:xfrm>
          <a:prstGeom prst="rect">
            <a:avLst/>
          </a:prstGeom>
          <a:noFill/>
          <a:ln/>
        </p:spPr>
        <p:txBody>
          <a:bodyPr wrap="square" lIns="0" tIns="0" rIns="0" bIns="0" rtlCol="0" anchor="t"/>
          <a:lstStyle/>
          <a:p>
            <a:pPr indent="0" marL="0">
              <a:buNone/>
            </a:pPr>
            <a:r>
              <a:rPr lang="en-US" sz="1400" i="1" dirty="0">
                <a:solidFill>
                  <a:srgbClr val="5B6B8C"/>
                </a:solidFill>
                <a:latin typeface="Calibri" pitchFamily="34" charset="0"/>
                <a:ea typeface="Calibri" pitchFamily="34" charset="-122"/>
                <a:cs typeface="Calibri" pitchFamily="34" charset="-120"/>
              </a:rPr>
              <a:t>Freiwillige Mitarbeit</a:t>
            </a:r>
            <a:endParaRPr lang="en-US" sz="1400" dirty="0"/>
          </a:p>
        </p:txBody>
      </p:sp>
      <p:sp>
        <p:nvSpPr>
          <p:cNvPr id="12" name="Text 9"/>
          <p:cNvSpPr txBox="1"/>
          <p:nvPr/>
        </p:nvSpPr>
        <p:spPr>
          <a:xfrm>
            <a:off x="960120" y="3017520"/>
            <a:ext cx="4754880" cy="731520"/>
          </a:xfrm>
          <a:prstGeom prst="rect">
            <a:avLst/>
          </a:prstGeom>
          <a:noFill/>
          <a:ln/>
        </p:spPr>
        <p:txBody>
          <a:bodyPr wrap="square" lIns="0" tIns="0" rIns="0" bIns="0" rtlCol="0" anchor="t"/>
          <a:lstStyle/>
          <a:p>
            <a:pPr indent="0" marL="0">
              <a:buNone/>
            </a:pPr>
            <a:r>
              <a:rPr lang="en-US" sz="1800" b="1" dirty="0">
                <a:solidFill>
                  <a:srgbClr val="3F7CC4"/>
                </a:solidFill>
                <a:latin typeface="Calibri" pitchFamily="34" charset="0"/>
                <a:ea typeface="Calibri" pitchFamily="34" charset="-122"/>
                <a:cs typeface="Calibri" pitchFamily="34" charset="-120"/>
              </a:rPr>
              <a:t>selten  </a:t>
            </a:r>
            <a:pPr indent="0" marL="0">
              <a:buNone/>
            </a:pPr>
            <a:r>
              <a:rPr lang="en-US" sz="1800" dirty="0">
                <a:solidFill>
                  <a:srgbClr val="1E2761"/>
                </a:solidFill>
                <a:latin typeface="Calibri" pitchFamily="34" charset="0"/>
                <a:ea typeface="Calibri" pitchFamily="34" charset="-122"/>
                <a:cs typeface="Calibri" pitchFamily="34" charset="-120"/>
              </a:rPr>
              <a:t>nur, wenn ich drangenommen werde</a:t>
            </a:r>
            <a:endParaRPr lang="en-US" sz="1800" dirty="0"/>
          </a:p>
        </p:txBody>
      </p:sp>
      <p:sp>
        <p:nvSpPr>
          <p:cNvPr id="13" name="Text 10"/>
          <p:cNvSpPr txBox="1"/>
          <p:nvPr/>
        </p:nvSpPr>
        <p:spPr>
          <a:xfrm>
            <a:off x="960120" y="3794760"/>
            <a:ext cx="4754880" cy="731520"/>
          </a:xfrm>
          <a:prstGeom prst="rect">
            <a:avLst/>
          </a:prstGeom>
          <a:noFill/>
          <a:ln/>
        </p:spPr>
        <p:txBody>
          <a:bodyPr wrap="square" lIns="0" tIns="0" rIns="0" bIns="0" rtlCol="0" anchor="t"/>
          <a:lstStyle/>
          <a:p>
            <a:pPr indent="0" marL="0">
              <a:buNone/>
            </a:pPr>
            <a:r>
              <a:rPr lang="en-US" sz="1800" b="1" dirty="0">
                <a:solidFill>
                  <a:srgbClr val="3F7CC4"/>
                </a:solidFill>
                <a:latin typeface="Calibri" pitchFamily="34" charset="0"/>
                <a:ea typeface="Calibri" pitchFamily="34" charset="-122"/>
                <a:cs typeface="Calibri" pitchFamily="34" charset="-120"/>
              </a:rPr>
              <a:t>gelegentlich  </a:t>
            </a:r>
            <a:pPr indent="0" marL="0">
              <a:buNone/>
            </a:pPr>
            <a:r>
              <a:rPr lang="en-US" sz="1800" dirty="0">
                <a:solidFill>
                  <a:srgbClr val="1E2761"/>
                </a:solidFill>
                <a:latin typeface="Calibri" pitchFamily="34" charset="0"/>
                <a:ea typeface="Calibri" pitchFamily="34" charset="-122"/>
                <a:cs typeface="Calibri" pitchFamily="34" charset="-120"/>
              </a:rPr>
              <a:t>ab und zu von mir aus</a:t>
            </a:r>
            <a:endParaRPr lang="en-US" sz="1800" dirty="0"/>
          </a:p>
        </p:txBody>
      </p:sp>
      <p:sp>
        <p:nvSpPr>
          <p:cNvPr id="14" name="Text 11"/>
          <p:cNvSpPr txBox="1"/>
          <p:nvPr/>
        </p:nvSpPr>
        <p:spPr>
          <a:xfrm>
            <a:off x="960120" y="4572000"/>
            <a:ext cx="4754880" cy="731520"/>
          </a:xfrm>
          <a:prstGeom prst="rect">
            <a:avLst/>
          </a:prstGeom>
          <a:noFill/>
          <a:ln/>
        </p:spPr>
        <p:txBody>
          <a:bodyPr wrap="square" lIns="0" tIns="0" rIns="0" bIns="0" rtlCol="0" anchor="t"/>
          <a:lstStyle/>
          <a:p>
            <a:pPr indent="0" marL="0">
              <a:buNone/>
            </a:pPr>
            <a:r>
              <a:rPr lang="en-US" sz="1800" b="1" dirty="0">
                <a:solidFill>
                  <a:srgbClr val="3F7CC4"/>
                </a:solidFill>
                <a:latin typeface="Calibri" pitchFamily="34" charset="0"/>
                <a:ea typeface="Calibri" pitchFamily="34" charset="-122"/>
                <a:cs typeface="Calibri" pitchFamily="34" charset="-120"/>
              </a:rPr>
              <a:t>regelmäßig  </a:t>
            </a:r>
            <a:pPr indent="0" marL="0">
              <a:buNone/>
            </a:pPr>
            <a:r>
              <a:rPr lang="en-US" sz="1800" dirty="0">
                <a:solidFill>
                  <a:srgbClr val="1E2761"/>
                </a:solidFill>
                <a:latin typeface="Calibri" pitchFamily="34" charset="0"/>
                <a:ea typeface="Calibri" pitchFamily="34" charset="-122"/>
                <a:cs typeface="Calibri" pitchFamily="34" charset="-120"/>
              </a:rPr>
              <a:t>in jeder Stunde von mir aus</a:t>
            </a:r>
            <a:endParaRPr lang="en-US" sz="1800" dirty="0"/>
          </a:p>
        </p:txBody>
      </p:sp>
      <p:sp>
        <p:nvSpPr>
          <p:cNvPr id="15" name="Shape 12"/>
          <p:cNvSpPr/>
          <p:nvPr/>
        </p:nvSpPr>
        <p:spPr>
          <a:xfrm>
            <a:off x="6263640" y="1600200"/>
            <a:ext cx="5349240" cy="4480560"/>
          </a:xfrm>
          <a:prstGeom prst="roundRect">
            <a:avLst>
              <a:gd name="adj" fmla="val 1633"/>
            </a:avLst>
          </a:prstGeom>
          <a:solidFill>
            <a:srgbClr val="F4F7FD"/>
          </a:solidFill>
          <a:ln/>
        </p:spPr>
      </p:sp>
      <p:sp>
        <p:nvSpPr>
          <p:cNvPr id="16" name="Shape 13"/>
          <p:cNvSpPr/>
          <p:nvPr/>
        </p:nvSpPr>
        <p:spPr>
          <a:xfrm>
            <a:off x="6263640" y="1600200"/>
            <a:ext cx="109728" cy="4480560"/>
          </a:xfrm>
          <a:prstGeom prst="rect">
            <a:avLst/>
          </a:prstGeom>
          <a:solidFill>
            <a:srgbClr val="2E9E6B"/>
          </a:solidFill>
          <a:ln/>
        </p:spPr>
      </p:sp>
      <p:sp>
        <p:nvSpPr>
          <p:cNvPr id="17" name="Text 14"/>
          <p:cNvSpPr txBox="1"/>
          <p:nvPr/>
        </p:nvSpPr>
        <p:spPr>
          <a:xfrm>
            <a:off x="6629400" y="1783080"/>
            <a:ext cx="914400" cy="548640"/>
          </a:xfrm>
          <a:prstGeom prst="rect">
            <a:avLst/>
          </a:prstGeom>
          <a:noFill/>
          <a:ln/>
        </p:spPr>
        <p:txBody>
          <a:bodyPr wrap="square" lIns="0" tIns="0" rIns="0" bIns="0" rtlCol="0" anchor="t"/>
          <a:lstStyle/>
          <a:p>
            <a:pPr indent="0" marL="0">
              <a:buNone/>
            </a:pPr>
            <a:r>
              <a:rPr lang="en-US" sz="3600" b="1" dirty="0">
                <a:solidFill>
                  <a:srgbClr val="2E9E6B"/>
                </a:solidFill>
                <a:latin typeface="Cambria" pitchFamily="34" charset="0"/>
                <a:ea typeface="Cambria" pitchFamily="34" charset="-122"/>
                <a:cs typeface="Cambria" pitchFamily="34" charset="-120"/>
              </a:rPr>
              <a:t>2</a:t>
            </a:r>
            <a:endParaRPr lang="en-US" sz="3600" dirty="0"/>
          </a:p>
        </p:txBody>
      </p:sp>
      <p:sp>
        <p:nvSpPr>
          <p:cNvPr id="18" name="Text 15"/>
          <p:cNvSpPr txBox="1"/>
          <p:nvPr/>
        </p:nvSpPr>
        <p:spPr>
          <a:xfrm>
            <a:off x="7360920" y="1828800"/>
            <a:ext cx="4023360" cy="548640"/>
          </a:xfrm>
          <a:prstGeom prst="rect">
            <a:avLst/>
          </a:prstGeom>
          <a:noFill/>
          <a:ln/>
        </p:spPr>
        <p:txBody>
          <a:bodyPr wrap="square" lIns="0" tIns="0" rIns="0" bIns="0" rtlCol="0" anchor="t"/>
          <a:lstStyle/>
          <a:p>
            <a:pPr indent="0" marL="0">
              <a:buNone/>
            </a:pPr>
            <a:r>
              <a:rPr lang="en-US" sz="2400" b="1" dirty="0">
                <a:solidFill>
                  <a:srgbClr val="1E2761"/>
                </a:solidFill>
                <a:latin typeface="Cambria" pitchFamily="34" charset="0"/>
                <a:ea typeface="Cambria" pitchFamily="34" charset="-122"/>
                <a:cs typeface="Cambria" pitchFamily="34" charset="-120"/>
              </a:rPr>
              <a:t>Wie gut?</a:t>
            </a:r>
            <a:endParaRPr lang="en-US" sz="2400" dirty="0"/>
          </a:p>
        </p:txBody>
      </p:sp>
      <p:sp>
        <p:nvSpPr>
          <p:cNvPr id="19" name="Text 16"/>
          <p:cNvSpPr txBox="1"/>
          <p:nvPr/>
        </p:nvSpPr>
        <p:spPr>
          <a:xfrm>
            <a:off x="7360920" y="2377440"/>
            <a:ext cx="4023360" cy="365760"/>
          </a:xfrm>
          <a:prstGeom prst="rect">
            <a:avLst/>
          </a:prstGeom>
          <a:noFill/>
          <a:ln/>
        </p:spPr>
        <p:txBody>
          <a:bodyPr wrap="square" lIns="0" tIns="0" rIns="0" bIns="0" rtlCol="0" anchor="t"/>
          <a:lstStyle/>
          <a:p>
            <a:pPr indent="0" marL="0">
              <a:buNone/>
            </a:pPr>
            <a:r>
              <a:rPr lang="en-US" sz="1400" i="1" dirty="0">
                <a:solidFill>
                  <a:srgbClr val="5B6B8C"/>
                </a:solidFill>
                <a:latin typeface="Calibri" pitchFamily="34" charset="0"/>
                <a:ea typeface="Calibri" pitchFamily="34" charset="-122"/>
                <a:cs typeface="Calibri" pitchFamily="34" charset="-120"/>
              </a:rPr>
              <a:t>Qualität der Beiträge</a:t>
            </a:r>
            <a:endParaRPr lang="en-US" sz="1400" dirty="0"/>
          </a:p>
        </p:txBody>
      </p:sp>
      <p:sp>
        <p:nvSpPr>
          <p:cNvPr id="20" name="Text 17"/>
          <p:cNvSpPr txBox="1"/>
          <p:nvPr/>
        </p:nvSpPr>
        <p:spPr>
          <a:xfrm>
            <a:off x="6675120" y="3017520"/>
            <a:ext cx="4754880" cy="731520"/>
          </a:xfrm>
          <a:prstGeom prst="rect">
            <a:avLst/>
          </a:prstGeom>
          <a:noFill/>
          <a:ln/>
        </p:spPr>
        <p:txBody>
          <a:bodyPr wrap="square" lIns="0" tIns="0" rIns="0" bIns="0" rtlCol="0" anchor="t"/>
          <a:lstStyle/>
          <a:p>
            <a:pPr indent="0" marL="0">
              <a:buNone/>
            </a:pPr>
            <a:r>
              <a:rPr lang="en-US" sz="1800" b="1" dirty="0">
                <a:solidFill>
                  <a:srgbClr val="2E9E6B"/>
                </a:solidFill>
                <a:latin typeface="Calibri" pitchFamily="34" charset="0"/>
                <a:ea typeface="Calibri" pitchFamily="34" charset="-122"/>
                <a:cs typeface="Calibri" pitchFamily="34" charset="-120"/>
              </a:rPr>
              <a:t>wiedergeben  </a:t>
            </a:r>
            <a:pPr indent="0" marL="0">
              <a:buNone/>
            </a:pPr>
            <a:r>
              <a:rPr lang="en-US" sz="1800" dirty="0">
                <a:solidFill>
                  <a:srgbClr val="1E2761"/>
                </a:solidFill>
                <a:latin typeface="Calibri" pitchFamily="34" charset="0"/>
                <a:ea typeface="Calibri" pitchFamily="34" charset="-122"/>
                <a:cs typeface="Calibri" pitchFamily="34" charset="-120"/>
              </a:rPr>
              <a:t>einfache Fakten aus der Stunde</a:t>
            </a:r>
            <a:endParaRPr lang="en-US" sz="1800" dirty="0"/>
          </a:p>
        </p:txBody>
      </p:sp>
      <p:sp>
        <p:nvSpPr>
          <p:cNvPr id="21" name="Text 18"/>
          <p:cNvSpPr txBox="1"/>
          <p:nvPr/>
        </p:nvSpPr>
        <p:spPr>
          <a:xfrm>
            <a:off x="6675120" y="3794760"/>
            <a:ext cx="4754880" cy="731520"/>
          </a:xfrm>
          <a:prstGeom prst="rect">
            <a:avLst/>
          </a:prstGeom>
          <a:noFill/>
          <a:ln/>
        </p:spPr>
        <p:txBody>
          <a:bodyPr wrap="square" lIns="0" tIns="0" rIns="0" bIns="0" rtlCol="0" anchor="t"/>
          <a:lstStyle/>
          <a:p>
            <a:pPr indent="0" marL="0">
              <a:buNone/>
            </a:pPr>
            <a:r>
              <a:rPr lang="en-US" sz="1800" b="1" dirty="0">
                <a:solidFill>
                  <a:srgbClr val="2E9E6B"/>
                </a:solidFill>
                <a:latin typeface="Calibri" pitchFamily="34" charset="0"/>
                <a:ea typeface="Calibri" pitchFamily="34" charset="-122"/>
                <a:cs typeface="Calibri" pitchFamily="34" charset="-120"/>
              </a:rPr>
              <a:t>verknüpfen  </a:t>
            </a:r>
            <a:pPr indent="0" marL="0">
              <a:buNone/>
            </a:pPr>
            <a:r>
              <a:rPr lang="en-US" sz="1800" dirty="0">
                <a:solidFill>
                  <a:srgbClr val="1E2761"/>
                </a:solidFill>
                <a:latin typeface="Calibri" pitchFamily="34" charset="0"/>
                <a:ea typeface="Calibri" pitchFamily="34" charset="-122"/>
                <a:cs typeface="Calibri" pitchFamily="34" charset="-120"/>
              </a:rPr>
              <a:t>mit dem, was wir vorher gelernt haben</a:t>
            </a:r>
            <a:endParaRPr lang="en-US" sz="1800" dirty="0"/>
          </a:p>
        </p:txBody>
      </p:sp>
      <p:sp>
        <p:nvSpPr>
          <p:cNvPr id="22" name="Text 19"/>
          <p:cNvSpPr txBox="1"/>
          <p:nvPr/>
        </p:nvSpPr>
        <p:spPr>
          <a:xfrm>
            <a:off x="6675120" y="4572000"/>
            <a:ext cx="4754880" cy="731520"/>
          </a:xfrm>
          <a:prstGeom prst="rect">
            <a:avLst/>
          </a:prstGeom>
          <a:noFill/>
          <a:ln/>
        </p:spPr>
        <p:txBody>
          <a:bodyPr wrap="square" lIns="0" tIns="0" rIns="0" bIns="0" rtlCol="0" anchor="t"/>
          <a:lstStyle/>
          <a:p>
            <a:pPr indent="0" marL="0">
              <a:buNone/>
            </a:pPr>
            <a:r>
              <a:rPr lang="en-US" sz="1800" b="1" dirty="0">
                <a:solidFill>
                  <a:srgbClr val="2E9E6B"/>
                </a:solidFill>
                <a:latin typeface="Calibri" pitchFamily="34" charset="0"/>
                <a:ea typeface="Calibri" pitchFamily="34" charset="-122"/>
                <a:cs typeface="Calibri" pitchFamily="34" charset="-120"/>
              </a:rPr>
              <a:t>verstehen und einordnen  </a:t>
            </a:r>
            <a:pPr indent="0" marL="0">
              <a:buNone/>
            </a:pPr>
            <a:r>
              <a:rPr lang="en-US" sz="1800" dirty="0">
                <a:solidFill>
                  <a:srgbClr val="1E2761"/>
                </a:solidFill>
                <a:latin typeface="Calibri" pitchFamily="34" charset="0"/>
                <a:ea typeface="Calibri" pitchFamily="34" charset="-122"/>
                <a:cs typeface="Calibri" pitchFamily="34" charset="-120"/>
              </a:rPr>
              <a:t>auch Schwieriges, Wichtiges erkennen</a:t>
            </a:r>
            <a:endParaRPr lang="en-US" sz="1800" dirty="0"/>
          </a:p>
        </p:txBody>
      </p:sp>
      <p:sp>
        <p:nvSpPr>
          <p:cNvPr id="23" name="Text 20"/>
          <p:cNvSpPr txBox="1"/>
          <p:nvPr/>
        </p:nvSpPr>
        <p:spPr>
          <a:xfrm>
            <a:off x="6675120" y="5349240"/>
            <a:ext cx="4754880" cy="731520"/>
          </a:xfrm>
          <a:prstGeom prst="rect">
            <a:avLst/>
          </a:prstGeom>
          <a:noFill/>
          <a:ln/>
        </p:spPr>
        <p:txBody>
          <a:bodyPr wrap="square" lIns="0" tIns="0" rIns="0" bIns="0" rtlCol="0" anchor="t"/>
          <a:lstStyle/>
          <a:p>
            <a:pPr indent="0" marL="0">
              <a:buNone/>
            </a:pPr>
            <a:r>
              <a:rPr lang="en-US" sz="1800" b="1" dirty="0">
                <a:solidFill>
                  <a:srgbClr val="2E9E6B"/>
                </a:solidFill>
                <a:latin typeface="Calibri" pitchFamily="34" charset="0"/>
                <a:ea typeface="Calibri" pitchFamily="34" charset="-122"/>
                <a:cs typeface="Calibri" pitchFamily="34" charset="-120"/>
              </a:rPr>
              <a:t>eigene Gedanken  </a:t>
            </a:r>
            <a:pPr indent="0" marL="0">
              <a:buNone/>
            </a:pPr>
            <a:r>
              <a:rPr lang="en-US" sz="1800" dirty="0">
                <a:solidFill>
                  <a:srgbClr val="1E2761"/>
                </a:solidFill>
                <a:latin typeface="Calibri" pitchFamily="34" charset="0"/>
                <a:ea typeface="Calibri" pitchFamily="34" charset="-122"/>
                <a:cs typeface="Calibri" pitchFamily="34" charset="-120"/>
              </a:rPr>
              <a:t>begründet, klar, mit Fachbegriffen</a:t>
            </a:r>
            <a:endParaRPr lang="en-US" sz="18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8229600" cy="274320"/>
          </a:xfrm>
          <a:prstGeom prst="rect">
            <a:avLst/>
          </a:prstGeom>
          <a:noFill/>
          <a:ln/>
        </p:spPr>
        <p:txBody>
          <a:bodyPr wrap="square" lIns="0" tIns="0" rIns="0" bIns="0" rtlCol="0" anchor="t"/>
          <a:lstStyle/>
          <a:p>
            <a:pPr indent="0" marL="0">
              <a:buNone/>
            </a:pPr>
            <a:r>
              <a:rPr lang="en-US" sz="1200" spc="200" kern="0" dirty="0">
                <a:solidFill>
                  <a:srgbClr val="5B6B8C"/>
                </a:solidFill>
                <a:latin typeface="Calibri" pitchFamily="34" charset="0"/>
                <a:ea typeface="Calibri" pitchFamily="34" charset="-122"/>
                <a:cs typeface="Calibri" pitchFamily="34" charset="-120"/>
              </a:rPr>
              <a:t>ÜBERBLICK</a:t>
            </a:r>
            <a:endParaRPr lang="en-US" sz="1200" dirty="0"/>
          </a:p>
        </p:txBody>
      </p:sp>
      <p:sp>
        <p:nvSpPr>
          <p:cNvPr id="3" name="Text 1"/>
          <p:cNvSpPr txBox="1"/>
          <p:nvPr/>
        </p:nvSpPr>
        <p:spPr>
          <a:xfrm>
            <a:off x="548640" y="658368"/>
            <a:ext cx="11064240" cy="640080"/>
          </a:xfrm>
          <a:prstGeom prst="rect">
            <a:avLst/>
          </a:prstGeom>
          <a:noFill/>
          <a:ln/>
        </p:spPr>
        <p:txBody>
          <a:bodyPr wrap="square" lIns="0" tIns="0" rIns="0" bIns="0" rtlCol="0" anchor="t"/>
          <a:lstStyle/>
          <a:p>
            <a:pPr indent="0" marL="0">
              <a:buNone/>
            </a:pPr>
            <a:r>
              <a:rPr lang="en-US" sz="3200" b="1" dirty="0">
                <a:solidFill>
                  <a:srgbClr val="1E2761"/>
                </a:solidFill>
                <a:latin typeface="Cambria" pitchFamily="34" charset="0"/>
                <a:ea typeface="Cambria" pitchFamily="34" charset="-122"/>
                <a:cs typeface="Cambria" pitchFamily="34" charset="-120"/>
              </a:rPr>
              <a:t>Die Notentreppe</a:t>
            </a:r>
            <a:endParaRPr lang="en-US" sz="3200" dirty="0"/>
          </a:p>
        </p:txBody>
      </p:sp>
      <p:sp>
        <p:nvSpPr>
          <p:cNvPr id="4" name="Text 2"/>
          <p:cNvSpPr txBox="1"/>
          <p:nvPr/>
        </p:nvSpPr>
        <p:spPr>
          <a:xfrm>
            <a:off x="548640" y="6400800"/>
            <a:ext cx="6400800" cy="228600"/>
          </a:xfrm>
          <a:prstGeom prst="rect">
            <a:avLst/>
          </a:prstGeom>
          <a:noFill/>
          <a:ln/>
        </p:spPr>
        <p:txBody>
          <a:bodyPr wrap="square" lIns="0" tIns="0" rIns="0" bIns="0" rtlCol="0" anchor="t"/>
          <a:lstStyle/>
          <a:p>
            <a:pPr indent="0" marL="0">
              <a:buNone/>
            </a:pPr>
            <a:r>
              <a:rPr lang="en-US" sz="1000" dirty="0">
                <a:solidFill>
                  <a:srgbClr val="5B6B8C"/>
                </a:solidFill>
                <a:latin typeface="Calibri" pitchFamily="34" charset="0"/>
                <a:ea typeface="Calibri" pitchFamily="34" charset="-122"/>
                <a:cs typeface="Calibri" pitchFamily="34" charset="-120"/>
              </a:rPr>
              <a:t>Teil 2 · Mündliche Noten · Deutsch 7A</a:t>
            </a:r>
            <a:endParaRPr lang="en-US" sz="1000" dirty="0"/>
          </a:p>
        </p:txBody>
      </p:sp>
      <p:sp>
        <p:nvSpPr>
          <p:cNvPr id="5" name="Text 3"/>
          <p:cNvSpPr txBox="1"/>
          <p:nvPr/>
        </p:nvSpPr>
        <p:spPr>
          <a:xfrm>
            <a:off x="11155680" y="6400800"/>
            <a:ext cx="457200" cy="228600"/>
          </a:xfrm>
          <a:prstGeom prst="rect">
            <a:avLst/>
          </a:prstGeom>
          <a:noFill/>
          <a:ln/>
        </p:spPr>
        <p:txBody>
          <a:bodyPr wrap="square" lIns="0" tIns="0" rIns="0" bIns="0" rtlCol="0" anchor="t"/>
          <a:lstStyle/>
          <a:p>
            <a:pPr algn="r" indent="0" marL="0">
              <a:buNone/>
            </a:pPr>
            <a:r>
              <a:rPr lang="en-US" sz="1000" dirty="0">
                <a:solidFill>
                  <a:srgbClr val="5B6B8C"/>
                </a:solidFill>
                <a:latin typeface="Calibri" pitchFamily="34" charset="0"/>
                <a:ea typeface="Calibri" pitchFamily="34" charset="-122"/>
                <a:cs typeface="Calibri" pitchFamily="34" charset="-120"/>
              </a:rPr>
              <a:t>9</a:t>
            </a:r>
            <a:endParaRPr lang="en-US" sz="1000" dirty="0"/>
          </a:p>
        </p:txBody>
      </p:sp>
      <p:sp>
        <p:nvSpPr>
          <p:cNvPr id="7" name="Shape 4"/>
          <p:cNvSpPr/>
          <p:nvPr/>
        </p:nvSpPr>
        <p:spPr>
          <a:xfrm>
            <a:off x="548640" y="4754880"/>
            <a:ext cx="1828800" cy="1371600"/>
          </a:xfrm>
          <a:prstGeom prst="roundRect">
            <a:avLst>
              <a:gd name="adj" fmla="val 3333"/>
            </a:avLst>
          </a:prstGeom>
          <a:solidFill>
            <a:srgbClr val="D9534F"/>
          </a:solidFill>
          <a:ln/>
        </p:spPr>
      </p:sp>
      <p:sp>
        <p:nvSpPr>
          <p:cNvPr id="8" name="Text 5"/>
          <p:cNvSpPr txBox="1"/>
          <p:nvPr/>
        </p:nvSpPr>
        <p:spPr>
          <a:xfrm>
            <a:off x="548640" y="4828032"/>
            <a:ext cx="1828800" cy="548640"/>
          </a:xfrm>
          <a:prstGeom prst="rect">
            <a:avLst/>
          </a:prstGeom>
          <a:noFill/>
          <a:ln/>
        </p:spPr>
        <p:txBody>
          <a:bodyPr wrap="square" lIns="0" tIns="0" rIns="0" bIns="0" rtlCol="0" anchor="t"/>
          <a:lstStyle/>
          <a:p>
            <a:pPr algn="ctr" indent="0" marL="0">
              <a:buNone/>
            </a:pPr>
            <a:r>
              <a:rPr lang="en-US" sz="3000" b="1" dirty="0">
                <a:solidFill>
                  <a:srgbClr val="FFFFFF"/>
                </a:solidFill>
                <a:latin typeface="Cambria" pitchFamily="34" charset="0"/>
                <a:ea typeface="Cambria" pitchFamily="34" charset="-122"/>
                <a:cs typeface="Cambria" pitchFamily="34" charset="-120"/>
              </a:rPr>
              <a:t>6</a:t>
            </a:r>
            <a:endParaRPr lang="en-US" sz="3000" dirty="0"/>
          </a:p>
        </p:txBody>
      </p:sp>
      <p:sp>
        <p:nvSpPr>
          <p:cNvPr id="9" name="Text 6"/>
          <p:cNvSpPr txBox="1"/>
          <p:nvPr/>
        </p:nvSpPr>
        <p:spPr>
          <a:xfrm>
            <a:off x="640080" y="5394960"/>
            <a:ext cx="1645920" cy="685800"/>
          </a:xfrm>
          <a:prstGeom prst="rect">
            <a:avLst/>
          </a:prstGeom>
          <a:noFill/>
          <a:ln/>
        </p:spPr>
        <p:txBody>
          <a:bodyPr wrap="square" lIns="0" tIns="0" rIns="0" bIns="0" rtlCol="0" anchor="t"/>
          <a:lstStyle/>
          <a:p>
            <a:pPr algn="ctr" indent="0" marL="0">
              <a:buNone/>
            </a:pPr>
            <a:r>
              <a:rPr lang="en-US" sz="1200" dirty="0">
                <a:solidFill>
                  <a:srgbClr val="FFFFFF"/>
                </a:solidFill>
                <a:latin typeface="Calibri" pitchFamily="34" charset="0"/>
                <a:ea typeface="Calibri" pitchFamily="34" charset="-122"/>
                <a:cs typeface="Calibri" pitchFamily="34" charset="-120"/>
              </a:rPr>
              <a:t>keine freiwillige Mitarbeit · Antworten falsch</a:t>
            </a:r>
            <a:endParaRPr lang="en-US" sz="1200" dirty="0"/>
          </a:p>
        </p:txBody>
      </p:sp>
      <p:sp>
        <p:nvSpPr>
          <p:cNvPr id="10" name="Shape 7"/>
          <p:cNvSpPr/>
          <p:nvPr/>
        </p:nvSpPr>
        <p:spPr>
          <a:xfrm>
            <a:off x="2423160" y="4297680"/>
            <a:ext cx="1828800" cy="1828800"/>
          </a:xfrm>
          <a:prstGeom prst="roundRect">
            <a:avLst>
              <a:gd name="adj" fmla="val 2500"/>
            </a:avLst>
          </a:prstGeom>
          <a:solidFill>
            <a:srgbClr val="E07B45"/>
          </a:solidFill>
          <a:ln/>
        </p:spPr>
      </p:sp>
      <p:sp>
        <p:nvSpPr>
          <p:cNvPr id="11" name="Text 8"/>
          <p:cNvSpPr txBox="1"/>
          <p:nvPr/>
        </p:nvSpPr>
        <p:spPr>
          <a:xfrm>
            <a:off x="2423160" y="4370832"/>
            <a:ext cx="1828800" cy="548640"/>
          </a:xfrm>
          <a:prstGeom prst="rect">
            <a:avLst/>
          </a:prstGeom>
          <a:noFill/>
          <a:ln/>
        </p:spPr>
        <p:txBody>
          <a:bodyPr wrap="square" lIns="0" tIns="0" rIns="0" bIns="0" rtlCol="0" anchor="t"/>
          <a:lstStyle/>
          <a:p>
            <a:pPr algn="ctr" indent="0" marL="0">
              <a:buNone/>
            </a:pPr>
            <a:r>
              <a:rPr lang="en-US" sz="3000" b="1" dirty="0">
                <a:solidFill>
                  <a:srgbClr val="FFFFFF"/>
                </a:solidFill>
                <a:latin typeface="Cambria" pitchFamily="34" charset="0"/>
                <a:ea typeface="Cambria" pitchFamily="34" charset="-122"/>
                <a:cs typeface="Cambria" pitchFamily="34" charset="-120"/>
              </a:rPr>
              <a:t>5</a:t>
            </a:r>
            <a:endParaRPr lang="en-US" sz="3000" dirty="0"/>
          </a:p>
        </p:txBody>
      </p:sp>
      <p:sp>
        <p:nvSpPr>
          <p:cNvPr id="12" name="Text 9"/>
          <p:cNvSpPr txBox="1"/>
          <p:nvPr/>
        </p:nvSpPr>
        <p:spPr>
          <a:xfrm>
            <a:off x="2514600" y="4937760"/>
            <a:ext cx="1645920" cy="1143000"/>
          </a:xfrm>
          <a:prstGeom prst="rect">
            <a:avLst/>
          </a:prstGeom>
          <a:noFill/>
          <a:ln/>
        </p:spPr>
        <p:txBody>
          <a:bodyPr wrap="square" lIns="0" tIns="0" rIns="0" bIns="0" rtlCol="0" anchor="t"/>
          <a:lstStyle/>
          <a:p>
            <a:pPr algn="ctr" indent="0" marL="0">
              <a:buNone/>
            </a:pPr>
            <a:r>
              <a:rPr lang="en-US" sz="1200" dirty="0">
                <a:solidFill>
                  <a:srgbClr val="FFFFFF"/>
                </a:solidFill>
                <a:latin typeface="Calibri" pitchFamily="34" charset="0"/>
                <a:ea typeface="Calibri" pitchFamily="34" charset="-122"/>
                <a:cs typeface="Calibri" pitchFamily="34" charset="-120"/>
              </a:rPr>
              <a:t>keine freiwillige Mitarbeit · teilweise richtig</a:t>
            </a:r>
            <a:endParaRPr lang="en-US" sz="1200" dirty="0"/>
          </a:p>
        </p:txBody>
      </p:sp>
      <p:sp>
        <p:nvSpPr>
          <p:cNvPr id="13" name="Shape 10"/>
          <p:cNvSpPr/>
          <p:nvPr/>
        </p:nvSpPr>
        <p:spPr>
          <a:xfrm>
            <a:off x="4297680" y="3840480"/>
            <a:ext cx="1828800" cy="2286000"/>
          </a:xfrm>
          <a:prstGeom prst="roundRect">
            <a:avLst>
              <a:gd name="adj" fmla="val 2500"/>
            </a:avLst>
          </a:prstGeom>
          <a:solidFill>
            <a:srgbClr val="E8A33D"/>
          </a:solidFill>
          <a:ln/>
        </p:spPr>
      </p:sp>
      <p:sp>
        <p:nvSpPr>
          <p:cNvPr id="14" name="Text 11"/>
          <p:cNvSpPr txBox="1"/>
          <p:nvPr/>
        </p:nvSpPr>
        <p:spPr>
          <a:xfrm>
            <a:off x="4297680" y="3913632"/>
            <a:ext cx="1828800" cy="548640"/>
          </a:xfrm>
          <a:prstGeom prst="rect">
            <a:avLst/>
          </a:prstGeom>
          <a:noFill/>
          <a:ln/>
        </p:spPr>
        <p:txBody>
          <a:bodyPr wrap="square" lIns="0" tIns="0" rIns="0" bIns="0" rtlCol="0" anchor="t"/>
          <a:lstStyle/>
          <a:p>
            <a:pPr algn="ctr" indent="0" marL="0">
              <a:buNone/>
            </a:pPr>
            <a:r>
              <a:rPr lang="en-US" sz="3000" b="1" dirty="0">
                <a:solidFill>
                  <a:srgbClr val="FFFFFF"/>
                </a:solidFill>
                <a:latin typeface="Cambria" pitchFamily="34" charset="0"/>
                <a:ea typeface="Cambria" pitchFamily="34" charset="-122"/>
                <a:cs typeface="Cambria" pitchFamily="34" charset="-120"/>
              </a:rPr>
              <a:t>4</a:t>
            </a:r>
            <a:endParaRPr lang="en-US" sz="3000" dirty="0"/>
          </a:p>
        </p:txBody>
      </p:sp>
      <p:sp>
        <p:nvSpPr>
          <p:cNvPr id="15" name="Text 12"/>
          <p:cNvSpPr txBox="1"/>
          <p:nvPr/>
        </p:nvSpPr>
        <p:spPr>
          <a:xfrm>
            <a:off x="4389120" y="4480560"/>
            <a:ext cx="1645920" cy="1600200"/>
          </a:xfrm>
          <a:prstGeom prst="rect">
            <a:avLst/>
          </a:prstGeom>
          <a:noFill/>
          <a:ln/>
        </p:spPr>
        <p:txBody>
          <a:bodyPr wrap="square" lIns="0" tIns="0" rIns="0" bIns="0" rtlCol="0" anchor="t"/>
          <a:lstStyle/>
          <a:p>
            <a:pPr algn="ctr" indent="0" marL="0">
              <a:buNone/>
            </a:pPr>
            <a:r>
              <a:rPr lang="en-US" sz="1200" dirty="0">
                <a:solidFill>
                  <a:srgbClr val="FFFFFF"/>
                </a:solidFill>
                <a:latin typeface="Calibri" pitchFamily="34" charset="0"/>
                <a:ea typeface="Calibri" pitchFamily="34" charset="-122"/>
                <a:cs typeface="Calibri" pitchFamily="34" charset="-120"/>
              </a:rPr>
              <a:t>gelegentlich · Fakten wiedergeben</a:t>
            </a:r>
            <a:endParaRPr lang="en-US" sz="1200" dirty="0"/>
          </a:p>
        </p:txBody>
      </p:sp>
      <p:sp>
        <p:nvSpPr>
          <p:cNvPr id="16" name="Shape 13"/>
          <p:cNvSpPr/>
          <p:nvPr/>
        </p:nvSpPr>
        <p:spPr>
          <a:xfrm>
            <a:off x="6172200" y="3383280"/>
            <a:ext cx="1828800" cy="2743200"/>
          </a:xfrm>
          <a:prstGeom prst="roundRect">
            <a:avLst>
              <a:gd name="adj" fmla="val 2500"/>
            </a:avLst>
          </a:prstGeom>
          <a:solidFill>
            <a:srgbClr val="9DB84A"/>
          </a:solidFill>
          <a:ln/>
        </p:spPr>
      </p:sp>
      <p:sp>
        <p:nvSpPr>
          <p:cNvPr id="17" name="Text 14"/>
          <p:cNvSpPr txBox="1"/>
          <p:nvPr/>
        </p:nvSpPr>
        <p:spPr>
          <a:xfrm>
            <a:off x="6172200" y="3456432"/>
            <a:ext cx="1828800" cy="548640"/>
          </a:xfrm>
          <a:prstGeom prst="rect">
            <a:avLst/>
          </a:prstGeom>
          <a:noFill/>
          <a:ln/>
        </p:spPr>
        <p:txBody>
          <a:bodyPr wrap="square" lIns="0" tIns="0" rIns="0" bIns="0" rtlCol="0" anchor="t"/>
          <a:lstStyle/>
          <a:p>
            <a:pPr algn="ctr" indent="0" marL="0">
              <a:buNone/>
            </a:pPr>
            <a:r>
              <a:rPr lang="en-US" sz="3000" b="1" dirty="0">
                <a:solidFill>
                  <a:srgbClr val="FFFFFF"/>
                </a:solidFill>
                <a:latin typeface="Cambria" pitchFamily="34" charset="0"/>
                <a:ea typeface="Cambria" pitchFamily="34" charset="-122"/>
                <a:cs typeface="Cambria" pitchFamily="34" charset="-120"/>
              </a:rPr>
              <a:t>3</a:t>
            </a:r>
            <a:endParaRPr lang="en-US" sz="3000" dirty="0"/>
          </a:p>
        </p:txBody>
      </p:sp>
      <p:sp>
        <p:nvSpPr>
          <p:cNvPr id="18" name="Text 15"/>
          <p:cNvSpPr txBox="1"/>
          <p:nvPr/>
        </p:nvSpPr>
        <p:spPr>
          <a:xfrm>
            <a:off x="6263640" y="4023360"/>
            <a:ext cx="1645920" cy="2057400"/>
          </a:xfrm>
          <a:prstGeom prst="rect">
            <a:avLst/>
          </a:prstGeom>
          <a:noFill/>
          <a:ln/>
        </p:spPr>
        <p:txBody>
          <a:bodyPr wrap="square" lIns="0" tIns="0" rIns="0" bIns="0" rtlCol="0" anchor="t"/>
          <a:lstStyle/>
          <a:p>
            <a:pPr algn="ctr" indent="0" marL="0">
              <a:buNone/>
            </a:pPr>
            <a:r>
              <a:rPr lang="en-US" sz="1200" dirty="0">
                <a:solidFill>
                  <a:srgbClr val="FFFFFF"/>
                </a:solidFill>
                <a:latin typeface="Calibri" pitchFamily="34" charset="0"/>
                <a:ea typeface="Calibri" pitchFamily="34" charset="-122"/>
                <a:cs typeface="Calibri" pitchFamily="34" charset="-120"/>
              </a:rPr>
              <a:t>regelmäßig · richtig und verknüpft</a:t>
            </a:r>
            <a:endParaRPr lang="en-US" sz="1200" dirty="0"/>
          </a:p>
        </p:txBody>
      </p:sp>
      <p:sp>
        <p:nvSpPr>
          <p:cNvPr id="19" name="Shape 16"/>
          <p:cNvSpPr/>
          <p:nvPr/>
        </p:nvSpPr>
        <p:spPr>
          <a:xfrm>
            <a:off x="8046720" y="2926080"/>
            <a:ext cx="1828800" cy="3200400"/>
          </a:xfrm>
          <a:prstGeom prst="roundRect">
            <a:avLst>
              <a:gd name="adj" fmla="val 2500"/>
            </a:avLst>
          </a:prstGeom>
          <a:solidFill>
            <a:srgbClr val="5AAE62"/>
          </a:solidFill>
          <a:ln/>
        </p:spPr>
      </p:sp>
      <p:sp>
        <p:nvSpPr>
          <p:cNvPr id="20" name="Text 17"/>
          <p:cNvSpPr txBox="1"/>
          <p:nvPr/>
        </p:nvSpPr>
        <p:spPr>
          <a:xfrm>
            <a:off x="8046720" y="2999232"/>
            <a:ext cx="1828800" cy="548640"/>
          </a:xfrm>
          <a:prstGeom prst="rect">
            <a:avLst/>
          </a:prstGeom>
          <a:noFill/>
          <a:ln/>
        </p:spPr>
        <p:txBody>
          <a:bodyPr wrap="square" lIns="0" tIns="0" rIns="0" bIns="0" rtlCol="0" anchor="t"/>
          <a:lstStyle/>
          <a:p>
            <a:pPr algn="ctr" indent="0" marL="0">
              <a:buNone/>
            </a:pPr>
            <a:r>
              <a:rPr lang="en-US" sz="3000" b="1" dirty="0">
                <a:solidFill>
                  <a:srgbClr val="FFFFFF"/>
                </a:solidFill>
                <a:latin typeface="Cambria" pitchFamily="34" charset="0"/>
                <a:ea typeface="Cambria" pitchFamily="34" charset="-122"/>
                <a:cs typeface="Cambria" pitchFamily="34" charset="-120"/>
              </a:rPr>
              <a:t>2</a:t>
            </a:r>
            <a:endParaRPr lang="en-US" sz="3000" dirty="0"/>
          </a:p>
        </p:txBody>
      </p:sp>
      <p:sp>
        <p:nvSpPr>
          <p:cNvPr id="21" name="Text 18"/>
          <p:cNvSpPr txBox="1"/>
          <p:nvPr/>
        </p:nvSpPr>
        <p:spPr>
          <a:xfrm>
            <a:off x="8138160" y="3566160"/>
            <a:ext cx="1645920" cy="2514600"/>
          </a:xfrm>
          <a:prstGeom prst="rect">
            <a:avLst/>
          </a:prstGeom>
          <a:noFill/>
          <a:ln/>
        </p:spPr>
        <p:txBody>
          <a:bodyPr wrap="square" lIns="0" tIns="0" rIns="0" bIns="0" rtlCol="0" anchor="t"/>
          <a:lstStyle/>
          <a:p>
            <a:pPr algn="ctr" indent="0" marL="0">
              <a:buNone/>
            </a:pPr>
            <a:r>
              <a:rPr lang="en-US" sz="1200" dirty="0">
                <a:solidFill>
                  <a:srgbClr val="FFFFFF"/>
                </a:solidFill>
                <a:latin typeface="Calibri" pitchFamily="34" charset="0"/>
                <a:ea typeface="Calibri" pitchFamily="34" charset="-122"/>
                <a:cs typeface="Calibri" pitchFamily="34" charset="-120"/>
              </a:rPr>
              <a:t>verstehen, einordnen, Wichtiges erkennen</a:t>
            </a:r>
            <a:endParaRPr lang="en-US" sz="1200" dirty="0"/>
          </a:p>
        </p:txBody>
      </p:sp>
      <p:sp>
        <p:nvSpPr>
          <p:cNvPr id="22" name="Shape 19"/>
          <p:cNvSpPr/>
          <p:nvPr/>
        </p:nvSpPr>
        <p:spPr>
          <a:xfrm>
            <a:off x="9921240" y="2468880"/>
            <a:ext cx="1828800" cy="3657600"/>
          </a:xfrm>
          <a:prstGeom prst="roundRect">
            <a:avLst>
              <a:gd name="adj" fmla="val 2500"/>
            </a:avLst>
          </a:prstGeom>
          <a:solidFill>
            <a:srgbClr val="2E9E6B"/>
          </a:solidFill>
          <a:ln/>
        </p:spPr>
      </p:sp>
      <p:sp>
        <p:nvSpPr>
          <p:cNvPr id="23" name="Text 20"/>
          <p:cNvSpPr txBox="1"/>
          <p:nvPr/>
        </p:nvSpPr>
        <p:spPr>
          <a:xfrm>
            <a:off x="9921240" y="2542032"/>
            <a:ext cx="1828800" cy="548640"/>
          </a:xfrm>
          <a:prstGeom prst="rect">
            <a:avLst/>
          </a:prstGeom>
          <a:noFill/>
          <a:ln/>
        </p:spPr>
        <p:txBody>
          <a:bodyPr wrap="square" lIns="0" tIns="0" rIns="0" bIns="0" rtlCol="0" anchor="t"/>
          <a:lstStyle/>
          <a:p>
            <a:pPr algn="ctr" indent="0" marL="0">
              <a:buNone/>
            </a:pPr>
            <a:r>
              <a:rPr lang="en-US" sz="3000" b="1" dirty="0">
                <a:solidFill>
                  <a:srgbClr val="FFFFFF"/>
                </a:solidFill>
                <a:latin typeface="Cambria" pitchFamily="34" charset="0"/>
                <a:ea typeface="Cambria" pitchFamily="34" charset="-122"/>
                <a:cs typeface="Cambria" pitchFamily="34" charset="-120"/>
              </a:rPr>
              <a:t>1</a:t>
            </a:r>
            <a:endParaRPr lang="en-US" sz="3000" dirty="0"/>
          </a:p>
        </p:txBody>
      </p:sp>
      <p:sp>
        <p:nvSpPr>
          <p:cNvPr id="24" name="Text 21"/>
          <p:cNvSpPr txBox="1"/>
          <p:nvPr/>
        </p:nvSpPr>
        <p:spPr>
          <a:xfrm>
            <a:off x="10012680" y="3108960"/>
            <a:ext cx="1645920" cy="2971800"/>
          </a:xfrm>
          <a:prstGeom prst="rect">
            <a:avLst/>
          </a:prstGeom>
          <a:noFill/>
          <a:ln/>
        </p:spPr>
        <p:txBody>
          <a:bodyPr wrap="square" lIns="0" tIns="0" rIns="0" bIns="0" rtlCol="0" anchor="t"/>
          <a:lstStyle/>
          <a:p>
            <a:pPr algn="ctr" indent="0" marL="0">
              <a:buNone/>
            </a:pPr>
            <a:r>
              <a:rPr lang="en-US" sz="1200" dirty="0">
                <a:solidFill>
                  <a:srgbClr val="FFFFFF"/>
                </a:solidFill>
                <a:latin typeface="Calibri" pitchFamily="34" charset="0"/>
                <a:ea typeface="Calibri" pitchFamily="34" charset="-122"/>
                <a:cs typeface="Calibri" pitchFamily="34" charset="-120"/>
              </a:rPr>
              <a:t>eigene Gedanken · klar und begründet</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8229600" cy="274320"/>
          </a:xfrm>
          <a:prstGeom prst="rect">
            <a:avLst/>
          </a:prstGeom>
          <a:noFill/>
          <a:ln/>
        </p:spPr>
        <p:txBody>
          <a:bodyPr wrap="square" lIns="0" tIns="0" rIns="0" bIns="0" rtlCol="0" anchor="t"/>
          <a:lstStyle/>
          <a:p>
            <a:pPr indent="0" marL="0">
              <a:buNone/>
            </a:pPr>
            <a:r>
              <a:rPr lang="en-US" sz="1200" spc="200" kern="0" dirty="0">
                <a:solidFill>
                  <a:srgbClr val="5B6B8C"/>
                </a:solidFill>
                <a:latin typeface="Calibri" pitchFamily="34" charset="0"/>
                <a:ea typeface="Calibri" pitchFamily="34" charset="-122"/>
                <a:cs typeface="Calibri" pitchFamily="34" charset="-120"/>
              </a:rPr>
              <a:t>DIE STUFEN IM DETAIL</a:t>
            </a:r>
            <a:endParaRPr lang="en-US" sz="1200" dirty="0"/>
          </a:p>
        </p:txBody>
      </p:sp>
      <p:sp>
        <p:nvSpPr>
          <p:cNvPr id="3" name="Text 1"/>
          <p:cNvSpPr txBox="1"/>
          <p:nvPr/>
        </p:nvSpPr>
        <p:spPr>
          <a:xfrm>
            <a:off x="548640" y="658368"/>
            <a:ext cx="11064240" cy="640080"/>
          </a:xfrm>
          <a:prstGeom prst="rect">
            <a:avLst/>
          </a:prstGeom>
          <a:noFill/>
          <a:ln/>
        </p:spPr>
        <p:txBody>
          <a:bodyPr wrap="square" lIns="0" tIns="0" rIns="0" bIns="0" rtlCol="0" anchor="t"/>
          <a:lstStyle/>
          <a:p>
            <a:pPr indent="0" marL="0">
              <a:buNone/>
            </a:pPr>
            <a:r>
              <a:rPr lang="en-US" sz="3200" b="1" dirty="0">
                <a:solidFill>
                  <a:srgbClr val="1E2761"/>
                </a:solidFill>
                <a:latin typeface="Cambria" pitchFamily="34" charset="0"/>
                <a:ea typeface="Cambria" pitchFamily="34" charset="-122"/>
                <a:cs typeface="Cambria" pitchFamily="34" charset="-120"/>
              </a:rPr>
              <a:t>Note 6 und 5: keine freiwillige Mitarbeit</a:t>
            </a:r>
            <a:endParaRPr lang="en-US" sz="3200" dirty="0"/>
          </a:p>
        </p:txBody>
      </p:sp>
      <p:sp>
        <p:nvSpPr>
          <p:cNvPr id="4" name="Text 2"/>
          <p:cNvSpPr txBox="1"/>
          <p:nvPr/>
        </p:nvSpPr>
        <p:spPr>
          <a:xfrm>
            <a:off x="548640" y="6400800"/>
            <a:ext cx="6400800" cy="228600"/>
          </a:xfrm>
          <a:prstGeom prst="rect">
            <a:avLst/>
          </a:prstGeom>
          <a:noFill/>
          <a:ln/>
        </p:spPr>
        <p:txBody>
          <a:bodyPr wrap="square" lIns="0" tIns="0" rIns="0" bIns="0" rtlCol="0" anchor="t"/>
          <a:lstStyle/>
          <a:p>
            <a:pPr indent="0" marL="0">
              <a:buNone/>
            </a:pPr>
            <a:r>
              <a:rPr lang="en-US" sz="1000" dirty="0">
                <a:solidFill>
                  <a:srgbClr val="5B6B8C"/>
                </a:solidFill>
                <a:latin typeface="Calibri" pitchFamily="34" charset="0"/>
                <a:ea typeface="Calibri" pitchFamily="34" charset="-122"/>
                <a:cs typeface="Calibri" pitchFamily="34" charset="-120"/>
              </a:rPr>
              <a:t>Teil 2 · Mündliche Noten · Deutsch 7A</a:t>
            </a:r>
            <a:endParaRPr lang="en-US" sz="1000" dirty="0"/>
          </a:p>
        </p:txBody>
      </p:sp>
      <p:sp>
        <p:nvSpPr>
          <p:cNvPr id="5" name="Text 3"/>
          <p:cNvSpPr txBox="1"/>
          <p:nvPr/>
        </p:nvSpPr>
        <p:spPr>
          <a:xfrm>
            <a:off x="11155680" y="6400800"/>
            <a:ext cx="457200" cy="228600"/>
          </a:xfrm>
          <a:prstGeom prst="rect">
            <a:avLst/>
          </a:prstGeom>
          <a:noFill/>
          <a:ln/>
        </p:spPr>
        <p:txBody>
          <a:bodyPr wrap="square" lIns="0" tIns="0" rIns="0" bIns="0" rtlCol="0" anchor="t"/>
          <a:lstStyle/>
          <a:p>
            <a:pPr algn="r" indent="0" marL="0">
              <a:buNone/>
            </a:pPr>
            <a:r>
              <a:rPr lang="en-US" sz="1000" dirty="0">
                <a:solidFill>
                  <a:srgbClr val="5B6B8C"/>
                </a:solidFill>
                <a:latin typeface="Calibri" pitchFamily="34" charset="0"/>
                <a:ea typeface="Calibri" pitchFamily="34" charset="-122"/>
                <a:cs typeface="Calibri" pitchFamily="34" charset="-120"/>
              </a:rPr>
              <a:t>10</a:t>
            </a:r>
            <a:endParaRPr lang="en-US" sz="1000" dirty="0"/>
          </a:p>
        </p:txBody>
      </p:sp>
      <p:sp>
        <p:nvSpPr>
          <p:cNvPr id="7" name="Shape 4"/>
          <p:cNvSpPr/>
          <p:nvPr/>
        </p:nvSpPr>
        <p:spPr>
          <a:xfrm>
            <a:off x="548640" y="1600200"/>
            <a:ext cx="11064240" cy="2148840"/>
          </a:xfrm>
          <a:prstGeom prst="roundRect">
            <a:avLst>
              <a:gd name="adj" fmla="val 3404"/>
            </a:avLst>
          </a:prstGeom>
          <a:solidFill>
            <a:srgbClr val="F4F7FD"/>
          </a:solidFill>
          <a:ln/>
        </p:spPr>
      </p:sp>
      <p:sp>
        <p:nvSpPr>
          <p:cNvPr id="8" name="Shape 5"/>
          <p:cNvSpPr/>
          <p:nvPr/>
        </p:nvSpPr>
        <p:spPr>
          <a:xfrm>
            <a:off x="548640" y="1600200"/>
            <a:ext cx="109728" cy="2148840"/>
          </a:xfrm>
          <a:prstGeom prst="rect">
            <a:avLst/>
          </a:prstGeom>
          <a:solidFill>
            <a:srgbClr val="D9534F"/>
          </a:solidFill>
          <a:ln/>
        </p:spPr>
      </p:sp>
      <p:sp>
        <p:nvSpPr>
          <p:cNvPr id="9" name="Shape 6"/>
          <p:cNvSpPr/>
          <p:nvPr/>
        </p:nvSpPr>
        <p:spPr>
          <a:xfrm>
            <a:off x="914400" y="1920240"/>
            <a:ext cx="1005840" cy="1005840"/>
          </a:xfrm>
          <a:prstGeom prst="ellipse">
            <a:avLst/>
          </a:prstGeom>
          <a:solidFill>
            <a:srgbClr val="D9534F"/>
          </a:solidFill>
          <a:ln/>
        </p:spPr>
      </p:sp>
      <p:sp>
        <p:nvSpPr>
          <p:cNvPr id="10" name="Text 7"/>
          <p:cNvSpPr txBox="1"/>
          <p:nvPr/>
        </p:nvSpPr>
        <p:spPr>
          <a:xfrm>
            <a:off x="914400" y="1920240"/>
            <a:ext cx="1005840" cy="1005840"/>
          </a:xfrm>
          <a:prstGeom prst="rect">
            <a:avLst/>
          </a:prstGeom>
          <a:noFill/>
          <a:ln/>
        </p:spPr>
        <p:txBody>
          <a:bodyPr wrap="square" lIns="0" tIns="0" rIns="0" bIns="0" rtlCol="0" anchor="ctr"/>
          <a:lstStyle/>
          <a:p>
            <a:pPr algn="ctr" indent="0" marL="0">
              <a:buNone/>
            </a:pPr>
            <a:r>
              <a:rPr lang="en-US" sz="3740" b="1" dirty="0">
                <a:solidFill>
                  <a:srgbClr val="FFFFFF"/>
                </a:solidFill>
                <a:latin typeface="Cambria" pitchFamily="34" charset="0"/>
                <a:ea typeface="Cambria" pitchFamily="34" charset="-122"/>
                <a:cs typeface="Cambria" pitchFamily="34" charset="-120"/>
              </a:rPr>
              <a:t>6</a:t>
            </a:r>
            <a:endParaRPr lang="en-US" sz="3740" dirty="0"/>
          </a:p>
        </p:txBody>
      </p:sp>
      <p:sp>
        <p:nvSpPr>
          <p:cNvPr id="11" name="Text 8"/>
          <p:cNvSpPr txBox="1"/>
          <p:nvPr/>
        </p:nvSpPr>
        <p:spPr>
          <a:xfrm>
            <a:off x="2194560" y="1828800"/>
            <a:ext cx="9144000" cy="274320"/>
          </a:xfrm>
          <a:prstGeom prst="rect">
            <a:avLst/>
          </a:prstGeom>
          <a:noFill/>
          <a:ln/>
        </p:spPr>
        <p:txBody>
          <a:bodyPr wrap="square" lIns="0" tIns="0" rIns="0" bIns="0" rtlCol="0" anchor="t"/>
          <a:lstStyle/>
          <a:p>
            <a:pPr indent="0" marL="0">
              <a:buNone/>
            </a:pPr>
            <a:r>
              <a:rPr lang="en-US" sz="1300" b="1" dirty="0">
                <a:solidFill>
                  <a:srgbClr val="5B6B8C"/>
                </a:solidFill>
                <a:latin typeface="Calibri" pitchFamily="34" charset="0"/>
                <a:ea typeface="Calibri" pitchFamily="34" charset="-122"/>
                <a:cs typeface="Calibri" pitchFamily="34" charset="-120"/>
              </a:rPr>
              <a:t>So arbeitest du mit:</a:t>
            </a:r>
            <a:endParaRPr lang="en-US" sz="1300" dirty="0"/>
          </a:p>
        </p:txBody>
      </p:sp>
      <p:sp>
        <p:nvSpPr>
          <p:cNvPr id="12" name="Text 9"/>
          <p:cNvSpPr txBox="1"/>
          <p:nvPr/>
        </p:nvSpPr>
        <p:spPr>
          <a:xfrm>
            <a:off x="2194560" y="2103120"/>
            <a:ext cx="9235440" cy="1005840"/>
          </a:xfrm>
          <a:prstGeom prst="rect">
            <a:avLst/>
          </a:prstGeom>
          <a:noFill/>
          <a:ln/>
        </p:spPr>
        <p:txBody>
          <a:bodyPr wrap="square" lIns="0" tIns="0" rIns="0" bIns="0" rtlCol="0" anchor="t"/>
          <a:lstStyle/>
          <a:p>
            <a:pPr indent="0" marL="0">
              <a:buNone/>
            </a:pPr>
            <a:r>
              <a:rPr lang="en-US" sz="1800" dirty="0">
                <a:solidFill>
                  <a:srgbClr val="1E2761"/>
                </a:solidFill>
                <a:latin typeface="Calibri" pitchFamily="34" charset="0"/>
                <a:ea typeface="Calibri" pitchFamily="34" charset="-122"/>
                <a:cs typeface="Calibri" pitchFamily="34" charset="-120"/>
              </a:rPr>
              <a:t>Ich melde mich nicht von mir aus. Wenn ich drangenommen werde, ist meine Antwort falsch.</a:t>
            </a:r>
            <a:endParaRPr lang="en-US" sz="1800" dirty="0"/>
          </a:p>
        </p:txBody>
      </p:sp>
      <p:sp>
        <p:nvSpPr>
          <p:cNvPr id="13" name="Text 10"/>
          <p:cNvSpPr txBox="1"/>
          <p:nvPr/>
        </p:nvSpPr>
        <p:spPr>
          <a:xfrm>
            <a:off x="2194560" y="3200400"/>
            <a:ext cx="9235440" cy="365760"/>
          </a:xfrm>
          <a:prstGeom prst="rect">
            <a:avLst/>
          </a:prstGeom>
          <a:noFill/>
          <a:ln/>
        </p:spPr>
        <p:txBody>
          <a:bodyPr wrap="square" lIns="0" tIns="0" rIns="0" bIns="0" rtlCol="0" anchor="t"/>
          <a:lstStyle/>
          <a:p>
            <a:pPr indent="0" marL="0">
              <a:buNone/>
            </a:pPr>
            <a:r>
              <a:rPr lang="en-US" sz="1500" b="1" dirty="0">
                <a:solidFill>
                  <a:srgbClr val="D9534F"/>
                </a:solidFill>
                <a:latin typeface="Calibri" pitchFamily="34" charset="0"/>
                <a:ea typeface="Calibri" pitchFamily="34" charset="-122"/>
                <a:cs typeface="Calibri" pitchFamily="34" charset="-120"/>
              </a:rPr>
              <a:t>Bedeutung: </a:t>
            </a:r>
            <a:pPr indent="0" marL="0">
              <a:buNone/>
            </a:pPr>
            <a:r>
              <a:rPr lang="en-US" sz="1500" i="1" dirty="0">
                <a:solidFill>
                  <a:srgbClr val="1E2761"/>
                </a:solidFill>
                <a:latin typeface="Calibri" pitchFamily="34" charset="0"/>
                <a:ea typeface="Calibri" pitchFamily="34" charset="-122"/>
                <a:cs typeface="Calibri" pitchFamily="34" charset="-120"/>
              </a:rPr>
              <a:t>Die Leistung entspricht den Anforderungen nicht; selbst Grundkenntnisse fehlen.</a:t>
            </a:r>
            <a:endParaRPr lang="en-US" sz="1500" dirty="0"/>
          </a:p>
        </p:txBody>
      </p:sp>
      <p:sp>
        <p:nvSpPr>
          <p:cNvPr id="14" name="Shape 11"/>
          <p:cNvSpPr/>
          <p:nvPr/>
        </p:nvSpPr>
        <p:spPr>
          <a:xfrm>
            <a:off x="548640" y="3931920"/>
            <a:ext cx="11064240" cy="2148840"/>
          </a:xfrm>
          <a:prstGeom prst="roundRect">
            <a:avLst>
              <a:gd name="adj" fmla="val 3404"/>
            </a:avLst>
          </a:prstGeom>
          <a:solidFill>
            <a:srgbClr val="F4F7FD"/>
          </a:solidFill>
          <a:ln/>
        </p:spPr>
      </p:sp>
      <p:sp>
        <p:nvSpPr>
          <p:cNvPr id="15" name="Shape 12"/>
          <p:cNvSpPr/>
          <p:nvPr/>
        </p:nvSpPr>
        <p:spPr>
          <a:xfrm>
            <a:off x="548640" y="3931920"/>
            <a:ext cx="109728" cy="2148840"/>
          </a:xfrm>
          <a:prstGeom prst="rect">
            <a:avLst/>
          </a:prstGeom>
          <a:solidFill>
            <a:srgbClr val="E07B45"/>
          </a:solidFill>
          <a:ln/>
        </p:spPr>
      </p:sp>
      <p:sp>
        <p:nvSpPr>
          <p:cNvPr id="16" name="Shape 13"/>
          <p:cNvSpPr/>
          <p:nvPr/>
        </p:nvSpPr>
        <p:spPr>
          <a:xfrm>
            <a:off x="914400" y="4251960"/>
            <a:ext cx="1005840" cy="1005840"/>
          </a:xfrm>
          <a:prstGeom prst="ellipse">
            <a:avLst/>
          </a:prstGeom>
          <a:solidFill>
            <a:srgbClr val="E07B45"/>
          </a:solidFill>
          <a:ln/>
        </p:spPr>
      </p:sp>
      <p:sp>
        <p:nvSpPr>
          <p:cNvPr id="17" name="Text 14"/>
          <p:cNvSpPr txBox="1"/>
          <p:nvPr/>
        </p:nvSpPr>
        <p:spPr>
          <a:xfrm>
            <a:off x="914400" y="4251960"/>
            <a:ext cx="1005840" cy="1005840"/>
          </a:xfrm>
          <a:prstGeom prst="rect">
            <a:avLst/>
          </a:prstGeom>
          <a:noFill/>
          <a:ln/>
        </p:spPr>
        <p:txBody>
          <a:bodyPr wrap="square" lIns="0" tIns="0" rIns="0" bIns="0" rtlCol="0" anchor="ctr"/>
          <a:lstStyle/>
          <a:p>
            <a:pPr algn="ctr" indent="0" marL="0">
              <a:buNone/>
            </a:pPr>
            <a:r>
              <a:rPr lang="en-US" sz="3740" b="1" dirty="0">
                <a:solidFill>
                  <a:srgbClr val="FFFFFF"/>
                </a:solidFill>
                <a:latin typeface="Cambria" pitchFamily="34" charset="0"/>
                <a:ea typeface="Cambria" pitchFamily="34" charset="-122"/>
                <a:cs typeface="Cambria" pitchFamily="34" charset="-120"/>
              </a:rPr>
              <a:t>5</a:t>
            </a:r>
            <a:endParaRPr lang="en-US" sz="3740" dirty="0"/>
          </a:p>
        </p:txBody>
      </p:sp>
      <p:sp>
        <p:nvSpPr>
          <p:cNvPr id="18" name="Text 15"/>
          <p:cNvSpPr txBox="1"/>
          <p:nvPr/>
        </p:nvSpPr>
        <p:spPr>
          <a:xfrm>
            <a:off x="2194560" y="4160520"/>
            <a:ext cx="9144000" cy="274320"/>
          </a:xfrm>
          <a:prstGeom prst="rect">
            <a:avLst/>
          </a:prstGeom>
          <a:noFill/>
          <a:ln/>
        </p:spPr>
        <p:txBody>
          <a:bodyPr wrap="square" lIns="0" tIns="0" rIns="0" bIns="0" rtlCol="0" anchor="t"/>
          <a:lstStyle/>
          <a:p>
            <a:pPr indent="0" marL="0">
              <a:buNone/>
            </a:pPr>
            <a:r>
              <a:rPr lang="en-US" sz="1300" b="1" dirty="0">
                <a:solidFill>
                  <a:srgbClr val="5B6B8C"/>
                </a:solidFill>
                <a:latin typeface="Calibri" pitchFamily="34" charset="0"/>
                <a:ea typeface="Calibri" pitchFamily="34" charset="-122"/>
                <a:cs typeface="Calibri" pitchFamily="34" charset="-120"/>
              </a:rPr>
              <a:t>So arbeitest du mit:</a:t>
            </a:r>
            <a:endParaRPr lang="en-US" sz="1300" dirty="0"/>
          </a:p>
        </p:txBody>
      </p:sp>
      <p:sp>
        <p:nvSpPr>
          <p:cNvPr id="19" name="Text 16"/>
          <p:cNvSpPr txBox="1"/>
          <p:nvPr/>
        </p:nvSpPr>
        <p:spPr>
          <a:xfrm>
            <a:off x="2194560" y="4434840"/>
            <a:ext cx="9235440" cy="1005840"/>
          </a:xfrm>
          <a:prstGeom prst="rect">
            <a:avLst/>
          </a:prstGeom>
          <a:noFill/>
          <a:ln/>
        </p:spPr>
        <p:txBody>
          <a:bodyPr wrap="square" lIns="0" tIns="0" rIns="0" bIns="0" rtlCol="0" anchor="t"/>
          <a:lstStyle/>
          <a:p>
            <a:pPr indent="0" marL="0">
              <a:buNone/>
            </a:pPr>
            <a:r>
              <a:rPr lang="en-US" sz="1800" dirty="0">
                <a:solidFill>
                  <a:srgbClr val="1E2761"/>
                </a:solidFill>
                <a:latin typeface="Calibri" pitchFamily="34" charset="0"/>
                <a:ea typeface="Calibri" pitchFamily="34" charset="-122"/>
                <a:cs typeface="Calibri" pitchFamily="34" charset="-120"/>
              </a:rPr>
              <a:t>Ich melde mich nicht von mir aus. Wenn ich drangenommen werde, ist meine Antwort nur teilweise richtig. Grundkenntnisse sind aber da.</a:t>
            </a:r>
            <a:endParaRPr lang="en-US" sz="1800" dirty="0"/>
          </a:p>
        </p:txBody>
      </p:sp>
      <p:sp>
        <p:nvSpPr>
          <p:cNvPr id="20" name="Text 17"/>
          <p:cNvSpPr txBox="1"/>
          <p:nvPr/>
        </p:nvSpPr>
        <p:spPr>
          <a:xfrm>
            <a:off x="2194560" y="5532120"/>
            <a:ext cx="9235440" cy="365760"/>
          </a:xfrm>
          <a:prstGeom prst="rect">
            <a:avLst/>
          </a:prstGeom>
          <a:noFill/>
          <a:ln/>
        </p:spPr>
        <p:txBody>
          <a:bodyPr wrap="square" lIns="0" tIns="0" rIns="0" bIns="0" rtlCol="0" anchor="t"/>
          <a:lstStyle/>
          <a:p>
            <a:pPr indent="0" marL="0">
              <a:buNone/>
            </a:pPr>
            <a:r>
              <a:rPr lang="en-US" sz="1500" b="1" dirty="0">
                <a:solidFill>
                  <a:srgbClr val="E07B45"/>
                </a:solidFill>
                <a:latin typeface="Calibri" pitchFamily="34" charset="0"/>
                <a:ea typeface="Calibri" pitchFamily="34" charset="-122"/>
                <a:cs typeface="Calibri" pitchFamily="34" charset="-120"/>
              </a:rPr>
              <a:t>Bedeutung: </a:t>
            </a:r>
            <a:pPr indent="0" marL="0">
              <a:buNone/>
            </a:pPr>
            <a:r>
              <a:rPr lang="en-US" sz="1500" i="1" dirty="0">
                <a:solidFill>
                  <a:srgbClr val="1E2761"/>
                </a:solidFill>
                <a:latin typeface="Calibri" pitchFamily="34" charset="0"/>
                <a:ea typeface="Calibri" pitchFamily="34" charset="-122"/>
                <a:cs typeface="Calibri" pitchFamily="34" charset="-120"/>
              </a:rPr>
              <a:t>Die Leistung entspricht den Anforderungen nicht – die Lücken sind aber bald behebbar.</a:t>
            </a:r>
            <a:endParaRPr lang="en-US" sz="15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8229600" cy="274320"/>
          </a:xfrm>
          <a:prstGeom prst="rect">
            <a:avLst/>
          </a:prstGeom>
          <a:noFill/>
          <a:ln/>
        </p:spPr>
        <p:txBody>
          <a:bodyPr wrap="square" lIns="0" tIns="0" rIns="0" bIns="0" rtlCol="0" anchor="t"/>
          <a:lstStyle/>
          <a:p>
            <a:pPr indent="0" marL="0">
              <a:buNone/>
            </a:pPr>
            <a:r>
              <a:rPr lang="en-US" sz="1200" spc="200" kern="0" dirty="0">
                <a:solidFill>
                  <a:srgbClr val="5B6B8C"/>
                </a:solidFill>
                <a:latin typeface="Calibri" pitchFamily="34" charset="0"/>
                <a:ea typeface="Calibri" pitchFamily="34" charset="-122"/>
                <a:cs typeface="Calibri" pitchFamily="34" charset="-120"/>
              </a:rPr>
              <a:t>DIE STUFEN IM DETAIL</a:t>
            </a:r>
            <a:endParaRPr lang="en-US" sz="1200" dirty="0"/>
          </a:p>
        </p:txBody>
      </p:sp>
      <p:sp>
        <p:nvSpPr>
          <p:cNvPr id="3" name="Text 1"/>
          <p:cNvSpPr txBox="1"/>
          <p:nvPr/>
        </p:nvSpPr>
        <p:spPr>
          <a:xfrm>
            <a:off x="548640" y="658368"/>
            <a:ext cx="11064240" cy="640080"/>
          </a:xfrm>
          <a:prstGeom prst="rect">
            <a:avLst/>
          </a:prstGeom>
          <a:noFill/>
          <a:ln/>
        </p:spPr>
        <p:txBody>
          <a:bodyPr wrap="square" lIns="0" tIns="0" rIns="0" bIns="0" rtlCol="0" anchor="t"/>
          <a:lstStyle/>
          <a:p>
            <a:pPr indent="0" marL="0">
              <a:buNone/>
            </a:pPr>
            <a:r>
              <a:rPr lang="en-US" sz="3200" b="1" dirty="0">
                <a:solidFill>
                  <a:srgbClr val="1E2761"/>
                </a:solidFill>
                <a:latin typeface="Cambria" pitchFamily="34" charset="0"/>
                <a:ea typeface="Cambria" pitchFamily="34" charset="-122"/>
                <a:cs typeface="Cambria" pitchFamily="34" charset="-120"/>
              </a:rPr>
              <a:t>Note 4 und 3: gelegentlich oder regelmäßig</a:t>
            </a:r>
            <a:endParaRPr lang="en-US" sz="3200" dirty="0"/>
          </a:p>
        </p:txBody>
      </p:sp>
      <p:sp>
        <p:nvSpPr>
          <p:cNvPr id="4" name="Text 2"/>
          <p:cNvSpPr txBox="1"/>
          <p:nvPr/>
        </p:nvSpPr>
        <p:spPr>
          <a:xfrm>
            <a:off x="548640" y="6400800"/>
            <a:ext cx="6400800" cy="228600"/>
          </a:xfrm>
          <a:prstGeom prst="rect">
            <a:avLst/>
          </a:prstGeom>
          <a:noFill/>
          <a:ln/>
        </p:spPr>
        <p:txBody>
          <a:bodyPr wrap="square" lIns="0" tIns="0" rIns="0" bIns="0" rtlCol="0" anchor="t"/>
          <a:lstStyle/>
          <a:p>
            <a:pPr indent="0" marL="0">
              <a:buNone/>
            </a:pPr>
            <a:r>
              <a:rPr lang="en-US" sz="1000" dirty="0">
                <a:solidFill>
                  <a:srgbClr val="5B6B8C"/>
                </a:solidFill>
                <a:latin typeface="Calibri" pitchFamily="34" charset="0"/>
                <a:ea typeface="Calibri" pitchFamily="34" charset="-122"/>
                <a:cs typeface="Calibri" pitchFamily="34" charset="-120"/>
              </a:rPr>
              <a:t>Teil 2 · Mündliche Noten · Deutsch 7A</a:t>
            </a:r>
            <a:endParaRPr lang="en-US" sz="1000" dirty="0"/>
          </a:p>
        </p:txBody>
      </p:sp>
      <p:sp>
        <p:nvSpPr>
          <p:cNvPr id="5" name="Text 3"/>
          <p:cNvSpPr txBox="1"/>
          <p:nvPr/>
        </p:nvSpPr>
        <p:spPr>
          <a:xfrm>
            <a:off x="11155680" y="6400800"/>
            <a:ext cx="457200" cy="228600"/>
          </a:xfrm>
          <a:prstGeom prst="rect">
            <a:avLst/>
          </a:prstGeom>
          <a:noFill/>
          <a:ln/>
        </p:spPr>
        <p:txBody>
          <a:bodyPr wrap="square" lIns="0" tIns="0" rIns="0" bIns="0" rtlCol="0" anchor="t"/>
          <a:lstStyle/>
          <a:p>
            <a:pPr algn="r" indent="0" marL="0">
              <a:buNone/>
            </a:pPr>
            <a:r>
              <a:rPr lang="en-US" sz="1000" dirty="0">
                <a:solidFill>
                  <a:srgbClr val="5B6B8C"/>
                </a:solidFill>
                <a:latin typeface="Calibri" pitchFamily="34" charset="0"/>
                <a:ea typeface="Calibri" pitchFamily="34" charset="-122"/>
                <a:cs typeface="Calibri" pitchFamily="34" charset="-120"/>
              </a:rPr>
              <a:t>11</a:t>
            </a:r>
            <a:endParaRPr lang="en-US" sz="1000" dirty="0"/>
          </a:p>
        </p:txBody>
      </p:sp>
      <p:sp>
        <p:nvSpPr>
          <p:cNvPr id="7" name="Shape 4"/>
          <p:cNvSpPr/>
          <p:nvPr/>
        </p:nvSpPr>
        <p:spPr>
          <a:xfrm>
            <a:off x="548640" y="1600200"/>
            <a:ext cx="11064240" cy="2148840"/>
          </a:xfrm>
          <a:prstGeom prst="roundRect">
            <a:avLst>
              <a:gd name="adj" fmla="val 3404"/>
            </a:avLst>
          </a:prstGeom>
          <a:solidFill>
            <a:srgbClr val="F4F7FD"/>
          </a:solidFill>
          <a:ln/>
        </p:spPr>
      </p:sp>
      <p:sp>
        <p:nvSpPr>
          <p:cNvPr id="8" name="Shape 5"/>
          <p:cNvSpPr/>
          <p:nvPr/>
        </p:nvSpPr>
        <p:spPr>
          <a:xfrm>
            <a:off x="548640" y="1600200"/>
            <a:ext cx="109728" cy="2148840"/>
          </a:xfrm>
          <a:prstGeom prst="rect">
            <a:avLst/>
          </a:prstGeom>
          <a:solidFill>
            <a:srgbClr val="E8A33D"/>
          </a:solidFill>
          <a:ln/>
        </p:spPr>
      </p:sp>
      <p:sp>
        <p:nvSpPr>
          <p:cNvPr id="9" name="Shape 6"/>
          <p:cNvSpPr/>
          <p:nvPr/>
        </p:nvSpPr>
        <p:spPr>
          <a:xfrm>
            <a:off x="914400" y="1920240"/>
            <a:ext cx="1005840" cy="1005840"/>
          </a:xfrm>
          <a:prstGeom prst="ellipse">
            <a:avLst/>
          </a:prstGeom>
          <a:solidFill>
            <a:srgbClr val="E8A33D"/>
          </a:solidFill>
          <a:ln/>
        </p:spPr>
      </p:sp>
      <p:sp>
        <p:nvSpPr>
          <p:cNvPr id="10" name="Text 7"/>
          <p:cNvSpPr txBox="1"/>
          <p:nvPr/>
        </p:nvSpPr>
        <p:spPr>
          <a:xfrm>
            <a:off x="914400" y="1920240"/>
            <a:ext cx="1005840" cy="1005840"/>
          </a:xfrm>
          <a:prstGeom prst="rect">
            <a:avLst/>
          </a:prstGeom>
          <a:noFill/>
          <a:ln/>
        </p:spPr>
        <p:txBody>
          <a:bodyPr wrap="square" lIns="0" tIns="0" rIns="0" bIns="0" rtlCol="0" anchor="ctr"/>
          <a:lstStyle/>
          <a:p>
            <a:pPr algn="ctr" indent="0" marL="0">
              <a:buNone/>
            </a:pPr>
            <a:r>
              <a:rPr lang="en-US" sz="3740" b="1" dirty="0">
                <a:solidFill>
                  <a:srgbClr val="FFFFFF"/>
                </a:solidFill>
                <a:latin typeface="Cambria" pitchFamily="34" charset="0"/>
                <a:ea typeface="Cambria" pitchFamily="34" charset="-122"/>
                <a:cs typeface="Cambria" pitchFamily="34" charset="-120"/>
              </a:rPr>
              <a:t>4</a:t>
            </a:r>
            <a:endParaRPr lang="en-US" sz="3740" dirty="0"/>
          </a:p>
        </p:txBody>
      </p:sp>
      <p:sp>
        <p:nvSpPr>
          <p:cNvPr id="11" name="Text 8"/>
          <p:cNvSpPr txBox="1"/>
          <p:nvPr/>
        </p:nvSpPr>
        <p:spPr>
          <a:xfrm>
            <a:off x="2194560" y="1828800"/>
            <a:ext cx="9144000" cy="274320"/>
          </a:xfrm>
          <a:prstGeom prst="rect">
            <a:avLst/>
          </a:prstGeom>
          <a:noFill/>
          <a:ln/>
        </p:spPr>
        <p:txBody>
          <a:bodyPr wrap="square" lIns="0" tIns="0" rIns="0" bIns="0" rtlCol="0" anchor="t"/>
          <a:lstStyle/>
          <a:p>
            <a:pPr indent="0" marL="0">
              <a:buNone/>
            </a:pPr>
            <a:r>
              <a:rPr lang="en-US" sz="1300" b="1" dirty="0">
                <a:solidFill>
                  <a:srgbClr val="5B6B8C"/>
                </a:solidFill>
                <a:latin typeface="Calibri" pitchFamily="34" charset="0"/>
                <a:ea typeface="Calibri" pitchFamily="34" charset="-122"/>
                <a:cs typeface="Calibri" pitchFamily="34" charset="-120"/>
              </a:rPr>
              <a:t>So arbeitest du mit:</a:t>
            </a:r>
            <a:endParaRPr lang="en-US" sz="1300" dirty="0"/>
          </a:p>
        </p:txBody>
      </p:sp>
      <p:sp>
        <p:nvSpPr>
          <p:cNvPr id="12" name="Text 9"/>
          <p:cNvSpPr txBox="1"/>
          <p:nvPr/>
        </p:nvSpPr>
        <p:spPr>
          <a:xfrm>
            <a:off x="2194560" y="2103120"/>
            <a:ext cx="9235440" cy="1005840"/>
          </a:xfrm>
          <a:prstGeom prst="rect">
            <a:avLst/>
          </a:prstGeom>
          <a:noFill/>
          <a:ln/>
        </p:spPr>
        <p:txBody>
          <a:bodyPr wrap="square" lIns="0" tIns="0" rIns="0" bIns="0" rtlCol="0" anchor="t"/>
          <a:lstStyle/>
          <a:p>
            <a:pPr indent="0" marL="0">
              <a:buNone/>
            </a:pPr>
            <a:r>
              <a:rPr lang="en-US" sz="1800" dirty="0">
                <a:solidFill>
                  <a:srgbClr val="1E2761"/>
                </a:solidFill>
                <a:latin typeface="Calibri" pitchFamily="34" charset="0"/>
                <a:ea typeface="Calibri" pitchFamily="34" charset="-122"/>
                <a:cs typeface="Calibri" pitchFamily="34" charset="-120"/>
              </a:rPr>
              <a:t>Ich melde mich nur gelegentlich. Ich gebe einfache Fakten aus dem gerade behandelten Stoff wieder – im Wesentlichen richtig.</a:t>
            </a:r>
            <a:endParaRPr lang="en-US" sz="1800" dirty="0"/>
          </a:p>
        </p:txBody>
      </p:sp>
      <p:sp>
        <p:nvSpPr>
          <p:cNvPr id="13" name="Text 10"/>
          <p:cNvSpPr txBox="1"/>
          <p:nvPr/>
        </p:nvSpPr>
        <p:spPr>
          <a:xfrm>
            <a:off x="2194560" y="3200400"/>
            <a:ext cx="9235440" cy="365760"/>
          </a:xfrm>
          <a:prstGeom prst="rect">
            <a:avLst/>
          </a:prstGeom>
          <a:noFill/>
          <a:ln/>
        </p:spPr>
        <p:txBody>
          <a:bodyPr wrap="square" lIns="0" tIns="0" rIns="0" bIns="0" rtlCol="0" anchor="t"/>
          <a:lstStyle/>
          <a:p>
            <a:pPr indent="0" marL="0">
              <a:buNone/>
            </a:pPr>
            <a:r>
              <a:rPr lang="en-US" sz="1500" b="1" dirty="0">
                <a:solidFill>
                  <a:srgbClr val="E8A33D"/>
                </a:solidFill>
                <a:latin typeface="Calibri" pitchFamily="34" charset="0"/>
                <a:ea typeface="Calibri" pitchFamily="34" charset="-122"/>
                <a:cs typeface="Calibri" pitchFamily="34" charset="-120"/>
              </a:rPr>
              <a:t>Bedeutung: </a:t>
            </a:r>
            <a:pPr indent="0" marL="0">
              <a:buNone/>
            </a:pPr>
            <a:r>
              <a:rPr lang="en-US" sz="1500" i="1" dirty="0">
                <a:solidFill>
                  <a:srgbClr val="1E2761"/>
                </a:solidFill>
                <a:latin typeface="Calibri" pitchFamily="34" charset="0"/>
                <a:ea typeface="Calibri" pitchFamily="34" charset="-122"/>
                <a:cs typeface="Calibri" pitchFamily="34" charset="-120"/>
              </a:rPr>
              <a:t>Die Leistung hat Mängel, entspricht im Ganzen aber noch den Anforderungen.</a:t>
            </a:r>
            <a:endParaRPr lang="en-US" sz="1500" dirty="0"/>
          </a:p>
        </p:txBody>
      </p:sp>
      <p:sp>
        <p:nvSpPr>
          <p:cNvPr id="14" name="Shape 11"/>
          <p:cNvSpPr/>
          <p:nvPr/>
        </p:nvSpPr>
        <p:spPr>
          <a:xfrm>
            <a:off x="548640" y="3931920"/>
            <a:ext cx="11064240" cy="2148840"/>
          </a:xfrm>
          <a:prstGeom prst="roundRect">
            <a:avLst>
              <a:gd name="adj" fmla="val 3404"/>
            </a:avLst>
          </a:prstGeom>
          <a:solidFill>
            <a:srgbClr val="F4F7FD"/>
          </a:solidFill>
          <a:ln/>
        </p:spPr>
      </p:sp>
      <p:sp>
        <p:nvSpPr>
          <p:cNvPr id="15" name="Shape 12"/>
          <p:cNvSpPr/>
          <p:nvPr/>
        </p:nvSpPr>
        <p:spPr>
          <a:xfrm>
            <a:off x="548640" y="3931920"/>
            <a:ext cx="109728" cy="2148840"/>
          </a:xfrm>
          <a:prstGeom prst="rect">
            <a:avLst/>
          </a:prstGeom>
          <a:solidFill>
            <a:srgbClr val="9DB84A"/>
          </a:solidFill>
          <a:ln/>
        </p:spPr>
      </p:sp>
      <p:sp>
        <p:nvSpPr>
          <p:cNvPr id="16" name="Shape 13"/>
          <p:cNvSpPr/>
          <p:nvPr/>
        </p:nvSpPr>
        <p:spPr>
          <a:xfrm>
            <a:off x="914400" y="4251960"/>
            <a:ext cx="1005840" cy="1005840"/>
          </a:xfrm>
          <a:prstGeom prst="ellipse">
            <a:avLst/>
          </a:prstGeom>
          <a:solidFill>
            <a:srgbClr val="9DB84A"/>
          </a:solidFill>
          <a:ln/>
        </p:spPr>
      </p:sp>
      <p:sp>
        <p:nvSpPr>
          <p:cNvPr id="17" name="Text 14"/>
          <p:cNvSpPr txBox="1"/>
          <p:nvPr/>
        </p:nvSpPr>
        <p:spPr>
          <a:xfrm>
            <a:off x="914400" y="4251960"/>
            <a:ext cx="1005840" cy="1005840"/>
          </a:xfrm>
          <a:prstGeom prst="rect">
            <a:avLst/>
          </a:prstGeom>
          <a:noFill/>
          <a:ln/>
        </p:spPr>
        <p:txBody>
          <a:bodyPr wrap="square" lIns="0" tIns="0" rIns="0" bIns="0" rtlCol="0" anchor="ctr"/>
          <a:lstStyle/>
          <a:p>
            <a:pPr algn="ctr" indent="0" marL="0">
              <a:buNone/>
            </a:pPr>
            <a:r>
              <a:rPr lang="en-US" sz="3740" b="1" dirty="0">
                <a:solidFill>
                  <a:srgbClr val="FFFFFF"/>
                </a:solidFill>
                <a:latin typeface="Cambria" pitchFamily="34" charset="0"/>
                <a:ea typeface="Cambria" pitchFamily="34" charset="-122"/>
                <a:cs typeface="Cambria" pitchFamily="34" charset="-120"/>
              </a:rPr>
              <a:t>3</a:t>
            </a:r>
            <a:endParaRPr lang="en-US" sz="3740" dirty="0"/>
          </a:p>
        </p:txBody>
      </p:sp>
      <p:sp>
        <p:nvSpPr>
          <p:cNvPr id="18" name="Text 15"/>
          <p:cNvSpPr txBox="1"/>
          <p:nvPr/>
        </p:nvSpPr>
        <p:spPr>
          <a:xfrm>
            <a:off x="2194560" y="4160520"/>
            <a:ext cx="9144000" cy="274320"/>
          </a:xfrm>
          <a:prstGeom prst="rect">
            <a:avLst/>
          </a:prstGeom>
          <a:noFill/>
          <a:ln/>
        </p:spPr>
        <p:txBody>
          <a:bodyPr wrap="square" lIns="0" tIns="0" rIns="0" bIns="0" rtlCol="0" anchor="t"/>
          <a:lstStyle/>
          <a:p>
            <a:pPr indent="0" marL="0">
              <a:buNone/>
            </a:pPr>
            <a:r>
              <a:rPr lang="en-US" sz="1300" b="1" dirty="0">
                <a:solidFill>
                  <a:srgbClr val="5B6B8C"/>
                </a:solidFill>
                <a:latin typeface="Calibri" pitchFamily="34" charset="0"/>
                <a:ea typeface="Calibri" pitchFamily="34" charset="-122"/>
                <a:cs typeface="Calibri" pitchFamily="34" charset="-120"/>
              </a:rPr>
              <a:t>So arbeitest du mit:</a:t>
            </a:r>
            <a:endParaRPr lang="en-US" sz="1300" dirty="0"/>
          </a:p>
        </p:txBody>
      </p:sp>
      <p:sp>
        <p:nvSpPr>
          <p:cNvPr id="19" name="Text 16"/>
          <p:cNvSpPr txBox="1"/>
          <p:nvPr/>
        </p:nvSpPr>
        <p:spPr>
          <a:xfrm>
            <a:off x="2194560" y="4434840"/>
            <a:ext cx="9235440" cy="1005840"/>
          </a:xfrm>
          <a:prstGeom prst="rect">
            <a:avLst/>
          </a:prstGeom>
          <a:noFill/>
          <a:ln/>
        </p:spPr>
        <p:txBody>
          <a:bodyPr wrap="square" lIns="0" tIns="0" rIns="0" bIns="0" rtlCol="0" anchor="t"/>
          <a:lstStyle/>
          <a:p>
            <a:pPr indent="0" marL="0">
              <a:buNone/>
            </a:pPr>
            <a:r>
              <a:rPr lang="en-US" sz="1800" dirty="0">
                <a:solidFill>
                  <a:srgbClr val="1E2761"/>
                </a:solidFill>
                <a:latin typeface="Calibri" pitchFamily="34" charset="0"/>
                <a:ea typeface="Calibri" pitchFamily="34" charset="-122"/>
                <a:cs typeface="Calibri" pitchFamily="34" charset="-120"/>
              </a:rPr>
              <a:t>Ich melde mich regelmäßig von mir aus. Was ich zum aktuellen Stoff sage, ist im Wesentlichen richtig, und ich verknüpfe es mit dem, was wir vorher in der Einheit gelernt haben.</a:t>
            </a:r>
            <a:endParaRPr lang="en-US" sz="1800" dirty="0"/>
          </a:p>
        </p:txBody>
      </p:sp>
      <p:sp>
        <p:nvSpPr>
          <p:cNvPr id="20" name="Text 17"/>
          <p:cNvSpPr txBox="1"/>
          <p:nvPr/>
        </p:nvSpPr>
        <p:spPr>
          <a:xfrm>
            <a:off x="2194560" y="5532120"/>
            <a:ext cx="9235440" cy="365760"/>
          </a:xfrm>
          <a:prstGeom prst="rect">
            <a:avLst/>
          </a:prstGeom>
          <a:noFill/>
          <a:ln/>
        </p:spPr>
        <p:txBody>
          <a:bodyPr wrap="square" lIns="0" tIns="0" rIns="0" bIns="0" rtlCol="0" anchor="t"/>
          <a:lstStyle/>
          <a:p>
            <a:pPr indent="0" marL="0">
              <a:buNone/>
            </a:pPr>
            <a:r>
              <a:rPr lang="en-US" sz="1500" b="1" dirty="0">
                <a:solidFill>
                  <a:srgbClr val="9DB84A"/>
                </a:solidFill>
                <a:latin typeface="Calibri" pitchFamily="34" charset="0"/>
                <a:ea typeface="Calibri" pitchFamily="34" charset="-122"/>
                <a:cs typeface="Calibri" pitchFamily="34" charset="-120"/>
              </a:rPr>
              <a:t>Bedeutung: </a:t>
            </a:r>
            <a:pPr indent="0" marL="0">
              <a:buNone/>
            </a:pPr>
            <a:r>
              <a:rPr lang="en-US" sz="1500" i="1" dirty="0">
                <a:solidFill>
                  <a:srgbClr val="1E2761"/>
                </a:solidFill>
                <a:latin typeface="Calibri" pitchFamily="34" charset="0"/>
                <a:ea typeface="Calibri" pitchFamily="34" charset="-122"/>
                <a:cs typeface="Calibri" pitchFamily="34" charset="-120"/>
              </a:rPr>
              <a:t>Die Leistung entspricht im Allgemeinen den Anforderungen.</a:t>
            </a:r>
            <a:endParaRPr lang="en-US" sz="15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8229600" cy="274320"/>
          </a:xfrm>
          <a:prstGeom prst="rect">
            <a:avLst/>
          </a:prstGeom>
          <a:noFill/>
          <a:ln/>
        </p:spPr>
        <p:txBody>
          <a:bodyPr wrap="square" lIns="0" tIns="0" rIns="0" bIns="0" rtlCol="0" anchor="t"/>
          <a:lstStyle/>
          <a:p>
            <a:pPr indent="0" marL="0">
              <a:buNone/>
            </a:pPr>
            <a:r>
              <a:rPr lang="en-US" sz="1200" spc="200" kern="0" dirty="0">
                <a:solidFill>
                  <a:srgbClr val="5B6B8C"/>
                </a:solidFill>
                <a:latin typeface="Calibri" pitchFamily="34" charset="0"/>
                <a:ea typeface="Calibri" pitchFamily="34" charset="-122"/>
                <a:cs typeface="Calibri" pitchFamily="34" charset="-120"/>
              </a:rPr>
              <a:t>DIE STUFEN IM DETAIL</a:t>
            </a:r>
            <a:endParaRPr lang="en-US" sz="1200" dirty="0"/>
          </a:p>
        </p:txBody>
      </p:sp>
      <p:sp>
        <p:nvSpPr>
          <p:cNvPr id="3" name="Text 1"/>
          <p:cNvSpPr txBox="1"/>
          <p:nvPr/>
        </p:nvSpPr>
        <p:spPr>
          <a:xfrm>
            <a:off x="548640" y="658368"/>
            <a:ext cx="11064240" cy="640080"/>
          </a:xfrm>
          <a:prstGeom prst="rect">
            <a:avLst/>
          </a:prstGeom>
          <a:noFill/>
          <a:ln/>
        </p:spPr>
        <p:txBody>
          <a:bodyPr wrap="square" lIns="0" tIns="0" rIns="0" bIns="0" rtlCol="0" anchor="t"/>
          <a:lstStyle/>
          <a:p>
            <a:pPr indent="0" marL="0">
              <a:buNone/>
            </a:pPr>
            <a:r>
              <a:rPr lang="en-US" sz="3200" b="1" dirty="0">
                <a:solidFill>
                  <a:srgbClr val="1E2761"/>
                </a:solidFill>
                <a:latin typeface="Cambria" pitchFamily="34" charset="0"/>
                <a:ea typeface="Cambria" pitchFamily="34" charset="-122"/>
                <a:cs typeface="Cambria" pitchFamily="34" charset="-120"/>
              </a:rPr>
              <a:t>Note 2 und 1: verstehen und selbst denken</a:t>
            </a:r>
            <a:endParaRPr lang="en-US" sz="3200" dirty="0"/>
          </a:p>
        </p:txBody>
      </p:sp>
      <p:sp>
        <p:nvSpPr>
          <p:cNvPr id="4" name="Text 2"/>
          <p:cNvSpPr txBox="1"/>
          <p:nvPr/>
        </p:nvSpPr>
        <p:spPr>
          <a:xfrm>
            <a:off x="548640" y="6400800"/>
            <a:ext cx="6400800" cy="228600"/>
          </a:xfrm>
          <a:prstGeom prst="rect">
            <a:avLst/>
          </a:prstGeom>
          <a:noFill/>
          <a:ln/>
        </p:spPr>
        <p:txBody>
          <a:bodyPr wrap="square" lIns="0" tIns="0" rIns="0" bIns="0" rtlCol="0" anchor="t"/>
          <a:lstStyle/>
          <a:p>
            <a:pPr indent="0" marL="0">
              <a:buNone/>
            </a:pPr>
            <a:r>
              <a:rPr lang="en-US" sz="1000" dirty="0">
                <a:solidFill>
                  <a:srgbClr val="5B6B8C"/>
                </a:solidFill>
                <a:latin typeface="Calibri" pitchFamily="34" charset="0"/>
                <a:ea typeface="Calibri" pitchFamily="34" charset="-122"/>
                <a:cs typeface="Calibri" pitchFamily="34" charset="-120"/>
              </a:rPr>
              <a:t>Teil 2 · Mündliche Noten · Deutsch 7A</a:t>
            </a:r>
            <a:endParaRPr lang="en-US" sz="1000" dirty="0"/>
          </a:p>
        </p:txBody>
      </p:sp>
      <p:sp>
        <p:nvSpPr>
          <p:cNvPr id="5" name="Text 3"/>
          <p:cNvSpPr txBox="1"/>
          <p:nvPr/>
        </p:nvSpPr>
        <p:spPr>
          <a:xfrm>
            <a:off x="11155680" y="6400800"/>
            <a:ext cx="457200" cy="228600"/>
          </a:xfrm>
          <a:prstGeom prst="rect">
            <a:avLst/>
          </a:prstGeom>
          <a:noFill/>
          <a:ln/>
        </p:spPr>
        <p:txBody>
          <a:bodyPr wrap="square" lIns="0" tIns="0" rIns="0" bIns="0" rtlCol="0" anchor="t"/>
          <a:lstStyle/>
          <a:p>
            <a:pPr algn="r" indent="0" marL="0">
              <a:buNone/>
            </a:pPr>
            <a:r>
              <a:rPr lang="en-US" sz="1000" dirty="0">
                <a:solidFill>
                  <a:srgbClr val="5B6B8C"/>
                </a:solidFill>
                <a:latin typeface="Calibri" pitchFamily="34" charset="0"/>
                <a:ea typeface="Calibri" pitchFamily="34" charset="-122"/>
                <a:cs typeface="Calibri" pitchFamily="34" charset="-120"/>
              </a:rPr>
              <a:t>12</a:t>
            </a:r>
            <a:endParaRPr lang="en-US" sz="1000" dirty="0"/>
          </a:p>
        </p:txBody>
      </p:sp>
      <p:sp>
        <p:nvSpPr>
          <p:cNvPr id="7" name="Shape 4"/>
          <p:cNvSpPr/>
          <p:nvPr/>
        </p:nvSpPr>
        <p:spPr>
          <a:xfrm>
            <a:off x="548640" y="1600200"/>
            <a:ext cx="11064240" cy="2148840"/>
          </a:xfrm>
          <a:prstGeom prst="roundRect">
            <a:avLst>
              <a:gd name="adj" fmla="val 3404"/>
            </a:avLst>
          </a:prstGeom>
          <a:solidFill>
            <a:srgbClr val="F4F7FD"/>
          </a:solidFill>
          <a:ln/>
        </p:spPr>
      </p:sp>
      <p:sp>
        <p:nvSpPr>
          <p:cNvPr id="8" name="Shape 5"/>
          <p:cNvSpPr/>
          <p:nvPr/>
        </p:nvSpPr>
        <p:spPr>
          <a:xfrm>
            <a:off x="548640" y="1600200"/>
            <a:ext cx="109728" cy="2148840"/>
          </a:xfrm>
          <a:prstGeom prst="rect">
            <a:avLst/>
          </a:prstGeom>
          <a:solidFill>
            <a:srgbClr val="5AAE62"/>
          </a:solidFill>
          <a:ln/>
        </p:spPr>
      </p:sp>
      <p:sp>
        <p:nvSpPr>
          <p:cNvPr id="9" name="Shape 6"/>
          <p:cNvSpPr/>
          <p:nvPr/>
        </p:nvSpPr>
        <p:spPr>
          <a:xfrm>
            <a:off x="914400" y="1920240"/>
            <a:ext cx="1005840" cy="1005840"/>
          </a:xfrm>
          <a:prstGeom prst="ellipse">
            <a:avLst/>
          </a:prstGeom>
          <a:solidFill>
            <a:srgbClr val="5AAE62"/>
          </a:solidFill>
          <a:ln/>
        </p:spPr>
      </p:sp>
      <p:sp>
        <p:nvSpPr>
          <p:cNvPr id="10" name="Text 7"/>
          <p:cNvSpPr txBox="1"/>
          <p:nvPr/>
        </p:nvSpPr>
        <p:spPr>
          <a:xfrm>
            <a:off x="914400" y="1920240"/>
            <a:ext cx="1005840" cy="1005840"/>
          </a:xfrm>
          <a:prstGeom prst="rect">
            <a:avLst/>
          </a:prstGeom>
          <a:noFill/>
          <a:ln/>
        </p:spPr>
        <p:txBody>
          <a:bodyPr wrap="square" lIns="0" tIns="0" rIns="0" bIns="0" rtlCol="0" anchor="ctr"/>
          <a:lstStyle/>
          <a:p>
            <a:pPr algn="ctr" indent="0" marL="0">
              <a:buNone/>
            </a:pPr>
            <a:r>
              <a:rPr lang="en-US" sz="3740" b="1" dirty="0">
                <a:solidFill>
                  <a:srgbClr val="FFFFFF"/>
                </a:solidFill>
                <a:latin typeface="Cambria" pitchFamily="34" charset="0"/>
                <a:ea typeface="Cambria" pitchFamily="34" charset="-122"/>
                <a:cs typeface="Cambria" pitchFamily="34" charset="-120"/>
              </a:rPr>
              <a:t>2</a:t>
            </a:r>
            <a:endParaRPr lang="en-US" sz="3740" dirty="0"/>
          </a:p>
        </p:txBody>
      </p:sp>
      <p:sp>
        <p:nvSpPr>
          <p:cNvPr id="11" name="Text 8"/>
          <p:cNvSpPr txBox="1"/>
          <p:nvPr/>
        </p:nvSpPr>
        <p:spPr>
          <a:xfrm>
            <a:off x="2194560" y="1828800"/>
            <a:ext cx="9144000" cy="274320"/>
          </a:xfrm>
          <a:prstGeom prst="rect">
            <a:avLst/>
          </a:prstGeom>
          <a:noFill/>
          <a:ln/>
        </p:spPr>
        <p:txBody>
          <a:bodyPr wrap="square" lIns="0" tIns="0" rIns="0" bIns="0" rtlCol="0" anchor="t"/>
          <a:lstStyle/>
          <a:p>
            <a:pPr indent="0" marL="0">
              <a:buNone/>
            </a:pPr>
            <a:r>
              <a:rPr lang="en-US" sz="1300" b="1" dirty="0">
                <a:solidFill>
                  <a:srgbClr val="5B6B8C"/>
                </a:solidFill>
                <a:latin typeface="Calibri" pitchFamily="34" charset="0"/>
                <a:ea typeface="Calibri" pitchFamily="34" charset="-122"/>
                <a:cs typeface="Calibri" pitchFamily="34" charset="-120"/>
              </a:rPr>
              <a:t>So arbeitest du mit:</a:t>
            </a:r>
            <a:endParaRPr lang="en-US" sz="1300" dirty="0"/>
          </a:p>
        </p:txBody>
      </p:sp>
      <p:sp>
        <p:nvSpPr>
          <p:cNvPr id="12" name="Text 9"/>
          <p:cNvSpPr txBox="1"/>
          <p:nvPr/>
        </p:nvSpPr>
        <p:spPr>
          <a:xfrm>
            <a:off x="2194560" y="2103120"/>
            <a:ext cx="9235440" cy="1005840"/>
          </a:xfrm>
          <a:prstGeom prst="rect">
            <a:avLst/>
          </a:prstGeom>
          <a:noFill/>
          <a:ln/>
        </p:spPr>
        <p:txBody>
          <a:bodyPr wrap="square" lIns="0" tIns="0" rIns="0" bIns="0" rtlCol="0" anchor="t"/>
          <a:lstStyle/>
          <a:p>
            <a:pPr indent="0" marL="0">
              <a:buNone/>
            </a:pPr>
            <a:r>
              <a:rPr lang="en-US" sz="1800" dirty="0">
                <a:solidFill>
                  <a:srgbClr val="1E2761"/>
                </a:solidFill>
                <a:latin typeface="Calibri" pitchFamily="34" charset="0"/>
                <a:ea typeface="Calibri" pitchFamily="34" charset="-122"/>
                <a:cs typeface="Calibri" pitchFamily="34" charset="-120"/>
              </a:rPr>
              <a:t>Ich melde mich regelmäßig von mir aus. Ich verstehe auch schwierige Inhalte und ordne sie ins Thema ein. Ich unterscheide Wichtiges von Unwichtigem und weiß manchmal mehr, als im Unterricht dran war.</a:t>
            </a:r>
            <a:endParaRPr lang="en-US" sz="1800" dirty="0"/>
          </a:p>
        </p:txBody>
      </p:sp>
      <p:sp>
        <p:nvSpPr>
          <p:cNvPr id="13" name="Text 10"/>
          <p:cNvSpPr txBox="1"/>
          <p:nvPr/>
        </p:nvSpPr>
        <p:spPr>
          <a:xfrm>
            <a:off x="2194560" y="3200400"/>
            <a:ext cx="9235440" cy="365760"/>
          </a:xfrm>
          <a:prstGeom prst="rect">
            <a:avLst/>
          </a:prstGeom>
          <a:noFill/>
          <a:ln/>
        </p:spPr>
        <p:txBody>
          <a:bodyPr wrap="square" lIns="0" tIns="0" rIns="0" bIns="0" rtlCol="0" anchor="t"/>
          <a:lstStyle/>
          <a:p>
            <a:pPr indent="0" marL="0">
              <a:buNone/>
            </a:pPr>
            <a:r>
              <a:rPr lang="en-US" sz="1500" b="1" dirty="0">
                <a:solidFill>
                  <a:srgbClr val="5AAE62"/>
                </a:solidFill>
                <a:latin typeface="Calibri" pitchFamily="34" charset="0"/>
                <a:ea typeface="Calibri" pitchFamily="34" charset="-122"/>
                <a:cs typeface="Calibri" pitchFamily="34" charset="-120"/>
              </a:rPr>
              <a:t>Bedeutung: </a:t>
            </a:r>
            <a:pPr indent="0" marL="0">
              <a:buNone/>
            </a:pPr>
            <a:r>
              <a:rPr lang="en-US" sz="1500" i="1" dirty="0">
                <a:solidFill>
                  <a:srgbClr val="1E2761"/>
                </a:solidFill>
                <a:latin typeface="Calibri" pitchFamily="34" charset="0"/>
                <a:ea typeface="Calibri" pitchFamily="34" charset="-122"/>
                <a:cs typeface="Calibri" pitchFamily="34" charset="-120"/>
              </a:rPr>
              <a:t>Die Leistung entspricht in vollem Umfang den Anforderungen.</a:t>
            </a:r>
            <a:endParaRPr lang="en-US" sz="1500" dirty="0"/>
          </a:p>
        </p:txBody>
      </p:sp>
      <p:sp>
        <p:nvSpPr>
          <p:cNvPr id="14" name="Shape 11"/>
          <p:cNvSpPr/>
          <p:nvPr/>
        </p:nvSpPr>
        <p:spPr>
          <a:xfrm>
            <a:off x="548640" y="3931920"/>
            <a:ext cx="11064240" cy="2148840"/>
          </a:xfrm>
          <a:prstGeom prst="roundRect">
            <a:avLst>
              <a:gd name="adj" fmla="val 3404"/>
            </a:avLst>
          </a:prstGeom>
          <a:solidFill>
            <a:srgbClr val="F4F7FD"/>
          </a:solidFill>
          <a:ln/>
        </p:spPr>
      </p:sp>
      <p:sp>
        <p:nvSpPr>
          <p:cNvPr id="15" name="Shape 12"/>
          <p:cNvSpPr/>
          <p:nvPr/>
        </p:nvSpPr>
        <p:spPr>
          <a:xfrm>
            <a:off x="548640" y="3931920"/>
            <a:ext cx="109728" cy="2148840"/>
          </a:xfrm>
          <a:prstGeom prst="rect">
            <a:avLst/>
          </a:prstGeom>
          <a:solidFill>
            <a:srgbClr val="2E9E6B"/>
          </a:solidFill>
          <a:ln/>
        </p:spPr>
      </p:sp>
      <p:sp>
        <p:nvSpPr>
          <p:cNvPr id="16" name="Shape 13"/>
          <p:cNvSpPr/>
          <p:nvPr/>
        </p:nvSpPr>
        <p:spPr>
          <a:xfrm>
            <a:off x="914400" y="4251960"/>
            <a:ext cx="1005840" cy="1005840"/>
          </a:xfrm>
          <a:prstGeom prst="ellipse">
            <a:avLst/>
          </a:prstGeom>
          <a:solidFill>
            <a:srgbClr val="2E9E6B"/>
          </a:solidFill>
          <a:ln/>
        </p:spPr>
      </p:sp>
      <p:sp>
        <p:nvSpPr>
          <p:cNvPr id="17" name="Text 14"/>
          <p:cNvSpPr txBox="1"/>
          <p:nvPr/>
        </p:nvSpPr>
        <p:spPr>
          <a:xfrm>
            <a:off x="914400" y="4251960"/>
            <a:ext cx="1005840" cy="1005840"/>
          </a:xfrm>
          <a:prstGeom prst="rect">
            <a:avLst/>
          </a:prstGeom>
          <a:noFill/>
          <a:ln/>
        </p:spPr>
        <p:txBody>
          <a:bodyPr wrap="square" lIns="0" tIns="0" rIns="0" bIns="0" rtlCol="0" anchor="ctr"/>
          <a:lstStyle/>
          <a:p>
            <a:pPr algn="ctr" indent="0" marL="0">
              <a:buNone/>
            </a:pPr>
            <a:r>
              <a:rPr lang="en-US" sz="3740" b="1" dirty="0">
                <a:solidFill>
                  <a:srgbClr val="FFFFFF"/>
                </a:solidFill>
                <a:latin typeface="Cambria" pitchFamily="34" charset="0"/>
                <a:ea typeface="Cambria" pitchFamily="34" charset="-122"/>
                <a:cs typeface="Cambria" pitchFamily="34" charset="-120"/>
              </a:rPr>
              <a:t>1</a:t>
            </a:r>
            <a:endParaRPr lang="en-US" sz="3740" dirty="0"/>
          </a:p>
        </p:txBody>
      </p:sp>
      <p:sp>
        <p:nvSpPr>
          <p:cNvPr id="18" name="Text 15"/>
          <p:cNvSpPr txBox="1"/>
          <p:nvPr/>
        </p:nvSpPr>
        <p:spPr>
          <a:xfrm>
            <a:off x="2194560" y="4160520"/>
            <a:ext cx="9144000" cy="274320"/>
          </a:xfrm>
          <a:prstGeom prst="rect">
            <a:avLst/>
          </a:prstGeom>
          <a:noFill/>
          <a:ln/>
        </p:spPr>
        <p:txBody>
          <a:bodyPr wrap="square" lIns="0" tIns="0" rIns="0" bIns="0" rtlCol="0" anchor="t"/>
          <a:lstStyle/>
          <a:p>
            <a:pPr indent="0" marL="0">
              <a:buNone/>
            </a:pPr>
            <a:r>
              <a:rPr lang="en-US" sz="1300" b="1" dirty="0">
                <a:solidFill>
                  <a:srgbClr val="5B6B8C"/>
                </a:solidFill>
                <a:latin typeface="Calibri" pitchFamily="34" charset="0"/>
                <a:ea typeface="Calibri" pitchFamily="34" charset="-122"/>
                <a:cs typeface="Calibri" pitchFamily="34" charset="-120"/>
              </a:rPr>
              <a:t>So arbeitest du mit:</a:t>
            </a:r>
            <a:endParaRPr lang="en-US" sz="1300" dirty="0"/>
          </a:p>
        </p:txBody>
      </p:sp>
      <p:sp>
        <p:nvSpPr>
          <p:cNvPr id="19" name="Text 16"/>
          <p:cNvSpPr txBox="1"/>
          <p:nvPr/>
        </p:nvSpPr>
        <p:spPr>
          <a:xfrm>
            <a:off x="2194560" y="4434840"/>
            <a:ext cx="9235440" cy="1005840"/>
          </a:xfrm>
          <a:prstGeom prst="rect">
            <a:avLst/>
          </a:prstGeom>
          <a:noFill/>
          <a:ln/>
        </p:spPr>
        <p:txBody>
          <a:bodyPr wrap="square" lIns="0" tIns="0" rIns="0" bIns="0" rtlCol="0" anchor="t"/>
          <a:lstStyle/>
          <a:p>
            <a:pPr indent="0" marL="0">
              <a:buNone/>
            </a:pPr>
            <a:r>
              <a:rPr lang="en-US" sz="1800" dirty="0">
                <a:solidFill>
                  <a:srgbClr val="1E2761"/>
                </a:solidFill>
                <a:latin typeface="Calibri" pitchFamily="34" charset="0"/>
                <a:ea typeface="Calibri" pitchFamily="34" charset="-122"/>
                <a:cs typeface="Calibri" pitchFamily="34" charset="-120"/>
              </a:rPr>
              <a:t>Ich melde mich regelmäßig von mir aus. Ich erkenne das Problem, ordne es in einen größeren Zusammenhang ein, beurteile es sachlich und bringe eigene Gedanken ein. Ich drücke mich klar und mit Fachbegriffen aus.</a:t>
            </a:r>
            <a:endParaRPr lang="en-US" sz="1800" dirty="0"/>
          </a:p>
        </p:txBody>
      </p:sp>
      <p:sp>
        <p:nvSpPr>
          <p:cNvPr id="20" name="Text 17"/>
          <p:cNvSpPr txBox="1"/>
          <p:nvPr/>
        </p:nvSpPr>
        <p:spPr>
          <a:xfrm>
            <a:off x="2194560" y="5532120"/>
            <a:ext cx="9235440" cy="365760"/>
          </a:xfrm>
          <a:prstGeom prst="rect">
            <a:avLst/>
          </a:prstGeom>
          <a:noFill/>
          <a:ln/>
        </p:spPr>
        <p:txBody>
          <a:bodyPr wrap="square" lIns="0" tIns="0" rIns="0" bIns="0" rtlCol="0" anchor="t"/>
          <a:lstStyle/>
          <a:p>
            <a:pPr indent="0" marL="0">
              <a:buNone/>
            </a:pPr>
            <a:r>
              <a:rPr lang="en-US" sz="1500" b="1" dirty="0">
                <a:solidFill>
                  <a:srgbClr val="2E9E6B"/>
                </a:solidFill>
                <a:latin typeface="Calibri" pitchFamily="34" charset="0"/>
                <a:ea typeface="Calibri" pitchFamily="34" charset="-122"/>
                <a:cs typeface="Calibri" pitchFamily="34" charset="-120"/>
              </a:rPr>
              <a:t>Bedeutung: </a:t>
            </a:r>
            <a:pPr indent="0" marL="0">
              <a:buNone/>
            </a:pPr>
            <a:r>
              <a:rPr lang="en-US" sz="1500" i="1" dirty="0">
                <a:solidFill>
                  <a:srgbClr val="1E2761"/>
                </a:solidFill>
                <a:latin typeface="Calibri" pitchFamily="34" charset="0"/>
                <a:ea typeface="Calibri" pitchFamily="34" charset="-122"/>
                <a:cs typeface="Calibri" pitchFamily="34" charset="-120"/>
              </a:rPr>
              <a:t>Die Leistung entspricht den Anforderungen in ganz besonderem Maße.</a:t>
            </a:r>
            <a:endParaRPr lang="en-US" sz="15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8229600" cy="274320"/>
          </a:xfrm>
          <a:prstGeom prst="rect">
            <a:avLst/>
          </a:prstGeom>
          <a:noFill/>
          <a:ln/>
        </p:spPr>
        <p:txBody>
          <a:bodyPr wrap="square" lIns="0" tIns="0" rIns="0" bIns="0" rtlCol="0" anchor="t"/>
          <a:lstStyle/>
          <a:p>
            <a:pPr indent="0" marL="0">
              <a:buNone/>
            </a:pPr>
            <a:r>
              <a:rPr lang="en-US" sz="1200" spc="200" kern="0" dirty="0">
                <a:solidFill>
                  <a:srgbClr val="5B6B8C"/>
                </a:solidFill>
                <a:latin typeface="Calibri" pitchFamily="34" charset="0"/>
                <a:ea typeface="Calibri" pitchFamily="34" charset="-122"/>
                <a:cs typeface="Calibri" pitchFamily="34" charset="-120"/>
              </a:rPr>
              <a:t>EIN BEISPIEL AUS UNSEREM UNTERRICHT</a:t>
            </a:r>
            <a:endParaRPr lang="en-US" sz="1200" dirty="0"/>
          </a:p>
        </p:txBody>
      </p:sp>
      <p:sp>
        <p:nvSpPr>
          <p:cNvPr id="3" name="Text 1"/>
          <p:cNvSpPr txBox="1"/>
          <p:nvPr/>
        </p:nvSpPr>
        <p:spPr>
          <a:xfrm>
            <a:off x="548640" y="658368"/>
            <a:ext cx="11064240" cy="640080"/>
          </a:xfrm>
          <a:prstGeom prst="rect">
            <a:avLst/>
          </a:prstGeom>
          <a:noFill/>
          <a:ln/>
        </p:spPr>
        <p:txBody>
          <a:bodyPr wrap="square" lIns="0" tIns="0" rIns="0" bIns="0" rtlCol="0" anchor="t"/>
          <a:lstStyle/>
          <a:p>
            <a:pPr indent="0" marL="0">
              <a:buNone/>
            </a:pPr>
            <a:r>
              <a:rPr lang="en-US" sz="3200" b="1" dirty="0">
                <a:solidFill>
                  <a:srgbClr val="1E2761"/>
                </a:solidFill>
                <a:latin typeface="Cambria" pitchFamily="34" charset="0"/>
                <a:ea typeface="Cambria" pitchFamily="34" charset="-122"/>
                <a:cs typeface="Cambria" pitchFamily="34" charset="-120"/>
              </a:rPr>
              <a:t>Warum steht im Bericht das Präteritum?</a:t>
            </a:r>
            <a:endParaRPr lang="en-US" sz="3200" dirty="0"/>
          </a:p>
        </p:txBody>
      </p:sp>
      <p:sp>
        <p:nvSpPr>
          <p:cNvPr id="4" name="Text 2"/>
          <p:cNvSpPr txBox="1"/>
          <p:nvPr/>
        </p:nvSpPr>
        <p:spPr>
          <a:xfrm>
            <a:off x="548640" y="6400800"/>
            <a:ext cx="6400800" cy="228600"/>
          </a:xfrm>
          <a:prstGeom prst="rect">
            <a:avLst/>
          </a:prstGeom>
          <a:noFill/>
          <a:ln/>
        </p:spPr>
        <p:txBody>
          <a:bodyPr wrap="square" lIns="0" tIns="0" rIns="0" bIns="0" rtlCol="0" anchor="t"/>
          <a:lstStyle/>
          <a:p>
            <a:pPr indent="0" marL="0">
              <a:buNone/>
            </a:pPr>
            <a:r>
              <a:rPr lang="en-US" sz="1000" dirty="0">
                <a:solidFill>
                  <a:srgbClr val="5B6B8C"/>
                </a:solidFill>
                <a:latin typeface="Calibri" pitchFamily="34" charset="0"/>
                <a:ea typeface="Calibri" pitchFamily="34" charset="-122"/>
                <a:cs typeface="Calibri" pitchFamily="34" charset="-120"/>
              </a:rPr>
              <a:t>Teil 2 · Mündliche Noten · Deutsch 7A</a:t>
            </a:r>
            <a:endParaRPr lang="en-US" sz="1000" dirty="0"/>
          </a:p>
        </p:txBody>
      </p:sp>
      <p:sp>
        <p:nvSpPr>
          <p:cNvPr id="5" name="Text 3"/>
          <p:cNvSpPr txBox="1"/>
          <p:nvPr/>
        </p:nvSpPr>
        <p:spPr>
          <a:xfrm>
            <a:off x="11155680" y="6400800"/>
            <a:ext cx="457200" cy="228600"/>
          </a:xfrm>
          <a:prstGeom prst="rect">
            <a:avLst/>
          </a:prstGeom>
          <a:noFill/>
          <a:ln/>
        </p:spPr>
        <p:txBody>
          <a:bodyPr wrap="square" lIns="0" tIns="0" rIns="0" bIns="0" rtlCol="0" anchor="t"/>
          <a:lstStyle/>
          <a:p>
            <a:pPr algn="r" indent="0" marL="0">
              <a:buNone/>
            </a:pPr>
            <a:r>
              <a:rPr lang="en-US" sz="1000" dirty="0">
                <a:solidFill>
                  <a:srgbClr val="5B6B8C"/>
                </a:solidFill>
                <a:latin typeface="Calibri" pitchFamily="34" charset="0"/>
                <a:ea typeface="Calibri" pitchFamily="34" charset="-122"/>
                <a:cs typeface="Calibri" pitchFamily="34" charset="-120"/>
              </a:rPr>
              <a:t>13</a:t>
            </a:r>
            <a:endParaRPr lang="en-US" sz="1000" dirty="0"/>
          </a:p>
        </p:txBody>
      </p:sp>
      <p:sp>
        <p:nvSpPr>
          <p:cNvPr id="7" name="Shape 4"/>
          <p:cNvSpPr/>
          <p:nvPr/>
        </p:nvSpPr>
        <p:spPr>
          <a:xfrm>
            <a:off x="548640" y="1691640"/>
            <a:ext cx="731520" cy="731520"/>
          </a:xfrm>
          <a:prstGeom prst="ellipse">
            <a:avLst/>
          </a:prstGeom>
          <a:solidFill>
            <a:srgbClr val="E8A33D"/>
          </a:solidFill>
          <a:ln/>
        </p:spPr>
      </p:sp>
      <p:sp>
        <p:nvSpPr>
          <p:cNvPr id="8" name="Text 5"/>
          <p:cNvSpPr txBox="1"/>
          <p:nvPr/>
        </p:nvSpPr>
        <p:spPr>
          <a:xfrm>
            <a:off x="548640" y="1691640"/>
            <a:ext cx="731520" cy="731520"/>
          </a:xfrm>
          <a:prstGeom prst="rect">
            <a:avLst/>
          </a:prstGeom>
          <a:noFill/>
          <a:ln/>
        </p:spPr>
        <p:txBody>
          <a:bodyPr wrap="square" lIns="0" tIns="0" rIns="0" bIns="0" rtlCol="0" anchor="ctr"/>
          <a:lstStyle/>
          <a:p>
            <a:pPr algn="ctr" indent="0" marL="0">
              <a:buNone/>
            </a:pPr>
            <a:r>
              <a:rPr lang="en-US" sz="2720" b="1" dirty="0">
                <a:solidFill>
                  <a:srgbClr val="FFFFFF"/>
                </a:solidFill>
                <a:latin typeface="Cambria" pitchFamily="34" charset="0"/>
                <a:ea typeface="Cambria" pitchFamily="34" charset="-122"/>
                <a:cs typeface="Cambria" pitchFamily="34" charset="-120"/>
              </a:rPr>
              <a:t>4</a:t>
            </a:r>
            <a:endParaRPr lang="en-US" sz="2720" dirty="0"/>
          </a:p>
        </p:txBody>
      </p:sp>
      <p:sp>
        <p:nvSpPr>
          <p:cNvPr id="9" name="Shape 6"/>
          <p:cNvSpPr/>
          <p:nvPr/>
        </p:nvSpPr>
        <p:spPr>
          <a:xfrm>
            <a:off x="1463040" y="1554480"/>
            <a:ext cx="10149840" cy="1051560"/>
          </a:xfrm>
          <a:prstGeom prst="roundRect">
            <a:avLst>
              <a:gd name="adj" fmla="val 6957"/>
            </a:avLst>
          </a:prstGeom>
          <a:solidFill>
            <a:srgbClr val="F4F7FD"/>
          </a:solidFill>
          <a:ln/>
        </p:spPr>
      </p:sp>
      <p:sp>
        <p:nvSpPr>
          <p:cNvPr id="10" name="Text 7"/>
          <p:cNvSpPr txBox="1"/>
          <p:nvPr/>
        </p:nvSpPr>
        <p:spPr>
          <a:xfrm>
            <a:off x="1691640" y="1664208"/>
            <a:ext cx="9784080" cy="640080"/>
          </a:xfrm>
          <a:prstGeom prst="rect">
            <a:avLst/>
          </a:prstGeom>
          <a:noFill/>
          <a:ln/>
        </p:spPr>
        <p:txBody>
          <a:bodyPr wrap="square" lIns="0" tIns="0" rIns="0" bIns="0" rtlCol="0" anchor="t"/>
          <a:lstStyle/>
          <a:p>
            <a:pPr indent="0" marL="0">
              <a:buNone/>
            </a:pPr>
            <a:r>
              <a:rPr lang="en-US" sz="1500" dirty="0">
                <a:solidFill>
                  <a:srgbClr val="1E2761"/>
                </a:solidFill>
                <a:latin typeface="Calibri" pitchFamily="34" charset="0"/>
                <a:ea typeface="Calibri" pitchFamily="34" charset="-122"/>
                <a:cs typeface="Calibri" pitchFamily="34" charset="-120"/>
              </a:rPr>
              <a:t>„Weil das Vergangenheit ist.“</a:t>
            </a:r>
            <a:endParaRPr lang="en-US" sz="1500" dirty="0"/>
          </a:p>
        </p:txBody>
      </p:sp>
      <p:sp>
        <p:nvSpPr>
          <p:cNvPr id="11" name="Text 8"/>
          <p:cNvSpPr txBox="1"/>
          <p:nvPr/>
        </p:nvSpPr>
        <p:spPr>
          <a:xfrm>
            <a:off x="1691640" y="2286000"/>
            <a:ext cx="9784080" cy="274320"/>
          </a:xfrm>
          <a:prstGeom prst="rect">
            <a:avLst/>
          </a:prstGeom>
          <a:noFill/>
          <a:ln/>
        </p:spPr>
        <p:txBody>
          <a:bodyPr wrap="square" lIns="0" tIns="0" rIns="0" bIns="0" rtlCol="0" anchor="t"/>
          <a:lstStyle/>
          <a:p>
            <a:pPr indent="0" marL="0">
              <a:buNone/>
            </a:pPr>
            <a:r>
              <a:rPr lang="en-US" sz="1200" b="1" i="1" dirty="0">
                <a:solidFill>
                  <a:srgbClr val="E8A33D"/>
                </a:solidFill>
                <a:latin typeface="Calibri" pitchFamily="34" charset="0"/>
                <a:ea typeface="Calibri" pitchFamily="34" charset="-122"/>
                <a:cs typeface="Calibri" pitchFamily="34" charset="-120"/>
              </a:rPr>
              <a:t>richtig, aber nur Wiedergabe</a:t>
            </a:r>
            <a:endParaRPr lang="en-US" sz="1200" dirty="0"/>
          </a:p>
        </p:txBody>
      </p:sp>
      <p:sp>
        <p:nvSpPr>
          <p:cNvPr id="12" name="Shape 9"/>
          <p:cNvSpPr/>
          <p:nvPr/>
        </p:nvSpPr>
        <p:spPr>
          <a:xfrm>
            <a:off x="548640" y="2880360"/>
            <a:ext cx="731520" cy="731520"/>
          </a:xfrm>
          <a:prstGeom prst="ellipse">
            <a:avLst/>
          </a:prstGeom>
          <a:solidFill>
            <a:srgbClr val="9DB84A"/>
          </a:solidFill>
          <a:ln/>
        </p:spPr>
      </p:sp>
      <p:sp>
        <p:nvSpPr>
          <p:cNvPr id="13" name="Text 10"/>
          <p:cNvSpPr txBox="1"/>
          <p:nvPr/>
        </p:nvSpPr>
        <p:spPr>
          <a:xfrm>
            <a:off x="548640" y="2880360"/>
            <a:ext cx="731520" cy="731520"/>
          </a:xfrm>
          <a:prstGeom prst="rect">
            <a:avLst/>
          </a:prstGeom>
          <a:noFill/>
          <a:ln/>
        </p:spPr>
        <p:txBody>
          <a:bodyPr wrap="square" lIns="0" tIns="0" rIns="0" bIns="0" rtlCol="0" anchor="ctr"/>
          <a:lstStyle/>
          <a:p>
            <a:pPr algn="ctr" indent="0" marL="0">
              <a:buNone/>
            </a:pPr>
            <a:r>
              <a:rPr lang="en-US" sz="2720" b="1" dirty="0">
                <a:solidFill>
                  <a:srgbClr val="FFFFFF"/>
                </a:solidFill>
                <a:latin typeface="Cambria" pitchFamily="34" charset="0"/>
                <a:ea typeface="Cambria" pitchFamily="34" charset="-122"/>
                <a:cs typeface="Cambria" pitchFamily="34" charset="-120"/>
              </a:rPr>
              <a:t>3</a:t>
            </a:r>
            <a:endParaRPr lang="en-US" sz="2720" dirty="0"/>
          </a:p>
        </p:txBody>
      </p:sp>
      <p:sp>
        <p:nvSpPr>
          <p:cNvPr id="14" name="Shape 11"/>
          <p:cNvSpPr/>
          <p:nvPr/>
        </p:nvSpPr>
        <p:spPr>
          <a:xfrm>
            <a:off x="1463040" y="2743200"/>
            <a:ext cx="10149840" cy="1051560"/>
          </a:xfrm>
          <a:prstGeom prst="roundRect">
            <a:avLst>
              <a:gd name="adj" fmla="val 6957"/>
            </a:avLst>
          </a:prstGeom>
          <a:solidFill>
            <a:srgbClr val="F4F7FD"/>
          </a:solidFill>
          <a:ln/>
        </p:spPr>
      </p:sp>
      <p:sp>
        <p:nvSpPr>
          <p:cNvPr id="15" name="Text 12"/>
          <p:cNvSpPr txBox="1"/>
          <p:nvPr/>
        </p:nvSpPr>
        <p:spPr>
          <a:xfrm>
            <a:off x="1691640" y="2852928"/>
            <a:ext cx="9784080" cy="640080"/>
          </a:xfrm>
          <a:prstGeom prst="rect">
            <a:avLst/>
          </a:prstGeom>
          <a:noFill/>
          <a:ln/>
        </p:spPr>
        <p:txBody>
          <a:bodyPr wrap="square" lIns="0" tIns="0" rIns="0" bIns="0" rtlCol="0" anchor="t"/>
          <a:lstStyle/>
          <a:p>
            <a:pPr indent="0" marL="0">
              <a:buNone/>
            </a:pPr>
            <a:r>
              <a:rPr lang="en-US" sz="1500" dirty="0">
                <a:solidFill>
                  <a:srgbClr val="1E2761"/>
                </a:solidFill>
                <a:latin typeface="Calibri" pitchFamily="34" charset="0"/>
                <a:ea typeface="Calibri" pitchFamily="34" charset="-122"/>
                <a:cs typeface="Calibri" pitchFamily="34" charset="-120"/>
              </a:rPr>
              <a:t>„Weil der Bericht etwas Vergangenes erzählt. Das haben wir beim Zeitstrahl gelernt: Was man aufschreibt, steht im Präteritum.“</a:t>
            </a:r>
            <a:endParaRPr lang="en-US" sz="1500" dirty="0"/>
          </a:p>
        </p:txBody>
      </p:sp>
      <p:sp>
        <p:nvSpPr>
          <p:cNvPr id="16" name="Text 13"/>
          <p:cNvSpPr txBox="1"/>
          <p:nvPr/>
        </p:nvSpPr>
        <p:spPr>
          <a:xfrm>
            <a:off x="1691640" y="3474720"/>
            <a:ext cx="9784080" cy="274320"/>
          </a:xfrm>
          <a:prstGeom prst="rect">
            <a:avLst/>
          </a:prstGeom>
          <a:noFill/>
          <a:ln/>
        </p:spPr>
        <p:txBody>
          <a:bodyPr wrap="square" lIns="0" tIns="0" rIns="0" bIns="0" rtlCol="0" anchor="t"/>
          <a:lstStyle/>
          <a:p>
            <a:pPr indent="0" marL="0">
              <a:buNone/>
            </a:pPr>
            <a:r>
              <a:rPr lang="en-US" sz="1200" b="1" i="1" dirty="0">
                <a:solidFill>
                  <a:srgbClr val="9DB84A"/>
                </a:solidFill>
                <a:latin typeface="Calibri" pitchFamily="34" charset="0"/>
                <a:ea typeface="Calibri" pitchFamily="34" charset="-122"/>
                <a:cs typeface="Calibri" pitchFamily="34" charset="-120"/>
              </a:rPr>
              <a:t>richtig und mit früherem Stoff verknüpft</a:t>
            </a:r>
            <a:endParaRPr lang="en-US" sz="1200" dirty="0"/>
          </a:p>
        </p:txBody>
      </p:sp>
      <p:sp>
        <p:nvSpPr>
          <p:cNvPr id="17" name="Shape 14"/>
          <p:cNvSpPr/>
          <p:nvPr/>
        </p:nvSpPr>
        <p:spPr>
          <a:xfrm>
            <a:off x="548640" y="4069080"/>
            <a:ext cx="731520" cy="731520"/>
          </a:xfrm>
          <a:prstGeom prst="ellipse">
            <a:avLst/>
          </a:prstGeom>
          <a:solidFill>
            <a:srgbClr val="5AAE62"/>
          </a:solidFill>
          <a:ln/>
        </p:spPr>
      </p:sp>
      <p:sp>
        <p:nvSpPr>
          <p:cNvPr id="18" name="Text 15"/>
          <p:cNvSpPr txBox="1"/>
          <p:nvPr/>
        </p:nvSpPr>
        <p:spPr>
          <a:xfrm>
            <a:off x="548640" y="4069080"/>
            <a:ext cx="731520" cy="731520"/>
          </a:xfrm>
          <a:prstGeom prst="rect">
            <a:avLst/>
          </a:prstGeom>
          <a:noFill/>
          <a:ln/>
        </p:spPr>
        <p:txBody>
          <a:bodyPr wrap="square" lIns="0" tIns="0" rIns="0" bIns="0" rtlCol="0" anchor="ctr"/>
          <a:lstStyle/>
          <a:p>
            <a:pPr algn="ctr" indent="0" marL="0">
              <a:buNone/>
            </a:pPr>
            <a:r>
              <a:rPr lang="en-US" sz="2720" b="1" dirty="0">
                <a:solidFill>
                  <a:srgbClr val="FFFFFF"/>
                </a:solidFill>
                <a:latin typeface="Cambria" pitchFamily="34" charset="0"/>
                <a:ea typeface="Cambria" pitchFamily="34" charset="-122"/>
                <a:cs typeface="Cambria" pitchFamily="34" charset="-120"/>
              </a:rPr>
              <a:t>2</a:t>
            </a:r>
            <a:endParaRPr lang="en-US" sz="2720" dirty="0"/>
          </a:p>
        </p:txBody>
      </p:sp>
      <p:sp>
        <p:nvSpPr>
          <p:cNvPr id="19" name="Shape 16"/>
          <p:cNvSpPr/>
          <p:nvPr/>
        </p:nvSpPr>
        <p:spPr>
          <a:xfrm>
            <a:off x="1463040" y="3931920"/>
            <a:ext cx="10149840" cy="1051560"/>
          </a:xfrm>
          <a:prstGeom prst="roundRect">
            <a:avLst>
              <a:gd name="adj" fmla="val 6957"/>
            </a:avLst>
          </a:prstGeom>
          <a:solidFill>
            <a:srgbClr val="F4F7FD"/>
          </a:solidFill>
          <a:ln/>
        </p:spPr>
      </p:sp>
      <p:sp>
        <p:nvSpPr>
          <p:cNvPr id="20" name="Text 17"/>
          <p:cNvSpPr txBox="1"/>
          <p:nvPr/>
        </p:nvSpPr>
        <p:spPr>
          <a:xfrm>
            <a:off x="1691640" y="4041648"/>
            <a:ext cx="9784080" cy="640080"/>
          </a:xfrm>
          <a:prstGeom prst="rect">
            <a:avLst/>
          </a:prstGeom>
          <a:noFill/>
          <a:ln/>
        </p:spPr>
        <p:txBody>
          <a:bodyPr wrap="square" lIns="0" tIns="0" rIns="0" bIns="0" rtlCol="0" anchor="t"/>
          <a:lstStyle/>
          <a:p>
            <a:pPr indent="0" marL="0">
              <a:buNone/>
            </a:pPr>
            <a:r>
              <a:rPr lang="en-US" sz="1500" dirty="0">
                <a:solidFill>
                  <a:srgbClr val="1E2761"/>
                </a:solidFill>
                <a:latin typeface="Calibri" pitchFamily="34" charset="0"/>
                <a:ea typeface="Calibri" pitchFamily="34" charset="-122"/>
                <a:cs typeface="Calibri" pitchFamily="34" charset="-120"/>
              </a:rPr>
              <a:t>„Ein Bericht ist geschrieben, deshalb Präteritum. Wenn ich es mündlich erzähle, nehme ich das Perfekt – der Unterschied liegt also nicht in der Zeit, sondern darin, ob ich schreibe oder spreche.“</a:t>
            </a:r>
            <a:endParaRPr lang="en-US" sz="1500" dirty="0"/>
          </a:p>
        </p:txBody>
      </p:sp>
      <p:sp>
        <p:nvSpPr>
          <p:cNvPr id="21" name="Text 18"/>
          <p:cNvSpPr txBox="1"/>
          <p:nvPr/>
        </p:nvSpPr>
        <p:spPr>
          <a:xfrm>
            <a:off x="1691640" y="4663440"/>
            <a:ext cx="9784080" cy="274320"/>
          </a:xfrm>
          <a:prstGeom prst="rect">
            <a:avLst/>
          </a:prstGeom>
          <a:noFill/>
          <a:ln/>
        </p:spPr>
        <p:txBody>
          <a:bodyPr wrap="square" lIns="0" tIns="0" rIns="0" bIns="0" rtlCol="0" anchor="t"/>
          <a:lstStyle/>
          <a:p>
            <a:pPr indent="0" marL="0">
              <a:buNone/>
            </a:pPr>
            <a:r>
              <a:rPr lang="en-US" sz="1200" b="1" i="1" dirty="0">
                <a:solidFill>
                  <a:srgbClr val="5AAE62"/>
                </a:solidFill>
                <a:latin typeface="Calibri" pitchFamily="34" charset="0"/>
                <a:ea typeface="Calibri" pitchFamily="34" charset="-122"/>
                <a:cs typeface="Calibri" pitchFamily="34" charset="-120"/>
              </a:rPr>
              <a:t>verstanden, eingeordnet, das Wesentliche erkannt</a:t>
            </a:r>
            <a:endParaRPr lang="en-US" sz="1200" dirty="0"/>
          </a:p>
        </p:txBody>
      </p:sp>
      <p:sp>
        <p:nvSpPr>
          <p:cNvPr id="22" name="Shape 19"/>
          <p:cNvSpPr/>
          <p:nvPr/>
        </p:nvSpPr>
        <p:spPr>
          <a:xfrm>
            <a:off x="548640" y="5257800"/>
            <a:ext cx="731520" cy="731520"/>
          </a:xfrm>
          <a:prstGeom prst="ellipse">
            <a:avLst/>
          </a:prstGeom>
          <a:solidFill>
            <a:srgbClr val="2E9E6B"/>
          </a:solidFill>
          <a:ln/>
        </p:spPr>
      </p:sp>
      <p:sp>
        <p:nvSpPr>
          <p:cNvPr id="23" name="Text 20"/>
          <p:cNvSpPr txBox="1"/>
          <p:nvPr/>
        </p:nvSpPr>
        <p:spPr>
          <a:xfrm>
            <a:off x="548640" y="5257800"/>
            <a:ext cx="731520" cy="731520"/>
          </a:xfrm>
          <a:prstGeom prst="rect">
            <a:avLst/>
          </a:prstGeom>
          <a:noFill/>
          <a:ln/>
        </p:spPr>
        <p:txBody>
          <a:bodyPr wrap="square" lIns="0" tIns="0" rIns="0" bIns="0" rtlCol="0" anchor="ctr"/>
          <a:lstStyle/>
          <a:p>
            <a:pPr algn="ctr" indent="0" marL="0">
              <a:buNone/>
            </a:pPr>
            <a:r>
              <a:rPr lang="en-US" sz="2720" b="1" dirty="0">
                <a:solidFill>
                  <a:srgbClr val="FFFFFF"/>
                </a:solidFill>
                <a:latin typeface="Cambria" pitchFamily="34" charset="0"/>
                <a:ea typeface="Cambria" pitchFamily="34" charset="-122"/>
                <a:cs typeface="Cambria" pitchFamily="34" charset="-120"/>
              </a:rPr>
              <a:t>1</a:t>
            </a:r>
            <a:endParaRPr lang="en-US" sz="2720" dirty="0"/>
          </a:p>
        </p:txBody>
      </p:sp>
      <p:sp>
        <p:nvSpPr>
          <p:cNvPr id="24" name="Shape 21"/>
          <p:cNvSpPr/>
          <p:nvPr/>
        </p:nvSpPr>
        <p:spPr>
          <a:xfrm>
            <a:off x="1463040" y="5120640"/>
            <a:ext cx="10149840" cy="1051560"/>
          </a:xfrm>
          <a:prstGeom prst="roundRect">
            <a:avLst>
              <a:gd name="adj" fmla="val 6957"/>
            </a:avLst>
          </a:prstGeom>
          <a:solidFill>
            <a:srgbClr val="F4F7FD"/>
          </a:solidFill>
          <a:ln/>
        </p:spPr>
      </p:sp>
      <p:sp>
        <p:nvSpPr>
          <p:cNvPr id="25" name="Text 22"/>
          <p:cNvSpPr txBox="1"/>
          <p:nvPr/>
        </p:nvSpPr>
        <p:spPr>
          <a:xfrm>
            <a:off x="1691640" y="5230368"/>
            <a:ext cx="9784080" cy="640080"/>
          </a:xfrm>
          <a:prstGeom prst="rect">
            <a:avLst/>
          </a:prstGeom>
          <a:noFill/>
          <a:ln/>
        </p:spPr>
        <p:txBody>
          <a:bodyPr wrap="square" lIns="0" tIns="0" rIns="0" bIns="0" rtlCol="0" anchor="t"/>
          <a:lstStyle/>
          <a:p>
            <a:pPr indent="0" marL="0">
              <a:buNone/>
            </a:pPr>
            <a:r>
              <a:rPr lang="en-US" sz="1500" dirty="0">
                <a:solidFill>
                  <a:srgbClr val="1E2761"/>
                </a:solidFill>
                <a:latin typeface="Calibri" pitchFamily="34" charset="0"/>
                <a:ea typeface="Calibri" pitchFamily="34" charset="-122"/>
                <a:cs typeface="Calibri" pitchFamily="34" charset="-120"/>
              </a:rPr>
              <a:t>„… und das Plusquamperfekt brauche ich, wenn ich im Bericht die Vorgeschichte erzähle. Ich finde, dadurch wird ein Bericht spannender, weil man versteht, warum etwas passiert ist.“</a:t>
            </a:r>
            <a:endParaRPr lang="en-US" sz="1500" dirty="0"/>
          </a:p>
        </p:txBody>
      </p:sp>
      <p:sp>
        <p:nvSpPr>
          <p:cNvPr id="26" name="Text 23"/>
          <p:cNvSpPr txBox="1"/>
          <p:nvPr/>
        </p:nvSpPr>
        <p:spPr>
          <a:xfrm>
            <a:off x="1691640" y="5852160"/>
            <a:ext cx="9784080" cy="274320"/>
          </a:xfrm>
          <a:prstGeom prst="rect">
            <a:avLst/>
          </a:prstGeom>
          <a:noFill/>
          <a:ln/>
        </p:spPr>
        <p:txBody>
          <a:bodyPr wrap="square" lIns="0" tIns="0" rIns="0" bIns="0" rtlCol="0" anchor="t"/>
          <a:lstStyle/>
          <a:p>
            <a:pPr indent="0" marL="0">
              <a:buNone/>
            </a:pPr>
            <a:r>
              <a:rPr lang="en-US" sz="1200" b="1" i="1" dirty="0">
                <a:solidFill>
                  <a:srgbClr val="2E9E6B"/>
                </a:solidFill>
                <a:latin typeface="Calibri" pitchFamily="34" charset="0"/>
                <a:ea typeface="Calibri" pitchFamily="34" charset="-122"/>
                <a:cs typeface="Calibri" pitchFamily="34" charset="-120"/>
              </a:rPr>
              <a:t>eigener Gedanke, begründet und klar formuliert</a:t>
            </a:r>
            <a:endParaRPr lang="en-US" sz="12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8229600" cy="274320"/>
          </a:xfrm>
          <a:prstGeom prst="rect">
            <a:avLst/>
          </a:prstGeom>
          <a:noFill/>
          <a:ln/>
        </p:spPr>
        <p:txBody>
          <a:bodyPr wrap="square" lIns="0" tIns="0" rIns="0" bIns="0" rtlCol="0" anchor="t"/>
          <a:lstStyle/>
          <a:p>
            <a:pPr indent="0" marL="0">
              <a:buNone/>
            </a:pPr>
            <a:r>
              <a:rPr lang="en-US" sz="1200" spc="200" kern="0" dirty="0">
                <a:solidFill>
                  <a:srgbClr val="5B6B8C"/>
                </a:solidFill>
                <a:latin typeface="Calibri" pitchFamily="34" charset="0"/>
                <a:ea typeface="Calibri" pitchFamily="34" charset="-122"/>
                <a:cs typeface="Calibri" pitchFamily="34" charset="-120"/>
              </a:rPr>
              <a:t>UNTERRICHTSSTÖRUNGEN</a:t>
            </a:r>
            <a:endParaRPr lang="en-US" sz="1200" dirty="0"/>
          </a:p>
        </p:txBody>
      </p:sp>
      <p:sp>
        <p:nvSpPr>
          <p:cNvPr id="3" name="Text 1"/>
          <p:cNvSpPr txBox="1"/>
          <p:nvPr/>
        </p:nvSpPr>
        <p:spPr>
          <a:xfrm>
            <a:off x="548640" y="658368"/>
            <a:ext cx="11064240" cy="640080"/>
          </a:xfrm>
          <a:prstGeom prst="rect">
            <a:avLst/>
          </a:prstGeom>
          <a:noFill/>
          <a:ln/>
        </p:spPr>
        <p:txBody>
          <a:bodyPr wrap="square" lIns="0" tIns="0" rIns="0" bIns="0" rtlCol="0" anchor="t"/>
          <a:lstStyle/>
          <a:p>
            <a:pPr indent="0" marL="0">
              <a:buNone/>
            </a:pPr>
            <a:r>
              <a:rPr lang="en-US" sz="3200" b="1" dirty="0">
                <a:solidFill>
                  <a:srgbClr val="1E2761"/>
                </a:solidFill>
                <a:latin typeface="Cambria" pitchFamily="34" charset="0"/>
                <a:ea typeface="Cambria" pitchFamily="34" charset="-122"/>
                <a:cs typeface="Cambria" pitchFamily="34" charset="-120"/>
              </a:rPr>
              <a:t>Was stört den Unterricht?</a:t>
            </a:r>
            <a:endParaRPr lang="en-US" sz="3200" dirty="0"/>
          </a:p>
        </p:txBody>
      </p:sp>
      <p:sp>
        <p:nvSpPr>
          <p:cNvPr id="4" name="Text 2"/>
          <p:cNvSpPr txBox="1"/>
          <p:nvPr/>
        </p:nvSpPr>
        <p:spPr>
          <a:xfrm>
            <a:off x="548640" y="6400800"/>
            <a:ext cx="6400800" cy="228600"/>
          </a:xfrm>
          <a:prstGeom prst="rect">
            <a:avLst/>
          </a:prstGeom>
          <a:noFill/>
          <a:ln/>
        </p:spPr>
        <p:txBody>
          <a:bodyPr wrap="square" lIns="0" tIns="0" rIns="0" bIns="0" rtlCol="0" anchor="t"/>
          <a:lstStyle/>
          <a:p>
            <a:pPr indent="0" marL="0">
              <a:buNone/>
            </a:pPr>
            <a:r>
              <a:rPr lang="en-US" sz="1000" dirty="0">
                <a:solidFill>
                  <a:srgbClr val="5B6B8C"/>
                </a:solidFill>
                <a:latin typeface="Calibri" pitchFamily="34" charset="0"/>
                <a:ea typeface="Calibri" pitchFamily="34" charset="-122"/>
                <a:cs typeface="Calibri" pitchFamily="34" charset="-120"/>
              </a:rPr>
              <a:t>Teil 2 · Mündliche Noten · Deutsch 7A</a:t>
            </a:r>
            <a:endParaRPr lang="en-US" sz="1000" dirty="0"/>
          </a:p>
        </p:txBody>
      </p:sp>
      <p:sp>
        <p:nvSpPr>
          <p:cNvPr id="5" name="Text 3"/>
          <p:cNvSpPr txBox="1"/>
          <p:nvPr/>
        </p:nvSpPr>
        <p:spPr>
          <a:xfrm>
            <a:off x="11155680" y="6400800"/>
            <a:ext cx="457200" cy="228600"/>
          </a:xfrm>
          <a:prstGeom prst="rect">
            <a:avLst/>
          </a:prstGeom>
          <a:noFill/>
          <a:ln/>
        </p:spPr>
        <p:txBody>
          <a:bodyPr wrap="square" lIns="0" tIns="0" rIns="0" bIns="0" rtlCol="0" anchor="t"/>
          <a:lstStyle/>
          <a:p>
            <a:pPr algn="r" indent="0" marL="0">
              <a:buNone/>
            </a:pPr>
            <a:r>
              <a:rPr lang="en-US" sz="1000" dirty="0">
                <a:solidFill>
                  <a:srgbClr val="5B6B8C"/>
                </a:solidFill>
                <a:latin typeface="Calibri" pitchFamily="34" charset="0"/>
                <a:ea typeface="Calibri" pitchFamily="34" charset="-122"/>
                <a:cs typeface="Calibri" pitchFamily="34" charset="-120"/>
              </a:rPr>
              <a:t>14</a:t>
            </a:r>
            <a:endParaRPr lang="en-US" sz="1000" dirty="0"/>
          </a:p>
        </p:txBody>
      </p:sp>
      <p:sp>
        <p:nvSpPr>
          <p:cNvPr id="7" name="Shape 4"/>
          <p:cNvSpPr/>
          <p:nvPr/>
        </p:nvSpPr>
        <p:spPr>
          <a:xfrm>
            <a:off x="548640" y="1600200"/>
            <a:ext cx="5440680" cy="1234440"/>
          </a:xfrm>
          <a:prstGeom prst="roundRect">
            <a:avLst>
              <a:gd name="adj" fmla="val 5926"/>
            </a:avLst>
          </a:prstGeom>
          <a:solidFill>
            <a:srgbClr val="F4F7FD"/>
          </a:solidFill>
          <a:ln/>
        </p:spPr>
      </p:sp>
      <p:sp>
        <p:nvSpPr>
          <p:cNvPr id="8" name="Shape 5"/>
          <p:cNvSpPr/>
          <p:nvPr/>
        </p:nvSpPr>
        <p:spPr>
          <a:xfrm>
            <a:off x="548640" y="1600200"/>
            <a:ext cx="109728" cy="1234440"/>
          </a:xfrm>
          <a:prstGeom prst="rect">
            <a:avLst/>
          </a:prstGeom>
          <a:solidFill>
            <a:srgbClr val="D9534F"/>
          </a:solidFill>
          <a:ln/>
        </p:spPr>
      </p:sp>
      <p:sp>
        <p:nvSpPr>
          <p:cNvPr id="9" name="Text 6"/>
          <p:cNvSpPr txBox="1"/>
          <p:nvPr/>
        </p:nvSpPr>
        <p:spPr>
          <a:xfrm>
            <a:off x="914400" y="1801368"/>
            <a:ext cx="4937760" cy="411480"/>
          </a:xfrm>
          <a:prstGeom prst="rect">
            <a:avLst/>
          </a:prstGeom>
          <a:noFill/>
          <a:ln/>
        </p:spPr>
        <p:txBody>
          <a:bodyPr wrap="square" lIns="0" tIns="0" rIns="0" bIns="0" rtlCol="0" anchor="t"/>
          <a:lstStyle/>
          <a:p>
            <a:pPr indent="0" marL="0">
              <a:buNone/>
            </a:pPr>
            <a:r>
              <a:rPr lang="en-US" sz="2200" b="1" dirty="0">
                <a:solidFill>
                  <a:srgbClr val="1E2761"/>
                </a:solidFill>
                <a:latin typeface="Cambria" pitchFamily="34" charset="0"/>
                <a:ea typeface="Cambria" pitchFamily="34" charset="-122"/>
                <a:cs typeface="Cambria" pitchFamily="34" charset="-120"/>
              </a:rPr>
              <a:t>Reinrufen</a:t>
            </a:r>
            <a:endParaRPr lang="en-US" sz="2200" dirty="0"/>
          </a:p>
        </p:txBody>
      </p:sp>
      <p:sp>
        <p:nvSpPr>
          <p:cNvPr id="10" name="Text 7"/>
          <p:cNvSpPr txBox="1"/>
          <p:nvPr/>
        </p:nvSpPr>
        <p:spPr>
          <a:xfrm>
            <a:off x="914400" y="2258568"/>
            <a:ext cx="4937760" cy="411480"/>
          </a:xfrm>
          <a:prstGeom prst="rect">
            <a:avLst/>
          </a:prstGeom>
          <a:noFill/>
          <a:ln/>
        </p:spPr>
        <p:txBody>
          <a:bodyPr wrap="square" lIns="0" tIns="0" rIns="0" bIns="0" rtlCol="0" anchor="t"/>
          <a:lstStyle/>
          <a:p>
            <a:pPr indent="0" marL="0">
              <a:buNone/>
            </a:pPr>
            <a:r>
              <a:rPr lang="en-US" sz="1600" dirty="0">
                <a:solidFill>
                  <a:srgbClr val="5B6B8C"/>
                </a:solidFill>
                <a:latin typeface="Calibri" pitchFamily="34" charset="0"/>
                <a:ea typeface="Calibri" pitchFamily="34" charset="-122"/>
                <a:cs typeface="Calibri" pitchFamily="34" charset="-120"/>
              </a:rPr>
              <a:t>ohne Melden dazwischenreden</a:t>
            </a:r>
            <a:endParaRPr lang="en-US" sz="1600" dirty="0"/>
          </a:p>
        </p:txBody>
      </p:sp>
      <p:sp>
        <p:nvSpPr>
          <p:cNvPr id="11" name="Shape 8"/>
          <p:cNvSpPr/>
          <p:nvPr/>
        </p:nvSpPr>
        <p:spPr>
          <a:xfrm>
            <a:off x="6172200" y="1600200"/>
            <a:ext cx="5440680" cy="1234440"/>
          </a:xfrm>
          <a:prstGeom prst="roundRect">
            <a:avLst>
              <a:gd name="adj" fmla="val 5926"/>
            </a:avLst>
          </a:prstGeom>
          <a:solidFill>
            <a:srgbClr val="F4F7FD"/>
          </a:solidFill>
          <a:ln/>
        </p:spPr>
      </p:sp>
      <p:sp>
        <p:nvSpPr>
          <p:cNvPr id="12" name="Shape 9"/>
          <p:cNvSpPr/>
          <p:nvPr/>
        </p:nvSpPr>
        <p:spPr>
          <a:xfrm>
            <a:off x="6172200" y="1600200"/>
            <a:ext cx="109728" cy="1234440"/>
          </a:xfrm>
          <a:prstGeom prst="rect">
            <a:avLst/>
          </a:prstGeom>
          <a:solidFill>
            <a:srgbClr val="D9534F"/>
          </a:solidFill>
          <a:ln/>
        </p:spPr>
      </p:sp>
      <p:sp>
        <p:nvSpPr>
          <p:cNvPr id="13" name="Text 10"/>
          <p:cNvSpPr txBox="1"/>
          <p:nvPr/>
        </p:nvSpPr>
        <p:spPr>
          <a:xfrm>
            <a:off x="6537960" y="1801368"/>
            <a:ext cx="4937760" cy="411480"/>
          </a:xfrm>
          <a:prstGeom prst="rect">
            <a:avLst/>
          </a:prstGeom>
          <a:noFill/>
          <a:ln/>
        </p:spPr>
        <p:txBody>
          <a:bodyPr wrap="square" lIns="0" tIns="0" rIns="0" bIns="0" rtlCol="0" anchor="t"/>
          <a:lstStyle/>
          <a:p>
            <a:pPr indent="0" marL="0">
              <a:buNone/>
            </a:pPr>
            <a:r>
              <a:rPr lang="en-US" sz="2200" b="1" dirty="0">
                <a:solidFill>
                  <a:srgbClr val="1E2761"/>
                </a:solidFill>
                <a:latin typeface="Cambria" pitchFamily="34" charset="0"/>
                <a:ea typeface="Cambria" pitchFamily="34" charset="-122"/>
                <a:cs typeface="Cambria" pitchFamily="34" charset="-120"/>
              </a:rPr>
              <a:t>Nebengespräche</a:t>
            </a:r>
            <a:endParaRPr lang="en-US" sz="2200" dirty="0"/>
          </a:p>
        </p:txBody>
      </p:sp>
      <p:sp>
        <p:nvSpPr>
          <p:cNvPr id="14" name="Text 11"/>
          <p:cNvSpPr txBox="1"/>
          <p:nvPr/>
        </p:nvSpPr>
        <p:spPr>
          <a:xfrm>
            <a:off x="6537960" y="2258568"/>
            <a:ext cx="4937760" cy="411480"/>
          </a:xfrm>
          <a:prstGeom prst="rect">
            <a:avLst/>
          </a:prstGeom>
          <a:noFill/>
          <a:ln/>
        </p:spPr>
        <p:txBody>
          <a:bodyPr wrap="square" lIns="0" tIns="0" rIns="0" bIns="0" rtlCol="0" anchor="t"/>
          <a:lstStyle/>
          <a:p>
            <a:pPr indent="0" marL="0">
              <a:buNone/>
            </a:pPr>
            <a:r>
              <a:rPr lang="en-US" sz="1600" dirty="0">
                <a:solidFill>
                  <a:srgbClr val="5B6B8C"/>
                </a:solidFill>
                <a:latin typeface="Calibri" pitchFamily="34" charset="0"/>
                <a:ea typeface="Calibri" pitchFamily="34" charset="-122"/>
                <a:cs typeface="Calibri" pitchFamily="34" charset="-120"/>
              </a:rPr>
              <a:t>während jemand anderes spricht oder alle arbeiten</a:t>
            </a:r>
            <a:endParaRPr lang="en-US" sz="1600" dirty="0"/>
          </a:p>
        </p:txBody>
      </p:sp>
      <p:sp>
        <p:nvSpPr>
          <p:cNvPr id="15" name="Shape 12"/>
          <p:cNvSpPr/>
          <p:nvPr/>
        </p:nvSpPr>
        <p:spPr>
          <a:xfrm>
            <a:off x="548640" y="3017520"/>
            <a:ext cx="5440680" cy="1234440"/>
          </a:xfrm>
          <a:prstGeom prst="roundRect">
            <a:avLst>
              <a:gd name="adj" fmla="val 5926"/>
            </a:avLst>
          </a:prstGeom>
          <a:solidFill>
            <a:srgbClr val="F4F7FD"/>
          </a:solidFill>
          <a:ln/>
        </p:spPr>
      </p:sp>
      <p:sp>
        <p:nvSpPr>
          <p:cNvPr id="16" name="Shape 13"/>
          <p:cNvSpPr/>
          <p:nvPr/>
        </p:nvSpPr>
        <p:spPr>
          <a:xfrm>
            <a:off x="548640" y="3017520"/>
            <a:ext cx="109728" cy="1234440"/>
          </a:xfrm>
          <a:prstGeom prst="rect">
            <a:avLst/>
          </a:prstGeom>
          <a:solidFill>
            <a:srgbClr val="D9534F"/>
          </a:solidFill>
          <a:ln/>
        </p:spPr>
      </p:sp>
      <p:sp>
        <p:nvSpPr>
          <p:cNvPr id="17" name="Text 14"/>
          <p:cNvSpPr txBox="1"/>
          <p:nvPr/>
        </p:nvSpPr>
        <p:spPr>
          <a:xfrm>
            <a:off x="914400" y="3218688"/>
            <a:ext cx="4937760" cy="411480"/>
          </a:xfrm>
          <a:prstGeom prst="rect">
            <a:avLst/>
          </a:prstGeom>
          <a:noFill/>
          <a:ln/>
        </p:spPr>
        <p:txBody>
          <a:bodyPr wrap="square" lIns="0" tIns="0" rIns="0" bIns="0" rtlCol="0" anchor="t"/>
          <a:lstStyle/>
          <a:p>
            <a:pPr indent="0" marL="0">
              <a:buNone/>
            </a:pPr>
            <a:r>
              <a:rPr lang="en-US" sz="2200" b="1" dirty="0">
                <a:solidFill>
                  <a:srgbClr val="1E2761"/>
                </a:solidFill>
                <a:latin typeface="Cambria" pitchFamily="34" charset="0"/>
                <a:ea typeface="Cambria" pitchFamily="34" charset="-122"/>
                <a:cs typeface="Cambria" pitchFamily="34" charset="-120"/>
              </a:rPr>
              <a:t>Handy</a:t>
            </a:r>
            <a:endParaRPr lang="en-US" sz="2200" dirty="0"/>
          </a:p>
        </p:txBody>
      </p:sp>
      <p:sp>
        <p:nvSpPr>
          <p:cNvPr id="18" name="Text 15"/>
          <p:cNvSpPr txBox="1"/>
          <p:nvPr/>
        </p:nvSpPr>
        <p:spPr>
          <a:xfrm>
            <a:off x="914400" y="3675888"/>
            <a:ext cx="4937760" cy="411480"/>
          </a:xfrm>
          <a:prstGeom prst="rect">
            <a:avLst/>
          </a:prstGeom>
          <a:noFill/>
          <a:ln/>
        </p:spPr>
        <p:txBody>
          <a:bodyPr wrap="square" lIns="0" tIns="0" rIns="0" bIns="0" rtlCol="0" anchor="t"/>
          <a:lstStyle/>
          <a:p>
            <a:pPr indent="0" marL="0">
              <a:buNone/>
            </a:pPr>
            <a:r>
              <a:rPr lang="en-US" sz="1600" dirty="0">
                <a:solidFill>
                  <a:srgbClr val="5B6B8C"/>
                </a:solidFill>
                <a:latin typeface="Calibri" pitchFamily="34" charset="0"/>
                <a:ea typeface="Calibri" pitchFamily="34" charset="-122"/>
                <a:cs typeface="Calibri" pitchFamily="34" charset="-120"/>
              </a:rPr>
              <a:t>benutzen oder sichtbar auf dem Tisch</a:t>
            </a:r>
            <a:endParaRPr lang="en-US" sz="1600" dirty="0"/>
          </a:p>
        </p:txBody>
      </p:sp>
      <p:sp>
        <p:nvSpPr>
          <p:cNvPr id="19" name="Shape 16"/>
          <p:cNvSpPr/>
          <p:nvPr/>
        </p:nvSpPr>
        <p:spPr>
          <a:xfrm>
            <a:off x="6172200" y="3017520"/>
            <a:ext cx="5440680" cy="1234440"/>
          </a:xfrm>
          <a:prstGeom prst="roundRect">
            <a:avLst>
              <a:gd name="adj" fmla="val 5926"/>
            </a:avLst>
          </a:prstGeom>
          <a:solidFill>
            <a:srgbClr val="F4F7FD"/>
          </a:solidFill>
          <a:ln/>
        </p:spPr>
      </p:sp>
      <p:sp>
        <p:nvSpPr>
          <p:cNvPr id="20" name="Shape 17"/>
          <p:cNvSpPr/>
          <p:nvPr/>
        </p:nvSpPr>
        <p:spPr>
          <a:xfrm>
            <a:off x="6172200" y="3017520"/>
            <a:ext cx="109728" cy="1234440"/>
          </a:xfrm>
          <a:prstGeom prst="rect">
            <a:avLst/>
          </a:prstGeom>
          <a:solidFill>
            <a:srgbClr val="D9534F"/>
          </a:solidFill>
          <a:ln/>
        </p:spPr>
      </p:sp>
      <p:sp>
        <p:nvSpPr>
          <p:cNvPr id="21" name="Text 18"/>
          <p:cNvSpPr txBox="1"/>
          <p:nvPr/>
        </p:nvSpPr>
        <p:spPr>
          <a:xfrm>
            <a:off x="6537960" y="3218688"/>
            <a:ext cx="4937760" cy="411480"/>
          </a:xfrm>
          <a:prstGeom prst="rect">
            <a:avLst/>
          </a:prstGeom>
          <a:noFill/>
          <a:ln/>
        </p:spPr>
        <p:txBody>
          <a:bodyPr wrap="square" lIns="0" tIns="0" rIns="0" bIns="0" rtlCol="0" anchor="t"/>
          <a:lstStyle/>
          <a:p>
            <a:pPr indent="0" marL="0">
              <a:buNone/>
            </a:pPr>
            <a:r>
              <a:rPr lang="en-US" sz="2200" b="1" dirty="0">
                <a:solidFill>
                  <a:srgbClr val="1E2761"/>
                </a:solidFill>
                <a:latin typeface="Cambria" pitchFamily="34" charset="0"/>
                <a:ea typeface="Cambria" pitchFamily="34" charset="-122"/>
                <a:cs typeface="Cambria" pitchFamily="34" charset="-120"/>
              </a:rPr>
              <a:t>Nicht arbeiten</a:t>
            </a:r>
            <a:endParaRPr lang="en-US" sz="2200" dirty="0"/>
          </a:p>
        </p:txBody>
      </p:sp>
      <p:sp>
        <p:nvSpPr>
          <p:cNvPr id="22" name="Text 19"/>
          <p:cNvSpPr txBox="1"/>
          <p:nvPr/>
        </p:nvSpPr>
        <p:spPr>
          <a:xfrm>
            <a:off x="6537960" y="3675888"/>
            <a:ext cx="4937760" cy="411480"/>
          </a:xfrm>
          <a:prstGeom prst="rect">
            <a:avLst/>
          </a:prstGeom>
          <a:noFill/>
          <a:ln/>
        </p:spPr>
        <p:txBody>
          <a:bodyPr wrap="square" lIns="0" tIns="0" rIns="0" bIns="0" rtlCol="0" anchor="t"/>
          <a:lstStyle/>
          <a:p>
            <a:pPr indent="0" marL="0">
              <a:buNone/>
            </a:pPr>
            <a:r>
              <a:rPr lang="en-US" sz="1600" dirty="0">
                <a:solidFill>
                  <a:srgbClr val="5B6B8C"/>
                </a:solidFill>
                <a:latin typeface="Calibri" pitchFamily="34" charset="0"/>
                <a:ea typeface="Calibri" pitchFamily="34" charset="-122"/>
                <a:cs typeface="Calibri" pitchFamily="34" charset="-120"/>
              </a:rPr>
              <a:t>Aufgabe liegen lassen, andere ablenken</a:t>
            </a:r>
            <a:endParaRPr lang="en-US" sz="1600" dirty="0"/>
          </a:p>
        </p:txBody>
      </p:sp>
      <p:sp>
        <p:nvSpPr>
          <p:cNvPr id="23" name="Shape 20"/>
          <p:cNvSpPr/>
          <p:nvPr/>
        </p:nvSpPr>
        <p:spPr>
          <a:xfrm>
            <a:off x="548640" y="4434840"/>
            <a:ext cx="5440680" cy="1234440"/>
          </a:xfrm>
          <a:prstGeom prst="roundRect">
            <a:avLst>
              <a:gd name="adj" fmla="val 5926"/>
            </a:avLst>
          </a:prstGeom>
          <a:solidFill>
            <a:srgbClr val="F4F7FD"/>
          </a:solidFill>
          <a:ln/>
        </p:spPr>
      </p:sp>
      <p:sp>
        <p:nvSpPr>
          <p:cNvPr id="24" name="Shape 21"/>
          <p:cNvSpPr/>
          <p:nvPr/>
        </p:nvSpPr>
        <p:spPr>
          <a:xfrm>
            <a:off x="548640" y="4434840"/>
            <a:ext cx="109728" cy="1234440"/>
          </a:xfrm>
          <a:prstGeom prst="rect">
            <a:avLst/>
          </a:prstGeom>
          <a:solidFill>
            <a:srgbClr val="D9534F"/>
          </a:solidFill>
          <a:ln/>
        </p:spPr>
      </p:sp>
      <p:sp>
        <p:nvSpPr>
          <p:cNvPr id="25" name="Text 22"/>
          <p:cNvSpPr txBox="1"/>
          <p:nvPr/>
        </p:nvSpPr>
        <p:spPr>
          <a:xfrm>
            <a:off x="914400" y="4636008"/>
            <a:ext cx="4937760" cy="411480"/>
          </a:xfrm>
          <a:prstGeom prst="rect">
            <a:avLst/>
          </a:prstGeom>
          <a:noFill/>
          <a:ln/>
        </p:spPr>
        <p:txBody>
          <a:bodyPr wrap="square" lIns="0" tIns="0" rIns="0" bIns="0" rtlCol="0" anchor="t"/>
          <a:lstStyle/>
          <a:p>
            <a:pPr indent="0" marL="0">
              <a:buNone/>
            </a:pPr>
            <a:r>
              <a:rPr lang="en-US" sz="2200" b="1" dirty="0">
                <a:solidFill>
                  <a:srgbClr val="1E2761"/>
                </a:solidFill>
                <a:latin typeface="Cambria" pitchFamily="34" charset="0"/>
                <a:ea typeface="Cambria" pitchFamily="34" charset="-122"/>
                <a:cs typeface="Cambria" pitchFamily="34" charset="-120"/>
              </a:rPr>
              <a:t>Herumlaufen</a:t>
            </a:r>
            <a:endParaRPr lang="en-US" sz="2200" dirty="0"/>
          </a:p>
        </p:txBody>
      </p:sp>
      <p:sp>
        <p:nvSpPr>
          <p:cNvPr id="26" name="Text 23"/>
          <p:cNvSpPr txBox="1"/>
          <p:nvPr/>
        </p:nvSpPr>
        <p:spPr>
          <a:xfrm>
            <a:off x="914400" y="5093208"/>
            <a:ext cx="4937760" cy="411480"/>
          </a:xfrm>
          <a:prstGeom prst="rect">
            <a:avLst/>
          </a:prstGeom>
          <a:noFill/>
          <a:ln/>
        </p:spPr>
        <p:txBody>
          <a:bodyPr wrap="square" lIns="0" tIns="0" rIns="0" bIns="0" rtlCol="0" anchor="t"/>
          <a:lstStyle/>
          <a:p>
            <a:pPr indent="0" marL="0">
              <a:buNone/>
            </a:pPr>
            <a:r>
              <a:rPr lang="en-US" sz="1600" dirty="0">
                <a:solidFill>
                  <a:srgbClr val="5B6B8C"/>
                </a:solidFill>
                <a:latin typeface="Calibri" pitchFamily="34" charset="0"/>
                <a:ea typeface="Calibri" pitchFamily="34" charset="-122"/>
                <a:cs typeface="Calibri" pitchFamily="34" charset="-120"/>
              </a:rPr>
              <a:t>ohne Auftrag den Platz verlassen</a:t>
            </a:r>
            <a:endParaRPr lang="en-US" sz="1600" dirty="0"/>
          </a:p>
        </p:txBody>
      </p:sp>
      <p:sp>
        <p:nvSpPr>
          <p:cNvPr id="27" name="Shape 24"/>
          <p:cNvSpPr/>
          <p:nvPr/>
        </p:nvSpPr>
        <p:spPr>
          <a:xfrm>
            <a:off x="6172200" y="4434840"/>
            <a:ext cx="5440680" cy="1234440"/>
          </a:xfrm>
          <a:prstGeom prst="roundRect">
            <a:avLst>
              <a:gd name="adj" fmla="val 5926"/>
            </a:avLst>
          </a:prstGeom>
          <a:solidFill>
            <a:srgbClr val="F4F7FD"/>
          </a:solidFill>
          <a:ln/>
        </p:spPr>
      </p:sp>
      <p:sp>
        <p:nvSpPr>
          <p:cNvPr id="28" name="Shape 25"/>
          <p:cNvSpPr/>
          <p:nvPr/>
        </p:nvSpPr>
        <p:spPr>
          <a:xfrm>
            <a:off x="6172200" y="4434840"/>
            <a:ext cx="109728" cy="1234440"/>
          </a:xfrm>
          <a:prstGeom prst="rect">
            <a:avLst/>
          </a:prstGeom>
          <a:solidFill>
            <a:srgbClr val="D9534F"/>
          </a:solidFill>
          <a:ln/>
        </p:spPr>
      </p:sp>
      <p:sp>
        <p:nvSpPr>
          <p:cNvPr id="29" name="Text 26"/>
          <p:cNvSpPr txBox="1"/>
          <p:nvPr/>
        </p:nvSpPr>
        <p:spPr>
          <a:xfrm>
            <a:off x="6537960" y="4636008"/>
            <a:ext cx="4937760" cy="411480"/>
          </a:xfrm>
          <a:prstGeom prst="rect">
            <a:avLst/>
          </a:prstGeom>
          <a:noFill/>
          <a:ln/>
        </p:spPr>
        <p:txBody>
          <a:bodyPr wrap="square" lIns="0" tIns="0" rIns="0" bIns="0" rtlCol="0" anchor="t"/>
          <a:lstStyle/>
          <a:p>
            <a:pPr indent="0" marL="0">
              <a:buNone/>
            </a:pPr>
            <a:r>
              <a:rPr lang="en-US" sz="2200" b="1" dirty="0">
                <a:solidFill>
                  <a:srgbClr val="1E2761"/>
                </a:solidFill>
                <a:latin typeface="Cambria" pitchFamily="34" charset="0"/>
                <a:ea typeface="Cambria" pitchFamily="34" charset="-122"/>
                <a:cs typeface="Cambria" pitchFamily="34" charset="-120"/>
              </a:rPr>
              <a:t>Material fehlt</a:t>
            </a:r>
            <a:endParaRPr lang="en-US" sz="2200" dirty="0"/>
          </a:p>
        </p:txBody>
      </p:sp>
      <p:sp>
        <p:nvSpPr>
          <p:cNvPr id="30" name="Text 27"/>
          <p:cNvSpPr txBox="1"/>
          <p:nvPr/>
        </p:nvSpPr>
        <p:spPr>
          <a:xfrm>
            <a:off x="6537960" y="5093208"/>
            <a:ext cx="4937760" cy="411480"/>
          </a:xfrm>
          <a:prstGeom prst="rect">
            <a:avLst/>
          </a:prstGeom>
          <a:noFill/>
          <a:ln/>
        </p:spPr>
        <p:txBody>
          <a:bodyPr wrap="square" lIns="0" tIns="0" rIns="0" bIns="0" rtlCol="0" anchor="t"/>
          <a:lstStyle/>
          <a:p>
            <a:pPr indent="0" marL="0">
              <a:buNone/>
            </a:pPr>
            <a:r>
              <a:rPr lang="en-US" sz="1600" dirty="0">
                <a:solidFill>
                  <a:srgbClr val="5B6B8C"/>
                </a:solidFill>
                <a:latin typeface="Calibri" pitchFamily="34" charset="0"/>
                <a:ea typeface="Calibri" pitchFamily="34" charset="-122"/>
                <a:cs typeface="Calibri" pitchFamily="34" charset="-120"/>
              </a:rPr>
              <a:t>Heft, Buch oder Stifte nicht dabei</a:t>
            </a:r>
            <a:endParaRPr lang="en-US" sz="1600" dirty="0"/>
          </a:p>
        </p:txBody>
      </p:sp>
      <p:sp>
        <p:nvSpPr>
          <p:cNvPr id="31" name="Text 28"/>
          <p:cNvSpPr txBox="1"/>
          <p:nvPr/>
        </p:nvSpPr>
        <p:spPr>
          <a:xfrm>
            <a:off x="548640" y="5943600"/>
            <a:ext cx="11064240" cy="365760"/>
          </a:xfrm>
          <a:prstGeom prst="rect">
            <a:avLst/>
          </a:prstGeom>
          <a:noFill/>
          <a:ln/>
        </p:spPr>
        <p:txBody>
          <a:bodyPr wrap="square" lIns="0" tIns="0" rIns="0" bIns="0" rtlCol="0" anchor="t"/>
          <a:lstStyle/>
          <a:p>
            <a:pPr algn="ctr" indent="0" marL="0">
              <a:buNone/>
            </a:pPr>
            <a:r>
              <a:rPr lang="en-US" sz="1600" i="1" dirty="0">
                <a:solidFill>
                  <a:srgbClr val="1E2761"/>
                </a:solidFill>
                <a:latin typeface="Calibri" pitchFamily="34" charset="0"/>
                <a:ea typeface="Calibri" pitchFamily="34" charset="-122"/>
                <a:cs typeface="Calibri" pitchFamily="34" charset="-120"/>
              </a:rPr>
              <a:t>Wer stört, hält nicht nur sich selbst vom Lernen ab, sondern auch alle anderen.</a:t>
            </a:r>
            <a:endParaRPr lang="en-US" sz="16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8229600" cy="274320"/>
          </a:xfrm>
          <a:prstGeom prst="rect">
            <a:avLst/>
          </a:prstGeom>
          <a:noFill/>
          <a:ln/>
        </p:spPr>
        <p:txBody>
          <a:bodyPr wrap="square" lIns="0" tIns="0" rIns="0" bIns="0" rtlCol="0" anchor="t"/>
          <a:lstStyle/>
          <a:p>
            <a:pPr indent="0" marL="0">
              <a:buNone/>
            </a:pPr>
            <a:r>
              <a:rPr lang="en-US" sz="1200" spc="200" kern="0" dirty="0">
                <a:solidFill>
                  <a:srgbClr val="5B6B8C"/>
                </a:solidFill>
                <a:latin typeface="Calibri" pitchFamily="34" charset="0"/>
                <a:ea typeface="Calibri" pitchFamily="34" charset="-122"/>
                <a:cs typeface="Calibri" pitchFamily="34" charset="-120"/>
              </a:rPr>
              <a:t>UNTERRICHTSSTÖRUNGEN</a:t>
            </a:r>
            <a:endParaRPr lang="en-US" sz="1200" dirty="0"/>
          </a:p>
        </p:txBody>
      </p:sp>
      <p:sp>
        <p:nvSpPr>
          <p:cNvPr id="3" name="Text 1"/>
          <p:cNvSpPr txBox="1"/>
          <p:nvPr/>
        </p:nvSpPr>
        <p:spPr>
          <a:xfrm>
            <a:off x="548640" y="658368"/>
            <a:ext cx="11064240" cy="640080"/>
          </a:xfrm>
          <a:prstGeom prst="rect">
            <a:avLst/>
          </a:prstGeom>
          <a:noFill/>
          <a:ln/>
        </p:spPr>
        <p:txBody>
          <a:bodyPr wrap="square" lIns="0" tIns="0" rIns="0" bIns="0" rtlCol="0" anchor="t"/>
          <a:lstStyle/>
          <a:p>
            <a:pPr indent="0" marL="0">
              <a:buNone/>
            </a:pPr>
            <a:r>
              <a:rPr lang="en-US" sz="3200" b="1" dirty="0">
                <a:solidFill>
                  <a:srgbClr val="1E2761"/>
                </a:solidFill>
                <a:latin typeface="Cambria" pitchFamily="34" charset="0"/>
                <a:ea typeface="Cambria" pitchFamily="34" charset="-122"/>
                <a:cs typeface="Cambria" pitchFamily="34" charset="-120"/>
              </a:rPr>
              <a:t>So reagiere ich – Stufe für Stufe</a:t>
            </a:r>
            <a:endParaRPr lang="en-US" sz="3200" dirty="0"/>
          </a:p>
        </p:txBody>
      </p:sp>
      <p:sp>
        <p:nvSpPr>
          <p:cNvPr id="4" name="Text 2"/>
          <p:cNvSpPr txBox="1"/>
          <p:nvPr/>
        </p:nvSpPr>
        <p:spPr>
          <a:xfrm>
            <a:off x="548640" y="6400800"/>
            <a:ext cx="6400800" cy="228600"/>
          </a:xfrm>
          <a:prstGeom prst="rect">
            <a:avLst/>
          </a:prstGeom>
          <a:noFill/>
          <a:ln/>
        </p:spPr>
        <p:txBody>
          <a:bodyPr wrap="square" lIns="0" tIns="0" rIns="0" bIns="0" rtlCol="0" anchor="t"/>
          <a:lstStyle/>
          <a:p>
            <a:pPr indent="0" marL="0">
              <a:buNone/>
            </a:pPr>
            <a:r>
              <a:rPr lang="en-US" sz="1000" dirty="0">
                <a:solidFill>
                  <a:srgbClr val="5B6B8C"/>
                </a:solidFill>
                <a:latin typeface="Calibri" pitchFamily="34" charset="0"/>
                <a:ea typeface="Calibri" pitchFamily="34" charset="-122"/>
                <a:cs typeface="Calibri" pitchFamily="34" charset="-120"/>
              </a:rPr>
              <a:t>Teil 2 · Mündliche Noten · Deutsch 7A</a:t>
            </a:r>
            <a:endParaRPr lang="en-US" sz="1000" dirty="0"/>
          </a:p>
        </p:txBody>
      </p:sp>
      <p:sp>
        <p:nvSpPr>
          <p:cNvPr id="5" name="Text 3"/>
          <p:cNvSpPr txBox="1"/>
          <p:nvPr/>
        </p:nvSpPr>
        <p:spPr>
          <a:xfrm>
            <a:off x="11155680" y="6400800"/>
            <a:ext cx="457200" cy="228600"/>
          </a:xfrm>
          <a:prstGeom prst="rect">
            <a:avLst/>
          </a:prstGeom>
          <a:noFill/>
          <a:ln/>
        </p:spPr>
        <p:txBody>
          <a:bodyPr wrap="square" lIns="0" tIns="0" rIns="0" bIns="0" rtlCol="0" anchor="t"/>
          <a:lstStyle/>
          <a:p>
            <a:pPr algn="r" indent="0" marL="0">
              <a:buNone/>
            </a:pPr>
            <a:r>
              <a:rPr lang="en-US" sz="1000" dirty="0">
                <a:solidFill>
                  <a:srgbClr val="5B6B8C"/>
                </a:solidFill>
                <a:latin typeface="Calibri" pitchFamily="34" charset="0"/>
                <a:ea typeface="Calibri" pitchFamily="34" charset="-122"/>
                <a:cs typeface="Calibri" pitchFamily="34" charset="-120"/>
              </a:rPr>
              <a:t>15</a:t>
            </a:r>
            <a:endParaRPr lang="en-US" sz="1000" dirty="0"/>
          </a:p>
        </p:txBody>
      </p:sp>
      <p:sp>
        <p:nvSpPr>
          <p:cNvPr id="7" name="Shape 4"/>
          <p:cNvSpPr/>
          <p:nvPr/>
        </p:nvSpPr>
        <p:spPr>
          <a:xfrm>
            <a:off x="548640" y="3931920"/>
            <a:ext cx="2103120" cy="2103120"/>
          </a:xfrm>
          <a:prstGeom prst="roundRect">
            <a:avLst>
              <a:gd name="adj" fmla="val 2174"/>
            </a:avLst>
          </a:prstGeom>
          <a:solidFill>
            <a:srgbClr val="9DB84A"/>
          </a:solidFill>
          <a:ln/>
        </p:spPr>
      </p:sp>
      <p:sp>
        <p:nvSpPr>
          <p:cNvPr id="8" name="Text 5"/>
          <p:cNvSpPr txBox="1"/>
          <p:nvPr/>
        </p:nvSpPr>
        <p:spPr>
          <a:xfrm>
            <a:off x="548640" y="4069080"/>
            <a:ext cx="2103120" cy="365760"/>
          </a:xfrm>
          <a:prstGeom prst="rect">
            <a:avLst/>
          </a:prstGeom>
          <a:noFill/>
          <a:ln/>
        </p:spPr>
        <p:txBody>
          <a:bodyPr wrap="square" lIns="0" tIns="0" rIns="0" bIns="0" rtlCol="0" anchor="t"/>
          <a:lstStyle/>
          <a:p>
            <a:pPr algn="ctr" indent="0" marL="0">
              <a:buNone/>
            </a:pPr>
            <a:r>
              <a:rPr lang="en-US" sz="1400" b="1" dirty="0">
                <a:solidFill>
                  <a:srgbClr val="FFFFFF"/>
                </a:solidFill>
                <a:latin typeface="Calibri" pitchFamily="34" charset="0"/>
                <a:ea typeface="Calibri" pitchFamily="34" charset="-122"/>
                <a:cs typeface="Calibri" pitchFamily="34" charset="-120"/>
              </a:rPr>
              <a:t>Stufe 1</a:t>
            </a:r>
            <a:endParaRPr lang="en-US" sz="1400" dirty="0"/>
          </a:p>
        </p:txBody>
      </p:sp>
      <p:sp>
        <p:nvSpPr>
          <p:cNvPr id="9" name="Text 6"/>
          <p:cNvSpPr txBox="1"/>
          <p:nvPr/>
        </p:nvSpPr>
        <p:spPr>
          <a:xfrm>
            <a:off x="640080" y="4434840"/>
            <a:ext cx="1920240" cy="685800"/>
          </a:xfrm>
          <a:prstGeom prst="rect">
            <a:avLst/>
          </a:prstGeom>
          <a:noFill/>
          <a:ln/>
        </p:spPr>
        <p:txBody>
          <a:bodyPr wrap="square" lIns="0" tIns="0" rIns="0" bIns="0" rtlCol="0" anchor="t"/>
          <a:lstStyle/>
          <a:p>
            <a:pPr algn="ctr" indent="0" marL="0">
              <a:buNone/>
            </a:pPr>
            <a:r>
              <a:rPr lang="en-US" sz="1800" b="1" dirty="0">
                <a:solidFill>
                  <a:srgbClr val="FFFFFF"/>
                </a:solidFill>
                <a:latin typeface="Cambria" pitchFamily="34" charset="0"/>
                <a:ea typeface="Cambria" pitchFamily="34" charset="-122"/>
                <a:cs typeface="Cambria" pitchFamily="34" charset="-120"/>
              </a:rPr>
              <a:t>Hinweis</a:t>
            </a:r>
            <a:endParaRPr lang="en-US" sz="1800" dirty="0"/>
          </a:p>
        </p:txBody>
      </p:sp>
      <p:sp>
        <p:nvSpPr>
          <p:cNvPr id="10" name="Text 7"/>
          <p:cNvSpPr txBox="1"/>
          <p:nvPr/>
        </p:nvSpPr>
        <p:spPr>
          <a:xfrm>
            <a:off x="658368" y="5120640"/>
            <a:ext cx="1883664" cy="868680"/>
          </a:xfrm>
          <a:prstGeom prst="rect">
            <a:avLst/>
          </a:prstGeom>
          <a:noFill/>
          <a:ln/>
        </p:spPr>
        <p:txBody>
          <a:bodyPr wrap="square" lIns="0" tIns="0" rIns="0" bIns="0" rtlCol="0" anchor="t"/>
          <a:lstStyle/>
          <a:p>
            <a:pPr algn="ctr" indent="0" marL="0">
              <a:buNone/>
            </a:pPr>
            <a:r>
              <a:rPr lang="en-US" sz="1300" dirty="0">
                <a:solidFill>
                  <a:srgbClr val="FFFFFF"/>
                </a:solidFill>
                <a:latin typeface="Calibri" pitchFamily="34" charset="0"/>
                <a:ea typeface="Calibri" pitchFamily="34" charset="-122"/>
                <a:cs typeface="Calibri" pitchFamily="34" charset="-120"/>
              </a:rPr>
              <a:t>Blick, Zeichen oder Name – ohne Unterbrechung</a:t>
            </a:r>
            <a:endParaRPr lang="en-US" sz="1300" dirty="0"/>
          </a:p>
        </p:txBody>
      </p:sp>
      <p:sp>
        <p:nvSpPr>
          <p:cNvPr id="11" name="Shape 8"/>
          <p:cNvSpPr/>
          <p:nvPr/>
        </p:nvSpPr>
        <p:spPr>
          <a:xfrm>
            <a:off x="2788920" y="3547872"/>
            <a:ext cx="2103120" cy="2487168"/>
          </a:xfrm>
          <a:prstGeom prst="roundRect">
            <a:avLst>
              <a:gd name="adj" fmla="val 2174"/>
            </a:avLst>
          </a:prstGeom>
          <a:solidFill>
            <a:srgbClr val="E8A33D"/>
          </a:solidFill>
          <a:ln/>
        </p:spPr>
      </p:sp>
      <p:sp>
        <p:nvSpPr>
          <p:cNvPr id="12" name="Text 9"/>
          <p:cNvSpPr txBox="1"/>
          <p:nvPr/>
        </p:nvSpPr>
        <p:spPr>
          <a:xfrm>
            <a:off x="2788920" y="3685032"/>
            <a:ext cx="2103120" cy="365760"/>
          </a:xfrm>
          <a:prstGeom prst="rect">
            <a:avLst/>
          </a:prstGeom>
          <a:noFill/>
          <a:ln/>
        </p:spPr>
        <p:txBody>
          <a:bodyPr wrap="square" lIns="0" tIns="0" rIns="0" bIns="0" rtlCol="0" anchor="t"/>
          <a:lstStyle/>
          <a:p>
            <a:pPr algn="ctr" indent="0" marL="0">
              <a:buNone/>
            </a:pPr>
            <a:r>
              <a:rPr lang="en-US" sz="1400" b="1" dirty="0">
                <a:solidFill>
                  <a:srgbClr val="FFFFFF"/>
                </a:solidFill>
                <a:latin typeface="Calibri" pitchFamily="34" charset="0"/>
                <a:ea typeface="Calibri" pitchFamily="34" charset="-122"/>
                <a:cs typeface="Calibri" pitchFamily="34" charset="-120"/>
              </a:rPr>
              <a:t>Stufe 2</a:t>
            </a:r>
            <a:endParaRPr lang="en-US" sz="1400" dirty="0"/>
          </a:p>
        </p:txBody>
      </p:sp>
      <p:sp>
        <p:nvSpPr>
          <p:cNvPr id="13" name="Text 10"/>
          <p:cNvSpPr txBox="1"/>
          <p:nvPr/>
        </p:nvSpPr>
        <p:spPr>
          <a:xfrm>
            <a:off x="2880360" y="4050792"/>
            <a:ext cx="1920240" cy="685800"/>
          </a:xfrm>
          <a:prstGeom prst="rect">
            <a:avLst/>
          </a:prstGeom>
          <a:noFill/>
          <a:ln/>
        </p:spPr>
        <p:txBody>
          <a:bodyPr wrap="square" lIns="0" tIns="0" rIns="0" bIns="0" rtlCol="0" anchor="t"/>
          <a:lstStyle/>
          <a:p>
            <a:pPr algn="ctr" indent="0" marL="0">
              <a:buNone/>
            </a:pPr>
            <a:r>
              <a:rPr lang="en-US" sz="1800" b="1" dirty="0">
                <a:solidFill>
                  <a:srgbClr val="FFFFFF"/>
                </a:solidFill>
                <a:latin typeface="Cambria" pitchFamily="34" charset="0"/>
                <a:ea typeface="Cambria" pitchFamily="34" charset="-122"/>
                <a:cs typeface="Cambria" pitchFamily="34" charset="-120"/>
              </a:rPr>
              <a:t>Ermahnung</a:t>
            </a:r>
            <a:endParaRPr lang="en-US" sz="1800" dirty="0"/>
          </a:p>
        </p:txBody>
      </p:sp>
      <p:sp>
        <p:nvSpPr>
          <p:cNvPr id="14" name="Text 11"/>
          <p:cNvSpPr txBox="1"/>
          <p:nvPr/>
        </p:nvSpPr>
        <p:spPr>
          <a:xfrm>
            <a:off x="2898648" y="4736592"/>
            <a:ext cx="1883664" cy="1252728"/>
          </a:xfrm>
          <a:prstGeom prst="rect">
            <a:avLst/>
          </a:prstGeom>
          <a:noFill/>
          <a:ln/>
        </p:spPr>
        <p:txBody>
          <a:bodyPr wrap="square" lIns="0" tIns="0" rIns="0" bIns="0" rtlCol="0" anchor="t"/>
          <a:lstStyle/>
          <a:p>
            <a:pPr algn="ctr" indent="0" marL="0">
              <a:buNone/>
            </a:pPr>
            <a:r>
              <a:rPr lang="en-US" sz="1300" dirty="0">
                <a:solidFill>
                  <a:srgbClr val="FFFFFF"/>
                </a:solidFill>
                <a:latin typeface="Calibri" pitchFamily="34" charset="0"/>
                <a:ea typeface="Calibri" pitchFamily="34" charset="-122"/>
                <a:cs typeface="Calibri" pitchFamily="34" charset="-120"/>
              </a:rPr>
              <a:t>deutliche Ansage vor der Klasse</a:t>
            </a:r>
            <a:endParaRPr lang="en-US" sz="1300" dirty="0"/>
          </a:p>
        </p:txBody>
      </p:sp>
      <p:sp>
        <p:nvSpPr>
          <p:cNvPr id="15" name="Shape 12"/>
          <p:cNvSpPr/>
          <p:nvPr/>
        </p:nvSpPr>
        <p:spPr>
          <a:xfrm>
            <a:off x="5029200" y="3163824"/>
            <a:ext cx="2103120" cy="2871216"/>
          </a:xfrm>
          <a:prstGeom prst="roundRect">
            <a:avLst>
              <a:gd name="adj" fmla="val 2174"/>
            </a:avLst>
          </a:prstGeom>
          <a:solidFill>
            <a:srgbClr val="E07B45"/>
          </a:solidFill>
          <a:ln/>
        </p:spPr>
      </p:sp>
      <p:sp>
        <p:nvSpPr>
          <p:cNvPr id="16" name="Text 13"/>
          <p:cNvSpPr txBox="1"/>
          <p:nvPr/>
        </p:nvSpPr>
        <p:spPr>
          <a:xfrm>
            <a:off x="5029200" y="3300984"/>
            <a:ext cx="2103120" cy="365760"/>
          </a:xfrm>
          <a:prstGeom prst="rect">
            <a:avLst/>
          </a:prstGeom>
          <a:noFill/>
          <a:ln/>
        </p:spPr>
        <p:txBody>
          <a:bodyPr wrap="square" lIns="0" tIns="0" rIns="0" bIns="0" rtlCol="0" anchor="t"/>
          <a:lstStyle/>
          <a:p>
            <a:pPr algn="ctr" indent="0" marL="0">
              <a:buNone/>
            </a:pPr>
            <a:r>
              <a:rPr lang="en-US" sz="1400" b="1" dirty="0">
                <a:solidFill>
                  <a:srgbClr val="FFFFFF"/>
                </a:solidFill>
                <a:latin typeface="Calibri" pitchFamily="34" charset="0"/>
                <a:ea typeface="Calibri" pitchFamily="34" charset="-122"/>
                <a:cs typeface="Calibri" pitchFamily="34" charset="-120"/>
              </a:rPr>
              <a:t>Stufe 3</a:t>
            </a:r>
            <a:endParaRPr lang="en-US" sz="1400" dirty="0"/>
          </a:p>
        </p:txBody>
      </p:sp>
      <p:sp>
        <p:nvSpPr>
          <p:cNvPr id="17" name="Text 14"/>
          <p:cNvSpPr txBox="1"/>
          <p:nvPr/>
        </p:nvSpPr>
        <p:spPr>
          <a:xfrm>
            <a:off x="5120640" y="3666744"/>
            <a:ext cx="1920240" cy="685800"/>
          </a:xfrm>
          <a:prstGeom prst="rect">
            <a:avLst/>
          </a:prstGeom>
          <a:noFill/>
          <a:ln/>
        </p:spPr>
        <p:txBody>
          <a:bodyPr wrap="square" lIns="0" tIns="0" rIns="0" bIns="0" rtlCol="0" anchor="t"/>
          <a:lstStyle/>
          <a:p>
            <a:pPr algn="ctr" indent="0" marL="0">
              <a:buNone/>
            </a:pPr>
            <a:r>
              <a:rPr lang="en-US" sz="1800" b="1" dirty="0">
                <a:solidFill>
                  <a:srgbClr val="FFFFFF"/>
                </a:solidFill>
                <a:latin typeface="Cambria" pitchFamily="34" charset="0"/>
                <a:ea typeface="Cambria" pitchFamily="34" charset="-122"/>
                <a:cs typeface="Cambria" pitchFamily="34" charset="-120"/>
              </a:rPr>
              <a:t>Notiz</a:t>
            </a:r>
            <a:endParaRPr lang="en-US" sz="1800" dirty="0"/>
          </a:p>
        </p:txBody>
      </p:sp>
      <p:sp>
        <p:nvSpPr>
          <p:cNvPr id="18" name="Text 15"/>
          <p:cNvSpPr txBox="1"/>
          <p:nvPr/>
        </p:nvSpPr>
        <p:spPr>
          <a:xfrm>
            <a:off x="5138928" y="4352544"/>
            <a:ext cx="1883664" cy="1636776"/>
          </a:xfrm>
          <a:prstGeom prst="rect">
            <a:avLst/>
          </a:prstGeom>
          <a:noFill/>
          <a:ln/>
        </p:spPr>
        <p:txBody>
          <a:bodyPr wrap="square" lIns="0" tIns="0" rIns="0" bIns="0" rtlCol="0" anchor="t"/>
          <a:lstStyle/>
          <a:p>
            <a:pPr algn="ctr" indent="0" marL="0">
              <a:buNone/>
            </a:pPr>
            <a:r>
              <a:rPr lang="en-US" sz="1300" dirty="0">
                <a:solidFill>
                  <a:srgbClr val="FFFFFF"/>
                </a:solidFill>
                <a:latin typeface="Calibri" pitchFamily="34" charset="0"/>
                <a:ea typeface="Calibri" pitchFamily="34" charset="-122"/>
                <a:cs typeface="Calibri" pitchFamily="34" charset="-120"/>
              </a:rPr>
              <a:t>Eintrag in meiner Liste, kurzes Gespräch nach der Stunde</a:t>
            </a:r>
            <a:endParaRPr lang="en-US" sz="1300" dirty="0"/>
          </a:p>
        </p:txBody>
      </p:sp>
      <p:sp>
        <p:nvSpPr>
          <p:cNvPr id="19" name="Shape 16"/>
          <p:cNvSpPr/>
          <p:nvPr/>
        </p:nvSpPr>
        <p:spPr>
          <a:xfrm>
            <a:off x="7269480" y="2779776"/>
            <a:ext cx="2103120" cy="3255264"/>
          </a:xfrm>
          <a:prstGeom prst="roundRect">
            <a:avLst>
              <a:gd name="adj" fmla="val 2174"/>
            </a:avLst>
          </a:prstGeom>
          <a:solidFill>
            <a:srgbClr val="D9534F"/>
          </a:solidFill>
          <a:ln/>
        </p:spPr>
      </p:sp>
      <p:sp>
        <p:nvSpPr>
          <p:cNvPr id="20" name="Text 17"/>
          <p:cNvSpPr txBox="1"/>
          <p:nvPr/>
        </p:nvSpPr>
        <p:spPr>
          <a:xfrm>
            <a:off x="7269480" y="2916936"/>
            <a:ext cx="2103120" cy="365760"/>
          </a:xfrm>
          <a:prstGeom prst="rect">
            <a:avLst/>
          </a:prstGeom>
          <a:noFill/>
          <a:ln/>
        </p:spPr>
        <p:txBody>
          <a:bodyPr wrap="square" lIns="0" tIns="0" rIns="0" bIns="0" rtlCol="0" anchor="t"/>
          <a:lstStyle/>
          <a:p>
            <a:pPr algn="ctr" indent="0" marL="0">
              <a:buNone/>
            </a:pPr>
            <a:r>
              <a:rPr lang="en-US" sz="1400" b="1" dirty="0">
                <a:solidFill>
                  <a:srgbClr val="FFFFFF"/>
                </a:solidFill>
                <a:latin typeface="Calibri" pitchFamily="34" charset="0"/>
                <a:ea typeface="Calibri" pitchFamily="34" charset="-122"/>
                <a:cs typeface="Calibri" pitchFamily="34" charset="-120"/>
              </a:rPr>
              <a:t>Stufe 4</a:t>
            </a:r>
            <a:endParaRPr lang="en-US" sz="1400" dirty="0"/>
          </a:p>
        </p:txBody>
      </p:sp>
      <p:sp>
        <p:nvSpPr>
          <p:cNvPr id="21" name="Text 18"/>
          <p:cNvSpPr txBox="1"/>
          <p:nvPr/>
        </p:nvSpPr>
        <p:spPr>
          <a:xfrm>
            <a:off x="7360920" y="3282696"/>
            <a:ext cx="1920240" cy="685800"/>
          </a:xfrm>
          <a:prstGeom prst="rect">
            <a:avLst/>
          </a:prstGeom>
          <a:noFill/>
          <a:ln/>
        </p:spPr>
        <p:txBody>
          <a:bodyPr wrap="square" lIns="0" tIns="0" rIns="0" bIns="0" rtlCol="0" anchor="t"/>
          <a:lstStyle/>
          <a:p>
            <a:pPr algn="ctr" indent="0" marL="0">
              <a:buNone/>
            </a:pPr>
            <a:r>
              <a:rPr lang="en-US" sz="1800" b="1" dirty="0">
                <a:solidFill>
                  <a:srgbClr val="FFFFFF"/>
                </a:solidFill>
                <a:latin typeface="Cambria" pitchFamily="34" charset="0"/>
                <a:ea typeface="Cambria" pitchFamily="34" charset="-122"/>
                <a:cs typeface="Cambria" pitchFamily="34" charset="-120"/>
              </a:rPr>
              <a:t>Konsequenz</a:t>
            </a:r>
            <a:endParaRPr lang="en-US" sz="1800" dirty="0"/>
          </a:p>
        </p:txBody>
      </p:sp>
      <p:sp>
        <p:nvSpPr>
          <p:cNvPr id="22" name="Text 19"/>
          <p:cNvSpPr txBox="1"/>
          <p:nvPr/>
        </p:nvSpPr>
        <p:spPr>
          <a:xfrm>
            <a:off x="7379208" y="3968496"/>
            <a:ext cx="1883664" cy="2020824"/>
          </a:xfrm>
          <a:prstGeom prst="rect">
            <a:avLst/>
          </a:prstGeom>
          <a:noFill/>
          <a:ln/>
        </p:spPr>
        <p:txBody>
          <a:bodyPr wrap="square" lIns="0" tIns="0" rIns="0" bIns="0" rtlCol="0" anchor="t"/>
          <a:lstStyle/>
          <a:p>
            <a:pPr algn="ctr" indent="0" marL="0">
              <a:buNone/>
            </a:pPr>
            <a:r>
              <a:rPr lang="en-US" sz="1300" dirty="0">
                <a:solidFill>
                  <a:srgbClr val="FFFFFF"/>
                </a:solidFill>
                <a:latin typeface="Calibri" pitchFamily="34" charset="0"/>
                <a:ea typeface="Calibri" pitchFamily="34" charset="-122"/>
                <a:cs typeface="Calibri" pitchFamily="34" charset="-120"/>
              </a:rPr>
              <a:t>Umsetzen, Zusatzaufgabe oder Nacharbeit</a:t>
            </a:r>
            <a:endParaRPr lang="en-US" sz="1300" dirty="0"/>
          </a:p>
        </p:txBody>
      </p:sp>
      <p:sp>
        <p:nvSpPr>
          <p:cNvPr id="23" name="Shape 20"/>
          <p:cNvSpPr/>
          <p:nvPr/>
        </p:nvSpPr>
        <p:spPr>
          <a:xfrm>
            <a:off x="9509760" y="2395728"/>
            <a:ext cx="2103120" cy="3639312"/>
          </a:xfrm>
          <a:prstGeom prst="roundRect">
            <a:avLst>
              <a:gd name="adj" fmla="val 2174"/>
            </a:avLst>
          </a:prstGeom>
          <a:solidFill>
            <a:srgbClr val="A93A36"/>
          </a:solidFill>
          <a:ln/>
        </p:spPr>
      </p:sp>
      <p:sp>
        <p:nvSpPr>
          <p:cNvPr id="24" name="Text 21"/>
          <p:cNvSpPr txBox="1"/>
          <p:nvPr/>
        </p:nvSpPr>
        <p:spPr>
          <a:xfrm>
            <a:off x="9509760" y="2532888"/>
            <a:ext cx="2103120" cy="365760"/>
          </a:xfrm>
          <a:prstGeom prst="rect">
            <a:avLst/>
          </a:prstGeom>
          <a:noFill/>
          <a:ln/>
        </p:spPr>
        <p:txBody>
          <a:bodyPr wrap="square" lIns="0" tIns="0" rIns="0" bIns="0" rtlCol="0" anchor="t"/>
          <a:lstStyle/>
          <a:p>
            <a:pPr algn="ctr" indent="0" marL="0">
              <a:buNone/>
            </a:pPr>
            <a:r>
              <a:rPr lang="en-US" sz="1400" b="1" dirty="0">
                <a:solidFill>
                  <a:srgbClr val="FFFFFF"/>
                </a:solidFill>
                <a:latin typeface="Calibri" pitchFamily="34" charset="0"/>
                <a:ea typeface="Calibri" pitchFamily="34" charset="-122"/>
                <a:cs typeface="Calibri" pitchFamily="34" charset="-120"/>
              </a:rPr>
              <a:t>Stufe 5</a:t>
            </a:r>
            <a:endParaRPr lang="en-US" sz="1400" dirty="0"/>
          </a:p>
        </p:txBody>
      </p:sp>
      <p:sp>
        <p:nvSpPr>
          <p:cNvPr id="25" name="Text 22"/>
          <p:cNvSpPr txBox="1"/>
          <p:nvPr/>
        </p:nvSpPr>
        <p:spPr>
          <a:xfrm>
            <a:off x="9601200" y="2898648"/>
            <a:ext cx="1920240" cy="685800"/>
          </a:xfrm>
          <a:prstGeom prst="rect">
            <a:avLst/>
          </a:prstGeom>
          <a:noFill/>
          <a:ln/>
        </p:spPr>
        <p:txBody>
          <a:bodyPr wrap="square" lIns="0" tIns="0" rIns="0" bIns="0" rtlCol="0" anchor="t"/>
          <a:lstStyle/>
          <a:p>
            <a:pPr algn="ctr" indent="0" marL="0">
              <a:buNone/>
            </a:pPr>
            <a:r>
              <a:rPr lang="en-US" sz="1800" b="1" dirty="0">
                <a:solidFill>
                  <a:srgbClr val="FFFFFF"/>
                </a:solidFill>
                <a:latin typeface="Cambria" pitchFamily="34" charset="0"/>
                <a:ea typeface="Cambria" pitchFamily="34" charset="-122"/>
                <a:cs typeface="Cambria" pitchFamily="34" charset="-120"/>
              </a:rPr>
              <a:t>Eltern und Klassenleitung</a:t>
            </a:r>
            <a:endParaRPr lang="en-US" sz="1800" dirty="0"/>
          </a:p>
        </p:txBody>
      </p:sp>
      <p:sp>
        <p:nvSpPr>
          <p:cNvPr id="26" name="Text 23"/>
          <p:cNvSpPr txBox="1"/>
          <p:nvPr/>
        </p:nvSpPr>
        <p:spPr>
          <a:xfrm>
            <a:off x="9619488" y="3584448"/>
            <a:ext cx="1883664" cy="2404872"/>
          </a:xfrm>
          <a:prstGeom prst="rect">
            <a:avLst/>
          </a:prstGeom>
          <a:noFill/>
          <a:ln/>
        </p:spPr>
        <p:txBody>
          <a:bodyPr wrap="square" lIns="0" tIns="0" rIns="0" bIns="0" rtlCol="0" anchor="t"/>
          <a:lstStyle/>
          <a:p>
            <a:pPr algn="ctr" indent="0" marL="0">
              <a:buNone/>
            </a:pPr>
            <a:r>
              <a:rPr lang="en-US" sz="1300" dirty="0">
                <a:solidFill>
                  <a:srgbClr val="FFFFFF"/>
                </a:solidFill>
                <a:latin typeface="Calibri" pitchFamily="34" charset="0"/>
                <a:ea typeface="Calibri" pitchFamily="34" charset="-122"/>
                <a:cs typeface="Calibri" pitchFamily="34" charset="-120"/>
              </a:rPr>
              <a:t>Information, Eintrag, gemeinsames Gespräch</a:t>
            </a:r>
            <a:endParaRPr lang="en-US" sz="1300" dirty="0"/>
          </a:p>
        </p:txBody>
      </p:sp>
      <p:sp>
        <p:nvSpPr>
          <p:cNvPr id="27" name="Text 24"/>
          <p:cNvSpPr txBox="1"/>
          <p:nvPr/>
        </p:nvSpPr>
        <p:spPr>
          <a:xfrm>
            <a:off x="548640" y="1508760"/>
            <a:ext cx="6400800" cy="731520"/>
          </a:xfrm>
          <a:prstGeom prst="rect">
            <a:avLst/>
          </a:prstGeom>
          <a:noFill/>
          <a:ln/>
        </p:spPr>
        <p:txBody>
          <a:bodyPr wrap="square" lIns="0" tIns="0" rIns="0" bIns="0" rtlCol="0" anchor="t"/>
          <a:lstStyle/>
          <a:p>
            <a:pPr indent="0" marL="0">
              <a:buNone/>
            </a:pPr>
            <a:r>
              <a:rPr lang="en-US" sz="1600" i="1" dirty="0">
                <a:solidFill>
                  <a:srgbClr val="5B6B8C"/>
                </a:solidFill>
                <a:latin typeface="Calibri" pitchFamily="34" charset="0"/>
                <a:ea typeface="Calibri" pitchFamily="34" charset="-122"/>
                <a:cs typeface="Calibri" pitchFamily="34" charset="-120"/>
              </a:rPr>
              <a:t>Mit jeder Störung in derselben Stunde geht es eine Stufe höher. Die nächste Stunde beginnt wieder bei null.</a:t>
            </a:r>
            <a:endParaRPr lang="en-US" sz="16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8229600" cy="274320"/>
          </a:xfrm>
          <a:prstGeom prst="rect">
            <a:avLst/>
          </a:prstGeom>
          <a:noFill/>
          <a:ln/>
        </p:spPr>
        <p:txBody>
          <a:bodyPr wrap="square" lIns="0" tIns="0" rIns="0" bIns="0" rtlCol="0" anchor="t"/>
          <a:lstStyle/>
          <a:p>
            <a:pPr indent="0" marL="0">
              <a:buNone/>
            </a:pPr>
            <a:r>
              <a:rPr lang="en-US" sz="1200" spc="200" kern="0" dirty="0">
                <a:solidFill>
                  <a:srgbClr val="5B6B8C"/>
                </a:solidFill>
                <a:latin typeface="Calibri" pitchFamily="34" charset="0"/>
                <a:ea typeface="Calibri" pitchFamily="34" charset="-122"/>
                <a:cs typeface="Calibri" pitchFamily="34" charset="-120"/>
              </a:rPr>
              <a:t>NACH OBEN KOMMEN</a:t>
            </a:r>
            <a:endParaRPr lang="en-US" sz="1200" dirty="0"/>
          </a:p>
        </p:txBody>
      </p:sp>
      <p:sp>
        <p:nvSpPr>
          <p:cNvPr id="3" name="Text 1"/>
          <p:cNvSpPr txBox="1"/>
          <p:nvPr/>
        </p:nvSpPr>
        <p:spPr>
          <a:xfrm>
            <a:off x="548640" y="658368"/>
            <a:ext cx="11064240" cy="640080"/>
          </a:xfrm>
          <a:prstGeom prst="rect">
            <a:avLst/>
          </a:prstGeom>
          <a:noFill/>
          <a:ln/>
        </p:spPr>
        <p:txBody>
          <a:bodyPr wrap="square" lIns="0" tIns="0" rIns="0" bIns="0" rtlCol="0" anchor="t"/>
          <a:lstStyle/>
          <a:p>
            <a:pPr indent="0" marL="0">
              <a:buNone/>
            </a:pPr>
            <a:r>
              <a:rPr lang="en-US" sz="3200" b="1" dirty="0">
                <a:solidFill>
                  <a:srgbClr val="1E2761"/>
                </a:solidFill>
                <a:latin typeface="Cambria" pitchFamily="34" charset="0"/>
                <a:ea typeface="Cambria" pitchFamily="34" charset="-122"/>
                <a:cs typeface="Cambria" pitchFamily="34" charset="-120"/>
              </a:rPr>
              <a:t>So verbesserst du deine mündliche Note</a:t>
            </a:r>
            <a:endParaRPr lang="en-US" sz="3200" dirty="0"/>
          </a:p>
        </p:txBody>
      </p:sp>
      <p:sp>
        <p:nvSpPr>
          <p:cNvPr id="4" name="Text 2"/>
          <p:cNvSpPr txBox="1"/>
          <p:nvPr/>
        </p:nvSpPr>
        <p:spPr>
          <a:xfrm>
            <a:off x="548640" y="6400800"/>
            <a:ext cx="6400800" cy="228600"/>
          </a:xfrm>
          <a:prstGeom prst="rect">
            <a:avLst/>
          </a:prstGeom>
          <a:noFill/>
          <a:ln/>
        </p:spPr>
        <p:txBody>
          <a:bodyPr wrap="square" lIns="0" tIns="0" rIns="0" bIns="0" rtlCol="0" anchor="t"/>
          <a:lstStyle/>
          <a:p>
            <a:pPr indent="0" marL="0">
              <a:buNone/>
            </a:pPr>
            <a:r>
              <a:rPr lang="en-US" sz="1000" dirty="0">
                <a:solidFill>
                  <a:srgbClr val="5B6B8C"/>
                </a:solidFill>
                <a:latin typeface="Calibri" pitchFamily="34" charset="0"/>
                <a:ea typeface="Calibri" pitchFamily="34" charset="-122"/>
                <a:cs typeface="Calibri" pitchFamily="34" charset="-120"/>
              </a:rPr>
              <a:t>Teil 2 · Mündliche Noten · Deutsch 7A</a:t>
            </a:r>
            <a:endParaRPr lang="en-US" sz="1000" dirty="0"/>
          </a:p>
        </p:txBody>
      </p:sp>
      <p:sp>
        <p:nvSpPr>
          <p:cNvPr id="5" name="Text 3"/>
          <p:cNvSpPr txBox="1"/>
          <p:nvPr/>
        </p:nvSpPr>
        <p:spPr>
          <a:xfrm>
            <a:off x="11155680" y="6400800"/>
            <a:ext cx="457200" cy="228600"/>
          </a:xfrm>
          <a:prstGeom prst="rect">
            <a:avLst/>
          </a:prstGeom>
          <a:noFill/>
          <a:ln/>
        </p:spPr>
        <p:txBody>
          <a:bodyPr wrap="square" lIns="0" tIns="0" rIns="0" bIns="0" rtlCol="0" anchor="t"/>
          <a:lstStyle/>
          <a:p>
            <a:pPr algn="r" indent="0" marL="0">
              <a:buNone/>
            </a:pPr>
            <a:r>
              <a:rPr lang="en-US" sz="1000" dirty="0">
                <a:solidFill>
                  <a:srgbClr val="5B6B8C"/>
                </a:solidFill>
                <a:latin typeface="Calibri" pitchFamily="34" charset="0"/>
                <a:ea typeface="Calibri" pitchFamily="34" charset="-122"/>
                <a:cs typeface="Calibri" pitchFamily="34" charset="-120"/>
              </a:rPr>
              <a:t>16</a:t>
            </a:r>
            <a:endParaRPr lang="en-US" sz="1000" dirty="0"/>
          </a:p>
        </p:txBody>
      </p:sp>
      <p:sp>
        <p:nvSpPr>
          <p:cNvPr id="7" name="Shape 4"/>
          <p:cNvSpPr/>
          <p:nvPr/>
        </p:nvSpPr>
        <p:spPr>
          <a:xfrm>
            <a:off x="548640" y="1673352"/>
            <a:ext cx="548640" cy="548640"/>
          </a:xfrm>
          <a:prstGeom prst="ellipse">
            <a:avLst/>
          </a:prstGeom>
          <a:solidFill>
            <a:srgbClr val="1E2761"/>
          </a:solidFill>
          <a:ln/>
        </p:spPr>
      </p:sp>
      <p:sp>
        <p:nvSpPr>
          <p:cNvPr id="8" name="Text 5"/>
          <p:cNvSpPr txBox="1"/>
          <p:nvPr/>
        </p:nvSpPr>
        <p:spPr>
          <a:xfrm>
            <a:off x="548640" y="1673352"/>
            <a:ext cx="548640" cy="54864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9" name="Text 6"/>
          <p:cNvSpPr txBox="1"/>
          <p:nvPr/>
        </p:nvSpPr>
        <p:spPr>
          <a:xfrm>
            <a:off x="1325880" y="1600200"/>
            <a:ext cx="10058400" cy="411480"/>
          </a:xfrm>
          <a:prstGeom prst="rect">
            <a:avLst/>
          </a:prstGeom>
          <a:noFill/>
          <a:ln/>
        </p:spPr>
        <p:txBody>
          <a:bodyPr wrap="square" lIns="0" tIns="0" rIns="0" bIns="0" rtlCol="0" anchor="t"/>
          <a:lstStyle/>
          <a:p>
            <a:pPr indent="0" marL="0">
              <a:buNone/>
            </a:pPr>
            <a:r>
              <a:rPr lang="en-US" sz="2100" b="1" dirty="0">
                <a:solidFill>
                  <a:srgbClr val="1E2761"/>
                </a:solidFill>
                <a:latin typeface="Cambria" pitchFamily="34" charset="0"/>
                <a:ea typeface="Cambria" pitchFamily="34" charset="-122"/>
                <a:cs typeface="Cambria" pitchFamily="34" charset="-120"/>
              </a:rPr>
              <a:t>Melde dich auch, wenn du unsicher bist.</a:t>
            </a:r>
            <a:endParaRPr lang="en-US" sz="2100" dirty="0"/>
          </a:p>
        </p:txBody>
      </p:sp>
      <p:sp>
        <p:nvSpPr>
          <p:cNvPr id="10" name="Text 7"/>
          <p:cNvSpPr txBox="1"/>
          <p:nvPr/>
        </p:nvSpPr>
        <p:spPr>
          <a:xfrm>
            <a:off x="1325880" y="2011680"/>
            <a:ext cx="10058400" cy="365760"/>
          </a:xfrm>
          <a:prstGeom prst="rect">
            <a:avLst/>
          </a:prstGeom>
          <a:noFill/>
          <a:ln/>
        </p:spPr>
        <p:txBody>
          <a:bodyPr wrap="square" lIns="0" tIns="0" rIns="0" bIns="0" rtlCol="0" anchor="t"/>
          <a:lstStyle/>
          <a:p>
            <a:pPr indent="0" marL="0">
              <a:buNone/>
            </a:pPr>
            <a:r>
              <a:rPr lang="en-US" sz="1600" dirty="0">
                <a:solidFill>
                  <a:srgbClr val="5B6B8C"/>
                </a:solidFill>
                <a:latin typeface="Calibri" pitchFamily="34" charset="0"/>
                <a:ea typeface="Calibri" pitchFamily="34" charset="-122"/>
                <a:cs typeface="Calibri" pitchFamily="34" charset="-120"/>
              </a:rPr>
              <a:t>Ein Fehler zählt nicht gegen dich – keine Mitarbeit schon.</a:t>
            </a:r>
            <a:endParaRPr lang="en-US" sz="1600" dirty="0"/>
          </a:p>
        </p:txBody>
      </p:sp>
      <p:sp>
        <p:nvSpPr>
          <p:cNvPr id="11" name="Shape 8"/>
          <p:cNvSpPr/>
          <p:nvPr/>
        </p:nvSpPr>
        <p:spPr>
          <a:xfrm>
            <a:off x="548640" y="2587752"/>
            <a:ext cx="548640" cy="548640"/>
          </a:xfrm>
          <a:prstGeom prst="ellipse">
            <a:avLst/>
          </a:prstGeom>
          <a:solidFill>
            <a:srgbClr val="1E2761"/>
          </a:solidFill>
          <a:ln/>
        </p:spPr>
      </p:sp>
      <p:sp>
        <p:nvSpPr>
          <p:cNvPr id="12" name="Text 9"/>
          <p:cNvSpPr txBox="1"/>
          <p:nvPr/>
        </p:nvSpPr>
        <p:spPr>
          <a:xfrm>
            <a:off x="548640" y="2587752"/>
            <a:ext cx="548640" cy="54864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13" name="Text 10"/>
          <p:cNvSpPr txBox="1"/>
          <p:nvPr/>
        </p:nvSpPr>
        <p:spPr>
          <a:xfrm>
            <a:off x="1325880" y="2514600"/>
            <a:ext cx="10058400" cy="411480"/>
          </a:xfrm>
          <a:prstGeom prst="rect">
            <a:avLst/>
          </a:prstGeom>
          <a:noFill/>
          <a:ln/>
        </p:spPr>
        <p:txBody>
          <a:bodyPr wrap="square" lIns="0" tIns="0" rIns="0" bIns="0" rtlCol="0" anchor="t"/>
          <a:lstStyle/>
          <a:p>
            <a:pPr indent="0" marL="0">
              <a:buNone/>
            </a:pPr>
            <a:r>
              <a:rPr lang="en-US" sz="2100" b="1" dirty="0">
                <a:solidFill>
                  <a:srgbClr val="1E2761"/>
                </a:solidFill>
                <a:latin typeface="Cambria" pitchFamily="34" charset="0"/>
                <a:ea typeface="Cambria" pitchFamily="34" charset="-122"/>
                <a:cs typeface="Cambria" pitchFamily="34" charset="-120"/>
              </a:rPr>
              <a:t>Benutze Fachbegriffe.</a:t>
            </a:r>
            <a:endParaRPr lang="en-US" sz="2100" dirty="0"/>
          </a:p>
        </p:txBody>
      </p:sp>
      <p:sp>
        <p:nvSpPr>
          <p:cNvPr id="14" name="Text 11"/>
          <p:cNvSpPr txBox="1"/>
          <p:nvPr/>
        </p:nvSpPr>
        <p:spPr>
          <a:xfrm>
            <a:off x="1325880" y="2926080"/>
            <a:ext cx="10058400" cy="365760"/>
          </a:xfrm>
          <a:prstGeom prst="rect">
            <a:avLst/>
          </a:prstGeom>
          <a:noFill/>
          <a:ln/>
        </p:spPr>
        <p:txBody>
          <a:bodyPr wrap="square" lIns="0" tIns="0" rIns="0" bIns="0" rtlCol="0" anchor="t"/>
          <a:lstStyle/>
          <a:p>
            <a:pPr indent="0" marL="0">
              <a:buNone/>
            </a:pPr>
            <a:r>
              <a:rPr lang="en-US" sz="1600" dirty="0">
                <a:solidFill>
                  <a:srgbClr val="5B6B8C"/>
                </a:solidFill>
                <a:latin typeface="Calibri" pitchFamily="34" charset="0"/>
                <a:ea typeface="Calibri" pitchFamily="34" charset="-122"/>
                <a:cs typeface="Calibri" pitchFamily="34" charset="-120"/>
              </a:rPr>
              <a:t>Finite Form, Partizip II, Strophe, Vers … statt „das Wort da“.</a:t>
            </a:r>
            <a:endParaRPr lang="en-US" sz="1600" dirty="0"/>
          </a:p>
        </p:txBody>
      </p:sp>
      <p:sp>
        <p:nvSpPr>
          <p:cNvPr id="15" name="Shape 12"/>
          <p:cNvSpPr/>
          <p:nvPr/>
        </p:nvSpPr>
        <p:spPr>
          <a:xfrm>
            <a:off x="548640" y="3502152"/>
            <a:ext cx="548640" cy="548640"/>
          </a:xfrm>
          <a:prstGeom prst="ellipse">
            <a:avLst/>
          </a:prstGeom>
          <a:solidFill>
            <a:srgbClr val="1E2761"/>
          </a:solidFill>
          <a:ln/>
        </p:spPr>
      </p:sp>
      <p:sp>
        <p:nvSpPr>
          <p:cNvPr id="16" name="Text 13"/>
          <p:cNvSpPr txBox="1"/>
          <p:nvPr/>
        </p:nvSpPr>
        <p:spPr>
          <a:xfrm>
            <a:off x="548640" y="3502152"/>
            <a:ext cx="548640" cy="54864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17" name="Text 14"/>
          <p:cNvSpPr txBox="1"/>
          <p:nvPr/>
        </p:nvSpPr>
        <p:spPr>
          <a:xfrm>
            <a:off x="1325880" y="3429000"/>
            <a:ext cx="10058400" cy="411480"/>
          </a:xfrm>
          <a:prstGeom prst="rect">
            <a:avLst/>
          </a:prstGeom>
          <a:noFill/>
          <a:ln/>
        </p:spPr>
        <p:txBody>
          <a:bodyPr wrap="square" lIns="0" tIns="0" rIns="0" bIns="0" rtlCol="0" anchor="t"/>
          <a:lstStyle/>
          <a:p>
            <a:pPr indent="0" marL="0">
              <a:buNone/>
            </a:pPr>
            <a:r>
              <a:rPr lang="en-US" sz="2100" b="1" dirty="0">
                <a:solidFill>
                  <a:srgbClr val="1E2761"/>
                </a:solidFill>
                <a:latin typeface="Cambria" pitchFamily="34" charset="0"/>
                <a:ea typeface="Cambria" pitchFamily="34" charset="-122"/>
                <a:cs typeface="Cambria" pitchFamily="34" charset="-120"/>
              </a:rPr>
              <a:t>Begründe mit „weil“.</a:t>
            </a:r>
            <a:endParaRPr lang="en-US" sz="2100" dirty="0"/>
          </a:p>
        </p:txBody>
      </p:sp>
      <p:sp>
        <p:nvSpPr>
          <p:cNvPr id="18" name="Text 15"/>
          <p:cNvSpPr txBox="1"/>
          <p:nvPr/>
        </p:nvSpPr>
        <p:spPr>
          <a:xfrm>
            <a:off x="1325880" y="3840480"/>
            <a:ext cx="10058400" cy="365760"/>
          </a:xfrm>
          <a:prstGeom prst="rect">
            <a:avLst/>
          </a:prstGeom>
          <a:noFill/>
          <a:ln/>
        </p:spPr>
        <p:txBody>
          <a:bodyPr wrap="square" lIns="0" tIns="0" rIns="0" bIns="0" rtlCol="0" anchor="t"/>
          <a:lstStyle/>
          <a:p>
            <a:pPr indent="0" marL="0">
              <a:buNone/>
            </a:pPr>
            <a:r>
              <a:rPr lang="en-US" sz="1600" dirty="0">
                <a:solidFill>
                  <a:srgbClr val="5B6B8C"/>
                </a:solidFill>
                <a:latin typeface="Calibri" pitchFamily="34" charset="0"/>
                <a:ea typeface="Calibri" pitchFamily="34" charset="-122"/>
                <a:cs typeface="Calibri" pitchFamily="34" charset="-120"/>
              </a:rPr>
              <a:t>Eine Antwort mit Begründung ist mehr wert als ein einzelnes Wort.</a:t>
            </a:r>
            <a:endParaRPr lang="en-US" sz="1600" dirty="0"/>
          </a:p>
        </p:txBody>
      </p:sp>
      <p:sp>
        <p:nvSpPr>
          <p:cNvPr id="19" name="Shape 16"/>
          <p:cNvSpPr/>
          <p:nvPr/>
        </p:nvSpPr>
        <p:spPr>
          <a:xfrm>
            <a:off x="548640" y="4416552"/>
            <a:ext cx="548640" cy="548640"/>
          </a:xfrm>
          <a:prstGeom prst="ellipse">
            <a:avLst/>
          </a:prstGeom>
          <a:solidFill>
            <a:srgbClr val="1E2761"/>
          </a:solidFill>
          <a:ln/>
        </p:spPr>
      </p:sp>
      <p:sp>
        <p:nvSpPr>
          <p:cNvPr id="20" name="Text 17"/>
          <p:cNvSpPr txBox="1"/>
          <p:nvPr/>
        </p:nvSpPr>
        <p:spPr>
          <a:xfrm>
            <a:off x="548640" y="4416552"/>
            <a:ext cx="548640" cy="54864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4</a:t>
            </a:r>
            <a:endParaRPr lang="en-US" sz="1800" dirty="0"/>
          </a:p>
        </p:txBody>
      </p:sp>
      <p:sp>
        <p:nvSpPr>
          <p:cNvPr id="21" name="Text 18"/>
          <p:cNvSpPr txBox="1"/>
          <p:nvPr/>
        </p:nvSpPr>
        <p:spPr>
          <a:xfrm>
            <a:off x="1325880" y="4343400"/>
            <a:ext cx="10058400" cy="411480"/>
          </a:xfrm>
          <a:prstGeom prst="rect">
            <a:avLst/>
          </a:prstGeom>
          <a:noFill/>
          <a:ln/>
        </p:spPr>
        <p:txBody>
          <a:bodyPr wrap="square" lIns="0" tIns="0" rIns="0" bIns="0" rtlCol="0" anchor="t"/>
          <a:lstStyle/>
          <a:p>
            <a:pPr indent="0" marL="0">
              <a:buNone/>
            </a:pPr>
            <a:r>
              <a:rPr lang="en-US" sz="2100" b="1" dirty="0">
                <a:solidFill>
                  <a:srgbClr val="1E2761"/>
                </a:solidFill>
                <a:latin typeface="Cambria" pitchFamily="34" charset="0"/>
                <a:ea typeface="Cambria" pitchFamily="34" charset="-122"/>
                <a:cs typeface="Cambria" pitchFamily="34" charset="-120"/>
              </a:rPr>
              <a:t>Verknüpfe mit früheren Stunden.</a:t>
            </a:r>
            <a:endParaRPr lang="en-US" sz="2100" dirty="0"/>
          </a:p>
        </p:txBody>
      </p:sp>
      <p:sp>
        <p:nvSpPr>
          <p:cNvPr id="22" name="Text 19"/>
          <p:cNvSpPr txBox="1"/>
          <p:nvPr/>
        </p:nvSpPr>
        <p:spPr>
          <a:xfrm>
            <a:off x="1325880" y="4754880"/>
            <a:ext cx="10058400" cy="365760"/>
          </a:xfrm>
          <a:prstGeom prst="rect">
            <a:avLst/>
          </a:prstGeom>
          <a:noFill/>
          <a:ln/>
        </p:spPr>
        <p:txBody>
          <a:bodyPr wrap="square" lIns="0" tIns="0" rIns="0" bIns="0" rtlCol="0" anchor="t"/>
          <a:lstStyle/>
          <a:p>
            <a:pPr indent="0" marL="0">
              <a:buNone/>
            </a:pPr>
            <a:r>
              <a:rPr lang="en-US" sz="1600" dirty="0">
                <a:solidFill>
                  <a:srgbClr val="5B6B8C"/>
                </a:solidFill>
                <a:latin typeface="Calibri" pitchFamily="34" charset="0"/>
                <a:ea typeface="Calibri" pitchFamily="34" charset="-122"/>
                <a:cs typeface="Calibri" pitchFamily="34" charset="-120"/>
              </a:rPr>
              <a:t>„Das ist wie beim …“ – genau das macht den Unterschied zwischen 4 und 3.</a:t>
            </a:r>
            <a:endParaRPr lang="en-US" sz="1600" dirty="0"/>
          </a:p>
        </p:txBody>
      </p:sp>
      <p:sp>
        <p:nvSpPr>
          <p:cNvPr id="23" name="Shape 20"/>
          <p:cNvSpPr/>
          <p:nvPr/>
        </p:nvSpPr>
        <p:spPr>
          <a:xfrm>
            <a:off x="548640" y="5330952"/>
            <a:ext cx="548640" cy="548640"/>
          </a:xfrm>
          <a:prstGeom prst="ellipse">
            <a:avLst/>
          </a:prstGeom>
          <a:solidFill>
            <a:srgbClr val="1E2761"/>
          </a:solidFill>
          <a:ln/>
        </p:spPr>
      </p:sp>
      <p:sp>
        <p:nvSpPr>
          <p:cNvPr id="24" name="Text 21"/>
          <p:cNvSpPr txBox="1"/>
          <p:nvPr/>
        </p:nvSpPr>
        <p:spPr>
          <a:xfrm>
            <a:off x="548640" y="5330952"/>
            <a:ext cx="548640" cy="54864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5</a:t>
            </a:r>
            <a:endParaRPr lang="en-US" sz="1800" dirty="0"/>
          </a:p>
        </p:txBody>
      </p:sp>
      <p:sp>
        <p:nvSpPr>
          <p:cNvPr id="25" name="Text 22"/>
          <p:cNvSpPr txBox="1"/>
          <p:nvPr/>
        </p:nvSpPr>
        <p:spPr>
          <a:xfrm>
            <a:off x="1325880" y="5257800"/>
            <a:ext cx="10058400" cy="411480"/>
          </a:xfrm>
          <a:prstGeom prst="rect">
            <a:avLst/>
          </a:prstGeom>
          <a:noFill/>
          <a:ln/>
        </p:spPr>
        <p:txBody>
          <a:bodyPr wrap="square" lIns="0" tIns="0" rIns="0" bIns="0" rtlCol="0" anchor="t"/>
          <a:lstStyle/>
          <a:p>
            <a:pPr indent="0" marL="0">
              <a:buNone/>
            </a:pPr>
            <a:r>
              <a:rPr lang="en-US" sz="2100" b="1" dirty="0">
                <a:solidFill>
                  <a:srgbClr val="1E2761"/>
                </a:solidFill>
                <a:latin typeface="Cambria" pitchFamily="34" charset="0"/>
                <a:ea typeface="Cambria" pitchFamily="34" charset="-122"/>
                <a:cs typeface="Cambria" pitchFamily="34" charset="-120"/>
              </a:rPr>
              <a:t>Hör zu und knüpf an.</a:t>
            </a:r>
            <a:endParaRPr lang="en-US" sz="2100" dirty="0"/>
          </a:p>
        </p:txBody>
      </p:sp>
      <p:sp>
        <p:nvSpPr>
          <p:cNvPr id="26" name="Text 23"/>
          <p:cNvSpPr txBox="1"/>
          <p:nvPr/>
        </p:nvSpPr>
        <p:spPr>
          <a:xfrm>
            <a:off x="1325880" y="5669280"/>
            <a:ext cx="10058400" cy="365760"/>
          </a:xfrm>
          <a:prstGeom prst="rect">
            <a:avLst/>
          </a:prstGeom>
          <a:noFill/>
          <a:ln/>
        </p:spPr>
        <p:txBody>
          <a:bodyPr wrap="square" lIns="0" tIns="0" rIns="0" bIns="0" rtlCol="0" anchor="t"/>
          <a:lstStyle/>
          <a:p>
            <a:pPr indent="0" marL="0">
              <a:buNone/>
            </a:pPr>
            <a:r>
              <a:rPr lang="en-US" sz="1600" dirty="0">
                <a:solidFill>
                  <a:srgbClr val="5B6B8C"/>
                </a:solidFill>
                <a:latin typeface="Calibri" pitchFamily="34" charset="0"/>
                <a:ea typeface="Calibri" pitchFamily="34" charset="-122"/>
                <a:cs typeface="Calibri" pitchFamily="34" charset="-120"/>
              </a:rPr>
              <a:t>„Ich ergänze zu …“ oder „Ich sehe das anders, weil …“</a:t>
            </a:r>
            <a:endParaRPr lang="en-US" sz="16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1E2761"/>
        </a:solidFill>
      </p:bgPr>
    </p:bg>
    <p:spTree>
      <p:nvGrpSpPr>
        <p:cNvPr id="1" name=""/>
        <p:cNvGrpSpPr/>
        <p:nvPr/>
      </p:nvGrpSpPr>
      <p:grpSpPr>
        <a:xfrm>
          <a:off x="0" y="0"/>
          <a:ext cx="0" cy="0"/>
          <a:chOff x="0" y="0"/>
          <a:chExt cx="0" cy="0"/>
        </a:xfrm>
      </p:grpSpPr>
      <p:sp>
        <p:nvSpPr>
          <p:cNvPr id="2" name="Shape 0"/>
          <p:cNvSpPr/>
          <p:nvPr/>
        </p:nvSpPr>
        <p:spPr>
          <a:xfrm>
            <a:off x="9692640" y="-1463040"/>
            <a:ext cx="4206240" cy="4206240"/>
          </a:xfrm>
          <a:prstGeom prst="ellipse">
            <a:avLst/>
          </a:prstGeom>
          <a:solidFill>
            <a:srgbClr val="24306E"/>
          </a:solidFill>
          <a:ln/>
        </p:spPr>
      </p:sp>
      <p:sp>
        <p:nvSpPr>
          <p:cNvPr id="3" name="Shape 1"/>
          <p:cNvSpPr/>
          <p:nvPr/>
        </p:nvSpPr>
        <p:spPr>
          <a:xfrm>
            <a:off x="-1371600" y="4206240"/>
            <a:ext cx="3657600" cy="3657600"/>
          </a:xfrm>
          <a:prstGeom prst="ellipse">
            <a:avLst/>
          </a:prstGeom>
          <a:solidFill>
            <a:srgbClr val="24306E"/>
          </a:solidFill>
          <a:ln/>
        </p:spPr>
      </p:sp>
      <p:sp>
        <p:nvSpPr>
          <p:cNvPr id="4" name="Text 2"/>
          <p:cNvSpPr txBox="1"/>
          <p:nvPr/>
        </p:nvSpPr>
        <p:spPr>
          <a:xfrm>
            <a:off x="822960" y="1737360"/>
            <a:ext cx="10058400" cy="822960"/>
          </a:xfrm>
          <a:prstGeom prst="rect">
            <a:avLst/>
          </a:prstGeom>
          <a:noFill/>
          <a:ln/>
        </p:spPr>
        <p:txBody>
          <a:bodyPr wrap="square" lIns="0" tIns="0" rIns="0" bIns="0" rtlCol="0" anchor="t"/>
          <a:lstStyle/>
          <a:p>
            <a:pPr indent="0" marL="0">
              <a:buNone/>
            </a:pPr>
            <a:r>
              <a:rPr lang="en-US" sz="4000" b="1" dirty="0">
                <a:solidFill>
                  <a:srgbClr val="FFFFFF"/>
                </a:solidFill>
                <a:latin typeface="Cambria" pitchFamily="34" charset="0"/>
                <a:ea typeface="Cambria" pitchFamily="34" charset="-122"/>
                <a:cs typeface="Cambria" pitchFamily="34" charset="-120"/>
              </a:rPr>
              <a:t>Und jetzt?</a:t>
            </a:r>
            <a:endParaRPr lang="en-US" sz="4000" dirty="0"/>
          </a:p>
        </p:txBody>
      </p:sp>
      <p:sp>
        <p:nvSpPr>
          <p:cNvPr id="5" name="Text 3"/>
          <p:cNvSpPr txBox="1"/>
          <p:nvPr/>
        </p:nvSpPr>
        <p:spPr>
          <a:xfrm>
            <a:off x="822960" y="2834640"/>
            <a:ext cx="10515600" cy="640080"/>
          </a:xfrm>
          <a:prstGeom prst="rect">
            <a:avLst/>
          </a:prstGeom>
          <a:noFill/>
          <a:ln/>
        </p:spPr>
        <p:txBody>
          <a:bodyPr wrap="square" lIns="0" tIns="0" rIns="0" bIns="0" rtlCol="0" anchor="t"/>
          <a:lstStyle/>
          <a:p>
            <a:pPr indent="0" marL="0">
              <a:buNone/>
            </a:pPr>
            <a:r>
              <a:rPr lang="en-US" sz="2200" b="1" dirty="0">
                <a:solidFill>
                  <a:srgbClr val="E8A33D"/>
                </a:solidFill>
                <a:latin typeface="Calibri" pitchFamily="34" charset="0"/>
                <a:ea typeface="Calibri" pitchFamily="34" charset="-122"/>
                <a:cs typeface="Calibri" pitchFamily="34" charset="-120"/>
              </a:rPr>
              <a:t>1  </a:t>
            </a:r>
            <a:pPr indent="0" marL="0">
              <a:buNone/>
            </a:pPr>
            <a:r>
              <a:rPr lang="en-US" sz="2200" dirty="0">
                <a:solidFill>
                  <a:srgbClr val="FFFFFF"/>
                </a:solidFill>
                <a:latin typeface="Calibri" pitchFamily="34" charset="0"/>
                <a:ea typeface="Calibri" pitchFamily="34" charset="-122"/>
                <a:cs typeface="Calibri" pitchFamily="34" charset="-120"/>
              </a:rPr>
              <a:t>Ich teile dir deine aktuelle mündliche Note einzeln mit – mit einer kurzen Begründung.</a:t>
            </a:r>
            <a:endParaRPr lang="en-US" sz="2200" dirty="0"/>
          </a:p>
        </p:txBody>
      </p:sp>
      <p:sp>
        <p:nvSpPr>
          <p:cNvPr id="6" name="Text 4"/>
          <p:cNvSpPr txBox="1"/>
          <p:nvPr/>
        </p:nvSpPr>
        <p:spPr>
          <a:xfrm>
            <a:off x="822960" y="3611880"/>
            <a:ext cx="10515600" cy="640080"/>
          </a:xfrm>
          <a:prstGeom prst="rect">
            <a:avLst/>
          </a:prstGeom>
          <a:noFill/>
          <a:ln/>
        </p:spPr>
        <p:txBody>
          <a:bodyPr wrap="square" lIns="0" tIns="0" rIns="0" bIns="0" rtlCol="0" anchor="t"/>
          <a:lstStyle/>
          <a:p>
            <a:pPr indent="0" marL="0">
              <a:buNone/>
            </a:pPr>
            <a:r>
              <a:rPr lang="en-US" sz="2200" b="1" dirty="0">
                <a:solidFill>
                  <a:srgbClr val="E8A33D"/>
                </a:solidFill>
                <a:latin typeface="Calibri" pitchFamily="34" charset="0"/>
                <a:ea typeface="Calibri" pitchFamily="34" charset="-122"/>
                <a:cs typeface="Calibri" pitchFamily="34" charset="-120"/>
              </a:rPr>
              <a:t>2  </a:t>
            </a:r>
            <a:pPr indent="0" marL="0">
              <a:buNone/>
            </a:pPr>
            <a:r>
              <a:rPr lang="en-US" sz="2200" dirty="0">
                <a:solidFill>
                  <a:srgbClr val="FFFFFF"/>
                </a:solidFill>
                <a:latin typeface="Calibri" pitchFamily="34" charset="0"/>
                <a:ea typeface="Calibri" pitchFamily="34" charset="-122"/>
                <a:cs typeface="Calibri" pitchFamily="34" charset="-120"/>
              </a:rPr>
              <a:t>Überleg dir: Welche Stufe willst du bis Weihnachten erreichen?</a:t>
            </a:r>
            <a:endParaRPr lang="en-US" sz="2200" dirty="0"/>
          </a:p>
        </p:txBody>
      </p:sp>
      <p:sp>
        <p:nvSpPr>
          <p:cNvPr id="7" name="Text 5"/>
          <p:cNvSpPr txBox="1"/>
          <p:nvPr/>
        </p:nvSpPr>
        <p:spPr>
          <a:xfrm>
            <a:off x="822960" y="4389120"/>
            <a:ext cx="10515600" cy="640080"/>
          </a:xfrm>
          <a:prstGeom prst="rect">
            <a:avLst/>
          </a:prstGeom>
          <a:noFill/>
          <a:ln/>
        </p:spPr>
        <p:txBody>
          <a:bodyPr wrap="square" lIns="0" tIns="0" rIns="0" bIns="0" rtlCol="0" anchor="t"/>
          <a:lstStyle/>
          <a:p>
            <a:pPr indent="0" marL="0">
              <a:buNone/>
            </a:pPr>
            <a:r>
              <a:rPr lang="en-US" sz="2200" b="1" dirty="0">
                <a:solidFill>
                  <a:srgbClr val="E8A33D"/>
                </a:solidFill>
                <a:latin typeface="Calibri" pitchFamily="34" charset="0"/>
                <a:ea typeface="Calibri" pitchFamily="34" charset="-122"/>
                <a:cs typeface="Calibri" pitchFamily="34" charset="-120"/>
              </a:rPr>
              <a:t>3  </a:t>
            </a:r>
            <a:pPr indent="0" marL="0">
              <a:buNone/>
            </a:pPr>
            <a:r>
              <a:rPr lang="en-US" sz="2200" dirty="0">
                <a:solidFill>
                  <a:srgbClr val="FFFFFF"/>
                </a:solidFill>
                <a:latin typeface="Calibri" pitchFamily="34" charset="0"/>
                <a:ea typeface="Calibri" pitchFamily="34" charset="-122"/>
                <a:cs typeface="Calibri" pitchFamily="34" charset="-120"/>
              </a:rPr>
              <a:t>Schreib einen Tipp ins Heft, an dem du arbeitest – und was du gegen Störungen tust.</a:t>
            </a:r>
            <a:endParaRPr lang="en-US" sz="2200" dirty="0"/>
          </a:p>
        </p:txBody>
      </p:sp>
      <p:sp>
        <p:nvSpPr>
          <p:cNvPr id="8" name="Text 6"/>
          <p:cNvSpPr txBox="1"/>
          <p:nvPr/>
        </p:nvSpPr>
        <p:spPr>
          <a:xfrm>
            <a:off x="822960" y="6217920"/>
            <a:ext cx="10058400" cy="274320"/>
          </a:xfrm>
          <a:prstGeom prst="rect">
            <a:avLst/>
          </a:prstGeom>
          <a:noFill/>
          <a:ln/>
        </p:spPr>
        <p:txBody>
          <a:bodyPr wrap="square" lIns="0" tIns="0" rIns="0" bIns="0" rtlCol="0" anchor="t"/>
          <a:lstStyle/>
          <a:p>
            <a:pPr indent="0" marL="0">
              <a:buNone/>
            </a:pPr>
            <a:r>
              <a:rPr lang="en-US" sz="1100" dirty="0">
                <a:solidFill>
                  <a:srgbClr val="CADCFC"/>
                </a:solidFill>
                <a:latin typeface="Calibri" pitchFamily="34" charset="0"/>
                <a:ea typeface="Calibri" pitchFamily="34" charset="-122"/>
                <a:cs typeface="Calibri" pitchFamily="34" charset="-120"/>
              </a:rPr>
              <a:t>Grundlage: Kriterien zur Beurteilung der mündlichen Leistung (lehrerfreund.de)</a:t>
            </a:r>
            <a:endParaRPr lang="en-US" sz="11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1E2761"/>
        </a:solidFill>
      </p:bgPr>
    </p:bg>
    <p:spTree>
      <p:nvGrpSpPr>
        <p:cNvPr id="1" name=""/>
        <p:cNvGrpSpPr/>
        <p:nvPr/>
      </p:nvGrpSpPr>
      <p:grpSpPr>
        <a:xfrm>
          <a:off x="0" y="0"/>
          <a:ext cx="0" cy="0"/>
          <a:chOff x="0" y="0"/>
          <a:chExt cx="0" cy="0"/>
        </a:xfrm>
      </p:grpSpPr>
      <p:sp>
        <p:nvSpPr>
          <p:cNvPr id="2" name="Shape 0"/>
          <p:cNvSpPr/>
          <p:nvPr/>
        </p:nvSpPr>
        <p:spPr>
          <a:xfrm>
            <a:off x="9692640" y="-1463040"/>
            <a:ext cx="4206240" cy="4206240"/>
          </a:xfrm>
          <a:prstGeom prst="ellipse">
            <a:avLst/>
          </a:prstGeom>
          <a:solidFill>
            <a:srgbClr val="24306E"/>
          </a:solidFill>
          <a:ln/>
        </p:spPr>
      </p:sp>
      <p:sp>
        <p:nvSpPr>
          <p:cNvPr id="3" name="Shape 1"/>
          <p:cNvSpPr/>
          <p:nvPr/>
        </p:nvSpPr>
        <p:spPr>
          <a:xfrm>
            <a:off x="-1371600" y="4206240"/>
            <a:ext cx="3657600" cy="3657600"/>
          </a:xfrm>
          <a:prstGeom prst="ellipse">
            <a:avLst/>
          </a:prstGeom>
          <a:solidFill>
            <a:srgbClr val="24306E"/>
          </a:solidFill>
          <a:ln/>
        </p:spPr>
      </p:sp>
      <p:sp>
        <p:nvSpPr>
          <p:cNvPr id="4" name="Shape 2"/>
          <p:cNvSpPr/>
          <p:nvPr/>
        </p:nvSpPr>
        <p:spPr>
          <a:xfrm>
            <a:off x="822960" y="1874520"/>
            <a:ext cx="2011680" cy="384048"/>
          </a:xfrm>
          <a:prstGeom prst="roundRect">
            <a:avLst>
              <a:gd name="adj" fmla="val 50000"/>
            </a:avLst>
          </a:prstGeom>
          <a:solidFill>
            <a:srgbClr val="2E9E6B"/>
          </a:solidFill>
          <a:ln/>
        </p:spPr>
      </p:sp>
      <p:sp>
        <p:nvSpPr>
          <p:cNvPr id="5" name="Text 3"/>
          <p:cNvSpPr txBox="1"/>
          <p:nvPr/>
        </p:nvSpPr>
        <p:spPr>
          <a:xfrm>
            <a:off x="822960" y="1874520"/>
            <a:ext cx="201168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TEIL 3</a:t>
            </a:r>
            <a:endParaRPr lang="en-US" sz="1200" dirty="0"/>
          </a:p>
        </p:txBody>
      </p:sp>
      <p:sp>
        <p:nvSpPr>
          <p:cNvPr id="6" name="Text 4"/>
          <p:cNvSpPr txBox="1"/>
          <p:nvPr/>
        </p:nvSpPr>
        <p:spPr>
          <a:xfrm>
            <a:off x="822960" y="2423160"/>
            <a:ext cx="10972800" cy="914400"/>
          </a:xfrm>
          <a:prstGeom prst="rect">
            <a:avLst/>
          </a:prstGeom>
          <a:noFill/>
          <a:ln/>
        </p:spPr>
        <p:txBody>
          <a:bodyPr wrap="square" lIns="0" tIns="0" rIns="0" bIns="0" rtlCol="0" anchor="t"/>
          <a:lstStyle/>
          <a:p>
            <a:pPr indent="0" marL="0">
              <a:buNone/>
            </a:pPr>
            <a:r>
              <a:rPr lang="en-US" sz="4000" b="1" dirty="0">
                <a:solidFill>
                  <a:srgbClr val="FFFFFF"/>
                </a:solidFill>
                <a:latin typeface="Cambria" pitchFamily="34" charset="0"/>
                <a:ea typeface="Cambria" pitchFamily="34" charset="-122"/>
                <a:cs typeface="Cambria" pitchFamily="34" charset="-120"/>
              </a:rPr>
              <a:t>Paddy Fingal – Lesetechniken</a:t>
            </a:r>
            <a:endParaRPr lang="en-US" sz="4000" dirty="0"/>
          </a:p>
        </p:txBody>
      </p:sp>
      <p:sp>
        <p:nvSpPr>
          <p:cNvPr id="7" name="Text 5"/>
          <p:cNvSpPr txBox="1"/>
          <p:nvPr/>
        </p:nvSpPr>
        <p:spPr>
          <a:xfrm>
            <a:off x="822960" y="3429000"/>
            <a:ext cx="10515600" cy="457200"/>
          </a:xfrm>
          <a:prstGeom prst="rect">
            <a:avLst/>
          </a:prstGeom>
          <a:noFill/>
          <a:ln/>
        </p:spPr>
        <p:txBody>
          <a:bodyPr wrap="square" lIns="0" tIns="0" rIns="0" bIns="0" rtlCol="0" anchor="t"/>
          <a:lstStyle/>
          <a:p>
            <a:pPr indent="0" marL="0">
              <a:buNone/>
            </a:pPr>
            <a:r>
              <a:rPr lang="en-US" sz="2000" i="1" dirty="0">
                <a:solidFill>
                  <a:srgbClr val="CADCFC"/>
                </a:solidFill>
                <a:latin typeface="Calibri" pitchFamily="34" charset="0"/>
                <a:ea typeface="Calibri" pitchFamily="34" charset="-122"/>
                <a:cs typeface="Calibri" pitchFamily="34" charset="-120"/>
              </a:rPr>
              <a:t>Leute, höret die Geschicht’ – Wilhelm Brandes, Lehrbuch S. 136 f.</a:t>
            </a:r>
            <a:endParaRPr lang="en-US" sz="20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8229600" cy="274320"/>
          </a:xfrm>
          <a:prstGeom prst="rect">
            <a:avLst/>
          </a:prstGeom>
          <a:noFill/>
          <a:ln/>
        </p:spPr>
        <p:txBody>
          <a:bodyPr wrap="square" lIns="0" tIns="0" rIns="0" bIns="0" rtlCol="0" anchor="t"/>
          <a:lstStyle/>
          <a:p>
            <a:pPr indent="0" marL="0">
              <a:buNone/>
            </a:pPr>
            <a:r>
              <a:rPr lang="en-US" sz="1200" spc="200" kern="0" dirty="0">
                <a:solidFill>
                  <a:srgbClr val="5B6B8C"/>
                </a:solidFill>
                <a:latin typeface="Calibri" pitchFamily="34" charset="0"/>
                <a:ea typeface="Calibri" pitchFamily="34" charset="-122"/>
                <a:cs typeface="Calibri" pitchFamily="34" charset="-120"/>
              </a:rPr>
              <a:t>HEUTE</a:t>
            </a:r>
            <a:endParaRPr lang="en-US" sz="1200" dirty="0"/>
          </a:p>
        </p:txBody>
      </p:sp>
      <p:sp>
        <p:nvSpPr>
          <p:cNvPr id="3" name="Text 1"/>
          <p:cNvSpPr txBox="1"/>
          <p:nvPr/>
        </p:nvSpPr>
        <p:spPr>
          <a:xfrm>
            <a:off x="548640" y="658368"/>
            <a:ext cx="11064240" cy="640080"/>
          </a:xfrm>
          <a:prstGeom prst="rect">
            <a:avLst/>
          </a:prstGeom>
          <a:noFill/>
          <a:ln/>
        </p:spPr>
        <p:txBody>
          <a:bodyPr wrap="square" lIns="0" tIns="0" rIns="0" bIns="0" rtlCol="0" anchor="t"/>
          <a:lstStyle/>
          <a:p>
            <a:pPr indent="0" marL="0">
              <a:buNone/>
            </a:pPr>
            <a:r>
              <a:rPr lang="en-US" sz="3200" b="1" dirty="0">
                <a:solidFill>
                  <a:srgbClr val="1E2761"/>
                </a:solidFill>
                <a:latin typeface="Cambria" pitchFamily="34" charset="0"/>
                <a:ea typeface="Cambria" pitchFamily="34" charset="-122"/>
                <a:cs typeface="Cambria" pitchFamily="34" charset="-120"/>
              </a:rPr>
              <a:t>Ziel und Ablauf</a:t>
            </a:r>
            <a:endParaRPr lang="en-US" sz="3200" dirty="0"/>
          </a:p>
        </p:txBody>
      </p:sp>
      <p:sp>
        <p:nvSpPr>
          <p:cNvPr id="4" name="Text 2"/>
          <p:cNvSpPr txBox="1"/>
          <p:nvPr/>
        </p:nvSpPr>
        <p:spPr>
          <a:xfrm>
            <a:off x="548640" y="6400800"/>
            <a:ext cx="6400800" cy="228600"/>
          </a:xfrm>
          <a:prstGeom prst="rect">
            <a:avLst/>
          </a:prstGeom>
          <a:noFill/>
          <a:ln/>
        </p:spPr>
        <p:txBody>
          <a:bodyPr wrap="square" lIns="0" tIns="0" rIns="0" bIns="0" rtlCol="0" anchor="t"/>
          <a:lstStyle/>
          <a:p>
            <a:pPr indent="0" marL="0">
              <a:buNone/>
            </a:pPr>
            <a:r>
              <a:rPr lang="en-US" sz="1000" dirty="0">
                <a:solidFill>
                  <a:srgbClr val="5B6B8C"/>
                </a:solidFill>
                <a:latin typeface="Calibri" pitchFamily="34" charset="0"/>
                <a:ea typeface="Calibri" pitchFamily="34" charset="-122"/>
                <a:cs typeface="Calibri" pitchFamily="34" charset="-120"/>
              </a:rPr>
              <a:t>Teil 3 · Paddy Fingal – Lesetechniken · Deutsch 7A</a:t>
            </a:r>
            <a:endParaRPr lang="en-US" sz="1000" dirty="0"/>
          </a:p>
        </p:txBody>
      </p:sp>
      <p:sp>
        <p:nvSpPr>
          <p:cNvPr id="5" name="Text 3"/>
          <p:cNvSpPr txBox="1"/>
          <p:nvPr/>
        </p:nvSpPr>
        <p:spPr>
          <a:xfrm>
            <a:off x="11155680" y="6400800"/>
            <a:ext cx="457200" cy="228600"/>
          </a:xfrm>
          <a:prstGeom prst="rect">
            <a:avLst/>
          </a:prstGeom>
          <a:noFill/>
          <a:ln/>
        </p:spPr>
        <p:txBody>
          <a:bodyPr wrap="square" lIns="0" tIns="0" rIns="0" bIns="0" rtlCol="0" anchor="t"/>
          <a:lstStyle/>
          <a:p>
            <a:pPr algn="r" indent="0" marL="0">
              <a:buNone/>
            </a:pPr>
            <a:r>
              <a:rPr lang="en-US" sz="1000" dirty="0">
                <a:solidFill>
                  <a:srgbClr val="5B6B8C"/>
                </a:solidFill>
                <a:latin typeface="Calibri" pitchFamily="34" charset="0"/>
                <a:ea typeface="Calibri" pitchFamily="34" charset="-122"/>
                <a:cs typeface="Calibri" pitchFamily="34" charset="-120"/>
              </a:rPr>
              <a:t>18</a:t>
            </a:r>
            <a:endParaRPr lang="en-US" sz="1000" dirty="0"/>
          </a:p>
        </p:txBody>
      </p:sp>
      <p:sp>
        <p:nvSpPr>
          <p:cNvPr id="7" name="Shape 4"/>
          <p:cNvSpPr/>
          <p:nvPr/>
        </p:nvSpPr>
        <p:spPr>
          <a:xfrm>
            <a:off x="548640" y="1554480"/>
            <a:ext cx="11064240" cy="1097280"/>
          </a:xfrm>
          <a:prstGeom prst="roundRect">
            <a:avLst>
              <a:gd name="adj" fmla="val 6667"/>
            </a:avLst>
          </a:prstGeom>
          <a:solidFill>
            <a:srgbClr val="EAF0FA"/>
          </a:solidFill>
          <a:ln/>
        </p:spPr>
      </p:sp>
      <p:sp>
        <p:nvSpPr>
          <p:cNvPr id="8" name="Shape 5"/>
          <p:cNvSpPr/>
          <p:nvPr/>
        </p:nvSpPr>
        <p:spPr>
          <a:xfrm>
            <a:off x="548640" y="1554480"/>
            <a:ext cx="109728" cy="1097280"/>
          </a:xfrm>
          <a:prstGeom prst="rect">
            <a:avLst/>
          </a:prstGeom>
          <a:solidFill>
            <a:srgbClr val="D9534F"/>
          </a:solidFill>
          <a:ln/>
        </p:spPr>
      </p:sp>
      <p:sp>
        <p:nvSpPr>
          <p:cNvPr id="9" name="Text 6"/>
          <p:cNvSpPr txBox="1"/>
          <p:nvPr/>
        </p:nvSpPr>
        <p:spPr>
          <a:xfrm>
            <a:off x="914400" y="1737360"/>
            <a:ext cx="10515600" cy="822960"/>
          </a:xfrm>
          <a:prstGeom prst="rect">
            <a:avLst/>
          </a:prstGeom>
          <a:noFill/>
          <a:ln/>
        </p:spPr>
        <p:txBody>
          <a:bodyPr wrap="square" lIns="0" tIns="0" rIns="0" bIns="0" rtlCol="0" anchor="t"/>
          <a:lstStyle/>
          <a:p>
            <a:pPr indent="0" marL="0">
              <a:buNone/>
            </a:pPr>
            <a:r>
              <a:rPr lang="en-US" sz="2200" b="1" dirty="0">
                <a:solidFill>
                  <a:srgbClr val="D9534F"/>
                </a:solidFill>
                <a:latin typeface="Calibri" pitchFamily="34" charset="0"/>
                <a:ea typeface="Calibri" pitchFamily="34" charset="-122"/>
                <a:cs typeface="Calibri" pitchFamily="34" charset="-120"/>
              </a:rPr>
              <a:t>Ziel:  </a:t>
            </a:r>
            <a:pPr indent="0" marL="0">
              <a:buNone/>
            </a:pPr>
            <a:r>
              <a:rPr lang="en-US" sz="2200" i="1" dirty="0">
                <a:solidFill>
                  <a:srgbClr val="1E2761"/>
                </a:solidFill>
                <a:latin typeface="Calibri" pitchFamily="34" charset="0"/>
                <a:ea typeface="Calibri" pitchFamily="34" charset="-122"/>
                <a:cs typeface="Calibri" pitchFamily="34" charset="-120"/>
              </a:rPr>
              <a:t>Ich kann je nach Leseziel überfliegend, orientierend oder genau lesen und meinen ersten Eindruck von einer Ballade begründen.</a:t>
            </a:r>
            <a:endParaRPr lang="en-US" sz="2200" dirty="0"/>
          </a:p>
        </p:txBody>
      </p:sp>
      <p:sp>
        <p:nvSpPr>
          <p:cNvPr id="10" name="Shape 7"/>
          <p:cNvSpPr/>
          <p:nvPr/>
        </p:nvSpPr>
        <p:spPr>
          <a:xfrm>
            <a:off x="822960" y="2971800"/>
            <a:ext cx="411480" cy="411480"/>
          </a:xfrm>
          <a:prstGeom prst="ellipse">
            <a:avLst/>
          </a:prstGeom>
          <a:solidFill>
            <a:srgbClr val="1E2761"/>
          </a:solidFill>
          <a:ln/>
        </p:spPr>
      </p:sp>
      <p:sp>
        <p:nvSpPr>
          <p:cNvPr id="11" name="Text 8"/>
          <p:cNvSpPr txBox="1"/>
          <p:nvPr/>
        </p:nvSpPr>
        <p:spPr>
          <a:xfrm>
            <a:off x="822960" y="2971800"/>
            <a:ext cx="411480" cy="411480"/>
          </a:xfrm>
          <a:prstGeom prst="rect">
            <a:avLst/>
          </a:prstGeom>
          <a:noFill/>
          <a:ln/>
        </p:spPr>
        <p:txBody>
          <a:bodyPr wrap="square" lIns="0" tIns="0" rIns="0" bIns="0" rtlCol="0" anchor="ctr"/>
          <a:lstStyle/>
          <a:p>
            <a:pPr algn="ctr" indent="0" marL="0">
              <a:buNone/>
            </a:pPr>
            <a:r>
              <a:rPr lang="en-US" sz="1440" b="1" dirty="0">
                <a:solidFill>
                  <a:srgbClr val="FFFFFF"/>
                </a:solidFill>
                <a:latin typeface="Calibri" pitchFamily="34" charset="0"/>
                <a:ea typeface="Calibri" pitchFamily="34" charset="-122"/>
                <a:cs typeface="Calibri" pitchFamily="34" charset="-120"/>
              </a:rPr>
              <a:t>1</a:t>
            </a:r>
            <a:endParaRPr lang="en-US" sz="1440" dirty="0"/>
          </a:p>
        </p:txBody>
      </p:sp>
      <p:sp>
        <p:nvSpPr>
          <p:cNvPr id="12" name="Text 9"/>
          <p:cNvSpPr txBox="1"/>
          <p:nvPr/>
        </p:nvSpPr>
        <p:spPr>
          <a:xfrm>
            <a:off x="1417320" y="2999232"/>
            <a:ext cx="9144000" cy="457200"/>
          </a:xfrm>
          <a:prstGeom prst="rect">
            <a:avLst/>
          </a:prstGeom>
          <a:noFill/>
          <a:ln/>
        </p:spPr>
        <p:txBody>
          <a:bodyPr wrap="square" lIns="0" tIns="0" rIns="0" bIns="0" rtlCol="0" anchor="t"/>
          <a:lstStyle/>
          <a:p>
            <a:pPr indent="0" marL="0">
              <a:buNone/>
            </a:pPr>
            <a:r>
              <a:rPr lang="en-US" sz="2000" dirty="0">
                <a:solidFill>
                  <a:srgbClr val="1E2761"/>
                </a:solidFill>
                <a:latin typeface="Calibri" pitchFamily="34" charset="0"/>
                <a:ea typeface="Calibri" pitchFamily="34" charset="-122"/>
                <a:cs typeface="Calibri" pitchFamily="34" charset="-120"/>
              </a:rPr>
              <a:t>Wer ist Paddy Fingal?</a:t>
            </a:r>
            <a:endParaRPr lang="en-US" sz="2000" dirty="0"/>
          </a:p>
        </p:txBody>
      </p:sp>
      <p:sp>
        <p:nvSpPr>
          <p:cNvPr id="13" name="Shape 10"/>
          <p:cNvSpPr/>
          <p:nvPr/>
        </p:nvSpPr>
        <p:spPr>
          <a:xfrm>
            <a:off x="822960" y="3593592"/>
            <a:ext cx="411480" cy="411480"/>
          </a:xfrm>
          <a:prstGeom prst="ellipse">
            <a:avLst/>
          </a:prstGeom>
          <a:solidFill>
            <a:srgbClr val="1E2761"/>
          </a:solidFill>
          <a:ln/>
        </p:spPr>
      </p:sp>
      <p:sp>
        <p:nvSpPr>
          <p:cNvPr id="14" name="Text 11"/>
          <p:cNvSpPr txBox="1"/>
          <p:nvPr/>
        </p:nvSpPr>
        <p:spPr>
          <a:xfrm>
            <a:off x="822960" y="3593592"/>
            <a:ext cx="411480" cy="411480"/>
          </a:xfrm>
          <a:prstGeom prst="rect">
            <a:avLst/>
          </a:prstGeom>
          <a:noFill/>
          <a:ln/>
        </p:spPr>
        <p:txBody>
          <a:bodyPr wrap="square" lIns="0" tIns="0" rIns="0" bIns="0" rtlCol="0" anchor="ctr"/>
          <a:lstStyle/>
          <a:p>
            <a:pPr algn="ctr" indent="0" marL="0">
              <a:buNone/>
            </a:pPr>
            <a:r>
              <a:rPr lang="en-US" sz="1440" b="1" dirty="0">
                <a:solidFill>
                  <a:srgbClr val="FFFFFF"/>
                </a:solidFill>
                <a:latin typeface="Calibri" pitchFamily="34" charset="0"/>
                <a:ea typeface="Calibri" pitchFamily="34" charset="-122"/>
                <a:cs typeface="Calibri" pitchFamily="34" charset="-120"/>
              </a:rPr>
              <a:t>2</a:t>
            </a:r>
            <a:endParaRPr lang="en-US" sz="1440" dirty="0"/>
          </a:p>
        </p:txBody>
      </p:sp>
      <p:sp>
        <p:nvSpPr>
          <p:cNvPr id="15" name="Text 12"/>
          <p:cNvSpPr txBox="1"/>
          <p:nvPr/>
        </p:nvSpPr>
        <p:spPr>
          <a:xfrm>
            <a:off x="1417320" y="3621024"/>
            <a:ext cx="9144000" cy="457200"/>
          </a:xfrm>
          <a:prstGeom prst="rect">
            <a:avLst/>
          </a:prstGeom>
          <a:noFill/>
          <a:ln/>
        </p:spPr>
        <p:txBody>
          <a:bodyPr wrap="square" lIns="0" tIns="0" rIns="0" bIns="0" rtlCol="0" anchor="t"/>
          <a:lstStyle/>
          <a:p>
            <a:pPr indent="0" marL="0">
              <a:buNone/>
            </a:pPr>
            <a:r>
              <a:rPr lang="en-US" sz="2000" dirty="0">
                <a:solidFill>
                  <a:srgbClr val="1E2761"/>
                </a:solidFill>
                <a:latin typeface="Calibri" pitchFamily="34" charset="0"/>
                <a:ea typeface="Calibri" pitchFamily="34" charset="-122"/>
                <a:cs typeface="Calibri" pitchFamily="34" charset="-120"/>
              </a:rPr>
              <a:t>Wie lest ihr?</a:t>
            </a:r>
            <a:endParaRPr lang="en-US" sz="2000" dirty="0"/>
          </a:p>
        </p:txBody>
      </p:sp>
      <p:sp>
        <p:nvSpPr>
          <p:cNvPr id="16" name="Shape 13"/>
          <p:cNvSpPr/>
          <p:nvPr/>
        </p:nvSpPr>
        <p:spPr>
          <a:xfrm>
            <a:off x="822960" y="4215384"/>
            <a:ext cx="411480" cy="411480"/>
          </a:xfrm>
          <a:prstGeom prst="ellipse">
            <a:avLst/>
          </a:prstGeom>
          <a:solidFill>
            <a:srgbClr val="1E2761"/>
          </a:solidFill>
          <a:ln/>
        </p:spPr>
      </p:sp>
      <p:sp>
        <p:nvSpPr>
          <p:cNvPr id="17" name="Text 14"/>
          <p:cNvSpPr txBox="1"/>
          <p:nvPr/>
        </p:nvSpPr>
        <p:spPr>
          <a:xfrm>
            <a:off x="822960" y="4215384"/>
            <a:ext cx="411480" cy="411480"/>
          </a:xfrm>
          <a:prstGeom prst="rect">
            <a:avLst/>
          </a:prstGeom>
          <a:noFill/>
          <a:ln/>
        </p:spPr>
        <p:txBody>
          <a:bodyPr wrap="square" lIns="0" tIns="0" rIns="0" bIns="0" rtlCol="0" anchor="ctr"/>
          <a:lstStyle/>
          <a:p>
            <a:pPr algn="ctr" indent="0" marL="0">
              <a:buNone/>
            </a:pPr>
            <a:r>
              <a:rPr lang="en-US" sz="1440" b="1" dirty="0">
                <a:solidFill>
                  <a:srgbClr val="FFFFFF"/>
                </a:solidFill>
                <a:latin typeface="Calibri" pitchFamily="34" charset="0"/>
                <a:ea typeface="Calibri" pitchFamily="34" charset="-122"/>
                <a:cs typeface="Calibri" pitchFamily="34" charset="-120"/>
              </a:rPr>
              <a:t>3</a:t>
            </a:r>
            <a:endParaRPr lang="en-US" sz="1440" dirty="0"/>
          </a:p>
        </p:txBody>
      </p:sp>
      <p:sp>
        <p:nvSpPr>
          <p:cNvPr id="18" name="Text 15"/>
          <p:cNvSpPr txBox="1"/>
          <p:nvPr/>
        </p:nvSpPr>
        <p:spPr>
          <a:xfrm>
            <a:off x="1417320" y="4242816"/>
            <a:ext cx="9144000" cy="457200"/>
          </a:xfrm>
          <a:prstGeom prst="rect">
            <a:avLst/>
          </a:prstGeom>
          <a:noFill/>
          <a:ln/>
        </p:spPr>
        <p:txBody>
          <a:bodyPr wrap="square" lIns="0" tIns="0" rIns="0" bIns="0" rtlCol="0" anchor="t"/>
          <a:lstStyle/>
          <a:p>
            <a:pPr indent="0" marL="0">
              <a:buNone/>
            </a:pPr>
            <a:r>
              <a:rPr lang="en-US" sz="2000" dirty="0">
                <a:solidFill>
                  <a:srgbClr val="1E2761"/>
                </a:solidFill>
                <a:latin typeface="Calibri" pitchFamily="34" charset="0"/>
                <a:ea typeface="Calibri" pitchFamily="34" charset="-122"/>
                <a:cs typeface="Calibri" pitchFamily="34" charset="-120"/>
              </a:rPr>
              <a:t>Merksatz 1: Lesetechniken</a:t>
            </a:r>
            <a:endParaRPr lang="en-US" sz="2000" dirty="0"/>
          </a:p>
        </p:txBody>
      </p:sp>
      <p:sp>
        <p:nvSpPr>
          <p:cNvPr id="19" name="Shape 16"/>
          <p:cNvSpPr/>
          <p:nvPr/>
        </p:nvSpPr>
        <p:spPr>
          <a:xfrm>
            <a:off x="822960" y="4837176"/>
            <a:ext cx="411480" cy="411480"/>
          </a:xfrm>
          <a:prstGeom prst="ellipse">
            <a:avLst/>
          </a:prstGeom>
          <a:solidFill>
            <a:srgbClr val="1E2761"/>
          </a:solidFill>
          <a:ln/>
        </p:spPr>
      </p:sp>
      <p:sp>
        <p:nvSpPr>
          <p:cNvPr id="20" name="Text 17"/>
          <p:cNvSpPr txBox="1"/>
          <p:nvPr/>
        </p:nvSpPr>
        <p:spPr>
          <a:xfrm>
            <a:off x="822960" y="4837176"/>
            <a:ext cx="411480" cy="411480"/>
          </a:xfrm>
          <a:prstGeom prst="rect">
            <a:avLst/>
          </a:prstGeom>
          <a:noFill/>
          <a:ln/>
        </p:spPr>
        <p:txBody>
          <a:bodyPr wrap="square" lIns="0" tIns="0" rIns="0" bIns="0" rtlCol="0" anchor="ctr"/>
          <a:lstStyle/>
          <a:p>
            <a:pPr algn="ctr" indent="0" marL="0">
              <a:buNone/>
            </a:pPr>
            <a:r>
              <a:rPr lang="en-US" sz="1440" b="1" dirty="0">
                <a:solidFill>
                  <a:srgbClr val="FFFFFF"/>
                </a:solidFill>
                <a:latin typeface="Calibri" pitchFamily="34" charset="0"/>
                <a:ea typeface="Calibri" pitchFamily="34" charset="-122"/>
                <a:cs typeface="Calibri" pitchFamily="34" charset="-120"/>
              </a:rPr>
              <a:t>4</a:t>
            </a:r>
            <a:endParaRPr lang="en-US" sz="1440" dirty="0"/>
          </a:p>
        </p:txBody>
      </p:sp>
      <p:sp>
        <p:nvSpPr>
          <p:cNvPr id="21" name="Text 18"/>
          <p:cNvSpPr txBox="1"/>
          <p:nvPr/>
        </p:nvSpPr>
        <p:spPr>
          <a:xfrm>
            <a:off x="1417320" y="4864608"/>
            <a:ext cx="9144000" cy="457200"/>
          </a:xfrm>
          <a:prstGeom prst="rect">
            <a:avLst/>
          </a:prstGeom>
          <a:noFill/>
          <a:ln/>
        </p:spPr>
        <p:txBody>
          <a:bodyPr wrap="square" lIns="0" tIns="0" rIns="0" bIns="0" rtlCol="0" anchor="t"/>
          <a:lstStyle/>
          <a:p>
            <a:pPr indent="0" marL="0">
              <a:buNone/>
            </a:pPr>
            <a:r>
              <a:rPr lang="en-US" sz="2000" dirty="0">
                <a:solidFill>
                  <a:srgbClr val="1E2761"/>
                </a:solidFill>
                <a:latin typeface="Calibri" pitchFamily="34" charset="0"/>
                <a:ea typeface="Calibri" pitchFamily="34" charset="-122"/>
                <a:cs typeface="Calibri" pitchFamily="34" charset="-120"/>
              </a:rPr>
              <a:t>Ü1 Paddy Fingal lesen (Frage 5 *)</a:t>
            </a:r>
            <a:endParaRPr lang="en-US" sz="2000" dirty="0"/>
          </a:p>
        </p:txBody>
      </p:sp>
      <p:sp>
        <p:nvSpPr>
          <p:cNvPr id="22" name="Shape 19"/>
          <p:cNvSpPr/>
          <p:nvPr/>
        </p:nvSpPr>
        <p:spPr>
          <a:xfrm>
            <a:off x="822960" y="5458968"/>
            <a:ext cx="411480" cy="411480"/>
          </a:xfrm>
          <a:prstGeom prst="ellipse">
            <a:avLst/>
          </a:prstGeom>
          <a:solidFill>
            <a:srgbClr val="1E2761"/>
          </a:solidFill>
          <a:ln/>
        </p:spPr>
      </p:sp>
      <p:sp>
        <p:nvSpPr>
          <p:cNvPr id="23" name="Text 20"/>
          <p:cNvSpPr txBox="1"/>
          <p:nvPr/>
        </p:nvSpPr>
        <p:spPr>
          <a:xfrm>
            <a:off x="822960" y="5458968"/>
            <a:ext cx="411480" cy="411480"/>
          </a:xfrm>
          <a:prstGeom prst="rect">
            <a:avLst/>
          </a:prstGeom>
          <a:noFill/>
          <a:ln/>
        </p:spPr>
        <p:txBody>
          <a:bodyPr wrap="square" lIns="0" tIns="0" rIns="0" bIns="0" rtlCol="0" anchor="ctr"/>
          <a:lstStyle/>
          <a:p>
            <a:pPr algn="ctr" indent="0" marL="0">
              <a:buNone/>
            </a:pPr>
            <a:r>
              <a:rPr lang="en-US" sz="1440" b="1" dirty="0">
                <a:solidFill>
                  <a:srgbClr val="FFFFFF"/>
                </a:solidFill>
                <a:latin typeface="Calibri" pitchFamily="34" charset="0"/>
                <a:ea typeface="Calibri" pitchFamily="34" charset="-122"/>
                <a:cs typeface="Calibri" pitchFamily="34" charset="-120"/>
              </a:rPr>
              <a:t>5</a:t>
            </a:r>
            <a:endParaRPr lang="en-US" sz="1440" dirty="0"/>
          </a:p>
        </p:txBody>
      </p:sp>
      <p:sp>
        <p:nvSpPr>
          <p:cNvPr id="24" name="Text 21"/>
          <p:cNvSpPr txBox="1"/>
          <p:nvPr/>
        </p:nvSpPr>
        <p:spPr>
          <a:xfrm>
            <a:off x="1417320" y="5486400"/>
            <a:ext cx="9144000" cy="457200"/>
          </a:xfrm>
          <a:prstGeom prst="rect">
            <a:avLst/>
          </a:prstGeom>
          <a:noFill/>
          <a:ln/>
        </p:spPr>
        <p:txBody>
          <a:bodyPr wrap="square" lIns="0" tIns="0" rIns="0" bIns="0" rtlCol="0" anchor="t"/>
          <a:lstStyle/>
          <a:p>
            <a:pPr indent="0" marL="0">
              <a:buNone/>
            </a:pPr>
            <a:r>
              <a:rPr lang="en-US" sz="2000" dirty="0">
                <a:solidFill>
                  <a:srgbClr val="1E2761"/>
                </a:solidFill>
                <a:latin typeface="Calibri" pitchFamily="34" charset="0"/>
                <a:ea typeface="Calibri" pitchFamily="34" charset="-122"/>
                <a:cs typeface="Calibri" pitchFamily="34" charset="-120"/>
              </a:rPr>
              <a:t>Was habe ich heute gelernt?  ·  * LB-Aufgabe 1</a:t>
            </a:r>
            <a:endParaRPr lang="en-US" sz="20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8229600" cy="274320"/>
          </a:xfrm>
          <a:prstGeom prst="rect">
            <a:avLst/>
          </a:prstGeom>
          <a:noFill/>
          <a:ln/>
        </p:spPr>
        <p:txBody>
          <a:bodyPr wrap="square" lIns="0" tIns="0" rIns="0" bIns="0" rtlCol="0" anchor="t"/>
          <a:lstStyle/>
          <a:p>
            <a:pPr indent="0" marL="0">
              <a:buNone/>
            </a:pPr>
            <a:r>
              <a:rPr lang="en-US" sz="1200" spc="200" kern="0" dirty="0">
                <a:solidFill>
                  <a:srgbClr val="5B6B8C"/>
                </a:solidFill>
                <a:latin typeface="Calibri" pitchFamily="34" charset="0"/>
                <a:ea typeface="Calibri" pitchFamily="34" charset="-122"/>
                <a:cs typeface="Calibri" pitchFamily="34" charset="-120"/>
              </a:rPr>
              <a:t>ANKOMMEN</a:t>
            </a:r>
            <a:endParaRPr lang="en-US" sz="1200" dirty="0"/>
          </a:p>
        </p:txBody>
      </p:sp>
      <p:sp>
        <p:nvSpPr>
          <p:cNvPr id="3" name="Text 1"/>
          <p:cNvSpPr txBox="1"/>
          <p:nvPr/>
        </p:nvSpPr>
        <p:spPr>
          <a:xfrm>
            <a:off x="548640" y="658368"/>
            <a:ext cx="11064240" cy="640080"/>
          </a:xfrm>
          <a:prstGeom prst="rect">
            <a:avLst/>
          </a:prstGeom>
          <a:noFill/>
          <a:ln/>
        </p:spPr>
        <p:txBody>
          <a:bodyPr wrap="square" lIns="0" tIns="0" rIns="0" bIns="0" rtlCol="0" anchor="t"/>
          <a:lstStyle/>
          <a:p>
            <a:pPr indent="0" marL="0">
              <a:buNone/>
            </a:pPr>
            <a:r>
              <a:rPr lang="en-US" sz="3200" b="1" dirty="0">
                <a:solidFill>
                  <a:srgbClr val="1E2761"/>
                </a:solidFill>
                <a:latin typeface="Cambria" pitchFamily="34" charset="0"/>
                <a:ea typeface="Cambria" pitchFamily="34" charset="-122"/>
                <a:cs typeface="Cambria" pitchFamily="34" charset="-120"/>
              </a:rPr>
              <a:t>Wer ist Paddy Fingal?</a:t>
            </a:r>
            <a:endParaRPr lang="en-US" sz="3200" dirty="0"/>
          </a:p>
        </p:txBody>
      </p:sp>
      <p:sp>
        <p:nvSpPr>
          <p:cNvPr id="4" name="Text 2"/>
          <p:cNvSpPr txBox="1"/>
          <p:nvPr/>
        </p:nvSpPr>
        <p:spPr>
          <a:xfrm>
            <a:off x="548640" y="6400800"/>
            <a:ext cx="6400800" cy="228600"/>
          </a:xfrm>
          <a:prstGeom prst="rect">
            <a:avLst/>
          </a:prstGeom>
          <a:noFill/>
          <a:ln/>
        </p:spPr>
        <p:txBody>
          <a:bodyPr wrap="square" lIns="0" tIns="0" rIns="0" bIns="0" rtlCol="0" anchor="t"/>
          <a:lstStyle/>
          <a:p>
            <a:pPr indent="0" marL="0">
              <a:buNone/>
            </a:pPr>
            <a:r>
              <a:rPr lang="en-US" sz="1000" dirty="0">
                <a:solidFill>
                  <a:srgbClr val="5B6B8C"/>
                </a:solidFill>
                <a:latin typeface="Calibri" pitchFamily="34" charset="0"/>
                <a:ea typeface="Calibri" pitchFamily="34" charset="-122"/>
                <a:cs typeface="Calibri" pitchFamily="34" charset="-120"/>
              </a:rPr>
              <a:t>Teil 3 · Paddy Fingal – Lesetechniken · Deutsch 7A</a:t>
            </a:r>
            <a:endParaRPr lang="en-US" sz="1000" dirty="0"/>
          </a:p>
        </p:txBody>
      </p:sp>
      <p:sp>
        <p:nvSpPr>
          <p:cNvPr id="5" name="Text 3"/>
          <p:cNvSpPr txBox="1"/>
          <p:nvPr/>
        </p:nvSpPr>
        <p:spPr>
          <a:xfrm>
            <a:off x="11155680" y="6400800"/>
            <a:ext cx="457200" cy="228600"/>
          </a:xfrm>
          <a:prstGeom prst="rect">
            <a:avLst/>
          </a:prstGeom>
          <a:noFill/>
          <a:ln/>
        </p:spPr>
        <p:txBody>
          <a:bodyPr wrap="square" lIns="0" tIns="0" rIns="0" bIns="0" rtlCol="0" anchor="t"/>
          <a:lstStyle/>
          <a:p>
            <a:pPr algn="r" indent="0" marL="0">
              <a:buNone/>
            </a:pPr>
            <a:r>
              <a:rPr lang="en-US" sz="1000" dirty="0">
                <a:solidFill>
                  <a:srgbClr val="5B6B8C"/>
                </a:solidFill>
                <a:latin typeface="Calibri" pitchFamily="34" charset="0"/>
                <a:ea typeface="Calibri" pitchFamily="34" charset="-122"/>
                <a:cs typeface="Calibri" pitchFamily="34" charset="-120"/>
              </a:rPr>
              <a:t>19</a:t>
            </a:r>
            <a:endParaRPr lang="en-US" sz="1000" dirty="0"/>
          </a:p>
        </p:txBody>
      </p:sp>
      <p:sp>
        <p:nvSpPr>
          <p:cNvPr id="7" name="Shape 4"/>
          <p:cNvSpPr/>
          <p:nvPr/>
        </p:nvSpPr>
        <p:spPr>
          <a:xfrm>
            <a:off x="548640" y="1645920"/>
            <a:ext cx="11064240" cy="2011680"/>
          </a:xfrm>
          <a:prstGeom prst="roundRect">
            <a:avLst>
              <a:gd name="adj" fmla="val 3636"/>
            </a:avLst>
          </a:prstGeom>
          <a:solidFill>
            <a:srgbClr val="F4F7FD"/>
          </a:solidFill>
          <a:ln/>
        </p:spPr>
      </p:sp>
      <p:sp>
        <p:nvSpPr>
          <p:cNvPr id="8" name="Text 5"/>
          <p:cNvSpPr txBox="1"/>
          <p:nvPr/>
        </p:nvSpPr>
        <p:spPr>
          <a:xfrm>
            <a:off x="548640" y="1874520"/>
            <a:ext cx="11064240" cy="822960"/>
          </a:xfrm>
          <a:prstGeom prst="rect">
            <a:avLst/>
          </a:prstGeom>
          <a:noFill/>
          <a:ln/>
        </p:spPr>
        <p:txBody>
          <a:bodyPr wrap="square" lIns="0" tIns="0" rIns="0" bIns="0" rtlCol="0" anchor="t"/>
          <a:lstStyle/>
          <a:p>
            <a:pPr algn="ctr" indent="0" marL="0">
              <a:buNone/>
            </a:pPr>
            <a:r>
              <a:rPr lang="en-US" sz="5400" b="1" dirty="0">
                <a:solidFill>
                  <a:srgbClr val="D9534F"/>
                </a:solidFill>
                <a:latin typeface="Cambria" pitchFamily="34" charset="0"/>
                <a:ea typeface="Cambria" pitchFamily="34" charset="-122"/>
                <a:cs typeface="Cambria" pitchFamily="34" charset="-120"/>
              </a:rPr>
              <a:t>Paddy Fingal</a:t>
            </a:r>
            <a:endParaRPr lang="en-US" sz="5400" dirty="0"/>
          </a:p>
        </p:txBody>
      </p:sp>
      <p:sp>
        <p:nvSpPr>
          <p:cNvPr id="9" name="Text 6"/>
          <p:cNvSpPr txBox="1"/>
          <p:nvPr/>
        </p:nvSpPr>
        <p:spPr>
          <a:xfrm>
            <a:off x="548640" y="2788920"/>
            <a:ext cx="11064240" cy="457200"/>
          </a:xfrm>
          <a:prstGeom prst="rect">
            <a:avLst/>
          </a:prstGeom>
          <a:noFill/>
          <a:ln/>
        </p:spPr>
        <p:txBody>
          <a:bodyPr wrap="square" lIns="0" tIns="0" rIns="0" bIns="0" rtlCol="0" anchor="t"/>
          <a:lstStyle/>
          <a:p>
            <a:pPr algn="ctr" indent="0" marL="0">
              <a:buNone/>
            </a:pPr>
            <a:r>
              <a:rPr lang="en-US" sz="2000" i="1" dirty="0">
                <a:solidFill>
                  <a:srgbClr val="5B6B8C"/>
                </a:solidFill>
                <a:latin typeface="Calibri" pitchFamily="34" charset="0"/>
                <a:ea typeface="Calibri" pitchFamily="34" charset="-122"/>
                <a:cs typeface="Calibri" pitchFamily="34" charset="-120"/>
              </a:rPr>
              <a:t>Wilhelm Brandes · Lehrbuch S. 136</a:t>
            </a:r>
            <a:endParaRPr lang="en-US" sz="2000" dirty="0"/>
          </a:p>
        </p:txBody>
      </p:sp>
      <p:sp>
        <p:nvSpPr>
          <p:cNvPr id="10" name="Text 7"/>
          <p:cNvSpPr txBox="1"/>
          <p:nvPr/>
        </p:nvSpPr>
        <p:spPr>
          <a:xfrm>
            <a:off x="548640" y="4114800"/>
            <a:ext cx="11064240" cy="731520"/>
          </a:xfrm>
          <a:prstGeom prst="rect">
            <a:avLst/>
          </a:prstGeom>
          <a:noFill/>
          <a:ln/>
        </p:spPr>
        <p:txBody>
          <a:bodyPr wrap="square" lIns="0" tIns="0" rIns="0" bIns="0" rtlCol="0" anchor="t"/>
          <a:lstStyle/>
          <a:p>
            <a:pPr algn="ctr" indent="0" marL="0">
              <a:buNone/>
            </a:pPr>
            <a:r>
              <a:rPr lang="en-US" sz="2400" dirty="0">
                <a:solidFill>
                  <a:srgbClr val="1E2761"/>
                </a:solidFill>
                <a:latin typeface="Calibri" pitchFamily="34" charset="0"/>
                <a:ea typeface="Calibri" pitchFamily="34" charset="-122"/>
                <a:cs typeface="Calibri" pitchFamily="34" charset="-120"/>
              </a:rPr>
              <a:t>Schau nur auf den Titel und das erste Bild. Schreibe einen Satz ins Heft: </a:t>
            </a:r>
            <a:pPr algn="ctr" indent="0" marL="0">
              <a:buNone/>
            </a:pPr>
            <a:r>
              <a:rPr lang="en-US" sz="2400" b="1" dirty="0">
                <a:solidFill>
                  <a:srgbClr val="1E2761"/>
                </a:solidFill>
                <a:latin typeface="Calibri" pitchFamily="34" charset="0"/>
                <a:ea typeface="Calibri" pitchFamily="34" charset="-122"/>
                <a:cs typeface="Calibri" pitchFamily="34" charset="-120"/>
              </a:rPr>
              <a:t>Wer ist Paddy Fingal?</a:t>
            </a:r>
            <a:endParaRPr lang="en-US" sz="2400" dirty="0"/>
          </a:p>
        </p:txBody>
      </p:sp>
      <p:sp>
        <p:nvSpPr>
          <p:cNvPr id="11" name="Shape 8"/>
          <p:cNvSpPr/>
          <p:nvPr/>
        </p:nvSpPr>
        <p:spPr>
          <a:xfrm>
            <a:off x="548640" y="5715000"/>
            <a:ext cx="11064240" cy="502920"/>
          </a:xfrm>
          <a:prstGeom prst="roundRect">
            <a:avLst>
              <a:gd name="adj" fmla="val 14545"/>
            </a:avLst>
          </a:prstGeom>
          <a:solidFill>
            <a:srgbClr val="EAF0FA"/>
          </a:solidFill>
          <a:ln/>
        </p:spPr>
      </p:sp>
      <p:sp>
        <p:nvSpPr>
          <p:cNvPr id="12" name="Text 9"/>
          <p:cNvSpPr txBox="1"/>
          <p:nvPr/>
        </p:nvSpPr>
        <p:spPr>
          <a:xfrm>
            <a:off x="777240" y="5788152"/>
            <a:ext cx="10698480" cy="365760"/>
          </a:xfrm>
          <a:prstGeom prst="rect">
            <a:avLst/>
          </a:prstGeom>
          <a:noFill/>
          <a:ln/>
        </p:spPr>
        <p:txBody>
          <a:bodyPr wrap="square" lIns="0" tIns="0" rIns="0" bIns="0" rtlCol="0" anchor="t"/>
          <a:lstStyle/>
          <a:p>
            <a:pPr indent="0" marL="0">
              <a:buNone/>
            </a:pPr>
            <a:r>
              <a:rPr lang="en-US" sz="1600" b="1" dirty="0">
                <a:solidFill>
                  <a:srgbClr val="1E2761"/>
                </a:solidFill>
                <a:latin typeface="Calibri" pitchFamily="34" charset="0"/>
                <a:ea typeface="Calibri" pitchFamily="34" charset="-122"/>
                <a:cs typeface="Calibri" pitchFamily="34" charset="-120"/>
              </a:rPr>
              <a:t>Zeit: </a:t>
            </a:r>
            <a:pPr indent="0" marL="0">
              <a:buNone/>
            </a:pPr>
            <a:r>
              <a:rPr lang="en-US" sz="1600" dirty="0">
                <a:solidFill>
                  <a:srgbClr val="1E2761"/>
                </a:solidFill>
                <a:latin typeface="Calibri" pitchFamily="34" charset="0"/>
                <a:ea typeface="Calibri" pitchFamily="34" charset="-122"/>
                <a:cs typeface="Calibri" pitchFamily="34" charset="-120"/>
              </a:rPr>
              <a:t>2 Minuten · allein      </a:t>
            </a:r>
            <a:pPr indent="0" marL="0">
              <a:buNone/>
            </a:pPr>
            <a:r>
              <a:rPr lang="en-US" sz="1600" i="1" dirty="0">
                <a:solidFill>
                  <a:srgbClr val="5B6B8C"/>
                </a:solidFill>
                <a:latin typeface="Calibri" pitchFamily="34" charset="0"/>
                <a:ea typeface="Calibri" pitchFamily="34" charset="-122"/>
                <a:cs typeface="Calibri" pitchFamily="34" charset="-120"/>
              </a:rPr>
              <a:t>Fertig? Stift hinlegen.</a:t>
            </a:r>
            <a:endParaRPr lang="en-US" sz="16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8229600" cy="274320"/>
          </a:xfrm>
          <a:prstGeom prst="rect">
            <a:avLst/>
          </a:prstGeom>
          <a:noFill/>
          <a:ln/>
        </p:spPr>
        <p:txBody>
          <a:bodyPr wrap="square" lIns="0" tIns="0" rIns="0" bIns="0" rtlCol="0" anchor="t"/>
          <a:lstStyle/>
          <a:p>
            <a:pPr indent="0" marL="0">
              <a:buNone/>
            </a:pPr>
            <a:r>
              <a:rPr lang="en-US" sz="1200" spc="200" kern="0" dirty="0">
                <a:solidFill>
                  <a:srgbClr val="5B6B8C"/>
                </a:solidFill>
                <a:latin typeface="Calibri" pitchFamily="34" charset="0"/>
                <a:ea typeface="Calibri" pitchFamily="34" charset="-122"/>
                <a:cs typeface="Calibri" pitchFamily="34" charset="-120"/>
              </a:rPr>
              <a:t>VORWISSEN</a:t>
            </a:r>
            <a:endParaRPr lang="en-US" sz="1200" dirty="0"/>
          </a:p>
        </p:txBody>
      </p:sp>
      <p:sp>
        <p:nvSpPr>
          <p:cNvPr id="3" name="Text 1"/>
          <p:cNvSpPr txBox="1"/>
          <p:nvPr/>
        </p:nvSpPr>
        <p:spPr>
          <a:xfrm>
            <a:off x="548640" y="658368"/>
            <a:ext cx="11064240" cy="640080"/>
          </a:xfrm>
          <a:prstGeom prst="rect">
            <a:avLst/>
          </a:prstGeom>
          <a:noFill/>
          <a:ln/>
        </p:spPr>
        <p:txBody>
          <a:bodyPr wrap="square" lIns="0" tIns="0" rIns="0" bIns="0" rtlCol="0" anchor="t"/>
          <a:lstStyle/>
          <a:p>
            <a:pPr indent="0" marL="0">
              <a:buNone/>
            </a:pPr>
            <a:r>
              <a:rPr lang="en-US" sz="3200" b="1" dirty="0">
                <a:solidFill>
                  <a:srgbClr val="1E2761"/>
                </a:solidFill>
                <a:latin typeface="Cambria" pitchFamily="34" charset="0"/>
                <a:ea typeface="Cambria" pitchFamily="34" charset="-122"/>
                <a:cs typeface="Cambria" pitchFamily="34" charset="-120"/>
              </a:rPr>
              <a:t>Wie lest ihr?</a:t>
            </a:r>
            <a:endParaRPr lang="en-US" sz="3200" dirty="0"/>
          </a:p>
        </p:txBody>
      </p:sp>
      <p:sp>
        <p:nvSpPr>
          <p:cNvPr id="4" name="Text 2"/>
          <p:cNvSpPr txBox="1"/>
          <p:nvPr/>
        </p:nvSpPr>
        <p:spPr>
          <a:xfrm>
            <a:off x="548640" y="6400800"/>
            <a:ext cx="6400800" cy="228600"/>
          </a:xfrm>
          <a:prstGeom prst="rect">
            <a:avLst/>
          </a:prstGeom>
          <a:noFill/>
          <a:ln/>
        </p:spPr>
        <p:txBody>
          <a:bodyPr wrap="square" lIns="0" tIns="0" rIns="0" bIns="0" rtlCol="0" anchor="t"/>
          <a:lstStyle/>
          <a:p>
            <a:pPr indent="0" marL="0">
              <a:buNone/>
            </a:pPr>
            <a:r>
              <a:rPr lang="en-US" sz="1000" dirty="0">
                <a:solidFill>
                  <a:srgbClr val="5B6B8C"/>
                </a:solidFill>
                <a:latin typeface="Calibri" pitchFamily="34" charset="0"/>
                <a:ea typeface="Calibri" pitchFamily="34" charset="-122"/>
                <a:cs typeface="Calibri" pitchFamily="34" charset="-120"/>
              </a:rPr>
              <a:t>Teil 3 · Paddy Fingal – Lesetechniken · Deutsch 7A</a:t>
            </a:r>
            <a:endParaRPr lang="en-US" sz="1000" dirty="0"/>
          </a:p>
        </p:txBody>
      </p:sp>
      <p:sp>
        <p:nvSpPr>
          <p:cNvPr id="5" name="Text 3"/>
          <p:cNvSpPr txBox="1"/>
          <p:nvPr/>
        </p:nvSpPr>
        <p:spPr>
          <a:xfrm>
            <a:off x="11155680" y="6400800"/>
            <a:ext cx="457200" cy="228600"/>
          </a:xfrm>
          <a:prstGeom prst="rect">
            <a:avLst/>
          </a:prstGeom>
          <a:noFill/>
          <a:ln/>
        </p:spPr>
        <p:txBody>
          <a:bodyPr wrap="square" lIns="0" tIns="0" rIns="0" bIns="0" rtlCol="0" anchor="t"/>
          <a:lstStyle/>
          <a:p>
            <a:pPr algn="r" indent="0" marL="0">
              <a:buNone/>
            </a:pPr>
            <a:r>
              <a:rPr lang="en-US" sz="1000" dirty="0">
                <a:solidFill>
                  <a:srgbClr val="5B6B8C"/>
                </a:solidFill>
                <a:latin typeface="Calibri" pitchFamily="34" charset="0"/>
                <a:ea typeface="Calibri" pitchFamily="34" charset="-122"/>
                <a:cs typeface="Calibri" pitchFamily="34" charset="-120"/>
              </a:rPr>
              <a:t>20</a:t>
            </a:r>
            <a:endParaRPr lang="en-US" sz="1000" dirty="0"/>
          </a:p>
        </p:txBody>
      </p:sp>
      <p:sp>
        <p:nvSpPr>
          <p:cNvPr id="7" name="Text 4"/>
          <p:cNvSpPr txBox="1"/>
          <p:nvPr/>
        </p:nvSpPr>
        <p:spPr>
          <a:xfrm>
            <a:off x="548640" y="1417320"/>
            <a:ext cx="11064240" cy="457200"/>
          </a:xfrm>
          <a:prstGeom prst="rect">
            <a:avLst/>
          </a:prstGeom>
          <a:noFill/>
          <a:ln/>
        </p:spPr>
        <p:txBody>
          <a:bodyPr wrap="square" lIns="0" tIns="0" rIns="0" bIns="0" rtlCol="0" anchor="t"/>
          <a:lstStyle/>
          <a:p>
            <a:pPr indent="0" marL="0">
              <a:buNone/>
            </a:pPr>
            <a:r>
              <a:rPr lang="en-US" sz="1800" dirty="0">
                <a:solidFill>
                  <a:srgbClr val="5B6B8C"/>
                </a:solidFill>
                <a:latin typeface="Calibri" pitchFamily="34" charset="0"/>
                <a:ea typeface="Calibri" pitchFamily="34" charset="-122"/>
                <a:cs typeface="Calibri" pitchFamily="34" charset="-120"/>
              </a:rPr>
              <a:t>Schreibe ins Heft zu jeder Situation: Wie liest du – schnell drüber, gezielt suchen oder langsam Wort für Wort?</a:t>
            </a:r>
            <a:endParaRPr lang="en-US" sz="1800" dirty="0"/>
          </a:p>
        </p:txBody>
      </p:sp>
      <p:sp>
        <p:nvSpPr>
          <p:cNvPr id="8" name="Shape 5"/>
          <p:cNvSpPr/>
          <p:nvPr/>
        </p:nvSpPr>
        <p:spPr>
          <a:xfrm>
            <a:off x="548640" y="2103120"/>
            <a:ext cx="11064240" cy="1005840"/>
          </a:xfrm>
          <a:prstGeom prst="roundRect">
            <a:avLst>
              <a:gd name="adj" fmla="val 7273"/>
            </a:avLst>
          </a:prstGeom>
          <a:solidFill>
            <a:srgbClr val="F4F7FD"/>
          </a:solidFill>
          <a:ln/>
        </p:spPr>
      </p:sp>
      <p:sp>
        <p:nvSpPr>
          <p:cNvPr id="9" name="Text 6"/>
          <p:cNvSpPr txBox="1"/>
          <p:nvPr/>
        </p:nvSpPr>
        <p:spPr>
          <a:xfrm>
            <a:off x="822960" y="2267712"/>
            <a:ext cx="731520" cy="640080"/>
          </a:xfrm>
          <a:prstGeom prst="rect">
            <a:avLst/>
          </a:prstGeom>
          <a:noFill/>
          <a:ln/>
        </p:spPr>
        <p:txBody>
          <a:bodyPr wrap="square" lIns="0" tIns="0" rIns="0" bIns="0" rtlCol="0" anchor="t"/>
          <a:lstStyle/>
          <a:p>
            <a:pPr indent="0" marL="0">
              <a:buNone/>
            </a:pPr>
            <a:r>
              <a:rPr lang="en-US" sz="3600" b="1" dirty="0">
                <a:solidFill>
                  <a:srgbClr val="D9534F"/>
                </a:solidFill>
                <a:latin typeface="Cambria" pitchFamily="34" charset="0"/>
                <a:ea typeface="Cambria" pitchFamily="34" charset="-122"/>
                <a:cs typeface="Cambria" pitchFamily="34" charset="-120"/>
              </a:rPr>
              <a:t>A</a:t>
            </a:r>
            <a:endParaRPr lang="en-US" sz="3600" dirty="0"/>
          </a:p>
        </p:txBody>
      </p:sp>
      <p:sp>
        <p:nvSpPr>
          <p:cNvPr id="10" name="Text 7"/>
          <p:cNvSpPr txBox="1"/>
          <p:nvPr/>
        </p:nvSpPr>
        <p:spPr>
          <a:xfrm>
            <a:off x="1645920" y="2377440"/>
            <a:ext cx="9692640" cy="548640"/>
          </a:xfrm>
          <a:prstGeom prst="rect">
            <a:avLst/>
          </a:prstGeom>
          <a:noFill/>
          <a:ln/>
        </p:spPr>
        <p:txBody>
          <a:bodyPr wrap="square" lIns="0" tIns="0" rIns="0" bIns="0" rtlCol="0" anchor="t"/>
          <a:lstStyle/>
          <a:p>
            <a:pPr indent="0" marL="0">
              <a:buNone/>
            </a:pPr>
            <a:r>
              <a:rPr lang="en-US" sz="2200" dirty="0">
                <a:solidFill>
                  <a:srgbClr val="1E2761"/>
                </a:solidFill>
                <a:latin typeface="Calibri" pitchFamily="34" charset="0"/>
                <a:ea typeface="Calibri" pitchFamily="34" charset="-122"/>
                <a:cs typeface="Calibri" pitchFamily="34" charset="-120"/>
              </a:rPr>
              <a:t>Du bekommst die Ausschreibung für ein Turnier und suchst nur deine Startzeit.</a:t>
            </a:r>
            <a:endParaRPr lang="en-US" sz="2200" dirty="0"/>
          </a:p>
        </p:txBody>
      </p:sp>
      <p:sp>
        <p:nvSpPr>
          <p:cNvPr id="11" name="Shape 8"/>
          <p:cNvSpPr/>
          <p:nvPr/>
        </p:nvSpPr>
        <p:spPr>
          <a:xfrm>
            <a:off x="548640" y="3291840"/>
            <a:ext cx="11064240" cy="1005840"/>
          </a:xfrm>
          <a:prstGeom prst="roundRect">
            <a:avLst>
              <a:gd name="adj" fmla="val 7273"/>
            </a:avLst>
          </a:prstGeom>
          <a:solidFill>
            <a:srgbClr val="F4F7FD"/>
          </a:solidFill>
          <a:ln/>
        </p:spPr>
      </p:sp>
      <p:sp>
        <p:nvSpPr>
          <p:cNvPr id="12" name="Text 9"/>
          <p:cNvSpPr txBox="1"/>
          <p:nvPr/>
        </p:nvSpPr>
        <p:spPr>
          <a:xfrm>
            <a:off x="822960" y="3456432"/>
            <a:ext cx="731520" cy="640080"/>
          </a:xfrm>
          <a:prstGeom prst="rect">
            <a:avLst/>
          </a:prstGeom>
          <a:noFill/>
          <a:ln/>
        </p:spPr>
        <p:txBody>
          <a:bodyPr wrap="square" lIns="0" tIns="0" rIns="0" bIns="0" rtlCol="0" anchor="t"/>
          <a:lstStyle/>
          <a:p>
            <a:pPr indent="0" marL="0">
              <a:buNone/>
            </a:pPr>
            <a:r>
              <a:rPr lang="en-US" sz="3600" b="1" dirty="0">
                <a:solidFill>
                  <a:srgbClr val="D9534F"/>
                </a:solidFill>
                <a:latin typeface="Cambria" pitchFamily="34" charset="0"/>
                <a:ea typeface="Cambria" pitchFamily="34" charset="-122"/>
                <a:cs typeface="Cambria" pitchFamily="34" charset="-120"/>
              </a:rPr>
              <a:t>B</a:t>
            </a:r>
            <a:endParaRPr lang="en-US" sz="3600" dirty="0"/>
          </a:p>
        </p:txBody>
      </p:sp>
      <p:sp>
        <p:nvSpPr>
          <p:cNvPr id="13" name="Text 10"/>
          <p:cNvSpPr txBox="1"/>
          <p:nvPr/>
        </p:nvSpPr>
        <p:spPr>
          <a:xfrm>
            <a:off x="1645920" y="3566160"/>
            <a:ext cx="9692640" cy="548640"/>
          </a:xfrm>
          <a:prstGeom prst="rect">
            <a:avLst/>
          </a:prstGeom>
          <a:noFill/>
          <a:ln/>
        </p:spPr>
        <p:txBody>
          <a:bodyPr wrap="square" lIns="0" tIns="0" rIns="0" bIns="0" rtlCol="0" anchor="t"/>
          <a:lstStyle/>
          <a:p>
            <a:pPr indent="0" marL="0">
              <a:buNone/>
            </a:pPr>
            <a:r>
              <a:rPr lang="en-US" sz="2200" dirty="0">
                <a:solidFill>
                  <a:srgbClr val="1E2761"/>
                </a:solidFill>
                <a:latin typeface="Calibri" pitchFamily="34" charset="0"/>
                <a:ea typeface="Calibri" pitchFamily="34" charset="-122"/>
                <a:cs typeface="Calibri" pitchFamily="34" charset="-120"/>
              </a:rPr>
              <a:t>Du blätterst in einem Buch und willst wissen, worum es in einem Kapitel geht.</a:t>
            </a:r>
            <a:endParaRPr lang="en-US" sz="2200" dirty="0"/>
          </a:p>
        </p:txBody>
      </p:sp>
      <p:sp>
        <p:nvSpPr>
          <p:cNvPr id="14" name="Shape 11"/>
          <p:cNvSpPr/>
          <p:nvPr/>
        </p:nvSpPr>
        <p:spPr>
          <a:xfrm>
            <a:off x="548640" y="4480560"/>
            <a:ext cx="11064240" cy="1005840"/>
          </a:xfrm>
          <a:prstGeom prst="roundRect">
            <a:avLst>
              <a:gd name="adj" fmla="val 7273"/>
            </a:avLst>
          </a:prstGeom>
          <a:solidFill>
            <a:srgbClr val="F4F7FD"/>
          </a:solidFill>
          <a:ln/>
        </p:spPr>
      </p:sp>
      <p:sp>
        <p:nvSpPr>
          <p:cNvPr id="15" name="Text 12"/>
          <p:cNvSpPr txBox="1"/>
          <p:nvPr/>
        </p:nvSpPr>
        <p:spPr>
          <a:xfrm>
            <a:off x="822960" y="4645152"/>
            <a:ext cx="731520" cy="640080"/>
          </a:xfrm>
          <a:prstGeom prst="rect">
            <a:avLst/>
          </a:prstGeom>
          <a:noFill/>
          <a:ln/>
        </p:spPr>
        <p:txBody>
          <a:bodyPr wrap="square" lIns="0" tIns="0" rIns="0" bIns="0" rtlCol="0" anchor="t"/>
          <a:lstStyle/>
          <a:p>
            <a:pPr indent="0" marL="0">
              <a:buNone/>
            </a:pPr>
            <a:r>
              <a:rPr lang="en-US" sz="3600" b="1" dirty="0">
                <a:solidFill>
                  <a:srgbClr val="D9534F"/>
                </a:solidFill>
                <a:latin typeface="Cambria" pitchFamily="34" charset="0"/>
                <a:ea typeface="Cambria" pitchFamily="34" charset="-122"/>
                <a:cs typeface="Cambria" pitchFamily="34" charset="-120"/>
              </a:rPr>
              <a:t>C</a:t>
            </a:r>
            <a:endParaRPr lang="en-US" sz="3600" dirty="0"/>
          </a:p>
        </p:txBody>
      </p:sp>
      <p:sp>
        <p:nvSpPr>
          <p:cNvPr id="16" name="Text 13"/>
          <p:cNvSpPr txBox="1"/>
          <p:nvPr/>
        </p:nvSpPr>
        <p:spPr>
          <a:xfrm>
            <a:off x="1645920" y="4754880"/>
            <a:ext cx="9692640" cy="548640"/>
          </a:xfrm>
          <a:prstGeom prst="rect">
            <a:avLst/>
          </a:prstGeom>
          <a:noFill/>
          <a:ln/>
        </p:spPr>
        <p:txBody>
          <a:bodyPr wrap="square" lIns="0" tIns="0" rIns="0" bIns="0" rtlCol="0" anchor="t"/>
          <a:lstStyle/>
          <a:p>
            <a:pPr indent="0" marL="0">
              <a:buNone/>
            </a:pPr>
            <a:r>
              <a:rPr lang="en-US" sz="2200" dirty="0">
                <a:solidFill>
                  <a:srgbClr val="1E2761"/>
                </a:solidFill>
                <a:latin typeface="Calibri" pitchFamily="34" charset="0"/>
                <a:ea typeface="Calibri" pitchFamily="34" charset="-122"/>
                <a:cs typeface="Calibri" pitchFamily="34" charset="-120"/>
              </a:rPr>
              <a:t>Du bekommst eine neue Regel für deinen Sport, die du genau verstehen musst.</a:t>
            </a:r>
            <a:endParaRPr lang="en-US" sz="2200" dirty="0"/>
          </a:p>
        </p:txBody>
      </p:sp>
      <p:sp>
        <p:nvSpPr>
          <p:cNvPr id="17" name="Text 14"/>
          <p:cNvSpPr txBox="1"/>
          <p:nvPr/>
        </p:nvSpPr>
        <p:spPr>
          <a:xfrm>
            <a:off x="548640" y="5806440"/>
            <a:ext cx="11064240" cy="365760"/>
          </a:xfrm>
          <a:prstGeom prst="rect">
            <a:avLst/>
          </a:prstGeom>
          <a:noFill/>
          <a:ln/>
        </p:spPr>
        <p:txBody>
          <a:bodyPr wrap="square" lIns="0" tIns="0" rIns="0" bIns="0" rtlCol="0" anchor="t"/>
          <a:lstStyle/>
          <a:p>
            <a:pPr indent="0" marL="0">
              <a:buNone/>
            </a:pPr>
            <a:r>
              <a:rPr lang="en-US" sz="1600" b="1" dirty="0">
                <a:solidFill>
                  <a:srgbClr val="5B6B8C"/>
                </a:solidFill>
                <a:latin typeface="Calibri" pitchFamily="34" charset="0"/>
                <a:ea typeface="Calibri" pitchFamily="34" charset="-122"/>
                <a:cs typeface="Calibri" pitchFamily="34" charset="-120"/>
              </a:rPr>
              <a:t>2 Minuten · allein, dann zu zweit vergleichen</a:t>
            </a:r>
            <a:endParaRPr lang="en-US" sz="16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8229600" cy="274320"/>
          </a:xfrm>
          <a:prstGeom prst="rect">
            <a:avLst/>
          </a:prstGeom>
          <a:noFill/>
          <a:ln/>
        </p:spPr>
        <p:txBody>
          <a:bodyPr wrap="square" lIns="0" tIns="0" rIns="0" bIns="0" rtlCol="0" anchor="t"/>
          <a:lstStyle/>
          <a:p>
            <a:pPr indent="0" marL="0">
              <a:buNone/>
            </a:pPr>
            <a:r>
              <a:rPr lang="en-US" sz="1200" spc="200" kern="0" dirty="0">
                <a:solidFill>
                  <a:srgbClr val="5B6B8C"/>
                </a:solidFill>
                <a:latin typeface="Calibri" pitchFamily="34" charset="0"/>
                <a:ea typeface="Calibri" pitchFamily="34" charset="-122"/>
                <a:cs typeface="Calibri" pitchFamily="34" charset="-120"/>
              </a:rPr>
              <a:t>MERKSATZ 1 – ABSCHREIBEN, ROT UMRAHMEN</a:t>
            </a:r>
            <a:endParaRPr lang="en-US" sz="1200" dirty="0"/>
          </a:p>
        </p:txBody>
      </p:sp>
      <p:sp>
        <p:nvSpPr>
          <p:cNvPr id="3" name="Text 1"/>
          <p:cNvSpPr txBox="1"/>
          <p:nvPr/>
        </p:nvSpPr>
        <p:spPr>
          <a:xfrm>
            <a:off x="548640" y="658368"/>
            <a:ext cx="11064240" cy="640080"/>
          </a:xfrm>
          <a:prstGeom prst="rect">
            <a:avLst/>
          </a:prstGeom>
          <a:noFill/>
          <a:ln/>
        </p:spPr>
        <p:txBody>
          <a:bodyPr wrap="square" lIns="0" tIns="0" rIns="0" bIns="0" rtlCol="0" anchor="t"/>
          <a:lstStyle/>
          <a:p>
            <a:pPr indent="0" marL="0">
              <a:buNone/>
            </a:pPr>
            <a:r>
              <a:rPr lang="en-US" sz="3200" b="1" dirty="0">
                <a:solidFill>
                  <a:srgbClr val="1E2761"/>
                </a:solidFill>
                <a:latin typeface="Cambria" pitchFamily="34" charset="0"/>
                <a:ea typeface="Cambria" pitchFamily="34" charset="-122"/>
                <a:cs typeface="Cambria" pitchFamily="34" charset="-120"/>
              </a:rPr>
              <a:t>Lesetechniken</a:t>
            </a:r>
            <a:endParaRPr lang="en-US" sz="3200" dirty="0"/>
          </a:p>
        </p:txBody>
      </p:sp>
      <p:sp>
        <p:nvSpPr>
          <p:cNvPr id="4" name="Text 2"/>
          <p:cNvSpPr txBox="1"/>
          <p:nvPr/>
        </p:nvSpPr>
        <p:spPr>
          <a:xfrm>
            <a:off x="548640" y="6400800"/>
            <a:ext cx="6400800" cy="228600"/>
          </a:xfrm>
          <a:prstGeom prst="rect">
            <a:avLst/>
          </a:prstGeom>
          <a:noFill/>
          <a:ln/>
        </p:spPr>
        <p:txBody>
          <a:bodyPr wrap="square" lIns="0" tIns="0" rIns="0" bIns="0" rtlCol="0" anchor="t"/>
          <a:lstStyle/>
          <a:p>
            <a:pPr indent="0" marL="0">
              <a:buNone/>
            </a:pPr>
            <a:r>
              <a:rPr lang="en-US" sz="1000" dirty="0">
                <a:solidFill>
                  <a:srgbClr val="5B6B8C"/>
                </a:solidFill>
                <a:latin typeface="Calibri" pitchFamily="34" charset="0"/>
                <a:ea typeface="Calibri" pitchFamily="34" charset="-122"/>
                <a:cs typeface="Calibri" pitchFamily="34" charset="-120"/>
              </a:rPr>
              <a:t>Teil 3 · Paddy Fingal – Lesetechniken · Deutsch 7A</a:t>
            </a:r>
            <a:endParaRPr lang="en-US" sz="1000" dirty="0"/>
          </a:p>
        </p:txBody>
      </p:sp>
      <p:sp>
        <p:nvSpPr>
          <p:cNvPr id="5" name="Text 3"/>
          <p:cNvSpPr txBox="1"/>
          <p:nvPr/>
        </p:nvSpPr>
        <p:spPr>
          <a:xfrm>
            <a:off x="11155680" y="6400800"/>
            <a:ext cx="457200" cy="228600"/>
          </a:xfrm>
          <a:prstGeom prst="rect">
            <a:avLst/>
          </a:prstGeom>
          <a:noFill/>
          <a:ln/>
        </p:spPr>
        <p:txBody>
          <a:bodyPr wrap="square" lIns="0" tIns="0" rIns="0" bIns="0" rtlCol="0" anchor="t"/>
          <a:lstStyle/>
          <a:p>
            <a:pPr algn="r" indent="0" marL="0">
              <a:buNone/>
            </a:pPr>
            <a:r>
              <a:rPr lang="en-US" sz="1000" dirty="0">
                <a:solidFill>
                  <a:srgbClr val="5B6B8C"/>
                </a:solidFill>
                <a:latin typeface="Calibri" pitchFamily="34" charset="0"/>
                <a:ea typeface="Calibri" pitchFamily="34" charset="-122"/>
                <a:cs typeface="Calibri" pitchFamily="34" charset="-120"/>
              </a:rPr>
              <a:t>21</a:t>
            </a:r>
            <a:endParaRPr lang="en-US" sz="1000" dirty="0"/>
          </a:p>
        </p:txBody>
      </p:sp>
      <p:sp>
        <p:nvSpPr>
          <p:cNvPr id="7" name="Shape 4"/>
          <p:cNvSpPr/>
          <p:nvPr/>
        </p:nvSpPr>
        <p:spPr>
          <a:xfrm>
            <a:off x="548640" y="1463040"/>
            <a:ext cx="11064240" cy="3794760"/>
          </a:xfrm>
          <a:prstGeom prst="roundRect">
            <a:avLst>
              <a:gd name="adj" fmla="val 1205"/>
            </a:avLst>
          </a:prstGeom>
          <a:solidFill>
            <a:srgbClr val="FFFFFF"/>
          </a:solidFill>
          <a:ln w="38100">
            <a:solidFill>
              <a:srgbClr val="D9534F"/>
            </a:solidFill>
            <a:prstDash val="solid"/>
          </a:ln>
        </p:spPr>
      </p:sp>
      <p:sp>
        <p:nvSpPr>
          <p:cNvPr id="8" name="Text 5"/>
          <p:cNvSpPr txBox="1"/>
          <p:nvPr/>
        </p:nvSpPr>
        <p:spPr>
          <a:xfrm>
            <a:off x="868680" y="1645920"/>
            <a:ext cx="10424160" cy="411480"/>
          </a:xfrm>
          <a:prstGeom prst="rect">
            <a:avLst/>
          </a:prstGeom>
          <a:noFill/>
          <a:ln/>
        </p:spPr>
        <p:txBody>
          <a:bodyPr wrap="square" lIns="0" tIns="0" rIns="0" bIns="0" rtlCol="0" anchor="t"/>
          <a:lstStyle/>
          <a:p>
            <a:pPr indent="0" marL="0">
              <a:buNone/>
            </a:pPr>
            <a:r>
              <a:rPr lang="en-US" sz="2200" dirty="0">
                <a:solidFill>
                  <a:srgbClr val="1E2761"/>
                </a:solidFill>
                <a:latin typeface="Calibri" pitchFamily="34" charset="0"/>
                <a:ea typeface="Calibri" pitchFamily="34" charset="-122"/>
                <a:cs typeface="Calibri" pitchFamily="34" charset="-120"/>
              </a:rPr>
              <a:t>Je nach </a:t>
            </a:r>
            <a:pPr indent="0" marL="0">
              <a:buNone/>
            </a:pPr>
            <a:r>
              <a:rPr lang="en-US" sz="2200" b="1" dirty="0">
                <a:solidFill>
                  <a:srgbClr val="1E2761"/>
                </a:solidFill>
                <a:latin typeface="Calibri" pitchFamily="34" charset="0"/>
                <a:ea typeface="Calibri" pitchFamily="34" charset="-122"/>
                <a:cs typeface="Calibri" pitchFamily="34" charset="-120"/>
              </a:rPr>
              <a:t>Leseziel</a:t>
            </a:r>
            <a:pPr indent="0" marL="0">
              <a:buNone/>
            </a:pPr>
            <a:r>
              <a:rPr lang="en-US" sz="2200" dirty="0">
                <a:solidFill>
                  <a:srgbClr val="1E2761"/>
                </a:solidFill>
                <a:latin typeface="Calibri" pitchFamily="34" charset="0"/>
                <a:ea typeface="Calibri" pitchFamily="34" charset="-122"/>
                <a:cs typeface="Calibri" pitchFamily="34" charset="-120"/>
              </a:rPr>
              <a:t> lese ich unterschiedlich:</a:t>
            </a:r>
            <a:endParaRPr lang="en-US" sz="2200" dirty="0"/>
          </a:p>
        </p:txBody>
      </p:sp>
      <p:sp>
        <p:nvSpPr>
          <p:cNvPr id="9" name="Shape 6"/>
          <p:cNvSpPr/>
          <p:nvPr/>
        </p:nvSpPr>
        <p:spPr>
          <a:xfrm>
            <a:off x="868680" y="2240280"/>
            <a:ext cx="2377440" cy="685800"/>
          </a:xfrm>
          <a:prstGeom prst="roundRect">
            <a:avLst>
              <a:gd name="adj" fmla="val 49333"/>
            </a:avLst>
          </a:prstGeom>
          <a:solidFill>
            <a:srgbClr val="3F7CC4"/>
          </a:solidFill>
          <a:ln/>
        </p:spPr>
      </p:sp>
      <p:sp>
        <p:nvSpPr>
          <p:cNvPr id="10" name="Text 7"/>
          <p:cNvSpPr txBox="1"/>
          <p:nvPr/>
        </p:nvSpPr>
        <p:spPr>
          <a:xfrm>
            <a:off x="868680" y="2240280"/>
            <a:ext cx="2377440" cy="685800"/>
          </a:xfrm>
          <a:prstGeom prst="rect">
            <a:avLst/>
          </a:prstGeom>
          <a:noFill/>
          <a:ln/>
        </p:spPr>
        <p:txBody>
          <a:bodyPr wrap="square" lIns="0" tIns="0" rIns="0" bIns="0" rtlCol="0" anchor="ctr"/>
          <a:lstStyle/>
          <a:p>
            <a:pPr algn="ctr" indent="0" marL="0">
              <a:buNone/>
            </a:pPr>
            <a:r>
              <a:rPr lang="en-US" sz="1900" b="1" dirty="0">
                <a:solidFill>
                  <a:srgbClr val="FFFFFF"/>
                </a:solidFill>
                <a:latin typeface="Calibri" pitchFamily="34" charset="0"/>
                <a:ea typeface="Calibri" pitchFamily="34" charset="-122"/>
                <a:cs typeface="Calibri" pitchFamily="34" charset="-120"/>
              </a:rPr>
              <a:t>»  überfliegend</a:t>
            </a:r>
            <a:endParaRPr lang="en-US" sz="1900" dirty="0"/>
          </a:p>
        </p:txBody>
      </p:sp>
      <p:sp>
        <p:nvSpPr>
          <p:cNvPr id="11" name="Text 8"/>
          <p:cNvSpPr txBox="1"/>
          <p:nvPr/>
        </p:nvSpPr>
        <p:spPr>
          <a:xfrm>
            <a:off x="3474720" y="2286000"/>
            <a:ext cx="7863840" cy="685800"/>
          </a:xfrm>
          <a:prstGeom prst="rect">
            <a:avLst/>
          </a:prstGeom>
          <a:noFill/>
          <a:ln/>
        </p:spPr>
        <p:txBody>
          <a:bodyPr wrap="square" lIns="0" tIns="0" rIns="0" bIns="0" rtlCol="0" anchor="ctr"/>
          <a:lstStyle/>
          <a:p>
            <a:pPr indent="0" marL="0">
              <a:buNone/>
            </a:pPr>
            <a:r>
              <a:rPr lang="en-US" sz="1900" dirty="0">
                <a:solidFill>
                  <a:srgbClr val="1E2761"/>
                </a:solidFill>
                <a:latin typeface="Calibri" pitchFamily="34" charset="0"/>
                <a:ea typeface="Calibri" pitchFamily="34" charset="-122"/>
                <a:cs typeface="Calibri" pitchFamily="34" charset="-120"/>
              </a:rPr>
              <a:t>schnell über den Text (Überschrift, Anfang, Ende, auffällige Wörter) </a:t>
            </a:r>
            <a:pPr indent="0" marL="0">
              <a:buNone/>
            </a:pPr>
            <a:r>
              <a:rPr lang="en-US" sz="1900" dirty="0">
                <a:solidFill>
                  <a:srgbClr val="1E2761"/>
                </a:solidFill>
                <a:latin typeface="Calibri" pitchFamily="34" charset="0"/>
                <a:ea typeface="Calibri" pitchFamily="34" charset="-122"/>
                <a:cs typeface="Calibri" pitchFamily="34" charset="-120"/>
              </a:rPr>
              <a:t>– ich will wissen, </a:t>
            </a:r>
            <a:pPr indent="0" marL="0">
              <a:buNone/>
            </a:pPr>
            <a:r>
              <a:rPr lang="en-US" sz="1900" b="1" dirty="0">
                <a:solidFill>
                  <a:srgbClr val="3F7CC4"/>
                </a:solidFill>
                <a:latin typeface="Calibri" pitchFamily="34" charset="0"/>
                <a:ea typeface="Calibri" pitchFamily="34" charset="-122"/>
                <a:cs typeface="Calibri" pitchFamily="34" charset="-120"/>
              </a:rPr>
              <a:t>worum es geht</a:t>
            </a:r>
            <a:pPr indent="0" marL="0">
              <a:buNone/>
            </a:pPr>
            <a:r>
              <a:rPr lang="en-US" sz="1900" dirty="0">
                <a:solidFill>
                  <a:srgbClr val="1E2761"/>
                </a:solidFill>
                <a:latin typeface="Calibri" pitchFamily="34" charset="0"/>
                <a:ea typeface="Calibri" pitchFamily="34" charset="-122"/>
                <a:cs typeface="Calibri" pitchFamily="34" charset="-120"/>
              </a:rPr>
              <a:t>.</a:t>
            </a:r>
            <a:endParaRPr lang="en-US" sz="1900" dirty="0"/>
          </a:p>
        </p:txBody>
      </p:sp>
      <p:sp>
        <p:nvSpPr>
          <p:cNvPr id="12" name="Shape 9"/>
          <p:cNvSpPr/>
          <p:nvPr/>
        </p:nvSpPr>
        <p:spPr>
          <a:xfrm>
            <a:off x="868680" y="3200400"/>
            <a:ext cx="2377440" cy="685800"/>
          </a:xfrm>
          <a:prstGeom prst="roundRect">
            <a:avLst>
              <a:gd name="adj" fmla="val 49333"/>
            </a:avLst>
          </a:prstGeom>
          <a:solidFill>
            <a:srgbClr val="E8A33D"/>
          </a:solidFill>
          <a:ln/>
        </p:spPr>
      </p:sp>
      <p:sp>
        <p:nvSpPr>
          <p:cNvPr id="13" name="Text 10"/>
          <p:cNvSpPr txBox="1"/>
          <p:nvPr/>
        </p:nvSpPr>
        <p:spPr>
          <a:xfrm>
            <a:off x="868680" y="3200400"/>
            <a:ext cx="2377440" cy="685800"/>
          </a:xfrm>
          <a:prstGeom prst="rect">
            <a:avLst/>
          </a:prstGeom>
          <a:noFill/>
          <a:ln/>
        </p:spPr>
        <p:txBody>
          <a:bodyPr wrap="square" lIns="0" tIns="0" rIns="0" bIns="0" rtlCol="0" anchor="ctr"/>
          <a:lstStyle/>
          <a:p>
            <a:pPr algn="ctr" indent="0" marL="0">
              <a:buNone/>
            </a:pPr>
            <a:r>
              <a:rPr lang="en-US" sz="1900" b="1" dirty="0">
                <a:solidFill>
                  <a:srgbClr val="FFFFFF"/>
                </a:solidFill>
                <a:latin typeface="Calibri" pitchFamily="34" charset="0"/>
                <a:ea typeface="Calibri" pitchFamily="34" charset="-122"/>
                <a:cs typeface="Calibri" pitchFamily="34" charset="-120"/>
              </a:rPr>
              <a:t>⌕  orientierend</a:t>
            </a:r>
            <a:endParaRPr lang="en-US" sz="1900" dirty="0"/>
          </a:p>
        </p:txBody>
      </p:sp>
      <p:sp>
        <p:nvSpPr>
          <p:cNvPr id="14" name="Text 11"/>
          <p:cNvSpPr txBox="1"/>
          <p:nvPr/>
        </p:nvSpPr>
        <p:spPr>
          <a:xfrm>
            <a:off x="3474720" y="3246120"/>
            <a:ext cx="7863840" cy="685800"/>
          </a:xfrm>
          <a:prstGeom prst="rect">
            <a:avLst/>
          </a:prstGeom>
          <a:noFill/>
          <a:ln/>
        </p:spPr>
        <p:txBody>
          <a:bodyPr wrap="square" lIns="0" tIns="0" rIns="0" bIns="0" rtlCol="0" anchor="ctr"/>
          <a:lstStyle/>
          <a:p>
            <a:pPr indent="0" marL="0">
              <a:buNone/>
            </a:pPr>
            <a:r>
              <a:rPr lang="en-US" sz="1900" dirty="0">
                <a:solidFill>
                  <a:srgbClr val="1E2761"/>
                </a:solidFill>
                <a:latin typeface="Calibri" pitchFamily="34" charset="0"/>
                <a:ea typeface="Calibri" pitchFamily="34" charset="-122"/>
                <a:cs typeface="Calibri" pitchFamily="34" charset="-120"/>
              </a:rPr>
              <a:t>gezielt suchen, den Rest überspringen </a:t>
            </a:r>
            <a:pPr indent="0" marL="0">
              <a:buNone/>
            </a:pPr>
            <a:r>
              <a:rPr lang="en-US" sz="1900" dirty="0">
                <a:solidFill>
                  <a:srgbClr val="1E2761"/>
                </a:solidFill>
                <a:latin typeface="Calibri" pitchFamily="34" charset="0"/>
                <a:ea typeface="Calibri" pitchFamily="34" charset="-122"/>
                <a:cs typeface="Calibri" pitchFamily="34" charset="-120"/>
              </a:rPr>
              <a:t>– ich will </a:t>
            </a:r>
            <a:pPr indent="0" marL="0">
              <a:buNone/>
            </a:pPr>
            <a:r>
              <a:rPr lang="en-US" sz="1900" b="1" dirty="0">
                <a:solidFill>
                  <a:srgbClr val="E8A33D"/>
                </a:solidFill>
                <a:latin typeface="Calibri" pitchFamily="34" charset="0"/>
                <a:ea typeface="Calibri" pitchFamily="34" charset="-122"/>
                <a:cs typeface="Calibri" pitchFamily="34" charset="-120"/>
              </a:rPr>
              <a:t>eine bestimmte Information</a:t>
            </a:r>
            <a:pPr indent="0" marL="0">
              <a:buNone/>
            </a:pPr>
            <a:r>
              <a:rPr lang="en-US" sz="1900" dirty="0">
                <a:solidFill>
                  <a:srgbClr val="1E2761"/>
                </a:solidFill>
                <a:latin typeface="Calibri" pitchFamily="34" charset="0"/>
                <a:ea typeface="Calibri" pitchFamily="34" charset="-122"/>
                <a:cs typeface="Calibri" pitchFamily="34" charset="-120"/>
              </a:rPr>
              <a:t> finden.</a:t>
            </a:r>
            <a:endParaRPr lang="en-US" sz="1900" dirty="0"/>
          </a:p>
        </p:txBody>
      </p:sp>
      <p:sp>
        <p:nvSpPr>
          <p:cNvPr id="15" name="Shape 12"/>
          <p:cNvSpPr/>
          <p:nvPr/>
        </p:nvSpPr>
        <p:spPr>
          <a:xfrm>
            <a:off x="868680" y="4160520"/>
            <a:ext cx="2377440" cy="685800"/>
          </a:xfrm>
          <a:prstGeom prst="roundRect">
            <a:avLst>
              <a:gd name="adj" fmla="val 49333"/>
            </a:avLst>
          </a:prstGeom>
          <a:solidFill>
            <a:srgbClr val="2E9E6B"/>
          </a:solidFill>
          <a:ln/>
        </p:spPr>
      </p:sp>
      <p:sp>
        <p:nvSpPr>
          <p:cNvPr id="16" name="Text 13"/>
          <p:cNvSpPr txBox="1"/>
          <p:nvPr/>
        </p:nvSpPr>
        <p:spPr>
          <a:xfrm>
            <a:off x="868680" y="4160520"/>
            <a:ext cx="2377440" cy="685800"/>
          </a:xfrm>
          <a:prstGeom prst="rect">
            <a:avLst/>
          </a:prstGeom>
          <a:noFill/>
          <a:ln/>
        </p:spPr>
        <p:txBody>
          <a:bodyPr wrap="square" lIns="0" tIns="0" rIns="0" bIns="0" rtlCol="0" anchor="ctr"/>
          <a:lstStyle/>
          <a:p>
            <a:pPr algn="ctr" indent="0" marL="0">
              <a:buNone/>
            </a:pPr>
            <a:r>
              <a:rPr lang="en-US" sz="1900" b="1" dirty="0">
                <a:solidFill>
                  <a:srgbClr val="FFFFFF"/>
                </a:solidFill>
                <a:latin typeface="Calibri" pitchFamily="34" charset="0"/>
                <a:ea typeface="Calibri" pitchFamily="34" charset="-122"/>
                <a:cs typeface="Calibri" pitchFamily="34" charset="-120"/>
              </a:rPr>
              <a:t>✎  genau</a:t>
            </a:r>
            <a:endParaRPr lang="en-US" sz="1900" dirty="0"/>
          </a:p>
        </p:txBody>
      </p:sp>
      <p:sp>
        <p:nvSpPr>
          <p:cNvPr id="17" name="Text 14"/>
          <p:cNvSpPr txBox="1"/>
          <p:nvPr/>
        </p:nvSpPr>
        <p:spPr>
          <a:xfrm>
            <a:off x="3474720" y="4206240"/>
            <a:ext cx="7863840" cy="685800"/>
          </a:xfrm>
          <a:prstGeom prst="rect">
            <a:avLst/>
          </a:prstGeom>
          <a:noFill/>
          <a:ln/>
        </p:spPr>
        <p:txBody>
          <a:bodyPr wrap="square" lIns="0" tIns="0" rIns="0" bIns="0" rtlCol="0" anchor="ctr"/>
          <a:lstStyle/>
          <a:p>
            <a:pPr indent="0" marL="0">
              <a:buNone/>
            </a:pPr>
            <a:r>
              <a:rPr lang="en-US" sz="1900" dirty="0">
                <a:solidFill>
                  <a:srgbClr val="1E2761"/>
                </a:solidFill>
                <a:latin typeface="Calibri" pitchFamily="34" charset="0"/>
                <a:ea typeface="Calibri" pitchFamily="34" charset="-122"/>
                <a:cs typeface="Calibri" pitchFamily="34" charset="-120"/>
              </a:rPr>
              <a:t>Satz für Satz, Unbekanntes klären, Randnotizen machen </a:t>
            </a:r>
            <a:pPr indent="0" marL="0">
              <a:buNone/>
            </a:pPr>
            <a:r>
              <a:rPr lang="en-US" sz="1900" dirty="0">
                <a:solidFill>
                  <a:srgbClr val="1E2761"/>
                </a:solidFill>
                <a:latin typeface="Calibri" pitchFamily="34" charset="0"/>
                <a:ea typeface="Calibri" pitchFamily="34" charset="-122"/>
                <a:cs typeface="Calibri" pitchFamily="34" charset="-120"/>
              </a:rPr>
              <a:t>– ich will </a:t>
            </a:r>
            <a:pPr indent="0" marL="0">
              <a:buNone/>
            </a:pPr>
            <a:r>
              <a:rPr lang="en-US" sz="1900" b="1" dirty="0">
                <a:solidFill>
                  <a:srgbClr val="2E9E6B"/>
                </a:solidFill>
                <a:latin typeface="Calibri" pitchFamily="34" charset="0"/>
                <a:ea typeface="Calibri" pitchFamily="34" charset="-122"/>
                <a:cs typeface="Calibri" pitchFamily="34" charset="-120"/>
              </a:rPr>
              <a:t>alles verstehen</a:t>
            </a:r>
            <a:pPr indent="0" marL="0">
              <a:buNone/>
            </a:pPr>
            <a:r>
              <a:rPr lang="en-US" sz="1900" dirty="0">
                <a:solidFill>
                  <a:srgbClr val="1E2761"/>
                </a:solidFill>
                <a:latin typeface="Calibri" pitchFamily="34" charset="0"/>
                <a:ea typeface="Calibri" pitchFamily="34" charset="-122"/>
                <a:cs typeface="Calibri" pitchFamily="34" charset="-120"/>
              </a:rPr>
              <a:t>.</a:t>
            </a:r>
            <a:endParaRPr lang="en-US" sz="1900" dirty="0"/>
          </a:p>
        </p:txBody>
      </p:sp>
      <p:sp>
        <p:nvSpPr>
          <p:cNvPr id="18" name="Shape 15"/>
          <p:cNvSpPr/>
          <p:nvPr/>
        </p:nvSpPr>
        <p:spPr>
          <a:xfrm>
            <a:off x="548640" y="5440680"/>
            <a:ext cx="5440680" cy="868680"/>
          </a:xfrm>
          <a:prstGeom prst="roundRect">
            <a:avLst>
              <a:gd name="adj" fmla="val 8421"/>
            </a:avLst>
          </a:prstGeom>
          <a:solidFill>
            <a:srgbClr val="EAF0FA"/>
          </a:solidFill>
          <a:ln/>
        </p:spPr>
      </p:sp>
      <p:sp>
        <p:nvSpPr>
          <p:cNvPr id="19" name="Text 16"/>
          <p:cNvSpPr txBox="1"/>
          <p:nvPr/>
        </p:nvSpPr>
        <p:spPr>
          <a:xfrm>
            <a:off x="731520" y="5504688"/>
            <a:ext cx="5120640" cy="777240"/>
          </a:xfrm>
          <a:prstGeom prst="rect">
            <a:avLst/>
          </a:prstGeom>
          <a:noFill/>
          <a:ln/>
        </p:spPr>
        <p:txBody>
          <a:bodyPr wrap="square" lIns="0" tIns="0" rIns="0" bIns="0" rtlCol="0" anchor="t"/>
          <a:lstStyle/>
          <a:p>
            <a:pPr indent="0" marL="0">
              <a:buNone/>
            </a:pPr>
            <a:r>
              <a:rPr lang="en-US" sz="1400" b="1" dirty="0">
                <a:solidFill>
                  <a:srgbClr val="1E2761"/>
                </a:solidFill>
                <a:latin typeface="Calibri" pitchFamily="34" charset="0"/>
                <a:ea typeface="Calibri" pitchFamily="34" charset="-122"/>
                <a:cs typeface="Calibri" pitchFamily="34" charset="-120"/>
              </a:rPr>
              <a:t>Wofür? </a:t>
            </a:r>
            <a:pPr indent="0" marL="0">
              <a:buNone/>
            </a:pPr>
            <a:r>
              <a:rPr lang="en-US" sz="1400" dirty="0">
                <a:solidFill>
                  <a:srgbClr val="1E2761"/>
                </a:solidFill>
                <a:latin typeface="Calibri" pitchFamily="34" charset="0"/>
                <a:ea typeface="Calibri" pitchFamily="34" charset="-122"/>
                <a:cs typeface="Calibri" pitchFamily="34" charset="-120"/>
              </a:rPr>
              <a:t>Ich spare Zeit und finde, was ich brauche – die Startzeit in der Ausschreibung genauso wie die wichtige Stelle in einer Ballade.</a:t>
            </a:r>
            <a:endParaRPr lang="en-US" sz="1400" dirty="0"/>
          </a:p>
        </p:txBody>
      </p:sp>
      <p:sp>
        <p:nvSpPr>
          <p:cNvPr id="20" name="Shape 17"/>
          <p:cNvSpPr/>
          <p:nvPr/>
        </p:nvSpPr>
        <p:spPr>
          <a:xfrm>
            <a:off x="6172200" y="5440680"/>
            <a:ext cx="5440680" cy="868680"/>
          </a:xfrm>
          <a:prstGeom prst="roundRect">
            <a:avLst>
              <a:gd name="adj" fmla="val 8421"/>
            </a:avLst>
          </a:prstGeom>
          <a:solidFill>
            <a:srgbClr val="EAF0FA"/>
          </a:solidFill>
          <a:ln/>
        </p:spPr>
      </p:sp>
      <p:sp>
        <p:nvSpPr>
          <p:cNvPr id="21" name="Text 18"/>
          <p:cNvSpPr txBox="1"/>
          <p:nvPr/>
        </p:nvSpPr>
        <p:spPr>
          <a:xfrm>
            <a:off x="6355080" y="5504688"/>
            <a:ext cx="5120640" cy="777240"/>
          </a:xfrm>
          <a:prstGeom prst="rect">
            <a:avLst/>
          </a:prstGeom>
          <a:noFill/>
          <a:ln/>
        </p:spPr>
        <p:txBody>
          <a:bodyPr wrap="square" lIns="0" tIns="0" rIns="0" bIns="0" rtlCol="0" anchor="t"/>
          <a:lstStyle/>
          <a:p>
            <a:pPr indent="0" marL="0">
              <a:buNone/>
            </a:pPr>
            <a:r>
              <a:rPr lang="en-US" sz="1400" b="1" dirty="0">
                <a:solidFill>
                  <a:srgbClr val="1E2761"/>
                </a:solidFill>
                <a:latin typeface="Calibri" pitchFamily="34" charset="0"/>
                <a:ea typeface="Calibri" pitchFamily="34" charset="-122"/>
                <a:cs typeface="Calibri" pitchFamily="34" charset="-120"/>
              </a:rPr>
              <a:t>Test: </a:t>
            </a:r>
            <a:pPr indent="0" marL="0">
              <a:buNone/>
            </a:pPr>
            <a:r>
              <a:rPr lang="en-US" sz="1400" dirty="0">
                <a:solidFill>
                  <a:srgbClr val="1E2761"/>
                </a:solidFill>
                <a:latin typeface="Calibri" pitchFamily="34" charset="0"/>
                <a:ea typeface="Calibri" pitchFamily="34" charset="-122"/>
                <a:cs typeface="Calibri" pitchFamily="34" charset="-120"/>
              </a:rPr>
              <a:t>Frag dich vor dem Lesen: Will ich einen Überblick, eine Information oder alles verstehen?</a:t>
            </a:r>
            <a:endParaRPr lang="en-US" sz="14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8229600" cy="274320"/>
          </a:xfrm>
          <a:prstGeom prst="rect">
            <a:avLst/>
          </a:prstGeom>
          <a:noFill/>
          <a:ln/>
        </p:spPr>
        <p:txBody>
          <a:bodyPr wrap="square" lIns="0" tIns="0" rIns="0" bIns="0" rtlCol="0" anchor="t"/>
          <a:lstStyle/>
          <a:p>
            <a:pPr indent="0" marL="0">
              <a:buNone/>
            </a:pPr>
            <a:r>
              <a:rPr lang="en-US" sz="1200" spc="200" kern="0" dirty="0">
                <a:solidFill>
                  <a:srgbClr val="5B6B8C"/>
                </a:solidFill>
                <a:latin typeface="Calibri" pitchFamily="34" charset="0"/>
                <a:ea typeface="Calibri" pitchFamily="34" charset="-122"/>
                <a:cs typeface="Calibri" pitchFamily="34" charset="-120"/>
              </a:rPr>
              <a:t>VERARBEITEN · Ü1 A</a:t>
            </a:r>
            <a:endParaRPr lang="en-US" sz="1200" dirty="0"/>
          </a:p>
        </p:txBody>
      </p:sp>
      <p:sp>
        <p:nvSpPr>
          <p:cNvPr id="3" name="Text 1"/>
          <p:cNvSpPr txBox="1"/>
          <p:nvPr/>
        </p:nvSpPr>
        <p:spPr>
          <a:xfrm>
            <a:off x="548640" y="658368"/>
            <a:ext cx="11064240" cy="640080"/>
          </a:xfrm>
          <a:prstGeom prst="rect">
            <a:avLst/>
          </a:prstGeom>
          <a:noFill/>
          <a:ln/>
        </p:spPr>
        <p:txBody>
          <a:bodyPr wrap="square" lIns="0" tIns="0" rIns="0" bIns="0" rtlCol="0" anchor="t"/>
          <a:lstStyle/>
          <a:p>
            <a:pPr indent="0" marL="0">
              <a:buNone/>
            </a:pPr>
            <a:r>
              <a:rPr lang="en-US" sz="3200" b="1" dirty="0">
                <a:solidFill>
                  <a:srgbClr val="1E2761"/>
                </a:solidFill>
                <a:latin typeface="Cambria" pitchFamily="34" charset="0"/>
                <a:ea typeface="Cambria" pitchFamily="34" charset="-122"/>
                <a:cs typeface="Cambria" pitchFamily="34" charset="-120"/>
              </a:rPr>
              <a:t>Ü1 a) Überfliegen</a:t>
            </a:r>
            <a:endParaRPr lang="en-US" sz="3200" dirty="0"/>
          </a:p>
        </p:txBody>
      </p:sp>
      <p:sp>
        <p:nvSpPr>
          <p:cNvPr id="4" name="Text 2"/>
          <p:cNvSpPr txBox="1"/>
          <p:nvPr/>
        </p:nvSpPr>
        <p:spPr>
          <a:xfrm>
            <a:off x="548640" y="6400800"/>
            <a:ext cx="6400800" cy="228600"/>
          </a:xfrm>
          <a:prstGeom prst="rect">
            <a:avLst/>
          </a:prstGeom>
          <a:noFill/>
          <a:ln/>
        </p:spPr>
        <p:txBody>
          <a:bodyPr wrap="square" lIns="0" tIns="0" rIns="0" bIns="0" rtlCol="0" anchor="t"/>
          <a:lstStyle/>
          <a:p>
            <a:pPr indent="0" marL="0">
              <a:buNone/>
            </a:pPr>
            <a:r>
              <a:rPr lang="en-US" sz="1000" dirty="0">
                <a:solidFill>
                  <a:srgbClr val="5B6B8C"/>
                </a:solidFill>
                <a:latin typeface="Calibri" pitchFamily="34" charset="0"/>
                <a:ea typeface="Calibri" pitchFamily="34" charset="-122"/>
                <a:cs typeface="Calibri" pitchFamily="34" charset="-120"/>
              </a:rPr>
              <a:t>Teil 3 · Paddy Fingal – Lesetechniken · Deutsch 7A</a:t>
            </a:r>
            <a:endParaRPr lang="en-US" sz="1000" dirty="0"/>
          </a:p>
        </p:txBody>
      </p:sp>
      <p:sp>
        <p:nvSpPr>
          <p:cNvPr id="5" name="Text 3"/>
          <p:cNvSpPr txBox="1"/>
          <p:nvPr/>
        </p:nvSpPr>
        <p:spPr>
          <a:xfrm>
            <a:off x="11155680" y="6400800"/>
            <a:ext cx="457200" cy="228600"/>
          </a:xfrm>
          <a:prstGeom prst="rect">
            <a:avLst/>
          </a:prstGeom>
          <a:noFill/>
          <a:ln/>
        </p:spPr>
        <p:txBody>
          <a:bodyPr wrap="square" lIns="0" tIns="0" rIns="0" bIns="0" rtlCol="0" anchor="t"/>
          <a:lstStyle/>
          <a:p>
            <a:pPr algn="r" indent="0" marL="0">
              <a:buNone/>
            </a:pPr>
            <a:r>
              <a:rPr lang="en-US" sz="1000" dirty="0">
                <a:solidFill>
                  <a:srgbClr val="5B6B8C"/>
                </a:solidFill>
                <a:latin typeface="Calibri" pitchFamily="34" charset="0"/>
                <a:ea typeface="Calibri" pitchFamily="34" charset="-122"/>
                <a:cs typeface="Calibri" pitchFamily="34" charset="-120"/>
              </a:rPr>
              <a:t>22</a:t>
            </a:r>
            <a:endParaRPr lang="en-US" sz="1000" dirty="0"/>
          </a:p>
        </p:txBody>
      </p:sp>
      <p:sp>
        <p:nvSpPr>
          <p:cNvPr id="7" name="Shape 4"/>
          <p:cNvSpPr/>
          <p:nvPr/>
        </p:nvSpPr>
        <p:spPr>
          <a:xfrm>
            <a:off x="548640" y="1600200"/>
            <a:ext cx="457200" cy="457200"/>
          </a:xfrm>
          <a:prstGeom prst="ellipse">
            <a:avLst/>
          </a:prstGeom>
          <a:solidFill>
            <a:srgbClr val="1E2761"/>
          </a:solidFill>
          <a:ln/>
        </p:spPr>
      </p:sp>
      <p:sp>
        <p:nvSpPr>
          <p:cNvPr id="8" name="Text 5"/>
          <p:cNvSpPr txBox="1"/>
          <p:nvPr/>
        </p:nvSpPr>
        <p:spPr>
          <a:xfrm>
            <a:off x="548640" y="1600200"/>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1</a:t>
            </a:r>
            <a:endParaRPr lang="en-US" sz="1600" dirty="0"/>
          </a:p>
        </p:txBody>
      </p:sp>
      <p:sp>
        <p:nvSpPr>
          <p:cNvPr id="9" name="Text 6"/>
          <p:cNvSpPr txBox="1"/>
          <p:nvPr/>
        </p:nvSpPr>
        <p:spPr>
          <a:xfrm>
            <a:off x="1188720" y="1636776"/>
            <a:ext cx="10332720" cy="640080"/>
          </a:xfrm>
          <a:prstGeom prst="rect">
            <a:avLst/>
          </a:prstGeom>
          <a:noFill/>
          <a:ln/>
        </p:spPr>
        <p:txBody>
          <a:bodyPr wrap="square" lIns="0" tIns="0" rIns="0" bIns="0" rtlCol="0" anchor="t"/>
          <a:lstStyle/>
          <a:p>
            <a:pPr indent="0" marL="0">
              <a:buNone/>
            </a:pPr>
            <a:r>
              <a:rPr lang="en-US" sz="2100" b="1" dirty="0">
                <a:solidFill>
                  <a:srgbClr val="1E2761"/>
                </a:solidFill>
                <a:latin typeface="Calibri" pitchFamily="34" charset="0"/>
                <a:ea typeface="Calibri" pitchFamily="34" charset="-122"/>
                <a:cs typeface="Calibri" pitchFamily="34" charset="-120"/>
              </a:rPr>
              <a:t>Schreibe ins Heft: Ü1 Paddy Fingal lesen – a). Schlage S. 136 f. auf.</a:t>
            </a:r>
            <a:endParaRPr lang="en-US" sz="2100" dirty="0"/>
          </a:p>
        </p:txBody>
      </p:sp>
      <p:sp>
        <p:nvSpPr>
          <p:cNvPr id="10" name="Shape 7"/>
          <p:cNvSpPr/>
          <p:nvPr/>
        </p:nvSpPr>
        <p:spPr>
          <a:xfrm>
            <a:off x="548640" y="2331720"/>
            <a:ext cx="457200" cy="457200"/>
          </a:xfrm>
          <a:prstGeom prst="ellipse">
            <a:avLst/>
          </a:prstGeom>
          <a:solidFill>
            <a:srgbClr val="1E2761"/>
          </a:solidFill>
          <a:ln/>
        </p:spPr>
      </p:sp>
      <p:sp>
        <p:nvSpPr>
          <p:cNvPr id="11" name="Text 8"/>
          <p:cNvSpPr txBox="1"/>
          <p:nvPr/>
        </p:nvSpPr>
        <p:spPr>
          <a:xfrm>
            <a:off x="548640" y="2331720"/>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2</a:t>
            </a:r>
            <a:endParaRPr lang="en-US" sz="1600" dirty="0"/>
          </a:p>
        </p:txBody>
      </p:sp>
      <p:sp>
        <p:nvSpPr>
          <p:cNvPr id="12" name="Text 9"/>
          <p:cNvSpPr txBox="1"/>
          <p:nvPr/>
        </p:nvSpPr>
        <p:spPr>
          <a:xfrm>
            <a:off x="1188720" y="2368296"/>
            <a:ext cx="10332720" cy="640080"/>
          </a:xfrm>
          <a:prstGeom prst="rect">
            <a:avLst/>
          </a:prstGeom>
          <a:noFill/>
          <a:ln/>
        </p:spPr>
        <p:txBody>
          <a:bodyPr wrap="square" lIns="0" tIns="0" rIns="0" bIns="0" rtlCol="0" anchor="t"/>
          <a:lstStyle/>
          <a:p>
            <a:pPr indent="0" marL="0">
              <a:buNone/>
            </a:pPr>
            <a:r>
              <a:rPr lang="en-US" sz="2100" b="1" dirty="0">
                <a:solidFill>
                  <a:srgbClr val="1E2761"/>
                </a:solidFill>
                <a:latin typeface="Calibri" pitchFamily="34" charset="0"/>
                <a:ea typeface="Calibri" pitchFamily="34" charset="-122"/>
                <a:cs typeface="Calibri" pitchFamily="34" charset="-120"/>
              </a:rPr>
              <a:t>Überfliege die Ballade – genau 1 Minute für beide Seiten.</a:t>
            </a:r>
            <a:endParaRPr lang="en-US" sz="2100" dirty="0"/>
          </a:p>
        </p:txBody>
      </p:sp>
      <p:sp>
        <p:nvSpPr>
          <p:cNvPr id="13" name="Shape 10"/>
          <p:cNvSpPr/>
          <p:nvPr/>
        </p:nvSpPr>
        <p:spPr>
          <a:xfrm>
            <a:off x="548640" y="3063240"/>
            <a:ext cx="457200" cy="457200"/>
          </a:xfrm>
          <a:prstGeom prst="ellipse">
            <a:avLst/>
          </a:prstGeom>
          <a:solidFill>
            <a:srgbClr val="1E2761"/>
          </a:solidFill>
          <a:ln/>
        </p:spPr>
      </p:sp>
      <p:sp>
        <p:nvSpPr>
          <p:cNvPr id="14" name="Text 11"/>
          <p:cNvSpPr txBox="1"/>
          <p:nvPr/>
        </p:nvSpPr>
        <p:spPr>
          <a:xfrm>
            <a:off x="548640" y="3063240"/>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3</a:t>
            </a:r>
            <a:endParaRPr lang="en-US" sz="1600" dirty="0"/>
          </a:p>
        </p:txBody>
      </p:sp>
      <p:sp>
        <p:nvSpPr>
          <p:cNvPr id="15" name="Text 12"/>
          <p:cNvSpPr txBox="1"/>
          <p:nvPr/>
        </p:nvSpPr>
        <p:spPr>
          <a:xfrm>
            <a:off x="1188720" y="3099816"/>
            <a:ext cx="10332720" cy="640080"/>
          </a:xfrm>
          <a:prstGeom prst="rect">
            <a:avLst/>
          </a:prstGeom>
          <a:noFill/>
          <a:ln/>
        </p:spPr>
        <p:txBody>
          <a:bodyPr wrap="square" lIns="0" tIns="0" rIns="0" bIns="0" rtlCol="0" anchor="t"/>
          <a:lstStyle/>
          <a:p>
            <a:pPr indent="0" marL="0">
              <a:buNone/>
            </a:pPr>
            <a:r>
              <a:rPr lang="en-US" sz="2100" b="1" dirty="0">
                <a:solidFill>
                  <a:srgbClr val="1E2761"/>
                </a:solidFill>
                <a:latin typeface="Calibri" pitchFamily="34" charset="0"/>
                <a:ea typeface="Calibri" pitchFamily="34" charset="-122"/>
                <a:cs typeface="Calibri" pitchFamily="34" charset="-120"/>
              </a:rPr>
              <a:t>Klappe das Buch zu. Schreibe einen Satz: „In der Ballade geht es um …“</a:t>
            </a:r>
            <a:endParaRPr lang="en-US" sz="2100" dirty="0"/>
          </a:p>
        </p:txBody>
      </p:sp>
      <p:sp>
        <p:nvSpPr>
          <p:cNvPr id="16" name="Shape 13"/>
          <p:cNvSpPr/>
          <p:nvPr/>
        </p:nvSpPr>
        <p:spPr>
          <a:xfrm>
            <a:off x="548640" y="4069080"/>
            <a:ext cx="11064240" cy="1188720"/>
          </a:xfrm>
          <a:prstGeom prst="roundRect">
            <a:avLst>
              <a:gd name="adj" fmla="val 6154"/>
            </a:avLst>
          </a:prstGeom>
          <a:solidFill>
            <a:srgbClr val="F4F7FD"/>
          </a:solidFill>
          <a:ln/>
        </p:spPr>
      </p:sp>
      <p:sp>
        <p:nvSpPr>
          <p:cNvPr id="17" name="Text 14"/>
          <p:cNvSpPr txBox="1"/>
          <p:nvPr/>
        </p:nvSpPr>
        <p:spPr>
          <a:xfrm>
            <a:off x="548640" y="4206240"/>
            <a:ext cx="11064240" cy="914400"/>
          </a:xfrm>
          <a:prstGeom prst="rect">
            <a:avLst/>
          </a:prstGeom>
          <a:noFill/>
          <a:ln/>
        </p:spPr>
        <p:txBody>
          <a:bodyPr wrap="square" lIns="0" tIns="0" rIns="0" bIns="0" rtlCol="0" anchor="ctr"/>
          <a:lstStyle/>
          <a:p>
            <a:pPr algn="ctr" indent="0" marL="0">
              <a:buNone/>
            </a:pPr>
            <a:r>
              <a:rPr lang="en-US" sz="4800" b="1" dirty="0">
                <a:solidFill>
                  <a:srgbClr val="3F7CC4"/>
                </a:solidFill>
                <a:latin typeface="Cambria" pitchFamily="34" charset="0"/>
                <a:ea typeface="Cambria" pitchFamily="34" charset="-122"/>
                <a:cs typeface="Cambria" pitchFamily="34" charset="-120"/>
              </a:rPr>
              <a:t>⏱  1 Minute</a:t>
            </a:r>
            <a:endParaRPr lang="en-US" sz="4800" dirty="0"/>
          </a:p>
        </p:txBody>
      </p:sp>
      <p:sp>
        <p:nvSpPr>
          <p:cNvPr id="18" name="Shape 15"/>
          <p:cNvSpPr/>
          <p:nvPr/>
        </p:nvSpPr>
        <p:spPr>
          <a:xfrm>
            <a:off x="548640" y="5715000"/>
            <a:ext cx="11064240" cy="502920"/>
          </a:xfrm>
          <a:prstGeom prst="roundRect">
            <a:avLst>
              <a:gd name="adj" fmla="val 14545"/>
            </a:avLst>
          </a:prstGeom>
          <a:solidFill>
            <a:srgbClr val="EAF0FA"/>
          </a:solidFill>
          <a:ln/>
        </p:spPr>
      </p:sp>
      <p:sp>
        <p:nvSpPr>
          <p:cNvPr id="19" name="Text 16"/>
          <p:cNvSpPr txBox="1"/>
          <p:nvPr/>
        </p:nvSpPr>
        <p:spPr>
          <a:xfrm>
            <a:off x="777240" y="5788152"/>
            <a:ext cx="10698480" cy="365760"/>
          </a:xfrm>
          <a:prstGeom prst="rect">
            <a:avLst/>
          </a:prstGeom>
          <a:noFill/>
          <a:ln/>
        </p:spPr>
        <p:txBody>
          <a:bodyPr wrap="square" lIns="0" tIns="0" rIns="0" bIns="0" rtlCol="0" anchor="t"/>
          <a:lstStyle/>
          <a:p>
            <a:pPr indent="0" marL="0">
              <a:buNone/>
            </a:pPr>
            <a:r>
              <a:rPr lang="en-US" sz="1600" b="1" dirty="0">
                <a:solidFill>
                  <a:srgbClr val="1E2761"/>
                </a:solidFill>
                <a:latin typeface="Calibri" pitchFamily="34" charset="0"/>
                <a:ea typeface="Calibri" pitchFamily="34" charset="-122"/>
                <a:cs typeface="Calibri" pitchFamily="34" charset="-120"/>
              </a:rPr>
              <a:t>Zeit: </a:t>
            </a:r>
            <a:pPr indent="0" marL="0">
              <a:buNone/>
            </a:pPr>
            <a:r>
              <a:rPr lang="en-US" sz="1600" dirty="0">
                <a:solidFill>
                  <a:srgbClr val="1E2761"/>
                </a:solidFill>
                <a:latin typeface="Calibri" pitchFamily="34" charset="0"/>
                <a:ea typeface="Calibri" pitchFamily="34" charset="-122"/>
                <a:cs typeface="Calibri" pitchFamily="34" charset="-120"/>
              </a:rPr>
              <a:t>1 Minute lesen + 2 Minuten schreiben · allein · leise      </a:t>
            </a:r>
            <a:pPr indent="0" marL="0">
              <a:buNone/>
            </a:pPr>
            <a:r>
              <a:rPr lang="en-US" sz="1600" i="1" dirty="0">
                <a:solidFill>
                  <a:srgbClr val="5B6B8C"/>
                </a:solidFill>
                <a:latin typeface="Calibri" pitchFamily="34" charset="0"/>
                <a:ea typeface="Calibri" pitchFamily="34" charset="-122"/>
                <a:cs typeface="Calibri" pitchFamily="34" charset="-120"/>
              </a:rPr>
              <a:t>Fertig? Stift hinlegen.</a:t>
            </a:r>
            <a:endParaRPr lang="en-US" sz="16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8229600" cy="274320"/>
          </a:xfrm>
          <a:prstGeom prst="rect">
            <a:avLst/>
          </a:prstGeom>
          <a:noFill/>
          <a:ln/>
        </p:spPr>
        <p:txBody>
          <a:bodyPr wrap="square" lIns="0" tIns="0" rIns="0" bIns="0" rtlCol="0" anchor="t"/>
          <a:lstStyle/>
          <a:p>
            <a:pPr indent="0" marL="0">
              <a:buNone/>
            </a:pPr>
            <a:r>
              <a:rPr lang="en-US" sz="1200" spc="200" kern="0" dirty="0">
                <a:solidFill>
                  <a:srgbClr val="5B6B8C"/>
                </a:solidFill>
                <a:latin typeface="Calibri" pitchFamily="34" charset="0"/>
                <a:ea typeface="Calibri" pitchFamily="34" charset="-122"/>
                <a:cs typeface="Calibri" pitchFamily="34" charset="-120"/>
              </a:rPr>
              <a:t>VERARBEITEN · ZUHÖREN</a:t>
            </a:r>
            <a:endParaRPr lang="en-US" sz="1200" dirty="0"/>
          </a:p>
        </p:txBody>
      </p:sp>
      <p:sp>
        <p:nvSpPr>
          <p:cNvPr id="3" name="Text 1"/>
          <p:cNvSpPr txBox="1"/>
          <p:nvPr/>
        </p:nvSpPr>
        <p:spPr>
          <a:xfrm>
            <a:off x="548640" y="658368"/>
            <a:ext cx="11064240" cy="640080"/>
          </a:xfrm>
          <a:prstGeom prst="rect">
            <a:avLst/>
          </a:prstGeom>
          <a:noFill/>
          <a:ln/>
        </p:spPr>
        <p:txBody>
          <a:bodyPr wrap="square" lIns="0" tIns="0" rIns="0" bIns="0" rtlCol="0" anchor="t"/>
          <a:lstStyle/>
          <a:p>
            <a:pPr indent="0" marL="0">
              <a:buNone/>
            </a:pPr>
            <a:r>
              <a:rPr lang="en-US" sz="3200" b="1" dirty="0">
                <a:solidFill>
                  <a:srgbClr val="1E2761"/>
                </a:solidFill>
                <a:latin typeface="Cambria" pitchFamily="34" charset="0"/>
                <a:ea typeface="Cambria" pitchFamily="34" charset="-122"/>
                <a:cs typeface="Cambria" pitchFamily="34" charset="-120"/>
              </a:rPr>
              <a:t>Zuhören und mitsprechen</a:t>
            </a:r>
            <a:endParaRPr lang="en-US" sz="3200" dirty="0"/>
          </a:p>
        </p:txBody>
      </p:sp>
      <p:sp>
        <p:nvSpPr>
          <p:cNvPr id="4" name="Text 2"/>
          <p:cNvSpPr txBox="1"/>
          <p:nvPr/>
        </p:nvSpPr>
        <p:spPr>
          <a:xfrm>
            <a:off x="548640" y="6400800"/>
            <a:ext cx="6400800" cy="228600"/>
          </a:xfrm>
          <a:prstGeom prst="rect">
            <a:avLst/>
          </a:prstGeom>
          <a:noFill/>
          <a:ln/>
        </p:spPr>
        <p:txBody>
          <a:bodyPr wrap="square" lIns="0" tIns="0" rIns="0" bIns="0" rtlCol="0" anchor="t"/>
          <a:lstStyle/>
          <a:p>
            <a:pPr indent="0" marL="0">
              <a:buNone/>
            </a:pPr>
            <a:r>
              <a:rPr lang="en-US" sz="1000" dirty="0">
                <a:solidFill>
                  <a:srgbClr val="5B6B8C"/>
                </a:solidFill>
                <a:latin typeface="Calibri" pitchFamily="34" charset="0"/>
                <a:ea typeface="Calibri" pitchFamily="34" charset="-122"/>
                <a:cs typeface="Calibri" pitchFamily="34" charset="-120"/>
              </a:rPr>
              <a:t>Teil 3 · Paddy Fingal – Lesetechniken · Deutsch 7A</a:t>
            </a:r>
            <a:endParaRPr lang="en-US" sz="1000" dirty="0"/>
          </a:p>
        </p:txBody>
      </p:sp>
      <p:sp>
        <p:nvSpPr>
          <p:cNvPr id="5" name="Text 3"/>
          <p:cNvSpPr txBox="1"/>
          <p:nvPr/>
        </p:nvSpPr>
        <p:spPr>
          <a:xfrm>
            <a:off x="11155680" y="6400800"/>
            <a:ext cx="457200" cy="228600"/>
          </a:xfrm>
          <a:prstGeom prst="rect">
            <a:avLst/>
          </a:prstGeom>
          <a:noFill/>
          <a:ln/>
        </p:spPr>
        <p:txBody>
          <a:bodyPr wrap="square" lIns="0" tIns="0" rIns="0" bIns="0" rtlCol="0" anchor="t"/>
          <a:lstStyle/>
          <a:p>
            <a:pPr algn="r" indent="0" marL="0">
              <a:buNone/>
            </a:pPr>
            <a:r>
              <a:rPr lang="en-US" sz="1000" dirty="0">
                <a:solidFill>
                  <a:srgbClr val="5B6B8C"/>
                </a:solidFill>
                <a:latin typeface="Calibri" pitchFamily="34" charset="0"/>
                <a:ea typeface="Calibri" pitchFamily="34" charset="-122"/>
                <a:cs typeface="Calibri" pitchFamily="34" charset="-120"/>
              </a:rPr>
              <a:t>23</a:t>
            </a:r>
            <a:endParaRPr lang="en-US" sz="1000" dirty="0"/>
          </a:p>
        </p:txBody>
      </p:sp>
      <p:sp>
        <p:nvSpPr>
          <p:cNvPr id="7" name="Shape 4"/>
          <p:cNvSpPr/>
          <p:nvPr/>
        </p:nvSpPr>
        <p:spPr>
          <a:xfrm>
            <a:off x="548640" y="1691640"/>
            <a:ext cx="457200" cy="457200"/>
          </a:xfrm>
          <a:prstGeom prst="ellipse">
            <a:avLst/>
          </a:prstGeom>
          <a:solidFill>
            <a:srgbClr val="1E2761"/>
          </a:solidFill>
          <a:ln/>
        </p:spPr>
      </p:sp>
      <p:sp>
        <p:nvSpPr>
          <p:cNvPr id="8" name="Text 5"/>
          <p:cNvSpPr txBox="1"/>
          <p:nvPr/>
        </p:nvSpPr>
        <p:spPr>
          <a:xfrm>
            <a:off x="548640" y="1691640"/>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1</a:t>
            </a:r>
            <a:endParaRPr lang="en-US" sz="1600" dirty="0"/>
          </a:p>
        </p:txBody>
      </p:sp>
      <p:sp>
        <p:nvSpPr>
          <p:cNvPr id="9" name="Text 6"/>
          <p:cNvSpPr txBox="1"/>
          <p:nvPr/>
        </p:nvSpPr>
        <p:spPr>
          <a:xfrm>
            <a:off x="1188720" y="1728216"/>
            <a:ext cx="10332720" cy="640080"/>
          </a:xfrm>
          <a:prstGeom prst="rect">
            <a:avLst/>
          </a:prstGeom>
          <a:noFill/>
          <a:ln/>
        </p:spPr>
        <p:txBody>
          <a:bodyPr wrap="square" lIns="0" tIns="0" rIns="0" bIns="0" rtlCol="0" anchor="t"/>
          <a:lstStyle/>
          <a:p>
            <a:pPr indent="0" marL="0">
              <a:buNone/>
            </a:pPr>
            <a:r>
              <a:rPr lang="en-US" sz="2100" b="1" dirty="0">
                <a:solidFill>
                  <a:srgbClr val="1E2761"/>
                </a:solidFill>
                <a:latin typeface="Calibri" pitchFamily="34" charset="0"/>
                <a:ea typeface="Calibri" pitchFamily="34" charset="-122"/>
                <a:cs typeface="Calibri" pitchFamily="34" charset="-120"/>
              </a:rPr>
              <a:t>Hör zu, während die Ballade vorgelesen wird. Lies im Buch mit.</a:t>
            </a:r>
            <a:endParaRPr lang="en-US" sz="2100" dirty="0"/>
          </a:p>
        </p:txBody>
      </p:sp>
      <p:sp>
        <p:nvSpPr>
          <p:cNvPr id="10" name="Shape 7"/>
          <p:cNvSpPr/>
          <p:nvPr/>
        </p:nvSpPr>
        <p:spPr>
          <a:xfrm>
            <a:off x="548640" y="2468880"/>
            <a:ext cx="457200" cy="457200"/>
          </a:xfrm>
          <a:prstGeom prst="ellipse">
            <a:avLst/>
          </a:prstGeom>
          <a:solidFill>
            <a:srgbClr val="1E2761"/>
          </a:solidFill>
          <a:ln/>
        </p:spPr>
      </p:sp>
      <p:sp>
        <p:nvSpPr>
          <p:cNvPr id="11" name="Text 8"/>
          <p:cNvSpPr txBox="1"/>
          <p:nvPr/>
        </p:nvSpPr>
        <p:spPr>
          <a:xfrm>
            <a:off x="548640" y="2468880"/>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2</a:t>
            </a:r>
            <a:endParaRPr lang="en-US" sz="1600" dirty="0"/>
          </a:p>
        </p:txBody>
      </p:sp>
      <p:sp>
        <p:nvSpPr>
          <p:cNvPr id="12" name="Text 9"/>
          <p:cNvSpPr txBox="1"/>
          <p:nvPr/>
        </p:nvSpPr>
        <p:spPr>
          <a:xfrm>
            <a:off x="1188720" y="2505456"/>
            <a:ext cx="10332720" cy="640080"/>
          </a:xfrm>
          <a:prstGeom prst="rect">
            <a:avLst/>
          </a:prstGeom>
          <a:noFill/>
          <a:ln/>
        </p:spPr>
        <p:txBody>
          <a:bodyPr wrap="square" lIns="0" tIns="0" rIns="0" bIns="0" rtlCol="0" anchor="t"/>
          <a:lstStyle/>
          <a:p>
            <a:pPr indent="0" marL="0">
              <a:buNone/>
            </a:pPr>
            <a:r>
              <a:rPr lang="en-US" sz="2100" b="1" dirty="0">
                <a:solidFill>
                  <a:srgbClr val="1E2761"/>
                </a:solidFill>
                <a:latin typeface="Calibri" pitchFamily="34" charset="0"/>
                <a:ea typeface="Calibri" pitchFamily="34" charset="-122"/>
                <a:cs typeface="Calibri" pitchFamily="34" charset="-120"/>
              </a:rPr>
              <a:t>Die letzte Zeile jeder Strophe sprecht ihr alle im Chor mit.</a:t>
            </a:r>
            <a:endParaRPr lang="en-US" sz="2100" dirty="0"/>
          </a:p>
        </p:txBody>
      </p:sp>
      <p:sp>
        <p:nvSpPr>
          <p:cNvPr id="13" name="Shape 10"/>
          <p:cNvSpPr/>
          <p:nvPr/>
        </p:nvSpPr>
        <p:spPr>
          <a:xfrm>
            <a:off x="548640" y="3246120"/>
            <a:ext cx="457200" cy="457200"/>
          </a:xfrm>
          <a:prstGeom prst="ellipse">
            <a:avLst/>
          </a:prstGeom>
          <a:solidFill>
            <a:srgbClr val="1E2761"/>
          </a:solidFill>
          <a:ln/>
        </p:spPr>
      </p:sp>
      <p:sp>
        <p:nvSpPr>
          <p:cNvPr id="14" name="Text 11"/>
          <p:cNvSpPr txBox="1"/>
          <p:nvPr/>
        </p:nvSpPr>
        <p:spPr>
          <a:xfrm>
            <a:off x="548640" y="3246120"/>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3</a:t>
            </a:r>
            <a:endParaRPr lang="en-US" sz="1600" dirty="0"/>
          </a:p>
        </p:txBody>
      </p:sp>
      <p:sp>
        <p:nvSpPr>
          <p:cNvPr id="15" name="Text 12"/>
          <p:cNvSpPr txBox="1"/>
          <p:nvPr/>
        </p:nvSpPr>
        <p:spPr>
          <a:xfrm>
            <a:off x="1188720" y="3282696"/>
            <a:ext cx="10332720" cy="640080"/>
          </a:xfrm>
          <a:prstGeom prst="rect">
            <a:avLst/>
          </a:prstGeom>
          <a:noFill/>
          <a:ln/>
        </p:spPr>
        <p:txBody>
          <a:bodyPr wrap="square" lIns="0" tIns="0" rIns="0" bIns="0" rtlCol="0" anchor="t"/>
          <a:lstStyle/>
          <a:p>
            <a:pPr indent="0" marL="0">
              <a:buNone/>
            </a:pPr>
            <a:r>
              <a:rPr lang="en-US" sz="2100" b="1" dirty="0">
                <a:solidFill>
                  <a:srgbClr val="1E2761"/>
                </a:solidFill>
                <a:latin typeface="Calibri" pitchFamily="34" charset="0"/>
                <a:ea typeface="Calibri" pitchFamily="34" charset="-122"/>
                <a:cs typeface="Calibri" pitchFamily="34" charset="-120"/>
              </a:rPr>
              <a:t>Schreibe ins Heft: Die Ballade wirkt lustig / spannend / unheimlich, weil …</a:t>
            </a:r>
            <a:endParaRPr lang="en-US" sz="2100" dirty="0"/>
          </a:p>
        </p:txBody>
      </p:sp>
      <p:sp>
        <p:nvSpPr>
          <p:cNvPr id="16" name="Shape 13"/>
          <p:cNvSpPr/>
          <p:nvPr/>
        </p:nvSpPr>
        <p:spPr>
          <a:xfrm>
            <a:off x="548640" y="4206240"/>
            <a:ext cx="11064240" cy="1188720"/>
          </a:xfrm>
          <a:prstGeom prst="roundRect">
            <a:avLst>
              <a:gd name="adj" fmla="val 6154"/>
            </a:avLst>
          </a:prstGeom>
          <a:solidFill>
            <a:srgbClr val="EAF0FA"/>
          </a:solidFill>
          <a:ln/>
        </p:spPr>
      </p:sp>
      <p:sp>
        <p:nvSpPr>
          <p:cNvPr id="17" name="Text 14"/>
          <p:cNvSpPr txBox="1"/>
          <p:nvPr/>
        </p:nvSpPr>
        <p:spPr>
          <a:xfrm>
            <a:off x="548640" y="4206240"/>
            <a:ext cx="11064240" cy="1188720"/>
          </a:xfrm>
          <a:prstGeom prst="rect">
            <a:avLst/>
          </a:prstGeom>
          <a:noFill/>
          <a:ln/>
        </p:spPr>
        <p:txBody>
          <a:bodyPr wrap="square" lIns="0" tIns="0" rIns="0" bIns="0" rtlCol="0" anchor="ctr"/>
          <a:lstStyle/>
          <a:p>
            <a:pPr algn="ctr" indent="0" marL="0">
              <a:buNone/>
            </a:pPr>
            <a:r>
              <a:rPr lang="en-US" sz="4000" b="1" dirty="0">
                <a:solidFill>
                  <a:srgbClr val="D9534F"/>
                </a:solidFill>
                <a:latin typeface="Cambria" pitchFamily="34" charset="0"/>
                <a:ea typeface="Cambria" pitchFamily="34" charset="-122"/>
                <a:cs typeface="Cambria" pitchFamily="34" charset="-120"/>
              </a:rPr>
              <a:t>… so ein Kerl war Paddy Fingal!</a:t>
            </a:r>
            <a:endParaRPr lang="en-US" sz="4000" dirty="0"/>
          </a:p>
        </p:txBody>
      </p:sp>
      <p:sp>
        <p:nvSpPr>
          <p:cNvPr id="18" name="Shape 15"/>
          <p:cNvSpPr/>
          <p:nvPr/>
        </p:nvSpPr>
        <p:spPr>
          <a:xfrm>
            <a:off x="548640" y="5715000"/>
            <a:ext cx="11064240" cy="502920"/>
          </a:xfrm>
          <a:prstGeom prst="roundRect">
            <a:avLst>
              <a:gd name="adj" fmla="val 14545"/>
            </a:avLst>
          </a:prstGeom>
          <a:solidFill>
            <a:srgbClr val="EAF0FA"/>
          </a:solidFill>
          <a:ln/>
        </p:spPr>
      </p:sp>
      <p:sp>
        <p:nvSpPr>
          <p:cNvPr id="19" name="Text 16"/>
          <p:cNvSpPr txBox="1"/>
          <p:nvPr/>
        </p:nvSpPr>
        <p:spPr>
          <a:xfrm>
            <a:off x="777240" y="5788152"/>
            <a:ext cx="10698480" cy="365760"/>
          </a:xfrm>
          <a:prstGeom prst="rect">
            <a:avLst/>
          </a:prstGeom>
          <a:noFill/>
          <a:ln/>
        </p:spPr>
        <p:txBody>
          <a:bodyPr wrap="square" lIns="0" tIns="0" rIns="0" bIns="0" rtlCol="0" anchor="t"/>
          <a:lstStyle/>
          <a:p>
            <a:pPr indent="0" marL="0">
              <a:buNone/>
            </a:pPr>
            <a:r>
              <a:rPr lang="en-US" sz="1600" b="1" dirty="0">
                <a:solidFill>
                  <a:srgbClr val="1E2761"/>
                </a:solidFill>
                <a:latin typeface="Calibri" pitchFamily="34" charset="0"/>
                <a:ea typeface="Calibri" pitchFamily="34" charset="-122"/>
                <a:cs typeface="Calibri" pitchFamily="34" charset="-120"/>
              </a:rPr>
              <a:t>Zeit: </a:t>
            </a:r>
            <a:pPr indent="0" marL="0">
              <a:buNone/>
            </a:pPr>
            <a:r>
              <a:rPr lang="en-US" sz="1600" dirty="0">
                <a:solidFill>
                  <a:srgbClr val="1E2761"/>
                </a:solidFill>
                <a:latin typeface="Calibri" pitchFamily="34" charset="0"/>
                <a:ea typeface="Calibri" pitchFamily="34" charset="-122"/>
                <a:cs typeface="Calibri" pitchFamily="34" charset="-120"/>
              </a:rPr>
              <a:t>6 Minuten · alle gemeinsam, dann allein</a:t>
            </a:r>
            <a:endParaRPr lang="en-US" sz="16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8229600" cy="274320"/>
          </a:xfrm>
          <a:prstGeom prst="rect">
            <a:avLst/>
          </a:prstGeom>
          <a:noFill/>
          <a:ln/>
        </p:spPr>
        <p:txBody>
          <a:bodyPr wrap="square" lIns="0" tIns="0" rIns="0" bIns="0" rtlCol="0" anchor="t"/>
          <a:lstStyle/>
          <a:p>
            <a:pPr indent="0" marL="0">
              <a:buNone/>
            </a:pPr>
            <a:r>
              <a:rPr lang="en-US" sz="1200" spc="200" kern="0" dirty="0">
                <a:solidFill>
                  <a:srgbClr val="5B6B8C"/>
                </a:solidFill>
                <a:latin typeface="Calibri" pitchFamily="34" charset="0"/>
                <a:ea typeface="Calibri" pitchFamily="34" charset="-122"/>
                <a:cs typeface="Calibri" pitchFamily="34" charset="-120"/>
              </a:rPr>
              <a:t>VERARBEITEN · Ü1 B</a:t>
            </a:r>
            <a:endParaRPr lang="en-US" sz="1200" dirty="0"/>
          </a:p>
        </p:txBody>
      </p:sp>
      <p:sp>
        <p:nvSpPr>
          <p:cNvPr id="3" name="Text 1"/>
          <p:cNvSpPr txBox="1"/>
          <p:nvPr/>
        </p:nvSpPr>
        <p:spPr>
          <a:xfrm>
            <a:off x="548640" y="658368"/>
            <a:ext cx="11064240" cy="640080"/>
          </a:xfrm>
          <a:prstGeom prst="rect">
            <a:avLst/>
          </a:prstGeom>
          <a:noFill/>
          <a:ln/>
        </p:spPr>
        <p:txBody>
          <a:bodyPr wrap="square" lIns="0" tIns="0" rIns="0" bIns="0" rtlCol="0" anchor="t"/>
          <a:lstStyle/>
          <a:p>
            <a:pPr indent="0" marL="0">
              <a:buNone/>
            </a:pPr>
            <a:r>
              <a:rPr lang="en-US" sz="3200" b="1" dirty="0">
                <a:solidFill>
                  <a:srgbClr val="1E2761"/>
                </a:solidFill>
                <a:latin typeface="Cambria" pitchFamily="34" charset="0"/>
                <a:ea typeface="Cambria" pitchFamily="34" charset="-122"/>
                <a:cs typeface="Cambria" pitchFamily="34" charset="-120"/>
              </a:rPr>
              <a:t>Ü1 b) Orientierend lesen</a:t>
            </a:r>
            <a:endParaRPr lang="en-US" sz="3200" dirty="0"/>
          </a:p>
        </p:txBody>
      </p:sp>
      <p:sp>
        <p:nvSpPr>
          <p:cNvPr id="4" name="Text 2"/>
          <p:cNvSpPr txBox="1"/>
          <p:nvPr/>
        </p:nvSpPr>
        <p:spPr>
          <a:xfrm>
            <a:off x="548640" y="6400800"/>
            <a:ext cx="6400800" cy="228600"/>
          </a:xfrm>
          <a:prstGeom prst="rect">
            <a:avLst/>
          </a:prstGeom>
          <a:noFill/>
          <a:ln/>
        </p:spPr>
        <p:txBody>
          <a:bodyPr wrap="square" lIns="0" tIns="0" rIns="0" bIns="0" rtlCol="0" anchor="t"/>
          <a:lstStyle/>
          <a:p>
            <a:pPr indent="0" marL="0">
              <a:buNone/>
            </a:pPr>
            <a:r>
              <a:rPr lang="en-US" sz="1000" dirty="0">
                <a:solidFill>
                  <a:srgbClr val="5B6B8C"/>
                </a:solidFill>
                <a:latin typeface="Calibri" pitchFamily="34" charset="0"/>
                <a:ea typeface="Calibri" pitchFamily="34" charset="-122"/>
                <a:cs typeface="Calibri" pitchFamily="34" charset="-120"/>
              </a:rPr>
              <a:t>Teil 3 · Paddy Fingal – Lesetechniken · Deutsch 7A</a:t>
            </a:r>
            <a:endParaRPr lang="en-US" sz="1000" dirty="0"/>
          </a:p>
        </p:txBody>
      </p:sp>
      <p:sp>
        <p:nvSpPr>
          <p:cNvPr id="5" name="Text 3"/>
          <p:cNvSpPr txBox="1"/>
          <p:nvPr/>
        </p:nvSpPr>
        <p:spPr>
          <a:xfrm>
            <a:off x="11155680" y="6400800"/>
            <a:ext cx="457200" cy="228600"/>
          </a:xfrm>
          <a:prstGeom prst="rect">
            <a:avLst/>
          </a:prstGeom>
          <a:noFill/>
          <a:ln/>
        </p:spPr>
        <p:txBody>
          <a:bodyPr wrap="square" lIns="0" tIns="0" rIns="0" bIns="0" rtlCol="0" anchor="t"/>
          <a:lstStyle/>
          <a:p>
            <a:pPr algn="r" indent="0" marL="0">
              <a:buNone/>
            </a:pPr>
            <a:r>
              <a:rPr lang="en-US" sz="1000" dirty="0">
                <a:solidFill>
                  <a:srgbClr val="5B6B8C"/>
                </a:solidFill>
                <a:latin typeface="Calibri" pitchFamily="34" charset="0"/>
                <a:ea typeface="Calibri" pitchFamily="34" charset="-122"/>
                <a:cs typeface="Calibri" pitchFamily="34" charset="-120"/>
              </a:rPr>
              <a:t>24</a:t>
            </a:r>
            <a:endParaRPr lang="en-US" sz="1000" dirty="0"/>
          </a:p>
        </p:txBody>
      </p:sp>
      <p:sp>
        <p:nvSpPr>
          <p:cNvPr id="7" name="Shape 4"/>
          <p:cNvSpPr/>
          <p:nvPr/>
        </p:nvSpPr>
        <p:spPr>
          <a:xfrm>
            <a:off x="548640" y="1600200"/>
            <a:ext cx="457200" cy="457200"/>
          </a:xfrm>
          <a:prstGeom prst="ellipse">
            <a:avLst/>
          </a:prstGeom>
          <a:solidFill>
            <a:srgbClr val="1E2761"/>
          </a:solidFill>
          <a:ln/>
        </p:spPr>
      </p:sp>
      <p:sp>
        <p:nvSpPr>
          <p:cNvPr id="8" name="Text 5"/>
          <p:cNvSpPr txBox="1"/>
          <p:nvPr/>
        </p:nvSpPr>
        <p:spPr>
          <a:xfrm>
            <a:off x="548640" y="1600200"/>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1</a:t>
            </a:r>
            <a:endParaRPr lang="en-US" sz="1600" dirty="0"/>
          </a:p>
        </p:txBody>
      </p:sp>
      <p:sp>
        <p:nvSpPr>
          <p:cNvPr id="9" name="Text 6"/>
          <p:cNvSpPr txBox="1"/>
          <p:nvPr/>
        </p:nvSpPr>
        <p:spPr>
          <a:xfrm>
            <a:off x="1188720" y="1636776"/>
            <a:ext cx="10332720" cy="640080"/>
          </a:xfrm>
          <a:prstGeom prst="rect">
            <a:avLst/>
          </a:prstGeom>
          <a:noFill/>
          <a:ln/>
        </p:spPr>
        <p:txBody>
          <a:bodyPr wrap="square" lIns="0" tIns="0" rIns="0" bIns="0" rtlCol="0" anchor="t"/>
          <a:lstStyle/>
          <a:p>
            <a:pPr indent="0" marL="0">
              <a:buNone/>
            </a:pPr>
            <a:r>
              <a:rPr lang="en-US" sz="2100" b="1" dirty="0">
                <a:solidFill>
                  <a:srgbClr val="1E2761"/>
                </a:solidFill>
                <a:latin typeface="Calibri" pitchFamily="34" charset="0"/>
                <a:ea typeface="Calibri" pitchFamily="34" charset="-122"/>
                <a:cs typeface="Calibri" pitchFamily="34" charset="-120"/>
              </a:rPr>
              <a:t>Suche nur die Antworten – lies nicht alles!</a:t>
            </a:r>
            <a:endParaRPr lang="en-US" sz="2100" dirty="0"/>
          </a:p>
        </p:txBody>
      </p:sp>
      <p:sp>
        <p:nvSpPr>
          <p:cNvPr id="10" name="Shape 7"/>
          <p:cNvSpPr/>
          <p:nvPr/>
        </p:nvSpPr>
        <p:spPr>
          <a:xfrm>
            <a:off x="548640" y="2331720"/>
            <a:ext cx="457200" cy="457200"/>
          </a:xfrm>
          <a:prstGeom prst="ellipse">
            <a:avLst/>
          </a:prstGeom>
          <a:solidFill>
            <a:srgbClr val="1E2761"/>
          </a:solidFill>
          <a:ln/>
        </p:spPr>
      </p:sp>
      <p:sp>
        <p:nvSpPr>
          <p:cNvPr id="11" name="Text 8"/>
          <p:cNvSpPr txBox="1"/>
          <p:nvPr/>
        </p:nvSpPr>
        <p:spPr>
          <a:xfrm>
            <a:off x="548640" y="2331720"/>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2</a:t>
            </a:r>
            <a:endParaRPr lang="en-US" sz="1600" dirty="0"/>
          </a:p>
        </p:txBody>
      </p:sp>
      <p:sp>
        <p:nvSpPr>
          <p:cNvPr id="12" name="Text 9"/>
          <p:cNvSpPr txBox="1"/>
          <p:nvPr/>
        </p:nvSpPr>
        <p:spPr>
          <a:xfrm>
            <a:off x="1188720" y="2368296"/>
            <a:ext cx="10332720" cy="640080"/>
          </a:xfrm>
          <a:prstGeom prst="rect">
            <a:avLst/>
          </a:prstGeom>
          <a:noFill/>
          <a:ln/>
        </p:spPr>
        <p:txBody>
          <a:bodyPr wrap="square" lIns="0" tIns="0" rIns="0" bIns="0" rtlCol="0" anchor="t"/>
          <a:lstStyle/>
          <a:p>
            <a:pPr indent="0" marL="0">
              <a:buNone/>
            </a:pPr>
            <a:r>
              <a:rPr lang="en-US" sz="2100" b="1" dirty="0">
                <a:solidFill>
                  <a:srgbClr val="1E2761"/>
                </a:solidFill>
                <a:latin typeface="Calibri" pitchFamily="34" charset="0"/>
                <a:ea typeface="Calibri" pitchFamily="34" charset="-122"/>
                <a:cs typeface="Calibri" pitchFamily="34" charset="-120"/>
              </a:rPr>
              <a:t>Schreibe b) ins Heft. Notiere die Antwort und die Strophe.</a:t>
            </a:r>
            <a:endParaRPr lang="en-US" sz="2100" dirty="0"/>
          </a:p>
        </p:txBody>
      </p:sp>
      <p:sp>
        <p:nvSpPr>
          <p:cNvPr id="13" name="Text 10"/>
          <p:cNvSpPr txBox="1"/>
          <p:nvPr/>
        </p:nvSpPr>
        <p:spPr>
          <a:xfrm>
            <a:off x="1188720" y="3154680"/>
            <a:ext cx="10332720" cy="457200"/>
          </a:xfrm>
          <a:prstGeom prst="rect">
            <a:avLst/>
          </a:prstGeom>
          <a:noFill/>
          <a:ln/>
        </p:spPr>
        <p:txBody>
          <a:bodyPr wrap="square" lIns="0" tIns="0" rIns="0" bIns="0" rtlCol="0" anchor="t"/>
          <a:lstStyle/>
          <a:p>
            <a:pPr indent="0" marL="0">
              <a:buNone/>
            </a:pPr>
            <a:r>
              <a:rPr lang="en-US" sz="1900" b="1" dirty="0">
                <a:solidFill>
                  <a:srgbClr val="E8A33D"/>
                </a:solidFill>
                <a:latin typeface="Calibri" pitchFamily="34" charset="0"/>
                <a:ea typeface="Calibri" pitchFamily="34" charset="-122"/>
                <a:cs typeface="Calibri" pitchFamily="34" charset="-120"/>
              </a:rPr>
              <a:t>1  </a:t>
            </a:r>
            <a:pPr indent="0" marL="0">
              <a:buNone/>
            </a:pPr>
            <a:r>
              <a:rPr lang="en-US" sz="1900" dirty="0">
                <a:solidFill>
                  <a:srgbClr val="1E2761"/>
                </a:solidFill>
                <a:latin typeface="Calibri" pitchFamily="34" charset="0"/>
                <a:ea typeface="Calibri" pitchFamily="34" charset="-122"/>
                <a:cs typeface="Calibri" pitchFamily="34" charset="-120"/>
              </a:rPr>
              <a:t>Wie lang ist Paddys Bart?</a:t>
            </a:r>
            <a:endParaRPr lang="en-US" sz="1900" dirty="0"/>
          </a:p>
        </p:txBody>
      </p:sp>
      <p:sp>
        <p:nvSpPr>
          <p:cNvPr id="14" name="Text 11"/>
          <p:cNvSpPr txBox="1"/>
          <p:nvPr/>
        </p:nvSpPr>
        <p:spPr>
          <a:xfrm>
            <a:off x="1188720" y="3657600"/>
            <a:ext cx="10332720" cy="457200"/>
          </a:xfrm>
          <a:prstGeom prst="rect">
            <a:avLst/>
          </a:prstGeom>
          <a:noFill/>
          <a:ln/>
        </p:spPr>
        <p:txBody>
          <a:bodyPr wrap="square" lIns="0" tIns="0" rIns="0" bIns="0" rtlCol="0" anchor="t"/>
          <a:lstStyle/>
          <a:p>
            <a:pPr indent="0" marL="0">
              <a:buNone/>
            </a:pPr>
            <a:r>
              <a:rPr lang="en-US" sz="1900" b="1" dirty="0">
                <a:solidFill>
                  <a:srgbClr val="E8A33D"/>
                </a:solidFill>
                <a:latin typeface="Calibri" pitchFamily="34" charset="0"/>
                <a:ea typeface="Calibri" pitchFamily="34" charset="-122"/>
                <a:cs typeface="Calibri" pitchFamily="34" charset="-120"/>
              </a:rPr>
              <a:t>2  </a:t>
            </a:r>
            <a:pPr indent="0" marL="0">
              <a:buNone/>
            </a:pPr>
            <a:r>
              <a:rPr lang="en-US" sz="1900" dirty="0">
                <a:solidFill>
                  <a:srgbClr val="1E2761"/>
                </a:solidFill>
                <a:latin typeface="Calibri" pitchFamily="34" charset="0"/>
                <a:ea typeface="Calibri" pitchFamily="34" charset="-122"/>
                <a:cs typeface="Calibri" pitchFamily="34" charset="-120"/>
              </a:rPr>
              <a:t>Woher kommt der Fremde?</a:t>
            </a:r>
            <a:endParaRPr lang="en-US" sz="1900" dirty="0"/>
          </a:p>
        </p:txBody>
      </p:sp>
      <p:sp>
        <p:nvSpPr>
          <p:cNvPr id="15" name="Text 12"/>
          <p:cNvSpPr txBox="1"/>
          <p:nvPr/>
        </p:nvSpPr>
        <p:spPr>
          <a:xfrm>
            <a:off x="1188720" y="4160520"/>
            <a:ext cx="10332720" cy="457200"/>
          </a:xfrm>
          <a:prstGeom prst="rect">
            <a:avLst/>
          </a:prstGeom>
          <a:noFill/>
          <a:ln/>
        </p:spPr>
        <p:txBody>
          <a:bodyPr wrap="square" lIns="0" tIns="0" rIns="0" bIns="0" rtlCol="0" anchor="t"/>
          <a:lstStyle/>
          <a:p>
            <a:pPr indent="0" marL="0">
              <a:buNone/>
            </a:pPr>
            <a:r>
              <a:rPr lang="en-US" sz="1900" b="1" dirty="0">
                <a:solidFill>
                  <a:srgbClr val="E8A33D"/>
                </a:solidFill>
                <a:latin typeface="Calibri" pitchFamily="34" charset="0"/>
                <a:ea typeface="Calibri" pitchFamily="34" charset="-122"/>
                <a:cs typeface="Calibri" pitchFamily="34" charset="-120"/>
              </a:rPr>
              <a:t>3  </a:t>
            </a:r>
            <a:pPr indent="0" marL="0">
              <a:buNone/>
            </a:pPr>
            <a:r>
              <a:rPr lang="en-US" sz="1900" dirty="0">
                <a:solidFill>
                  <a:srgbClr val="1E2761"/>
                </a:solidFill>
                <a:latin typeface="Calibri" pitchFamily="34" charset="0"/>
                <a:ea typeface="Calibri" pitchFamily="34" charset="-122"/>
                <a:cs typeface="Calibri" pitchFamily="34" charset="-120"/>
              </a:rPr>
              <a:t>Wie heißt Paddys Frau?</a:t>
            </a:r>
            <a:endParaRPr lang="en-US" sz="1900" dirty="0"/>
          </a:p>
        </p:txBody>
      </p:sp>
      <p:sp>
        <p:nvSpPr>
          <p:cNvPr id="16" name="Text 13"/>
          <p:cNvSpPr txBox="1"/>
          <p:nvPr/>
        </p:nvSpPr>
        <p:spPr>
          <a:xfrm>
            <a:off x="1188720" y="4663440"/>
            <a:ext cx="10332720" cy="457200"/>
          </a:xfrm>
          <a:prstGeom prst="rect">
            <a:avLst/>
          </a:prstGeom>
          <a:noFill/>
          <a:ln/>
        </p:spPr>
        <p:txBody>
          <a:bodyPr wrap="square" lIns="0" tIns="0" rIns="0" bIns="0" rtlCol="0" anchor="t"/>
          <a:lstStyle/>
          <a:p>
            <a:pPr indent="0" marL="0">
              <a:buNone/>
            </a:pPr>
            <a:r>
              <a:rPr lang="en-US" sz="1900" b="1" dirty="0">
                <a:solidFill>
                  <a:srgbClr val="E8A33D"/>
                </a:solidFill>
                <a:latin typeface="Calibri" pitchFamily="34" charset="0"/>
                <a:ea typeface="Calibri" pitchFamily="34" charset="-122"/>
                <a:cs typeface="Calibri" pitchFamily="34" charset="-120"/>
              </a:rPr>
              <a:t>4  </a:t>
            </a:r>
            <a:pPr indent="0" marL="0">
              <a:buNone/>
            </a:pPr>
            <a:r>
              <a:rPr lang="en-US" sz="1900" dirty="0">
                <a:solidFill>
                  <a:srgbClr val="1E2761"/>
                </a:solidFill>
                <a:latin typeface="Calibri" pitchFamily="34" charset="0"/>
                <a:ea typeface="Calibri" pitchFamily="34" charset="-122"/>
                <a:cs typeface="Calibri" pitchFamily="34" charset="-120"/>
              </a:rPr>
              <a:t>Was guckt aus dem Bett heraus?</a:t>
            </a:r>
            <a:endParaRPr lang="en-US" sz="1900" dirty="0"/>
          </a:p>
        </p:txBody>
      </p:sp>
      <p:sp>
        <p:nvSpPr>
          <p:cNvPr id="17" name="Text 14"/>
          <p:cNvSpPr txBox="1"/>
          <p:nvPr/>
        </p:nvSpPr>
        <p:spPr>
          <a:xfrm>
            <a:off x="1188720" y="5166360"/>
            <a:ext cx="10332720" cy="457200"/>
          </a:xfrm>
          <a:prstGeom prst="rect">
            <a:avLst/>
          </a:prstGeom>
          <a:noFill/>
          <a:ln/>
        </p:spPr>
        <p:txBody>
          <a:bodyPr wrap="square" lIns="0" tIns="0" rIns="0" bIns="0" rtlCol="0" anchor="t"/>
          <a:lstStyle/>
          <a:p>
            <a:pPr indent="0" marL="0">
              <a:buNone/>
            </a:pPr>
            <a:r>
              <a:rPr lang="en-US" sz="1900" b="1" dirty="0">
                <a:solidFill>
                  <a:srgbClr val="E8A33D"/>
                </a:solidFill>
                <a:latin typeface="Calibri" pitchFamily="34" charset="0"/>
                <a:ea typeface="Calibri" pitchFamily="34" charset="-122"/>
                <a:cs typeface="Calibri" pitchFamily="34" charset="-120"/>
              </a:rPr>
              <a:t>5  </a:t>
            </a:r>
            <a:pPr indent="0" marL="0">
              <a:buNone/>
            </a:pPr>
            <a:r>
              <a:rPr lang="en-US" sz="1900" dirty="0">
                <a:solidFill>
                  <a:srgbClr val="1E2761"/>
                </a:solidFill>
                <a:latin typeface="Calibri" pitchFamily="34" charset="0"/>
                <a:ea typeface="Calibri" pitchFamily="34" charset="-122"/>
                <a:cs typeface="Calibri" pitchFamily="34" charset="-120"/>
              </a:rPr>
              <a:t>* Was ist eine Furt? (Tipp: Worterklärungen)</a:t>
            </a:r>
            <a:endParaRPr lang="en-US" sz="1900" dirty="0"/>
          </a:p>
        </p:txBody>
      </p:sp>
      <p:sp>
        <p:nvSpPr>
          <p:cNvPr id="18" name="Shape 15"/>
          <p:cNvSpPr/>
          <p:nvPr/>
        </p:nvSpPr>
        <p:spPr>
          <a:xfrm>
            <a:off x="548640" y="5715000"/>
            <a:ext cx="11064240" cy="502920"/>
          </a:xfrm>
          <a:prstGeom prst="roundRect">
            <a:avLst>
              <a:gd name="adj" fmla="val 14545"/>
            </a:avLst>
          </a:prstGeom>
          <a:solidFill>
            <a:srgbClr val="EAF0FA"/>
          </a:solidFill>
          <a:ln/>
        </p:spPr>
      </p:sp>
      <p:sp>
        <p:nvSpPr>
          <p:cNvPr id="19" name="Text 16"/>
          <p:cNvSpPr txBox="1"/>
          <p:nvPr/>
        </p:nvSpPr>
        <p:spPr>
          <a:xfrm>
            <a:off x="777240" y="5788152"/>
            <a:ext cx="10698480" cy="365760"/>
          </a:xfrm>
          <a:prstGeom prst="rect">
            <a:avLst/>
          </a:prstGeom>
          <a:noFill/>
          <a:ln/>
        </p:spPr>
        <p:txBody>
          <a:bodyPr wrap="square" lIns="0" tIns="0" rIns="0" bIns="0" rtlCol="0" anchor="t"/>
          <a:lstStyle/>
          <a:p>
            <a:pPr indent="0" marL="0">
              <a:buNone/>
            </a:pPr>
            <a:r>
              <a:rPr lang="en-US" sz="1600" b="1" dirty="0">
                <a:solidFill>
                  <a:srgbClr val="1E2761"/>
                </a:solidFill>
                <a:latin typeface="Calibri" pitchFamily="34" charset="0"/>
                <a:ea typeface="Calibri" pitchFamily="34" charset="-122"/>
                <a:cs typeface="Calibri" pitchFamily="34" charset="-120"/>
              </a:rPr>
              <a:t>Zeit: </a:t>
            </a:r>
            <a:pPr indent="0" marL="0">
              <a:buNone/>
            </a:pPr>
            <a:r>
              <a:rPr lang="en-US" sz="1600" dirty="0">
                <a:solidFill>
                  <a:srgbClr val="1E2761"/>
                </a:solidFill>
                <a:latin typeface="Calibri" pitchFamily="34" charset="0"/>
                <a:ea typeface="Calibri" pitchFamily="34" charset="-122"/>
                <a:cs typeface="Calibri" pitchFamily="34" charset="-120"/>
              </a:rPr>
              <a:t>6 Minuten · allein · leise · Wer fertig ist, macht Frage 5*      </a:t>
            </a:r>
            <a:pPr indent="0" marL="0">
              <a:buNone/>
            </a:pPr>
            <a:r>
              <a:rPr lang="en-US" sz="1600" i="1" dirty="0">
                <a:solidFill>
                  <a:srgbClr val="5B6B8C"/>
                </a:solidFill>
                <a:latin typeface="Calibri" pitchFamily="34" charset="0"/>
                <a:ea typeface="Calibri" pitchFamily="34" charset="-122"/>
                <a:cs typeface="Calibri" pitchFamily="34" charset="-120"/>
              </a:rPr>
              <a:t>Fertig? Stift hinlegen.</a:t>
            </a:r>
            <a:endParaRPr lang="en-US" sz="16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8229600" cy="274320"/>
          </a:xfrm>
          <a:prstGeom prst="rect">
            <a:avLst/>
          </a:prstGeom>
          <a:noFill/>
          <a:ln/>
        </p:spPr>
        <p:txBody>
          <a:bodyPr wrap="square" lIns="0" tIns="0" rIns="0" bIns="0" rtlCol="0" anchor="t"/>
          <a:lstStyle/>
          <a:p>
            <a:pPr indent="0" marL="0">
              <a:buNone/>
            </a:pPr>
            <a:r>
              <a:rPr lang="en-US" sz="1200" spc="200" kern="0" dirty="0">
                <a:solidFill>
                  <a:srgbClr val="5B6B8C"/>
                </a:solidFill>
                <a:latin typeface="Calibri" pitchFamily="34" charset="0"/>
                <a:ea typeface="Calibri" pitchFamily="34" charset="-122"/>
                <a:cs typeface="Calibri" pitchFamily="34" charset="-120"/>
              </a:rPr>
              <a:t>VERARBEITEN · Ü1 C</a:t>
            </a:r>
            <a:endParaRPr lang="en-US" sz="1200" dirty="0"/>
          </a:p>
        </p:txBody>
      </p:sp>
      <p:sp>
        <p:nvSpPr>
          <p:cNvPr id="3" name="Text 1"/>
          <p:cNvSpPr txBox="1"/>
          <p:nvPr/>
        </p:nvSpPr>
        <p:spPr>
          <a:xfrm>
            <a:off x="548640" y="658368"/>
            <a:ext cx="11064240" cy="640080"/>
          </a:xfrm>
          <a:prstGeom prst="rect">
            <a:avLst/>
          </a:prstGeom>
          <a:noFill/>
          <a:ln/>
        </p:spPr>
        <p:txBody>
          <a:bodyPr wrap="square" lIns="0" tIns="0" rIns="0" bIns="0" rtlCol="0" anchor="t"/>
          <a:lstStyle/>
          <a:p>
            <a:pPr indent="0" marL="0">
              <a:buNone/>
            </a:pPr>
            <a:r>
              <a:rPr lang="en-US" sz="3200" b="1" dirty="0">
                <a:solidFill>
                  <a:srgbClr val="1E2761"/>
                </a:solidFill>
                <a:latin typeface="Cambria" pitchFamily="34" charset="0"/>
                <a:ea typeface="Cambria" pitchFamily="34" charset="-122"/>
                <a:cs typeface="Cambria" pitchFamily="34" charset="-120"/>
              </a:rPr>
              <a:t>Ü1 c) Genau lesen</a:t>
            </a:r>
            <a:endParaRPr lang="en-US" sz="3200" dirty="0"/>
          </a:p>
        </p:txBody>
      </p:sp>
      <p:sp>
        <p:nvSpPr>
          <p:cNvPr id="4" name="Text 2"/>
          <p:cNvSpPr txBox="1"/>
          <p:nvPr/>
        </p:nvSpPr>
        <p:spPr>
          <a:xfrm>
            <a:off x="548640" y="6400800"/>
            <a:ext cx="6400800" cy="228600"/>
          </a:xfrm>
          <a:prstGeom prst="rect">
            <a:avLst/>
          </a:prstGeom>
          <a:noFill/>
          <a:ln/>
        </p:spPr>
        <p:txBody>
          <a:bodyPr wrap="square" lIns="0" tIns="0" rIns="0" bIns="0" rtlCol="0" anchor="t"/>
          <a:lstStyle/>
          <a:p>
            <a:pPr indent="0" marL="0">
              <a:buNone/>
            </a:pPr>
            <a:r>
              <a:rPr lang="en-US" sz="1000" dirty="0">
                <a:solidFill>
                  <a:srgbClr val="5B6B8C"/>
                </a:solidFill>
                <a:latin typeface="Calibri" pitchFamily="34" charset="0"/>
                <a:ea typeface="Calibri" pitchFamily="34" charset="-122"/>
                <a:cs typeface="Calibri" pitchFamily="34" charset="-120"/>
              </a:rPr>
              <a:t>Teil 3 · Paddy Fingal – Lesetechniken · Deutsch 7A</a:t>
            </a:r>
            <a:endParaRPr lang="en-US" sz="1000" dirty="0"/>
          </a:p>
        </p:txBody>
      </p:sp>
      <p:sp>
        <p:nvSpPr>
          <p:cNvPr id="5" name="Text 3"/>
          <p:cNvSpPr txBox="1"/>
          <p:nvPr/>
        </p:nvSpPr>
        <p:spPr>
          <a:xfrm>
            <a:off x="11155680" y="6400800"/>
            <a:ext cx="457200" cy="228600"/>
          </a:xfrm>
          <a:prstGeom prst="rect">
            <a:avLst/>
          </a:prstGeom>
          <a:noFill/>
          <a:ln/>
        </p:spPr>
        <p:txBody>
          <a:bodyPr wrap="square" lIns="0" tIns="0" rIns="0" bIns="0" rtlCol="0" anchor="t"/>
          <a:lstStyle/>
          <a:p>
            <a:pPr algn="r" indent="0" marL="0">
              <a:buNone/>
            </a:pPr>
            <a:r>
              <a:rPr lang="en-US" sz="1000" dirty="0">
                <a:solidFill>
                  <a:srgbClr val="5B6B8C"/>
                </a:solidFill>
                <a:latin typeface="Calibri" pitchFamily="34" charset="0"/>
                <a:ea typeface="Calibri" pitchFamily="34" charset="-122"/>
                <a:cs typeface="Calibri" pitchFamily="34" charset="-120"/>
              </a:rPr>
              <a:t>25</a:t>
            </a:r>
            <a:endParaRPr lang="en-US" sz="1000" dirty="0"/>
          </a:p>
        </p:txBody>
      </p:sp>
      <p:sp>
        <p:nvSpPr>
          <p:cNvPr id="7" name="Shape 4"/>
          <p:cNvSpPr/>
          <p:nvPr/>
        </p:nvSpPr>
        <p:spPr>
          <a:xfrm>
            <a:off x="548640" y="1600200"/>
            <a:ext cx="457200" cy="457200"/>
          </a:xfrm>
          <a:prstGeom prst="ellipse">
            <a:avLst/>
          </a:prstGeom>
          <a:solidFill>
            <a:srgbClr val="1E2761"/>
          </a:solidFill>
          <a:ln/>
        </p:spPr>
      </p:sp>
      <p:sp>
        <p:nvSpPr>
          <p:cNvPr id="8" name="Text 5"/>
          <p:cNvSpPr txBox="1"/>
          <p:nvPr/>
        </p:nvSpPr>
        <p:spPr>
          <a:xfrm>
            <a:off x="548640" y="1600200"/>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1</a:t>
            </a:r>
            <a:endParaRPr lang="en-US" sz="1600" dirty="0"/>
          </a:p>
        </p:txBody>
      </p:sp>
      <p:sp>
        <p:nvSpPr>
          <p:cNvPr id="9" name="Text 6"/>
          <p:cNvSpPr txBox="1"/>
          <p:nvPr/>
        </p:nvSpPr>
        <p:spPr>
          <a:xfrm>
            <a:off x="1188720" y="1636776"/>
            <a:ext cx="10332720" cy="640080"/>
          </a:xfrm>
          <a:prstGeom prst="rect">
            <a:avLst/>
          </a:prstGeom>
          <a:noFill/>
          <a:ln/>
        </p:spPr>
        <p:txBody>
          <a:bodyPr wrap="square" lIns="0" tIns="0" rIns="0" bIns="0" rtlCol="0" anchor="t"/>
          <a:lstStyle/>
          <a:p>
            <a:pPr indent="0" marL="0">
              <a:buNone/>
            </a:pPr>
            <a:r>
              <a:rPr lang="en-US" sz="2100" b="1" dirty="0">
                <a:solidFill>
                  <a:srgbClr val="1E2761"/>
                </a:solidFill>
                <a:latin typeface="Calibri" pitchFamily="34" charset="0"/>
                <a:ea typeface="Calibri" pitchFamily="34" charset="-122"/>
                <a:cs typeface="Calibri" pitchFamily="34" charset="-120"/>
              </a:rPr>
              <a:t>Schreibe c) ins Heft. Lies Strophe 7 bis 9 Satz für Satz.</a:t>
            </a:r>
            <a:endParaRPr lang="en-US" sz="2100" dirty="0"/>
          </a:p>
        </p:txBody>
      </p:sp>
      <p:sp>
        <p:nvSpPr>
          <p:cNvPr id="10" name="Shape 7"/>
          <p:cNvSpPr/>
          <p:nvPr/>
        </p:nvSpPr>
        <p:spPr>
          <a:xfrm>
            <a:off x="548640" y="2331720"/>
            <a:ext cx="457200" cy="457200"/>
          </a:xfrm>
          <a:prstGeom prst="ellipse">
            <a:avLst/>
          </a:prstGeom>
          <a:solidFill>
            <a:srgbClr val="1E2761"/>
          </a:solidFill>
          <a:ln/>
        </p:spPr>
      </p:sp>
      <p:sp>
        <p:nvSpPr>
          <p:cNvPr id="11" name="Text 8"/>
          <p:cNvSpPr txBox="1"/>
          <p:nvPr/>
        </p:nvSpPr>
        <p:spPr>
          <a:xfrm>
            <a:off x="548640" y="2331720"/>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2</a:t>
            </a:r>
            <a:endParaRPr lang="en-US" sz="1600" dirty="0"/>
          </a:p>
        </p:txBody>
      </p:sp>
      <p:sp>
        <p:nvSpPr>
          <p:cNvPr id="12" name="Text 9"/>
          <p:cNvSpPr txBox="1"/>
          <p:nvPr/>
        </p:nvSpPr>
        <p:spPr>
          <a:xfrm>
            <a:off x="1188720" y="2368296"/>
            <a:ext cx="10332720" cy="640080"/>
          </a:xfrm>
          <a:prstGeom prst="rect">
            <a:avLst/>
          </a:prstGeom>
          <a:noFill/>
          <a:ln/>
        </p:spPr>
        <p:txBody>
          <a:bodyPr wrap="square" lIns="0" tIns="0" rIns="0" bIns="0" rtlCol="0" anchor="t"/>
          <a:lstStyle/>
          <a:p>
            <a:pPr indent="0" marL="0">
              <a:buNone/>
            </a:pPr>
            <a:r>
              <a:rPr lang="en-US" sz="2100" b="1" dirty="0">
                <a:solidFill>
                  <a:srgbClr val="1E2761"/>
                </a:solidFill>
                <a:latin typeface="Calibri" pitchFamily="34" charset="0"/>
                <a:ea typeface="Calibri" pitchFamily="34" charset="-122"/>
                <a:cs typeface="Calibri" pitchFamily="34" charset="-120"/>
              </a:rPr>
              <a:t>Notiere zu jeder Strophe einen Stichpunkt.</a:t>
            </a:r>
            <a:endParaRPr lang="en-US" sz="2100" dirty="0"/>
          </a:p>
        </p:txBody>
      </p:sp>
      <p:sp>
        <p:nvSpPr>
          <p:cNvPr id="13" name="Shape 10"/>
          <p:cNvSpPr/>
          <p:nvPr/>
        </p:nvSpPr>
        <p:spPr>
          <a:xfrm>
            <a:off x="548640" y="3063240"/>
            <a:ext cx="457200" cy="457200"/>
          </a:xfrm>
          <a:prstGeom prst="ellipse">
            <a:avLst/>
          </a:prstGeom>
          <a:solidFill>
            <a:srgbClr val="1E2761"/>
          </a:solidFill>
          <a:ln/>
        </p:spPr>
      </p:sp>
      <p:sp>
        <p:nvSpPr>
          <p:cNvPr id="14" name="Text 11"/>
          <p:cNvSpPr txBox="1"/>
          <p:nvPr/>
        </p:nvSpPr>
        <p:spPr>
          <a:xfrm>
            <a:off x="548640" y="3063240"/>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3</a:t>
            </a:r>
            <a:endParaRPr lang="en-US" sz="1600" dirty="0"/>
          </a:p>
        </p:txBody>
      </p:sp>
      <p:sp>
        <p:nvSpPr>
          <p:cNvPr id="15" name="Text 12"/>
          <p:cNvSpPr txBox="1"/>
          <p:nvPr/>
        </p:nvSpPr>
        <p:spPr>
          <a:xfrm>
            <a:off x="1188720" y="3099816"/>
            <a:ext cx="10332720" cy="640080"/>
          </a:xfrm>
          <a:prstGeom prst="rect">
            <a:avLst/>
          </a:prstGeom>
          <a:noFill/>
          <a:ln/>
        </p:spPr>
        <p:txBody>
          <a:bodyPr wrap="square" lIns="0" tIns="0" rIns="0" bIns="0" rtlCol="0" anchor="t"/>
          <a:lstStyle/>
          <a:p>
            <a:pPr indent="0" marL="0">
              <a:buNone/>
            </a:pPr>
            <a:r>
              <a:rPr lang="en-US" sz="2100" b="1" dirty="0">
                <a:solidFill>
                  <a:srgbClr val="1E2761"/>
                </a:solidFill>
                <a:latin typeface="Calibri" pitchFamily="34" charset="0"/>
                <a:ea typeface="Calibri" pitchFamily="34" charset="-122"/>
                <a:cs typeface="Calibri" pitchFamily="34" charset="-120"/>
              </a:rPr>
              <a:t>Beantworte: Warum läuft der Schotte weg?</a:t>
            </a:r>
            <a:endParaRPr lang="en-US" sz="2100" dirty="0"/>
          </a:p>
        </p:txBody>
      </p:sp>
      <p:sp>
        <p:nvSpPr>
          <p:cNvPr id="16" name="Shape 13"/>
          <p:cNvSpPr/>
          <p:nvPr/>
        </p:nvSpPr>
        <p:spPr>
          <a:xfrm>
            <a:off x="548640" y="4114800"/>
            <a:ext cx="11064240" cy="914400"/>
          </a:xfrm>
          <a:prstGeom prst="roundRect">
            <a:avLst>
              <a:gd name="adj" fmla="val 8000"/>
            </a:avLst>
          </a:prstGeom>
          <a:solidFill>
            <a:srgbClr val="EAF0FA"/>
          </a:solidFill>
          <a:ln/>
        </p:spPr>
      </p:sp>
      <p:sp>
        <p:nvSpPr>
          <p:cNvPr id="17" name="Text 14"/>
          <p:cNvSpPr txBox="1"/>
          <p:nvPr/>
        </p:nvSpPr>
        <p:spPr>
          <a:xfrm>
            <a:off x="548640" y="4114800"/>
            <a:ext cx="11064240" cy="914400"/>
          </a:xfrm>
          <a:prstGeom prst="rect">
            <a:avLst/>
          </a:prstGeom>
          <a:noFill/>
          <a:ln/>
        </p:spPr>
        <p:txBody>
          <a:bodyPr wrap="square" lIns="0" tIns="0" rIns="0" bIns="0" rtlCol="0" anchor="ctr"/>
          <a:lstStyle/>
          <a:p>
            <a:pPr algn="ctr" indent="0" marL="0">
              <a:buNone/>
            </a:pPr>
            <a:r>
              <a:rPr lang="en-US" sz="2400" i="1" dirty="0">
                <a:solidFill>
                  <a:srgbClr val="2E9E6B"/>
                </a:solidFill>
                <a:latin typeface="Cambria" pitchFamily="34" charset="0"/>
                <a:ea typeface="Cambria" pitchFamily="34" charset="-122"/>
                <a:cs typeface="Cambria" pitchFamily="34" charset="-120"/>
              </a:rPr>
              <a:t>„Ist das ein Baby, wie Ihr sagt, – ein Narr, wer’s mit ihm selber wagt!“</a:t>
            </a:r>
            <a:endParaRPr lang="en-US" sz="2400" dirty="0"/>
          </a:p>
        </p:txBody>
      </p:sp>
      <p:sp>
        <p:nvSpPr>
          <p:cNvPr id="18" name="Shape 15"/>
          <p:cNvSpPr/>
          <p:nvPr/>
        </p:nvSpPr>
        <p:spPr>
          <a:xfrm>
            <a:off x="548640" y="5715000"/>
            <a:ext cx="11064240" cy="502920"/>
          </a:xfrm>
          <a:prstGeom prst="roundRect">
            <a:avLst>
              <a:gd name="adj" fmla="val 14545"/>
            </a:avLst>
          </a:prstGeom>
          <a:solidFill>
            <a:srgbClr val="EAF0FA"/>
          </a:solidFill>
          <a:ln/>
        </p:spPr>
      </p:sp>
      <p:sp>
        <p:nvSpPr>
          <p:cNvPr id="19" name="Text 16"/>
          <p:cNvSpPr txBox="1"/>
          <p:nvPr/>
        </p:nvSpPr>
        <p:spPr>
          <a:xfrm>
            <a:off x="777240" y="5788152"/>
            <a:ext cx="10698480" cy="365760"/>
          </a:xfrm>
          <a:prstGeom prst="rect">
            <a:avLst/>
          </a:prstGeom>
          <a:noFill/>
          <a:ln/>
        </p:spPr>
        <p:txBody>
          <a:bodyPr wrap="square" lIns="0" tIns="0" rIns="0" bIns="0" rtlCol="0" anchor="t"/>
          <a:lstStyle/>
          <a:p>
            <a:pPr indent="0" marL="0">
              <a:buNone/>
            </a:pPr>
            <a:r>
              <a:rPr lang="en-US" sz="1600" b="1" dirty="0">
                <a:solidFill>
                  <a:srgbClr val="1E2761"/>
                </a:solidFill>
                <a:latin typeface="Calibri" pitchFamily="34" charset="0"/>
                <a:ea typeface="Calibri" pitchFamily="34" charset="-122"/>
                <a:cs typeface="Calibri" pitchFamily="34" charset="-120"/>
              </a:rPr>
              <a:t>Zeit: </a:t>
            </a:r>
            <a:pPr indent="0" marL="0">
              <a:buNone/>
            </a:pPr>
            <a:r>
              <a:rPr lang="en-US" sz="1600" dirty="0">
                <a:solidFill>
                  <a:srgbClr val="1E2761"/>
                </a:solidFill>
                <a:latin typeface="Calibri" pitchFamily="34" charset="0"/>
                <a:ea typeface="Calibri" pitchFamily="34" charset="-122"/>
                <a:cs typeface="Calibri" pitchFamily="34" charset="-120"/>
              </a:rPr>
              <a:t>5 Minuten · allein · leise      </a:t>
            </a:r>
            <a:pPr indent="0" marL="0">
              <a:buNone/>
            </a:pPr>
            <a:r>
              <a:rPr lang="en-US" sz="1600" i="1" dirty="0">
                <a:solidFill>
                  <a:srgbClr val="5B6B8C"/>
                </a:solidFill>
                <a:latin typeface="Calibri" pitchFamily="34" charset="0"/>
                <a:ea typeface="Calibri" pitchFamily="34" charset="-122"/>
                <a:cs typeface="Calibri" pitchFamily="34" charset="-120"/>
              </a:rPr>
              <a:t>Fertig? Stift hinlegen.</a:t>
            </a:r>
            <a:endParaRPr lang="en-US" sz="16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8229600" cy="274320"/>
          </a:xfrm>
          <a:prstGeom prst="rect">
            <a:avLst/>
          </a:prstGeom>
          <a:noFill/>
          <a:ln/>
        </p:spPr>
        <p:txBody>
          <a:bodyPr wrap="square" lIns="0" tIns="0" rIns="0" bIns="0" rtlCol="0" anchor="t"/>
          <a:lstStyle/>
          <a:p>
            <a:pPr indent="0" marL="0">
              <a:buNone/>
            </a:pPr>
            <a:r>
              <a:rPr lang="en-US" sz="1200" spc="200" kern="0" dirty="0">
                <a:solidFill>
                  <a:srgbClr val="5B6B8C"/>
                </a:solidFill>
                <a:latin typeface="Calibri" pitchFamily="34" charset="0"/>
                <a:ea typeface="Calibri" pitchFamily="34" charset="-122"/>
                <a:cs typeface="Calibri" pitchFamily="34" charset="-120"/>
              </a:rPr>
              <a:t>VERARBEITEN · VERGLEICH</a:t>
            </a:r>
            <a:endParaRPr lang="en-US" sz="1200" dirty="0"/>
          </a:p>
        </p:txBody>
      </p:sp>
      <p:sp>
        <p:nvSpPr>
          <p:cNvPr id="3" name="Text 1"/>
          <p:cNvSpPr txBox="1"/>
          <p:nvPr/>
        </p:nvSpPr>
        <p:spPr>
          <a:xfrm>
            <a:off x="548640" y="658368"/>
            <a:ext cx="11064240" cy="640080"/>
          </a:xfrm>
          <a:prstGeom prst="rect">
            <a:avLst/>
          </a:prstGeom>
          <a:noFill/>
          <a:ln/>
        </p:spPr>
        <p:txBody>
          <a:bodyPr wrap="square" lIns="0" tIns="0" rIns="0" bIns="0" rtlCol="0" anchor="t"/>
          <a:lstStyle/>
          <a:p>
            <a:pPr indent="0" marL="0">
              <a:buNone/>
            </a:pPr>
            <a:r>
              <a:rPr lang="en-US" sz="3200" b="1" dirty="0">
                <a:solidFill>
                  <a:srgbClr val="1E2761"/>
                </a:solidFill>
                <a:latin typeface="Cambria" pitchFamily="34" charset="0"/>
                <a:ea typeface="Cambria" pitchFamily="34" charset="-122"/>
                <a:cs typeface="Cambria" pitchFamily="34" charset="-120"/>
              </a:rPr>
              <a:t>Vergleicht zu zweit</a:t>
            </a:r>
            <a:endParaRPr lang="en-US" sz="3200" dirty="0"/>
          </a:p>
        </p:txBody>
      </p:sp>
      <p:sp>
        <p:nvSpPr>
          <p:cNvPr id="4" name="Text 2"/>
          <p:cNvSpPr txBox="1"/>
          <p:nvPr/>
        </p:nvSpPr>
        <p:spPr>
          <a:xfrm>
            <a:off x="548640" y="6400800"/>
            <a:ext cx="6400800" cy="228600"/>
          </a:xfrm>
          <a:prstGeom prst="rect">
            <a:avLst/>
          </a:prstGeom>
          <a:noFill/>
          <a:ln/>
        </p:spPr>
        <p:txBody>
          <a:bodyPr wrap="square" lIns="0" tIns="0" rIns="0" bIns="0" rtlCol="0" anchor="t"/>
          <a:lstStyle/>
          <a:p>
            <a:pPr indent="0" marL="0">
              <a:buNone/>
            </a:pPr>
            <a:r>
              <a:rPr lang="en-US" sz="1000" dirty="0">
                <a:solidFill>
                  <a:srgbClr val="5B6B8C"/>
                </a:solidFill>
                <a:latin typeface="Calibri" pitchFamily="34" charset="0"/>
                <a:ea typeface="Calibri" pitchFamily="34" charset="-122"/>
                <a:cs typeface="Calibri" pitchFamily="34" charset="-120"/>
              </a:rPr>
              <a:t>Teil 3 · Paddy Fingal – Lesetechniken · Deutsch 7A</a:t>
            </a:r>
            <a:endParaRPr lang="en-US" sz="1000" dirty="0"/>
          </a:p>
        </p:txBody>
      </p:sp>
      <p:sp>
        <p:nvSpPr>
          <p:cNvPr id="5" name="Text 3"/>
          <p:cNvSpPr txBox="1"/>
          <p:nvPr/>
        </p:nvSpPr>
        <p:spPr>
          <a:xfrm>
            <a:off x="11155680" y="6400800"/>
            <a:ext cx="457200" cy="228600"/>
          </a:xfrm>
          <a:prstGeom prst="rect">
            <a:avLst/>
          </a:prstGeom>
          <a:noFill/>
          <a:ln/>
        </p:spPr>
        <p:txBody>
          <a:bodyPr wrap="square" lIns="0" tIns="0" rIns="0" bIns="0" rtlCol="0" anchor="t"/>
          <a:lstStyle/>
          <a:p>
            <a:pPr algn="r" indent="0" marL="0">
              <a:buNone/>
            </a:pPr>
            <a:r>
              <a:rPr lang="en-US" sz="1000" dirty="0">
                <a:solidFill>
                  <a:srgbClr val="5B6B8C"/>
                </a:solidFill>
                <a:latin typeface="Calibri" pitchFamily="34" charset="0"/>
                <a:ea typeface="Calibri" pitchFamily="34" charset="-122"/>
                <a:cs typeface="Calibri" pitchFamily="34" charset="-120"/>
              </a:rPr>
              <a:t>26</a:t>
            </a:r>
            <a:endParaRPr lang="en-US" sz="1000" dirty="0"/>
          </a:p>
        </p:txBody>
      </p:sp>
      <p:sp>
        <p:nvSpPr>
          <p:cNvPr id="7" name="Shape 4"/>
          <p:cNvSpPr/>
          <p:nvPr/>
        </p:nvSpPr>
        <p:spPr>
          <a:xfrm>
            <a:off x="548640" y="1691640"/>
            <a:ext cx="457200" cy="457200"/>
          </a:xfrm>
          <a:prstGeom prst="ellipse">
            <a:avLst/>
          </a:prstGeom>
          <a:solidFill>
            <a:srgbClr val="1E2761"/>
          </a:solidFill>
          <a:ln/>
        </p:spPr>
      </p:sp>
      <p:sp>
        <p:nvSpPr>
          <p:cNvPr id="8" name="Text 5"/>
          <p:cNvSpPr txBox="1"/>
          <p:nvPr/>
        </p:nvSpPr>
        <p:spPr>
          <a:xfrm>
            <a:off x="548640" y="1691640"/>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1</a:t>
            </a:r>
            <a:endParaRPr lang="en-US" sz="1600" dirty="0"/>
          </a:p>
        </p:txBody>
      </p:sp>
      <p:sp>
        <p:nvSpPr>
          <p:cNvPr id="9" name="Text 6"/>
          <p:cNvSpPr txBox="1"/>
          <p:nvPr/>
        </p:nvSpPr>
        <p:spPr>
          <a:xfrm>
            <a:off x="1188720" y="1728216"/>
            <a:ext cx="10058400" cy="548640"/>
          </a:xfrm>
          <a:prstGeom prst="rect">
            <a:avLst/>
          </a:prstGeom>
          <a:noFill/>
          <a:ln/>
        </p:spPr>
        <p:txBody>
          <a:bodyPr wrap="square" lIns="0" tIns="0" rIns="0" bIns="0" rtlCol="0" anchor="t"/>
          <a:lstStyle/>
          <a:p>
            <a:pPr indent="0" marL="0">
              <a:buNone/>
            </a:pPr>
            <a:r>
              <a:rPr lang="en-US" sz="2400" b="1" dirty="0">
                <a:solidFill>
                  <a:srgbClr val="1E2761"/>
                </a:solidFill>
                <a:latin typeface="Calibri" pitchFamily="34" charset="0"/>
                <a:ea typeface="Calibri" pitchFamily="34" charset="-122"/>
                <a:cs typeface="Calibri" pitchFamily="34" charset="-120"/>
              </a:rPr>
              <a:t>Vergleicht a, b und c.</a:t>
            </a:r>
            <a:endParaRPr lang="en-US" sz="2400" dirty="0"/>
          </a:p>
        </p:txBody>
      </p:sp>
      <p:sp>
        <p:nvSpPr>
          <p:cNvPr id="10" name="Shape 7"/>
          <p:cNvSpPr/>
          <p:nvPr/>
        </p:nvSpPr>
        <p:spPr>
          <a:xfrm>
            <a:off x="548640" y="2514600"/>
            <a:ext cx="457200" cy="457200"/>
          </a:xfrm>
          <a:prstGeom prst="ellipse">
            <a:avLst/>
          </a:prstGeom>
          <a:solidFill>
            <a:srgbClr val="1E2761"/>
          </a:solidFill>
          <a:ln/>
        </p:spPr>
      </p:sp>
      <p:sp>
        <p:nvSpPr>
          <p:cNvPr id="11" name="Text 8"/>
          <p:cNvSpPr txBox="1"/>
          <p:nvPr/>
        </p:nvSpPr>
        <p:spPr>
          <a:xfrm>
            <a:off x="548640" y="2514600"/>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2</a:t>
            </a:r>
            <a:endParaRPr lang="en-US" sz="1600" dirty="0"/>
          </a:p>
        </p:txBody>
      </p:sp>
      <p:sp>
        <p:nvSpPr>
          <p:cNvPr id="12" name="Text 9"/>
          <p:cNvSpPr txBox="1"/>
          <p:nvPr/>
        </p:nvSpPr>
        <p:spPr>
          <a:xfrm>
            <a:off x="1188720" y="2551176"/>
            <a:ext cx="10058400" cy="548640"/>
          </a:xfrm>
          <a:prstGeom prst="rect">
            <a:avLst/>
          </a:prstGeom>
          <a:noFill/>
          <a:ln/>
        </p:spPr>
        <p:txBody>
          <a:bodyPr wrap="square" lIns="0" tIns="0" rIns="0" bIns="0" rtlCol="0" anchor="t"/>
          <a:lstStyle/>
          <a:p>
            <a:pPr indent="0" marL="0">
              <a:buNone/>
            </a:pPr>
            <a:r>
              <a:rPr lang="en-US" sz="2400" b="1" dirty="0">
                <a:solidFill>
                  <a:srgbClr val="1E2761"/>
                </a:solidFill>
                <a:latin typeface="Calibri" pitchFamily="34" charset="0"/>
                <a:ea typeface="Calibri" pitchFamily="34" charset="-122"/>
                <a:cs typeface="Calibri" pitchFamily="34" charset="-120"/>
              </a:rPr>
              <a:t>Verbessert mit Grün.</a:t>
            </a:r>
            <a:endParaRPr lang="en-US" sz="2400" dirty="0"/>
          </a:p>
        </p:txBody>
      </p:sp>
      <p:sp>
        <p:nvSpPr>
          <p:cNvPr id="13" name="Shape 10"/>
          <p:cNvSpPr/>
          <p:nvPr/>
        </p:nvSpPr>
        <p:spPr>
          <a:xfrm>
            <a:off x="548640" y="3337560"/>
            <a:ext cx="457200" cy="457200"/>
          </a:xfrm>
          <a:prstGeom prst="ellipse">
            <a:avLst/>
          </a:prstGeom>
          <a:solidFill>
            <a:srgbClr val="1E2761"/>
          </a:solidFill>
          <a:ln/>
        </p:spPr>
      </p:sp>
      <p:sp>
        <p:nvSpPr>
          <p:cNvPr id="14" name="Text 11"/>
          <p:cNvSpPr txBox="1"/>
          <p:nvPr/>
        </p:nvSpPr>
        <p:spPr>
          <a:xfrm>
            <a:off x="548640" y="3337560"/>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3</a:t>
            </a:r>
            <a:endParaRPr lang="en-US" sz="1600" dirty="0"/>
          </a:p>
        </p:txBody>
      </p:sp>
      <p:sp>
        <p:nvSpPr>
          <p:cNvPr id="15" name="Text 12"/>
          <p:cNvSpPr txBox="1"/>
          <p:nvPr/>
        </p:nvSpPr>
        <p:spPr>
          <a:xfrm>
            <a:off x="1188720" y="3374136"/>
            <a:ext cx="10058400" cy="548640"/>
          </a:xfrm>
          <a:prstGeom prst="rect">
            <a:avLst/>
          </a:prstGeom>
          <a:noFill/>
          <a:ln/>
        </p:spPr>
        <p:txBody>
          <a:bodyPr wrap="square" lIns="0" tIns="0" rIns="0" bIns="0" rtlCol="0" anchor="t"/>
          <a:lstStyle/>
          <a:p>
            <a:pPr indent="0" marL="0">
              <a:buNone/>
            </a:pPr>
            <a:r>
              <a:rPr lang="en-US" sz="2400" b="1" dirty="0">
                <a:solidFill>
                  <a:srgbClr val="1E2761"/>
                </a:solidFill>
                <a:latin typeface="Calibri" pitchFamily="34" charset="0"/>
                <a:ea typeface="Calibri" pitchFamily="34" charset="-122"/>
                <a:cs typeface="Calibri" pitchFamily="34" charset="-120"/>
              </a:rPr>
              <a:t>Erklärt euch gegenseitig Schayas List.</a:t>
            </a:r>
            <a:endParaRPr lang="en-US" sz="2400" dirty="0"/>
          </a:p>
        </p:txBody>
      </p:sp>
      <p:sp>
        <p:nvSpPr>
          <p:cNvPr id="16" name="Shape 13"/>
          <p:cNvSpPr/>
          <p:nvPr/>
        </p:nvSpPr>
        <p:spPr>
          <a:xfrm>
            <a:off x="548640" y="5715000"/>
            <a:ext cx="11064240" cy="502920"/>
          </a:xfrm>
          <a:prstGeom prst="roundRect">
            <a:avLst>
              <a:gd name="adj" fmla="val 14545"/>
            </a:avLst>
          </a:prstGeom>
          <a:solidFill>
            <a:srgbClr val="EAF0FA"/>
          </a:solidFill>
          <a:ln/>
        </p:spPr>
      </p:sp>
      <p:sp>
        <p:nvSpPr>
          <p:cNvPr id="17" name="Text 14"/>
          <p:cNvSpPr txBox="1"/>
          <p:nvPr/>
        </p:nvSpPr>
        <p:spPr>
          <a:xfrm>
            <a:off x="777240" y="5788152"/>
            <a:ext cx="10698480" cy="365760"/>
          </a:xfrm>
          <a:prstGeom prst="rect">
            <a:avLst/>
          </a:prstGeom>
          <a:noFill/>
          <a:ln/>
        </p:spPr>
        <p:txBody>
          <a:bodyPr wrap="square" lIns="0" tIns="0" rIns="0" bIns="0" rtlCol="0" anchor="t"/>
          <a:lstStyle/>
          <a:p>
            <a:pPr indent="0" marL="0">
              <a:buNone/>
            </a:pPr>
            <a:r>
              <a:rPr lang="en-US" sz="1600" b="1" dirty="0">
                <a:solidFill>
                  <a:srgbClr val="1E2761"/>
                </a:solidFill>
                <a:latin typeface="Calibri" pitchFamily="34" charset="0"/>
                <a:ea typeface="Calibri" pitchFamily="34" charset="-122"/>
                <a:cs typeface="Calibri" pitchFamily="34" charset="-120"/>
              </a:rPr>
              <a:t>Zeit: </a:t>
            </a:r>
            <a:pPr indent="0" marL="0">
              <a:buNone/>
            </a:pPr>
            <a:r>
              <a:rPr lang="en-US" sz="1600" dirty="0">
                <a:solidFill>
                  <a:srgbClr val="1E2761"/>
                </a:solidFill>
                <a:latin typeface="Calibri" pitchFamily="34" charset="0"/>
                <a:ea typeface="Calibri" pitchFamily="34" charset="-122"/>
                <a:cs typeface="Calibri" pitchFamily="34" charset="-120"/>
              </a:rPr>
              <a:t>3 Minuten · zu zweit</a:t>
            </a:r>
            <a:endParaRPr lang="en-US" sz="16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8229600" cy="274320"/>
          </a:xfrm>
          <a:prstGeom prst="rect">
            <a:avLst/>
          </a:prstGeom>
          <a:noFill/>
          <a:ln/>
        </p:spPr>
        <p:txBody>
          <a:bodyPr wrap="square" lIns="0" tIns="0" rIns="0" bIns="0" rtlCol="0" anchor="t"/>
          <a:lstStyle/>
          <a:p>
            <a:pPr indent="0" marL="0">
              <a:buNone/>
            </a:pPr>
            <a:r>
              <a:rPr lang="en-US" sz="1200" spc="200" kern="0" dirty="0">
                <a:solidFill>
                  <a:srgbClr val="5B6B8C"/>
                </a:solidFill>
                <a:latin typeface="Calibri" pitchFamily="34" charset="0"/>
                <a:ea typeface="Calibri" pitchFamily="34" charset="-122"/>
                <a:cs typeface="Calibri" pitchFamily="34" charset="-120"/>
              </a:rPr>
              <a:t>AUSWERTEN</a:t>
            </a:r>
            <a:endParaRPr lang="en-US" sz="1200" dirty="0"/>
          </a:p>
        </p:txBody>
      </p:sp>
      <p:sp>
        <p:nvSpPr>
          <p:cNvPr id="3" name="Text 1"/>
          <p:cNvSpPr txBox="1"/>
          <p:nvPr/>
        </p:nvSpPr>
        <p:spPr>
          <a:xfrm>
            <a:off x="548640" y="658368"/>
            <a:ext cx="11064240" cy="640080"/>
          </a:xfrm>
          <a:prstGeom prst="rect">
            <a:avLst/>
          </a:prstGeom>
          <a:noFill/>
          <a:ln/>
        </p:spPr>
        <p:txBody>
          <a:bodyPr wrap="square" lIns="0" tIns="0" rIns="0" bIns="0" rtlCol="0" anchor="t"/>
          <a:lstStyle/>
          <a:p>
            <a:pPr indent="0" marL="0">
              <a:buNone/>
            </a:pPr>
            <a:r>
              <a:rPr lang="en-US" sz="3200" b="1" dirty="0">
                <a:solidFill>
                  <a:srgbClr val="1E2761"/>
                </a:solidFill>
                <a:latin typeface="Cambria" pitchFamily="34" charset="0"/>
                <a:ea typeface="Cambria" pitchFamily="34" charset="-122"/>
                <a:cs typeface="Cambria" pitchFamily="34" charset="-120"/>
              </a:rPr>
              <a:t>Welche Lesetechnik passt?</a:t>
            </a:r>
            <a:endParaRPr lang="en-US" sz="3200" dirty="0"/>
          </a:p>
        </p:txBody>
      </p:sp>
      <p:sp>
        <p:nvSpPr>
          <p:cNvPr id="4" name="Text 2"/>
          <p:cNvSpPr txBox="1"/>
          <p:nvPr/>
        </p:nvSpPr>
        <p:spPr>
          <a:xfrm>
            <a:off x="548640" y="6400800"/>
            <a:ext cx="6400800" cy="228600"/>
          </a:xfrm>
          <a:prstGeom prst="rect">
            <a:avLst/>
          </a:prstGeom>
          <a:noFill/>
          <a:ln/>
        </p:spPr>
        <p:txBody>
          <a:bodyPr wrap="square" lIns="0" tIns="0" rIns="0" bIns="0" rtlCol="0" anchor="t"/>
          <a:lstStyle/>
          <a:p>
            <a:pPr indent="0" marL="0">
              <a:buNone/>
            </a:pPr>
            <a:r>
              <a:rPr lang="en-US" sz="1000" dirty="0">
                <a:solidFill>
                  <a:srgbClr val="5B6B8C"/>
                </a:solidFill>
                <a:latin typeface="Calibri" pitchFamily="34" charset="0"/>
                <a:ea typeface="Calibri" pitchFamily="34" charset="-122"/>
                <a:cs typeface="Calibri" pitchFamily="34" charset="-120"/>
              </a:rPr>
              <a:t>Teil 3 · Paddy Fingal – Lesetechniken · Deutsch 7A</a:t>
            </a:r>
            <a:endParaRPr lang="en-US" sz="1000" dirty="0"/>
          </a:p>
        </p:txBody>
      </p:sp>
      <p:sp>
        <p:nvSpPr>
          <p:cNvPr id="5" name="Text 3"/>
          <p:cNvSpPr txBox="1"/>
          <p:nvPr/>
        </p:nvSpPr>
        <p:spPr>
          <a:xfrm>
            <a:off x="11155680" y="6400800"/>
            <a:ext cx="457200" cy="228600"/>
          </a:xfrm>
          <a:prstGeom prst="rect">
            <a:avLst/>
          </a:prstGeom>
          <a:noFill/>
          <a:ln/>
        </p:spPr>
        <p:txBody>
          <a:bodyPr wrap="square" lIns="0" tIns="0" rIns="0" bIns="0" rtlCol="0" anchor="t"/>
          <a:lstStyle/>
          <a:p>
            <a:pPr algn="r" indent="0" marL="0">
              <a:buNone/>
            </a:pPr>
            <a:r>
              <a:rPr lang="en-US" sz="1000" dirty="0">
                <a:solidFill>
                  <a:srgbClr val="5B6B8C"/>
                </a:solidFill>
                <a:latin typeface="Calibri" pitchFamily="34" charset="0"/>
                <a:ea typeface="Calibri" pitchFamily="34" charset="-122"/>
                <a:cs typeface="Calibri" pitchFamily="34" charset="-120"/>
              </a:rPr>
              <a:t>27</a:t>
            </a:r>
            <a:endParaRPr lang="en-US" sz="1000" dirty="0"/>
          </a:p>
        </p:txBody>
      </p:sp>
      <p:sp>
        <p:nvSpPr>
          <p:cNvPr id="7" name="Text 4"/>
          <p:cNvSpPr txBox="1"/>
          <p:nvPr/>
        </p:nvSpPr>
        <p:spPr>
          <a:xfrm>
            <a:off x="548640" y="1417320"/>
            <a:ext cx="11064240" cy="457200"/>
          </a:xfrm>
          <a:prstGeom prst="rect">
            <a:avLst/>
          </a:prstGeom>
          <a:noFill/>
          <a:ln/>
        </p:spPr>
        <p:txBody>
          <a:bodyPr wrap="square" lIns="0" tIns="0" rIns="0" bIns="0" rtlCol="0" anchor="t"/>
          <a:lstStyle/>
          <a:p>
            <a:pPr indent="0" marL="0">
              <a:buNone/>
            </a:pPr>
            <a:r>
              <a:rPr lang="en-US" sz="1800" dirty="0">
                <a:solidFill>
                  <a:srgbClr val="5B6B8C"/>
                </a:solidFill>
                <a:latin typeface="Calibri" pitchFamily="34" charset="0"/>
                <a:ea typeface="Calibri" pitchFamily="34" charset="-122"/>
                <a:cs typeface="Calibri" pitchFamily="34" charset="-120"/>
              </a:rPr>
              <a:t>Schreibe ins Heft die passende Lesetechnik. 1 Minute.</a:t>
            </a:r>
            <a:endParaRPr lang="en-US" sz="1800" dirty="0"/>
          </a:p>
        </p:txBody>
      </p:sp>
      <p:sp>
        <p:nvSpPr>
          <p:cNvPr id="8" name="Shape 5"/>
          <p:cNvSpPr/>
          <p:nvPr/>
        </p:nvSpPr>
        <p:spPr>
          <a:xfrm>
            <a:off x="548640" y="2103120"/>
            <a:ext cx="11064240" cy="1005840"/>
          </a:xfrm>
          <a:prstGeom prst="roundRect">
            <a:avLst>
              <a:gd name="adj" fmla="val 7273"/>
            </a:avLst>
          </a:prstGeom>
          <a:solidFill>
            <a:srgbClr val="F4F7FD"/>
          </a:solidFill>
          <a:ln/>
        </p:spPr>
      </p:sp>
      <p:sp>
        <p:nvSpPr>
          <p:cNvPr id="9" name="Text 6"/>
          <p:cNvSpPr txBox="1"/>
          <p:nvPr/>
        </p:nvSpPr>
        <p:spPr>
          <a:xfrm>
            <a:off x="822960" y="2267712"/>
            <a:ext cx="731520" cy="640080"/>
          </a:xfrm>
          <a:prstGeom prst="rect">
            <a:avLst/>
          </a:prstGeom>
          <a:noFill/>
          <a:ln/>
        </p:spPr>
        <p:txBody>
          <a:bodyPr wrap="square" lIns="0" tIns="0" rIns="0" bIns="0" rtlCol="0" anchor="t"/>
          <a:lstStyle/>
          <a:p>
            <a:pPr indent="0" marL="0">
              <a:buNone/>
            </a:pPr>
            <a:r>
              <a:rPr lang="en-US" sz="3600" b="1" dirty="0">
                <a:solidFill>
                  <a:srgbClr val="D9534F"/>
                </a:solidFill>
                <a:latin typeface="Cambria" pitchFamily="34" charset="0"/>
                <a:ea typeface="Cambria" pitchFamily="34" charset="-122"/>
                <a:cs typeface="Cambria" pitchFamily="34" charset="-120"/>
              </a:rPr>
              <a:t>1</a:t>
            </a:r>
            <a:endParaRPr lang="en-US" sz="3600" dirty="0"/>
          </a:p>
        </p:txBody>
      </p:sp>
      <p:sp>
        <p:nvSpPr>
          <p:cNvPr id="10" name="Text 7"/>
          <p:cNvSpPr txBox="1"/>
          <p:nvPr/>
        </p:nvSpPr>
        <p:spPr>
          <a:xfrm>
            <a:off x="1645920" y="2377440"/>
            <a:ext cx="9692640" cy="548640"/>
          </a:xfrm>
          <a:prstGeom prst="rect">
            <a:avLst/>
          </a:prstGeom>
          <a:noFill/>
          <a:ln/>
        </p:spPr>
        <p:txBody>
          <a:bodyPr wrap="square" lIns="0" tIns="0" rIns="0" bIns="0" rtlCol="0" anchor="t"/>
          <a:lstStyle/>
          <a:p>
            <a:pPr indent="0" marL="0">
              <a:buNone/>
            </a:pPr>
            <a:r>
              <a:rPr lang="en-US" sz="2200" dirty="0">
                <a:solidFill>
                  <a:srgbClr val="1E2761"/>
                </a:solidFill>
                <a:latin typeface="Calibri" pitchFamily="34" charset="0"/>
                <a:ea typeface="Calibri" pitchFamily="34" charset="-122"/>
                <a:cs typeface="Calibri" pitchFamily="34" charset="-120"/>
              </a:rPr>
              <a:t>Du willst wissen, ob ein Zeitungsartikel über deinen Verein berichtet.</a:t>
            </a:r>
            <a:endParaRPr lang="en-US" sz="2200" dirty="0"/>
          </a:p>
        </p:txBody>
      </p:sp>
      <p:sp>
        <p:nvSpPr>
          <p:cNvPr id="11" name="Shape 8"/>
          <p:cNvSpPr/>
          <p:nvPr/>
        </p:nvSpPr>
        <p:spPr>
          <a:xfrm>
            <a:off x="548640" y="3291840"/>
            <a:ext cx="11064240" cy="1005840"/>
          </a:xfrm>
          <a:prstGeom prst="roundRect">
            <a:avLst>
              <a:gd name="adj" fmla="val 7273"/>
            </a:avLst>
          </a:prstGeom>
          <a:solidFill>
            <a:srgbClr val="F4F7FD"/>
          </a:solidFill>
          <a:ln/>
        </p:spPr>
      </p:sp>
      <p:sp>
        <p:nvSpPr>
          <p:cNvPr id="12" name="Text 9"/>
          <p:cNvSpPr txBox="1"/>
          <p:nvPr/>
        </p:nvSpPr>
        <p:spPr>
          <a:xfrm>
            <a:off x="822960" y="3456432"/>
            <a:ext cx="731520" cy="640080"/>
          </a:xfrm>
          <a:prstGeom prst="rect">
            <a:avLst/>
          </a:prstGeom>
          <a:noFill/>
          <a:ln/>
        </p:spPr>
        <p:txBody>
          <a:bodyPr wrap="square" lIns="0" tIns="0" rIns="0" bIns="0" rtlCol="0" anchor="t"/>
          <a:lstStyle/>
          <a:p>
            <a:pPr indent="0" marL="0">
              <a:buNone/>
            </a:pPr>
            <a:r>
              <a:rPr lang="en-US" sz="3600" b="1" dirty="0">
                <a:solidFill>
                  <a:srgbClr val="D9534F"/>
                </a:solidFill>
                <a:latin typeface="Cambria" pitchFamily="34" charset="0"/>
                <a:ea typeface="Cambria" pitchFamily="34" charset="-122"/>
                <a:cs typeface="Cambria" pitchFamily="34" charset="-120"/>
              </a:rPr>
              <a:t>2</a:t>
            </a:r>
            <a:endParaRPr lang="en-US" sz="3600" dirty="0"/>
          </a:p>
        </p:txBody>
      </p:sp>
      <p:sp>
        <p:nvSpPr>
          <p:cNvPr id="13" name="Text 10"/>
          <p:cNvSpPr txBox="1"/>
          <p:nvPr/>
        </p:nvSpPr>
        <p:spPr>
          <a:xfrm>
            <a:off x="1645920" y="3566160"/>
            <a:ext cx="9692640" cy="548640"/>
          </a:xfrm>
          <a:prstGeom prst="rect">
            <a:avLst/>
          </a:prstGeom>
          <a:noFill/>
          <a:ln/>
        </p:spPr>
        <p:txBody>
          <a:bodyPr wrap="square" lIns="0" tIns="0" rIns="0" bIns="0" rtlCol="0" anchor="t"/>
          <a:lstStyle/>
          <a:p>
            <a:pPr indent="0" marL="0">
              <a:buNone/>
            </a:pPr>
            <a:r>
              <a:rPr lang="en-US" sz="2200" dirty="0">
                <a:solidFill>
                  <a:srgbClr val="1E2761"/>
                </a:solidFill>
                <a:latin typeface="Calibri" pitchFamily="34" charset="0"/>
                <a:ea typeface="Calibri" pitchFamily="34" charset="-122"/>
                <a:cs typeface="Calibri" pitchFamily="34" charset="-120"/>
              </a:rPr>
              <a:t>Du suchst, wie lang Paddys Bart ist.</a:t>
            </a:r>
            <a:endParaRPr lang="en-US" sz="2200" dirty="0"/>
          </a:p>
        </p:txBody>
      </p:sp>
      <p:sp>
        <p:nvSpPr>
          <p:cNvPr id="14" name="Shape 11"/>
          <p:cNvSpPr/>
          <p:nvPr/>
        </p:nvSpPr>
        <p:spPr>
          <a:xfrm>
            <a:off x="548640" y="4480560"/>
            <a:ext cx="11064240" cy="1005840"/>
          </a:xfrm>
          <a:prstGeom prst="roundRect">
            <a:avLst>
              <a:gd name="adj" fmla="val 7273"/>
            </a:avLst>
          </a:prstGeom>
          <a:solidFill>
            <a:srgbClr val="F4F7FD"/>
          </a:solidFill>
          <a:ln/>
        </p:spPr>
      </p:sp>
      <p:sp>
        <p:nvSpPr>
          <p:cNvPr id="15" name="Text 12"/>
          <p:cNvSpPr txBox="1"/>
          <p:nvPr/>
        </p:nvSpPr>
        <p:spPr>
          <a:xfrm>
            <a:off x="822960" y="4645152"/>
            <a:ext cx="731520" cy="640080"/>
          </a:xfrm>
          <a:prstGeom prst="rect">
            <a:avLst/>
          </a:prstGeom>
          <a:noFill/>
          <a:ln/>
        </p:spPr>
        <p:txBody>
          <a:bodyPr wrap="square" lIns="0" tIns="0" rIns="0" bIns="0" rtlCol="0" anchor="t"/>
          <a:lstStyle/>
          <a:p>
            <a:pPr indent="0" marL="0">
              <a:buNone/>
            </a:pPr>
            <a:r>
              <a:rPr lang="en-US" sz="3600" b="1" dirty="0">
                <a:solidFill>
                  <a:srgbClr val="D9534F"/>
                </a:solidFill>
                <a:latin typeface="Cambria" pitchFamily="34" charset="0"/>
                <a:ea typeface="Cambria" pitchFamily="34" charset="-122"/>
                <a:cs typeface="Cambria" pitchFamily="34" charset="-120"/>
              </a:rPr>
              <a:t>3</a:t>
            </a:r>
            <a:endParaRPr lang="en-US" sz="3600" dirty="0"/>
          </a:p>
        </p:txBody>
      </p:sp>
      <p:sp>
        <p:nvSpPr>
          <p:cNvPr id="16" name="Text 13"/>
          <p:cNvSpPr txBox="1"/>
          <p:nvPr/>
        </p:nvSpPr>
        <p:spPr>
          <a:xfrm>
            <a:off x="1645920" y="4754880"/>
            <a:ext cx="9692640" cy="548640"/>
          </a:xfrm>
          <a:prstGeom prst="rect">
            <a:avLst/>
          </a:prstGeom>
          <a:noFill/>
          <a:ln/>
        </p:spPr>
        <p:txBody>
          <a:bodyPr wrap="square" lIns="0" tIns="0" rIns="0" bIns="0" rtlCol="0" anchor="t"/>
          <a:lstStyle/>
          <a:p>
            <a:pPr indent="0" marL="0">
              <a:buNone/>
            </a:pPr>
            <a:r>
              <a:rPr lang="en-US" sz="2200" dirty="0">
                <a:solidFill>
                  <a:srgbClr val="1E2761"/>
                </a:solidFill>
                <a:latin typeface="Calibri" pitchFamily="34" charset="0"/>
                <a:ea typeface="Calibri" pitchFamily="34" charset="-122"/>
                <a:cs typeface="Calibri" pitchFamily="34" charset="-120"/>
              </a:rPr>
              <a:t>Du sollst erklären, warum der Schotte wegläuft.</a:t>
            </a:r>
            <a:endParaRPr lang="en-US" sz="22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1E2761"/>
        </a:solidFill>
      </p:bgPr>
    </p:bg>
    <p:spTree>
      <p:nvGrpSpPr>
        <p:cNvPr id="1" name=""/>
        <p:cNvGrpSpPr/>
        <p:nvPr/>
      </p:nvGrpSpPr>
      <p:grpSpPr>
        <a:xfrm>
          <a:off x="0" y="0"/>
          <a:ext cx="0" cy="0"/>
          <a:chOff x="0" y="0"/>
          <a:chExt cx="0" cy="0"/>
        </a:xfrm>
      </p:grpSpPr>
      <p:sp>
        <p:nvSpPr>
          <p:cNvPr id="2" name="Shape 0"/>
          <p:cNvSpPr/>
          <p:nvPr/>
        </p:nvSpPr>
        <p:spPr>
          <a:xfrm>
            <a:off x="9692640" y="-1463040"/>
            <a:ext cx="4206240" cy="4206240"/>
          </a:xfrm>
          <a:prstGeom prst="ellipse">
            <a:avLst/>
          </a:prstGeom>
          <a:solidFill>
            <a:srgbClr val="24306E"/>
          </a:solidFill>
          <a:ln/>
        </p:spPr>
      </p:sp>
      <p:sp>
        <p:nvSpPr>
          <p:cNvPr id="3" name="Shape 1"/>
          <p:cNvSpPr/>
          <p:nvPr/>
        </p:nvSpPr>
        <p:spPr>
          <a:xfrm>
            <a:off x="-1371600" y="4206240"/>
            <a:ext cx="3657600" cy="3657600"/>
          </a:xfrm>
          <a:prstGeom prst="ellipse">
            <a:avLst/>
          </a:prstGeom>
          <a:solidFill>
            <a:srgbClr val="24306E"/>
          </a:solidFill>
          <a:ln/>
        </p:spPr>
      </p:sp>
      <p:sp>
        <p:nvSpPr>
          <p:cNvPr id="4" name="Text 2"/>
          <p:cNvSpPr txBox="1"/>
          <p:nvPr/>
        </p:nvSpPr>
        <p:spPr>
          <a:xfrm>
            <a:off x="822960" y="1463040"/>
            <a:ext cx="10058400" cy="822960"/>
          </a:xfrm>
          <a:prstGeom prst="rect">
            <a:avLst/>
          </a:prstGeom>
          <a:noFill/>
          <a:ln/>
        </p:spPr>
        <p:txBody>
          <a:bodyPr wrap="square" lIns="0" tIns="0" rIns="0" bIns="0" rtlCol="0" anchor="t"/>
          <a:lstStyle/>
          <a:p>
            <a:pPr indent="0" marL="0">
              <a:buNone/>
            </a:pPr>
            <a:r>
              <a:rPr lang="en-US" sz="4000" b="1" dirty="0">
                <a:solidFill>
                  <a:srgbClr val="FFFFFF"/>
                </a:solidFill>
                <a:latin typeface="Cambria" pitchFamily="34" charset="0"/>
                <a:ea typeface="Cambria" pitchFamily="34" charset="-122"/>
                <a:cs typeface="Cambria" pitchFamily="34" charset="-120"/>
              </a:rPr>
              <a:t>Ziel erreicht?</a:t>
            </a:r>
            <a:endParaRPr lang="en-US" sz="4000" dirty="0"/>
          </a:p>
        </p:txBody>
      </p:sp>
      <p:sp>
        <p:nvSpPr>
          <p:cNvPr id="5" name="Text 3"/>
          <p:cNvSpPr txBox="1"/>
          <p:nvPr/>
        </p:nvSpPr>
        <p:spPr>
          <a:xfrm>
            <a:off x="822960" y="2377440"/>
            <a:ext cx="10515600" cy="822960"/>
          </a:xfrm>
          <a:prstGeom prst="rect">
            <a:avLst/>
          </a:prstGeom>
          <a:noFill/>
          <a:ln/>
        </p:spPr>
        <p:txBody>
          <a:bodyPr wrap="square" lIns="0" tIns="0" rIns="0" bIns="0" rtlCol="0" anchor="t"/>
          <a:lstStyle/>
          <a:p>
            <a:pPr indent="0" marL="0">
              <a:buNone/>
            </a:pPr>
            <a:r>
              <a:rPr lang="en-US" sz="2200" i="1" dirty="0">
                <a:solidFill>
                  <a:srgbClr val="CADCFC"/>
                </a:solidFill>
                <a:latin typeface="Calibri" pitchFamily="34" charset="0"/>
                <a:ea typeface="Calibri" pitchFamily="34" charset="-122"/>
                <a:cs typeface="Calibri" pitchFamily="34" charset="-120"/>
              </a:rPr>
              <a:t>Ich kann je nach Leseziel überfliegend, orientierend oder genau lesen und meinen ersten Eindruck von einer Ballade begründen.</a:t>
            </a:r>
            <a:endParaRPr lang="en-US" sz="2200" dirty="0"/>
          </a:p>
        </p:txBody>
      </p:sp>
      <p:sp>
        <p:nvSpPr>
          <p:cNvPr id="6" name="Shape 4"/>
          <p:cNvSpPr/>
          <p:nvPr/>
        </p:nvSpPr>
        <p:spPr>
          <a:xfrm>
            <a:off x="822960" y="3657600"/>
            <a:ext cx="10515600" cy="1097280"/>
          </a:xfrm>
          <a:prstGeom prst="roundRect">
            <a:avLst>
              <a:gd name="adj" fmla="val 6667"/>
            </a:avLst>
          </a:prstGeom>
          <a:solidFill>
            <a:srgbClr val="24306E"/>
          </a:solidFill>
          <a:ln/>
        </p:spPr>
      </p:sp>
      <p:sp>
        <p:nvSpPr>
          <p:cNvPr id="7" name="Text 5"/>
          <p:cNvSpPr txBox="1"/>
          <p:nvPr/>
        </p:nvSpPr>
        <p:spPr>
          <a:xfrm>
            <a:off x="1097280" y="3657600"/>
            <a:ext cx="10058400" cy="1097280"/>
          </a:xfrm>
          <a:prstGeom prst="rect">
            <a:avLst/>
          </a:prstGeom>
          <a:noFill/>
          <a:ln/>
        </p:spPr>
        <p:txBody>
          <a:bodyPr wrap="square" lIns="0" tIns="0" rIns="0" bIns="0" rtlCol="0" anchor="ctr"/>
          <a:lstStyle/>
          <a:p>
            <a:pPr indent="0" marL="0">
              <a:buNone/>
            </a:pPr>
            <a:r>
              <a:rPr lang="en-US" sz="3000" b="1" dirty="0">
                <a:solidFill>
                  <a:srgbClr val="E8A33D"/>
                </a:solidFill>
                <a:latin typeface="Cambria" pitchFamily="34" charset="0"/>
                <a:ea typeface="Cambria" pitchFamily="34" charset="-122"/>
                <a:cs typeface="Cambria" pitchFamily="34" charset="-120"/>
              </a:rPr>
              <a:t>Schreibe ins Heft:  Heute habe ich gelernt, …</a:t>
            </a:r>
            <a:endParaRPr lang="en-US" sz="3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29</Slides>
  <Notes>29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29</vt:i4>
      </vt:variant>
    </vt:vector>
  </HeadingPairs>
  <TitlesOfParts>
    <vt:vector size="3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Deutsch 7A – Mittwoch 14.10.</dc:title>
  <dc:subject>PptxGenJS Presentation</dc:subject>
  <dc:creator>PptxGenJS</dc:creator>
  <cp:lastModifiedBy>PptxGenJS</cp:lastModifiedBy>
  <cp:revision>1</cp:revision>
  <dcterms:created xsi:type="dcterms:W3CDTF">2026-10-13T20:06:28Z</dcterms:created>
  <dcterms:modified xsi:type="dcterms:W3CDTF">2026-10-13T20:06:28Z</dcterms:modified>
</cp:coreProperties>
</file>