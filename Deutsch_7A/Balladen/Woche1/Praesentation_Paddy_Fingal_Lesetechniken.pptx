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Ziel einmal vorlesen. Die Folie bleibt am Ende für die Auswertung wichtig (Folie „Ziel erreicht?“).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Zwei Vermutungen vorlesen lassen (Riese, Seemann, Raufbold …). Noch nicht lesen – nur Titel und erstes Bild.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Lösung: A gezielt suchen (orientierend) · B schnell drüber (überfliegend) · C langsam, Wort für Wort (genau). Überleitung: Diese drei Leseweisen haben Namen – die Lesetechniken.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Rückbezug: A = orientierend, B = überfliegend, C = genau. Die Schüler ergänzen die Fachbegriffe in ihren Notizen von vorhin.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Zeit laut stoppen: „Start … Stopp. Buch zu.“ Lösung z. B.: In der Ballade geht es um den Riesen Paddy Fingal und einen noch größeren Schotten, vor dem er sich versteckt.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Methodenkarte „Chorisches Lesen“: Lehrkraft liest die Strophen, die Klasse spricht die letzte Zeile jeder Strophe im Chor. Vorher Tempo und Lautstärke festlegen. Danach schreiben alle den ersten Eindruck in Ü1; zwei lesen vor.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Lösung: 1 sechs Ellen (Str. 1) · 2 aus Schottland (Str. 2) · 3 Schaya (Str. 4) · 4 nur seine Nase (Str. 5) · *5 eine flache Stelle in einem Fluss oder Bach (Worterklärung 7). Nachfragen: Wie hast du die Stelle so schnell gefunden? (Schlüsselwörter, Fußnoten)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Lösung: Str. 7 Schaya warnt: Paddys Kind schläft. · Str. 8 Der Schotte schaut ins Bett und sieht die riesige Nase. · Str. 9 Er denkt: Wenn schon das Baby so groß ist, wie groß ist dann der Vater? · Warum? Schayas List: Sie gibt Paddy als Baby aus – der Schotte bekommt Angst vor dem „Vater“.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Danach erklärt ein Schüler im Plenum Schayas List (Frage c).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Lösung: 1 überfliegend · 2 orientierend · 3 genau.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Zwei Schüler lesen vor. Erwartet: die drei Lesetechniken und wann man sie benutzt. * Wenn Zeit bleibt: LB-Aufgabe 1 b – ein Schüler erzählt die Ballade mündlich nach (Titel, Autor, Reihenfolge, nichts dazuerfinden).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92640" y="-1463040"/>
            <a:ext cx="4206240" cy="4206240"/>
          </a:xfrm>
          <a:prstGeom prst="ellipse">
            <a:avLst/>
          </a:prstGeom>
          <a:solidFill>
            <a:srgbClr val="24306E"/>
          </a:solidFill>
          <a:ln/>
        </p:spPr>
      </p:sp>
      <p:sp>
        <p:nvSpPr>
          <p:cNvPr id="3" name="Shape 1"/>
          <p:cNvSpPr/>
          <p:nvPr/>
        </p:nvSpPr>
        <p:spPr>
          <a:xfrm>
            <a:off x="-1371600" y="4206240"/>
            <a:ext cx="3657600" cy="3657600"/>
          </a:xfrm>
          <a:prstGeom prst="ellipse">
            <a:avLst/>
          </a:prstGeom>
          <a:solidFill>
            <a:srgbClr val="24306E"/>
          </a:solidFill>
          <a:ln/>
        </p:spPr>
      </p:sp>
      <p:sp>
        <p:nvSpPr>
          <p:cNvPr id="4" name="Shape 2"/>
          <p:cNvSpPr/>
          <p:nvPr/>
        </p:nvSpPr>
        <p:spPr>
          <a:xfrm>
            <a:off x="822960" y="1874520"/>
            <a:ext cx="2377440" cy="384048"/>
          </a:xfrm>
          <a:prstGeom prst="roundRect">
            <a:avLst>
              <a:gd name="adj" fmla="val 50000"/>
            </a:avLst>
          </a:prstGeom>
          <a:solidFill>
            <a:srgbClr val="E8A33D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22960" y="1874520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BALLADEN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42316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Paddy Fingal – Lesetechniken</a:t>
            </a:r>
            <a:endParaRPr lang="en-US" sz="40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338328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Leute, höret die Geschicht’ – Wilhelm Brandes: Paddy Fingal (Lehrbuch S. 136 f.)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822960" y="4297680"/>
            <a:ext cx="2468880" cy="548640"/>
          </a:xfrm>
          <a:prstGeom prst="roundRect">
            <a:avLst>
              <a:gd name="adj" fmla="val 50000"/>
            </a:avLst>
          </a:prstGeom>
          <a:solidFill>
            <a:srgbClr val="3F7CC4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822960" y="4297680"/>
            <a:ext cx="2468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überfliegend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3474720" y="4297680"/>
            <a:ext cx="2468880" cy="548640"/>
          </a:xfrm>
          <a:prstGeom prst="roundRect">
            <a:avLst>
              <a:gd name="adj" fmla="val 50000"/>
            </a:avLst>
          </a:prstGeom>
          <a:solidFill>
            <a:srgbClr val="E8A33D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3474720" y="4297680"/>
            <a:ext cx="2468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orientierend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6126480" y="4297680"/>
            <a:ext cx="2468880" cy="548640"/>
          </a:xfrm>
          <a:prstGeom prst="roundRect">
            <a:avLst>
              <a:gd name="adj" fmla="val 50000"/>
            </a:avLst>
          </a:prstGeom>
          <a:solidFill>
            <a:srgbClr val="2E9E6B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126480" y="4297680"/>
            <a:ext cx="2468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genau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spc="200" kern="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HEUTE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Ziel und Ablauf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00800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Paddy Fingal – Lesetechniken · Deutsch 7A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11155680" y="640080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548640" y="1554480"/>
            <a:ext cx="11064240" cy="1097280"/>
          </a:xfrm>
          <a:prstGeom prst="roundRect">
            <a:avLst>
              <a:gd name="adj" fmla="val 6667"/>
            </a:avLst>
          </a:prstGeom>
          <a:solidFill>
            <a:srgbClr val="EAF0FA"/>
          </a:solidFill>
          <a:ln/>
        </p:spPr>
      </p:sp>
      <p:sp>
        <p:nvSpPr>
          <p:cNvPr id="8" name="Shape 5"/>
          <p:cNvSpPr/>
          <p:nvPr/>
        </p:nvSpPr>
        <p:spPr>
          <a:xfrm>
            <a:off x="548640" y="1554480"/>
            <a:ext cx="109728" cy="1097280"/>
          </a:xfrm>
          <a:prstGeom prst="rect">
            <a:avLst/>
          </a:prstGeom>
          <a:solidFill>
            <a:srgbClr val="D9534F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914400" y="173736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D953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Ziel:  </a:t>
            </a:r>
            <a:pPr indent="0" marL="0">
              <a:buNone/>
            </a:pPr>
            <a:r>
              <a:rPr lang="en-US" sz="2200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Ich kann je nach Leseziel überfliegend, orientierend oder genau lesen und meinen ersten Eindruck von einer Ballade begründen.</a:t>
            </a:r>
            <a:endParaRPr lang="en-US" sz="2200" dirty="0"/>
          </a:p>
        </p:txBody>
      </p:sp>
      <p:sp>
        <p:nvSpPr>
          <p:cNvPr id="10" name="Shape 7"/>
          <p:cNvSpPr/>
          <p:nvPr/>
        </p:nvSpPr>
        <p:spPr>
          <a:xfrm>
            <a:off x="822960" y="2971800"/>
            <a:ext cx="411480" cy="41148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822960" y="297180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4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40" dirty="0"/>
          </a:p>
        </p:txBody>
      </p:sp>
      <p:sp>
        <p:nvSpPr>
          <p:cNvPr id="12" name="Text 9"/>
          <p:cNvSpPr txBox="1"/>
          <p:nvPr/>
        </p:nvSpPr>
        <p:spPr>
          <a:xfrm>
            <a:off x="1417320" y="2999232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Wer ist Paddy Fingal?</a:t>
            </a:r>
            <a:endParaRPr lang="en-US" sz="2000" dirty="0"/>
          </a:p>
        </p:txBody>
      </p:sp>
      <p:sp>
        <p:nvSpPr>
          <p:cNvPr id="13" name="Shape 10"/>
          <p:cNvSpPr/>
          <p:nvPr/>
        </p:nvSpPr>
        <p:spPr>
          <a:xfrm>
            <a:off x="822960" y="3593592"/>
            <a:ext cx="411480" cy="41148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822960" y="3593592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4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40" dirty="0"/>
          </a:p>
        </p:txBody>
      </p:sp>
      <p:sp>
        <p:nvSpPr>
          <p:cNvPr id="15" name="Text 12"/>
          <p:cNvSpPr txBox="1"/>
          <p:nvPr/>
        </p:nvSpPr>
        <p:spPr>
          <a:xfrm>
            <a:off x="1417320" y="3621024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Wie lest ihr?</a:t>
            </a:r>
            <a:endParaRPr lang="en-US" sz="2000" dirty="0"/>
          </a:p>
        </p:txBody>
      </p:sp>
      <p:sp>
        <p:nvSpPr>
          <p:cNvPr id="16" name="Shape 13"/>
          <p:cNvSpPr/>
          <p:nvPr/>
        </p:nvSpPr>
        <p:spPr>
          <a:xfrm>
            <a:off x="822960" y="4215384"/>
            <a:ext cx="411480" cy="41148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822960" y="4215384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4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40" dirty="0"/>
          </a:p>
        </p:txBody>
      </p:sp>
      <p:sp>
        <p:nvSpPr>
          <p:cNvPr id="18" name="Text 15"/>
          <p:cNvSpPr txBox="1"/>
          <p:nvPr/>
        </p:nvSpPr>
        <p:spPr>
          <a:xfrm>
            <a:off x="1417320" y="4242816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Merksatz 1: Lesetechniken</a:t>
            </a:r>
            <a:endParaRPr lang="en-US" sz="2000" dirty="0"/>
          </a:p>
        </p:txBody>
      </p:sp>
      <p:sp>
        <p:nvSpPr>
          <p:cNvPr id="19" name="Shape 16"/>
          <p:cNvSpPr/>
          <p:nvPr/>
        </p:nvSpPr>
        <p:spPr>
          <a:xfrm>
            <a:off x="822960" y="4837176"/>
            <a:ext cx="411480" cy="41148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822960" y="4837176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4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40" dirty="0"/>
          </a:p>
        </p:txBody>
      </p:sp>
      <p:sp>
        <p:nvSpPr>
          <p:cNvPr id="21" name="Text 18"/>
          <p:cNvSpPr txBox="1"/>
          <p:nvPr/>
        </p:nvSpPr>
        <p:spPr>
          <a:xfrm>
            <a:off x="1417320" y="4864608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Ü1 Paddy Fingal lesen (Frage 5 *)</a:t>
            </a:r>
            <a:endParaRPr lang="en-US" sz="2000" dirty="0"/>
          </a:p>
        </p:txBody>
      </p:sp>
      <p:sp>
        <p:nvSpPr>
          <p:cNvPr id="22" name="Shape 19"/>
          <p:cNvSpPr/>
          <p:nvPr/>
        </p:nvSpPr>
        <p:spPr>
          <a:xfrm>
            <a:off x="822960" y="5458968"/>
            <a:ext cx="411480" cy="41148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822960" y="5458968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4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40" dirty="0"/>
          </a:p>
        </p:txBody>
      </p:sp>
      <p:sp>
        <p:nvSpPr>
          <p:cNvPr id="24" name="Text 21"/>
          <p:cNvSpPr txBox="1"/>
          <p:nvPr/>
        </p:nvSpPr>
        <p:spPr>
          <a:xfrm>
            <a:off x="1417320" y="548640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Was habe ich heute gelernt?  ·  * LB-Aufgabe 1</a:t>
            </a:r>
            <a:endParaRPr lang="en-US" sz="2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spc="200" kern="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ANKOMMEN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Wer ist Paddy Fingal?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00800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Paddy Fingal – Lesetechniken · Deutsch 7A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11155680" y="640080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548640" y="1645920"/>
            <a:ext cx="11064240" cy="2011680"/>
          </a:xfrm>
          <a:prstGeom prst="roundRect">
            <a:avLst>
              <a:gd name="adj" fmla="val 3636"/>
            </a:avLst>
          </a:prstGeom>
          <a:solidFill>
            <a:srgbClr val="F4F7FD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548640" y="187452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D953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Paddy Fingal</a:t>
            </a:r>
            <a:endParaRPr lang="en-US" sz="5400" dirty="0"/>
          </a:p>
        </p:txBody>
      </p:sp>
      <p:sp>
        <p:nvSpPr>
          <p:cNvPr id="9" name="Text 6"/>
          <p:cNvSpPr txBox="1"/>
          <p:nvPr/>
        </p:nvSpPr>
        <p:spPr>
          <a:xfrm>
            <a:off x="548640" y="278892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i="1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Wilhelm Brandes · Lehrbuch S. 136</a:t>
            </a:r>
            <a:endParaRPr lang="en-US" sz="2000" dirty="0"/>
          </a:p>
        </p:txBody>
      </p:sp>
      <p:sp>
        <p:nvSpPr>
          <p:cNvPr id="10" name="Text 7"/>
          <p:cNvSpPr txBox="1"/>
          <p:nvPr/>
        </p:nvSpPr>
        <p:spPr>
          <a:xfrm>
            <a:off x="548640" y="411480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Schau nur auf den Titel und das erste Bild. Schreibe einen Satz ins Heft: </a:t>
            </a:r>
            <a:pPr algn="ctr" indent="0" marL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Wer ist Paddy Fingal?</a:t>
            </a:r>
            <a:endParaRPr lang="en-US" sz="2400" dirty="0"/>
          </a:p>
        </p:txBody>
      </p:sp>
      <p:sp>
        <p:nvSpPr>
          <p:cNvPr id="11" name="Shape 8"/>
          <p:cNvSpPr/>
          <p:nvPr/>
        </p:nvSpPr>
        <p:spPr>
          <a:xfrm>
            <a:off x="548640" y="5715000"/>
            <a:ext cx="11064240" cy="502920"/>
          </a:xfrm>
          <a:prstGeom prst="roundRect">
            <a:avLst>
              <a:gd name="adj" fmla="val 14545"/>
            </a:avLst>
          </a:prstGeom>
          <a:solidFill>
            <a:srgbClr val="EAF0FA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777240" y="5788152"/>
            <a:ext cx="10698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Zeit: </a:t>
            </a:r>
            <a:pPr indent="0" marL="0">
              <a:buNone/>
            </a:pPr>
            <a:r>
              <a:rPr lang="en-US" sz="16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Minuten · allein      </a:t>
            </a:r>
            <a:pPr indent="0" marL="0">
              <a:buNone/>
            </a:pPr>
            <a:r>
              <a:rPr lang="en-US" sz="1600" i="1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Fertig? Stift hinlegen.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spc="200" kern="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VORWISSEN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Wie lest ihr?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00800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Paddy Fingal – Lesetechniken · Deutsch 7A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11155680" y="640080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141732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Schreibe ins Heft zu jeder Situation: Wie liest du – schnell drüber, gezielt suchen oder langsam Wort für Wort?</a:t>
            </a:r>
            <a:endParaRPr lang="en-US" sz="1800" dirty="0"/>
          </a:p>
        </p:txBody>
      </p:sp>
      <p:sp>
        <p:nvSpPr>
          <p:cNvPr id="8" name="Shape 5"/>
          <p:cNvSpPr/>
          <p:nvPr/>
        </p:nvSpPr>
        <p:spPr>
          <a:xfrm>
            <a:off x="548640" y="2103120"/>
            <a:ext cx="11064240" cy="1005840"/>
          </a:xfrm>
          <a:prstGeom prst="roundRect">
            <a:avLst>
              <a:gd name="adj" fmla="val 7273"/>
            </a:avLst>
          </a:prstGeom>
          <a:solidFill>
            <a:srgbClr val="F4F7FD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822960" y="2267712"/>
            <a:ext cx="731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D953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</a:t>
            </a:r>
            <a:endParaRPr lang="en-US" sz="3600" dirty="0"/>
          </a:p>
        </p:txBody>
      </p:sp>
      <p:sp>
        <p:nvSpPr>
          <p:cNvPr id="10" name="Text 7"/>
          <p:cNvSpPr txBox="1"/>
          <p:nvPr/>
        </p:nvSpPr>
        <p:spPr>
          <a:xfrm>
            <a:off x="1645920" y="2377440"/>
            <a:ext cx="9692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 bekommst die Ausschreibung für ein Turnier und suchst nur deine Startzeit.</a:t>
            </a:r>
            <a:endParaRPr lang="en-US" sz="2200" dirty="0"/>
          </a:p>
        </p:txBody>
      </p:sp>
      <p:sp>
        <p:nvSpPr>
          <p:cNvPr id="11" name="Shape 8"/>
          <p:cNvSpPr/>
          <p:nvPr/>
        </p:nvSpPr>
        <p:spPr>
          <a:xfrm>
            <a:off x="548640" y="3291840"/>
            <a:ext cx="11064240" cy="1005840"/>
          </a:xfrm>
          <a:prstGeom prst="roundRect">
            <a:avLst>
              <a:gd name="adj" fmla="val 7273"/>
            </a:avLst>
          </a:prstGeom>
          <a:solidFill>
            <a:srgbClr val="F4F7FD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822960" y="3456432"/>
            <a:ext cx="731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D953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</a:t>
            </a:r>
            <a:endParaRPr lang="en-US" sz="3600" dirty="0"/>
          </a:p>
        </p:txBody>
      </p:sp>
      <p:sp>
        <p:nvSpPr>
          <p:cNvPr id="13" name="Text 10"/>
          <p:cNvSpPr txBox="1"/>
          <p:nvPr/>
        </p:nvSpPr>
        <p:spPr>
          <a:xfrm>
            <a:off x="1645920" y="3566160"/>
            <a:ext cx="9692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 blätterst in einem Buch und willst wissen, worum es in einem Kapitel geht.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548640" y="4480560"/>
            <a:ext cx="11064240" cy="1005840"/>
          </a:xfrm>
          <a:prstGeom prst="roundRect">
            <a:avLst>
              <a:gd name="adj" fmla="val 7273"/>
            </a:avLst>
          </a:prstGeom>
          <a:solidFill>
            <a:srgbClr val="F4F7FD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822960" y="4645152"/>
            <a:ext cx="731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D953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</a:t>
            </a:r>
            <a:endParaRPr lang="en-US" sz="3600" dirty="0"/>
          </a:p>
        </p:txBody>
      </p:sp>
      <p:sp>
        <p:nvSpPr>
          <p:cNvPr id="16" name="Text 13"/>
          <p:cNvSpPr txBox="1"/>
          <p:nvPr/>
        </p:nvSpPr>
        <p:spPr>
          <a:xfrm>
            <a:off x="1645920" y="4754880"/>
            <a:ext cx="9692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 bekommst eine neue Regel für deinen Sport, die du genau verstehen musst.</a:t>
            </a:r>
            <a:endParaRPr lang="en-US" sz="2200" dirty="0"/>
          </a:p>
        </p:txBody>
      </p:sp>
      <p:sp>
        <p:nvSpPr>
          <p:cNvPr id="17" name="Text 14"/>
          <p:cNvSpPr txBox="1"/>
          <p:nvPr/>
        </p:nvSpPr>
        <p:spPr>
          <a:xfrm>
            <a:off x="548640" y="580644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Minuten · allein, dann zu zweit vergleichen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spc="200" kern="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MERKSATZ 1 – ABSCHREIBEN, ROT UMRAHMEN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Lesetechniken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00800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Paddy Fingal – Lesetechniken · Deutsch 7A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11155680" y="640080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548640" y="1463040"/>
            <a:ext cx="11064240" cy="3794760"/>
          </a:xfrm>
          <a:prstGeom prst="roundRect">
            <a:avLst>
              <a:gd name="adj" fmla="val 1205"/>
            </a:avLst>
          </a:prstGeom>
          <a:solidFill>
            <a:srgbClr val="FFFFFF"/>
          </a:solidFill>
          <a:ln w="38100">
            <a:solidFill>
              <a:srgbClr val="D9534F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868680" y="1645920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nach </a:t>
            </a:r>
            <a:pPr indent="0" marL="0">
              <a:buNone/>
            </a:pPr>
            <a:r>
              <a:rPr lang="en-US" sz="2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Leseziel</a:t>
            </a:r>
            <a:pPr indent="0" marL="0">
              <a:buNone/>
            </a:pPr>
            <a:r>
              <a:rPr lang="en-US" sz="22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lese ich unterschiedlich:</a:t>
            </a:r>
            <a:endParaRPr lang="en-US" sz="2200" dirty="0"/>
          </a:p>
        </p:txBody>
      </p:sp>
      <p:sp>
        <p:nvSpPr>
          <p:cNvPr id="9" name="Shape 6"/>
          <p:cNvSpPr/>
          <p:nvPr/>
        </p:nvSpPr>
        <p:spPr>
          <a:xfrm>
            <a:off x="868680" y="2240280"/>
            <a:ext cx="2377440" cy="685800"/>
          </a:xfrm>
          <a:prstGeom prst="roundRect">
            <a:avLst>
              <a:gd name="adj" fmla="val 49333"/>
            </a:avLst>
          </a:prstGeom>
          <a:solidFill>
            <a:srgbClr val="3F7CC4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868680" y="2240280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»  überfliegend</a:t>
            </a:r>
            <a:endParaRPr lang="en-US" sz="1900" dirty="0"/>
          </a:p>
        </p:txBody>
      </p:sp>
      <p:sp>
        <p:nvSpPr>
          <p:cNvPr id="11" name="Text 8"/>
          <p:cNvSpPr txBox="1"/>
          <p:nvPr/>
        </p:nvSpPr>
        <p:spPr>
          <a:xfrm>
            <a:off x="3474720" y="2286000"/>
            <a:ext cx="7863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schnell über den Text (Überschrift, Anfang, Ende, auffällige Wörter) </a:t>
            </a:r>
            <a:pPr indent="0" marL="0">
              <a:buNone/>
            </a:pPr>
            <a:r>
              <a:rPr lang="en-US" sz="19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ich will wissen, </a:t>
            </a:r>
            <a:pPr indent="0" marL="0">
              <a:buNone/>
            </a:pPr>
            <a:r>
              <a:rPr lang="en-US" sz="1900" b="1" dirty="0">
                <a:solidFill>
                  <a:srgbClr val="3F7C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worum es geht</a:t>
            </a:r>
            <a:pPr indent="0" marL="0">
              <a:buNone/>
            </a:pPr>
            <a:r>
              <a:rPr lang="en-US" sz="19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900" dirty="0"/>
          </a:p>
        </p:txBody>
      </p:sp>
      <p:sp>
        <p:nvSpPr>
          <p:cNvPr id="12" name="Shape 9"/>
          <p:cNvSpPr/>
          <p:nvPr/>
        </p:nvSpPr>
        <p:spPr>
          <a:xfrm>
            <a:off x="868680" y="3200400"/>
            <a:ext cx="2377440" cy="685800"/>
          </a:xfrm>
          <a:prstGeom prst="roundRect">
            <a:avLst>
              <a:gd name="adj" fmla="val 49333"/>
            </a:avLst>
          </a:prstGeom>
          <a:solidFill>
            <a:srgbClr val="E8A33D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868680" y="3200400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⌕  orientierend</a:t>
            </a:r>
            <a:endParaRPr lang="en-US" sz="1900" dirty="0"/>
          </a:p>
        </p:txBody>
      </p:sp>
      <p:sp>
        <p:nvSpPr>
          <p:cNvPr id="14" name="Text 11"/>
          <p:cNvSpPr txBox="1"/>
          <p:nvPr/>
        </p:nvSpPr>
        <p:spPr>
          <a:xfrm>
            <a:off x="3474720" y="3246120"/>
            <a:ext cx="7863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gezielt suchen, den Rest überspringen </a:t>
            </a:r>
            <a:pPr indent="0" marL="0">
              <a:buNone/>
            </a:pPr>
            <a:r>
              <a:rPr lang="en-US" sz="19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ich will </a:t>
            </a:r>
            <a:pPr indent="0" marL="0">
              <a:buNone/>
            </a:pPr>
            <a:r>
              <a:rPr lang="en-US" sz="1900" b="1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eine bestimmte Information</a:t>
            </a:r>
            <a:pPr indent="0" marL="0">
              <a:buNone/>
            </a:pPr>
            <a:r>
              <a:rPr lang="en-US" sz="19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finden.</a:t>
            </a:r>
            <a:endParaRPr lang="en-US" sz="1900" dirty="0"/>
          </a:p>
        </p:txBody>
      </p:sp>
      <p:sp>
        <p:nvSpPr>
          <p:cNvPr id="15" name="Shape 12"/>
          <p:cNvSpPr/>
          <p:nvPr/>
        </p:nvSpPr>
        <p:spPr>
          <a:xfrm>
            <a:off x="868680" y="4160520"/>
            <a:ext cx="2377440" cy="685800"/>
          </a:xfrm>
          <a:prstGeom prst="roundRect">
            <a:avLst>
              <a:gd name="adj" fmla="val 49333"/>
            </a:avLst>
          </a:prstGeom>
          <a:solidFill>
            <a:srgbClr val="2E9E6B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868680" y="4160520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✎  genau</a:t>
            </a:r>
            <a:endParaRPr lang="en-US" sz="1900" dirty="0"/>
          </a:p>
        </p:txBody>
      </p:sp>
      <p:sp>
        <p:nvSpPr>
          <p:cNvPr id="17" name="Text 14"/>
          <p:cNvSpPr txBox="1"/>
          <p:nvPr/>
        </p:nvSpPr>
        <p:spPr>
          <a:xfrm>
            <a:off x="3474720" y="4206240"/>
            <a:ext cx="7863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Satz für Satz, Unbekanntes klären, Randnotizen machen </a:t>
            </a:r>
            <a:pPr indent="0" marL="0">
              <a:buNone/>
            </a:pPr>
            <a:r>
              <a:rPr lang="en-US" sz="19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ich will </a:t>
            </a:r>
            <a:pPr indent="0" marL="0">
              <a:buNone/>
            </a:pPr>
            <a:r>
              <a:rPr lang="en-US" sz="1900" b="1" dirty="0">
                <a:solidFill>
                  <a:srgbClr val="2E9E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alles verstehen</a:t>
            </a:r>
            <a:pPr indent="0" marL="0">
              <a:buNone/>
            </a:pPr>
            <a:r>
              <a:rPr lang="en-US" sz="19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900" dirty="0"/>
          </a:p>
        </p:txBody>
      </p:sp>
      <p:sp>
        <p:nvSpPr>
          <p:cNvPr id="18" name="Shape 15"/>
          <p:cNvSpPr/>
          <p:nvPr/>
        </p:nvSpPr>
        <p:spPr>
          <a:xfrm>
            <a:off x="548640" y="5440680"/>
            <a:ext cx="5440680" cy="868680"/>
          </a:xfrm>
          <a:prstGeom prst="roundRect">
            <a:avLst>
              <a:gd name="adj" fmla="val 8421"/>
            </a:avLst>
          </a:prstGeom>
          <a:solidFill>
            <a:srgbClr val="EAF0FA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731520" y="5504688"/>
            <a:ext cx="5120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Wofür? </a:t>
            </a:r>
            <a:pPr indent="0" marL="0">
              <a:buNone/>
            </a:pPr>
            <a:r>
              <a:rPr lang="en-US" sz="14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Ich spare Zeit und finde, was ich brauche – die Startzeit in der Ausschreibung genauso wie die wichtige Stelle in einer Ballade.</a:t>
            </a:r>
            <a:endParaRPr lang="en-US" sz="1400" dirty="0"/>
          </a:p>
        </p:txBody>
      </p:sp>
      <p:sp>
        <p:nvSpPr>
          <p:cNvPr id="20" name="Shape 17"/>
          <p:cNvSpPr/>
          <p:nvPr/>
        </p:nvSpPr>
        <p:spPr>
          <a:xfrm>
            <a:off x="6172200" y="5440680"/>
            <a:ext cx="5440680" cy="868680"/>
          </a:xfrm>
          <a:prstGeom prst="roundRect">
            <a:avLst>
              <a:gd name="adj" fmla="val 8421"/>
            </a:avLst>
          </a:prstGeom>
          <a:solidFill>
            <a:srgbClr val="EAF0FA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6355080" y="5504688"/>
            <a:ext cx="5120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Test: </a:t>
            </a:r>
            <a:pPr indent="0" marL="0">
              <a:buNone/>
            </a:pPr>
            <a:r>
              <a:rPr lang="en-US" sz="14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Frag dich vor dem Lesen: Will ich einen Überblick, eine Information oder alles verstehen?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spc="200" kern="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VERARBEITEN · Ü1 A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Ü1 a) Überfliegen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00800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Paddy Fingal – Lesetechniken · Deutsch 7A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11155680" y="640080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548640" y="1600200"/>
            <a:ext cx="457200" cy="45720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548640" y="16002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1188720" y="1636776"/>
            <a:ext cx="10332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Klebe den Schnipsel Ü1 ins Heft. Schlage S. 136 f. auf.</a:t>
            </a:r>
            <a:endParaRPr lang="en-US" sz="2100" dirty="0"/>
          </a:p>
        </p:txBody>
      </p:sp>
      <p:sp>
        <p:nvSpPr>
          <p:cNvPr id="10" name="Shape 7"/>
          <p:cNvSpPr/>
          <p:nvPr/>
        </p:nvSpPr>
        <p:spPr>
          <a:xfrm>
            <a:off x="548640" y="2331720"/>
            <a:ext cx="457200" cy="45720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548640" y="23317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1188720" y="2368296"/>
            <a:ext cx="10332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Überfliege die Ballade – genau 1 Minute für beide Seiten.</a:t>
            </a:r>
            <a:endParaRPr lang="en-US" sz="2100" dirty="0"/>
          </a:p>
        </p:txBody>
      </p:sp>
      <p:sp>
        <p:nvSpPr>
          <p:cNvPr id="13" name="Shape 10"/>
          <p:cNvSpPr/>
          <p:nvPr/>
        </p:nvSpPr>
        <p:spPr>
          <a:xfrm>
            <a:off x="548640" y="3063240"/>
            <a:ext cx="457200" cy="45720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548640" y="30632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5" name="Text 12"/>
          <p:cNvSpPr txBox="1"/>
          <p:nvPr/>
        </p:nvSpPr>
        <p:spPr>
          <a:xfrm>
            <a:off x="1188720" y="3099816"/>
            <a:ext cx="10332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Klappe das Buch zu. Schreibe einen Satz: „In der Ballade geht es um …“</a:t>
            </a:r>
            <a:endParaRPr lang="en-US" sz="2100" dirty="0"/>
          </a:p>
        </p:txBody>
      </p:sp>
      <p:sp>
        <p:nvSpPr>
          <p:cNvPr id="16" name="Shape 13"/>
          <p:cNvSpPr/>
          <p:nvPr/>
        </p:nvSpPr>
        <p:spPr>
          <a:xfrm>
            <a:off x="548640" y="4069080"/>
            <a:ext cx="11064240" cy="1188720"/>
          </a:xfrm>
          <a:prstGeom prst="roundRect">
            <a:avLst>
              <a:gd name="adj" fmla="val 6154"/>
            </a:avLst>
          </a:prstGeom>
          <a:solidFill>
            <a:srgbClr val="F4F7FD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548640" y="4206240"/>
            <a:ext cx="11064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3F7CC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⏱  1 Minute</a:t>
            </a:r>
            <a:endParaRPr lang="en-US" sz="4800" dirty="0"/>
          </a:p>
        </p:txBody>
      </p:sp>
      <p:sp>
        <p:nvSpPr>
          <p:cNvPr id="18" name="Shape 15"/>
          <p:cNvSpPr/>
          <p:nvPr/>
        </p:nvSpPr>
        <p:spPr>
          <a:xfrm>
            <a:off x="548640" y="5715000"/>
            <a:ext cx="11064240" cy="502920"/>
          </a:xfrm>
          <a:prstGeom prst="roundRect">
            <a:avLst>
              <a:gd name="adj" fmla="val 14545"/>
            </a:avLst>
          </a:prstGeom>
          <a:solidFill>
            <a:srgbClr val="EAF0FA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777240" y="5788152"/>
            <a:ext cx="10698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Zeit: </a:t>
            </a:r>
            <a:pPr indent="0" marL="0">
              <a:buNone/>
            </a:pPr>
            <a:r>
              <a:rPr lang="en-US" sz="16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Minute lesen + 2 Minuten schreiben · allein · leise      </a:t>
            </a:r>
            <a:pPr indent="0" marL="0">
              <a:buNone/>
            </a:pPr>
            <a:r>
              <a:rPr lang="en-US" sz="1600" i="1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Fertig? Stift hinlegen.</a:t>
            </a:r>
            <a:endParaRPr lang="en-US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spc="200" kern="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VERARBEITEN · ZUHÖREN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Zuhören und mitsprechen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00800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Paddy Fingal – Lesetechniken · Deutsch 7A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11155680" y="640080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548640" y="1691640"/>
            <a:ext cx="457200" cy="45720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548640" y="16916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1188720" y="1728216"/>
            <a:ext cx="10332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Hör zu, während die Ballade vorgelesen wird. Lies im Buch mit.</a:t>
            </a:r>
            <a:endParaRPr lang="en-US" sz="2100" dirty="0"/>
          </a:p>
        </p:txBody>
      </p:sp>
      <p:sp>
        <p:nvSpPr>
          <p:cNvPr id="10" name="Shape 7"/>
          <p:cNvSpPr/>
          <p:nvPr/>
        </p:nvSpPr>
        <p:spPr>
          <a:xfrm>
            <a:off x="548640" y="2468880"/>
            <a:ext cx="457200" cy="45720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548640" y="2468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1188720" y="2505456"/>
            <a:ext cx="10332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Die letzte Zeile jeder Strophe sprecht ihr alle im Chor mit.</a:t>
            </a:r>
            <a:endParaRPr lang="en-US" sz="2100" dirty="0"/>
          </a:p>
        </p:txBody>
      </p:sp>
      <p:sp>
        <p:nvSpPr>
          <p:cNvPr id="13" name="Shape 10"/>
          <p:cNvSpPr/>
          <p:nvPr/>
        </p:nvSpPr>
        <p:spPr>
          <a:xfrm>
            <a:off x="548640" y="3246120"/>
            <a:ext cx="457200" cy="45720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548640" y="32461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5" name="Text 12"/>
          <p:cNvSpPr txBox="1"/>
          <p:nvPr/>
        </p:nvSpPr>
        <p:spPr>
          <a:xfrm>
            <a:off x="1188720" y="3282696"/>
            <a:ext cx="10332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Schreibe in Ü1: Die Ballade wirkt lustig / spannend / unheimlich, weil …</a:t>
            </a:r>
            <a:endParaRPr lang="en-US" sz="2100" dirty="0"/>
          </a:p>
        </p:txBody>
      </p:sp>
      <p:sp>
        <p:nvSpPr>
          <p:cNvPr id="16" name="Shape 13"/>
          <p:cNvSpPr/>
          <p:nvPr/>
        </p:nvSpPr>
        <p:spPr>
          <a:xfrm>
            <a:off x="548640" y="4206240"/>
            <a:ext cx="11064240" cy="1188720"/>
          </a:xfrm>
          <a:prstGeom prst="roundRect">
            <a:avLst>
              <a:gd name="adj" fmla="val 6154"/>
            </a:avLst>
          </a:prstGeom>
          <a:solidFill>
            <a:srgbClr val="EAF0FA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548640" y="4206240"/>
            <a:ext cx="11064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D953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… so ein Kerl war Paddy Fingal!</a:t>
            </a:r>
            <a:endParaRPr lang="en-US" sz="4000" dirty="0"/>
          </a:p>
        </p:txBody>
      </p:sp>
      <p:sp>
        <p:nvSpPr>
          <p:cNvPr id="18" name="Shape 15"/>
          <p:cNvSpPr/>
          <p:nvPr/>
        </p:nvSpPr>
        <p:spPr>
          <a:xfrm>
            <a:off x="548640" y="5715000"/>
            <a:ext cx="11064240" cy="502920"/>
          </a:xfrm>
          <a:prstGeom prst="roundRect">
            <a:avLst>
              <a:gd name="adj" fmla="val 14545"/>
            </a:avLst>
          </a:prstGeom>
          <a:solidFill>
            <a:srgbClr val="EAF0FA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777240" y="5788152"/>
            <a:ext cx="10698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Zeit: </a:t>
            </a:r>
            <a:pPr indent="0" marL="0">
              <a:buNone/>
            </a:pPr>
            <a:r>
              <a:rPr lang="en-US" sz="16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Minuten · alle gemeinsam, dann allein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spc="200" kern="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VERARBEITEN · Ü1 B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Ü1 b) Orientierend lesen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00800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Paddy Fingal – Lesetechniken · Deutsch 7A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11155680" y="640080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548640" y="1600200"/>
            <a:ext cx="457200" cy="45720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548640" y="16002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1188720" y="1636776"/>
            <a:ext cx="10332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Suche nur die Antworten – lies nicht alles!</a:t>
            </a:r>
            <a:endParaRPr lang="en-US" sz="2100" dirty="0"/>
          </a:p>
        </p:txBody>
      </p:sp>
      <p:sp>
        <p:nvSpPr>
          <p:cNvPr id="10" name="Shape 7"/>
          <p:cNvSpPr/>
          <p:nvPr/>
        </p:nvSpPr>
        <p:spPr>
          <a:xfrm>
            <a:off x="548640" y="2331720"/>
            <a:ext cx="457200" cy="45720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548640" y="23317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1188720" y="2368296"/>
            <a:ext cx="10332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Notiere die Antwort und die Strophe auf dem Schnipsel.</a:t>
            </a:r>
            <a:endParaRPr lang="en-US" sz="2100" dirty="0"/>
          </a:p>
        </p:txBody>
      </p:sp>
      <p:sp>
        <p:nvSpPr>
          <p:cNvPr id="13" name="Text 10"/>
          <p:cNvSpPr txBox="1"/>
          <p:nvPr/>
        </p:nvSpPr>
        <p:spPr>
          <a:xfrm>
            <a:off x="1188720" y="3154680"/>
            <a:ext cx="10332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 </a:t>
            </a:r>
            <a:pPr indent="0" marL="0">
              <a:buNone/>
            </a:pPr>
            <a:r>
              <a:rPr lang="en-US" sz="19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Wie lang ist Paddys Bart?</a:t>
            </a:r>
            <a:endParaRPr lang="en-US" sz="1900" dirty="0"/>
          </a:p>
        </p:txBody>
      </p:sp>
      <p:sp>
        <p:nvSpPr>
          <p:cNvPr id="14" name="Text 11"/>
          <p:cNvSpPr txBox="1"/>
          <p:nvPr/>
        </p:nvSpPr>
        <p:spPr>
          <a:xfrm>
            <a:off x="1188720" y="3657600"/>
            <a:ext cx="10332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 </a:t>
            </a:r>
            <a:pPr indent="0" marL="0">
              <a:buNone/>
            </a:pPr>
            <a:r>
              <a:rPr lang="en-US" sz="19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Woher kommt der Fremde?</a:t>
            </a:r>
            <a:endParaRPr lang="en-US" sz="1900" dirty="0"/>
          </a:p>
        </p:txBody>
      </p:sp>
      <p:sp>
        <p:nvSpPr>
          <p:cNvPr id="15" name="Text 12"/>
          <p:cNvSpPr txBox="1"/>
          <p:nvPr/>
        </p:nvSpPr>
        <p:spPr>
          <a:xfrm>
            <a:off x="1188720" y="4160520"/>
            <a:ext cx="10332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 </a:t>
            </a:r>
            <a:pPr indent="0" marL="0">
              <a:buNone/>
            </a:pPr>
            <a:r>
              <a:rPr lang="en-US" sz="19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Wie heißt Paddys Frau?</a:t>
            </a:r>
            <a:endParaRPr lang="en-US" sz="1900" dirty="0"/>
          </a:p>
        </p:txBody>
      </p:sp>
      <p:sp>
        <p:nvSpPr>
          <p:cNvPr id="16" name="Text 13"/>
          <p:cNvSpPr txBox="1"/>
          <p:nvPr/>
        </p:nvSpPr>
        <p:spPr>
          <a:xfrm>
            <a:off x="1188720" y="4663440"/>
            <a:ext cx="10332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 </a:t>
            </a:r>
            <a:pPr indent="0" marL="0">
              <a:buNone/>
            </a:pPr>
            <a:r>
              <a:rPr lang="en-US" sz="19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Was guckt aus dem Bett heraus?</a:t>
            </a:r>
            <a:endParaRPr lang="en-US" sz="1900" dirty="0"/>
          </a:p>
        </p:txBody>
      </p:sp>
      <p:sp>
        <p:nvSpPr>
          <p:cNvPr id="17" name="Text 14"/>
          <p:cNvSpPr txBox="1"/>
          <p:nvPr/>
        </p:nvSpPr>
        <p:spPr>
          <a:xfrm>
            <a:off x="1188720" y="5166360"/>
            <a:ext cx="10332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 </a:t>
            </a:r>
            <a:pPr indent="0" marL="0">
              <a:buNone/>
            </a:pPr>
            <a:r>
              <a:rPr lang="en-US" sz="19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 Was ist eine Furt? (Tipp: Worterklärungen)</a:t>
            </a:r>
            <a:endParaRPr lang="en-US" sz="1900" dirty="0"/>
          </a:p>
        </p:txBody>
      </p:sp>
      <p:sp>
        <p:nvSpPr>
          <p:cNvPr id="18" name="Shape 15"/>
          <p:cNvSpPr/>
          <p:nvPr/>
        </p:nvSpPr>
        <p:spPr>
          <a:xfrm>
            <a:off x="548640" y="5715000"/>
            <a:ext cx="11064240" cy="502920"/>
          </a:xfrm>
          <a:prstGeom prst="roundRect">
            <a:avLst>
              <a:gd name="adj" fmla="val 14545"/>
            </a:avLst>
          </a:prstGeom>
          <a:solidFill>
            <a:srgbClr val="EAF0FA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777240" y="5788152"/>
            <a:ext cx="10698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Zeit: </a:t>
            </a:r>
            <a:pPr indent="0" marL="0">
              <a:buNone/>
            </a:pPr>
            <a:r>
              <a:rPr lang="en-US" sz="16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Minuten · allein · leise · Wer fertig ist, macht Frage 5*      </a:t>
            </a:r>
            <a:pPr indent="0" marL="0">
              <a:buNone/>
            </a:pPr>
            <a:r>
              <a:rPr lang="en-US" sz="1600" i="1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Fertig? Stift hinlegen.</a:t>
            </a: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spc="200" kern="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VERARBEITEN · Ü1 C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Ü1 c) Genau lesen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00800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Paddy Fingal – Lesetechniken · Deutsch 7A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11155680" y="640080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548640" y="1600200"/>
            <a:ext cx="457200" cy="45720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548640" y="16002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1188720" y="1636776"/>
            <a:ext cx="10332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Lies Strophe 7 bis 9 Satz für Satz.</a:t>
            </a:r>
            <a:endParaRPr lang="en-US" sz="2100" dirty="0"/>
          </a:p>
        </p:txBody>
      </p:sp>
      <p:sp>
        <p:nvSpPr>
          <p:cNvPr id="10" name="Shape 7"/>
          <p:cNvSpPr/>
          <p:nvPr/>
        </p:nvSpPr>
        <p:spPr>
          <a:xfrm>
            <a:off x="548640" y="2331720"/>
            <a:ext cx="457200" cy="45720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548640" y="23317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1188720" y="2368296"/>
            <a:ext cx="10332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Notiere zu jeder Strophe einen Stichpunkt.</a:t>
            </a:r>
            <a:endParaRPr lang="en-US" sz="2100" dirty="0"/>
          </a:p>
        </p:txBody>
      </p:sp>
      <p:sp>
        <p:nvSpPr>
          <p:cNvPr id="13" name="Shape 10"/>
          <p:cNvSpPr/>
          <p:nvPr/>
        </p:nvSpPr>
        <p:spPr>
          <a:xfrm>
            <a:off x="548640" y="3063240"/>
            <a:ext cx="457200" cy="45720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548640" y="30632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5" name="Text 12"/>
          <p:cNvSpPr txBox="1"/>
          <p:nvPr/>
        </p:nvSpPr>
        <p:spPr>
          <a:xfrm>
            <a:off x="1188720" y="3099816"/>
            <a:ext cx="10332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Beantworte: Warum läuft der Schotte weg?</a:t>
            </a:r>
            <a:endParaRPr lang="en-US" sz="2100" dirty="0"/>
          </a:p>
        </p:txBody>
      </p:sp>
      <p:sp>
        <p:nvSpPr>
          <p:cNvPr id="16" name="Shape 13"/>
          <p:cNvSpPr/>
          <p:nvPr/>
        </p:nvSpPr>
        <p:spPr>
          <a:xfrm>
            <a:off x="548640" y="4114800"/>
            <a:ext cx="11064240" cy="914400"/>
          </a:xfrm>
          <a:prstGeom prst="roundRect">
            <a:avLst>
              <a:gd name="adj" fmla="val 8000"/>
            </a:avLst>
          </a:prstGeom>
          <a:solidFill>
            <a:srgbClr val="EAF0FA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548640" y="4114800"/>
            <a:ext cx="11064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i="1" dirty="0">
                <a:solidFill>
                  <a:srgbClr val="2E9E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„Ist das ein Baby, wie Ihr sagt, – ein Narr, wer’s mit ihm selber wagt!“</a:t>
            </a:r>
            <a:endParaRPr lang="en-US" sz="2400" dirty="0"/>
          </a:p>
        </p:txBody>
      </p:sp>
      <p:sp>
        <p:nvSpPr>
          <p:cNvPr id="18" name="Shape 15"/>
          <p:cNvSpPr/>
          <p:nvPr/>
        </p:nvSpPr>
        <p:spPr>
          <a:xfrm>
            <a:off x="548640" y="5715000"/>
            <a:ext cx="11064240" cy="502920"/>
          </a:xfrm>
          <a:prstGeom prst="roundRect">
            <a:avLst>
              <a:gd name="adj" fmla="val 14545"/>
            </a:avLst>
          </a:prstGeom>
          <a:solidFill>
            <a:srgbClr val="EAF0FA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777240" y="5788152"/>
            <a:ext cx="10698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Zeit: </a:t>
            </a:r>
            <a:pPr indent="0" marL="0">
              <a:buNone/>
            </a:pPr>
            <a:r>
              <a:rPr lang="en-US" sz="16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Minuten · allein · leise      </a:t>
            </a:r>
            <a:pPr indent="0" marL="0">
              <a:buNone/>
            </a:pPr>
            <a:r>
              <a:rPr lang="en-US" sz="1600" i="1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Fertig? Stift hinlegen.</a:t>
            </a:r>
            <a:endParaRPr lang="en-US" sz="1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spc="200" kern="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VERARBEITEN · VERGLEICH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Vergleicht zu zweit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00800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Paddy Fingal – Lesetechniken · Deutsch 7A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11155680" y="640080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548640" y="1691640"/>
            <a:ext cx="457200" cy="45720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548640" y="16916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1188720" y="1728216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Vergleicht a, b und c.</a:t>
            </a:r>
            <a:endParaRPr lang="en-US" sz="2400" dirty="0"/>
          </a:p>
        </p:txBody>
      </p:sp>
      <p:sp>
        <p:nvSpPr>
          <p:cNvPr id="10" name="Shape 7"/>
          <p:cNvSpPr/>
          <p:nvPr/>
        </p:nvSpPr>
        <p:spPr>
          <a:xfrm>
            <a:off x="548640" y="2514600"/>
            <a:ext cx="457200" cy="45720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548640" y="25146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1188720" y="2551176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Verbessert mit Grün.</a:t>
            </a:r>
            <a:endParaRPr lang="en-US" sz="2400" dirty="0"/>
          </a:p>
        </p:txBody>
      </p:sp>
      <p:sp>
        <p:nvSpPr>
          <p:cNvPr id="13" name="Shape 10"/>
          <p:cNvSpPr/>
          <p:nvPr/>
        </p:nvSpPr>
        <p:spPr>
          <a:xfrm>
            <a:off x="548640" y="3337560"/>
            <a:ext cx="457200" cy="45720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548640" y="33375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5" name="Text 12"/>
          <p:cNvSpPr txBox="1"/>
          <p:nvPr/>
        </p:nvSpPr>
        <p:spPr>
          <a:xfrm>
            <a:off x="1188720" y="3374136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Erklärt euch gegenseitig Schayas List.</a:t>
            </a:r>
            <a:endParaRPr lang="en-US" sz="2400" dirty="0"/>
          </a:p>
        </p:txBody>
      </p:sp>
      <p:sp>
        <p:nvSpPr>
          <p:cNvPr id="16" name="Shape 13"/>
          <p:cNvSpPr/>
          <p:nvPr/>
        </p:nvSpPr>
        <p:spPr>
          <a:xfrm>
            <a:off x="548640" y="5715000"/>
            <a:ext cx="11064240" cy="502920"/>
          </a:xfrm>
          <a:prstGeom prst="roundRect">
            <a:avLst>
              <a:gd name="adj" fmla="val 14545"/>
            </a:avLst>
          </a:prstGeom>
          <a:solidFill>
            <a:srgbClr val="EAF0FA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777240" y="5788152"/>
            <a:ext cx="10698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Zeit: </a:t>
            </a:r>
            <a:pPr indent="0" marL="0">
              <a:buNone/>
            </a:pPr>
            <a:r>
              <a:rPr lang="en-US" sz="16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Minuten · zu zweit</a:t>
            </a:r>
            <a:endParaRPr lang="en-US" sz="16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spc="200" kern="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AUSWERTEN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Welche Lesetechnik passt?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00800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Paddy Fingal – Lesetechniken · Deutsch 7A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11155680" y="640080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141732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Schreibe ins Heft die passende Lesetechnik. 1 Minute.</a:t>
            </a:r>
            <a:endParaRPr lang="en-US" sz="1800" dirty="0"/>
          </a:p>
        </p:txBody>
      </p:sp>
      <p:sp>
        <p:nvSpPr>
          <p:cNvPr id="8" name="Shape 5"/>
          <p:cNvSpPr/>
          <p:nvPr/>
        </p:nvSpPr>
        <p:spPr>
          <a:xfrm>
            <a:off x="548640" y="2103120"/>
            <a:ext cx="11064240" cy="1005840"/>
          </a:xfrm>
          <a:prstGeom prst="roundRect">
            <a:avLst>
              <a:gd name="adj" fmla="val 7273"/>
            </a:avLst>
          </a:prstGeom>
          <a:solidFill>
            <a:srgbClr val="F4F7FD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822960" y="2267712"/>
            <a:ext cx="731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D953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3600" dirty="0"/>
          </a:p>
        </p:txBody>
      </p:sp>
      <p:sp>
        <p:nvSpPr>
          <p:cNvPr id="10" name="Text 7"/>
          <p:cNvSpPr txBox="1"/>
          <p:nvPr/>
        </p:nvSpPr>
        <p:spPr>
          <a:xfrm>
            <a:off x="1645920" y="2377440"/>
            <a:ext cx="9692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 willst wissen, ob ein Zeitungsartikel über deinen Verein berichtet.</a:t>
            </a:r>
            <a:endParaRPr lang="en-US" sz="2200" dirty="0"/>
          </a:p>
        </p:txBody>
      </p:sp>
      <p:sp>
        <p:nvSpPr>
          <p:cNvPr id="11" name="Shape 8"/>
          <p:cNvSpPr/>
          <p:nvPr/>
        </p:nvSpPr>
        <p:spPr>
          <a:xfrm>
            <a:off x="548640" y="3291840"/>
            <a:ext cx="11064240" cy="1005840"/>
          </a:xfrm>
          <a:prstGeom prst="roundRect">
            <a:avLst>
              <a:gd name="adj" fmla="val 7273"/>
            </a:avLst>
          </a:prstGeom>
          <a:solidFill>
            <a:srgbClr val="F4F7FD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822960" y="3456432"/>
            <a:ext cx="731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D953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3600" dirty="0"/>
          </a:p>
        </p:txBody>
      </p:sp>
      <p:sp>
        <p:nvSpPr>
          <p:cNvPr id="13" name="Text 10"/>
          <p:cNvSpPr txBox="1"/>
          <p:nvPr/>
        </p:nvSpPr>
        <p:spPr>
          <a:xfrm>
            <a:off x="1645920" y="3566160"/>
            <a:ext cx="9692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 suchst, wie lang Paddys Bart ist.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548640" y="4480560"/>
            <a:ext cx="11064240" cy="1005840"/>
          </a:xfrm>
          <a:prstGeom prst="roundRect">
            <a:avLst>
              <a:gd name="adj" fmla="val 7273"/>
            </a:avLst>
          </a:prstGeom>
          <a:solidFill>
            <a:srgbClr val="F4F7FD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822960" y="4645152"/>
            <a:ext cx="731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D953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3600" dirty="0"/>
          </a:p>
        </p:txBody>
      </p:sp>
      <p:sp>
        <p:nvSpPr>
          <p:cNvPr id="16" name="Text 13"/>
          <p:cNvSpPr txBox="1"/>
          <p:nvPr/>
        </p:nvSpPr>
        <p:spPr>
          <a:xfrm>
            <a:off x="1645920" y="4754880"/>
            <a:ext cx="9692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 sollst erklären, warum der Schotte wegläuft.</a:t>
            </a:r>
            <a:endParaRPr lang="en-US" sz="2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92640" y="-1463040"/>
            <a:ext cx="4206240" cy="4206240"/>
          </a:xfrm>
          <a:prstGeom prst="ellipse">
            <a:avLst/>
          </a:prstGeom>
          <a:solidFill>
            <a:srgbClr val="24306E"/>
          </a:solidFill>
          <a:ln/>
        </p:spPr>
      </p:sp>
      <p:sp>
        <p:nvSpPr>
          <p:cNvPr id="3" name="Shape 1"/>
          <p:cNvSpPr/>
          <p:nvPr/>
        </p:nvSpPr>
        <p:spPr>
          <a:xfrm>
            <a:off x="-1371600" y="4206240"/>
            <a:ext cx="3657600" cy="3657600"/>
          </a:xfrm>
          <a:prstGeom prst="ellipse">
            <a:avLst/>
          </a:prstGeom>
          <a:solidFill>
            <a:srgbClr val="24306E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822960" y="1463040"/>
            <a:ext cx="10058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Ziel erreicht?</a:t>
            </a:r>
            <a:endParaRPr lang="en-US" sz="40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237744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Ich kann je nach Leseziel überfliegend, orientierend oder genau lesen und meinen ersten Eindruck von einer Ballade begründen.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822960" y="3657600"/>
            <a:ext cx="10515600" cy="1097280"/>
          </a:xfrm>
          <a:prstGeom prst="roundRect">
            <a:avLst>
              <a:gd name="adj" fmla="val 6667"/>
            </a:avLst>
          </a:prstGeom>
          <a:solidFill>
            <a:srgbClr val="24306E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1097280" y="3657600"/>
            <a:ext cx="10058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8A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Schreibe ins Heft:  Heute habe ich gelernt, …</a:t>
            </a:r>
            <a:endParaRPr lang="en-US" sz="3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Lesetechniken</dc:title>
  <dc:subject>PptxGenJS Presentation</dc:subject>
  <dc:creator>PptxGenJS</dc:creator>
  <cp:lastModifiedBy>PptxGenJS</cp:lastModifiedBy>
  <cp:revision>1</cp:revision>
  <dcterms:created xsi:type="dcterms:W3CDTF">2026-10-13T19:40:46Z</dcterms:created>
  <dcterms:modified xsi:type="dcterms:W3CDTF">2026-10-13T19:40:46Z</dcterms:modified>
</cp:coreProperties>
</file>