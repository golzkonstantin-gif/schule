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Ziel vorlesen. Am Ende darauf zurückkommen.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Lösung: A orientierend · B überfliegend · C genau. Kurz begründen lassen. Wer den Merksatz noch nicht hat, bekommt den Schnipsel „Lesetechniken“ zum Einkleben.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Nicht abschreiben – bei Bedarf den Schnipsel einkleben lassen.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Zeit laut stoppen. Lösung z. B.: In der Ballade geht es um den Riesen Paddy Fingal und einen noch größeren Schotten, vor dem er sich mit einer List rettet.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Lösung: 1 sechs Ellen (Str. 1) · 2 aus Schottland (Str. 2) · 3 Schaya (Str. 4) · 4 nur seine Nase (Str. 5) · *5 flache Stelle in einem Fluss oder Bach (Worterklärung 7).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Lösung: Aussehen: Riese, schwarzer Bart sechs Ellen lang, Fäuste so groß wie Tonnen, Mastbaum als Wurfgeschoss (Str. 1) · Der Schotte will herausfinden, wer stärker ist (Str. 2) · List: Schaya steckt Paddy ins Bett, türmt die Kissen hoch und gibt ihn als Baby aus; der Schotte sieht nur die riesige Nase, denkt an einen riesigen Vater und flieht (Str. 5–10).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Partner hakt die vier Punkte ab und gibt eine Rückmeldung. Dann Wechsel. * Spannend mit wörtlicher Rede.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Erwartet: Lesetechniken gezielt einsetzen; eine Ballade in der richtigen Reihenfolge mit allen wichtigen Details nacherzählen.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206240" cy="4206240"/>
          </a:xfrm>
          <a:prstGeom prst="ellipse">
            <a:avLst/>
          </a:prstGeom>
          <a:solidFill>
            <a:srgbClr val="24306E"/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206240"/>
            <a:ext cx="3657600" cy="3657600"/>
          </a:xfrm>
          <a:prstGeom prst="ellipse">
            <a:avLst/>
          </a:prstGeom>
          <a:solidFill>
            <a:srgbClr val="24306E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87452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8745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BALLADEN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42316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Paddy Fingal – wiederholen und nacherzählen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3832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Wilhelm Brandes · Lehrbuch S. 136 f.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HEUTE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Ziel und Ablauf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Paddy Fingal – wiederholen und nacherzählen · Deutsch 7A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11064240" cy="1097280"/>
          </a:xfrm>
          <a:prstGeom prst="roundRect">
            <a:avLst>
              <a:gd name="adj" fmla="val 6667"/>
            </a:avLst>
          </a:prstGeom>
          <a:solidFill>
            <a:srgbClr val="EAF0FA"/>
          </a:solidFill>
          <a:ln/>
        </p:spPr>
      </p:sp>
      <p:sp>
        <p:nvSpPr>
          <p:cNvPr id="8" name="Shape 5"/>
          <p:cNvSpPr/>
          <p:nvPr/>
        </p:nvSpPr>
        <p:spPr>
          <a:xfrm>
            <a:off x="548640" y="1554480"/>
            <a:ext cx="109728" cy="1097280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914400" y="17373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Ziel:  </a:t>
            </a:r>
            <a:pPr indent="0" marL="0">
              <a:buNone/>
            </a:pPr>
            <a:r>
              <a:rPr lang="en-US" sz="22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Ich kann mit den Lesetechniken Informationen in der Ballade finden und den Inhalt mit eigenen Worten nacherzählen.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822960" y="2971800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822960" y="2971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40" dirty="0"/>
          </a:p>
        </p:txBody>
      </p:sp>
      <p:sp>
        <p:nvSpPr>
          <p:cNvPr id="12" name="Text 9"/>
          <p:cNvSpPr txBox="1"/>
          <p:nvPr/>
        </p:nvSpPr>
        <p:spPr>
          <a:xfrm>
            <a:off x="1417320" y="2999232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Wiederholung: Welche Lesetechnik passt?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822960" y="3593592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22960" y="35935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40" dirty="0"/>
          </a:p>
        </p:txBody>
      </p:sp>
      <p:sp>
        <p:nvSpPr>
          <p:cNvPr id="15" name="Text 12"/>
          <p:cNvSpPr txBox="1"/>
          <p:nvPr/>
        </p:nvSpPr>
        <p:spPr>
          <a:xfrm>
            <a:off x="1417320" y="3621024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Ü1 Lesetechniken anwenden (Frage 5 *)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822960" y="4215384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22960" y="421538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40" dirty="0"/>
          </a:p>
        </p:txBody>
      </p:sp>
      <p:sp>
        <p:nvSpPr>
          <p:cNvPr id="18" name="Text 15"/>
          <p:cNvSpPr txBox="1"/>
          <p:nvPr/>
        </p:nvSpPr>
        <p:spPr>
          <a:xfrm>
            <a:off x="1417320" y="4242816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LB-Aufgabe 1 a: Fragen zur Ballade</a:t>
            </a:r>
            <a:endParaRPr lang="en-US" sz="2000" dirty="0"/>
          </a:p>
        </p:txBody>
      </p:sp>
      <p:sp>
        <p:nvSpPr>
          <p:cNvPr id="19" name="Shape 16"/>
          <p:cNvSpPr/>
          <p:nvPr/>
        </p:nvSpPr>
        <p:spPr>
          <a:xfrm>
            <a:off x="822960" y="4837176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822960" y="483717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40" dirty="0"/>
          </a:p>
        </p:txBody>
      </p:sp>
      <p:sp>
        <p:nvSpPr>
          <p:cNvPr id="21" name="Text 18"/>
          <p:cNvSpPr txBox="1"/>
          <p:nvPr/>
        </p:nvSpPr>
        <p:spPr>
          <a:xfrm>
            <a:off x="1417320" y="4864608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LB-Aufgabe 1 b: nacherzählen</a:t>
            </a:r>
            <a:endParaRPr lang="en-US" sz="2000" dirty="0"/>
          </a:p>
        </p:txBody>
      </p:sp>
      <p:sp>
        <p:nvSpPr>
          <p:cNvPr id="22" name="Shape 19"/>
          <p:cNvSpPr/>
          <p:nvPr/>
        </p:nvSpPr>
        <p:spPr>
          <a:xfrm>
            <a:off x="822960" y="5458968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822960" y="54589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40" dirty="0"/>
          </a:p>
        </p:txBody>
      </p:sp>
      <p:sp>
        <p:nvSpPr>
          <p:cNvPr id="24" name="Text 21"/>
          <p:cNvSpPr txBox="1"/>
          <p:nvPr/>
        </p:nvSpPr>
        <p:spPr>
          <a:xfrm>
            <a:off x="1417320" y="54864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habe ich heute gelernt?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WIEDERHOLUNG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Welche Lesetechnik passt?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Paddy Fingal – wiederholen und nacherzählen · Deutsch 7A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17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Schreibe ins Heft: A, B, C – und die passende Lesetechnik.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48640" y="2103120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F4F7FD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22960" y="2267712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D953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3600" dirty="0"/>
          </a:p>
        </p:txBody>
      </p:sp>
      <p:sp>
        <p:nvSpPr>
          <p:cNvPr id="10" name="Text 7"/>
          <p:cNvSpPr txBox="1"/>
          <p:nvPr/>
        </p:nvSpPr>
        <p:spPr>
          <a:xfrm>
            <a:off x="1645920" y="2377440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suchst im Lehrbuch, was das Wort „Hüne“ bedeutet.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548640" y="3291840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F4F7FD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22960" y="3456432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D953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3600" dirty="0"/>
          </a:p>
        </p:txBody>
      </p:sp>
      <p:sp>
        <p:nvSpPr>
          <p:cNvPr id="13" name="Text 10"/>
          <p:cNvSpPr txBox="1"/>
          <p:nvPr/>
        </p:nvSpPr>
        <p:spPr>
          <a:xfrm>
            <a:off x="1645920" y="3566160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willst schnell wissen, ob die Ballade lustig oder traurig endet.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548640" y="4480560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F4F7FD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822960" y="4645152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D953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3600" dirty="0"/>
          </a:p>
        </p:txBody>
      </p:sp>
      <p:sp>
        <p:nvSpPr>
          <p:cNvPr id="16" name="Text 13"/>
          <p:cNvSpPr txBox="1"/>
          <p:nvPr/>
        </p:nvSpPr>
        <p:spPr>
          <a:xfrm>
            <a:off x="1645920" y="4754880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sollst erklären, welche List Paddys Frau anwendet.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548640" y="5715000"/>
            <a:ext cx="11064240" cy="502920"/>
          </a:xfrm>
          <a:prstGeom prst="roundRect">
            <a:avLst>
              <a:gd name="adj" fmla="val 14545"/>
            </a:avLst>
          </a:prstGeom>
          <a:solidFill>
            <a:srgbClr val="EAF0FA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77240" y="5788152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Zeit: </a:t>
            </a:r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Minuten · allein, dann kurz vergleichen      </a:t>
            </a:r>
            <a:pPr indent="0" marL="0">
              <a:buNone/>
            </a:pPr>
            <a:r>
              <a:rPr lang="en-US" sz="16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Fertig? Stift hinlegen.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WIEDERHOLUNG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Zur Erinnerung: drei Lesetechniken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Paddy Fingal – wiederholen und nacherzählen · Deutsch 7A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737360"/>
            <a:ext cx="2926080" cy="822960"/>
          </a:xfrm>
          <a:prstGeom prst="roundRect">
            <a:avLst>
              <a:gd name="adj" fmla="val 50000"/>
            </a:avLst>
          </a:prstGeom>
          <a:solidFill>
            <a:srgbClr val="3F7CC4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48640" y="173736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»  überfliegend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3749040" y="182880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schnell über den Text (Überschrift, Anfang, Ende, auffällige Wörter) – ich will </a:t>
            </a:r>
            <a:pPr indent="0" marL="0">
              <a:buNone/>
            </a:pPr>
            <a:r>
              <a:rPr lang="en-US" sz="2100" b="1" dirty="0">
                <a:solidFill>
                  <a:srgbClr val="3F7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worum es geht</a:t>
            </a:r>
            <a:pPr indent="0" marL="0">
              <a:buNone/>
            </a:pPr>
            <a:r>
              <a:rPr lang="en-US" sz="2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100" dirty="0"/>
          </a:p>
        </p:txBody>
      </p:sp>
      <p:sp>
        <p:nvSpPr>
          <p:cNvPr id="10" name="Shape 7"/>
          <p:cNvSpPr/>
          <p:nvPr/>
        </p:nvSpPr>
        <p:spPr>
          <a:xfrm>
            <a:off x="548640" y="2971800"/>
            <a:ext cx="2926080" cy="822960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48640" y="297180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⌕  orientierend</a:t>
            </a:r>
            <a:endParaRPr lang="en-US" sz="2200" dirty="0"/>
          </a:p>
        </p:txBody>
      </p:sp>
      <p:sp>
        <p:nvSpPr>
          <p:cNvPr id="12" name="Text 9"/>
          <p:cNvSpPr txBox="1"/>
          <p:nvPr/>
        </p:nvSpPr>
        <p:spPr>
          <a:xfrm>
            <a:off x="3749040" y="30632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gezielt suchen, den Rest überspringen – ich will </a:t>
            </a:r>
            <a:pPr indent="0" marL="0">
              <a:buNone/>
            </a:pPr>
            <a:r>
              <a:rPr lang="en-US" sz="21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eine bestimmte Information</a:t>
            </a:r>
            <a:pPr indent="0" marL="0">
              <a:buNone/>
            </a:pPr>
            <a:r>
              <a:rPr lang="en-US" sz="2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100" dirty="0"/>
          </a:p>
        </p:txBody>
      </p:sp>
      <p:sp>
        <p:nvSpPr>
          <p:cNvPr id="13" name="Shape 10"/>
          <p:cNvSpPr/>
          <p:nvPr/>
        </p:nvSpPr>
        <p:spPr>
          <a:xfrm>
            <a:off x="548640" y="4206240"/>
            <a:ext cx="2926080" cy="822960"/>
          </a:xfrm>
          <a:prstGeom prst="roundRect">
            <a:avLst>
              <a:gd name="adj" fmla="val 50000"/>
            </a:avLst>
          </a:prstGeom>
          <a:solidFill>
            <a:srgbClr val="2E9E6B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48640" y="420624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✎  genau</a:t>
            </a:r>
            <a:endParaRPr lang="en-US" sz="2200" dirty="0"/>
          </a:p>
        </p:txBody>
      </p:sp>
      <p:sp>
        <p:nvSpPr>
          <p:cNvPr id="15" name="Text 12"/>
          <p:cNvSpPr txBox="1"/>
          <p:nvPr/>
        </p:nvSpPr>
        <p:spPr>
          <a:xfrm>
            <a:off x="3749040" y="42976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Satz für Satz, Unbekanntes klären, Notizen machen – ich will </a:t>
            </a:r>
            <a:pPr indent="0" marL="0">
              <a:buNone/>
            </a:pPr>
            <a:r>
              <a:rPr lang="en-US" sz="21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alles verstehen</a:t>
            </a:r>
            <a:pPr indent="0" marL="0">
              <a:buNone/>
            </a:pPr>
            <a:r>
              <a:rPr lang="en-US" sz="2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WIEDERHOLUNG · Ü1 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Ü1 a) Überfliegen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Paddy Fingal – wiederholen und nacherzählen · Deutsch 7A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6459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4864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188720" y="1682496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Schreibe ins Heft: Ü1 Paddy Fingal – a). Schlage S. 136 f. auf.</a:t>
            </a:r>
            <a:endParaRPr lang="en-US" sz="2100" dirty="0"/>
          </a:p>
        </p:txBody>
      </p:sp>
      <p:sp>
        <p:nvSpPr>
          <p:cNvPr id="10" name="Shape 7"/>
          <p:cNvSpPr/>
          <p:nvPr/>
        </p:nvSpPr>
        <p:spPr>
          <a:xfrm>
            <a:off x="548640" y="23774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48640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1188720" y="2414016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Überfliege die Ballade – genau 1 Minute.</a:t>
            </a:r>
            <a:endParaRPr lang="en-US" sz="2100" dirty="0"/>
          </a:p>
        </p:txBody>
      </p:sp>
      <p:sp>
        <p:nvSpPr>
          <p:cNvPr id="13" name="Shape 10"/>
          <p:cNvSpPr/>
          <p:nvPr/>
        </p:nvSpPr>
        <p:spPr>
          <a:xfrm>
            <a:off x="548640" y="31089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4864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1188720" y="3145536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Klappe das Buch zu. Schreibe einen Satz: „In der Ballade geht es um …“</a:t>
            </a:r>
            <a:endParaRPr lang="en-US" sz="2100" dirty="0"/>
          </a:p>
        </p:txBody>
      </p:sp>
      <p:sp>
        <p:nvSpPr>
          <p:cNvPr id="16" name="Shape 13"/>
          <p:cNvSpPr/>
          <p:nvPr/>
        </p:nvSpPr>
        <p:spPr>
          <a:xfrm>
            <a:off x="548640" y="4023360"/>
            <a:ext cx="11064240" cy="1188720"/>
          </a:xfrm>
          <a:prstGeom prst="roundRect">
            <a:avLst>
              <a:gd name="adj" fmla="val 6154"/>
            </a:avLst>
          </a:prstGeom>
          <a:solidFill>
            <a:srgbClr val="F4F7FD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548640" y="41605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3F7C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⏱  1 Minute</a:t>
            </a:r>
            <a:endParaRPr lang="en-US" sz="4800" dirty="0"/>
          </a:p>
        </p:txBody>
      </p:sp>
      <p:sp>
        <p:nvSpPr>
          <p:cNvPr id="18" name="Shape 15"/>
          <p:cNvSpPr/>
          <p:nvPr/>
        </p:nvSpPr>
        <p:spPr>
          <a:xfrm>
            <a:off x="548640" y="5715000"/>
            <a:ext cx="11064240" cy="502920"/>
          </a:xfrm>
          <a:prstGeom prst="roundRect">
            <a:avLst>
              <a:gd name="adj" fmla="val 14545"/>
            </a:avLst>
          </a:prstGeom>
          <a:solidFill>
            <a:srgbClr val="EAF0FA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777240" y="5788152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Zeit: </a:t>
            </a:r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Minuten · allein · leise      </a:t>
            </a:r>
            <a:pPr indent="0" marL="0">
              <a:buNone/>
            </a:pPr>
            <a:r>
              <a:rPr lang="en-US" sz="16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Fertig? Stift hinlegen.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WIEDERHOLUNG · Ü1 B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Ü1 b) Orientierend lesen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Paddy Fingal – wiederholen und nacherzählen · Deutsch 7A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6459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4864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188720" y="1682496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Schreibe b) ins Heft und nummeriere 1 bis 5.</a:t>
            </a:r>
            <a:endParaRPr lang="en-US" sz="2100" dirty="0"/>
          </a:p>
        </p:txBody>
      </p:sp>
      <p:sp>
        <p:nvSpPr>
          <p:cNvPr id="10" name="Shape 7"/>
          <p:cNvSpPr/>
          <p:nvPr/>
        </p:nvSpPr>
        <p:spPr>
          <a:xfrm>
            <a:off x="548640" y="23774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48640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1188720" y="2414016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Suche nur die Antworten – lies nicht alles! Notiere die Strophe.</a:t>
            </a:r>
            <a:endParaRPr lang="en-US" sz="2100" dirty="0"/>
          </a:p>
        </p:txBody>
      </p:sp>
      <p:sp>
        <p:nvSpPr>
          <p:cNvPr id="13" name="Text 10"/>
          <p:cNvSpPr txBox="1"/>
          <p:nvPr/>
        </p:nvSpPr>
        <p:spPr>
          <a:xfrm>
            <a:off x="1188720" y="320040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</a:t>
            </a:r>
            <a:pPr indent="0" marL="0">
              <a:buNone/>
            </a:pPr>
            <a:r>
              <a:rPr lang="en-US" sz="1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lang ist Paddys Bart?</a:t>
            </a:r>
            <a:endParaRPr lang="en-US" sz="1900" dirty="0"/>
          </a:p>
        </p:txBody>
      </p:sp>
      <p:sp>
        <p:nvSpPr>
          <p:cNvPr id="14" name="Text 11"/>
          <p:cNvSpPr txBox="1"/>
          <p:nvPr/>
        </p:nvSpPr>
        <p:spPr>
          <a:xfrm>
            <a:off x="1188720" y="365760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</a:t>
            </a:r>
            <a:pPr indent="0" marL="0">
              <a:buNone/>
            </a:pPr>
            <a:r>
              <a:rPr lang="en-US" sz="1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Woher kommt der Fremde?</a:t>
            </a:r>
            <a:endParaRPr lang="en-US" sz="1900" dirty="0"/>
          </a:p>
        </p:txBody>
      </p:sp>
      <p:sp>
        <p:nvSpPr>
          <p:cNvPr id="15" name="Text 12"/>
          <p:cNvSpPr txBox="1"/>
          <p:nvPr/>
        </p:nvSpPr>
        <p:spPr>
          <a:xfrm>
            <a:off x="1188720" y="411480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</a:t>
            </a:r>
            <a:pPr indent="0" marL="0">
              <a:buNone/>
            </a:pPr>
            <a:r>
              <a:rPr lang="en-US" sz="1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heißt Paddys Frau?</a:t>
            </a:r>
            <a:endParaRPr lang="en-US" sz="1900" dirty="0"/>
          </a:p>
        </p:txBody>
      </p:sp>
      <p:sp>
        <p:nvSpPr>
          <p:cNvPr id="16" name="Text 13"/>
          <p:cNvSpPr txBox="1"/>
          <p:nvPr/>
        </p:nvSpPr>
        <p:spPr>
          <a:xfrm>
            <a:off x="1188720" y="457200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</a:t>
            </a:r>
            <a:pPr indent="0" marL="0">
              <a:buNone/>
            </a:pPr>
            <a:r>
              <a:rPr lang="en-US" sz="1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guckt aus dem Bett heraus?</a:t>
            </a:r>
            <a:endParaRPr lang="en-US" sz="1900" dirty="0"/>
          </a:p>
        </p:txBody>
      </p:sp>
      <p:sp>
        <p:nvSpPr>
          <p:cNvPr id="17" name="Text 14"/>
          <p:cNvSpPr txBox="1"/>
          <p:nvPr/>
        </p:nvSpPr>
        <p:spPr>
          <a:xfrm>
            <a:off x="1188720" y="502920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</a:t>
            </a:r>
            <a:pPr indent="0" marL="0">
              <a:buNone/>
            </a:pPr>
            <a:r>
              <a:rPr lang="en-US" sz="1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Was ist eine Furt? (Tipp: Worterklärungen)</a:t>
            </a:r>
            <a:endParaRPr lang="en-US" sz="1900" dirty="0"/>
          </a:p>
        </p:txBody>
      </p:sp>
      <p:sp>
        <p:nvSpPr>
          <p:cNvPr id="18" name="Shape 15"/>
          <p:cNvSpPr/>
          <p:nvPr/>
        </p:nvSpPr>
        <p:spPr>
          <a:xfrm>
            <a:off x="548640" y="5715000"/>
            <a:ext cx="11064240" cy="502920"/>
          </a:xfrm>
          <a:prstGeom prst="roundRect">
            <a:avLst>
              <a:gd name="adj" fmla="val 14545"/>
            </a:avLst>
          </a:prstGeom>
          <a:solidFill>
            <a:srgbClr val="EAF0FA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777240" y="5788152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Zeit: </a:t>
            </a:r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Minuten · allein · leise · danach 2 Minuten zu zweit vergleichen      </a:t>
            </a:r>
            <a:pPr indent="0" marL="0">
              <a:buNone/>
            </a:pPr>
            <a:r>
              <a:rPr lang="en-US" sz="16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Fertig? Stift hinlegen.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VERARBEITEN · LB-AUFGABE 1 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Wovon handelt die Ballade?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Paddy Fingal – wiederholen und nacherzählen · Deutsch 7A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6459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4864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188720" y="1682496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Lest die Ballade zu zweit aufmerksam (Tandem, halblaut).</a:t>
            </a:r>
            <a:endParaRPr lang="en-US" sz="2100" dirty="0"/>
          </a:p>
        </p:txBody>
      </p:sp>
      <p:sp>
        <p:nvSpPr>
          <p:cNvPr id="10" name="Shape 7"/>
          <p:cNvSpPr/>
          <p:nvPr/>
        </p:nvSpPr>
        <p:spPr>
          <a:xfrm>
            <a:off x="548640" y="23774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48640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1188720" y="2414016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Beantwortet die drei Fragen im Heft – in ganzen Sätzen, mit Strophe.</a:t>
            </a:r>
            <a:endParaRPr lang="en-US" sz="2100" dirty="0"/>
          </a:p>
        </p:txBody>
      </p:sp>
      <p:sp>
        <p:nvSpPr>
          <p:cNvPr id="13" name="Shape 10"/>
          <p:cNvSpPr/>
          <p:nvPr/>
        </p:nvSpPr>
        <p:spPr>
          <a:xfrm>
            <a:off x="1188720" y="3200400"/>
            <a:ext cx="10424160" cy="640080"/>
          </a:xfrm>
          <a:prstGeom prst="roundRect">
            <a:avLst>
              <a:gd name="adj" fmla="val 11429"/>
            </a:avLst>
          </a:prstGeom>
          <a:solidFill>
            <a:srgbClr val="F4F7FD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1417320" y="331012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</a:t>
            </a:r>
            <a:pPr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sieht Paddy Fingal aus?</a:t>
            </a:r>
            <a:endParaRPr lang="en-US" sz="2000" dirty="0"/>
          </a:p>
        </p:txBody>
      </p:sp>
      <p:sp>
        <p:nvSpPr>
          <p:cNvPr id="15" name="Shape 12"/>
          <p:cNvSpPr/>
          <p:nvPr/>
        </p:nvSpPr>
        <p:spPr>
          <a:xfrm>
            <a:off x="1188720" y="3977640"/>
            <a:ext cx="10424160" cy="640080"/>
          </a:xfrm>
          <a:prstGeom prst="roundRect">
            <a:avLst>
              <a:gd name="adj" fmla="val 11429"/>
            </a:avLst>
          </a:prstGeom>
          <a:solidFill>
            <a:srgbClr val="F4F7FD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417320" y="408736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</a:t>
            </a:r>
            <a:pPr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möchte der Riese aus Schottland von Paddy?</a:t>
            </a:r>
            <a:endParaRPr lang="en-US" sz="2000" dirty="0"/>
          </a:p>
        </p:txBody>
      </p:sp>
      <p:sp>
        <p:nvSpPr>
          <p:cNvPr id="17" name="Shape 14"/>
          <p:cNvSpPr/>
          <p:nvPr/>
        </p:nvSpPr>
        <p:spPr>
          <a:xfrm>
            <a:off x="1188720" y="4754880"/>
            <a:ext cx="10424160" cy="640080"/>
          </a:xfrm>
          <a:prstGeom prst="roundRect">
            <a:avLst>
              <a:gd name="adj" fmla="val 11429"/>
            </a:avLst>
          </a:prstGeom>
          <a:solidFill>
            <a:srgbClr val="F4F7FD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1417320" y="486460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</a:t>
            </a:r>
            <a:pPr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Welche List wendet Paddys Frau an?</a:t>
            </a:r>
            <a:endParaRPr lang="en-US" sz="2000" dirty="0"/>
          </a:p>
        </p:txBody>
      </p:sp>
      <p:sp>
        <p:nvSpPr>
          <p:cNvPr id="19" name="Shape 16"/>
          <p:cNvSpPr/>
          <p:nvPr/>
        </p:nvSpPr>
        <p:spPr>
          <a:xfrm>
            <a:off x="548640" y="5715000"/>
            <a:ext cx="11064240" cy="502920"/>
          </a:xfrm>
          <a:prstGeom prst="roundRect">
            <a:avLst>
              <a:gd name="adj" fmla="val 14545"/>
            </a:avLst>
          </a:prstGeom>
          <a:solidFill>
            <a:srgbClr val="EAF0FA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777240" y="5788152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Zeit: </a:t>
            </a:r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Minuten · zu zweit (Tandem)      </a:t>
            </a:r>
            <a:pPr indent="0" marL="0">
              <a:buNone/>
            </a:pPr>
            <a:r>
              <a:rPr lang="en-US" sz="16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Fertig? Stift hinlegen.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VERARBEITEN · LB-AUFGABE 1 B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Erzählt die Ballade nach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Paddy Fingal – wiederholen und nacherzählen · Deutsch 7A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6459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4864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188720" y="1682496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erzählt, B hört zu und hakt die Checkliste ab. Dann Wechsel.</a:t>
            </a:r>
            <a:endParaRPr lang="en-US" sz="2100" dirty="0"/>
          </a:p>
        </p:txBody>
      </p:sp>
      <p:sp>
        <p:nvSpPr>
          <p:cNvPr id="10" name="Shape 7"/>
          <p:cNvSpPr/>
          <p:nvPr/>
        </p:nvSpPr>
        <p:spPr>
          <a:xfrm>
            <a:off x="548640" y="23774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48640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1188720" y="2414016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Benutzt eure Antworten aus 1 a als Spickzettel.</a:t>
            </a:r>
            <a:endParaRPr lang="en-US" sz="2100" dirty="0"/>
          </a:p>
        </p:txBody>
      </p:sp>
      <p:sp>
        <p:nvSpPr>
          <p:cNvPr id="13" name="Shape 10"/>
          <p:cNvSpPr/>
          <p:nvPr/>
        </p:nvSpPr>
        <p:spPr>
          <a:xfrm>
            <a:off x="548640" y="3154680"/>
            <a:ext cx="11064240" cy="2377440"/>
          </a:xfrm>
          <a:prstGeom prst="roundRect">
            <a:avLst>
              <a:gd name="adj" fmla="val 3077"/>
            </a:avLst>
          </a:prstGeom>
          <a:solidFill>
            <a:srgbClr val="EAF0FA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22960" y="32461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Checkliste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822960" y="365760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Titel und Autor genannt</a:t>
            </a:r>
            <a:endParaRPr lang="en-US" sz="1900" dirty="0"/>
          </a:p>
        </p:txBody>
      </p:sp>
      <p:sp>
        <p:nvSpPr>
          <p:cNvPr id="16" name="Text 13"/>
          <p:cNvSpPr txBox="1"/>
          <p:nvPr/>
        </p:nvSpPr>
        <p:spPr>
          <a:xfrm>
            <a:off x="822960" y="4096512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richtige Reihenfolge, nichts dazuerfunden</a:t>
            </a:r>
            <a:endParaRPr lang="en-US" sz="1900" dirty="0"/>
          </a:p>
        </p:txBody>
      </p:sp>
      <p:sp>
        <p:nvSpPr>
          <p:cNvPr id="17" name="Text 14"/>
          <p:cNvSpPr txBox="1"/>
          <p:nvPr/>
        </p:nvSpPr>
        <p:spPr>
          <a:xfrm>
            <a:off x="822960" y="4535424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alle wichtigen Details (Aussehen, Schotte, Versteck, List, Flucht)</a:t>
            </a:r>
            <a:endParaRPr lang="en-US" sz="1900" dirty="0"/>
          </a:p>
        </p:txBody>
      </p:sp>
      <p:sp>
        <p:nvSpPr>
          <p:cNvPr id="18" name="Text 15"/>
          <p:cNvSpPr txBox="1"/>
          <p:nvPr/>
        </p:nvSpPr>
        <p:spPr>
          <a:xfrm>
            <a:off x="822960" y="4974336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* spannend erzählt, z. B. mit wörtlicher Rede</a:t>
            </a:r>
            <a:endParaRPr lang="en-US" sz="1900" dirty="0"/>
          </a:p>
        </p:txBody>
      </p:sp>
      <p:sp>
        <p:nvSpPr>
          <p:cNvPr id="19" name="Shape 16"/>
          <p:cNvSpPr/>
          <p:nvPr/>
        </p:nvSpPr>
        <p:spPr>
          <a:xfrm>
            <a:off x="548640" y="5715000"/>
            <a:ext cx="11064240" cy="502920"/>
          </a:xfrm>
          <a:prstGeom prst="roundRect">
            <a:avLst>
              <a:gd name="adj" fmla="val 14545"/>
            </a:avLst>
          </a:prstGeom>
          <a:solidFill>
            <a:srgbClr val="EAF0FA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777240" y="5788152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Zeit: </a:t>
            </a:r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Minuten · im Tandem      </a:t>
            </a:r>
            <a:pPr indent="0" marL="0">
              <a:buNone/>
            </a:pPr>
            <a:r>
              <a:rPr lang="en-US" sz="16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Fertig? Stift hinlegen.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206240" cy="4206240"/>
          </a:xfrm>
          <a:prstGeom prst="ellipse">
            <a:avLst/>
          </a:prstGeom>
          <a:solidFill>
            <a:srgbClr val="24306E"/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206240"/>
            <a:ext cx="3657600" cy="3657600"/>
          </a:xfrm>
          <a:prstGeom prst="ellipse">
            <a:avLst/>
          </a:prstGeom>
          <a:solidFill>
            <a:srgbClr val="24306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28016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Ziel erreicht?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945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Ich kann mit den Lesetechniken Informationen in der Ballade finden und den Inhalt mit eigenen Worten nacherzählen.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2918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Paar erzählt vor – alle prüfen mit der Checkliste.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822960" y="4114800"/>
            <a:ext cx="10515600" cy="1097280"/>
          </a:xfrm>
          <a:prstGeom prst="roundRect">
            <a:avLst>
              <a:gd name="adj" fmla="val 6667"/>
            </a:avLst>
          </a:prstGeom>
          <a:solidFill>
            <a:srgbClr val="24306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97280" y="411480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Schreibe ins Heft:  Heute habe ich gelernt, …</a:t>
            </a:r>
            <a:endParaRPr lang="en-US" sz="3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Paddy Fingal – nacherzählen</dc:title>
  <dc:subject>PptxGenJS Presentation</dc:subject>
  <dc:creator>PptxGenJS</dc:creator>
  <cp:lastModifiedBy>PptxGenJS</cp:lastModifiedBy>
  <cp:revision>1</cp:revision>
  <dcterms:created xsi:type="dcterms:W3CDTF">2026-10-14T07:59:48Z</dcterms:created>
  <dcterms:modified xsi:type="dcterms:W3CDTF">2026-10-14T07:59:48Z</dcterms:modified>
</cp:coreProperties>
</file>