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der Stunde: Die Schülerinnen und Schüler sehen, dass zusammengesetzte Zeitformen aus Bausteinen bestehen (Hilfsverb/Modalverb + Partizip II/Infinitiv). Material vorab austeilen: Arbeitsblatt (Seite 1 einseitig drucken), Schere, Kleber, Buntstifte in Rot, Grün, Gelb, Blau.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Kurzes Unterrichtsgespräch (ca. 3 Min.). Erwartung: Satz 1 hat nur ein Verb, die anderen haben zwei Verbteile – eins auf Position 2, eins am Satzende. Satz 2 = Vergangenheit (Perfekt), Satz 3 = Zukunft (Futur I), Satz 4 = Gegenwart mit Modalverb. Noch keine Fachbegriffe verlangen – die kommen auf der nächsten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Farbcode festlegen – er gilt für Arbeitsblatt und Tafel: Hilfsverb rot, Modalverb grün, Partizip II gelb, Infinitiv blau. Partizip-Test für die Schüler: Passt „ich habe …“ oder „ich bin …“ davor? Dann ist es ein Partizip II. Sonderfälle ansprechen: Verben auf be-/ver-/er- und -ieren haben kein ge- (verstanden, telefoniert); bei trennbaren Verben steht ge- in der Mitte (auf-ge-räumt).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für 45 Minuten inkl. Einstieg (ca. 5 Min.). Tipp: Beim Sortieren erst legen lassen, dann mit dem Nachbarn vergleichen, erst danach kleben – so werden Fehler nicht festgeklebt. Schnelle Schüler: Profi-Aufgabe auf Seite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Einzelarbeit, dann Partnervergleich. Typische Fehler: „spielte“ wird für ein Partizip gehalten (ist aber Präteritum), „verstanden“ wird nicht erkannt, weil das ge- fehlt. Hier gezielt den Partizip-Test anwenden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Ergebnis vergleichen lassen, Fehler korrigieren BEVOR geklebt wird (falls noch nicht geschehen). Frage an die Klasse: Warum brauchen die Stolperkarten keinen Partner? → Es sind einfache Verbformen (Präsens/Präteritum) bzw. der Infinitiv allein.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Kernidee der Stunde: Das Hilfs- oder Modalverb steht gebeugt auf Position 2, der Partner (Partizip II oder Infinitiv) steht ganz am Ende. Beide zusammen umklammern den Rest des Satzes. An der Tafel mit Bogen einzeichnen – genau das sollen die Schüler im Bauplan auch tun.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Partnerarbeit möglich. Hinweis: Futur II braucht zwei Karten am Satzende (gebacken + haben). Präsens und Präteritum bleiben am Satzende leer – das ist der Aha-Moment: einfache Zeitformen haben keine Verbklammer. Schnelle Paare dürfen die Fragen a)–d) unter der Tabelle schon beantworten.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 über Dokumentenkamera oder diese Folie. Besonders herausstellen: Perfekt und Plusquamperfekt sehen fast gleich aus – der einzige Unterschied ist die Zeitform des Hilfsverbs (habe ↔ hatte). Genauso Futur I und Futur II: Bei Futur II steht am Ende Partizip II + haben/sein.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Optionaler Exkurs, falls die Zeitbedeutung noch unsicher ist. Plusquamperfekt = etwas war schon vorbei, bevor etwas anderes in der Vergangenheit passiert ist („Als die Gäste kamen, hatte ich den Kuchen schon gebacken.“). Futur II = etwas wird zu einem Zeitpunkt in der Zukunft schon abgeschlossen sein („Bis heute Abend werde ich den Kuchen gebacken haben.“).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ist die Denkhilfe für Aufgabe 3 – gern ausgedruckt an die Tafel hängen. Zwei Fragen reichen: 1. Gibt es einen zweiten Verbteil am Satzende? 2. Welcher Helfer steht auf Position 2 und in welcher Zeitform? Wichtig für die Unterscheidung Perfekt/Plusquamperfekt: habe/ist = Präsens → Perfekt; hatte/war = Präteritum → Plusquamperfekt.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Einzelarbeit mit dem Entscheidungsbaum von der vorherigen Folie. Die Profi-Aufgabe trainiert das Perfekt mit „sein“ (Bewegungsverb): Ich bin … gegangen / Ich war … gegangen / Ich werde … 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Satz 5: Das Modalverb „darf“ steht im Präsens, deshalb ist der Satz Präsens. Satz 6: Futur II erkennt man an den zwei Wörtern am Satzende (gelesen haben).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Die Schüler vergleichen ihre Bauformeln auf Seite 4 mit dieser Folie. Hausaufgabe/Übung möglich: Einen eigenen Satz in allen Zeitformen in den Bauplan 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BASTELSTUNDE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Zeitformen bauen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Hilfsverben, Modalverben und Partizip II – wir basteln uns einen Tempus-Baukasten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160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41605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60320" y="4160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Modalverb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41605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4160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41605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41605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Infinitiv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Deutsch, Klasse 7A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gleich – was ist anders?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die vier Sätze genau. Achte nur auf die Verben.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025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828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9169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43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8313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576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7457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720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muss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55280" y="182880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Denkfragen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5603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Verbteile hat jeder Satz?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stehen die Verbteile im Satz?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Zeit ist gemeint: jetzt, früher oder später?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 ERINNERT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Unsere Bausteine – und ihre Farben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83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Farbe: rot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 · sein · werden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Hilft beim Bilden der Zeitform. Steht gebeugt auf Position 2.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34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habe, ist, wird, hatten, war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1783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11880" y="1783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Modalverb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Farbe: grün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können · müssen · dürfen · wollen · sollen · mögen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Sagt, wie etwas gemeint ist (Pflicht, Erlaubnis, Wunsch …).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4434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kann, musst, darf, sollte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1783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1783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Farbe: gelb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ge- … -t / ge- … -en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am Satzende. Achtung: manchmal ohne ge-!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434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gespielt, gelaufen, verstanden, aufgeräumt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15544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28" name="Shape 26"/>
          <p:cNvSpPr/>
          <p:nvPr/>
        </p:nvSpPr>
        <p:spPr>
          <a:xfrm>
            <a:off x="9281160" y="1783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81160" y="1783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Infinitiv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Farbe: blau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Grundform auf -en / -n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am Satzende nach werden oder einem Modalverb.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281160" y="4434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backen, gehen, spielen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Merke: Hilfs- und Modalverb stehen auf Position 2 – ihr Partner (Partizip II oder Infinitiv) wartet am Satzende.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LÄUFT DIE STUNDE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Schneiden, sortieren, bauen, sichern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Ausschneiden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Karten von Seite 1 ausschneiden. A- und B-Karten getrennt legen.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7FD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576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Sortieren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1546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A-Karten in die Tabelle legen, vergleichen, aufkleben, anmalen.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6188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6309360" y="16459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Bauen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1546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B-Karten in den Tempus-Bauplan kleben. Verbklammer einzeichnen.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4224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9189720" y="16459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7FD"/>
          </a:solidFill>
          <a:ln/>
        </p:spPr>
      </p:sp>
      <p:sp>
        <p:nvSpPr>
          <p:cNvPr id="28" name="Shape 26"/>
          <p:cNvSpPr/>
          <p:nvPr/>
        </p:nvSpPr>
        <p:spPr>
          <a:xfrm>
            <a:off x="94183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2697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Sichern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31546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Bauformeln ergänzen und Tempus-Detektiv lösen.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brauchst du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349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011680" y="53492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011680" y="5349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Kleber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474720" y="53492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474720" y="5349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37760" y="53492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937760" y="5349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0" y="53492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0" y="5349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Gelb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863840" y="53492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863840" y="5349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Sortiere die A-Karten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Arbeitsblatt Seite 2 · erst legen, dann vergleichen, dann kleben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D953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3127248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3785616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4443984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80360" y="182880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2E9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8036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Modalverben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80360" y="24688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880360" y="3127248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880360" y="3785616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880360" y="4443984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212080" y="182880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1208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12080" y="24688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212080" y="3127248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212080" y="3785616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212080" y="4443984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680960" y="182880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09560" y="1965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Partizip-Test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23774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habe …“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bin …“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davor? Dann ist es ein Partizip II: ich habe </a:t>
            </a:r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gespielt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ich bin </a:t>
            </a:r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gelaufen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80960" y="3886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09560" y="4023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Achtung: 4 Stolperkarten!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4348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Karten passen in keine Spalte. Klebe sie unten in das Stolper-Feld.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Jede Karte in der Farbe ihrer Spalte anmalen.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 · AUFGABE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sehen die Spalten aus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D953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92024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2024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2024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32369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92024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0390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8039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hatten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20240" y="380390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920240" y="38039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15087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832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Modalverben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8328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38328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8328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38328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darf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könnt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83280" y="32369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38328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wollen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32369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müssen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83280" y="380390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383280" y="38039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sollte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54880" y="380390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8039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mochte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17920" y="15087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1792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792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217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gespielt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58952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5895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gelaufen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21792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gegessen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58952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58952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geschrieben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217920" y="32369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21792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gefahren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589520" y="3236976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58952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gekauft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217920" y="380390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217920" y="38039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verstanden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589520" y="3803904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589520" y="38039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aufgeräumt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052560" y="15087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5B6B8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05256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Stolperkarten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5256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05256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spielte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0424160" y="210312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042416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ging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905256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05256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laufen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10424160" y="267004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2416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gehst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9052560" y="3291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Präteritum · Präteritum · Infinitiv · Präsens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48640" y="457200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Aufgepasst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82296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verstanden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hat kein ge- (Vorsilbe ver-).   </a:t>
            </a:r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aufgeräumt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hat das ge- in der Mitte.   </a:t>
            </a:r>
            <a:pPr indent="0" marL="0">
              <a:buNone/>
            </a:pPr>
            <a:r>
              <a:rPr lang="en-US" sz="15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spielte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kein Partizip, sondern Präteritum – dafür braucht man keinen Helfer.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NEU: DIE VERBKLAMMER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Verbteile – eine Klammer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Vorfeld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Mittelfeld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Satzende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182880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828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86000" y="18288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D953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86000" y="1828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46120" y="2606040"/>
            <a:ext cx="0" cy="32004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2606040"/>
            <a:ext cx="0" cy="32004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926080"/>
            <a:ext cx="52578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299008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Verbklammer: Hilfsverb + Partizip II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65760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6576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286000" y="3657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E9E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286000" y="3657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389120" y="36576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912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0" y="36576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3F7C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3246120" y="4434840"/>
            <a:ext cx="0" cy="32004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4434840"/>
            <a:ext cx="0" cy="32004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4754880"/>
            <a:ext cx="52578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46120" y="481888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Verbklammer: Modalverb + Infinitiv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012680" y="1828800"/>
            <a:ext cx="1691640" cy="26060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149840" y="1965960"/>
            <a:ext cx="1417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2 = gebeugtes Verb (passt zu „ich“)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Helfer keine Klammer: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backe einen Kuchen.  ·  Ich backte einen Kuchen.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Baue den Kuchen-Satz in allen Zeitformen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Arbeitsblatt Seite 3 · B-Karten in die dicken Kästen kleben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73736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51760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Vorfeld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1737360"/>
            <a:ext cx="17373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73736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Mittelfeld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737360"/>
            <a:ext cx="237744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Satzende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28600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F4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2286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22860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57600" y="2286000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0" y="2286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97180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2971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29718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657600" y="2971800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0" y="2971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406640" y="2971800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65760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F4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 I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36576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3657600" y="3657600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406640" y="3657600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und so weiter für alle 7 Zeilen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58400" y="1737360"/>
            <a:ext cx="1645920" cy="2971800"/>
          </a:xfrm>
          <a:prstGeom prst="roundRect">
            <a:avLst>
              <a:gd name="adj" fmla="val 4444"/>
            </a:avLst>
          </a:prstGeom>
          <a:solidFill>
            <a:srgbClr val="EAF0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195560" y="1874520"/>
            <a:ext cx="1371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B-Karten: backe, backte, habe, hatte, werde (2×), muss, gebacken (3×), backen (2×), haben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4983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Klebe erst die Karte für Position 2, dann das Satzende.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297680" y="5074920"/>
            <a:ext cx="384048" cy="38404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29768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800600" y="4983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 Zeilen brauchen am Satzende gar nichts – welche?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46720" y="5074920"/>
            <a:ext cx="384048" cy="38404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04672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549640" y="4983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Anmalen im Farbcode und die Verbklammer als Bogen einzeichnen.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 · AUFGABE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fertige Tempus-Bauplan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103120" cy="475488"/>
          </a:xfrm>
          <a:prstGeom prst="roundRect">
            <a:avLst>
              <a:gd name="adj" fmla="val 7692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4630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4630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463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146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869680" y="14630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im Präsens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029968"/>
            <a:ext cx="2103120" cy="475488"/>
          </a:xfrm>
          <a:prstGeom prst="roundRect">
            <a:avLst>
              <a:gd name="adj" fmla="val 7692"/>
            </a:avLst>
          </a:prstGeom>
          <a:solidFill>
            <a:srgbClr val="EAF0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2029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Präteritum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0299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1840" y="2029968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20299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0299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2029968"/>
            <a:ext cx="25146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869680" y="20299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im Präteritum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596896"/>
            <a:ext cx="2103120" cy="475488"/>
          </a:xfrm>
          <a:prstGeom prst="roundRect">
            <a:avLst>
              <a:gd name="adj" fmla="val 7692"/>
            </a:avLst>
          </a:prstGeom>
          <a:solidFill>
            <a:srgbClr val="F4F7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25968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91840" y="2596896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91840" y="25968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5968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2596896"/>
            <a:ext cx="2514600" cy="475488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0" y="259689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25968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haben/sein (Präsens) + Partizip II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163824"/>
            <a:ext cx="2103120" cy="475488"/>
          </a:xfrm>
          <a:prstGeom prst="roundRect">
            <a:avLst>
              <a:gd name="adj" fmla="val 7692"/>
            </a:avLst>
          </a:prstGeom>
          <a:solidFill>
            <a:srgbClr val="F4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3163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Plusquamperfekt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3163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91840" y="3163824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D9534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91840" y="31638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hatte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31638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7920" y="3163824"/>
            <a:ext cx="2514600" cy="475488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7920" y="316382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31638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haben/sein (Präteritum) + Partizip II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730752"/>
            <a:ext cx="2103120" cy="475488"/>
          </a:xfrm>
          <a:prstGeom prst="roundRect">
            <a:avLst>
              <a:gd name="adj" fmla="val 7692"/>
            </a:avLst>
          </a:prstGeom>
          <a:solidFill>
            <a:srgbClr val="F4F7F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37307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 I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2743200" y="37307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91840" y="3730752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D9534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291840" y="37307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0" y="37307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7920" y="3730752"/>
            <a:ext cx="2514600" cy="475488"/>
          </a:xfrm>
          <a:prstGeom prst="roundRect">
            <a:avLst>
              <a:gd name="adj" fmla="val 15385"/>
            </a:avLst>
          </a:prstGeom>
          <a:solidFill>
            <a:srgbClr val="3F7CC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17920" y="37307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8869680" y="37307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 + Infinitiv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4297680"/>
            <a:ext cx="2103120" cy="475488"/>
          </a:xfrm>
          <a:prstGeom prst="roundRect">
            <a:avLst>
              <a:gd name="adj" fmla="val 7692"/>
            </a:avLst>
          </a:prstGeom>
          <a:solidFill>
            <a:srgbClr val="F4F7F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58368" y="4297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 II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2743200" y="4297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91840" y="429768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D9534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291840" y="42976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42976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17920" y="429768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217920" y="42976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726680" y="429768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9534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726680" y="42976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0" y="42976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 + Partizip II + haben/sein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864608"/>
            <a:ext cx="2103120" cy="475488"/>
          </a:xfrm>
          <a:prstGeom prst="roundRect">
            <a:avLst>
              <a:gd name="adj" fmla="val 7692"/>
            </a:avLst>
          </a:prstGeom>
          <a:solidFill>
            <a:srgbClr val="F4F7F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58368" y="48646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Modalverb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2743200" y="48646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291840" y="4864608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2E9E6B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291840" y="48646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muss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0" y="48646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Kuchen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17920" y="4864608"/>
            <a:ext cx="2514600" cy="475488"/>
          </a:xfrm>
          <a:prstGeom prst="roundRect">
            <a:avLst>
              <a:gd name="adj" fmla="val 15385"/>
            </a:avLst>
          </a:prstGeom>
          <a:solidFill>
            <a:srgbClr val="3F7CC4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217920" y="48646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8869680" y="48646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Modalverb + Infinitiv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554126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AF0FA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31520" y="55412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Präsens &amp; Präteritum: ein Verbteil, keine Klammer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217920" y="5541264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400800" y="55412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anderen: Helfer auf Pos. 2 + Partner am Ende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PASSIERT ES?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Zeitformen auf dem Zeitstrahl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97280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26480" y="2560320"/>
            <a:ext cx="0" cy="1005840"/>
          </a:xfrm>
          <a:prstGeom prst="line">
            <a:avLst/>
          </a:prstGeom>
          <a:noFill/>
          <a:ln w="25400">
            <a:solidFill>
              <a:srgbClr val="D9534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6692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91056" y="291693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691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Plusquamperfekt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der Vergangenheit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6118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</a:t>
            </a:r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hatte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den Kuchen </a:t>
            </a:r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85616" y="291693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52928" y="1691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Präteritum / Perfekt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Vergangenheit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5204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17520" y="36118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backte den Kuchen. / Ich </a:t>
            </a:r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ihn </a:t>
            </a:r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0176" y="291693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47488" y="1691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Präsens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Gegenwart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5204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12080" y="36118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backe den Kuchen.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74736" y="291693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42048" y="1691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 II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Zukunft schon fertig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35204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06640" y="36118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</a:t>
            </a:r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ihn </a:t>
            </a:r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gebacken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369296" y="291693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1691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 I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Zukunft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09760" y="35204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01200" y="36118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</a:t>
            </a:r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den Kuchen </a:t>
            </a:r>
            <a:pPr algn="ctr" indent="0" marL="0">
              <a:buNone/>
            </a:pPr>
            <a:r>
              <a:rPr lang="en-US" sz="14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 und Präteritum meinen beide die Vergangenheit. Das Perfekt benutzen wir meist beim Sprechen, das Präteritum beim Erzählen und Schreiben.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TEMPUS-DETEKTIV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findest du jede Zeitform heraus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0078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08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am Satzende ein Partizip II oder ein Infinitiv?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1892808"/>
            <a:ext cx="9144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AF0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1508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Zeitform: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Präsens (backe) oder Präteritum (backte)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286000"/>
            <a:ext cx="0" cy="5029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154680" y="2359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0837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834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steht auf Position 2?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17520" y="3566160"/>
            <a:ext cx="0" cy="2743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3840480"/>
            <a:ext cx="85039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3840480"/>
            <a:ext cx="0" cy="2743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1605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haben/sein · Präsens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habe, hast, ist, sind 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9377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Partizip II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840480"/>
            <a:ext cx="0" cy="2743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83280" y="41605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6616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haben/sein · Präteritum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hatte, hatten, war …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66160" y="49377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6616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Plusquamperfekt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566160" y="5394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Partizip II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43800" y="3840480"/>
            <a:ext cx="0" cy="2743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217920" y="41605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werde, wirst, wird …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49377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 I / Futur II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5394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Infinitiv = Futur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Partizip II + haben/sein = Futur II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378440" y="3840480"/>
            <a:ext cx="0" cy="2743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52560" y="41605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23544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Modalverb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23544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kann, muss, darf …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35440" y="49377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23544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Modalverb-Satz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235440" y="5394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Infinitiv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Tempus-Detektiv: Welche Zeitform ist das?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 die Verbteile im Farbcode und bestimme die Zeitform (Arbeitsblatt Seite 4).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D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476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7830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Lena ist ins Kino gegangen.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816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6517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hatten die Hausaufgaben vergessen.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685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204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wirst die Prüfung schaffen.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537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3891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Kinder spielten im Garten.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178308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9476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7830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darf heute länger aufbleiben.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17920" y="265176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D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2816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6517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 morgen werdet ihr das Buch gelesen haben.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17920" y="352044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3685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5204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war zu spät gekommen.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17920" y="438912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438912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Profi: „Ich gehe nach Hause.“ in Perfekt, Plusquamperfekt und Futur 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 · AUFGABE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Zeitformen im Überblick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Zeitformen bauen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846320"/>
                <a:gridCol w="1554480"/>
                <a:gridCol w="1783080"/>
                <a:gridCol w="2286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Satzende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Lena ist ins Kino gegangen.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gegangen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Perfekt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Wir hatten die Hausaufgaben vergessen.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hatten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vergessen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Plusquamperfekt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 wirst die Prüfung schaffen.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7C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schaffen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Die Kinder spielten im Garten.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spielten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Präteritum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Ich darf heute länger aufbleiben.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7C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aufbleiben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Präsens (mit Modalverb)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Bis morgen werdet ihr das Buch gelesen haben.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werdet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gelesen haben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 II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Er war zu spät gekommen.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gekommen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Plusquamperfekt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15000"/>
            <a:ext cx="11109960" cy="457200"/>
          </a:xfrm>
          <a:prstGeom prst="roundRect">
            <a:avLst>
              <a:gd name="adj" fmla="val 16000"/>
            </a:avLst>
          </a:prstGeom>
          <a:solidFill>
            <a:srgbClr val="EAF0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Profi: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nach Hause gegangen. · Ich war nach Hause gegangen. · Ich werde nach Hause gehen.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MERKEN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Bauformeln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Perfekt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haben/sein · Präsens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Plusquamperfekt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74720" y="260604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haben/sein · Präteritum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26060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 I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74720" y="338328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472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 · Präsens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675120" y="33832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Infinitiv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 II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474720" y="416052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74720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 · Präsens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160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675120" y="416052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4160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961120" y="416052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haben/sein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Modalverb-Satz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474720" y="49377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74720" y="4937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Modalverb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760720" y="49377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760720" y="4937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Infinitiv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Präsens und Präteritum brauchen keinen Helfer – sie sind einfache Zeitformen.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Zeitformen bauen</dc:title>
  <dc:subject>PptxGenJS Presentation</dc:subject>
  <dc:creator>PptxGenJS</dc:creator>
  <cp:lastModifiedBy>PptxGenJS</cp:lastModifiedBy>
  <cp:revision>1</cp:revision>
  <dcterms:created xsi:type="dcterms:W3CDTF">2026-09-25T16:49:41Z</dcterms:created>
  <dcterms:modified xsi:type="dcterms:W3CDTF">2026-09-25T16:49:41Z</dcterms:modified>
</cp:coreProperties>
</file>