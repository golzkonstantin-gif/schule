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Diese Präsentation enthält nur die Übungen. Merksätze und Tafelbilder entstehen an der Tafel (siehe Tafelskript). Lösungen stehen jeweils in den Notizen.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habe … gegangen → bin gegangen · sind … gespielt → haben gespielt · geschießt → geschossen. Satz 5 ist richtig (hatte = Vollverb). Noch nicht erklären lassen – das passiert am Ende der Stunde.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konnte → können · liest → lesen · bin → sein · fuhr → fahren · wusste → wissen · schläft → schlafen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Bist → sein · 2 hat → haben · 3 sind → sein · 4 Habt → haben · 5 ist → sein · 6 schaut → schauen (bewusst kein haben/sein). Bei 4 nachfragen: gesehen ist infinit.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Einmal mit einem Schüler vormachen. Tabelle im Heft abdecken lassen. Am Ende fragen: Welche Form war am schwierigsten? (meist wart, hattet)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war · 2 hattest · 3 waren · 4 hattet · 5 Warst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gekauft · geschrieben · gegessen · gefahren · ★ verstanden · telefoniert · aufgeräumt (ge- in der Mitte)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bin · 2 habe · 3 sind · 4 hat · 5 sind · 6 bin. Begründung 3: fahren = Bewegung von A nach B. Begründung 6: einschlafen = Veränderung.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Vollverb · 2 Hilfsverb (runtergefallen) · 3 Vollverb · 4 Hilfsverb (vergessen)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Erwartung: gegangen = Bewegung → bin · spielen = keine Bewegung → haben · Partizip II von schießen = geschossen. Satz 5: hatte ist Vollverb (kein Partizip II am Ende). Die korrigierten Sätze an die Tafel schreiben.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sein, Präteritum, nein · 2 haben, Präsens, ja · 3 haben, Präteritum, nein · 4 sein, Präsens, ja. Auswertung: „ja“ bei 1 oder 3 → Hilfsverb/Vollverb verwechselt; „Präteritum“ bei 2 oder 4 → Form des Hilfsverbs mit der Zeit des Geschehens verwechselt.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2860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Verbformen verstehen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46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Übungen der Stunde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Deutsch, Klasse 7A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 · OHNE HEFT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stimmt in diesem Chat nicht?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170432"/>
          </a:xfrm>
          <a:prstGeom prst="roundRect">
            <a:avLst>
              <a:gd name="adj" fmla="val 6250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 den Chat.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Finde die drei Fehler bei den Verben. Melde dich.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Minuten · gemeinsam · mündlich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Noch nicht erklären – das machen wir am Ende.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Verbformen verstehen · Deutsch 7A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48640" y="2862072"/>
            <a:ext cx="9326880" cy="488290"/>
          </a:xfrm>
          <a:prstGeom prst="roundRect">
            <a:avLst>
              <a:gd name="adj" fmla="val 28090"/>
            </a:avLst>
          </a:prstGeom>
          <a:solidFill>
            <a:srgbClr val="F4F7F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77240" y="2862072"/>
            <a:ext cx="8961120" cy="488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Mo:  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Hast du gestern das Spiel gesehen?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2331720" y="3441802"/>
            <a:ext cx="9326880" cy="488290"/>
          </a:xfrm>
          <a:prstGeom prst="roundRect">
            <a:avLst>
              <a:gd name="adj" fmla="val 28090"/>
            </a:avLst>
          </a:prstGeom>
          <a:solidFill>
            <a:srgbClr val="EAF0F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560320" y="3441802"/>
            <a:ext cx="8961120" cy="488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Jona:  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Nee, ich habe erst um zehn nach Hause gegangen.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4021531"/>
            <a:ext cx="9326880" cy="488290"/>
          </a:xfrm>
          <a:prstGeom prst="roundRect">
            <a:avLst>
              <a:gd name="adj" fmla="val 28090"/>
            </a:avLst>
          </a:prstGeom>
          <a:solidFill>
            <a:srgbClr val="F4F7F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77240" y="4021531"/>
            <a:ext cx="8961120" cy="488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Mo:  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Schade. Wir sind echt stark gespielt.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2331720" y="4601261"/>
            <a:ext cx="9326880" cy="488290"/>
          </a:xfrm>
          <a:prstGeom prst="roundRect">
            <a:avLst>
              <a:gd name="adj" fmla="val 28090"/>
            </a:avLst>
          </a:prstGeom>
          <a:solidFill>
            <a:srgbClr val="EAF0FA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560320" y="4601261"/>
            <a:ext cx="8961120" cy="488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Jona:  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 hat die Tore geschießt?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548640" y="5180990"/>
            <a:ext cx="9326880" cy="488290"/>
          </a:xfrm>
          <a:prstGeom prst="roundRect">
            <a:avLst>
              <a:gd name="adj" fmla="val 28090"/>
            </a:avLst>
          </a:prstGeom>
          <a:solidFill>
            <a:srgbClr val="F4F7FD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777240" y="5180990"/>
            <a:ext cx="8961120" cy="488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Mo:  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 hatte zwei Treffer. Das dritte hat Ali gemacht.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Zurück zur Grundform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170432"/>
          </a:xfrm>
          <a:prstGeom prst="roundRect">
            <a:avLst>
              <a:gd name="adj" fmla="val 6250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Ü1 an den Rand.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jedes Wort ab und ergänze den Infinitiv.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Minuten · allein · leise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 und noch einmal durchlesen.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Verbformen verstehen · Deutsch 7A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48640" y="2953512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F4F7F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22960" y="2953512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konnte  →  </a:t>
            </a:r>
            <a:pPr indent="0" marL="0">
              <a:buNone/>
            </a:pPr>
            <a:r>
              <a:rPr lang="en-US" sz="2400" b="1" dirty="0">
                <a:solidFill>
                  <a:srgbClr val="3F7C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______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4343400" y="2953512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F4F7F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617720" y="2953512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liest  →  </a:t>
            </a:r>
            <a:pPr indent="0" marL="0">
              <a:buNone/>
            </a:pPr>
            <a:r>
              <a:rPr lang="en-US" sz="2400" b="1" dirty="0">
                <a:solidFill>
                  <a:srgbClr val="3F7C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______</a:t>
            </a:r>
            <a:endParaRPr lang="en-US" sz="2400" dirty="0"/>
          </a:p>
        </p:txBody>
      </p:sp>
      <p:sp>
        <p:nvSpPr>
          <p:cNvPr id="20" name="Shape 17"/>
          <p:cNvSpPr/>
          <p:nvPr/>
        </p:nvSpPr>
        <p:spPr>
          <a:xfrm>
            <a:off x="8138160" y="2953512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F4F7F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412480" y="2953512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bin  →  </a:t>
            </a:r>
            <a:pPr indent="0" marL="0">
              <a:buNone/>
            </a:pPr>
            <a:r>
              <a:rPr lang="en-US" sz="2400" b="1" dirty="0">
                <a:solidFill>
                  <a:srgbClr val="3F7C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______</a:t>
            </a:r>
            <a:endParaRPr lang="en-US" sz="2400" dirty="0"/>
          </a:p>
        </p:txBody>
      </p:sp>
      <p:sp>
        <p:nvSpPr>
          <p:cNvPr id="22" name="Shape 19"/>
          <p:cNvSpPr/>
          <p:nvPr/>
        </p:nvSpPr>
        <p:spPr>
          <a:xfrm>
            <a:off x="548640" y="4279392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F4F7F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22960" y="4279392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fuhr  →  </a:t>
            </a:r>
            <a:pPr indent="0" marL="0">
              <a:buNone/>
            </a:pPr>
            <a:r>
              <a:rPr lang="en-US" sz="2400" b="1" dirty="0">
                <a:solidFill>
                  <a:srgbClr val="3F7C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______</a:t>
            </a:r>
            <a:endParaRPr lang="en-US" sz="2400" dirty="0"/>
          </a:p>
        </p:txBody>
      </p:sp>
      <p:sp>
        <p:nvSpPr>
          <p:cNvPr id="24" name="Shape 21"/>
          <p:cNvSpPr/>
          <p:nvPr/>
        </p:nvSpPr>
        <p:spPr>
          <a:xfrm>
            <a:off x="4343400" y="4279392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F4F7FD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617720" y="4279392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wusste  →  </a:t>
            </a:r>
            <a:pPr indent="0" marL="0">
              <a:buNone/>
            </a:pPr>
            <a:r>
              <a:rPr lang="en-US" sz="2400" b="1" dirty="0">
                <a:solidFill>
                  <a:srgbClr val="3F7C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______</a:t>
            </a:r>
            <a:endParaRPr lang="en-US" sz="2400" dirty="0"/>
          </a:p>
        </p:txBody>
      </p:sp>
      <p:sp>
        <p:nvSpPr>
          <p:cNvPr id="26" name="Shape 23"/>
          <p:cNvSpPr/>
          <p:nvPr/>
        </p:nvSpPr>
        <p:spPr>
          <a:xfrm>
            <a:off x="8138160" y="4279392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F4F7F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412480" y="4279392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schläft  →  </a:t>
            </a:r>
            <a:pPr indent="0" marL="0">
              <a:buNone/>
            </a:pPr>
            <a:r>
              <a:rPr lang="en-US" sz="2400" b="1" dirty="0">
                <a:solidFill>
                  <a:srgbClr val="3F7C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______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Finite Form finden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655064"/>
          </a:xfrm>
          <a:prstGeom prst="roundRect">
            <a:avLst>
              <a:gd name="adj" fmla="val 4420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Ü2 an den Rand.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Finde in jedem Satz die finite Verbform.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25374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5374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52374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nur Nummer, finite Form und Infinitiv: 1 … → …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Minuten · allein · leise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 und noch einmal durchlesen.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Verbformen verstehen · Deutsch 7A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8640" y="3346704"/>
            <a:ext cx="11109960" cy="338328"/>
          </a:xfrm>
          <a:prstGeom prst="roundRect">
            <a:avLst>
              <a:gd name="adj" fmla="val 21622"/>
            </a:avLst>
          </a:prstGeom>
          <a:solidFill>
            <a:srgbClr val="F4F7FD"/>
          </a:solidFill>
          <a:ln/>
        </p:spPr>
      </p:sp>
      <p:sp>
        <p:nvSpPr>
          <p:cNvPr id="20" name="Shape 17"/>
          <p:cNvSpPr/>
          <p:nvPr/>
        </p:nvSpPr>
        <p:spPr>
          <a:xfrm>
            <a:off x="685800" y="3332988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5800" y="33329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1234440" y="3346704"/>
            <a:ext cx="10287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Bist du morgen beim Training?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548640" y="3749040"/>
            <a:ext cx="11109960" cy="338328"/>
          </a:xfrm>
          <a:prstGeom prst="roundRect">
            <a:avLst>
              <a:gd name="adj" fmla="val 21622"/>
            </a:avLst>
          </a:prstGeom>
          <a:solidFill>
            <a:srgbClr val="F4F7FD"/>
          </a:solidFill>
          <a:ln/>
        </p:spPr>
      </p:sp>
      <p:sp>
        <p:nvSpPr>
          <p:cNvPr id="24" name="Shape 21"/>
          <p:cNvSpPr/>
          <p:nvPr/>
        </p:nvSpPr>
        <p:spPr>
          <a:xfrm>
            <a:off x="685800" y="3735324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85800" y="37353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1234440" y="3749040"/>
            <a:ext cx="10287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Meine Schwester hat ein neues Handy.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548640" y="4151376"/>
            <a:ext cx="11109960" cy="338328"/>
          </a:xfrm>
          <a:prstGeom prst="roundRect">
            <a:avLst>
              <a:gd name="adj" fmla="val 21622"/>
            </a:avLst>
          </a:prstGeom>
          <a:solidFill>
            <a:srgbClr val="F4F7FD"/>
          </a:solidFill>
          <a:ln/>
        </p:spPr>
      </p:sp>
      <p:sp>
        <p:nvSpPr>
          <p:cNvPr id="28" name="Shape 25"/>
          <p:cNvSpPr/>
          <p:nvPr/>
        </p:nvSpPr>
        <p:spPr>
          <a:xfrm>
            <a:off x="685800" y="4137660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85800" y="41376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1234440" y="4151376"/>
            <a:ext cx="10287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 sind am Freitag im Kino.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548640" y="4553712"/>
            <a:ext cx="11109960" cy="338328"/>
          </a:xfrm>
          <a:prstGeom prst="roundRect">
            <a:avLst>
              <a:gd name="adj" fmla="val 21622"/>
            </a:avLst>
          </a:prstGeom>
          <a:solidFill>
            <a:srgbClr val="F4F7FD"/>
          </a:solidFill>
          <a:ln/>
        </p:spPr>
      </p:sp>
      <p:sp>
        <p:nvSpPr>
          <p:cNvPr id="32" name="Shape 29"/>
          <p:cNvSpPr/>
          <p:nvPr/>
        </p:nvSpPr>
        <p:spPr>
          <a:xfrm>
            <a:off x="685800" y="4539996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85800" y="45399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1234440" y="4553712"/>
            <a:ext cx="10287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Habt ihr die neue Staffel schon gesehen?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548640" y="4956048"/>
            <a:ext cx="11109960" cy="338328"/>
          </a:xfrm>
          <a:prstGeom prst="roundRect">
            <a:avLst>
              <a:gd name="adj" fmla="val 21622"/>
            </a:avLst>
          </a:prstGeom>
          <a:solidFill>
            <a:srgbClr val="F4F7FD"/>
          </a:solidFill>
          <a:ln/>
        </p:spPr>
      </p:sp>
      <p:sp>
        <p:nvSpPr>
          <p:cNvPr id="36" name="Shape 33"/>
          <p:cNvSpPr/>
          <p:nvPr/>
        </p:nvSpPr>
        <p:spPr>
          <a:xfrm>
            <a:off x="685800" y="4942332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685800" y="49423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1234440" y="4956048"/>
            <a:ext cx="10287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Mein Akku ist fast leer.</a:t>
            </a:r>
            <a:endParaRPr lang="en-US" sz="2100" dirty="0"/>
          </a:p>
        </p:txBody>
      </p:sp>
      <p:sp>
        <p:nvSpPr>
          <p:cNvPr id="39" name="Shape 36"/>
          <p:cNvSpPr/>
          <p:nvPr/>
        </p:nvSpPr>
        <p:spPr>
          <a:xfrm>
            <a:off x="548640" y="5358384"/>
            <a:ext cx="11109960" cy="338328"/>
          </a:xfrm>
          <a:prstGeom prst="roundRect">
            <a:avLst>
              <a:gd name="adj" fmla="val 21622"/>
            </a:avLst>
          </a:prstGeom>
          <a:solidFill>
            <a:srgbClr val="F4F7FD"/>
          </a:solidFill>
          <a:ln/>
        </p:spPr>
      </p:sp>
      <p:sp>
        <p:nvSpPr>
          <p:cNvPr id="40" name="Shape 37"/>
          <p:cNvSpPr/>
          <p:nvPr/>
        </p:nvSpPr>
        <p:spPr>
          <a:xfrm>
            <a:off x="685800" y="5344668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685800" y="53446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42" name="Text 39"/>
          <p:cNvSpPr txBox="1"/>
          <p:nvPr/>
        </p:nvSpPr>
        <p:spPr>
          <a:xfrm>
            <a:off x="1234440" y="5358384"/>
            <a:ext cx="10287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Leon schaut jeden Abend Videos.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PARTNERARBEIT · OHNE HEFT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Speed-Duell zu zweit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655064"/>
          </a:xfrm>
          <a:prstGeom prst="roundRect">
            <a:avLst>
              <a:gd name="adj" fmla="val 4420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Nenne Person, Verb und Zeitform: „wir – sein – Präteritum“.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Dein Partner antwortet in drei Sekunden. Richtig = 1 Punkt.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25374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5374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52374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2 Minuten wechselt ihr. Wer hat mehr Punkte?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Minuten · zu zweit · Flüsterstimme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 im Heft abdecken!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Verbformen verstehen · Deutsch 7A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8640" y="3346704"/>
            <a:ext cx="4572000" cy="4572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8640" y="33467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389534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 · du · er/sie/es · wir · ihr · sie</a:t>
            </a:r>
            <a:endParaRPr lang="en-US" sz="1900" dirty="0"/>
          </a:p>
        </p:txBody>
      </p:sp>
      <p:sp>
        <p:nvSpPr>
          <p:cNvPr id="22" name="Shape 19"/>
          <p:cNvSpPr/>
          <p:nvPr/>
        </p:nvSpPr>
        <p:spPr>
          <a:xfrm>
            <a:off x="5303520" y="3346704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D9534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303520" y="334670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5303520" y="3895344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haben · sein</a:t>
            </a:r>
            <a:endParaRPr lang="en-US" sz="1900" dirty="0"/>
          </a:p>
        </p:txBody>
      </p:sp>
      <p:sp>
        <p:nvSpPr>
          <p:cNvPr id="25" name="Shape 22"/>
          <p:cNvSpPr/>
          <p:nvPr/>
        </p:nvSpPr>
        <p:spPr>
          <a:xfrm>
            <a:off x="8138160" y="3346704"/>
            <a:ext cx="3520440" cy="457200"/>
          </a:xfrm>
          <a:prstGeom prst="roundRect">
            <a:avLst>
              <a:gd name="adj" fmla="val 10000"/>
            </a:avLst>
          </a:prstGeom>
          <a:solidFill>
            <a:srgbClr val="5B6B8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138160" y="334670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Zeitform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8138160" y="3895344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Präsens · Präteritum</a:t>
            </a:r>
            <a:endParaRPr lang="en-US" sz="1900" dirty="0"/>
          </a:p>
        </p:txBody>
      </p:sp>
      <p:sp>
        <p:nvSpPr>
          <p:cNvPr id="28" name="Shape 25"/>
          <p:cNvSpPr/>
          <p:nvPr/>
        </p:nvSpPr>
        <p:spPr>
          <a:xfrm>
            <a:off x="548640" y="4672584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EAF0FA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22960" y="4672584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Beispiel:  </a:t>
            </a:r>
            <a:pPr indent="0" marL="0">
              <a:buNone/>
            </a:pPr>
            <a:r>
              <a:rPr lang="en-US" sz="26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„ihr – haben – Präteritum“  →  </a:t>
            </a:r>
            <a:pPr indent="0" marL="0">
              <a:buNone/>
            </a:pPr>
            <a:r>
              <a:rPr lang="en-US" sz="26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ihr hattet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Letzte Woche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170432"/>
          </a:xfrm>
          <a:prstGeom prst="roundRect">
            <a:avLst>
              <a:gd name="adj" fmla="val 6250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Ü3 an den Rand.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untereinander nur die Nummer und das fehlende Wort.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Minuten · allein · leise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 und noch einmal durchlesen.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Verbformen verstehen · Deutsch 7A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48640" y="2862072"/>
            <a:ext cx="11109960" cy="515722"/>
          </a:xfrm>
          <a:prstGeom prst="roundRect">
            <a:avLst>
              <a:gd name="adj" fmla="val 14184"/>
            </a:avLst>
          </a:prstGeom>
          <a:solidFill>
            <a:srgbClr val="F4F7FD"/>
          </a:solidFill>
          <a:ln/>
        </p:spPr>
      </p:sp>
      <p:sp>
        <p:nvSpPr>
          <p:cNvPr id="17" name="Shape 14"/>
          <p:cNvSpPr/>
          <p:nvPr/>
        </p:nvSpPr>
        <p:spPr>
          <a:xfrm>
            <a:off x="685800" y="2937053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85800" y="293705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2862072"/>
            <a:ext cx="10287000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Gestern </a:t>
            </a:r>
            <a:pPr indent="0" marL="0">
              <a:buNone/>
            </a:pPr>
            <a:r>
              <a:rPr lang="en-US" sz="22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ich beim Zahnarzt.</a:t>
            </a:r>
            <a:pPr indent="0" marL="0">
              <a:buNone/>
            </a:pPr>
            <a:r>
              <a:rPr lang="en-US" sz="20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(sein)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548640" y="3441802"/>
            <a:ext cx="11109960" cy="515722"/>
          </a:xfrm>
          <a:prstGeom prst="roundRect">
            <a:avLst>
              <a:gd name="adj" fmla="val 14184"/>
            </a:avLst>
          </a:prstGeom>
          <a:solidFill>
            <a:srgbClr val="F4F7FD"/>
          </a:solidFill>
          <a:ln/>
        </p:spPr>
      </p:sp>
      <p:sp>
        <p:nvSpPr>
          <p:cNvPr id="21" name="Shape 18"/>
          <p:cNvSpPr/>
          <p:nvPr/>
        </p:nvSpPr>
        <p:spPr>
          <a:xfrm>
            <a:off x="685800" y="3516782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85800" y="351678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3441802"/>
            <a:ext cx="10287000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</a:t>
            </a:r>
            <a:pPr indent="0" marL="0">
              <a:buNone/>
            </a:pPr>
            <a:r>
              <a:rPr lang="en-US" sz="22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am Wochenende Geburtstag, oder?</a:t>
            </a:r>
            <a:pPr indent="0" marL="0">
              <a:buNone/>
            </a:pPr>
            <a:r>
              <a:rPr lang="en-US" sz="20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(haben)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548640" y="4021531"/>
            <a:ext cx="11109960" cy="515722"/>
          </a:xfrm>
          <a:prstGeom prst="roundRect">
            <a:avLst>
              <a:gd name="adj" fmla="val 14184"/>
            </a:avLst>
          </a:prstGeom>
          <a:solidFill>
            <a:srgbClr val="F4F7FD"/>
          </a:solidFill>
          <a:ln/>
        </p:spPr>
      </p:sp>
      <p:sp>
        <p:nvSpPr>
          <p:cNvPr id="25" name="Shape 22"/>
          <p:cNvSpPr/>
          <p:nvPr/>
        </p:nvSpPr>
        <p:spPr>
          <a:xfrm>
            <a:off x="685800" y="4096512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85800" y="4096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1234440" y="4021531"/>
            <a:ext cx="10287000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 </a:t>
            </a:r>
            <a:pPr indent="0" marL="0">
              <a:buNone/>
            </a:pPr>
            <a:r>
              <a:rPr lang="en-US" sz="22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letzte Woche auf Klassenfahrt.</a:t>
            </a:r>
            <a:pPr indent="0" marL="0">
              <a:buNone/>
            </a:pPr>
            <a:r>
              <a:rPr lang="en-US" sz="20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(sein)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548640" y="4601261"/>
            <a:ext cx="11109960" cy="515722"/>
          </a:xfrm>
          <a:prstGeom prst="roundRect">
            <a:avLst>
              <a:gd name="adj" fmla="val 14184"/>
            </a:avLst>
          </a:prstGeom>
          <a:solidFill>
            <a:srgbClr val="F4F7FD"/>
          </a:solidFill>
          <a:ln/>
        </p:spPr>
      </p:sp>
      <p:sp>
        <p:nvSpPr>
          <p:cNvPr id="29" name="Shape 26"/>
          <p:cNvSpPr/>
          <p:nvPr/>
        </p:nvSpPr>
        <p:spPr>
          <a:xfrm>
            <a:off x="685800" y="4676242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85800" y="467624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1234440" y="4601261"/>
            <a:ext cx="10287000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Ihr </a:t>
            </a:r>
            <a:pPr indent="0" marL="0">
              <a:buNone/>
            </a:pPr>
            <a:r>
              <a:rPr lang="en-US" sz="22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gestern kein WLAN.</a:t>
            </a:r>
            <a:pPr indent="0" marL="0">
              <a:buNone/>
            </a:pPr>
            <a:r>
              <a:rPr lang="en-US" sz="20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(haben)</a:t>
            </a:r>
            <a:endParaRPr lang="en-US" sz="2200" dirty="0"/>
          </a:p>
        </p:txBody>
      </p:sp>
      <p:sp>
        <p:nvSpPr>
          <p:cNvPr id="32" name="Shape 29"/>
          <p:cNvSpPr/>
          <p:nvPr/>
        </p:nvSpPr>
        <p:spPr>
          <a:xfrm>
            <a:off x="548640" y="5180990"/>
            <a:ext cx="11109960" cy="515722"/>
          </a:xfrm>
          <a:prstGeom prst="roundRect">
            <a:avLst>
              <a:gd name="adj" fmla="val 14184"/>
            </a:avLst>
          </a:prstGeom>
          <a:solidFill>
            <a:srgbClr val="F4F7FD"/>
          </a:solidFill>
          <a:ln/>
        </p:spPr>
      </p:sp>
      <p:sp>
        <p:nvSpPr>
          <p:cNvPr id="33" name="Shape 30"/>
          <p:cNvSpPr/>
          <p:nvPr/>
        </p:nvSpPr>
        <p:spPr>
          <a:xfrm>
            <a:off x="685800" y="5255971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85800" y="525597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1234440" y="5180990"/>
            <a:ext cx="10287000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pPr indent="0" marL="0">
              <a:buNone/>
            </a:pPr>
            <a:r>
              <a:rPr lang="en-US" sz="22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du schon einmal in einem Escape Room?</a:t>
            </a:r>
            <a:pPr indent="0" marL="0">
              <a:buNone/>
            </a:pPr>
            <a:r>
              <a:rPr lang="en-US" sz="20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(sein)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Partizip II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655064"/>
          </a:xfrm>
          <a:prstGeom prst="roundRect">
            <a:avLst>
              <a:gd name="adj" fmla="val 4420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Ü4 an den Rand.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ab: Verb → Partizip II. Die ersten zwei stehen schon da.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25374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5374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52374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Markiere ge- und die Endung gelb.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Minuten · allein · leise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 und noch einmal durchlesen.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Verbformen verstehen · Deutsch 7A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8640" y="5129784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C98A1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5129784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Für Schnelle:   </a:t>
            </a:r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verstehen → _____    telefonieren → _____    aufräumen → _____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346704"/>
            <a:ext cx="3520440" cy="731520"/>
          </a:xfrm>
          <a:prstGeom prst="roundRect">
            <a:avLst>
              <a:gd name="adj" fmla="val 10000"/>
            </a:avLst>
          </a:prstGeom>
          <a:solidFill>
            <a:srgbClr val="EAF0FA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22960" y="3346704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spielen  →  </a:t>
            </a:r>
            <a:pPr indent="0" marL="0">
              <a:buNone/>
            </a:pPr>
            <a:r>
              <a:rPr lang="en-US" sz="2300" b="1" dirty="0">
                <a:solidFill>
                  <a:srgbClr val="C98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</a:t>
            </a:r>
            <a:pPr indent="0" marL="0">
              <a:buNone/>
            </a:pPr>
            <a:r>
              <a:rPr lang="en-US" sz="23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spiel</a:t>
            </a:r>
            <a:pPr indent="0" marL="0">
              <a:buNone/>
            </a:pPr>
            <a:r>
              <a:rPr lang="en-US" sz="2300" b="1" dirty="0">
                <a:solidFill>
                  <a:srgbClr val="C98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300" dirty="0"/>
          </a:p>
        </p:txBody>
      </p:sp>
      <p:sp>
        <p:nvSpPr>
          <p:cNvPr id="23" name="Shape 20"/>
          <p:cNvSpPr/>
          <p:nvPr/>
        </p:nvSpPr>
        <p:spPr>
          <a:xfrm>
            <a:off x="4343400" y="3346704"/>
            <a:ext cx="3520440" cy="731520"/>
          </a:xfrm>
          <a:prstGeom prst="roundRect">
            <a:avLst>
              <a:gd name="adj" fmla="val 10000"/>
            </a:avLst>
          </a:prstGeom>
          <a:solidFill>
            <a:srgbClr val="EAF0F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617720" y="3346704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gehen  →  </a:t>
            </a:r>
            <a:pPr indent="0" marL="0">
              <a:buNone/>
            </a:pPr>
            <a:r>
              <a:rPr lang="en-US" sz="2300" b="1" dirty="0">
                <a:solidFill>
                  <a:srgbClr val="C98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</a:t>
            </a:r>
            <a:pPr indent="0" marL="0">
              <a:buNone/>
            </a:pPr>
            <a:r>
              <a:rPr lang="en-US" sz="23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gang</a:t>
            </a:r>
            <a:pPr indent="0" marL="0">
              <a:buNone/>
            </a:pPr>
            <a:r>
              <a:rPr lang="en-US" sz="2300" b="1" dirty="0">
                <a:solidFill>
                  <a:srgbClr val="C98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</a:t>
            </a:r>
            <a:endParaRPr lang="en-US" sz="2300" dirty="0"/>
          </a:p>
        </p:txBody>
      </p:sp>
      <p:sp>
        <p:nvSpPr>
          <p:cNvPr id="25" name="Shape 22"/>
          <p:cNvSpPr/>
          <p:nvPr/>
        </p:nvSpPr>
        <p:spPr>
          <a:xfrm>
            <a:off x="8138160" y="3346704"/>
            <a:ext cx="3520440" cy="731520"/>
          </a:xfrm>
          <a:prstGeom prst="roundRect">
            <a:avLst>
              <a:gd name="adj" fmla="val 10000"/>
            </a:avLst>
          </a:prstGeom>
          <a:solidFill>
            <a:srgbClr val="F4F7F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412480" y="3346704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kaufen  →  </a:t>
            </a:r>
            <a:pPr indent="0" marL="0">
              <a:buNone/>
            </a:pPr>
            <a:r>
              <a:rPr lang="en-US" sz="2300" b="1" dirty="0">
                <a:solidFill>
                  <a:srgbClr val="C98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______</a:t>
            </a:r>
            <a:endParaRPr lang="en-US" sz="2300" dirty="0"/>
          </a:p>
        </p:txBody>
      </p:sp>
      <p:sp>
        <p:nvSpPr>
          <p:cNvPr id="27" name="Shape 24"/>
          <p:cNvSpPr/>
          <p:nvPr/>
        </p:nvSpPr>
        <p:spPr>
          <a:xfrm>
            <a:off x="548640" y="4215384"/>
            <a:ext cx="3520440" cy="731520"/>
          </a:xfrm>
          <a:prstGeom prst="roundRect">
            <a:avLst>
              <a:gd name="adj" fmla="val 10000"/>
            </a:avLst>
          </a:prstGeom>
          <a:solidFill>
            <a:srgbClr val="F4F7FD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822960" y="4215384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schreiben  →  </a:t>
            </a:r>
            <a:pPr indent="0" marL="0">
              <a:buNone/>
            </a:pPr>
            <a:r>
              <a:rPr lang="en-US" sz="2300" b="1" dirty="0">
                <a:solidFill>
                  <a:srgbClr val="C98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______</a:t>
            </a:r>
            <a:endParaRPr lang="en-US" sz="2300" dirty="0"/>
          </a:p>
        </p:txBody>
      </p:sp>
      <p:sp>
        <p:nvSpPr>
          <p:cNvPr id="29" name="Shape 26"/>
          <p:cNvSpPr/>
          <p:nvPr/>
        </p:nvSpPr>
        <p:spPr>
          <a:xfrm>
            <a:off x="4343400" y="4215384"/>
            <a:ext cx="3520440" cy="731520"/>
          </a:xfrm>
          <a:prstGeom prst="roundRect">
            <a:avLst>
              <a:gd name="adj" fmla="val 10000"/>
            </a:avLst>
          </a:prstGeom>
          <a:solidFill>
            <a:srgbClr val="F4F7F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617720" y="4215384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essen  →  </a:t>
            </a:r>
            <a:pPr indent="0" marL="0">
              <a:buNone/>
            </a:pPr>
            <a:r>
              <a:rPr lang="en-US" sz="2300" b="1" dirty="0">
                <a:solidFill>
                  <a:srgbClr val="C98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______</a:t>
            </a:r>
            <a:endParaRPr lang="en-US" sz="2300" dirty="0"/>
          </a:p>
        </p:txBody>
      </p:sp>
      <p:sp>
        <p:nvSpPr>
          <p:cNvPr id="31" name="Shape 28"/>
          <p:cNvSpPr/>
          <p:nvPr/>
        </p:nvSpPr>
        <p:spPr>
          <a:xfrm>
            <a:off x="8138160" y="4215384"/>
            <a:ext cx="3520440" cy="731520"/>
          </a:xfrm>
          <a:prstGeom prst="roundRect">
            <a:avLst>
              <a:gd name="adj" fmla="val 10000"/>
            </a:avLst>
          </a:prstGeom>
          <a:solidFill>
            <a:srgbClr val="F4F7F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412480" y="4215384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fahren  →  </a:t>
            </a:r>
            <a:pPr indent="0" marL="0">
              <a:buNone/>
            </a:pPr>
            <a:r>
              <a:rPr lang="en-US" sz="2300" b="1" dirty="0">
                <a:solidFill>
                  <a:srgbClr val="C98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______</a:t>
            </a:r>
            <a:endParaRPr lang="en-US" sz="2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5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haben oder sein?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655064"/>
          </a:xfrm>
          <a:prstGeom prst="roundRect">
            <a:avLst>
              <a:gd name="adj" fmla="val 4420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Ü5 an den Rand.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nur Nummer + Wort: habe, hat, bin, ist oder sind.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25374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5374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52374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Begründe bei Nr. 3 und 6 in einem Satz, warum dort sein steht.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Minuten · allein · leise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 und noch einmal durchlesen.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Verbformen verstehen · Deutsch 7A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8640" y="3346704"/>
            <a:ext cx="11109960" cy="338328"/>
          </a:xfrm>
          <a:prstGeom prst="roundRect">
            <a:avLst>
              <a:gd name="adj" fmla="val 21622"/>
            </a:avLst>
          </a:prstGeom>
          <a:solidFill>
            <a:srgbClr val="F4F7FD"/>
          </a:solidFill>
          <a:ln/>
        </p:spPr>
      </p:sp>
      <p:sp>
        <p:nvSpPr>
          <p:cNvPr id="20" name="Shape 17"/>
          <p:cNvSpPr/>
          <p:nvPr/>
        </p:nvSpPr>
        <p:spPr>
          <a:xfrm>
            <a:off x="685800" y="3332988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5800" y="33329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1234440" y="3346704"/>
            <a:ext cx="10287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 Samstag </a:t>
            </a:r>
            <a:pPr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ich erst um elf aufgewacht.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548640" y="3749040"/>
            <a:ext cx="11109960" cy="338328"/>
          </a:xfrm>
          <a:prstGeom prst="roundRect">
            <a:avLst>
              <a:gd name="adj" fmla="val 21622"/>
            </a:avLst>
          </a:prstGeom>
          <a:solidFill>
            <a:srgbClr val="F4F7FD"/>
          </a:solidFill>
          <a:ln/>
        </p:spPr>
      </p:sp>
      <p:sp>
        <p:nvSpPr>
          <p:cNvPr id="24" name="Shape 21"/>
          <p:cNvSpPr/>
          <p:nvPr/>
        </p:nvSpPr>
        <p:spPr>
          <a:xfrm>
            <a:off x="685800" y="3735324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85800" y="37353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1234440" y="3749040"/>
            <a:ext cx="10287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Dann </a:t>
            </a:r>
            <a:pPr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ich mit meinem Bruder gezockt.</a:t>
            </a:r>
            <a:endParaRPr lang="en-US" sz="2000" dirty="0"/>
          </a:p>
        </p:txBody>
      </p:sp>
      <p:sp>
        <p:nvSpPr>
          <p:cNvPr id="27" name="Shape 24"/>
          <p:cNvSpPr/>
          <p:nvPr/>
        </p:nvSpPr>
        <p:spPr>
          <a:xfrm>
            <a:off x="548640" y="4151376"/>
            <a:ext cx="11109960" cy="338328"/>
          </a:xfrm>
          <a:prstGeom prst="roundRect">
            <a:avLst>
              <a:gd name="adj" fmla="val 21622"/>
            </a:avLst>
          </a:prstGeom>
          <a:solidFill>
            <a:srgbClr val="F4F7FD"/>
          </a:solidFill>
          <a:ln/>
        </p:spPr>
      </p:sp>
      <p:sp>
        <p:nvSpPr>
          <p:cNvPr id="28" name="Shape 25"/>
          <p:cNvSpPr/>
          <p:nvPr/>
        </p:nvSpPr>
        <p:spPr>
          <a:xfrm>
            <a:off x="685800" y="4137660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85800" y="41376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1234440" y="4151376"/>
            <a:ext cx="10287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 Nachmittag </a:t>
            </a:r>
            <a:pPr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wir mit dem Rad zum See gefahren.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548640" y="4553712"/>
            <a:ext cx="11109960" cy="338328"/>
          </a:xfrm>
          <a:prstGeom prst="roundRect">
            <a:avLst>
              <a:gd name="adj" fmla="val 21622"/>
            </a:avLst>
          </a:prstGeom>
          <a:solidFill>
            <a:srgbClr val="F4F7FD"/>
          </a:solidFill>
          <a:ln/>
        </p:spPr>
      </p:sp>
      <p:sp>
        <p:nvSpPr>
          <p:cNvPr id="32" name="Shape 29"/>
          <p:cNvSpPr/>
          <p:nvPr/>
        </p:nvSpPr>
        <p:spPr>
          <a:xfrm>
            <a:off x="685800" y="4539996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85800" y="45399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1234440" y="4553712"/>
            <a:ext cx="10287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Meine Freundin </a:t>
            </a:r>
            <a:pPr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mir ein Video geschickt.</a:t>
            </a:r>
            <a:endParaRPr lang="en-US" sz="2000" dirty="0"/>
          </a:p>
        </p:txBody>
      </p:sp>
      <p:sp>
        <p:nvSpPr>
          <p:cNvPr id="35" name="Shape 32"/>
          <p:cNvSpPr/>
          <p:nvPr/>
        </p:nvSpPr>
        <p:spPr>
          <a:xfrm>
            <a:off x="548640" y="4956048"/>
            <a:ext cx="11109960" cy="338328"/>
          </a:xfrm>
          <a:prstGeom prst="roundRect">
            <a:avLst>
              <a:gd name="adj" fmla="val 21622"/>
            </a:avLst>
          </a:prstGeom>
          <a:solidFill>
            <a:srgbClr val="F4F7FD"/>
          </a:solidFill>
          <a:ln/>
        </p:spPr>
      </p:sp>
      <p:sp>
        <p:nvSpPr>
          <p:cNvPr id="36" name="Shape 33"/>
          <p:cNvSpPr/>
          <p:nvPr/>
        </p:nvSpPr>
        <p:spPr>
          <a:xfrm>
            <a:off x="685800" y="4942332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685800" y="49423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1234440" y="4956048"/>
            <a:ext cx="10287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Abends </a:t>
            </a:r>
            <a:pPr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wir noch ins Kino gegangen.</a:t>
            </a:r>
            <a:endParaRPr lang="en-US" sz="2000" dirty="0"/>
          </a:p>
        </p:txBody>
      </p:sp>
      <p:sp>
        <p:nvSpPr>
          <p:cNvPr id="39" name="Shape 36"/>
          <p:cNvSpPr/>
          <p:nvPr/>
        </p:nvSpPr>
        <p:spPr>
          <a:xfrm>
            <a:off x="548640" y="5358384"/>
            <a:ext cx="11109960" cy="338328"/>
          </a:xfrm>
          <a:prstGeom prst="roundRect">
            <a:avLst>
              <a:gd name="adj" fmla="val 21622"/>
            </a:avLst>
          </a:prstGeom>
          <a:solidFill>
            <a:srgbClr val="F4F7FD"/>
          </a:solidFill>
          <a:ln/>
        </p:spPr>
      </p:sp>
      <p:sp>
        <p:nvSpPr>
          <p:cNvPr id="40" name="Shape 37"/>
          <p:cNvSpPr/>
          <p:nvPr/>
        </p:nvSpPr>
        <p:spPr>
          <a:xfrm>
            <a:off x="685800" y="5344668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685800" y="53446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42" name="Text 39"/>
          <p:cNvSpPr txBox="1"/>
          <p:nvPr/>
        </p:nvSpPr>
        <p:spPr>
          <a:xfrm>
            <a:off x="1234440" y="5358384"/>
            <a:ext cx="10287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Mitternacht </a:t>
            </a:r>
            <a:pPr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_____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ich endlich eingeschlafen.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GEMEINSAM · OHNE HEFT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Hilfsverb oder Vollverb?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490472"/>
          </a:xfrm>
          <a:prstGeom prst="roundRect">
            <a:avLst>
              <a:gd name="adj" fmla="val 4908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Melde dich.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Sage: Hilfsverb oder Vollverb – und begründe mit dem Test: Steht am Satzende ein Partizip II?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gemeinsam · mündlich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begründet, bekommt das Wort.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Verbformen verstehen · Deutsch 7A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48640" y="3182112"/>
            <a:ext cx="11109960" cy="580644"/>
          </a:xfrm>
          <a:prstGeom prst="roundRect">
            <a:avLst>
              <a:gd name="adj" fmla="val 12598"/>
            </a:avLst>
          </a:prstGeom>
          <a:solidFill>
            <a:srgbClr val="F4F7FD"/>
          </a:solidFill>
          <a:ln/>
        </p:spPr>
      </p:sp>
      <p:sp>
        <p:nvSpPr>
          <p:cNvPr id="17" name="Shape 14"/>
          <p:cNvSpPr/>
          <p:nvPr/>
        </p:nvSpPr>
        <p:spPr>
          <a:xfrm>
            <a:off x="685800" y="3289554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85800" y="328955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3182112"/>
            <a:ext cx="10287000" cy="580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Mein Handy ist kaputt.</a:t>
            </a:r>
            <a:endParaRPr lang="en-US" sz="2400" dirty="0"/>
          </a:p>
        </p:txBody>
      </p:sp>
      <p:sp>
        <p:nvSpPr>
          <p:cNvPr id="20" name="Shape 17"/>
          <p:cNvSpPr/>
          <p:nvPr/>
        </p:nvSpPr>
        <p:spPr>
          <a:xfrm>
            <a:off x="548640" y="3826764"/>
            <a:ext cx="11109960" cy="580644"/>
          </a:xfrm>
          <a:prstGeom prst="roundRect">
            <a:avLst>
              <a:gd name="adj" fmla="val 12598"/>
            </a:avLst>
          </a:prstGeom>
          <a:solidFill>
            <a:srgbClr val="F4F7FD"/>
          </a:solidFill>
          <a:ln/>
        </p:spPr>
      </p:sp>
      <p:sp>
        <p:nvSpPr>
          <p:cNvPr id="21" name="Shape 18"/>
          <p:cNvSpPr/>
          <p:nvPr/>
        </p:nvSpPr>
        <p:spPr>
          <a:xfrm>
            <a:off x="685800" y="3934206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85800" y="393420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3826764"/>
            <a:ext cx="10287000" cy="580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Mein Handy ist runtergefallen.</a:t>
            </a:r>
            <a:endParaRPr lang="en-US" sz="2400" dirty="0"/>
          </a:p>
        </p:txBody>
      </p:sp>
      <p:sp>
        <p:nvSpPr>
          <p:cNvPr id="24" name="Shape 21"/>
          <p:cNvSpPr/>
          <p:nvPr/>
        </p:nvSpPr>
        <p:spPr>
          <a:xfrm>
            <a:off x="548640" y="4471416"/>
            <a:ext cx="11109960" cy="580644"/>
          </a:xfrm>
          <a:prstGeom prst="roundRect">
            <a:avLst>
              <a:gd name="adj" fmla="val 12598"/>
            </a:avLst>
          </a:prstGeom>
          <a:solidFill>
            <a:srgbClr val="F4F7FD"/>
          </a:solidFill>
          <a:ln/>
        </p:spPr>
      </p:sp>
      <p:sp>
        <p:nvSpPr>
          <p:cNvPr id="25" name="Shape 22"/>
          <p:cNvSpPr/>
          <p:nvPr/>
        </p:nvSpPr>
        <p:spPr>
          <a:xfrm>
            <a:off x="685800" y="4578858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85800" y="457885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1234440" y="4471416"/>
            <a:ext cx="10287000" cy="580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 hatten keine Hausaufgaben.</a:t>
            </a:r>
            <a:endParaRPr lang="en-US" sz="2400" dirty="0"/>
          </a:p>
        </p:txBody>
      </p:sp>
      <p:sp>
        <p:nvSpPr>
          <p:cNvPr id="28" name="Shape 25"/>
          <p:cNvSpPr/>
          <p:nvPr/>
        </p:nvSpPr>
        <p:spPr>
          <a:xfrm>
            <a:off x="548640" y="5116068"/>
            <a:ext cx="11109960" cy="580644"/>
          </a:xfrm>
          <a:prstGeom prst="roundRect">
            <a:avLst>
              <a:gd name="adj" fmla="val 12598"/>
            </a:avLst>
          </a:prstGeom>
          <a:solidFill>
            <a:srgbClr val="F4F7FD"/>
          </a:solidFill>
          <a:ln/>
        </p:spPr>
      </p:sp>
      <p:sp>
        <p:nvSpPr>
          <p:cNvPr id="29" name="Shape 26"/>
          <p:cNvSpPr/>
          <p:nvPr/>
        </p:nvSpPr>
        <p:spPr>
          <a:xfrm>
            <a:off x="685800" y="5223510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85800" y="522351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1234440" y="5116068"/>
            <a:ext cx="10287000" cy="580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Ihr habt die Hausaufgaben vergessen.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ABSCHLUSS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Jetzt könnt ihr es erklären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490472"/>
          </a:xfrm>
          <a:prstGeom prst="roundRect">
            <a:avLst>
              <a:gd name="adj" fmla="val 4908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Erkläre einen Fehler im Chat – mit den Fachbegriffen.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die drei korrigierten Sätze ab: Hilfsverb rot, Partizip II gelb.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gemeinsam, dann abschreiben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 und noch einmal durchlesen.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Verbformen verstehen · Deutsch 7A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48640" y="3182112"/>
            <a:ext cx="9326880" cy="424282"/>
          </a:xfrm>
          <a:prstGeom prst="roundRect">
            <a:avLst>
              <a:gd name="adj" fmla="val 32328"/>
            </a:avLst>
          </a:prstGeom>
          <a:solidFill>
            <a:srgbClr val="F4F7F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77240" y="3182112"/>
            <a:ext cx="8961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Mo:  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Hast du gestern das Spiel gesehen?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2331720" y="3697834"/>
            <a:ext cx="9326880" cy="424282"/>
          </a:xfrm>
          <a:prstGeom prst="roundRect">
            <a:avLst>
              <a:gd name="adj" fmla="val 32328"/>
            </a:avLst>
          </a:prstGeom>
          <a:solidFill>
            <a:srgbClr val="EAF0F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560320" y="3697834"/>
            <a:ext cx="8961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Jona:  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Nee, ich habe erst um zehn nach Hause gegangen.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4213555"/>
            <a:ext cx="9326880" cy="424282"/>
          </a:xfrm>
          <a:prstGeom prst="roundRect">
            <a:avLst>
              <a:gd name="adj" fmla="val 32328"/>
            </a:avLst>
          </a:prstGeom>
          <a:solidFill>
            <a:srgbClr val="F4F7F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77240" y="4213555"/>
            <a:ext cx="8961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Mo:  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Schade. Wir sind echt stark gespielt.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2331720" y="4729277"/>
            <a:ext cx="9326880" cy="424282"/>
          </a:xfrm>
          <a:prstGeom prst="roundRect">
            <a:avLst>
              <a:gd name="adj" fmla="val 32328"/>
            </a:avLst>
          </a:prstGeom>
          <a:solidFill>
            <a:srgbClr val="EAF0FA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560320" y="4729277"/>
            <a:ext cx="8961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Jona:  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 hat die Tore geschießt?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548640" y="5244998"/>
            <a:ext cx="9326880" cy="424282"/>
          </a:xfrm>
          <a:prstGeom prst="roundRect">
            <a:avLst>
              <a:gd name="adj" fmla="val 32328"/>
            </a:avLst>
          </a:prstGeom>
          <a:solidFill>
            <a:srgbClr val="F4F7FD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777240" y="5244998"/>
            <a:ext cx="8961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Mo:  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 hatte zwei Treffer. Das dritte hat Ali gemacht.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SCHLUSS · OHNE HEFT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Exit-Ticket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490472"/>
          </a:xfrm>
          <a:prstGeom prst="roundRect">
            <a:avLst>
              <a:gd name="adj" fmla="val 4908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Nimm einen Zettel und schreibe deinen Namen oben hin.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zu jedem Satz: Infinitiv (haben/sein) · Präsens oder Präteritum · Hilfsverb ja oder nein.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Minuten · allein · ohne Heft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 und noch einmal durchlesen.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Verbformen verstehen · Deutsch 7A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48640" y="3182112"/>
            <a:ext cx="5417820" cy="594360"/>
          </a:xfrm>
          <a:prstGeom prst="roundRect">
            <a:avLst>
              <a:gd name="adj" fmla="val 12308"/>
            </a:avLst>
          </a:prstGeom>
          <a:solidFill>
            <a:srgbClr val="F4F7FD"/>
          </a:solidFill>
          <a:ln/>
        </p:spPr>
      </p:sp>
      <p:sp>
        <p:nvSpPr>
          <p:cNvPr id="17" name="Shape 14"/>
          <p:cNvSpPr/>
          <p:nvPr/>
        </p:nvSpPr>
        <p:spPr>
          <a:xfrm>
            <a:off x="685800" y="3296412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85800" y="32964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3182112"/>
            <a:ext cx="45948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 waren im Zoo.</a:t>
            </a:r>
            <a:endParaRPr lang="en-US" sz="2400" dirty="0"/>
          </a:p>
        </p:txBody>
      </p:sp>
      <p:sp>
        <p:nvSpPr>
          <p:cNvPr id="20" name="Shape 17"/>
          <p:cNvSpPr/>
          <p:nvPr/>
        </p:nvSpPr>
        <p:spPr>
          <a:xfrm>
            <a:off x="548640" y="3840480"/>
            <a:ext cx="5417820" cy="594360"/>
          </a:xfrm>
          <a:prstGeom prst="roundRect">
            <a:avLst>
              <a:gd name="adj" fmla="val 12308"/>
            </a:avLst>
          </a:prstGeom>
          <a:solidFill>
            <a:srgbClr val="F4F7FD"/>
          </a:solidFill>
          <a:ln/>
        </p:spPr>
      </p:sp>
      <p:sp>
        <p:nvSpPr>
          <p:cNvPr id="21" name="Shape 18"/>
          <p:cNvSpPr/>
          <p:nvPr/>
        </p:nvSpPr>
        <p:spPr>
          <a:xfrm>
            <a:off x="685800" y="3954780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85800" y="39547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3840480"/>
            <a:ext cx="45948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hast gewonnen.</a:t>
            </a:r>
            <a:endParaRPr lang="en-US" sz="2400" dirty="0"/>
          </a:p>
        </p:txBody>
      </p:sp>
      <p:sp>
        <p:nvSpPr>
          <p:cNvPr id="24" name="Shape 21"/>
          <p:cNvSpPr/>
          <p:nvPr/>
        </p:nvSpPr>
        <p:spPr>
          <a:xfrm>
            <a:off x="6240780" y="3182112"/>
            <a:ext cx="5417820" cy="594360"/>
          </a:xfrm>
          <a:prstGeom prst="roundRect">
            <a:avLst>
              <a:gd name="adj" fmla="val 12308"/>
            </a:avLst>
          </a:prstGeom>
          <a:solidFill>
            <a:srgbClr val="F4F7FD"/>
          </a:solidFill>
          <a:ln/>
        </p:spPr>
      </p:sp>
      <p:sp>
        <p:nvSpPr>
          <p:cNvPr id="25" name="Shape 22"/>
          <p:cNvSpPr/>
          <p:nvPr/>
        </p:nvSpPr>
        <p:spPr>
          <a:xfrm>
            <a:off x="6377940" y="3296412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377940" y="32964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926580" y="3182112"/>
            <a:ext cx="45948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Sie hatten keine Zeit.</a:t>
            </a:r>
            <a:endParaRPr lang="en-US" sz="2400" dirty="0"/>
          </a:p>
        </p:txBody>
      </p:sp>
      <p:sp>
        <p:nvSpPr>
          <p:cNvPr id="28" name="Shape 25"/>
          <p:cNvSpPr/>
          <p:nvPr/>
        </p:nvSpPr>
        <p:spPr>
          <a:xfrm>
            <a:off x="6240780" y="3840480"/>
            <a:ext cx="5417820" cy="594360"/>
          </a:xfrm>
          <a:prstGeom prst="roundRect">
            <a:avLst>
              <a:gd name="adj" fmla="val 12308"/>
            </a:avLst>
          </a:prstGeom>
          <a:solidFill>
            <a:srgbClr val="F4F7FD"/>
          </a:solidFill>
          <a:ln/>
        </p:spPr>
      </p:sp>
      <p:sp>
        <p:nvSpPr>
          <p:cNvPr id="29" name="Shape 26"/>
          <p:cNvSpPr/>
          <p:nvPr/>
        </p:nvSpPr>
        <p:spPr>
          <a:xfrm>
            <a:off x="6377940" y="3954780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377940" y="39547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926580" y="3840480"/>
            <a:ext cx="45948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 bin nach Hause gerannt.</a:t>
            </a:r>
            <a:endParaRPr lang="en-US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4544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schreibst du es auf – Beispiel „Ich habe gegessen.“:   haben · Präsens · ja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Verbformen verstehen – Übungen</dc:title>
  <dc:subject>PptxGenJS Presentation</dc:subject>
  <dc:creator>PptxGenJS</dc:creator>
  <cp:lastModifiedBy>PptxGenJS</cp:lastModifiedBy>
  <cp:revision>1</cp:revision>
  <dcterms:created xsi:type="dcterms:W3CDTF">2026-09-29T16:59:34Z</dcterms:created>
  <dcterms:modified xsi:type="dcterms:W3CDTF">2026-09-29T16:59:34Z</dcterms:modified>
</cp:coreProperties>
</file>