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Ansage: „Ich teile den Text aus. Jetzt arbeitet ihr allein. Die Aufgabe steht rechts.“ Danach Zeitleiste gemeinsam an der Tafel (siehe Tafelskript): 1614 · 1778–1783 · 1787 · 1788 · August 1788 · Frühjahr 1789 · 5. Mai 1789.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Ansage: „Meldet euch. Ihr schreibt noch nichts auf. Was fällt euch an diesen Zahlen auf?“ Erwartung: Der Dritte Stand (Bauern und Bürger) ist fast die ganze Bevölkerung und stellt etwa die Hälfte der Abgeordneten, hat aber nur eine von drei Stimmen. Klerus und Adel (ca. 3 %) haben zusammen zwei von drei Stimmen. Zahlen der Abgeordneten bitte gegen das Buch prüfen. Die Anzahl der Menschen stammt aus dem Gruppenpuzzle-Material.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Ansage: „Wir spielen jetzt eine Abstimmung. Das ist nur ein Spiel, es gilt nicht.“ Schritt 1, nach Ständen: Jede Gruppe eine Stimme. Klerus (L1) Ja, Adel (L2) Ja, Dritter Stand (Schüler) Nein: 2:1, angenommen. Schritt 2, nach Köpfen: 2 Ja, 12 Nein: abgelehnt. Fragen: Wie fühlt sich das an? Was ist unfair? Sind die Lehrkräfte das Problem oder die Regeln? Sollbruchstelle: Bei Zeitnot entfällt die Abstimmung und beginnt Stunde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Ansage: „Jetzt schreibt ihr von der Folie ab: Merksatz 1. Rahmt ihn rot ein.“ Rechnung dazu an der Tafel: 20 000 000 : 150 000 ≈ 133 (Klerus), 20 000 000 : 500 000 = 40 (Adel).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Ansage: „Jetzt arbeitet ihr allein. Die Aufgabe steht rechts.“ Beispiel: „… weil der Dritte Stand (Bauern und Bürger) ca. 97 % der Menschen stellt, aber nur eine von drei Stimmen hat und immer überstimmt wird.“ Ausblick: Was passiert, wenn der Dritte Stand nach Köpfen fordert und der König ablehnt? (Stunde 2)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ÜBUNG 1 · TEXT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Wie kam es zu den Generalständen?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1109960" cy="1737360"/>
          </a:xfrm>
          <a:prstGeom prst="roundRect">
            <a:avLst>
              <a:gd name="adj" fmla="val 4211"/>
            </a:avLst>
          </a:prstGeom>
          <a:solidFill>
            <a:srgbClr val="EAF0FA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517904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517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48132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Lies den Text.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731520" y="204825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2048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01168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Unterstreiche alle Jahreszahlen.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731520" y="257860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31520" y="2578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2542032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 zu jeder Jahreszahl ein Stichwort.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548640" y="5669280"/>
            <a:ext cx="11109960" cy="777240"/>
          </a:xfrm>
          <a:prstGeom prst="roundRect">
            <a:avLst>
              <a:gd name="adj" fmla="val 9412"/>
            </a:avLst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56692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Zeit: </a:t>
            </a:r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Minuten · allein · leise      </a:t>
            </a:r>
            <a:pPr indent="0" marL="0">
              <a:buNone/>
            </a:pPr>
            <a:r>
              <a:rPr lang="en-US" sz="2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Fertig? Stift hinlegen und noch einmal durchlesen.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Generalstände · Geschichte 8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ZAHLEN · GEMEINSAM · OHNE HEFT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Wer hat wie viel Gewicht?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035808" cy="914400"/>
          </a:xfrm>
          <a:prstGeom prst="roundRect">
            <a:avLst>
              <a:gd name="adj" fmla="val 5000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21792" y="1371600"/>
            <a:ext cx="28895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3657600" y="1371600"/>
            <a:ext cx="1664208" cy="914400"/>
          </a:xfrm>
          <a:prstGeom prst="roundRect">
            <a:avLst>
              <a:gd name="adj" fmla="val 5000"/>
            </a:avLst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730752" y="1371600"/>
            <a:ext cx="15179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Klerus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5394960" y="1371600"/>
            <a:ext cx="1664208" cy="914400"/>
          </a:xfrm>
          <a:prstGeom prst="roundRect">
            <a:avLst>
              <a:gd name="adj" fmla="val 5000"/>
            </a:avLst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68112" y="1371600"/>
            <a:ext cx="15179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Adel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7132320" y="1371600"/>
            <a:ext cx="4453128" cy="914400"/>
          </a:xfrm>
          <a:prstGeom prst="roundRect">
            <a:avLst>
              <a:gd name="adj" fmla="val 5000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05472" y="1371600"/>
            <a:ext cx="43068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Dritter Stand (Bauern und Bürger)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548640" y="2377440"/>
            <a:ext cx="3035808" cy="749808"/>
          </a:xfrm>
          <a:prstGeom prst="roundRect">
            <a:avLst>
              <a:gd name="adj" fmla="val 9756"/>
            </a:avLst>
          </a:prstGeom>
          <a:solidFill>
            <a:srgbClr val="EAF0F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21792" y="2377440"/>
            <a:ext cx="288950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Menschen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3657600" y="2377440"/>
            <a:ext cx="1664208" cy="749808"/>
          </a:xfrm>
          <a:prstGeom prst="roundRect">
            <a:avLst>
              <a:gd name="adj" fmla="val 9756"/>
            </a:avLst>
          </a:prstGeom>
          <a:solidFill>
            <a:srgbClr val="F4F7F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730752" y="2377440"/>
            <a:ext cx="151790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150 000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5394960" y="2377440"/>
            <a:ext cx="1664208" cy="749808"/>
          </a:xfrm>
          <a:prstGeom prst="roundRect">
            <a:avLst>
              <a:gd name="adj" fmla="val 9756"/>
            </a:avLst>
          </a:prstGeom>
          <a:solidFill>
            <a:srgbClr val="F4F7F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68112" y="2377440"/>
            <a:ext cx="151790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500 000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7132320" y="2377440"/>
            <a:ext cx="4453128" cy="749808"/>
          </a:xfrm>
          <a:prstGeom prst="roundRect">
            <a:avLst>
              <a:gd name="adj" fmla="val 9756"/>
            </a:avLst>
          </a:prstGeom>
          <a:solidFill>
            <a:srgbClr val="F4F7FD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205472" y="2377440"/>
            <a:ext cx="43068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20 000 000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548640" y="3182112"/>
            <a:ext cx="3035808" cy="749808"/>
          </a:xfrm>
          <a:prstGeom prst="roundRect">
            <a:avLst>
              <a:gd name="adj" fmla="val 9756"/>
            </a:avLst>
          </a:prstGeom>
          <a:solidFill>
            <a:srgbClr val="EAF0F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21792" y="3182112"/>
            <a:ext cx="288950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Anteil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3657600" y="3182112"/>
            <a:ext cx="1664208" cy="749808"/>
          </a:xfrm>
          <a:prstGeom prst="roundRect">
            <a:avLst>
              <a:gd name="adj" fmla="val 9756"/>
            </a:avLst>
          </a:prstGeom>
          <a:solidFill>
            <a:srgbClr val="F4F7FD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730752" y="3182112"/>
            <a:ext cx="151790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ca. 1 %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5394960" y="3182112"/>
            <a:ext cx="1664208" cy="749808"/>
          </a:xfrm>
          <a:prstGeom prst="roundRect">
            <a:avLst>
              <a:gd name="adj" fmla="val 9756"/>
            </a:avLst>
          </a:prstGeom>
          <a:solidFill>
            <a:srgbClr val="F4F7FD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468112" y="3182112"/>
            <a:ext cx="151790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ca. 2 %</a:t>
            </a:r>
            <a:endParaRPr lang="en-US" sz="2400" dirty="0"/>
          </a:p>
        </p:txBody>
      </p:sp>
      <p:sp>
        <p:nvSpPr>
          <p:cNvPr id="26" name="Shape 24"/>
          <p:cNvSpPr/>
          <p:nvPr/>
        </p:nvSpPr>
        <p:spPr>
          <a:xfrm>
            <a:off x="7132320" y="3182112"/>
            <a:ext cx="4453128" cy="749808"/>
          </a:xfrm>
          <a:prstGeom prst="roundRect">
            <a:avLst>
              <a:gd name="adj" fmla="val 9756"/>
            </a:avLst>
          </a:prstGeom>
          <a:solidFill>
            <a:srgbClr val="F4F7FD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205472" y="3182112"/>
            <a:ext cx="43068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ca. 97 %</a:t>
            </a:r>
            <a:endParaRPr lang="en-US" sz="2400" dirty="0"/>
          </a:p>
        </p:txBody>
      </p:sp>
      <p:sp>
        <p:nvSpPr>
          <p:cNvPr id="28" name="Shape 26"/>
          <p:cNvSpPr/>
          <p:nvPr/>
        </p:nvSpPr>
        <p:spPr>
          <a:xfrm>
            <a:off x="548640" y="3986784"/>
            <a:ext cx="3035808" cy="749808"/>
          </a:xfrm>
          <a:prstGeom prst="roundRect">
            <a:avLst>
              <a:gd name="adj" fmla="val 9756"/>
            </a:avLst>
          </a:prstGeom>
          <a:solidFill>
            <a:srgbClr val="EAF0F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21792" y="3986784"/>
            <a:ext cx="288950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Abgeordnete</a:t>
            </a:r>
            <a:endParaRPr lang="en-US" sz="2400" dirty="0"/>
          </a:p>
        </p:txBody>
      </p:sp>
      <p:sp>
        <p:nvSpPr>
          <p:cNvPr id="30" name="Shape 28"/>
          <p:cNvSpPr/>
          <p:nvPr/>
        </p:nvSpPr>
        <p:spPr>
          <a:xfrm>
            <a:off x="3657600" y="3986784"/>
            <a:ext cx="1664208" cy="749808"/>
          </a:xfrm>
          <a:prstGeom prst="roundRect">
            <a:avLst>
              <a:gd name="adj" fmla="val 9756"/>
            </a:avLst>
          </a:prstGeom>
          <a:solidFill>
            <a:srgbClr val="F4F7FD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3730752" y="3986784"/>
            <a:ext cx="151790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ca. 290</a:t>
            </a:r>
            <a:endParaRPr lang="en-US" sz="2400" dirty="0"/>
          </a:p>
        </p:txBody>
      </p:sp>
      <p:sp>
        <p:nvSpPr>
          <p:cNvPr id="32" name="Shape 30"/>
          <p:cNvSpPr/>
          <p:nvPr/>
        </p:nvSpPr>
        <p:spPr>
          <a:xfrm>
            <a:off x="5394960" y="3986784"/>
            <a:ext cx="1664208" cy="749808"/>
          </a:xfrm>
          <a:prstGeom prst="roundRect">
            <a:avLst>
              <a:gd name="adj" fmla="val 9756"/>
            </a:avLst>
          </a:prstGeom>
          <a:solidFill>
            <a:srgbClr val="F4F7FD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5468112" y="3986784"/>
            <a:ext cx="151790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ca. 270</a:t>
            </a:r>
            <a:endParaRPr lang="en-US" sz="2400" dirty="0"/>
          </a:p>
        </p:txBody>
      </p:sp>
      <p:sp>
        <p:nvSpPr>
          <p:cNvPr id="34" name="Shape 32"/>
          <p:cNvSpPr/>
          <p:nvPr/>
        </p:nvSpPr>
        <p:spPr>
          <a:xfrm>
            <a:off x="7132320" y="3986784"/>
            <a:ext cx="4453128" cy="749808"/>
          </a:xfrm>
          <a:prstGeom prst="roundRect">
            <a:avLst>
              <a:gd name="adj" fmla="val 9756"/>
            </a:avLst>
          </a:prstGeom>
          <a:solidFill>
            <a:srgbClr val="F4F7FD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7205472" y="3986784"/>
            <a:ext cx="43068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ca. 580</a:t>
            </a:r>
            <a:endParaRPr lang="en-US" sz="2400" dirty="0"/>
          </a:p>
        </p:txBody>
      </p:sp>
      <p:sp>
        <p:nvSpPr>
          <p:cNvPr id="36" name="Shape 34"/>
          <p:cNvSpPr/>
          <p:nvPr/>
        </p:nvSpPr>
        <p:spPr>
          <a:xfrm>
            <a:off x="548640" y="4791456"/>
            <a:ext cx="3035808" cy="749808"/>
          </a:xfrm>
          <a:prstGeom prst="roundRect">
            <a:avLst>
              <a:gd name="adj" fmla="val 9756"/>
            </a:avLst>
          </a:prstGeom>
          <a:solidFill>
            <a:srgbClr val="EAF0FA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21792" y="4791456"/>
            <a:ext cx="288950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Stimmen nach Ständen</a:t>
            </a:r>
            <a:endParaRPr lang="en-US" sz="2400" dirty="0"/>
          </a:p>
        </p:txBody>
      </p:sp>
      <p:sp>
        <p:nvSpPr>
          <p:cNvPr id="38" name="Shape 36"/>
          <p:cNvSpPr/>
          <p:nvPr/>
        </p:nvSpPr>
        <p:spPr>
          <a:xfrm>
            <a:off x="3657600" y="4791456"/>
            <a:ext cx="1664208" cy="749808"/>
          </a:xfrm>
          <a:prstGeom prst="roundRect">
            <a:avLst>
              <a:gd name="adj" fmla="val 9756"/>
            </a:avLst>
          </a:prstGeom>
          <a:solidFill>
            <a:srgbClr val="F4F7FD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730752" y="4791456"/>
            <a:ext cx="151790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40" name="Shape 38"/>
          <p:cNvSpPr/>
          <p:nvPr/>
        </p:nvSpPr>
        <p:spPr>
          <a:xfrm>
            <a:off x="5394960" y="4791456"/>
            <a:ext cx="1664208" cy="749808"/>
          </a:xfrm>
          <a:prstGeom prst="roundRect">
            <a:avLst>
              <a:gd name="adj" fmla="val 9756"/>
            </a:avLst>
          </a:prstGeom>
          <a:solidFill>
            <a:srgbClr val="F4F7FD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5468112" y="4791456"/>
            <a:ext cx="151790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42" name="Shape 40"/>
          <p:cNvSpPr/>
          <p:nvPr/>
        </p:nvSpPr>
        <p:spPr>
          <a:xfrm>
            <a:off x="7132320" y="4791456"/>
            <a:ext cx="4453128" cy="749808"/>
          </a:xfrm>
          <a:prstGeom prst="roundRect">
            <a:avLst>
              <a:gd name="adj" fmla="val 9756"/>
            </a:avLst>
          </a:prstGeom>
          <a:solidFill>
            <a:srgbClr val="F4F7FD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7205472" y="4791456"/>
            <a:ext cx="43068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44" name="Shape 42"/>
          <p:cNvSpPr/>
          <p:nvPr/>
        </p:nvSpPr>
        <p:spPr>
          <a:xfrm>
            <a:off x="548640" y="5669280"/>
            <a:ext cx="11109960" cy="777240"/>
          </a:xfrm>
          <a:prstGeom prst="roundRect">
            <a:avLst>
              <a:gd name="adj" fmla="val 9412"/>
            </a:avLst>
          </a:prstGeom>
          <a:solidFill>
            <a:srgbClr val="1E2761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822960" y="56692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Jetzt: </a:t>
            </a:r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Meldet euch. Was fällt euch auf?</a:t>
            </a:r>
            <a:endParaRPr lang="en-US" sz="2400" dirty="0"/>
          </a:p>
        </p:txBody>
      </p:sp>
      <p:sp>
        <p:nvSpPr>
          <p:cNvPr id="46" name="Text 44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Generalstände · Geschichte 8</a:t>
            </a:r>
            <a:endParaRPr lang="en-US" sz="1000" dirty="0"/>
          </a:p>
        </p:txBody>
      </p:sp>
      <p:sp>
        <p:nvSpPr>
          <p:cNvPr id="47" name="Text 45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5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ABSTIMMUNG · NUR EIN SPIEL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Antrag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109960" cy="27432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38100">
            <a:solidFill>
              <a:srgbClr val="D953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463040"/>
            <a:ext cx="10469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Nur Schüler putzen künftig das Klassenzimmer und räumen die Tische auf. Lehrkräfte sind davon befreit.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389120"/>
            <a:ext cx="11109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5B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Klerus: Lehrkraft 1 · Adel: Lehrkraft 2 · Dritter Stand (Bauern und Bürger): die Schüler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548640" y="5669280"/>
            <a:ext cx="11109960" cy="777240"/>
          </a:xfrm>
          <a:prstGeom prst="roundRect">
            <a:avLst>
              <a:gd name="adj" fmla="val 9412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56692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Hinweis: </a:t>
            </a:r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ist nur ein Spiel. Der Antrag gilt nicht.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Generalstände · Geschichte 8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5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MERKSATZ 1 · ABSCHREIBEN UND ROT UMRAHMEN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Abstimmung nach Ständen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110996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38100">
            <a:solidFill>
              <a:srgbClr val="D953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417320"/>
            <a:ext cx="10469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Bei den Generalständen hat jeder Stand </a:t>
            </a:r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eine Stimme</a:t>
            </a:r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 Klerus und Adel (zusammen ca. 3 % der Bevölkerung) haben damit </a:t>
            </a:r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zwei von drei Stimmen</a:t>
            </a:r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und können den Dritten Stand (Bauern und Bürger, ca. 97 %) </a:t>
            </a:r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immer überstimmen</a:t>
            </a:r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48640" y="3401568"/>
            <a:ext cx="11109960" cy="1143000"/>
          </a:xfrm>
          <a:prstGeom prst="roundRect">
            <a:avLst>
              <a:gd name="adj" fmla="val 6400"/>
            </a:avLst>
          </a:prstGeom>
          <a:solidFill>
            <a:srgbClr val="EAF0F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3401568"/>
            <a:ext cx="10607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Beispiel:   </a:t>
            </a:r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Eine Stimme des Klerus wiegt rund </a:t>
            </a:r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133-mal</a:t>
            </a:r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so viel wie eine des Dritten Standes.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548640" y="4645152"/>
            <a:ext cx="11109960" cy="886968"/>
          </a:xfrm>
          <a:prstGeom prst="roundRect">
            <a:avLst>
              <a:gd name="adj" fmla="val 8247"/>
            </a:avLst>
          </a:prstGeom>
          <a:solidFill>
            <a:srgbClr val="F4F7F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4645152"/>
            <a:ext cx="1060704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Test:   </a:t>
            </a:r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viele Menschen stehen hinter </a:t>
            </a:r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einer Stimme</a:t>
            </a:r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548640" y="5669280"/>
            <a:ext cx="11109960" cy="777240"/>
          </a:xfrm>
          <a:prstGeom prst="roundRect">
            <a:avLst>
              <a:gd name="adj" fmla="val 9412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56692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Jetzt: </a:t>
            </a:r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 den Merksatz mit Beispiel ab und rahme ihn rot ein.      </a:t>
            </a:r>
            <a:pPr indent="0" marL="0">
              <a:buNone/>
            </a:pPr>
            <a:r>
              <a:rPr lang="en-US" sz="2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Fertig? Stift hinlegen.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Generalstände · Geschichte 8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ÜBUNG 2 · AUSWERTEN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Ist die Abstimmung fair?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1109960" cy="2148840"/>
          </a:xfrm>
          <a:prstGeom prst="roundRect">
            <a:avLst>
              <a:gd name="adj" fmla="val 3404"/>
            </a:avLst>
          </a:prstGeom>
          <a:solidFill>
            <a:srgbClr val="EAF0FA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517904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517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48132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 Ü2 ins Heft.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731520" y="204825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2048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011680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Beende den Satz: „Die Abstimmung nach Ständen ist unfair, weil …“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731520" y="299008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31520" y="2990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2953512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Begründe mit mindestens einer Zahl.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548640" y="5669280"/>
            <a:ext cx="11109960" cy="777240"/>
          </a:xfrm>
          <a:prstGeom prst="roundRect">
            <a:avLst>
              <a:gd name="adj" fmla="val 9412"/>
            </a:avLst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56692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Zeit: </a:t>
            </a:r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Minuten · allein · leise      </a:t>
            </a:r>
            <a:pPr indent="0" marL="0">
              <a:buNone/>
            </a:pPr>
            <a:r>
              <a:rPr lang="en-US" sz="2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Fertig? Stift hinlegen und noch einmal durchlesen.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Generalstände · Geschichte 8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Generalstände, Stunde 1</dc:title>
  <dc:subject>PptxGenJS Presentation</dc:subject>
  <dc:creator>PptxGenJS</dc:creator>
  <cp:lastModifiedBy>PptxGenJS</cp:lastModifiedBy>
  <cp:revision>1</cp:revision>
  <dcterms:created xsi:type="dcterms:W3CDTF">2026-10-15T16:59:47Z</dcterms:created>
  <dcterms:modified xsi:type="dcterms:W3CDTF">2026-10-15T16:59:47Z</dcterms:modified>
</cp:coreProperties>
</file>