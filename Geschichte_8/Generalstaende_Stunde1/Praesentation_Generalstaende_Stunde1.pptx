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Stundenaufbau nach AVIVA: Ankommen (Test zurück) · Vorwissen aktivieren · Informieren (Text und Zeitstrahl) · Verarbeiten (Abstimmung 1789, Schulbeispiel) · Auswerten. Zwei Lehrkräfte, 12 Schülerinnen und Schüler, 45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Lernziele vorlesen lassen. Am Ende der Stunde (Folie 16) prüft die Klasse, ob sie erreicht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den Ablauf zeigen. Die kleinen Kreise oben rechts auf den Folien zeigen die aktuelle Phase: A V I V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„Stifte liegen. Ihr bekommt jetzt euren Test zurück. Schaut ihn noch nicht an.“ Tests verdeckt austeilen, keine Noten laut. Verteilung und Erfolgsquote je Aufgabe vorher an der Tafel anschreiben (Strichliste ohne Namen). Rückmeldung (Vorschlag): Zwei Hälften, eine hat gelernt, eine nicht, das ist keine Frage von Begabung, sondern von Vorbereitung. Danach die beiden Fragen. Berichtigung mit Grün als Hausaufgabe.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„Meldet euch. Ihr schreibt noch nichts auf. Welche Probleme hatte Frankreich?“ Die Klasse nennt die Probleme aus der Münzgeschichte, danach die Kacheln zeigen (oder zuerst die Klasse sammeln lassen und die Folie als Abgleich nutzen). Leitfrage unten bleibt stehen.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„Ich teile das Blatt aus. Jetzt arbeitet ihr allein. Die Aufgabe steht rechts.“ Oben der Text, unten der Zeitstrahl mit vorgegebenen Daten und leeren Ereignisfeldern. Danach Kontrolle (Folie 7): „Wer drankommt, schreibt an die Tafel. Alle prüfen mit.“ Dann „Vergleicht und verbessert mit Grün.“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zeigen, wenn die Klasse die Ereignisse genannt hat („Wer drankommt, schreibt an die Tafel. Alle prüfen mit.“). Dann „Vergleicht und verbessert mit Grün.“ Leitfrage: Warum ruft der König die Generalstände ein, obwohl er sie 175 Jahre nicht brauchte? Antwort: Geldnot, Reformen scheitern, Krise (Hunger, drohender Bankrott). Der Zeitstrahl ist nicht maßstabsgetreu.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„Meldet euch. Ihr schreibt noch nichts auf. Was fällt euch an diesen Balken auf?“ Erwartung: Der Dritte Stand (Bauern und Bürger) ist fast die ganze Bevölkerung (ca. 97 %) und stellt etwa die Hälfte der Abgeordneten (ca. 580 von ca. 1140), hat aber bei der Abstimmung nach Ständen nur eine von drei Stimmen. Klerus und Adel zusammen (ca. 3 %) haben zwei von drei Stimmen. Zahlen der Abgeordneten bitte gegen das Buch prüfen. Menschen: Klerus 150 000, Adel 500 000, Dritter Stand 20 000 000.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Nach Köpfen wurde 1789 nicht abgestimmt. Das ist ein Gedankenspiel (Modell). Modellannahme: Klerus und Adel stimmen geschlossen Nein, der Dritte Stand Ja. Die Klasse rechnet: nach Ständen und nach Köpfen. Ergebnis erst auf Folie 10 zeigen. Hinweis: Die Annahme ist vereinfacht, tatsächlich unterstützten manche Geistliche und einzelne Adlige den Dritten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Gedankenspiel, keine historische Abstimmung. Nach Ständen wäre der Antrag 2:1 abgelehnt worden, nach Köpfen mit Ja 580 gegen Nein 290 + 270 = 560 knapp angenommen. Tatsächlich wurde 1789 nicht nach Köpfen abgestimmt: Adel und Klerus bestanden auf der Abstimmung nach Ständen, der Dritte Stand (Bauern und Bürger) forderte die Abstimmung nach Köpfen. Der Streit darum blockierte die Generalstände und führte zur Nationalversammlung (Stunde nach den Ferien). Kernaussage: Dieselben Stimmen führen je nach Regel zu zwei verschiedenen Ergebnissen. Frage: Wie wichtig ist die Abstimmungsregel für den Dritten Stand (Bauern und Bürger)?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„Jetzt spielen wir dasselbe in der Schule. Das ist nur ein Spiel, es gilt nicht.“ Rollen: Klerus = Lehrkraft 1, Adel = Lehrkraft 2, Dritter Stand (Bauern und Bürger) = die Schüler. Nach Ständen: Lehrkraft 1 Ja, Lehrkraft 2 Ja, Schüler Nein: 2:1, angenommen. Nach Köpfen: 2 Ja, 12 Nein: abgelehnt. Fragen: Wie fühlt sich das an? Was ist unfair? Sind die Lehrkräfte das Problem oder die Regeln? Sollbruchstelle: Bei Zeitnot entfällt das Schulbeispiel und beginnt Stunde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 Ständen: Lehrkraft 1 Ja, Lehrkraft 2 Ja, Schüler Nein: 2:1, angenommen. Nach Köpfen: 2 Ja, 12 Nein: abgelehnt. Unterschied zu 1789: In der Schule ist das Ergebnis deutlich (12 gegen 2), 1789 knapp (580 gegen 560), weil der Dritte Stand schon mehr Abgeordnete bekommen hatte. Die Regeln sind das Problem, nicht die Personen.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Rechnung an der Tafel: 20 000 000 : 150 000 ≈ 133 (Klerus), 20 000 000 : 500 000 = 40 (Adel). Im Klassenspiel wiegt eine Lehrerstimme zwölfmal so viel (1 Person gegen 12 Schüler). Frage: „Was würdet ihr als Dritter Stand in Frankreich fordern?“ Erwartung: Abstimmung nach Köpfen. Das ist genau, was die Abgeordneten 1789 fordern (Brücke zu Stunde 2). Die Balken sind maßstabsgetreu: Klerus und Adel sind kaum zu sehen.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„Jetzt schreibt ihr von der Folie ab: Merksatz 1. Rahmt ihn rot 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Ansage: „Jetzt arbeitet ihr allein. Die Aufgabe steht rechts.“ Beispiel: „… weil der Dritte Stand (Bauern und Bürger) ca. 97 % der Menschen stellt, aber nur eine von drei Stimmen hat und immer überstimmt wird.“ 1 bis 2 Sätze vorlesen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Klasse prüft still: Kann ich das? Danach Ausblick: Was passiert, wenn der Dritte Stand „Nach Köpfen!“ fordert und der König ablehnt? Das sehen wir in der nächsten Stunde nach den Ferien. Die Berichtigung des Tests ist Hausaufgabe.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Text 2"/>
          <p:cNvSpPr txBox="1"/>
          <p:nvPr/>
        </p:nvSpPr>
        <p:spPr>
          <a:xfrm>
            <a:off x="822960" y="2194560"/>
            <a:ext cx="105156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Generalstände 1789</a:t>
            </a:r>
            <a:endParaRPr lang="en-US" sz="4800" dirty="0"/>
          </a:p>
        </p:txBody>
      </p:sp>
      <p:sp>
        <p:nvSpPr>
          <p:cNvPr id="5" name="Text 3"/>
          <p:cNvSpPr txBox="1"/>
          <p:nvPr/>
        </p:nvSpPr>
        <p:spPr>
          <a:xfrm>
            <a:off x="822960" y="3200400"/>
            <a:ext cx="10058400" cy="548640"/>
          </a:xfrm>
          <a:prstGeom prst="rect">
            <a:avLst/>
          </a:prstGeom>
          <a:noFill/>
          <a:ln/>
        </p:spPr>
        <p:txBody>
          <a:bodyPr wrap="square" lIns="0" tIns="0" rIns="0" bIns="0" rtlCol="0" anchor="t"/>
          <a:lstStyle/>
          <a:p>
            <a:pPr indent="0" marL="0">
              <a:buNone/>
            </a:pPr>
            <a:r>
              <a:rPr lang="en-US" sz="2600" i="1" dirty="0">
                <a:solidFill>
                  <a:srgbClr val="CADCFC"/>
                </a:solidFill>
                <a:latin typeface="Calibri" pitchFamily="34" charset="0"/>
                <a:ea typeface="Calibri" pitchFamily="34" charset="-122"/>
                <a:cs typeface="Calibri" pitchFamily="34" charset="-120"/>
              </a:rPr>
              <a:t>Wie fair ist die Abstimmung?</a:t>
            </a:r>
            <a:endParaRPr lang="en-US" sz="2600" dirty="0"/>
          </a:p>
        </p:txBody>
      </p:sp>
      <p:sp>
        <p:nvSpPr>
          <p:cNvPr id="6" name="Text 4"/>
          <p:cNvSpPr txBox="1"/>
          <p:nvPr/>
        </p:nvSpPr>
        <p:spPr>
          <a:xfrm>
            <a:off x="822960" y="6035040"/>
            <a:ext cx="7315200" cy="2743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Geschichte, Klasse 8 · Französische Revolution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LERNZIELE</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Das kannst du am Ende der Stunde</a:t>
            </a:r>
            <a:endParaRPr lang="en-US" sz="34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5" name="Text 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11109960" cy="1143000"/>
          </a:xfrm>
          <a:prstGeom prst="roundRect">
            <a:avLst>
              <a:gd name="adj" fmla="val 6400"/>
            </a:avLst>
          </a:prstGeom>
          <a:solidFill>
            <a:srgbClr val="EAF0FA"/>
          </a:solidFill>
          <a:ln/>
        </p:spPr>
      </p:sp>
      <p:sp>
        <p:nvSpPr>
          <p:cNvPr id="8" name="Shape 5"/>
          <p:cNvSpPr/>
          <p:nvPr/>
        </p:nvSpPr>
        <p:spPr>
          <a:xfrm>
            <a:off x="822960" y="1938528"/>
            <a:ext cx="457200" cy="457200"/>
          </a:xfrm>
          <a:prstGeom prst="ellipse">
            <a:avLst/>
          </a:prstGeom>
          <a:solidFill>
            <a:srgbClr val="D9534F"/>
          </a:solidFill>
          <a:ln/>
        </p:spPr>
      </p:sp>
      <p:sp>
        <p:nvSpPr>
          <p:cNvPr id="9" name="Text 6"/>
          <p:cNvSpPr txBox="1"/>
          <p:nvPr/>
        </p:nvSpPr>
        <p:spPr>
          <a:xfrm>
            <a:off x="822960" y="19385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1554480" y="1600200"/>
            <a:ext cx="9875520" cy="1143000"/>
          </a:xfrm>
          <a:prstGeom prst="rect">
            <a:avLst/>
          </a:prstGeom>
          <a:noFill/>
          <a:ln/>
        </p:spPr>
        <p:txBody>
          <a:bodyPr wrap="square" lIns="0" tIns="0" rIns="0" bIns="0" rtlCol="0" anchor="ctr"/>
          <a:lstStyle/>
          <a:p>
            <a:pPr indent="0" marL="0">
              <a:buNone/>
            </a:pPr>
            <a:r>
              <a:rPr lang="en-US" sz="2600" dirty="0">
                <a:solidFill>
                  <a:srgbClr val="1E2761"/>
                </a:solidFill>
                <a:latin typeface="Cambria" pitchFamily="34" charset="0"/>
                <a:ea typeface="Cambria" pitchFamily="34" charset="-122"/>
                <a:cs typeface="Cambria" pitchFamily="34" charset="-120"/>
              </a:rPr>
              <a:t>Du kannst den Weg bis zu den Generalständen am Zeitstrahl erklären.</a:t>
            </a:r>
            <a:endParaRPr lang="en-US" sz="2600" dirty="0"/>
          </a:p>
        </p:txBody>
      </p:sp>
      <p:sp>
        <p:nvSpPr>
          <p:cNvPr id="11" name="Shape 8"/>
          <p:cNvSpPr/>
          <p:nvPr/>
        </p:nvSpPr>
        <p:spPr>
          <a:xfrm>
            <a:off x="548640" y="2971800"/>
            <a:ext cx="11109960" cy="1143000"/>
          </a:xfrm>
          <a:prstGeom prst="roundRect">
            <a:avLst>
              <a:gd name="adj" fmla="val 6400"/>
            </a:avLst>
          </a:prstGeom>
          <a:solidFill>
            <a:srgbClr val="F4F7FD"/>
          </a:solidFill>
          <a:ln/>
        </p:spPr>
      </p:sp>
      <p:sp>
        <p:nvSpPr>
          <p:cNvPr id="12" name="Shape 9"/>
          <p:cNvSpPr/>
          <p:nvPr/>
        </p:nvSpPr>
        <p:spPr>
          <a:xfrm>
            <a:off x="822960" y="3310128"/>
            <a:ext cx="457200" cy="457200"/>
          </a:xfrm>
          <a:prstGeom prst="ellipse">
            <a:avLst/>
          </a:prstGeom>
          <a:solidFill>
            <a:srgbClr val="D9534F"/>
          </a:solidFill>
          <a:ln/>
        </p:spPr>
      </p:sp>
      <p:sp>
        <p:nvSpPr>
          <p:cNvPr id="13" name="Text 10"/>
          <p:cNvSpPr txBox="1"/>
          <p:nvPr/>
        </p:nvSpPr>
        <p:spPr>
          <a:xfrm>
            <a:off x="822960" y="33101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txBox="1"/>
          <p:nvPr/>
        </p:nvSpPr>
        <p:spPr>
          <a:xfrm>
            <a:off x="1554480" y="2971800"/>
            <a:ext cx="9875520" cy="1143000"/>
          </a:xfrm>
          <a:prstGeom prst="rect">
            <a:avLst/>
          </a:prstGeom>
          <a:noFill/>
          <a:ln/>
        </p:spPr>
        <p:txBody>
          <a:bodyPr wrap="square" lIns="0" tIns="0" rIns="0" bIns="0" rtlCol="0" anchor="ctr"/>
          <a:lstStyle/>
          <a:p>
            <a:pPr indent="0" marL="0">
              <a:buNone/>
            </a:pPr>
            <a:r>
              <a:rPr lang="en-US" sz="2600" dirty="0">
                <a:solidFill>
                  <a:srgbClr val="1E2761"/>
                </a:solidFill>
                <a:latin typeface="Cambria" pitchFamily="34" charset="0"/>
                <a:ea typeface="Cambria" pitchFamily="34" charset="-122"/>
                <a:cs typeface="Cambria" pitchFamily="34" charset="-120"/>
              </a:rPr>
              <a:t>Du kannst die Abstimmung nach Ständen und nach Köpfen vergleichen.</a:t>
            </a:r>
            <a:endParaRPr lang="en-US" sz="2600" dirty="0"/>
          </a:p>
        </p:txBody>
      </p:sp>
      <p:sp>
        <p:nvSpPr>
          <p:cNvPr id="15" name="Shape 12"/>
          <p:cNvSpPr/>
          <p:nvPr/>
        </p:nvSpPr>
        <p:spPr>
          <a:xfrm>
            <a:off x="548640" y="4343400"/>
            <a:ext cx="11109960" cy="1143000"/>
          </a:xfrm>
          <a:prstGeom prst="roundRect">
            <a:avLst>
              <a:gd name="adj" fmla="val 6400"/>
            </a:avLst>
          </a:prstGeom>
          <a:solidFill>
            <a:srgbClr val="EAF0FA"/>
          </a:solidFill>
          <a:ln/>
        </p:spPr>
      </p:sp>
      <p:sp>
        <p:nvSpPr>
          <p:cNvPr id="16" name="Shape 13"/>
          <p:cNvSpPr/>
          <p:nvPr/>
        </p:nvSpPr>
        <p:spPr>
          <a:xfrm>
            <a:off x="822960" y="4681728"/>
            <a:ext cx="457200" cy="457200"/>
          </a:xfrm>
          <a:prstGeom prst="ellipse">
            <a:avLst/>
          </a:prstGeom>
          <a:solidFill>
            <a:srgbClr val="D9534F"/>
          </a:solidFill>
          <a:ln/>
        </p:spPr>
      </p:sp>
      <p:sp>
        <p:nvSpPr>
          <p:cNvPr id="17" name="Text 14"/>
          <p:cNvSpPr txBox="1"/>
          <p:nvPr/>
        </p:nvSpPr>
        <p:spPr>
          <a:xfrm>
            <a:off x="822960" y="46817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5"/>
          <p:cNvSpPr txBox="1"/>
          <p:nvPr/>
        </p:nvSpPr>
        <p:spPr>
          <a:xfrm>
            <a:off x="1554480" y="4343400"/>
            <a:ext cx="9875520" cy="1143000"/>
          </a:xfrm>
          <a:prstGeom prst="rect">
            <a:avLst/>
          </a:prstGeom>
          <a:noFill/>
          <a:ln/>
        </p:spPr>
        <p:txBody>
          <a:bodyPr wrap="square" lIns="0" tIns="0" rIns="0" bIns="0" rtlCol="0" anchor="ctr"/>
          <a:lstStyle/>
          <a:p>
            <a:pPr indent="0" marL="0">
              <a:buNone/>
            </a:pPr>
            <a:r>
              <a:rPr lang="en-US" sz="2600" dirty="0">
                <a:solidFill>
                  <a:srgbClr val="1E2761"/>
                </a:solidFill>
                <a:latin typeface="Cambria" pitchFamily="34" charset="0"/>
                <a:ea typeface="Cambria" pitchFamily="34" charset="-122"/>
                <a:cs typeface="Cambria" pitchFamily="34" charset="-120"/>
              </a:rPr>
              <a:t>Du kannst begründen, warum die Abstimmung nach Ständen unfair war.</a:t>
            </a:r>
            <a:endParaRPr lang="en-US" sz="2600" dirty="0"/>
          </a:p>
        </p:txBody>
      </p:sp>
      <p:sp>
        <p:nvSpPr>
          <p:cNvPr id="19" name="Shape 16"/>
          <p:cNvSpPr/>
          <p:nvPr/>
        </p:nvSpPr>
        <p:spPr>
          <a:xfrm>
            <a:off x="548640" y="5669280"/>
            <a:ext cx="11109960" cy="777240"/>
          </a:xfrm>
          <a:prstGeom prst="roundRect">
            <a:avLst>
              <a:gd name="adj" fmla="val 9412"/>
            </a:avLst>
          </a:prstGeom>
          <a:solidFill>
            <a:srgbClr val="1E2761"/>
          </a:solidFill>
          <a:ln/>
        </p:spPr>
      </p:sp>
      <p:sp>
        <p:nvSpPr>
          <p:cNvPr id="20" name="Text 17"/>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Heute: </a:t>
            </a:r>
            <a:pPr indent="0" marL="0">
              <a:buNone/>
            </a:pPr>
            <a:r>
              <a:rPr lang="en-US" sz="2400" dirty="0">
                <a:solidFill>
                  <a:srgbClr val="FFFFFF"/>
                </a:solidFill>
                <a:latin typeface="Calibri" pitchFamily="34" charset="0"/>
                <a:ea typeface="Calibri" pitchFamily="34" charset="-122"/>
                <a:cs typeface="Calibri" pitchFamily="34" charset="-120"/>
              </a:rPr>
              <a:t>Zeitstrahl, Abstimmung nach Ständen und nach Köpfen.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ABLAUF</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So arbeiten wir heute</a:t>
            </a:r>
            <a:endParaRPr lang="en-US" sz="3400" dirty="0"/>
          </a:p>
        </p:txBody>
      </p:sp>
      <p:sp>
        <p:nvSpPr>
          <p:cNvPr id="4" name="Text 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5" name="Text 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737360"/>
            <a:ext cx="2103120" cy="3291840"/>
          </a:xfrm>
          <a:prstGeom prst="roundRect">
            <a:avLst>
              <a:gd name="adj" fmla="val 3478"/>
            </a:avLst>
          </a:prstGeom>
          <a:solidFill>
            <a:srgbClr val="EAF0FA"/>
          </a:solidFill>
          <a:ln/>
        </p:spPr>
      </p:sp>
      <p:sp>
        <p:nvSpPr>
          <p:cNvPr id="8" name="Shape 5"/>
          <p:cNvSpPr/>
          <p:nvPr/>
        </p:nvSpPr>
        <p:spPr>
          <a:xfrm>
            <a:off x="1234440" y="1920240"/>
            <a:ext cx="731520" cy="731520"/>
          </a:xfrm>
          <a:prstGeom prst="ellipse">
            <a:avLst/>
          </a:prstGeom>
          <a:solidFill>
            <a:srgbClr val="D9534F"/>
          </a:solidFill>
          <a:ln/>
        </p:spPr>
      </p:sp>
      <p:sp>
        <p:nvSpPr>
          <p:cNvPr id="9" name="Text 6"/>
          <p:cNvSpPr txBox="1"/>
          <p:nvPr/>
        </p:nvSpPr>
        <p:spPr>
          <a:xfrm>
            <a:off x="123444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a:t>
            </a:r>
            <a:endParaRPr lang="en-US" sz="2800" dirty="0"/>
          </a:p>
        </p:txBody>
      </p:sp>
      <p:sp>
        <p:nvSpPr>
          <p:cNvPr id="10" name="Text 7"/>
          <p:cNvSpPr txBox="1"/>
          <p:nvPr/>
        </p:nvSpPr>
        <p:spPr>
          <a:xfrm>
            <a:off x="54864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Ankommen</a:t>
            </a:r>
            <a:endParaRPr lang="en-US" sz="2400" dirty="0"/>
          </a:p>
        </p:txBody>
      </p:sp>
      <p:sp>
        <p:nvSpPr>
          <p:cNvPr id="11" name="Text 8"/>
          <p:cNvSpPr txBox="1"/>
          <p:nvPr/>
        </p:nvSpPr>
        <p:spPr>
          <a:xfrm>
            <a:off x="64008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Test zurück</a:t>
            </a:r>
            <a:endParaRPr lang="en-US" sz="2400" dirty="0"/>
          </a:p>
        </p:txBody>
      </p:sp>
      <p:sp>
        <p:nvSpPr>
          <p:cNvPr id="12" name="Text 9"/>
          <p:cNvSpPr txBox="1"/>
          <p:nvPr/>
        </p:nvSpPr>
        <p:spPr>
          <a:xfrm>
            <a:off x="54864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8 Min.</a:t>
            </a:r>
            <a:endParaRPr lang="en-US" sz="2400" dirty="0"/>
          </a:p>
        </p:txBody>
      </p:sp>
      <p:sp>
        <p:nvSpPr>
          <p:cNvPr id="13" name="Shape 10"/>
          <p:cNvSpPr/>
          <p:nvPr/>
        </p:nvSpPr>
        <p:spPr>
          <a:xfrm>
            <a:off x="2788920" y="1737360"/>
            <a:ext cx="2103120" cy="3291840"/>
          </a:xfrm>
          <a:prstGeom prst="roundRect">
            <a:avLst>
              <a:gd name="adj" fmla="val 3478"/>
            </a:avLst>
          </a:prstGeom>
          <a:solidFill>
            <a:srgbClr val="F4F7FD"/>
          </a:solidFill>
          <a:ln/>
        </p:spPr>
      </p:sp>
      <p:sp>
        <p:nvSpPr>
          <p:cNvPr id="14" name="Shape 11"/>
          <p:cNvSpPr/>
          <p:nvPr/>
        </p:nvSpPr>
        <p:spPr>
          <a:xfrm>
            <a:off x="3474720" y="1920240"/>
            <a:ext cx="731520" cy="731520"/>
          </a:xfrm>
          <a:prstGeom prst="ellipse">
            <a:avLst/>
          </a:prstGeom>
          <a:solidFill>
            <a:srgbClr val="D9534F"/>
          </a:solidFill>
          <a:ln/>
        </p:spPr>
      </p:sp>
      <p:sp>
        <p:nvSpPr>
          <p:cNvPr id="15" name="Text 12"/>
          <p:cNvSpPr txBox="1"/>
          <p:nvPr/>
        </p:nvSpPr>
        <p:spPr>
          <a:xfrm>
            <a:off x="347472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V</a:t>
            </a:r>
            <a:endParaRPr lang="en-US" sz="2800" dirty="0"/>
          </a:p>
        </p:txBody>
      </p:sp>
      <p:sp>
        <p:nvSpPr>
          <p:cNvPr id="16" name="Text 13"/>
          <p:cNvSpPr txBox="1"/>
          <p:nvPr/>
        </p:nvSpPr>
        <p:spPr>
          <a:xfrm>
            <a:off x="278892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Vorwissen</a:t>
            </a:r>
            <a:endParaRPr lang="en-US" sz="2400" dirty="0"/>
          </a:p>
        </p:txBody>
      </p:sp>
      <p:sp>
        <p:nvSpPr>
          <p:cNvPr id="17" name="Text 14"/>
          <p:cNvSpPr txBox="1"/>
          <p:nvPr/>
        </p:nvSpPr>
        <p:spPr>
          <a:xfrm>
            <a:off x="288036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Probleme Frankreichs</a:t>
            </a:r>
            <a:endParaRPr lang="en-US" sz="2400" dirty="0"/>
          </a:p>
        </p:txBody>
      </p:sp>
      <p:sp>
        <p:nvSpPr>
          <p:cNvPr id="18" name="Text 15"/>
          <p:cNvSpPr txBox="1"/>
          <p:nvPr/>
        </p:nvSpPr>
        <p:spPr>
          <a:xfrm>
            <a:off x="278892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3 Min.</a:t>
            </a:r>
            <a:endParaRPr lang="en-US" sz="2400" dirty="0"/>
          </a:p>
        </p:txBody>
      </p:sp>
      <p:sp>
        <p:nvSpPr>
          <p:cNvPr id="19" name="Shape 16"/>
          <p:cNvSpPr/>
          <p:nvPr/>
        </p:nvSpPr>
        <p:spPr>
          <a:xfrm>
            <a:off x="5029200" y="1737360"/>
            <a:ext cx="2103120" cy="3291840"/>
          </a:xfrm>
          <a:prstGeom prst="roundRect">
            <a:avLst>
              <a:gd name="adj" fmla="val 3478"/>
            </a:avLst>
          </a:prstGeom>
          <a:solidFill>
            <a:srgbClr val="EAF0FA"/>
          </a:solidFill>
          <a:ln/>
        </p:spPr>
      </p:sp>
      <p:sp>
        <p:nvSpPr>
          <p:cNvPr id="20" name="Shape 17"/>
          <p:cNvSpPr/>
          <p:nvPr/>
        </p:nvSpPr>
        <p:spPr>
          <a:xfrm>
            <a:off x="5715000" y="1920240"/>
            <a:ext cx="731520" cy="731520"/>
          </a:xfrm>
          <a:prstGeom prst="ellipse">
            <a:avLst/>
          </a:prstGeom>
          <a:solidFill>
            <a:srgbClr val="D9534F"/>
          </a:solidFill>
          <a:ln/>
        </p:spPr>
      </p:sp>
      <p:sp>
        <p:nvSpPr>
          <p:cNvPr id="21" name="Text 18"/>
          <p:cNvSpPr txBox="1"/>
          <p:nvPr/>
        </p:nvSpPr>
        <p:spPr>
          <a:xfrm>
            <a:off x="571500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a:t>
            </a:r>
            <a:endParaRPr lang="en-US" sz="2800" dirty="0"/>
          </a:p>
        </p:txBody>
      </p:sp>
      <p:sp>
        <p:nvSpPr>
          <p:cNvPr id="22" name="Text 19"/>
          <p:cNvSpPr txBox="1"/>
          <p:nvPr/>
        </p:nvSpPr>
        <p:spPr>
          <a:xfrm>
            <a:off x="502920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Informieren</a:t>
            </a:r>
            <a:endParaRPr lang="en-US" sz="2400" dirty="0"/>
          </a:p>
        </p:txBody>
      </p:sp>
      <p:sp>
        <p:nvSpPr>
          <p:cNvPr id="23" name="Text 20"/>
          <p:cNvSpPr txBox="1"/>
          <p:nvPr/>
        </p:nvSpPr>
        <p:spPr>
          <a:xfrm>
            <a:off x="512064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Text und Zeitstrahl</a:t>
            </a:r>
            <a:endParaRPr lang="en-US" sz="2400" dirty="0"/>
          </a:p>
        </p:txBody>
      </p:sp>
      <p:sp>
        <p:nvSpPr>
          <p:cNvPr id="24" name="Text 21"/>
          <p:cNvSpPr txBox="1"/>
          <p:nvPr/>
        </p:nvSpPr>
        <p:spPr>
          <a:xfrm>
            <a:off x="502920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12 Min.</a:t>
            </a:r>
            <a:endParaRPr lang="en-US" sz="2400" dirty="0"/>
          </a:p>
        </p:txBody>
      </p:sp>
      <p:sp>
        <p:nvSpPr>
          <p:cNvPr id="25" name="Shape 22"/>
          <p:cNvSpPr/>
          <p:nvPr/>
        </p:nvSpPr>
        <p:spPr>
          <a:xfrm>
            <a:off x="7269480" y="1737360"/>
            <a:ext cx="2103120" cy="3291840"/>
          </a:xfrm>
          <a:prstGeom prst="roundRect">
            <a:avLst>
              <a:gd name="adj" fmla="val 3478"/>
            </a:avLst>
          </a:prstGeom>
          <a:solidFill>
            <a:srgbClr val="F4F7FD"/>
          </a:solidFill>
          <a:ln/>
        </p:spPr>
      </p:sp>
      <p:sp>
        <p:nvSpPr>
          <p:cNvPr id="26" name="Shape 23"/>
          <p:cNvSpPr/>
          <p:nvPr/>
        </p:nvSpPr>
        <p:spPr>
          <a:xfrm>
            <a:off x="7955280" y="1920240"/>
            <a:ext cx="731520" cy="731520"/>
          </a:xfrm>
          <a:prstGeom prst="ellipse">
            <a:avLst/>
          </a:prstGeom>
          <a:solidFill>
            <a:srgbClr val="D9534F"/>
          </a:solidFill>
          <a:ln/>
        </p:spPr>
      </p:sp>
      <p:sp>
        <p:nvSpPr>
          <p:cNvPr id="27" name="Text 24"/>
          <p:cNvSpPr txBox="1"/>
          <p:nvPr/>
        </p:nvSpPr>
        <p:spPr>
          <a:xfrm>
            <a:off x="795528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V</a:t>
            </a:r>
            <a:endParaRPr lang="en-US" sz="2800" dirty="0"/>
          </a:p>
        </p:txBody>
      </p:sp>
      <p:sp>
        <p:nvSpPr>
          <p:cNvPr id="28" name="Text 25"/>
          <p:cNvSpPr txBox="1"/>
          <p:nvPr/>
        </p:nvSpPr>
        <p:spPr>
          <a:xfrm>
            <a:off x="726948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Verarbeiten</a:t>
            </a:r>
            <a:endParaRPr lang="en-US" sz="2400" dirty="0"/>
          </a:p>
        </p:txBody>
      </p:sp>
      <p:sp>
        <p:nvSpPr>
          <p:cNvPr id="29" name="Text 26"/>
          <p:cNvSpPr txBox="1"/>
          <p:nvPr/>
        </p:nvSpPr>
        <p:spPr>
          <a:xfrm>
            <a:off x="736092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Abstimmen</a:t>
            </a:r>
            <a:endParaRPr lang="en-US" sz="2400" dirty="0"/>
          </a:p>
        </p:txBody>
      </p:sp>
      <p:sp>
        <p:nvSpPr>
          <p:cNvPr id="30" name="Text 27"/>
          <p:cNvSpPr txBox="1"/>
          <p:nvPr/>
        </p:nvSpPr>
        <p:spPr>
          <a:xfrm>
            <a:off x="726948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14 Min.</a:t>
            </a:r>
            <a:endParaRPr lang="en-US" sz="2400" dirty="0"/>
          </a:p>
        </p:txBody>
      </p:sp>
      <p:sp>
        <p:nvSpPr>
          <p:cNvPr id="31" name="Shape 28"/>
          <p:cNvSpPr/>
          <p:nvPr/>
        </p:nvSpPr>
        <p:spPr>
          <a:xfrm>
            <a:off x="9509760" y="1737360"/>
            <a:ext cx="2103120" cy="3291840"/>
          </a:xfrm>
          <a:prstGeom prst="roundRect">
            <a:avLst>
              <a:gd name="adj" fmla="val 3478"/>
            </a:avLst>
          </a:prstGeom>
          <a:solidFill>
            <a:srgbClr val="EAF0FA"/>
          </a:solidFill>
          <a:ln/>
        </p:spPr>
      </p:sp>
      <p:sp>
        <p:nvSpPr>
          <p:cNvPr id="32" name="Shape 29"/>
          <p:cNvSpPr/>
          <p:nvPr/>
        </p:nvSpPr>
        <p:spPr>
          <a:xfrm>
            <a:off x="10195560" y="1920240"/>
            <a:ext cx="731520" cy="731520"/>
          </a:xfrm>
          <a:prstGeom prst="ellipse">
            <a:avLst/>
          </a:prstGeom>
          <a:solidFill>
            <a:srgbClr val="D9534F"/>
          </a:solidFill>
          <a:ln/>
        </p:spPr>
      </p:sp>
      <p:sp>
        <p:nvSpPr>
          <p:cNvPr id="33" name="Text 30"/>
          <p:cNvSpPr txBox="1"/>
          <p:nvPr/>
        </p:nvSpPr>
        <p:spPr>
          <a:xfrm>
            <a:off x="10195560" y="19202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a:t>
            </a:r>
            <a:endParaRPr lang="en-US" sz="2800" dirty="0"/>
          </a:p>
        </p:txBody>
      </p:sp>
      <p:sp>
        <p:nvSpPr>
          <p:cNvPr id="34" name="Text 31"/>
          <p:cNvSpPr txBox="1"/>
          <p:nvPr/>
        </p:nvSpPr>
        <p:spPr>
          <a:xfrm>
            <a:off x="9509760" y="2834640"/>
            <a:ext cx="2103120" cy="457200"/>
          </a:xfrm>
          <a:prstGeom prst="rect">
            <a:avLst/>
          </a:prstGeom>
          <a:noFill/>
          <a:ln/>
        </p:spPr>
        <p:txBody>
          <a:bodyPr wrap="square" lIns="0" tIns="0" rIns="0" bIns="0" rtlCol="0" anchor="t"/>
          <a:lstStyle/>
          <a:p>
            <a:pPr algn="ctr" indent="0" marL="0">
              <a:buNone/>
            </a:pPr>
            <a:r>
              <a:rPr lang="en-US" sz="2400" b="1" dirty="0">
                <a:solidFill>
                  <a:srgbClr val="1E2761"/>
                </a:solidFill>
                <a:latin typeface="Cambria" pitchFamily="34" charset="0"/>
                <a:ea typeface="Cambria" pitchFamily="34" charset="-122"/>
                <a:cs typeface="Cambria" pitchFamily="34" charset="-120"/>
              </a:rPr>
              <a:t>Auswerten</a:t>
            </a:r>
            <a:endParaRPr lang="en-US" sz="2400" dirty="0"/>
          </a:p>
        </p:txBody>
      </p:sp>
      <p:sp>
        <p:nvSpPr>
          <p:cNvPr id="35" name="Text 32"/>
          <p:cNvSpPr txBox="1"/>
          <p:nvPr/>
        </p:nvSpPr>
        <p:spPr>
          <a:xfrm>
            <a:off x="9601200" y="3383280"/>
            <a:ext cx="1920240" cy="914400"/>
          </a:xfrm>
          <a:prstGeom prst="rect">
            <a:avLst/>
          </a:prstGeom>
          <a:noFill/>
          <a:ln/>
        </p:spPr>
        <p:txBody>
          <a:bodyPr wrap="square" lIns="0" tIns="0" rIns="0" bIns="0" rtlCol="0" anchor="t"/>
          <a:lstStyle/>
          <a:p>
            <a:pPr algn="ctr" indent="0" marL="0">
              <a:buNone/>
            </a:pPr>
            <a:r>
              <a:rPr lang="en-US" sz="2400" dirty="0">
                <a:solidFill>
                  <a:srgbClr val="5B6B8C"/>
                </a:solidFill>
                <a:latin typeface="Calibri" pitchFamily="34" charset="0"/>
                <a:ea typeface="Calibri" pitchFamily="34" charset="-122"/>
                <a:cs typeface="Calibri" pitchFamily="34" charset="-120"/>
              </a:rPr>
              <a:t>Ich kann …</a:t>
            </a:r>
            <a:endParaRPr lang="en-US" sz="2400" dirty="0"/>
          </a:p>
        </p:txBody>
      </p:sp>
      <p:sp>
        <p:nvSpPr>
          <p:cNvPr id="36" name="Text 33"/>
          <p:cNvSpPr txBox="1"/>
          <p:nvPr/>
        </p:nvSpPr>
        <p:spPr>
          <a:xfrm>
            <a:off x="9509760" y="4389120"/>
            <a:ext cx="210312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5 Min.</a:t>
            </a:r>
            <a:endParaRPr lang="en-US" sz="2400" dirty="0"/>
          </a:p>
        </p:txBody>
      </p:sp>
      <p:sp>
        <p:nvSpPr>
          <p:cNvPr id="37" name="Shape 34"/>
          <p:cNvSpPr/>
          <p:nvPr/>
        </p:nvSpPr>
        <p:spPr>
          <a:xfrm>
            <a:off x="548640" y="5669280"/>
            <a:ext cx="11109960" cy="777240"/>
          </a:xfrm>
          <a:prstGeom prst="roundRect">
            <a:avLst>
              <a:gd name="adj" fmla="val 9412"/>
            </a:avLst>
          </a:prstGeom>
          <a:solidFill>
            <a:srgbClr val="1E2761"/>
          </a:solidFill>
          <a:ln/>
        </p:spPr>
      </p:sp>
      <p:sp>
        <p:nvSpPr>
          <p:cNvPr id="38" name="Text 35"/>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Zusammen: </a:t>
            </a:r>
            <a:pPr indent="0" marL="0">
              <a:buNone/>
            </a:pPr>
            <a:r>
              <a:rPr lang="en-US" sz="2400" dirty="0">
                <a:solidFill>
                  <a:srgbClr val="FFFFFF"/>
                </a:solidFill>
                <a:latin typeface="Calibri" pitchFamily="34" charset="0"/>
                <a:ea typeface="Calibri" pitchFamily="34" charset="-122"/>
                <a:cs typeface="Calibri" pitchFamily="34" charset="-120"/>
              </a:rPr>
              <a:t>42 Minuten und 3 Minuten Puffer.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 · ANKOMMEN</a:t>
            </a:r>
            <a:endParaRPr lang="en-US" sz="1300" dirty="0"/>
          </a:p>
        </p:txBody>
      </p:sp>
      <p:sp>
        <p:nvSpPr>
          <p:cNvPr id="3" name="Shape 1"/>
          <p:cNvSpPr/>
          <p:nvPr/>
        </p:nvSpPr>
        <p:spPr>
          <a:xfrm>
            <a:off x="9144000" y="274320"/>
            <a:ext cx="402336" cy="402336"/>
          </a:xfrm>
          <a:prstGeom prst="ellipse">
            <a:avLst/>
          </a:prstGeom>
          <a:solidFill>
            <a:srgbClr val="D9534F"/>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Euer Test</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
        <p:nvSpPr>
          <p:cNvPr id="17" name="Shape 14"/>
          <p:cNvSpPr/>
          <p:nvPr/>
        </p:nvSpPr>
        <p:spPr>
          <a:xfrm>
            <a:off x="548640" y="1600200"/>
            <a:ext cx="11109960" cy="1325880"/>
          </a:xfrm>
          <a:prstGeom prst="roundRect">
            <a:avLst>
              <a:gd name="adj" fmla="val 5517"/>
            </a:avLst>
          </a:prstGeom>
          <a:solidFill>
            <a:srgbClr val="EAF0FA"/>
          </a:solidFill>
          <a:ln/>
        </p:spPr>
      </p:sp>
      <p:sp>
        <p:nvSpPr>
          <p:cNvPr id="18" name="Shape 15"/>
          <p:cNvSpPr/>
          <p:nvPr/>
        </p:nvSpPr>
        <p:spPr>
          <a:xfrm>
            <a:off x="822960" y="2029968"/>
            <a:ext cx="457200" cy="457200"/>
          </a:xfrm>
          <a:prstGeom prst="ellipse">
            <a:avLst/>
          </a:prstGeom>
          <a:solidFill>
            <a:srgbClr val="D9534F"/>
          </a:solidFill>
          <a:ln/>
        </p:spPr>
      </p:sp>
      <p:sp>
        <p:nvSpPr>
          <p:cNvPr id="19" name="Text 16"/>
          <p:cNvSpPr txBox="1"/>
          <p:nvPr/>
        </p:nvSpPr>
        <p:spPr>
          <a:xfrm>
            <a:off x="822960" y="2029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1554480" y="1600200"/>
            <a:ext cx="9875520" cy="1325880"/>
          </a:xfrm>
          <a:prstGeom prst="rect">
            <a:avLst/>
          </a:prstGeom>
          <a:noFill/>
          <a:ln/>
        </p:spPr>
        <p:txBody>
          <a:bodyPr wrap="square" lIns="0" tIns="0" rIns="0" bIns="0" rtlCol="0" anchor="ctr"/>
          <a:lstStyle/>
          <a:p>
            <a:pPr indent="0" marL="0">
              <a:buNone/>
            </a:pPr>
            <a:r>
              <a:rPr lang="en-US" sz="2800" dirty="0">
                <a:solidFill>
                  <a:srgbClr val="1E2761"/>
                </a:solidFill>
                <a:latin typeface="Cambria" pitchFamily="34" charset="0"/>
                <a:ea typeface="Cambria" pitchFamily="34" charset="-122"/>
                <a:cs typeface="Cambria" pitchFamily="34" charset="-120"/>
              </a:rPr>
              <a:t>Was haben die gemacht, die gut abgeschnitten haben?</a:t>
            </a:r>
            <a:endParaRPr lang="en-US" sz="2800" dirty="0"/>
          </a:p>
        </p:txBody>
      </p:sp>
      <p:sp>
        <p:nvSpPr>
          <p:cNvPr id="21" name="Shape 18"/>
          <p:cNvSpPr/>
          <p:nvPr/>
        </p:nvSpPr>
        <p:spPr>
          <a:xfrm>
            <a:off x="548640" y="3154680"/>
            <a:ext cx="11109960" cy="1325880"/>
          </a:xfrm>
          <a:prstGeom prst="roundRect">
            <a:avLst>
              <a:gd name="adj" fmla="val 5517"/>
            </a:avLst>
          </a:prstGeom>
          <a:solidFill>
            <a:srgbClr val="F4F7FD"/>
          </a:solidFill>
          <a:ln/>
        </p:spPr>
      </p:sp>
      <p:sp>
        <p:nvSpPr>
          <p:cNvPr id="22" name="Shape 19"/>
          <p:cNvSpPr/>
          <p:nvPr/>
        </p:nvSpPr>
        <p:spPr>
          <a:xfrm>
            <a:off x="822960" y="3584448"/>
            <a:ext cx="457200" cy="457200"/>
          </a:xfrm>
          <a:prstGeom prst="ellipse">
            <a:avLst/>
          </a:prstGeom>
          <a:solidFill>
            <a:srgbClr val="D9534F"/>
          </a:solidFill>
          <a:ln/>
        </p:spPr>
      </p:sp>
      <p:sp>
        <p:nvSpPr>
          <p:cNvPr id="23" name="Text 20"/>
          <p:cNvSpPr txBox="1"/>
          <p:nvPr/>
        </p:nvSpPr>
        <p:spPr>
          <a:xfrm>
            <a:off x="822960" y="35844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1"/>
          <p:cNvSpPr txBox="1"/>
          <p:nvPr/>
        </p:nvSpPr>
        <p:spPr>
          <a:xfrm>
            <a:off x="1554480" y="3154680"/>
            <a:ext cx="9875520" cy="1325880"/>
          </a:xfrm>
          <a:prstGeom prst="rect">
            <a:avLst/>
          </a:prstGeom>
          <a:noFill/>
          <a:ln/>
        </p:spPr>
        <p:txBody>
          <a:bodyPr wrap="square" lIns="0" tIns="0" rIns="0" bIns="0" rtlCol="0" anchor="ctr"/>
          <a:lstStyle/>
          <a:p>
            <a:pPr indent="0" marL="0">
              <a:buNone/>
            </a:pPr>
            <a:r>
              <a:rPr lang="en-US" sz="2800" dirty="0">
                <a:solidFill>
                  <a:srgbClr val="1E2761"/>
                </a:solidFill>
                <a:latin typeface="Cambria" pitchFamily="34" charset="0"/>
                <a:ea typeface="Cambria" pitchFamily="34" charset="-122"/>
                <a:cs typeface="Cambria" pitchFamily="34" charset="-120"/>
              </a:rPr>
              <a:t>Was machst du beim nächsten Mal anders?</a:t>
            </a:r>
            <a:endParaRPr lang="en-US" sz="2800" dirty="0"/>
          </a:p>
        </p:txBody>
      </p:sp>
      <p:sp>
        <p:nvSpPr>
          <p:cNvPr id="25" name="Shape 22"/>
          <p:cNvSpPr/>
          <p:nvPr/>
        </p:nvSpPr>
        <p:spPr>
          <a:xfrm>
            <a:off x="548640" y="5669280"/>
            <a:ext cx="11109960" cy="777240"/>
          </a:xfrm>
          <a:prstGeom prst="roundRect">
            <a:avLst>
              <a:gd name="adj" fmla="val 9412"/>
            </a:avLst>
          </a:prstGeom>
          <a:solidFill>
            <a:srgbClr val="1E2761"/>
          </a:solidFill>
          <a:ln/>
        </p:spPr>
      </p:sp>
      <p:sp>
        <p:nvSpPr>
          <p:cNvPr id="26" name="Text 23"/>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Hausaufgabe: </a:t>
            </a:r>
            <a:pPr indent="0" marL="0">
              <a:buNone/>
            </a:pPr>
            <a:r>
              <a:rPr lang="en-US" sz="2400" dirty="0">
                <a:solidFill>
                  <a:srgbClr val="FFFFFF"/>
                </a:solidFill>
                <a:latin typeface="Calibri" pitchFamily="34" charset="0"/>
                <a:ea typeface="Calibri" pitchFamily="34" charset="-122"/>
                <a:cs typeface="Calibri" pitchFamily="34" charset="-120"/>
              </a:rPr>
              <a:t>Falsche Aufgaben mit Grün verbessern.</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VORWISSEN AKTIVIEREN</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D9534F"/>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Probleme Frankreichs</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
        <p:nvSpPr>
          <p:cNvPr id="17" name="Shape 14"/>
          <p:cNvSpPr/>
          <p:nvPr/>
        </p:nvSpPr>
        <p:spPr>
          <a:xfrm>
            <a:off x="548640" y="1554480"/>
            <a:ext cx="3611880" cy="1737360"/>
          </a:xfrm>
          <a:prstGeom prst="roundRect">
            <a:avLst>
              <a:gd name="adj" fmla="val 4211"/>
            </a:avLst>
          </a:prstGeom>
          <a:solidFill>
            <a:srgbClr val="EAF0FA"/>
          </a:solidFill>
          <a:ln/>
        </p:spPr>
      </p:sp>
      <p:sp>
        <p:nvSpPr>
          <p:cNvPr id="18" name="Shape 15"/>
          <p:cNvSpPr/>
          <p:nvPr/>
        </p:nvSpPr>
        <p:spPr>
          <a:xfrm>
            <a:off x="548640" y="1554480"/>
            <a:ext cx="109728" cy="1737360"/>
          </a:xfrm>
          <a:prstGeom prst="rect">
            <a:avLst/>
          </a:prstGeom>
          <a:solidFill>
            <a:srgbClr val="D9534F"/>
          </a:solidFill>
          <a:ln/>
        </p:spPr>
      </p:sp>
      <p:sp>
        <p:nvSpPr>
          <p:cNvPr id="19" name="Text 16"/>
          <p:cNvSpPr txBox="1"/>
          <p:nvPr/>
        </p:nvSpPr>
        <p:spPr>
          <a:xfrm>
            <a:off x="822960" y="1554480"/>
            <a:ext cx="3200400" cy="173736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Leere Staatskasse</a:t>
            </a:r>
            <a:endParaRPr lang="en-US" sz="2400" dirty="0"/>
          </a:p>
        </p:txBody>
      </p:sp>
      <p:sp>
        <p:nvSpPr>
          <p:cNvPr id="20" name="Shape 17"/>
          <p:cNvSpPr/>
          <p:nvPr/>
        </p:nvSpPr>
        <p:spPr>
          <a:xfrm>
            <a:off x="4297680" y="1554480"/>
            <a:ext cx="3611880" cy="1737360"/>
          </a:xfrm>
          <a:prstGeom prst="roundRect">
            <a:avLst>
              <a:gd name="adj" fmla="val 4211"/>
            </a:avLst>
          </a:prstGeom>
          <a:solidFill>
            <a:srgbClr val="F4F7FD"/>
          </a:solidFill>
          <a:ln/>
        </p:spPr>
      </p:sp>
      <p:sp>
        <p:nvSpPr>
          <p:cNvPr id="21" name="Shape 18"/>
          <p:cNvSpPr/>
          <p:nvPr/>
        </p:nvSpPr>
        <p:spPr>
          <a:xfrm>
            <a:off x="4297680" y="1554480"/>
            <a:ext cx="109728" cy="1737360"/>
          </a:xfrm>
          <a:prstGeom prst="rect">
            <a:avLst/>
          </a:prstGeom>
          <a:solidFill>
            <a:srgbClr val="D9534F"/>
          </a:solidFill>
          <a:ln/>
        </p:spPr>
      </p:sp>
      <p:sp>
        <p:nvSpPr>
          <p:cNvPr id="22" name="Text 19"/>
          <p:cNvSpPr txBox="1"/>
          <p:nvPr/>
        </p:nvSpPr>
        <p:spPr>
          <a:xfrm>
            <a:off x="4572000" y="1554480"/>
            <a:ext cx="3200400" cy="173736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Ungleiche Steuerlast</a:t>
            </a:r>
            <a:endParaRPr lang="en-US" sz="2400" dirty="0"/>
          </a:p>
        </p:txBody>
      </p:sp>
      <p:sp>
        <p:nvSpPr>
          <p:cNvPr id="23" name="Shape 20"/>
          <p:cNvSpPr/>
          <p:nvPr/>
        </p:nvSpPr>
        <p:spPr>
          <a:xfrm>
            <a:off x="8046720" y="1554480"/>
            <a:ext cx="3611880" cy="1737360"/>
          </a:xfrm>
          <a:prstGeom prst="roundRect">
            <a:avLst>
              <a:gd name="adj" fmla="val 4211"/>
            </a:avLst>
          </a:prstGeom>
          <a:solidFill>
            <a:srgbClr val="EAF0FA"/>
          </a:solidFill>
          <a:ln/>
        </p:spPr>
      </p:sp>
      <p:sp>
        <p:nvSpPr>
          <p:cNvPr id="24" name="Shape 21"/>
          <p:cNvSpPr/>
          <p:nvPr/>
        </p:nvSpPr>
        <p:spPr>
          <a:xfrm>
            <a:off x="8046720" y="1554480"/>
            <a:ext cx="109728" cy="1737360"/>
          </a:xfrm>
          <a:prstGeom prst="rect">
            <a:avLst/>
          </a:prstGeom>
          <a:solidFill>
            <a:srgbClr val="D9534F"/>
          </a:solidFill>
          <a:ln/>
        </p:spPr>
      </p:sp>
      <p:sp>
        <p:nvSpPr>
          <p:cNvPr id="25" name="Text 22"/>
          <p:cNvSpPr txBox="1"/>
          <p:nvPr/>
        </p:nvSpPr>
        <p:spPr>
          <a:xfrm>
            <a:off x="8321040" y="1554480"/>
            <a:ext cx="3200400" cy="173736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Hunger und hoher Brotpreis</a:t>
            </a:r>
            <a:endParaRPr lang="en-US" sz="2400" dirty="0"/>
          </a:p>
        </p:txBody>
      </p:sp>
      <p:sp>
        <p:nvSpPr>
          <p:cNvPr id="26" name="Shape 23"/>
          <p:cNvSpPr/>
          <p:nvPr/>
        </p:nvSpPr>
        <p:spPr>
          <a:xfrm>
            <a:off x="548640" y="3474720"/>
            <a:ext cx="3611880" cy="1737360"/>
          </a:xfrm>
          <a:prstGeom prst="roundRect">
            <a:avLst>
              <a:gd name="adj" fmla="val 4211"/>
            </a:avLst>
          </a:prstGeom>
          <a:solidFill>
            <a:srgbClr val="F4F7FD"/>
          </a:solidFill>
          <a:ln/>
        </p:spPr>
      </p:sp>
      <p:sp>
        <p:nvSpPr>
          <p:cNvPr id="27" name="Shape 24"/>
          <p:cNvSpPr/>
          <p:nvPr/>
        </p:nvSpPr>
        <p:spPr>
          <a:xfrm>
            <a:off x="548640" y="3474720"/>
            <a:ext cx="109728" cy="1737360"/>
          </a:xfrm>
          <a:prstGeom prst="rect">
            <a:avLst/>
          </a:prstGeom>
          <a:solidFill>
            <a:srgbClr val="D9534F"/>
          </a:solidFill>
          <a:ln/>
        </p:spPr>
      </p:sp>
      <p:sp>
        <p:nvSpPr>
          <p:cNvPr id="28" name="Text 25"/>
          <p:cNvSpPr txBox="1"/>
          <p:nvPr/>
        </p:nvSpPr>
        <p:spPr>
          <a:xfrm>
            <a:off x="822960" y="3474720"/>
            <a:ext cx="3200400" cy="173736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Keine Mitsprache des Dritten Standes (Bauern und Bürger)</a:t>
            </a:r>
            <a:endParaRPr lang="en-US" sz="2400" dirty="0"/>
          </a:p>
        </p:txBody>
      </p:sp>
      <p:sp>
        <p:nvSpPr>
          <p:cNvPr id="29" name="Shape 26"/>
          <p:cNvSpPr/>
          <p:nvPr/>
        </p:nvSpPr>
        <p:spPr>
          <a:xfrm>
            <a:off x="4297680" y="3474720"/>
            <a:ext cx="3611880" cy="1737360"/>
          </a:xfrm>
          <a:prstGeom prst="roundRect">
            <a:avLst>
              <a:gd name="adj" fmla="val 4211"/>
            </a:avLst>
          </a:prstGeom>
          <a:solidFill>
            <a:srgbClr val="EAF0FA"/>
          </a:solidFill>
          <a:ln/>
        </p:spPr>
      </p:sp>
      <p:sp>
        <p:nvSpPr>
          <p:cNvPr id="30" name="Shape 27"/>
          <p:cNvSpPr/>
          <p:nvPr/>
        </p:nvSpPr>
        <p:spPr>
          <a:xfrm>
            <a:off x="4297680" y="3474720"/>
            <a:ext cx="109728" cy="1737360"/>
          </a:xfrm>
          <a:prstGeom prst="rect">
            <a:avLst/>
          </a:prstGeom>
          <a:solidFill>
            <a:srgbClr val="D9534F"/>
          </a:solidFill>
          <a:ln/>
        </p:spPr>
      </p:sp>
      <p:sp>
        <p:nvSpPr>
          <p:cNvPr id="31" name="Text 28"/>
          <p:cNvSpPr txBox="1"/>
          <p:nvPr/>
        </p:nvSpPr>
        <p:spPr>
          <a:xfrm>
            <a:off x="4572000" y="3474720"/>
            <a:ext cx="3200400" cy="173736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Entfremdung zwischen Adel und Volk</a:t>
            </a:r>
            <a:endParaRPr lang="en-US" sz="2400" dirty="0"/>
          </a:p>
        </p:txBody>
      </p:sp>
      <p:sp>
        <p:nvSpPr>
          <p:cNvPr id="32" name="Shape 29"/>
          <p:cNvSpPr/>
          <p:nvPr/>
        </p:nvSpPr>
        <p:spPr>
          <a:xfrm>
            <a:off x="8046720" y="3474720"/>
            <a:ext cx="3611880" cy="1737360"/>
          </a:xfrm>
          <a:prstGeom prst="roundRect">
            <a:avLst>
              <a:gd name="adj" fmla="val 4211"/>
            </a:avLst>
          </a:prstGeom>
          <a:solidFill>
            <a:srgbClr val="1E2761"/>
          </a:solidFill>
          <a:ln/>
        </p:spPr>
      </p:sp>
      <p:sp>
        <p:nvSpPr>
          <p:cNvPr id="33" name="Text 30"/>
          <p:cNvSpPr txBox="1"/>
          <p:nvPr/>
        </p:nvSpPr>
        <p:spPr>
          <a:xfrm>
            <a:off x="8229600" y="3474720"/>
            <a:ext cx="3291840" cy="17373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Wie fair ist die Abstimmung?</a:t>
            </a:r>
            <a:endParaRPr lang="en-US" sz="2400" dirty="0"/>
          </a:p>
        </p:txBody>
      </p:sp>
      <p:sp>
        <p:nvSpPr>
          <p:cNvPr id="34" name="Shape 31"/>
          <p:cNvSpPr/>
          <p:nvPr/>
        </p:nvSpPr>
        <p:spPr>
          <a:xfrm>
            <a:off x="548640" y="5669280"/>
            <a:ext cx="11109960" cy="777240"/>
          </a:xfrm>
          <a:prstGeom prst="roundRect">
            <a:avLst>
              <a:gd name="adj" fmla="val 9412"/>
            </a:avLst>
          </a:prstGeom>
          <a:solidFill>
            <a:srgbClr val="1E2761"/>
          </a:solidFill>
          <a:ln/>
        </p:spPr>
      </p:sp>
      <p:sp>
        <p:nvSpPr>
          <p:cNvPr id="35" name="Text 32"/>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Jetzt: </a:t>
            </a:r>
            <a:pPr indent="0" marL="0">
              <a:buNone/>
            </a:pPr>
            <a:r>
              <a:rPr lang="en-US" sz="2400" dirty="0">
                <a:solidFill>
                  <a:srgbClr val="FFFFFF"/>
                </a:solidFill>
                <a:latin typeface="Calibri" pitchFamily="34" charset="0"/>
                <a:ea typeface="Calibri" pitchFamily="34" charset="-122"/>
                <a:cs typeface="Calibri" pitchFamily="34" charset="-120"/>
              </a:rPr>
              <a:t>Meldet euch. Ihr schreibt noch nichts auf.</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I · INFORMIEREN · ÜBUNG 1</a:t>
            </a:r>
            <a:endParaRPr lang="en-US" sz="13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Text und Zeitstrahl</a:t>
            </a:r>
            <a:endParaRPr lang="en-US" sz="3400" dirty="0"/>
          </a:p>
        </p:txBody>
      </p:sp>
      <p:sp>
        <p:nvSpPr>
          <p:cNvPr id="4" name="Shape 2"/>
          <p:cNvSpPr/>
          <p:nvPr/>
        </p:nvSpPr>
        <p:spPr>
          <a:xfrm>
            <a:off x="548640" y="1371600"/>
            <a:ext cx="11109960" cy="1737360"/>
          </a:xfrm>
          <a:prstGeom prst="roundRect">
            <a:avLst>
              <a:gd name="adj" fmla="val 4211"/>
            </a:avLst>
          </a:prstGeom>
          <a:solidFill>
            <a:srgbClr val="EAF0FA"/>
          </a:solidFill>
          <a:ln/>
        </p:spPr>
      </p:sp>
      <p:sp>
        <p:nvSpPr>
          <p:cNvPr id="5" name="Shape 3"/>
          <p:cNvSpPr/>
          <p:nvPr/>
        </p:nvSpPr>
        <p:spPr>
          <a:xfrm>
            <a:off x="731520" y="1517904"/>
            <a:ext cx="384048" cy="384048"/>
          </a:xfrm>
          <a:prstGeom prst="ellipse">
            <a:avLst/>
          </a:prstGeom>
          <a:solidFill>
            <a:srgbClr val="1E2761"/>
          </a:solidFill>
          <a:ln/>
        </p:spPr>
      </p:sp>
      <p:sp>
        <p:nvSpPr>
          <p:cNvPr id="6" name="Text 4"/>
          <p:cNvSpPr txBox="1"/>
          <p:nvPr/>
        </p:nvSpPr>
        <p:spPr>
          <a:xfrm>
            <a:off x="731520" y="151790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80160" y="1481328"/>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Lies den Text. Unterstreiche die Jahreszahlen.</a:t>
            </a:r>
            <a:endParaRPr lang="en-US" sz="2400" dirty="0"/>
          </a:p>
        </p:txBody>
      </p:sp>
      <p:sp>
        <p:nvSpPr>
          <p:cNvPr id="8" name="Shape 6"/>
          <p:cNvSpPr/>
          <p:nvPr/>
        </p:nvSpPr>
        <p:spPr>
          <a:xfrm>
            <a:off x="731520" y="2048256"/>
            <a:ext cx="384048" cy="384048"/>
          </a:xfrm>
          <a:prstGeom prst="ellipse">
            <a:avLst/>
          </a:prstGeom>
          <a:solidFill>
            <a:srgbClr val="1E2761"/>
          </a:solidFill>
          <a:ln/>
        </p:spPr>
      </p:sp>
      <p:sp>
        <p:nvSpPr>
          <p:cNvPr id="9" name="Text 7"/>
          <p:cNvSpPr txBox="1"/>
          <p:nvPr/>
        </p:nvSpPr>
        <p:spPr>
          <a:xfrm>
            <a:off x="731520" y="204825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280160" y="2011680"/>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Schreibe zu jedem Datum das Ereignis in den Zeitstrahl.</a:t>
            </a:r>
            <a:endParaRPr lang="en-US" sz="2400" dirty="0"/>
          </a:p>
        </p:txBody>
      </p:sp>
      <p:sp>
        <p:nvSpPr>
          <p:cNvPr id="11" name="Shape 9"/>
          <p:cNvSpPr/>
          <p:nvPr/>
        </p:nvSpPr>
        <p:spPr>
          <a:xfrm>
            <a:off x="731520" y="2578608"/>
            <a:ext cx="384048" cy="384048"/>
          </a:xfrm>
          <a:prstGeom prst="ellipse">
            <a:avLst/>
          </a:prstGeom>
          <a:solidFill>
            <a:srgbClr val="1E2761"/>
          </a:solidFill>
          <a:ln/>
        </p:spPr>
      </p:sp>
      <p:sp>
        <p:nvSpPr>
          <p:cNvPr id="12" name="Text 10"/>
          <p:cNvSpPr txBox="1"/>
          <p:nvPr/>
        </p:nvSpPr>
        <p:spPr>
          <a:xfrm>
            <a:off x="731520" y="257860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80160" y="2542032"/>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Prüfe: Passt jedes Ereignis zum Datum?</a:t>
            </a:r>
            <a:endParaRPr lang="en-US" sz="2400" dirty="0"/>
          </a:p>
        </p:txBody>
      </p:sp>
      <p:sp>
        <p:nvSpPr>
          <p:cNvPr id="14" name="Shape 12"/>
          <p:cNvSpPr/>
          <p:nvPr/>
        </p:nvSpPr>
        <p:spPr>
          <a:xfrm>
            <a:off x="548640" y="5669280"/>
            <a:ext cx="11109960" cy="777240"/>
          </a:xfrm>
          <a:prstGeom prst="roundRect">
            <a:avLst>
              <a:gd name="adj" fmla="val 9412"/>
            </a:avLst>
          </a:prstGeom>
          <a:solidFill>
            <a:srgbClr val="1E2761"/>
          </a:solidFill>
          <a:ln/>
        </p:spPr>
      </p:sp>
      <p:sp>
        <p:nvSpPr>
          <p:cNvPr id="15" name="Text 13"/>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Zeit: </a:t>
            </a:r>
            <a:pPr indent="0" marL="0">
              <a:buNone/>
            </a:pPr>
            <a:r>
              <a:rPr lang="en-US" sz="2400" dirty="0">
                <a:solidFill>
                  <a:srgbClr val="FFFFFF"/>
                </a:solidFill>
                <a:latin typeface="Calibri" pitchFamily="34" charset="0"/>
                <a:ea typeface="Calibri" pitchFamily="34" charset="-122"/>
                <a:cs typeface="Calibri" pitchFamily="34" charset="-120"/>
              </a:rPr>
              <a:t>5 Minuten · allein · leise      </a:t>
            </a:r>
            <a:pPr indent="0" marL="0">
              <a:buNone/>
            </a:pPr>
            <a:r>
              <a:rPr lang="en-US" sz="2400" i="1" dirty="0">
                <a:solidFill>
                  <a:srgbClr val="CADCFC"/>
                </a:solidFill>
                <a:latin typeface="Calibri" pitchFamily="34" charset="0"/>
                <a:ea typeface="Calibri" pitchFamily="34" charset="-122"/>
                <a:cs typeface="Calibri" pitchFamily="34" charset="-120"/>
              </a:rPr>
              <a:t>Fertig? Stift hinlegen und noch einmal durchlesen.</a:t>
            </a:r>
            <a:endParaRPr lang="en-US" sz="2400" dirty="0"/>
          </a:p>
        </p:txBody>
      </p:sp>
      <p:sp>
        <p:nvSpPr>
          <p:cNvPr id="16" name="Text 14"/>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7" name="Text 15"/>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
        <p:nvSpPr>
          <p:cNvPr id="19" name="Shape 16"/>
          <p:cNvSpPr/>
          <p:nvPr/>
        </p:nvSpPr>
        <p:spPr>
          <a:xfrm>
            <a:off x="9144000" y="274320"/>
            <a:ext cx="402336" cy="402336"/>
          </a:xfrm>
          <a:prstGeom prst="ellipse">
            <a:avLst/>
          </a:prstGeom>
          <a:solidFill>
            <a:srgbClr val="EAF0FA"/>
          </a:solidFill>
          <a:ln/>
        </p:spPr>
      </p:sp>
      <p:sp>
        <p:nvSpPr>
          <p:cNvPr id="20" name="Text 17"/>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21" name="Shape 18"/>
          <p:cNvSpPr/>
          <p:nvPr/>
        </p:nvSpPr>
        <p:spPr>
          <a:xfrm>
            <a:off x="9646920" y="274320"/>
            <a:ext cx="402336" cy="402336"/>
          </a:xfrm>
          <a:prstGeom prst="ellipse">
            <a:avLst/>
          </a:prstGeom>
          <a:solidFill>
            <a:srgbClr val="EAF0FA"/>
          </a:solidFill>
          <a:ln/>
        </p:spPr>
      </p:sp>
      <p:sp>
        <p:nvSpPr>
          <p:cNvPr id="22" name="Text 19"/>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3" name="Shape 20"/>
          <p:cNvSpPr/>
          <p:nvPr/>
        </p:nvSpPr>
        <p:spPr>
          <a:xfrm>
            <a:off x="10149840" y="274320"/>
            <a:ext cx="402336" cy="402336"/>
          </a:xfrm>
          <a:prstGeom prst="ellipse">
            <a:avLst/>
          </a:prstGeom>
          <a:solidFill>
            <a:srgbClr val="D9534F"/>
          </a:solidFill>
          <a:ln/>
        </p:spPr>
      </p:sp>
      <p:sp>
        <p:nvSpPr>
          <p:cNvPr id="24" name="Text 21"/>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25" name="Shape 22"/>
          <p:cNvSpPr/>
          <p:nvPr/>
        </p:nvSpPr>
        <p:spPr>
          <a:xfrm>
            <a:off x="10652760" y="274320"/>
            <a:ext cx="402336" cy="402336"/>
          </a:xfrm>
          <a:prstGeom prst="ellipse">
            <a:avLst/>
          </a:prstGeom>
          <a:solidFill>
            <a:srgbClr val="EAF0FA"/>
          </a:solidFill>
          <a:ln/>
        </p:spPr>
      </p:sp>
      <p:sp>
        <p:nvSpPr>
          <p:cNvPr id="26" name="Text 23"/>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7" name="Shape 24"/>
          <p:cNvSpPr/>
          <p:nvPr/>
        </p:nvSpPr>
        <p:spPr>
          <a:xfrm>
            <a:off x="11155680" y="274320"/>
            <a:ext cx="402336" cy="402336"/>
          </a:xfrm>
          <a:prstGeom prst="ellipse">
            <a:avLst/>
          </a:prstGeom>
          <a:solidFill>
            <a:srgbClr val="EAF0FA"/>
          </a:solidFill>
          <a:ln/>
        </p:spPr>
      </p:sp>
      <p:sp>
        <p:nvSpPr>
          <p:cNvPr id="28" name="Text 25"/>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I · INFORMIEREN · KONTROLLE</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D9534F"/>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Der Weg zu den Generalständen</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
        <p:nvSpPr>
          <p:cNvPr id="17" name="Shape 14"/>
          <p:cNvSpPr/>
          <p:nvPr/>
        </p:nvSpPr>
        <p:spPr>
          <a:xfrm>
            <a:off x="640080" y="3401568"/>
            <a:ext cx="10698480" cy="91440"/>
          </a:xfrm>
          <a:prstGeom prst="rect">
            <a:avLst/>
          </a:prstGeom>
          <a:solidFill>
            <a:srgbClr val="1E2761"/>
          </a:solidFill>
          <a:ln/>
        </p:spPr>
      </p:sp>
      <p:sp>
        <p:nvSpPr>
          <p:cNvPr id="18" name="Text 15"/>
          <p:cNvSpPr txBox="1"/>
          <p:nvPr/>
        </p:nvSpPr>
        <p:spPr>
          <a:xfrm>
            <a:off x="11338560" y="3200400"/>
            <a:ext cx="457200" cy="457200"/>
          </a:xfrm>
          <a:prstGeom prst="rect">
            <a:avLst/>
          </a:prstGeom>
          <a:noFill/>
          <a:ln/>
        </p:spPr>
        <p:txBody>
          <a:bodyPr wrap="square" lIns="0" tIns="0" rIns="0" bIns="0" rtlCol="0" anchor="ctr"/>
          <a:lstStyle/>
          <a:p>
            <a:pPr algn="ctr" indent="0" marL="0">
              <a:buNone/>
            </a:pPr>
            <a:r>
              <a:rPr lang="en-US" sz="2400" dirty="0">
                <a:solidFill>
                  <a:srgbClr val="1E2761"/>
                </a:solidFill>
                <a:latin typeface="Calibri" pitchFamily="34" charset="0"/>
                <a:ea typeface="Calibri" pitchFamily="34" charset="-122"/>
                <a:cs typeface="Calibri" pitchFamily="34" charset="-120"/>
              </a:rPr>
              <a:t>▶</a:t>
            </a:r>
            <a:endParaRPr lang="en-US" sz="2400" dirty="0"/>
          </a:p>
        </p:txBody>
      </p:sp>
      <p:sp>
        <p:nvSpPr>
          <p:cNvPr id="19" name="Shape 16"/>
          <p:cNvSpPr/>
          <p:nvPr/>
        </p:nvSpPr>
        <p:spPr>
          <a:xfrm>
            <a:off x="1536192" y="3291840"/>
            <a:ext cx="310896" cy="310896"/>
          </a:xfrm>
          <a:prstGeom prst="ellipse">
            <a:avLst/>
          </a:prstGeom>
          <a:solidFill>
            <a:srgbClr val="1E2761"/>
          </a:solidFill>
          <a:ln w="25400">
            <a:solidFill>
              <a:srgbClr val="FFFFFF"/>
            </a:solidFill>
            <a:prstDash val="solid"/>
          </a:ln>
        </p:spPr>
      </p:sp>
      <p:sp>
        <p:nvSpPr>
          <p:cNvPr id="20" name="Shape 17"/>
          <p:cNvSpPr/>
          <p:nvPr/>
        </p:nvSpPr>
        <p:spPr>
          <a:xfrm>
            <a:off x="1691640" y="2743200"/>
            <a:ext cx="0" cy="548640"/>
          </a:xfrm>
          <a:prstGeom prst="line">
            <a:avLst/>
          </a:prstGeom>
          <a:noFill/>
          <a:ln w="19050">
            <a:solidFill>
              <a:srgbClr val="5B6B8C"/>
            </a:solidFill>
            <a:prstDash val="solid"/>
          </a:ln>
        </p:spPr>
      </p:sp>
      <p:sp>
        <p:nvSpPr>
          <p:cNvPr id="21" name="Shape 18"/>
          <p:cNvSpPr/>
          <p:nvPr/>
        </p:nvSpPr>
        <p:spPr>
          <a:xfrm>
            <a:off x="274320" y="1371600"/>
            <a:ext cx="2834640" cy="1325880"/>
          </a:xfrm>
          <a:prstGeom prst="roundRect">
            <a:avLst>
              <a:gd name="adj" fmla="val 5517"/>
            </a:avLst>
          </a:prstGeom>
          <a:solidFill>
            <a:srgbClr val="EAF0FA"/>
          </a:solidFill>
          <a:ln/>
        </p:spPr>
      </p:sp>
      <p:sp>
        <p:nvSpPr>
          <p:cNvPr id="22" name="Text 19"/>
          <p:cNvSpPr txBox="1"/>
          <p:nvPr/>
        </p:nvSpPr>
        <p:spPr>
          <a:xfrm>
            <a:off x="320040" y="144475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1614</a:t>
            </a:r>
            <a:endParaRPr lang="en-US" sz="2400" dirty="0"/>
          </a:p>
        </p:txBody>
      </p:sp>
      <p:sp>
        <p:nvSpPr>
          <p:cNvPr id="23" name="Text 20"/>
          <p:cNvSpPr txBox="1"/>
          <p:nvPr/>
        </p:nvSpPr>
        <p:spPr>
          <a:xfrm>
            <a:off x="320040" y="192024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Letzte Generalstände</a:t>
            </a:r>
            <a:endParaRPr lang="en-US" sz="2400" dirty="0"/>
          </a:p>
        </p:txBody>
      </p:sp>
      <p:sp>
        <p:nvSpPr>
          <p:cNvPr id="24" name="Shape 21"/>
          <p:cNvSpPr/>
          <p:nvPr/>
        </p:nvSpPr>
        <p:spPr>
          <a:xfrm>
            <a:off x="2999232" y="3291840"/>
            <a:ext cx="310896" cy="310896"/>
          </a:xfrm>
          <a:prstGeom prst="ellipse">
            <a:avLst/>
          </a:prstGeom>
          <a:solidFill>
            <a:srgbClr val="1E2761"/>
          </a:solidFill>
          <a:ln w="25400">
            <a:solidFill>
              <a:srgbClr val="FFFFFF"/>
            </a:solidFill>
            <a:prstDash val="solid"/>
          </a:ln>
        </p:spPr>
      </p:sp>
      <p:sp>
        <p:nvSpPr>
          <p:cNvPr id="25" name="Shape 22"/>
          <p:cNvSpPr/>
          <p:nvPr/>
        </p:nvSpPr>
        <p:spPr>
          <a:xfrm>
            <a:off x="3154680" y="3611880"/>
            <a:ext cx="0" cy="548640"/>
          </a:xfrm>
          <a:prstGeom prst="line">
            <a:avLst/>
          </a:prstGeom>
          <a:noFill/>
          <a:ln w="19050">
            <a:solidFill>
              <a:srgbClr val="5B6B8C"/>
            </a:solidFill>
            <a:prstDash val="solid"/>
          </a:ln>
        </p:spPr>
      </p:sp>
      <p:sp>
        <p:nvSpPr>
          <p:cNvPr id="26" name="Shape 23"/>
          <p:cNvSpPr/>
          <p:nvPr/>
        </p:nvSpPr>
        <p:spPr>
          <a:xfrm>
            <a:off x="1737360" y="4160520"/>
            <a:ext cx="2834640" cy="1325880"/>
          </a:xfrm>
          <a:prstGeom prst="roundRect">
            <a:avLst>
              <a:gd name="adj" fmla="val 5517"/>
            </a:avLst>
          </a:prstGeom>
          <a:solidFill>
            <a:srgbClr val="F4F7FD"/>
          </a:solidFill>
          <a:ln/>
        </p:spPr>
      </p:sp>
      <p:sp>
        <p:nvSpPr>
          <p:cNvPr id="27" name="Text 24"/>
          <p:cNvSpPr txBox="1"/>
          <p:nvPr/>
        </p:nvSpPr>
        <p:spPr>
          <a:xfrm>
            <a:off x="1783080" y="423367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1778–1783</a:t>
            </a:r>
            <a:endParaRPr lang="en-US" sz="2400" dirty="0"/>
          </a:p>
        </p:txBody>
      </p:sp>
      <p:sp>
        <p:nvSpPr>
          <p:cNvPr id="28" name="Text 25"/>
          <p:cNvSpPr txBox="1"/>
          <p:nvPr/>
        </p:nvSpPr>
        <p:spPr>
          <a:xfrm>
            <a:off x="1783080" y="470916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Krieg in Amerika, Schulden</a:t>
            </a:r>
            <a:endParaRPr lang="en-US" sz="2400" dirty="0"/>
          </a:p>
        </p:txBody>
      </p:sp>
      <p:sp>
        <p:nvSpPr>
          <p:cNvPr id="29" name="Shape 26"/>
          <p:cNvSpPr/>
          <p:nvPr/>
        </p:nvSpPr>
        <p:spPr>
          <a:xfrm>
            <a:off x="4462272" y="3291840"/>
            <a:ext cx="310896" cy="310896"/>
          </a:xfrm>
          <a:prstGeom prst="ellipse">
            <a:avLst/>
          </a:prstGeom>
          <a:solidFill>
            <a:srgbClr val="1E2761"/>
          </a:solidFill>
          <a:ln w="25400">
            <a:solidFill>
              <a:srgbClr val="FFFFFF"/>
            </a:solidFill>
            <a:prstDash val="solid"/>
          </a:ln>
        </p:spPr>
      </p:sp>
      <p:sp>
        <p:nvSpPr>
          <p:cNvPr id="30" name="Shape 27"/>
          <p:cNvSpPr/>
          <p:nvPr/>
        </p:nvSpPr>
        <p:spPr>
          <a:xfrm>
            <a:off x="4617720" y="2743200"/>
            <a:ext cx="0" cy="548640"/>
          </a:xfrm>
          <a:prstGeom prst="line">
            <a:avLst/>
          </a:prstGeom>
          <a:noFill/>
          <a:ln w="19050">
            <a:solidFill>
              <a:srgbClr val="5B6B8C"/>
            </a:solidFill>
            <a:prstDash val="solid"/>
          </a:ln>
        </p:spPr>
      </p:sp>
      <p:sp>
        <p:nvSpPr>
          <p:cNvPr id="31" name="Shape 28"/>
          <p:cNvSpPr/>
          <p:nvPr/>
        </p:nvSpPr>
        <p:spPr>
          <a:xfrm>
            <a:off x="3200400" y="1371600"/>
            <a:ext cx="2834640" cy="1325880"/>
          </a:xfrm>
          <a:prstGeom prst="roundRect">
            <a:avLst>
              <a:gd name="adj" fmla="val 5517"/>
            </a:avLst>
          </a:prstGeom>
          <a:solidFill>
            <a:srgbClr val="EAF0FA"/>
          </a:solidFill>
          <a:ln/>
        </p:spPr>
      </p:sp>
      <p:sp>
        <p:nvSpPr>
          <p:cNvPr id="32" name="Text 29"/>
          <p:cNvSpPr txBox="1"/>
          <p:nvPr/>
        </p:nvSpPr>
        <p:spPr>
          <a:xfrm>
            <a:off x="3246120" y="144475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1787</a:t>
            </a:r>
            <a:endParaRPr lang="en-US" sz="2400" dirty="0"/>
          </a:p>
        </p:txBody>
      </p:sp>
      <p:sp>
        <p:nvSpPr>
          <p:cNvPr id="33" name="Text 30"/>
          <p:cNvSpPr txBox="1"/>
          <p:nvPr/>
        </p:nvSpPr>
        <p:spPr>
          <a:xfrm>
            <a:off x="3246120" y="192024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Steuerplan scheitert</a:t>
            </a:r>
            <a:endParaRPr lang="en-US" sz="2400" dirty="0"/>
          </a:p>
        </p:txBody>
      </p:sp>
      <p:sp>
        <p:nvSpPr>
          <p:cNvPr id="34" name="Shape 31"/>
          <p:cNvSpPr/>
          <p:nvPr/>
        </p:nvSpPr>
        <p:spPr>
          <a:xfrm>
            <a:off x="5925312" y="3291840"/>
            <a:ext cx="310896" cy="310896"/>
          </a:xfrm>
          <a:prstGeom prst="ellipse">
            <a:avLst/>
          </a:prstGeom>
          <a:solidFill>
            <a:srgbClr val="1E2761"/>
          </a:solidFill>
          <a:ln w="25400">
            <a:solidFill>
              <a:srgbClr val="FFFFFF"/>
            </a:solidFill>
            <a:prstDash val="solid"/>
          </a:ln>
        </p:spPr>
      </p:sp>
      <p:sp>
        <p:nvSpPr>
          <p:cNvPr id="35" name="Shape 32"/>
          <p:cNvSpPr/>
          <p:nvPr/>
        </p:nvSpPr>
        <p:spPr>
          <a:xfrm>
            <a:off x="6080760" y="3611880"/>
            <a:ext cx="0" cy="548640"/>
          </a:xfrm>
          <a:prstGeom prst="line">
            <a:avLst/>
          </a:prstGeom>
          <a:noFill/>
          <a:ln w="19050">
            <a:solidFill>
              <a:srgbClr val="5B6B8C"/>
            </a:solidFill>
            <a:prstDash val="solid"/>
          </a:ln>
        </p:spPr>
      </p:sp>
      <p:sp>
        <p:nvSpPr>
          <p:cNvPr id="36" name="Shape 33"/>
          <p:cNvSpPr/>
          <p:nvPr/>
        </p:nvSpPr>
        <p:spPr>
          <a:xfrm>
            <a:off x="4663440" y="4160520"/>
            <a:ext cx="2834640" cy="1325880"/>
          </a:xfrm>
          <a:prstGeom prst="roundRect">
            <a:avLst>
              <a:gd name="adj" fmla="val 5517"/>
            </a:avLst>
          </a:prstGeom>
          <a:solidFill>
            <a:srgbClr val="F4F7FD"/>
          </a:solidFill>
          <a:ln/>
        </p:spPr>
      </p:sp>
      <p:sp>
        <p:nvSpPr>
          <p:cNvPr id="37" name="Text 34"/>
          <p:cNvSpPr txBox="1"/>
          <p:nvPr/>
        </p:nvSpPr>
        <p:spPr>
          <a:xfrm>
            <a:off x="4709160" y="423367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1788</a:t>
            </a:r>
            <a:endParaRPr lang="en-US" sz="2400" dirty="0"/>
          </a:p>
        </p:txBody>
      </p:sp>
      <p:sp>
        <p:nvSpPr>
          <p:cNvPr id="38" name="Text 35"/>
          <p:cNvSpPr txBox="1"/>
          <p:nvPr/>
        </p:nvSpPr>
        <p:spPr>
          <a:xfrm>
            <a:off x="4709160" y="470916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Missernte, Brotpreis</a:t>
            </a:r>
            <a:endParaRPr lang="en-US" sz="2400" dirty="0"/>
          </a:p>
        </p:txBody>
      </p:sp>
      <p:sp>
        <p:nvSpPr>
          <p:cNvPr id="39" name="Shape 36"/>
          <p:cNvSpPr/>
          <p:nvPr/>
        </p:nvSpPr>
        <p:spPr>
          <a:xfrm>
            <a:off x="7388352" y="3291840"/>
            <a:ext cx="310896" cy="310896"/>
          </a:xfrm>
          <a:prstGeom prst="ellipse">
            <a:avLst/>
          </a:prstGeom>
          <a:solidFill>
            <a:srgbClr val="1E2761"/>
          </a:solidFill>
          <a:ln w="25400">
            <a:solidFill>
              <a:srgbClr val="FFFFFF"/>
            </a:solidFill>
            <a:prstDash val="solid"/>
          </a:ln>
        </p:spPr>
      </p:sp>
      <p:sp>
        <p:nvSpPr>
          <p:cNvPr id="40" name="Shape 37"/>
          <p:cNvSpPr/>
          <p:nvPr/>
        </p:nvSpPr>
        <p:spPr>
          <a:xfrm>
            <a:off x="7543800" y="2743200"/>
            <a:ext cx="0" cy="548640"/>
          </a:xfrm>
          <a:prstGeom prst="line">
            <a:avLst/>
          </a:prstGeom>
          <a:noFill/>
          <a:ln w="19050">
            <a:solidFill>
              <a:srgbClr val="5B6B8C"/>
            </a:solidFill>
            <a:prstDash val="solid"/>
          </a:ln>
        </p:spPr>
      </p:sp>
      <p:sp>
        <p:nvSpPr>
          <p:cNvPr id="41" name="Shape 38"/>
          <p:cNvSpPr/>
          <p:nvPr/>
        </p:nvSpPr>
        <p:spPr>
          <a:xfrm>
            <a:off x="6126480" y="1371600"/>
            <a:ext cx="2834640" cy="1325880"/>
          </a:xfrm>
          <a:prstGeom prst="roundRect">
            <a:avLst>
              <a:gd name="adj" fmla="val 5517"/>
            </a:avLst>
          </a:prstGeom>
          <a:solidFill>
            <a:srgbClr val="EAF0FA"/>
          </a:solidFill>
          <a:ln/>
        </p:spPr>
      </p:sp>
      <p:sp>
        <p:nvSpPr>
          <p:cNvPr id="42" name="Text 39"/>
          <p:cNvSpPr txBox="1"/>
          <p:nvPr/>
        </p:nvSpPr>
        <p:spPr>
          <a:xfrm>
            <a:off x="6172200" y="144475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August 1788</a:t>
            </a:r>
            <a:endParaRPr lang="en-US" sz="2400" dirty="0"/>
          </a:p>
        </p:txBody>
      </p:sp>
      <p:sp>
        <p:nvSpPr>
          <p:cNvPr id="43" name="Text 40"/>
          <p:cNvSpPr txBox="1"/>
          <p:nvPr/>
        </p:nvSpPr>
        <p:spPr>
          <a:xfrm>
            <a:off x="6172200" y="192024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König kündigt an</a:t>
            </a:r>
            <a:endParaRPr lang="en-US" sz="2400" dirty="0"/>
          </a:p>
        </p:txBody>
      </p:sp>
      <p:sp>
        <p:nvSpPr>
          <p:cNvPr id="44" name="Shape 41"/>
          <p:cNvSpPr/>
          <p:nvPr/>
        </p:nvSpPr>
        <p:spPr>
          <a:xfrm>
            <a:off x="8851392" y="3291840"/>
            <a:ext cx="310896" cy="310896"/>
          </a:xfrm>
          <a:prstGeom prst="ellipse">
            <a:avLst/>
          </a:prstGeom>
          <a:solidFill>
            <a:srgbClr val="1E2761"/>
          </a:solidFill>
          <a:ln w="25400">
            <a:solidFill>
              <a:srgbClr val="FFFFFF"/>
            </a:solidFill>
            <a:prstDash val="solid"/>
          </a:ln>
        </p:spPr>
      </p:sp>
      <p:sp>
        <p:nvSpPr>
          <p:cNvPr id="45" name="Shape 42"/>
          <p:cNvSpPr/>
          <p:nvPr/>
        </p:nvSpPr>
        <p:spPr>
          <a:xfrm>
            <a:off x="9006840" y="3611880"/>
            <a:ext cx="0" cy="548640"/>
          </a:xfrm>
          <a:prstGeom prst="line">
            <a:avLst/>
          </a:prstGeom>
          <a:noFill/>
          <a:ln w="19050">
            <a:solidFill>
              <a:srgbClr val="5B6B8C"/>
            </a:solidFill>
            <a:prstDash val="solid"/>
          </a:ln>
        </p:spPr>
      </p:sp>
      <p:sp>
        <p:nvSpPr>
          <p:cNvPr id="46" name="Shape 43"/>
          <p:cNvSpPr/>
          <p:nvPr/>
        </p:nvSpPr>
        <p:spPr>
          <a:xfrm>
            <a:off x="7589520" y="4160520"/>
            <a:ext cx="2834640" cy="1325880"/>
          </a:xfrm>
          <a:prstGeom prst="roundRect">
            <a:avLst>
              <a:gd name="adj" fmla="val 5517"/>
            </a:avLst>
          </a:prstGeom>
          <a:solidFill>
            <a:srgbClr val="F4F7FD"/>
          </a:solidFill>
          <a:ln/>
        </p:spPr>
      </p:sp>
      <p:sp>
        <p:nvSpPr>
          <p:cNvPr id="47" name="Text 44"/>
          <p:cNvSpPr txBox="1"/>
          <p:nvPr/>
        </p:nvSpPr>
        <p:spPr>
          <a:xfrm>
            <a:off x="7635240" y="423367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Frühjahr 1789</a:t>
            </a:r>
            <a:endParaRPr lang="en-US" sz="2400" dirty="0"/>
          </a:p>
        </p:txBody>
      </p:sp>
      <p:sp>
        <p:nvSpPr>
          <p:cNvPr id="48" name="Text 45"/>
          <p:cNvSpPr txBox="1"/>
          <p:nvPr/>
        </p:nvSpPr>
        <p:spPr>
          <a:xfrm>
            <a:off x="7635240" y="470916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Wahlen, Beschwerdehefte</a:t>
            </a:r>
            <a:endParaRPr lang="en-US" sz="2400" dirty="0"/>
          </a:p>
        </p:txBody>
      </p:sp>
      <p:sp>
        <p:nvSpPr>
          <p:cNvPr id="49" name="Shape 46"/>
          <p:cNvSpPr/>
          <p:nvPr/>
        </p:nvSpPr>
        <p:spPr>
          <a:xfrm>
            <a:off x="10314432" y="3291840"/>
            <a:ext cx="310896" cy="310896"/>
          </a:xfrm>
          <a:prstGeom prst="ellipse">
            <a:avLst/>
          </a:prstGeom>
          <a:solidFill>
            <a:srgbClr val="D9534F"/>
          </a:solidFill>
          <a:ln w="25400">
            <a:solidFill>
              <a:srgbClr val="FFFFFF"/>
            </a:solidFill>
            <a:prstDash val="solid"/>
          </a:ln>
        </p:spPr>
      </p:sp>
      <p:sp>
        <p:nvSpPr>
          <p:cNvPr id="50" name="Shape 47"/>
          <p:cNvSpPr/>
          <p:nvPr/>
        </p:nvSpPr>
        <p:spPr>
          <a:xfrm>
            <a:off x="10469880" y="2743200"/>
            <a:ext cx="0" cy="548640"/>
          </a:xfrm>
          <a:prstGeom prst="line">
            <a:avLst/>
          </a:prstGeom>
          <a:noFill/>
          <a:ln w="19050">
            <a:solidFill>
              <a:srgbClr val="5B6B8C"/>
            </a:solidFill>
            <a:prstDash val="solid"/>
          </a:ln>
        </p:spPr>
      </p:sp>
      <p:sp>
        <p:nvSpPr>
          <p:cNvPr id="51" name="Shape 48"/>
          <p:cNvSpPr/>
          <p:nvPr/>
        </p:nvSpPr>
        <p:spPr>
          <a:xfrm>
            <a:off x="9052560" y="1371600"/>
            <a:ext cx="2834640" cy="1325880"/>
          </a:xfrm>
          <a:prstGeom prst="roundRect">
            <a:avLst>
              <a:gd name="adj" fmla="val 5517"/>
            </a:avLst>
          </a:prstGeom>
          <a:solidFill>
            <a:srgbClr val="EAF0FA"/>
          </a:solidFill>
          <a:ln/>
        </p:spPr>
      </p:sp>
      <p:sp>
        <p:nvSpPr>
          <p:cNvPr id="52" name="Text 49"/>
          <p:cNvSpPr txBox="1"/>
          <p:nvPr/>
        </p:nvSpPr>
        <p:spPr>
          <a:xfrm>
            <a:off x="9098280" y="1444752"/>
            <a:ext cx="2743200" cy="457200"/>
          </a:xfrm>
          <a:prstGeom prst="rect">
            <a:avLst/>
          </a:prstGeom>
          <a:noFill/>
          <a:ln/>
        </p:spPr>
        <p:txBody>
          <a:bodyPr wrap="square" lIns="0" tIns="0" rIns="0" bIns="0" rtlCol="0" anchor="t"/>
          <a:lstStyle/>
          <a:p>
            <a:pPr algn="ctr" indent="0" marL="0">
              <a:buNone/>
            </a:pPr>
            <a:r>
              <a:rPr lang="en-US" sz="2400" b="1" dirty="0">
                <a:solidFill>
                  <a:srgbClr val="D9534F"/>
                </a:solidFill>
                <a:latin typeface="Calibri" pitchFamily="34" charset="0"/>
                <a:ea typeface="Calibri" pitchFamily="34" charset="-122"/>
                <a:cs typeface="Calibri" pitchFamily="34" charset="-120"/>
              </a:rPr>
              <a:t>5. Mai 1789</a:t>
            </a:r>
            <a:endParaRPr lang="en-US" sz="2400" dirty="0"/>
          </a:p>
        </p:txBody>
      </p:sp>
      <p:sp>
        <p:nvSpPr>
          <p:cNvPr id="53" name="Text 50"/>
          <p:cNvSpPr txBox="1"/>
          <p:nvPr/>
        </p:nvSpPr>
        <p:spPr>
          <a:xfrm>
            <a:off x="9098280" y="1920240"/>
            <a:ext cx="2743200" cy="777240"/>
          </a:xfrm>
          <a:prstGeom prst="rect">
            <a:avLst/>
          </a:prstGeom>
          <a:noFill/>
          <a:ln/>
        </p:spPr>
        <p:txBody>
          <a:bodyPr wrap="square" lIns="0" tIns="0" rIns="0" bIns="0" rtlCol="0" anchor="t"/>
          <a:lstStyle/>
          <a:p>
            <a:pPr algn="ctr" indent="0" marL="0">
              <a:buNone/>
            </a:pPr>
            <a:r>
              <a:rPr lang="en-US" sz="2400" dirty="0">
                <a:solidFill>
                  <a:srgbClr val="1E2761"/>
                </a:solidFill>
                <a:latin typeface="Cambria" pitchFamily="34" charset="0"/>
                <a:ea typeface="Cambria" pitchFamily="34" charset="-122"/>
                <a:cs typeface="Cambria" pitchFamily="34" charset="-120"/>
              </a:rPr>
              <a:t>Eröffnung in Versailles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Wer hat wie viel Gewicht?</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
        <p:nvSpPr>
          <p:cNvPr id="17" name="Shape 14"/>
          <p:cNvSpPr/>
          <p:nvPr/>
        </p:nvSpPr>
        <p:spPr>
          <a:xfrm>
            <a:off x="548640" y="1444752"/>
            <a:ext cx="274320" cy="274320"/>
          </a:xfrm>
          <a:prstGeom prst="rect">
            <a:avLst/>
          </a:prstGeom>
          <a:solidFill>
            <a:srgbClr val="8E6BBE"/>
          </a:solidFill>
          <a:ln/>
        </p:spPr>
      </p:sp>
      <p:sp>
        <p:nvSpPr>
          <p:cNvPr id="18" name="Text 15"/>
          <p:cNvSpPr txBox="1"/>
          <p:nvPr/>
        </p:nvSpPr>
        <p:spPr>
          <a:xfrm>
            <a:off x="914400" y="1371600"/>
            <a:ext cx="7315200" cy="411480"/>
          </a:xfrm>
          <a:prstGeom prst="rect">
            <a:avLst/>
          </a:prstGeom>
          <a:noFill/>
          <a:ln/>
        </p:spPr>
        <p:txBody>
          <a:bodyPr wrap="square" lIns="0" tIns="0" rIns="0" bIns="0" rtlCol="0" anchor="t"/>
          <a:lstStyle/>
          <a:p>
            <a:pPr indent="0" marL="0">
              <a:buNone/>
            </a:pPr>
            <a:r>
              <a:rPr lang="en-US" sz="2400" dirty="0">
                <a:solidFill>
                  <a:srgbClr val="1E2761"/>
                </a:solidFill>
                <a:latin typeface="Calibri" pitchFamily="34" charset="0"/>
                <a:ea typeface="Calibri" pitchFamily="34" charset="-122"/>
                <a:cs typeface="Calibri" pitchFamily="34" charset="-120"/>
              </a:rPr>
              <a:t>Klerus</a:t>
            </a:r>
            <a:endParaRPr lang="en-US" sz="2400" dirty="0"/>
          </a:p>
        </p:txBody>
      </p:sp>
      <p:sp>
        <p:nvSpPr>
          <p:cNvPr id="19" name="Shape 16"/>
          <p:cNvSpPr/>
          <p:nvPr/>
        </p:nvSpPr>
        <p:spPr>
          <a:xfrm>
            <a:off x="2377440" y="1444752"/>
            <a:ext cx="274320" cy="274320"/>
          </a:xfrm>
          <a:prstGeom prst="rect">
            <a:avLst/>
          </a:prstGeom>
          <a:solidFill>
            <a:srgbClr val="E8A33D"/>
          </a:solidFill>
          <a:ln/>
        </p:spPr>
      </p:sp>
      <p:sp>
        <p:nvSpPr>
          <p:cNvPr id="20" name="Text 17"/>
          <p:cNvSpPr txBox="1"/>
          <p:nvPr/>
        </p:nvSpPr>
        <p:spPr>
          <a:xfrm>
            <a:off x="2743200" y="1371600"/>
            <a:ext cx="7315200" cy="411480"/>
          </a:xfrm>
          <a:prstGeom prst="rect">
            <a:avLst/>
          </a:prstGeom>
          <a:noFill/>
          <a:ln/>
        </p:spPr>
        <p:txBody>
          <a:bodyPr wrap="square" lIns="0" tIns="0" rIns="0" bIns="0" rtlCol="0" anchor="t"/>
          <a:lstStyle/>
          <a:p>
            <a:pPr indent="0" marL="0">
              <a:buNone/>
            </a:pPr>
            <a:r>
              <a:rPr lang="en-US" sz="2400" dirty="0">
                <a:solidFill>
                  <a:srgbClr val="1E2761"/>
                </a:solidFill>
                <a:latin typeface="Calibri" pitchFamily="34" charset="0"/>
                <a:ea typeface="Calibri" pitchFamily="34" charset="-122"/>
                <a:cs typeface="Calibri" pitchFamily="34" charset="-120"/>
              </a:rPr>
              <a:t>Adel</a:t>
            </a:r>
            <a:endParaRPr lang="en-US" sz="2400" dirty="0"/>
          </a:p>
        </p:txBody>
      </p:sp>
      <p:sp>
        <p:nvSpPr>
          <p:cNvPr id="21" name="Shape 18"/>
          <p:cNvSpPr/>
          <p:nvPr/>
        </p:nvSpPr>
        <p:spPr>
          <a:xfrm>
            <a:off x="4206240" y="1444752"/>
            <a:ext cx="274320" cy="274320"/>
          </a:xfrm>
          <a:prstGeom prst="rect">
            <a:avLst/>
          </a:prstGeom>
          <a:solidFill>
            <a:srgbClr val="3F7CC4"/>
          </a:solidFill>
          <a:ln/>
        </p:spPr>
      </p:sp>
      <p:sp>
        <p:nvSpPr>
          <p:cNvPr id="22" name="Text 19"/>
          <p:cNvSpPr txBox="1"/>
          <p:nvPr/>
        </p:nvSpPr>
        <p:spPr>
          <a:xfrm>
            <a:off x="4572000" y="1371600"/>
            <a:ext cx="7315200" cy="411480"/>
          </a:xfrm>
          <a:prstGeom prst="rect">
            <a:avLst/>
          </a:prstGeom>
          <a:noFill/>
          <a:ln/>
        </p:spPr>
        <p:txBody>
          <a:bodyPr wrap="square" lIns="0" tIns="0" rIns="0" bIns="0" rtlCol="0" anchor="t"/>
          <a:lstStyle/>
          <a:p>
            <a:pPr indent="0" marL="0">
              <a:buNone/>
            </a:pPr>
            <a:r>
              <a:rPr lang="en-US" sz="2400" dirty="0">
                <a:solidFill>
                  <a:srgbClr val="1E2761"/>
                </a:solidFill>
                <a:latin typeface="Calibri" pitchFamily="34" charset="0"/>
                <a:ea typeface="Calibri" pitchFamily="34" charset="-122"/>
                <a:cs typeface="Calibri" pitchFamily="34" charset="-120"/>
              </a:rPr>
              <a:t>Dritter Stand (Bauern und Bürger)</a:t>
            </a:r>
            <a:endParaRPr lang="en-US" sz="2400" dirty="0"/>
          </a:p>
        </p:txBody>
      </p:sp>
      <p:sp>
        <p:nvSpPr>
          <p:cNvPr id="23" name="Text 20"/>
          <p:cNvSpPr txBox="1"/>
          <p:nvPr/>
        </p:nvSpPr>
        <p:spPr>
          <a:xfrm>
            <a:off x="548640" y="2057400"/>
            <a:ext cx="7315200" cy="41148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Bevölkerung</a:t>
            </a:r>
            <a:endParaRPr lang="en-US" sz="2400" dirty="0"/>
          </a:p>
        </p:txBody>
      </p:sp>
      <p:sp>
        <p:nvSpPr>
          <p:cNvPr id="24" name="Text 21"/>
          <p:cNvSpPr txBox="1"/>
          <p:nvPr/>
        </p:nvSpPr>
        <p:spPr>
          <a:xfrm>
            <a:off x="4572000" y="2057400"/>
            <a:ext cx="7040880" cy="411480"/>
          </a:xfrm>
          <a:prstGeom prst="rect">
            <a:avLst/>
          </a:prstGeom>
          <a:noFill/>
          <a:ln/>
        </p:spPr>
        <p:txBody>
          <a:bodyPr wrap="square" lIns="0" tIns="0" rIns="0" bIns="0" rtlCol="0" anchor="t"/>
          <a:lstStyle/>
          <a:p>
            <a:pPr algn="r" indent="0" marL="0">
              <a:buNone/>
            </a:pPr>
            <a:r>
              <a:rPr lang="en-US" sz="2400" dirty="0">
                <a:solidFill>
                  <a:srgbClr val="5B6B8C"/>
                </a:solidFill>
                <a:latin typeface="Calibri" pitchFamily="34" charset="0"/>
                <a:ea typeface="Calibri" pitchFamily="34" charset="-122"/>
                <a:cs typeface="Calibri" pitchFamily="34" charset="-120"/>
              </a:rPr>
              <a:t>Klerus ca. 1 % · Adel ca. 2 %</a:t>
            </a:r>
            <a:endParaRPr lang="en-US" sz="2400" dirty="0"/>
          </a:p>
        </p:txBody>
      </p:sp>
      <p:sp>
        <p:nvSpPr>
          <p:cNvPr id="25" name="Shape 22"/>
          <p:cNvSpPr/>
          <p:nvPr/>
        </p:nvSpPr>
        <p:spPr>
          <a:xfrm>
            <a:off x="548640" y="2514600"/>
            <a:ext cx="81103" cy="594360"/>
          </a:xfrm>
          <a:prstGeom prst="rect">
            <a:avLst/>
          </a:prstGeom>
          <a:solidFill>
            <a:srgbClr val="8E6BBE"/>
          </a:solidFill>
          <a:ln w="19050">
            <a:solidFill>
              <a:srgbClr val="FFFFFF"/>
            </a:solidFill>
            <a:prstDash val="solid"/>
          </a:ln>
        </p:spPr>
      </p:sp>
      <p:sp>
        <p:nvSpPr>
          <p:cNvPr id="26" name="Shape 23"/>
          <p:cNvSpPr/>
          <p:nvPr/>
        </p:nvSpPr>
        <p:spPr>
          <a:xfrm>
            <a:off x="629743" y="2514600"/>
            <a:ext cx="268861" cy="594360"/>
          </a:xfrm>
          <a:prstGeom prst="rect">
            <a:avLst/>
          </a:prstGeom>
          <a:solidFill>
            <a:srgbClr val="E8A33D"/>
          </a:solidFill>
          <a:ln w="19050">
            <a:solidFill>
              <a:srgbClr val="FFFFFF"/>
            </a:solidFill>
            <a:prstDash val="solid"/>
          </a:ln>
        </p:spPr>
      </p:sp>
      <p:sp>
        <p:nvSpPr>
          <p:cNvPr id="27" name="Shape 24"/>
          <p:cNvSpPr/>
          <p:nvPr/>
        </p:nvSpPr>
        <p:spPr>
          <a:xfrm>
            <a:off x="898604" y="2514600"/>
            <a:ext cx="10759996" cy="594360"/>
          </a:xfrm>
          <a:prstGeom prst="rect">
            <a:avLst/>
          </a:prstGeom>
          <a:solidFill>
            <a:srgbClr val="3F7CC4"/>
          </a:solidFill>
          <a:ln w="19050">
            <a:solidFill>
              <a:srgbClr val="FFFFFF"/>
            </a:solidFill>
            <a:prstDash val="solid"/>
          </a:ln>
        </p:spPr>
      </p:sp>
      <p:sp>
        <p:nvSpPr>
          <p:cNvPr id="28" name="Text 25"/>
          <p:cNvSpPr txBox="1"/>
          <p:nvPr/>
        </p:nvSpPr>
        <p:spPr>
          <a:xfrm>
            <a:off x="898604" y="2514600"/>
            <a:ext cx="10759996"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 97 %</a:t>
            </a:r>
            <a:endParaRPr lang="en-US" sz="2400" dirty="0"/>
          </a:p>
        </p:txBody>
      </p:sp>
      <p:sp>
        <p:nvSpPr>
          <p:cNvPr id="29" name="Text 26"/>
          <p:cNvSpPr txBox="1"/>
          <p:nvPr/>
        </p:nvSpPr>
        <p:spPr>
          <a:xfrm>
            <a:off x="548640" y="3246120"/>
            <a:ext cx="7315200" cy="41148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Abgeordnete</a:t>
            </a:r>
            <a:endParaRPr lang="en-US" sz="2400" dirty="0"/>
          </a:p>
        </p:txBody>
      </p:sp>
      <p:sp>
        <p:nvSpPr>
          <p:cNvPr id="30" name="Shape 27"/>
          <p:cNvSpPr/>
          <p:nvPr/>
        </p:nvSpPr>
        <p:spPr>
          <a:xfrm>
            <a:off x="548640" y="3703320"/>
            <a:ext cx="2826218" cy="594360"/>
          </a:xfrm>
          <a:prstGeom prst="rect">
            <a:avLst/>
          </a:prstGeom>
          <a:solidFill>
            <a:srgbClr val="8E6BBE"/>
          </a:solidFill>
          <a:ln w="19050">
            <a:solidFill>
              <a:srgbClr val="FFFFFF"/>
            </a:solidFill>
            <a:prstDash val="solid"/>
          </a:ln>
        </p:spPr>
      </p:sp>
      <p:sp>
        <p:nvSpPr>
          <p:cNvPr id="31" name="Text 28"/>
          <p:cNvSpPr txBox="1"/>
          <p:nvPr/>
        </p:nvSpPr>
        <p:spPr>
          <a:xfrm>
            <a:off x="548640" y="3703320"/>
            <a:ext cx="2826218"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 290</a:t>
            </a:r>
            <a:endParaRPr lang="en-US" sz="2400" dirty="0"/>
          </a:p>
        </p:txBody>
      </p:sp>
      <p:sp>
        <p:nvSpPr>
          <p:cNvPr id="32" name="Shape 29"/>
          <p:cNvSpPr/>
          <p:nvPr/>
        </p:nvSpPr>
        <p:spPr>
          <a:xfrm>
            <a:off x="3374858" y="3703320"/>
            <a:ext cx="2631306" cy="594360"/>
          </a:xfrm>
          <a:prstGeom prst="rect">
            <a:avLst/>
          </a:prstGeom>
          <a:solidFill>
            <a:srgbClr val="E8A33D"/>
          </a:solidFill>
          <a:ln w="19050">
            <a:solidFill>
              <a:srgbClr val="FFFFFF"/>
            </a:solidFill>
            <a:prstDash val="solid"/>
          </a:ln>
        </p:spPr>
      </p:sp>
      <p:sp>
        <p:nvSpPr>
          <p:cNvPr id="33" name="Text 30"/>
          <p:cNvSpPr txBox="1"/>
          <p:nvPr/>
        </p:nvSpPr>
        <p:spPr>
          <a:xfrm>
            <a:off x="3374858" y="3703320"/>
            <a:ext cx="2631306"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 270</a:t>
            </a:r>
            <a:endParaRPr lang="en-US" sz="2400" dirty="0"/>
          </a:p>
        </p:txBody>
      </p:sp>
      <p:sp>
        <p:nvSpPr>
          <p:cNvPr id="34" name="Shape 31"/>
          <p:cNvSpPr/>
          <p:nvPr/>
        </p:nvSpPr>
        <p:spPr>
          <a:xfrm>
            <a:off x="6006164" y="3703320"/>
            <a:ext cx="5652436" cy="594360"/>
          </a:xfrm>
          <a:prstGeom prst="rect">
            <a:avLst/>
          </a:prstGeom>
          <a:solidFill>
            <a:srgbClr val="3F7CC4"/>
          </a:solidFill>
          <a:ln w="19050">
            <a:solidFill>
              <a:srgbClr val="FFFFFF"/>
            </a:solidFill>
            <a:prstDash val="solid"/>
          </a:ln>
        </p:spPr>
      </p:sp>
      <p:sp>
        <p:nvSpPr>
          <p:cNvPr id="35" name="Text 32"/>
          <p:cNvSpPr txBox="1"/>
          <p:nvPr/>
        </p:nvSpPr>
        <p:spPr>
          <a:xfrm>
            <a:off x="6006164" y="3703320"/>
            <a:ext cx="5652436"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 580</a:t>
            </a:r>
            <a:endParaRPr lang="en-US" sz="2400" dirty="0"/>
          </a:p>
        </p:txBody>
      </p:sp>
      <p:sp>
        <p:nvSpPr>
          <p:cNvPr id="36" name="Text 33"/>
          <p:cNvSpPr txBox="1"/>
          <p:nvPr/>
        </p:nvSpPr>
        <p:spPr>
          <a:xfrm>
            <a:off x="548640" y="4434840"/>
            <a:ext cx="7315200" cy="41148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Stimmen nach Ständen</a:t>
            </a:r>
            <a:endParaRPr lang="en-US" sz="2400" dirty="0"/>
          </a:p>
        </p:txBody>
      </p:sp>
      <p:sp>
        <p:nvSpPr>
          <p:cNvPr id="37" name="Shape 34"/>
          <p:cNvSpPr/>
          <p:nvPr/>
        </p:nvSpPr>
        <p:spPr>
          <a:xfrm>
            <a:off x="548640" y="4892040"/>
            <a:ext cx="3703320" cy="594360"/>
          </a:xfrm>
          <a:prstGeom prst="rect">
            <a:avLst/>
          </a:prstGeom>
          <a:solidFill>
            <a:srgbClr val="8E6BBE"/>
          </a:solidFill>
          <a:ln w="19050">
            <a:solidFill>
              <a:srgbClr val="FFFFFF"/>
            </a:solidFill>
            <a:prstDash val="solid"/>
          </a:ln>
        </p:spPr>
      </p:sp>
      <p:sp>
        <p:nvSpPr>
          <p:cNvPr id="38" name="Text 35"/>
          <p:cNvSpPr txBox="1"/>
          <p:nvPr/>
        </p:nvSpPr>
        <p:spPr>
          <a:xfrm>
            <a:off x="548640" y="4892040"/>
            <a:ext cx="370332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39" name="Shape 36"/>
          <p:cNvSpPr/>
          <p:nvPr/>
        </p:nvSpPr>
        <p:spPr>
          <a:xfrm>
            <a:off x="4251960" y="4892040"/>
            <a:ext cx="3703320" cy="594360"/>
          </a:xfrm>
          <a:prstGeom prst="rect">
            <a:avLst/>
          </a:prstGeom>
          <a:solidFill>
            <a:srgbClr val="E8A33D"/>
          </a:solidFill>
          <a:ln w="19050">
            <a:solidFill>
              <a:srgbClr val="FFFFFF"/>
            </a:solidFill>
            <a:prstDash val="solid"/>
          </a:ln>
        </p:spPr>
      </p:sp>
      <p:sp>
        <p:nvSpPr>
          <p:cNvPr id="40" name="Text 37"/>
          <p:cNvSpPr txBox="1"/>
          <p:nvPr/>
        </p:nvSpPr>
        <p:spPr>
          <a:xfrm>
            <a:off x="4251960" y="4892040"/>
            <a:ext cx="370332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41" name="Shape 38"/>
          <p:cNvSpPr/>
          <p:nvPr/>
        </p:nvSpPr>
        <p:spPr>
          <a:xfrm>
            <a:off x="7955280" y="4892040"/>
            <a:ext cx="3703320" cy="594360"/>
          </a:xfrm>
          <a:prstGeom prst="rect">
            <a:avLst/>
          </a:prstGeom>
          <a:solidFill>
            <a:srgbClr val="3F7CC4"/>
          </a:solidFill>
          <a:ln w="19050">
            <a:solidFill>
              <a:srgbClr val="FFFFFF"/>
            </a:solidFill>
            <a:prstDash val="solid"/>
          </a:ln>
        </p:spPr>
      </p:sp>
      <p:sp>
        <p:nvSpPr>
          <p:cNvPr id="42" name="Text 39"/>
          <p:cNvSpPr txBox="1"/>
          <p:nvPr/>
        </p:nvSpPr>
        <p:spPr>
          <a:xfrm>
            <a:off x="7955280" y="4892040"/>
            <a:ext cx="370332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43" name="Shape 40"/>
          <p:cNvSpPr/>
          <p:nvPr/>
        </p:nvSpPr>
        <p:spPr>
          <a:xfrm>
            <a:off x="548640" y="5669280"/>
            <a:ext cx="11109960" cy="777240"/>
          </a:xfrm>
          <a:prstGeom prst="roundRect">
            <a:avLst>
              <a:gd name="adj" fmla="val 9412"/>
            </a:avLst>
          </a:prstGeom>
          <a:solidFill>
            <a:srgbClr val="1E2761"/>
          </a:solidFill>
          <a:ln/>
        </p:spPr>
      </p:sp>
      <p:sp>
        <p:nvSpPr>
          <p:cNvPr id="44" name="Text 41"/>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Jetzt: </a:t>
            </a:r>
            <a:pPr indent="0" marL="0">
              <a:buNone/>
            </a:pPr>
            <a:r>
              <a:rPr lang="en-US" sz="2400" dirty="0">
                <a:solidFill>
                  <a:srgbClr val="FFFFFF"/>
                </a:solidFill>
                <a:latin typeface="Calibri" pitchFamily="34" charset="0"/>
                <a:ea typeface="Calibri" pitchFamily="34" charset="-122"/>
                <a:cs typeface="Calibri" pitchFamily="34" charset="-120"/>
              </a:rPr>
              <a:t>Meldet euch. Was fällt euch auf?</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GEDANKENSPIEL 1789</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Was wäre, wenn man abgestimmt hätte?</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
        <p:nvSpPr>
          <p:cNvPr id="17" name="Shape 14"/>
          <p:cNvSpPr/>
          <p:nvPr/>
        </p:nvSpPr>
        <p:spPr>
          <a:xfrm>
            <a:off x="548640" y="1508760"/>
            <a:ext cx="11109960" cy="1737360"/>
          </a:xfrm>
          <a:prstGeom prst="roundRect">
            <a:avLst>
              <a:gd name="adj" fmla="val 4211"/>
            </a:avLst>
          </a:prstGeom>
          <a:solidFill>
            <a:srgbClr val="FFFFFF"/>
          </a:solidFill>
          <a:ln w="38100">
            <a:solidFill>
              <a:srgbClr val="D9534F"/>
            </a:solidFill>
            <a:prstDash val="solid"/>
          </a:ln>
        </p:spPr>
      </p:sp>
      <p:sp>
        <p:nvSpPr>
          <p:cNvPr id="18" name="Text 15"/>
          <p:cNvSpPr txBox="1"/>
          <p:nvPr/>
        </p:nvSpPr>
        <p:spPr>
          <a:xfrm>
            <a:off x="868680" y="1554480"/>
            <a:ext cx="10469880" cy="164592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Auch Adel und Klerus zahlen künftig Steuern.</a:t>
            </a:r>
            <a:endParaRPr lang="en-US" sz="3400" dirty="0"/>
          </a:p>
        </p:txBody>
      </p:sp>
      <p:sp>
        <p:nvSpPr>
          <p:cNvPr id="19" name="Shape 16"/>
          <p:cNvSpPr/>
          <p:nvPr/>
        </p:nvSpPr>
        <p:spPr>
          <a:xfrm>
            <a:off x="548640" y="3566160"/>
            <a:ext cx="3611880" cy="1371600"/>
          </a:xfrm>
          <a:prstGeom prst="roundRect">
            <a:avLst>
              <a:gd name="adj" fmla="val 5333"/>
            </a:avLst>
          </a:prstGeom>
          <a:solidFill>
            <a:srgbClr val="F4F7FD"/>
          </a:solidFill>
          <a:ln/>
        </p:spPr>
      </p:sp>
      <p:sp>
        <p:nvSpPr>
          <p:cNvPr id="20" name="Shape 17"/>
          <p:cNvSpPr/>
          <p:nvPr/>
        </p:nvSpPr>
        <p:spPr>
          <a:xfrm>
            <a:off x="548640" y="3566160"/>
            <a:ext cx="128016" cy="1371600"/>
          </a:xfrm>
          <a:prstGeom prst="rect">
            <a:avLst/>
          </a:prstGeom>
          <a:solidFill>
            <a:srgbClr val="8E6BBE"/>
          </a:solidFill>
          <a:ln/>
        </p:spPr>
      </p:sp>
      <p:sp>
        <p:nvSpPr>
          <p:cNvPr id="21" name="Text 18"/>
          <p:cNvSpPr txBox="1"/>
          <p:nvPr/>
        </p:nvSpPr>
        <p:spPr>
          <a:xfrm>
            <a:off x="822960" y="3566160"/>
            <a:ext cx="2011680" cy="13716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Klerus</a:t>
            </a:r>
            <a:endParaRPr lang="en-US" sz="2400" dirty="0"/>
          </a:p>
        </p:txBody>
      </p:sp>
      <p:sp>
        <p:nvSpPr>
          <p:cNvPr id="22" name="Text 19"/>
          <p:cNvSpPr txBox="1"/>
          <p:nvPr/>
        </p:nvSpPr>
        <p:spPr>
          <a:xfrm>
            <a:off x="2651760" y="3566160"/>
            <a:ext cx="1371600" cy="1371600"/>
          </a:xfrm>
          <a:prstGeom prst="rect">
            <a:avLst/>
          </a:prstGeom>
          <a:noFill/>
          <a:ln/>
        </p:spPr>
        <p:txBody>
          <a:bodyPr wrap="square" lIns="0" tIns="0" rIns="0" bIns="0" rtlCol="0" anchor="ctr"/>
          <a:lstStyle/>
          <a:p>
            <a:pPr algn="ctr" indent="0" marL="0">
              <a:buNone/>
            </a:pPr>
            <a:r>
              <a:rPr lang="en-US" sz="3000" b="1" dirty="0">
                <a:solidFill>
                  <a:srgbClr val="D9534F"/>
                </a:solidFill>
                <a:latin typeface="Calibri" pitchFamily="34" charset="0"/>
                <a:ea typeface="Calibri" pitchFamily="34" charset="-122"/>
                <a:cs typeface="Calibri" pitchFamily="34" charset="-120"/>
              </a:rPr>
              <a:t>Nein</a:t>
            </a:r>
            <a:endParaRPr lang="en-US" sz="3000" dirty="0"/>
          </a:p>
        </p:txBody>
      </p:sp>
      <p:sp>
        <p:nvSpPr>
          <p:cNvPr id="23" name="Shape 20"/>
          <p:cNvSpPr/>
          <p:nvPr/>
        </p:nvSpPr>
        <p:spPr>
          <a:xfrm>
            <a:off x="4297680" y="3566160"/>
            <a:ext cx="3611880" cy="1371600"/>
          </a:xfrm>
          <a:prstGeom prst="roundRect">
            <a:avLst>
              <a:gd name="adj" fmla="val 5333"/>
            </a:avLst>
          </a:prstGeom>
          <a:solidFill>
            <a:srgbClr val="F4F7FD"/>
          </a:solidFill>
          <a:ln/>
        </p:spPr>
      </p:sp>
      <p:sp>
        <p:nvSpPr>
          <p:cNvPr id="24" name="Shape 21"/>
          <p:cNvSpPr/>
          <p:nvPr/>
        </p:nvSpPr>
        <p:spPr>
          <a:xfrm>
            <a:off x="4297680" y="3566160"/>
            <a:ext cx="128016" cy="1371600"/>
          </a:xfrm>
          <a:prstGeom prst="rect">
            <a:avLst/>
          </a:prstGeom>
          <a:solidFill>
            <a:srgbClr val="E8A33D"/>
          </a:solidFill>
          <a:ln/>
        </p:spPr>
      </p:sp>
      <p:sp>
        <p:nvSpPr>
          <p:cNvPr id="25" name="Text 22"/>
          <p:cNvSpPr txBox="1"/>
          <p:nvPr/>
        </p:nvSpPr>
        <p:spPr>
          <a:xfrm>
            <a:off x="4572000" y="3566160"/>
            <a:ext cx="2011680" cy="13716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Adel</a:t>
            </a:r>
            <a:endParaRPr lang="en-US" sz="2400" dirty="0"/>
          </a:p>
        </p:txBody>
      </p:sp>
      <p:sp>
        <p:nvSpPr>
          <p:cNvPr id="26" name="Text 23"/>
          <p:cNvSpPr txBox="1"/>
          <p:nvPr/>
        </p:nvSpPr>
        <p:spPr>
          <a:xfrm>
            <a:off x="6400800" y="3566160"/>
            <a:ext cx="1371600" cy="1371600"/>
          </a:xfrm>
          <a:prstGeom prst="rect">
            <a:avLst/>
          </a:prstGeom>
          <a:noFill/>
          <a:ln/>
        </p:spPr>
        <p:txBody>
          <a:bodyPr wrap="square" lIns="0" tIns="0" rIns="0" bIns="0" rtlCol="0" anchor="ctr"/>
          <a:lstStyle/>
          <a:p>
            <a:pPr algn="ctr" indent="0" marL="0">
              <a:buNone/>
            </a:pPr>
            <a:r>
              <a:rPr lang="en-US" sz="3000" b="1" dirty="0">
                <a:solidFill>
                  <a:srgbClr val="D9534F"/>
                </a:solidFill>
                <a:latin typeface="Calibri" pitchFamily="34" charset="0"/>
                <a:ea typeface="Calibri" pitchFamily="34" charset="-122"/>
                <a:cs typeface="Calibri" pitchFamily="34" charset="-120"/>
              </a:rPr>
              <a:t>Nein</a:t>
            </a:r>
            <a:endParaRPr lang="en-US" sz="3000" dirty="0"/>
          </a:p>
        </p:txBody>
      </p:sp>
      <p:sp>
        <p:nvSpPr>
          <p:cNvPr id="27" name="Shape 24"/>
          <p:cNvSpPr/>
          <p:nvPr/>
        </p:nvSpPr>
        <p:spPr>
          <a:xfrm>
            <a:off x="8046720" y="3566160"/>
            <a:ext cx="3611880" cy="1371600"/>
          </a:xfrm>
          <a:prstGeom prst="roundRect">
            <a:avLst>
              <a:gd name="adj" fmla="val 5333"/>
            </a:avLst>
          </a:prstGeom>
          <a:solidFill>
            <a:srgbClr val="F4F7FD"/>
          </a:solidFill>
          <a:ln/>
        </p:spPr>
      </p:sp>
      <p:sp>
        <p:nvSpPr>
          <p:cNvPr id="28" name="Shape 25"/>
          <p:cNvSpPr/>
          <p:nvPr/>
        </p:nvSpPr>
        <p:spPr>
          <a:xfrm>
            <a:off x="8046720" y="3566160"/>
            <a:ext cx="128016" cy="1371600"/>
          </a:xfrm>
          <a:prstGeom prst="rect">
            <a:avLst/>
          </a:prstGeom>
          <a:solidFill>
            <a:srgbClr val="3F7CC4"/>
          </a:solidFill>
          <a:ln/>
        </p:spPr>
      </p:sp>
      <p:sp>
        <p:nvSpPr>
          <p:cNvPr id="29" name="Text 26"/>
          <p:cNvSpPr txBox="1"/>
          <p:nvPr/>
        </p:nvSpPr>
        <p:spPr>
          <a:xfrm>
            <a:off x="8321040" y="3566160"/>
            <a:ext cx="2011680" cy="13716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Dritter Stand</a:t>
            </a:r>
            <a:endParaRPr lang="en-US" sz="2400" dirty="0"/>
          </a:p>
        </p:txBody>
      </p:sp>
      <p:sp>
        <p:nvSpPr>
          <p:cNvPr id="30" name="Text 27"/>
          <p:cNvSpPr txBox="1"/>
          <p:nvPr/>
        </p:nvSpPr>
        <p:spPr>
          <a:xfrm>
            <a:off x="10149840" y="3566160"/>
            <a:ext cx="1371600" cy="1371600"/>
          </a:xfrm>
          <a:prstGeom prst="rect">
            <a:avLst/>
          </a:prstGeom>
          <a:noFill/>
          <a:ln/>
        </p:spPr>
        <p:txBody>
          <a:bodyPr wrap="square" lIns="0" tIns="0" rIns="0" bIns="0" rtlCol="0" anchor="ctr"/>
          <a:lstStyle/>
          <a:p>
            <a:pPr algn="ctr" indent="0" marL="0">
              <a:buNone/>
            </a:pPr>
            <a:r>
              <a:rPr lang="en-US" sz="3000" b="1" dirty="0">
                <a:solidFill>
                  <a:srgbClr val="2E9E6B"/>
                </a:solidFill>
                <a:latin typeface="Calibri" pitchFamily="34" charset="0"/>
                <a:ea typeface="Calibri" pitchFamily="34" charset="-122"/>
                <a:cs typeface="Calibri" pitchFamily="34" charset="-120"/>
              </a:rPr>
              <a:t>Ja</a:t>
            </a:r>
            <a:endParaRPr lang="en-US" sz="3000" dirty="0"/>
          </a:p>
        </p:txBody>
      </p:sp>
      <p:sp>
        <p:nvSpPr>
          <p:cNvPr id="31" name="Shape 28"/>
          <p:cNvSpPr/>
          <p:nvPr/>
        </p:nvSpPr>
        <p:spPr>
          <a:xfrm>
            <a:off x="548640" y="5669280"/>
            <a:ext cx="11109960" cy="777240"/>
          </a:xfrm>
          <a:prstGeom prst="roundRect">
            <a:avLst>
              <a:gd name="adj" fmla="val 9412"/>
            </a:avLst>
          </a:prstGeom>
          <a:solidFill>
            <a:srgbClr val="1E2761"/>
          </a:solidFill>
          <a:ln/>
        </p:spPr>
      </p:sp>
      <p:sp>
        <p:nvSpPr>
          <p:cNvPr id="32" name="Text 29"/>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Frage: </a:t>
            </a:r>
            <a:pPr indent="0" marL="0">
              <a:buNone/>
            </a:pPr>
            <a:r>
              <a:rPr lang="en-US" sz="2400" dirty="0">
                <a:solidFill>
                  <a:srgbClr val="FFFFFF"/>
                </a:solidFill>
                <a:latin typeface="Calibri" pitchFamily="34" charset="0"/>
                <a:ea typeface="Calibri" pitchFamily="34" charset="-122"/>
                <a:cs typeface="Calibri" pitchFamily="34" charset="-120"/>
              </a:rPr>
              <a:t>Wer hätte gewonnen: nach Ständen? Nach Köpfen?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ERGEBNIS DES GEDANKENSPIELS</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Zwei Regeln, zwei mögliche Ergebnisse</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
        <p:nvSpPr>
          <p:cNvPr id="17" name="Text 14"/>
          <p:cNvSpPr txBox="1"/>
          <p:nvPr/>
        </p:nvSpPr>
        <p:spPr>
          <a:xfrm>
            <a:off x="548640" y="1463040"/>
            <a:ext cx="5303520" cy="457200"/>
          </a:xfrm>
          <a:prstGeom prst="rect">
            <a:avLst/>
          </a:prstGeom>
          <a:noFill/>
          <a:ln/>
        </p:spPr>
        <p:txBody>
          <a:bodyPr wrap="square" lIns="0" tIns="0" rIns="0" bIns="0"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Nach Ständen</a:t>
            </a:r>
            <a:endParaRPr lang="en-US" sz="2600" dirty="0"/>
          </a:p>
        </p:txBody>
      </p:sp>
      <p:sp>
        <p:nvSpPr>
          <p:cNvPr id="18" name="Shape 15"/>
          <p:cNvSpPr/>
          <p:nvPr/>
        </p:nvSpPr>
        <p:spPr>
          <a:xfrm>
            <a:off x="548640" y="2011680"/>
            <a:ext cx="5303520" cy="685800"/>
          </a:xfrm>
          <a:prstGeom prst="roundRect">
            <a:avLst>
              <a:gd name="adj" fmla="val 10667"/>
            </a:avLst>
          </a:prstGeom>
          <a:solidFill>
            <a:srgbClr val="F4F7FD"/>
          </a:solidFill>
          <a:ln/>
        </p:spPr>
      </p:sp>
      <p:sp>
        <p:nvSpPr>
          <p:cNvPr id="19" name="Shape 16"/>
          <p:cNvSpPr/>
          <p:nvPr/>
        </p:nvSpPr>
        <p:spPr>
          <a:xfrm>
            <a:off x="548640" y="2011680"/>
            <a:ext cx="128016" cy="685800"/>
          </a:xfrm>
          <a:prstGeom prst="rect">
            <a:avLst/>
          </a:prstGeom>
          <a:solidFill>
            <a:srgbClr val="8E6BBE"/>
          </a:solidFill>
          <a:ln/>
        </p:spPr>
      </p:sp>
      <p:sp>
        <p:nvSpPr>
          <p:cNvPr id="20" name="Text 17"/>
          <p:cNvSpPr txBox="1"/>
          <p:nvPr/>
        </p:nvSpPr>
        <p:spPr>
          <a:xfrm>
            <a:off x="822960" y="2011680"/>
            <a:ext cx="3017520" cy="685800"/>
          </a:xfrm>
          <a:prstGeom prst="rect">
            <a:avLst/>
          </a:prstGeom>
          <a:noFill/>
          <a:ln/>
        </p:spPr>
        <p:txBody>
          <a:bodyPr wrap="square" lIns="0" tIns="0" rIns="0" bIns="0" rtlCol="0" anchor="ctr"/>
          <a:lstStyle/>
          <a:p>
            <a:pPr indent="0" marL="0">
              <a:buNone/>
            </a:pPr>
            <a:r>
              <a:rPr lang="en-US" sz="2400" dirty="0">
                <a:solidFill>
                  <a:srgbClr val="1E2761"/>
                </a:solidFill>
                <a:latin typeface="Calibri" pitchFamily="34" charset="0"/>
                <a:ea typeface="Calibri" pitchFamily="34" charset="-122"/>
                <a:cs typeface="Calibri" pitchFamily="34" charset="-120"/>
              </a:rPr>
              <a:t>Klerus</a:t>
            </a:r>
            <a:endParaRPr lang="en-US" sz="2400" dirty="0"/>
          </a:p>
        </p:txBody>
      </p:sp>
      <p:sp>
        <p:nvSpPr>
          <p:cNvPr id="21" name="Text 18"/>
          <p:cNvSpPr txBox="1"/>
          <p:nvPr/>
        </p:nvSpPr>
        <p:spPr>
          <a:xfrm>
            <a:off x="4023360" y="2011680"/>
            <a:ext cx="1645920" cy="685800"/>
          </a:xfrm>
          <a:prstGeom prst="rect">
            <a:avLst/>
          </a:prstGeom>
          <a:noFill/>
          <a:ln/>
        </p:spPr>
        <p:txBody>
          <a:bodyPr wrap="square" lIns="0" tIns="0" rIns="0" bIns="0" rtlCol="0" anchor="ctr"/>
          <a:lstStyle/>
          <a:p>
            <a:pPr algn="ctr" indent="0" marL="0">
              <a:buNone/>
            </a:pPr>
            <a:r>
              <a:rPr lang="en-US" sz="2600" b="1" dirty="0">
                <a:solidFill>
                  <a:srgbClr val="D9534F"/>
                </a:solidFill>
                <a:latin typeface="Calibri" pitchFamily="34" charset="0"/>
                <a:ea typeface="Calibri" pitchFamily="34" charset="-122"/>
                <a:cs typeface="Calibri" pitchFamily="34" charset="-120"/>
              </a:rPr>
              <a:t>Nein</a:t>
            </a:r>
            <a:endParaRPr lang="en-US" sz="2600" dirty="0"/>
          </a:p>
        </p:txBody>
      </p:sp>
      <p:sp>
        <p:nvSpPr>
          <p:cNvPr id="22" name="Shape 19"/>
          <p:cNvSpPr/>
          <p:nvPr/>
        </p:nvSpPr>
        <p:spPr>
          <a:xfrm>
            <a:off x="548640" y="2788920"/>
            <a:ext cx="5303520" cy="685800"/>
          </a:xfrm>
          <a:prstGeom prst="roundRect">
            <a:avLst>
              <a:gd name="adj" fmla="val 10667"/>
            </a:avLst>
          </a:prstGeom>
          <a:solidFill>
            <a:srgbClr val="F4F7FD"/>
          </a:solidFill>
          <a:ln/>
        </p:spPr>
      </p:sp>
      <p:sp>
        <p:nvSpPr>
          <p:cNvPr id="23" name="Shape 20"/>
          <p:cNvSpPr/>
          <p:nvPr/>
        </p:nvSpPr>
        <p:spPr>
          <a:xfrm>
            <a:off x="548640" y="2788920"/>
            <a:ext cx="128016" cy="685800"/>
          </a:xfrm>
          <a:prstGeom prst="rect">
            <a:avLst/>
          </a:prstGeom>
          <a:solidFill>
            <a:srgbClr val="E8A33D"/>
          </a:solidFill>
          <a:ln/>
        </p:spPr>
      </p:sp>
      <p:sp>
        <p:nvSpPr>
          <p:cNvPr id="24" name="Text 21"/>
          <p:cNvSpPr txBox="1"/>
          <p:nvPr/>
        </p:nvSpPr>
        <p:spPr>
          <a:xfrm>
            <a:off x="822960" y="2788920"/>
            <a:ext cx="3017520" cy="685800"/>
          </a:xfrm>
          <a:prstGeom prst="rect">
            <a:avLst/>
          </a:prstGeom>
          <a:noFill/>
          <a:ln/>
        </p:spPr>
        <p:txBody>
          <a:bodyPr wrap="square" lIns="0" tIns="0" rIns="0" bIns="0" rtlCol="0" anchor="ctr"/>
          <a:lstStyle/>
          <a:p>
            <a:pPr indent="0" marL="0">
              <a:buNone/>
            </a:pPr>
            <a:r>
              <a:rPr lang="en-US" sz="2400" dirty="0">
                <a:solidFill>
                  <a:srgbClr val="1E2761"/>
                </a:solidFill>
                <a:latin typeface="Calibri" pitchFamily="34" charset="0"/>
                <a:ea typeface="Calibri" pitchFamily="34" charset="-122"/>
                <a:cs typeface="Calibri" pitchFamily="34" charset="-120"/>
              </a:rPr>
              <a:t>Adel</a:t>
            </a:r>
            <a:endParaRPr lang="en-US" sz="2400" dirty="0"/>
          </a:p>
        </p:txBody>
      </p:sp>
      <p:sp>
        <p:nvSpPr>
          <p:cNvPr id="25" name="Text 22"/>
          <p:cNvSpPr txBox="1"/>
          <p:nvPr/>
        </p:nvSpPr>
        <p:spPr>
          <a:xfrm>
            <a:off x="4023360" y="2788920"/>
            <a:ext cx="1645920" cy="685800"/>
          </a:xfrm>
          <a:prstGeom prst="rect">
            <a:avLst/>
          </a:prstGeom>
          <a:noFill/>
          <a:ln/>
        </p:spPr>
        <p:txBody>
          <a:bodyPr wrap="square" lIns="0" tIns="0" rIns="0" bIns="0" rtlCol="0" anchor="ctr"/>
          <a:lstStyle/>
          <a:p>
            <a:pPr algn="ctr" indent="0" marL="0">
              <a:buNone/>
            </a:pPr>
            <a:r>
              <a:rPr lang="en-US" sz="2600" b="1" dirty="0">
                <a:solidFill>
                  <a:srgbClr val="D9534F"/>
                </a:solidFill>
                <a:latin typeface="Calibri" pitchFamily="34" charset="0"/>
                <a:ea typeface="Calibri" pitchFamily="34" charset="-122"/>
                <a:cs typeface="Calibri" pitchFamily="34" charset="-120"/>
              </a:rPr>
              <a:t>Nein</a:t>
            </a:r>
            <a:endParaRPr lang="en-US" sz="2600" dirty="0"/>
          </a:p>
        </p:txBody>
      </p:sp>
      <p:sp>
        <p:nvSpPr>
          <p:cNvPr id="26" name="Shape 23"/>
          <p:cNvSpPr/>
          <p:nvPr/>
        </p:nvSpPr>
        <p:spPr>
          <a:xfrm>
            <a:off x="548640" y="3566160"/>
            <a:ext cx="5303520" cy="685800"/>
          </a:xfrm>
          <a:prstGeom prst="roundRect">
            <a:avLst>
              <a:gd name="adj" fmla="val 10667"/>
            </a:avLst>
          </a:prstGeom>
          <a:solidFill>
            <a:srgbClr val="F4F7FD"/>
          </a:solidFill>
          <a:ln/>
        </p:spPr>
      </p:sp>
      <p:sp>
        <p:nvSpPr>
          <p:cNvPr id="27" name="Shape 24"/>
          <p:cNvSpPr/>
          <p:nvPr/>
        </p:nvSpPr>
        <p:spPr>
          <a:xfrm>
            <a:off x="548640" y="3566160"/>
            <a:ext cx="128016" cy="685800"/>
          </a:xfrm>
          <a:prstGeom prst="rect">
            <a:avLst/>
          </a:prstGeom>
          <a:solidFill>
            <a:srgbClr val="3F7CC4"/>
          </a:solidFill>
          <a:ln/>
        </p:spPr>
      </p:sp>
      <p:sp>
        <p:nvSpPr>
          <p:cNvPr id="28" name="Text 25"/>
          <p:cNvSpPr txBox="1"/>
          <p:nvPr/>
        </p:nvSpPr>
        <p:spPr>
          <a:xfrm>
            <a:off x="822960" y="3566160"/>
            <a:ext cx="3017520" cy="685800"/>
          </a:xfrm>
          <a:prstGeom prst="rect">
            <a:avLst/>
          </a:prstGeom>
          <a:noFill/>
          <a:ln/>
        </p:spPr>
        <p:txBody>
          <a:bodyPr wrap="square" lIns="0" tIns="0" rIns="0" bIns="0" rtlCol="0" anchor="ctr"/>
          <a:lstStyle/>
          <a:p>
            <a:pPr indent="0" marL="0">
              <a:buNone/>
            </a:pPr>
            <a:r>
              <a:rPr lang="en-US" sz="2400" dirty="0">
                <a:solidFill>
                  <a:srgbClr val="1E2761"/>
                </a:solidFill>
                <a:latin typeface="Calibri" pitchFamily="34" charset="0"/>
                <a:ea typeface="Calibri" pitchFamily="34" charset="-122"/>
                <a:cs typeface="Calibri" pitchFamily="34" charset="-120"/>
              </a:rPr>
              <a:t>Dritter Stand</a:t>
            </a:r>
            <a:endParaRPr lang="en-US" sz="2400" dirty="0"/>
          </a:p>
        </p:txBody>
      </p:sp>
      <p:sp>
        <p:nvSpPr>
          <p:cNvPr id="29" name="Text 26"/>
          <p:cNvSpPr txBox="1"/>
          <p:nvPr/>
        </p:nvSpPr>
        <p:spPr>
          <a:xfrm>
            <a:off x="4023360" y="3566160"/>
            <a:ext cx="1645920" cy="685800"/>
          </a:xfrm>
          <a:prstGeom prst="rect">
            <a:avLst/>
          </a:prstGeom>
          <a:noFill/>
          <a:ln/>
        </p:spPr>
        <p:txBody>
          <a:bodyPr wrap="square" lIns="0" tIns="0" rIns="0" bIns="0" rtlCol="0" anchor="ctr"/>
          <a:lstStyle/>
          <a:p>
            <a:pPr algn="ctr" indent="0" marL="0">
              <a:buNone/>
            </a:pPr>
            <a:r>
              <a:rPr lang="en-US" sz="2600" b="1" dirty="0">
                <a:solidFill>
                  <a:srgbClr val="2E9E6B"/>
                </a:solidFill>
                <a:latin typeface="Calibri" pitchFamily="34" charset="0"/>
                <a:ea typeface="Calibri" pitchFamily="34" charset="-122"/>
                <a:cs typeface="Calibri" pitchFamily="34" charset="-120"/>
              </a:rPr>
              <a:t>Ja</a:t>
            </a:r>
            <a:endParaRPr lang="en-US" sz="2600" dirty="0"/>
          </a:p>
        </p:txBody>
      </p:sp>
      <p:sp>
        <p:nvSpPr>
          <p:cNvPr id="30" name="Shape 27"/>
          <p:cNvSpPr/>
          <p:nvPr/>
        </p:nvSpPr>
        <p:spPr>
          <a:xfrm>
            <a:off x="548640" y="4434840"/>
            <a:ext cx="5303520" cy="960120"/>
          </a:xfrm>
          <a:prstGeom prst="roundRect">
            <a:avLst>
              <a:gd name="adj" fmla="val 7619"/>
            </a:avLst>
          </a:prstGeom>
          <a:solidFill>
            <a:srgbClr val="1E2761"/>
          </a:solidFill>
          <a:ln/>
        </p:spPr>
      </p:sp>
      <p:sp>
        <p:nvSpPr>
          <p:cNvPr id="31" name="Text 28"/>
          <p:cNvSpPr txBox="1"/>
          <p:nvPr/>
        </p:nvSpPr>
        <p:spPr>
          <a:xfrm>
            <a:off x="548640" y="4434840"/>
            <a:ext cx="53035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 : 1  →  abgelehnt</a:t>
            </a:r>
            <a:endParaRPr lang="en-US" sz="2800" dirty="0"/>
          </a:p>
        </p:txBody>
      </p:sp>
      <p:sp>
        <p:nvSpPr>
          <p:cNvPr id="32" name="Text 29"/>
          <p:cNvSpPr txBox="1"/>
          <p:nvPr/>
        </p:nvSpPr>
        <p:spPr>
          <a:xfrm>
            <a:off x="6355080" y="1463040"/>
            <a:ext cx="5303520" cy="457200"/>
          </a:xfrm>
          <a:prstGeom prst="rect">
            <a:avLst/>
          </a:prstGeom>
          <a:noFill/>
          <a:ln/>
        </p:spPr>
        <p:txBody>
          <a:bodyPr wrap="square" lIns="0" tIns="0" rIns="0" bIns="0"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Nach Köpfen</a:t>
            </a:r>
            <a:endParaRPr lang="en-US" sz="2600" dirty="0"/>
          </a:p>
        </p:txBody>
      </p:sp>
      <p:sp>
        <p:nvSpPr>
          <p:cNvPr id="33" name="Shape 30"/>
          <p:cNvSpPr/>
          <p:nvPr/>
        </p:nvSpPr>
        <p:spPr>
          <a:xfrm>
            <a:off x="6355080" y="2194560"/>
            <a:ext cx="2698282" cy="822960"/>
          </a:xfrm>
          <a:prstGeom prst="rect">
            <a:avLst/>
          </a:prstGeom>
          <a:solidFill>
            <a:srgbClr val="2E9E6B"/>
          </a:solidFill>
          <a:ln w="19050">
            <a:solidFill>
              <a:srgbClr val="FFFFFF"/>
            </a:solidFill>
            <a:prstDash val="solid"/>
          </a:ln>
        </p:spPr>
      </p:sp>
      <p:sp>
        <p:nvSpPr>
          <p:cNvPr id="34" name="Text 31"/>
          <p:cNvSpPr txBox="1"/>
          <p:nvPr/>
        </p:nvSpPr>
        <p:spPr>
          <a:xfrm>
            <a:off x="6355080" y="2194560"/>
            <a:ext cx="2698282"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Ja 580</a:t>
            </a:r>
            <a:endParaRPr lang="en-US" sz="2400" dirty="0"/>
          </a:p>
        </p:txBody>
      </p:sp>
      <p:sp>
        <p:nvSpPr>
          <p:cNvPr id="35" name="Shape 32"/>
          <p:cNvSpPr/>
          <p:nvPr/>
        </p:nvSpPr>
        <p:spPr>
          <a:xfrm>
            <a:off x="9053362" y="2194560"/>
            <a:ext cx="2605238" cy="822960"/>
          </a:xfrm>
          <a:prstGeom prst="rect">
            <a:avLst/>
          </a:prstGeom>
          <a:solidFill>
            <a:srgbClr val="D9534F"/>
          </a:solidFill>
          <a:ln w="19050">
            <a:solidFill>
              <a:srgbClr val="FFFFFF"/>
            </a:solidFill>
            <a:prstDash val="solid"/>
          </a:ln>
        </p:spPr>
      </p:sp>
      <p:sp>
        <p:nvSpPr>
          <p:cNvPr id="36" name="Text 33"/>
          <p:cNvSpPr txBox="1"/>
          <p:nvPr/>
        </p:nvSpPr>
        <p:spPr>
          <a:xfrm>
            <a:off x="9053362" y="2194560"/>
            <a:ext cx="2605238"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Nein 560</a:t>
            </a:r>
            <a:endParaRPr lang="en-US" sz="2400" dirty="0"/>
          </a:p>
        </p:txBody>
      </p:sp>
      <p:sp>
        <p:nvSpPr>
          <p:cNvPr id="37" name="Text 34"/>
          <p:cNvSpPr txBox="1"/>
          <p:nvPr/>
        </p:nvSpPr>
        <p:spPr>
          <a:xfrm>
            <a:off x="6355080" y="3108960"/>
            <a:ext cx="5303520" cy="45720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Nein: Klerus 290 + Adel 270</a:t>
            </a:r>
            <a:endParaRPr lang="en-US" sz="2400" dirty="0"/>
          </a:p>
        </p:txBody>
      </p:sp>
      <p:sp>
        <p:nvSpPr>
          <p:cNvPr id="38" name="Shape 35"/>
          <p:cNvSpPr/>
          <p:nvPr/>
        </p:nvSpPr>
        <p:spPr>
          <a:xfrm>
            <a:off x="6355080" y="4434840"/>
            <a:ext cx="5303520" cy="960120"/>
          </a:xfrm>
          <a:prstGeom prst="roundRect">
            <a:avLst>
              <a:gd name="adj" fmla="val 7619"/>
            </a:avLst>
          </a:prstGeom>
          <a:solidFill>
            <a:srgbClr val="1E2761"/>
          </a:solidFill>
          <a:ln/>
        </p:spPr>
      </p:sp>
      <p:sp>
        <p:nvSpPr>
          <p:cNvPr id="39" name="Text 36"/>
          <p:cNvSpPr txBox="1"/>
          <p:nvPr/>
        </p:nvSpPr>
        <p:spPr>
          <a:xfrm>
            <a:off x="6355080" y="4434840"/>
            <a:ext cx="5303520"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580 : 560  →  angenommen</a:t>
            </a:r>
            <a:endParaRPr lang="en-US" sz="2400" dirty="0"/>
          </a:p>
        </p:txBody>
      </p:sp>
      <p:sp>
        <p:nvSpPr>
          <p:cNvPr id="40" name="Shape 37"/>
          <p:cNvSpPr/>
          <p:nvPr/>
        </p:nvSpPr>
        <p:spPr>
          <a:xfrm>
            <a:off x="548640" y="5669280"/>
            <a:ext cx="11109960" cy="777240"/>
          </a:xfrm>
          <a:prstGeom prst="roundRect">
            <a:avLst>
              <a:gd name="adj" fmla="val 9412"/>
            </a:avLst>
          </a:prstGeom>
          <a:solidFill>
            <a:srgbClr val="1E2761"/>
          </a:solidFill>
          <a:ln/>
        </p:spPr>
      </p:sp>
      <p:sp>
        <p:nvSpPr>
          <p:cNvPr id="41" name="Text 38"/>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Tatsächlich: </a:t>
            </a:r>
            <a:pPr indent="0" marL="0">
              <a:buNone/>
            </a:pPr>
            <a:r>
              <a:rPr lang="en-US" sz="2400" dirty="0">
                <a:solidFill>
                  <a:srgbClr val="FFFFFF"/>
                </a:solidFill>
                <a:latin typeface="Calibri" pitchFamily="34" charset="0"/>
                <a:ea typeface="Calibri" pitchFamily="34" charset="-122"/>
                <a:cs typeface="Calibri" pitchFamily="34" charset="-120"/>
              </a:rPr>
              <a:t>Es wurde nicht nach Köpfen abgestimmt. Der Streit um die Regel begann.</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SCHULBEISPIEL</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Dasselbe in der Schule</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
        <p:nvSpPr>
          <p:cNvPr id="17" name="Shape 14"/>
          <p:cNvSpPr/>
          <p:nvPr/>
        </p:nvSpPr>
        <p:spPr>
          <a:xfrm>
            <a:off x="548640" y="1508760"/>
            <a:ext cx="11109960" cy="2468880"/>
          </a:xfrm>
          <a:prstGeom prst="roundRect">
            <a:avLst>
              <a:gd name="adj" fmla="val 2963"/>
            </a:avLst>
          </a:prstGeom>
          <a:solidFill>
            <a:srgbClr val="FFFFFF"/>
          </a:solidFill>
          <a:ln w="38100">
            <a:solidFill>
              <a:srgbClr val="D9534F"/>
            </a:solidFill>
            <a:prstDash val="solid"/>
          </a:ln>
        </p:spPr>
      </p:sp>
      <p:sp>
        <p:nvSpPr>
          <p:cNvPr id="18" name="Text 15"/>
          <p:cNvSpPr txBox="1"/>
          <p:nvPr/>
        </p:nvSpPr>
        <p:spPr>
          <a:xfrm>
            <a:off x="868680" y="1554480"/>
            <a:ext cx="10469880" cy="23774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Nur Schüler putzen künftig das Klassenzimmer und räumen die Tische auf. Lehrkräfte sind davon befreit.</a:t>
            </a:r>
            <a:endParaRPr lang="en-US" sz="3200" dirty="0"/>
          </a:p>
        </p:txBody>
      </p:sp>
      <p:sp>
        <p:nvSpPr>
          <p:cNvPr id="19" name="Shape 16"/>
          <p:cNvSpPr/>
          <p:nvPr/>
        </p:nvSpPr>
        <p:spPr>
          <a:xfrm>
            <a:off x="548640" y="4206240"/>
            <a:ext cx="3611880" cy="1280160"/>
          </a:xfrm>
          <a:prstGeom prst="roundRect">
            <a:avLst>
              <a:gd name="adj" fmla="val 5714"/>
            </a:avLst>
          </a:prstGeom>
          <a:solidFill>
            <a:srgbClr val="F4F7FD"/>
          </a:solidFill>
          <a:ln/>
        </p:spPr>
      </p:sp>
      <p:sp>
        <p:nvSpPr>
          <p:cNvPr id="20" name="Shape 17"/>
          <p:cNvSpPr/>
          <p:nvPr/>
        </p:nvSpPr>
        <p:spPr>
          <a:xfrm>
            <a:off x="548640" y="4206240"/>
            <a:ext cx="128016" cy="1280160"/>
          </a:xfrm>
          <a:prstGeom prst="rect">
            <a:avLst/>
          </a:prstGeom>
          <a:solidFill>
            <a:srgbClr val="8E6BBE"/>
          </a:solidFill>
          <a:ln/>
        </p:spPr>
      </p:sp>
      <p:sp>
        <p:nvSpPr>
          <p:cNvPr id="21" name="Text 18"/>
          <p:cNvSpPr txBox="1"/>
          <p:nvPr/>
        </p:nvSpPr>
        <p:spPr>
          <a:xfrm>
            <a:off x="822960" y="4251960"/>
            <a:ext cx="3200400" cy="6400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Klerus</a:t>
            </a:r>
            <a:endParaRPr lang="en-US" sz="2400" dirty="0"/>
          </a:p>
        </p:txBody>
      </p:sp>
      <p:sp>
        <p:nvSpPr>
          <p:cNvPr id="22" name="Text 19"/>
          <p:cNvSpPr txBox="1"/>
          <p:nvPr/>
        </p:nvSpPr>
        <p:spPr>
          <a:xfrm>
            <a:off x="822960" y="4846320"/>
            <a:ext cx="3200400" cy="54864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Lehrkraft 1</a:t>
            </a:r>
            <a:endParaRPr lang="en-US" sz="2400" dirty="0"/>
          </a:p>
        </p:txBody>
      </p:sp>
      <p:sp>
        <p:nvSpPr>
          <p:cNvPr id="23" name="Shape 20"/>
          <p:cNvSpPr/>
          <p:nvPr/>
        </p:nvSpPr>
        <p:spPr>
          <a:xfrm>
            <a:off x="4297680" y="4206240"/>
            <a:ext cx="3611880" cy="1280160"/>
          </a:xfrm>
          <a:prstGeom prst="roundRect">
            <a:avLst>
              <a:gd name="adj" fmla="val 5714"/>
            </a:avLst>
          </a:prstGeom>
          <a:solidFill>
            <a:srgbClr val="F4F7FD"/>
          </a:solidFill>
          <a:ln/>
        </p:spPr>
      </p:sp>
      <p:sp>
        <p:nvSpPr>
          <p:cNvPr id="24" name="Shape 21"/>
          <p:cNvSpPr/>
          <p:nvPr/>
        </p:nvSpPr>
        <p:spPr>
          <a:xfrm>
            <a:off x="4297680" y="4206240"/>
            <a:ext cx="128016" cy="1280160"/>
          </a:xfrm>
          <a:prstGeom prst="rect">
            <a:avLst/>
          </a:prstGeom>
          <a:solidFill>
            <a:srgbClr val="E8A33D"/>
          </a:solidFill>
          <a:ln/>
        </p:spPr>
      </p:sp>
      <p:sp>
        <p:nvSpPr>
          <p:cNvPr id="25" name="Text 22"/>
          <p:cNvSpPr txBox="1"/>
          <p:nvPr/>
        </p:nvSpPr>
        <p:spPr>
          <a:xfrm>
            <a:off x="4572000" y="4251960"/>
            <a:ext cx="3200400" cy="6400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Adel</a:t>
            </a:r>
            <a:endParaRPr lang="en-US" sz="2400" dirty="0"/>
          </a:p>
        </p:txBody>
      </p:sp>
      <p:sp>
        <p:nvSpPr>
          <p:cNvPr id="26" name="Text 23"/>
          <p:cNvSpPr txBox="1"/>
          <p:nvPr/>
        </p:nvSpPr>
        <p:spPr>
          <a:xfrm>
            <a:off x="4572000" y="4846320"/>
            <a:ext cx="3200400" cy="54864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Lehrkraft 2</a:t>
            </a:r>
            <a:endParaRPr lang="en-US" sz="2400" dirty="0"/>
          </a:p>
        </p:txBody>
      </p:sp>
      <p:sp>
        <p:nvSpPr>
          <p:cNvPr id="27" name="Shape 24"/>
          <p:cNvSpPr/>
          <p:nvPr/>
        </p:nvSpPr>
        <p:spPr>
          <a:xfrm>
            <a:off x="8046720" y="4206240"/>
            <a:ext cx="3611880" cy="1280160"/>
          </a:xfrm>
          <a:prstGeom prst="roundRect">
            <a:avLst>
              <a:gd name="adj" fmla="val 5714"/>
            </a:avLst>
          </a:prstGeom>
          <a:solidFill>
            <a:srgbClr val="F4F7FD"/>
          </a:solidFill>
          <a:ln/>
        </p:spPr>
      </p:sp>
      <p:sp>
        <p:nvSpPr>
          <p:cNvPr id="28" name="Shape 25"/>
          <p:cNvSpPr/>
          <p:nvPr/>
        </p:nvSpPr>
        <p:spPr>
          <a:xfrm>
            <a:off x="8046720" y="4206240"/>
            <a:ext cx="128016" cy="1280160"/>
          </a:xfrm>
          <a:prstGeom prst="rect">
            <a:avLst/>
          </a:prstGeom>
          <a:solidFill>
            <a:srgbClr val="3F7CC4"/>
          </a:solidFill>
          <a:ln/>
        </p:spPr>
      </p:sp>
      <p:sp>
        <p:nvSpPr>
          <p:cNvPr id="29" name="Text 26"/>
          <p:cNvSpPr txBox="1"/>
          <p:nvPr/>
        </p:nvSpPr>
        <p:spPr>
          <a:xfrm>
            <a:off x="8321040" y="4251960"/>
            <a:ext cx="3200400" cy="6400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Dritter Stand (Bauern und Bürger)</a:t>
            </a:r>
            <a:endParaRPr lang="en-US" sz="2400" dirty="0"/>
          </a:p>
        </p:txBody>
      </p:sp>
      <p:sp>
        <p:nvSpPr>
          <p:cNvPr id="30" name="Text 27"/>
          <p:cNvSpPr txBox="1"/>
          <p:nvPr/>
        </p:nvSpPr>
        <p:spPr>
          <a:xfrm>
            <a:off x="8321040" y="4846320"/>
            <a:ext cx="3200400" cy="54864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die Schüler</a:t>
            </a:r>
            <a:endParaRPr lang="en-US" sz="2400" dirty="0"/>
          </a:p>
        </p:txBody>
      </p:sp>
      <p:sp>
        <p:nvSpPr>
          <p:cNvPr id="31" name="Shape 28"/>
          <p:cNvSpPr/>
          <p:nvPr/>
        </p:nvSpPr>
        <p:spPr>
          <a:xfrm>
            <a:off x="548640" y="5669280"/>
            <a:ext cx="11109960" cy="777240"/>
          </a:xfrm>
          <a:prstGeom prst="roundRect">
            <a:avLst>
              <a:gd name="adj" fmla="val 9412"/>
            </a:avLst>
          </a:prstGeom>
          <a:solidFill>
            <a:srgbClr val="1E2761"/>
          </a:solidFill>
          <a:ln/>
        </p:spPr>
      </p:sp>
      <p:sp>
        <p:nvSpPr>
          <p:cNvPr id="32" name="Text 29"/>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Hinweis: </a:t>
            </a:r>
            <a:pPr indent="0" marL="0">
              <a:buNone/>
            </a:pPr>
            <a:r>
              <a:rPr lang="en-US" sz="2400" dirty="0">
                <a:solidFill>
                  <a:srgbClr val="FFFFFF"/>
                </a:solidFill>
                <a:latin typeface="Calibri" pitchFamily="34" charset="0"/>
                <a:ea typeface="Calibri" pitchFamily="34" charset="-122"/>
                <a:cs typeface="Calibri" pitchFamily="34" charset="-120"/>
              </a:rPr>
              <a:t>Das ist nur ein Spiel. Der Antrag gilt nicht.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ERGEBNIS</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Schulspiel: Zwei Regeln, zwei Ergebnisse</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
        <p:nvSpPr>
          <p:cNvPr id="17" name="Text 14"/>
          <p:cNvSpPr txBox="1"/>
          <p:nvPr/>
        </p:nvSpPr>
        <p:spPr>
          <a:xfrm>
            <a:off x="548640" y="1463040"/>
            <a:ext cx="5303520" cy="457200"/>
          </a:xfrm>
          <a:prstGeom prst="rect">
            <a:avLst/>
          </a:prstGeom>
          <a:noFill/>
          <a:ln/>
        </p:spPr>
        <p:txBody>
          <a:bodyPr wrap="square" lIns="0" tIns="0" rIns="0" bIns="0"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Nach Ständen</a:t>
            </a:r>
            <a:endParaRPr lang="en-US" sz="2600" dirty="0"/>
          </a:p>
        </p:txBody>
      </p:sp>
      <p:sp>
        <p:nvSpPr>
          <p:cNvPr id="18" name="Shape 15"/>
          <p:cNvSpPr/>
          <p:nvPr/>
        </p:nvSpPr>
        <p:spPr>
          <a:xfrm>
            <a:off x="548640" y="2011680"/>
            <a:ext cx="5303520" cy="685800"/>
          </a:xfrm>
          <a:prstGeom prst="roundRect">
            <a:avLst>
              <a:gd name="adj" fmla="val 10667"/>
            </a:avLst>
          </a:prstGeom>
          <a:solidFill>
            <a:srgbClr val="F4F7FD"/>
          </a:solidFill>
          <a:ln/>
        </p:spPr>
      </p:sp>
      <p:sp>
        <p:nvSpPr>
          <p:cNvPr id="19" name="Shape 16"/>
          <p:cNvSpPr/>
          <p:nvPr/>
        </p:nvSpPr>
        <p:spPr>
          <a:xfrm>
            <a:off x="548640" y="2011680"/>
            <a:ext cx="128016" cy="685800"/>
          </a:xfrm>
          <a:prstGeom prst="rect">
            <a:avLst/>
          </a:prstGeom>
          <a:solidFill>
            <a:srgbClr val="8E6BBE"/>
          </a:solidFill>
          <a:ln/>
        </p:spPr>
      </p:sp>
      <p:sp>
        <p:nvSpPr>
          <p:cNvPr id="20" name="Text 17"/>
          <p:cNvSpPr txBox="1"/>
          <p:nvPr/>
        </p:nvSpPr>
        <p:spPr>
          <a:xfrm>
            <a:off x="822960" y="2011680"/>
            <a:ext cx="3749040" cy="685800"/>
          </a:xfrm>
          <a:prstGeom prst="rect">
            <a:avLst/>
          </a:prstGeom>
          <a:noFill/>
          <a:ln/>
        </p:spPr>
        <p:txBody>
          <a:bodyPr wrap="square" lIns="0" tIns="0" rIns="0" bIns="0" rtlCol="0" anchor="ctr"/>
          <a:lstStyle/>
          <a:p>
            <a:pPr indent="0" marL="0">
              <a:buNone/>
            </a:pPr>
            <a:r>
              <a:rPr lang="en-US" sz="2400" dirty="0">
                <a:solidFill>
                  <a:srgbClr val="1E2761"/>
                </a:solidFill>
                <a:latin typeface="Calibri" pitchFamily="34" charset="0"/>
                <a:ea typeface="Calibri" pitchFamily="34" charset="-122"/>
                <a:cs typeface="Calibri" pitchFamily="34" charset="-120"/>
              </a:rPr>
              <a:t>Lehrkraft 1 (Klerus)</a:t>
            </a:r>
            <a:endParaRPr lang="en-US" sz="2400" dirty="0"/>
          </a:p>
        </p:txBody>
      </p:sp>
      <p:sp>
        <p:nvSpPr>
          <p:cNvPr id="21" name="Text 18"/>
          <p:cNvSpPr txBox="1"/>
          <p:nvPr/>
        </p:nvSpPr>
        <p:spPr>
          <a:xfrm>
            <a:off x="4572000" y="2011680"/>
            <a:ext cx="1188720" cy="685800"/>
          </a:xfrm>
          <a:prstGeom prst="rect">
            <a:avLst/>
          </a:prstGeom>
          <a:noFill/>
          <a:ln/>
        </p:spPr>
        <p:txBody>
          <a:bodyPr wrap="square" lIns="0" tIns="0" rIns="0" bIns="0" rtlCol="0" anchor="ctr"/>
          <a:lstStyle/>
          <a:p>
            <a:pPr algn="ctr" indent="0" marL="0">
              <a:buNone/>
            </a:pPr>
            <a:r>
              <a:rPr lang="en-US" sz="2600" b="1" dirty="0">
                <a:solidFill>
                  <a:srgbClr val="2E9E6B"/>
                </a:solidFill>
                <a:latin typeface="Calibri" pitchFamily="34" charset="0"/>
                <a:ea typeface="Calibri" pitchFamily="34" charset="-122"/>
                <a:cs typeface="Calibri" pitchFamily="34" charset="-120"/>
              </a:rPr>
              <a:t>Ja</a:t>
            </a:r>
            <a:endParaRPr lang="en-US" sz="2600" dirty="0"/>
          </a:p>
        </p:txBody>
      </p:sp>
      <p:sp>
        <p:nvSpPr>
          <p:cNvPr id="22" name="Shape 19"/>
          <p:cNvSpPr/>
          <p:nvPr/>
        </p:nvSpPr>
        <p:spPr>
          <a:xfrm>
            <a:off x="548640" y="2788920"/>
            <a:ext cx="5303520" cy="685800"/>
          </a:xfrm>
          <a:prstGeom prst="roundRect">
            <a:avLst>
              <a:gd name="adj" fmla="val 10667"/>
            </a:avLst>
          </a:prstGeom>
          <a:solidFill>
            <a:srgbClr val="F4F7FD"/>
          </a:solidFill>
          <a:ln/>
        </p:spPr>
      </p:sp>
      <p:sp>
        <p:nvSpPr>
          <p:cNvPr id="23" name="Shape 20"/>
          <p:cNvSpPr/>
          <p:nvPr/>
        </p:nvSpPr>
        <p:spPr>
          <a:xfrm>
            <a:off x="548640" y="2788920"/>
            <a:ext cx="128016" cy="685800"/>
          </a:xfrm>
          <a:prstGeom prst="rect">
            <a:avLst/>
          </a:prstGeom>
          <a:solidFill>
            <a:srgbClr val="E8A33D"/>
          </a:solidFill>
          <a:ln/>
        </p:spPr>
      </p:sp>
      <p:sp>
        <p:nvSpPr>
          <p:cNvPr id="24" name="Text 21"/>
          <p:cNvSpPr txBox="1"/>
          <p:nvPr/>
        </p:nvSpPr>
        <p:spPr>
          <a:xfrm>
            <a:off x="822960" y="2788920"/>
            <a:ext cx="3749040" cy="685800"/>
          </a:xfrm>
          <a:prstGeom prst="rect">
            <a:avLst/>
          </a:prstGeom>
          <a:noFill/>
          <a:ln/>
        </p:spPr>
        <p:txBody>
          <a:bodyPr wrap="square" lIns="0" tIns="0" rIns="0" bIns="0" rtlCol="0" anchor="ctr"/>
          <a:lstStyle/>
          <a:p>
            <a:pPr indent="0" marL="0">
              <a:buNone/>
            </a:pPr>
            <a:r>
              <a:rPr lang="en-US" sz="2400" dirty="0">
                <a:solidFill>
                  <a:srgbClr val="1E2761"/>
                </a:solidFill>
                <a:latin typeface="Calibri" pitchFamily="34" charset="0"/>
                <a:ea typeface="Calibri" pitchFamily="34" charset="-122"/>
                <a:cs typeface="Calibri" pitchFamily="34" charset="-120"/>
              </a:rPr>
              <a:t>Lehrkraft 2 (Adel)</a:t>
            </a:r>
            <a:endParaRPr lang="en-US" sz="2400" dirty="0"/>
          </a:p>
        </p:txBody>
      </p:sp>
      <p:sp>
        <p:nvSpPr>
          <p:cNvPr id="25" name="Text 22"/>
          <p:cNvSpPr txBox="1"/>
          <p:nvPr/>
        </p:nvSpPr>
        <p:spPr>
          <a:xfrm>
            <a:off x="4572000" y="2788920"/>
            <a:ext cx="1188720" cy="685800"/>
          </a:xfrm>
          <a:prstGeom prst="rect">
            <a:avLst/>
          </a:prstGeom>
          <a:noFill/>
          <a:ln/>
        </p:spPr>
        <p:txBody>
          <a:bodyPr wrap="square" lIns="0" tIns="0" rIns="0" bIns="0" rtlCol="0" anchor="ctr"/>
          <a:lstStyle/>
          <a:p>
            <a:pPr algn="ctr" indent="0" marL="0">
              <a:buNone/>
            </a:pPr>
            <a:r>
              <a:rPr lang="en-US" sz="2600" b="1" dirty="0">
                <a:solidFill>
                  <a:srgbClr val="2E9E6B"/>
                </a:solidFill>
                <a:latin typeface="Calibri" pitchFamily="34" charset="0"/>
                <a:ea typeface="Calibri" pitchFamily="34" charset="-122"/>
                <a:cs typeface="Calibri" pitchFamily="34" charset="-120"/>
              </a:rPr>
              <a:t>Ja</a:t>
            </a:r>
            <a:endParaRPr lang="en-US" sz="2600" dirty="0"/>
          </a:p>
        </p:txBody>
      </p:sp>
      <p:sp>
        <p:nvSpPr>
          <p:cNvPr id="26" name="Shape 23"/>
          <p:cNvSpPr/>
          <p:nvPr/>
        </p:nvSpPr>
        <p:spPr>
          <a:xfrm>
            <a:off x="548640" y="3566160"/>
            <a:ext cx="5303520" cy="685800"/>
          </a:xfrm>
          <a:prstGeom prst="roundRect">
            <a:avLst>
              <a:gd name="adj" fmla="val 10667"/>
            </a:avLst>
          </a:prstGeom>
          <a:solidFill>
            <a:srgbClr val="F4F7FD"/>
          </a:solidFill>
          <a:ln/>
        </p:spPr>
      </p:sp>
      <p:sp>
        <p:nvSpPr>
          <p:cNvPr id="27" name="Shape 24"/>
          <p:cNvSpPr/>
          <p:nvPr/>
        </p:nvSpPr>
        <p:spPr>
          <a:xfrm>
            <a:off x="548640" y="3566160"/>
            <a:ext cx="128016" cy="685800"/>
          </a:xfrm>
          <a:prstGeom prst="rect">
            <a:avLst/>
          </a:prstGeom>
          <a:solidFill>
            <a:srgbClr val="3F7CC4"/>
          </a:solidFill>
          <a:ln/>
        </p:spPr>
      </p:sp>
      <p:sp>
        <p:nvSpPr>
          <p:cNvPr id="28" name="Text 25"/>
          <p:cNvSpPr txBox="1"/>
          <p:nvPr/>
        </p:nvSpPr>
        <p:spPr>
          <a:xfrm>
            <a:off x="822960" y="3566160"/>
            <a:ext cx="3749040" cy="685800"/>
          </a:xfrm>
          <a:prstGeom prst="rect">
            <a:avLst/>
          </a:prstGeom>
          <a:noFill/>
          <a:ln/>
        </p:spPr>
        <p:txBody>
          <a:bodyPr wrap="square" lIns="0" tIns="0" rIns="0" bIns="0" rtlCol="0" anchor="ctr"/>
          <a:lstStyle/>
          <a:p>
            <a:pPr indent="0" marL="0">
              <a:buNone/>
            </a:pPr>
            <a:r>
              <a:rPr lang="en-US" sz="2400" dirty="0">
                <a:solidFill>
                  <a:srgbClr val="1E2761"/>
                </a:solidFill>
                <a:latin typeface="Calibri" pitchFamily="34" charset="0"/>
                <a:ea typeface="Calibri" pitchFamily="34" charset="-122"/>
                <a:cs typeface="Calibri" pitchFamily="34" charset="-120"/>
              </a:rPr>
              <a:t>Schüler (Dritter Stand)</a:t>
            </a:r>
            <a:endParaRPr lang="en-US" sz="2400" dirty="0"/>
          </a:p>
        </p:txBody>
      </p:sp>
      <p:sp>
        <p:nvSpPr>
          <p:cNvPr id="29" name="Text 26"/>
          <p:cNvSpPr txBox="1"/>
          <p:nvPr/>
        </p:nvSpPr>
        <p:spPr>
          <a:xfrm>
            <a:off x="4572000" y="3566160"/>
            <a:ext cx="1188720" cy="685800"/>
          </a:xfrm>
          <a:prstGeom prst="rect">
            <a:avLst/>
          </a:prstGeom>
          <a:noFill/>
          <a:ln/>
        </p:spPr>
        <p:txBody>
          <a:bodyPr wrap="square" lIns="0" tIns="0" rIns="0" bIns="0" rtlCol="0" anchor="ctr"/>
          <a:lstStyle/>
          <a:p>
            <a:pPr algn="ctr" indent="0" marL="0">
              <a:buNone/>
            </a:pPr>
            <a:r>
              <a:rPr lang="en-US" sz="2600" b="1" dirty="0">
                <a:solidFill>
                  <a:srgbClr val="D9534F"/>
                </a:solidFill>
                <a:latin typeface="Calibri" pitchFamily="34" charset="0"/>
                <a:ea typeface="Calibri" pitchFamily="34" charset="-122"/>
                <a:cs typeface="Calibri" pitchFamily="34" charset="-120"/>
              </a:rPr>
              <a:t>Nein</a:t>
            </a:r>
            <a:endParaRPr lang="en-US" sz="2600" dirty="0"/>
          </a:p>
        </p:txBody>
      </p:sp>
      <p:sp>
        <p:nvSpPr>
          <p:cNvPr id="30" name="Shape 27"/>
          <p:cNvSpPr/>
          <p:nvPr/>
        </p:nvSpPr>
        <p:spPr>
          <a:xfrm>
            <a:off x="548640" y="4434840"/>
            <a:ext cx="5303520" cy="960120"/>
          </a:xfrm>
          <a:prstGeom prst="roundRect">
            <a:avLst>
              <a:gd name="adj" fmla="val 7619"/>
            </a:avLst>
          </a:prstGeom>
          <a:solidFill>
            <a:srgbClr val="1E2761"/>
          </a:solidFill>
          <a:ln/>
        </p:spPr>
      </p:sp>
      <p:sp>
        <p:nvSpPr>
          <p:cNvPr id="31" name="Text 28"/>
          <p:cNvSpPr txBox="1"/>
          <p:nvPr/>
        </p:nvSpPr>
        <p:spPr>
          <a:xfrm>
            <a:off x="548640" y="4434840"/>
            <a:ext cx="53035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 : 1  →  angenommen</a:t>
            </a:r>
            <a:endParaRPr lang="en-US" sz="2800" dirty="0"/>
          </a:p>
        </p:txBody>
      </p:sp>
      <p:sp>
        <p:nvSpPr>
          <p:cNvPr id="32" name="Text 29"/>
          <p:cNvSpPr txBox="1"/>
          <p:nvPr/>
        </p:nvSpPr>
        <p:spPr>
          <a:xfrm>
            <a:off x="6355080" y="1463040"/>
            <a:ext cx="5303520" cy="457200"/>
          </a:xfrm>
          <a:prstGeom prst="rect">
            <a:avLst/>
          </a:prstGeom>
          <a:noFill/>
          <a:ln/>
        </p:spPr>
        <p:txBody>
          <a:bodyPr wrap="square" lIns="0" tIns="0" rIns="0" bIns="0"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Nach Köpfen</a:t>
            </a:r>
            <a:endParaRPr lang="en-US" sz="2600" dirty="0"/>
          </a:p>
        </p:txBody>
      </p:sp>
      <p:sp>
        <p:nvSpPr>
          <p:cNvPr id="33" name="Shape 30"/>
          <p:cNvSpPr/>
          <p:nvPr/>
        </p:nvSpPr>
        <p:spPr>
          <a:xfrm>
            <a:off x="6355080" y="2194560"/>
            <a:ext cx="757646" cy="822960"/>
          </a:xfrm>
          <a:prstGeom prst="rect">
            <a:avLst/>
          </a:prstGeom>
          <a:solidFill>
            <a:srgbClr val="2E9E6B"/>
          </a:solidFill>
          <a:ln w="19050">
            <a:solidFill>
              <a:srgbClr val="FFFFFF"/>
            </a:solidFill>
            <a:prstDash val="solid"/>
          </a:ln>
        </p:spPr>
      </p:sp>
      <p:sp>
        <p:nvSpPr>
          <p:cNvPr id="34" name="Shape 31"/>
          <p:cNvSpPr/>
          <p:nvPr/>
        </p:nvSpPr>
        <p:spPr>
          <a:xfrm>
            <a:off x="7112726" y="2194560"/>
            <a:ext cx="4545874" cy="822960"/>
          </a:xfrm>
          <a:prstGeom prst="rect">
            <a:avLst/>
          </a:prstGeom>
          <a:solidFill>
            <a:srgbClr val="D9534F"/>
          </a:solidFill>
          <a:ln w="19050">
            <a:solidFill>
              <a:srgbClr val="FFFFFF"/>
            </a:solidFill>
            <a:prstDash val="solid"/>
          </a:ln>
        </p:spPr>
      </p:sp>
      <p:sp>
        <p:nvSpPr>
          <p:cNvPr id="35" name="Text 32"/>
          <p:cNvSpPr txBox="1"/>
          <p:nvPr/>
        </p:nvSpPr>
        <p:spPr>
          <a:xfrm>
            <a:off x="7112726" y="2194560"/>
            <a:ext cx="4545874"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Nein 12</a:t>
            </a:r>
            <a:endParaRPr lang="en-US" sz="2400" dirty="0"/>
          </a:p>
        </p:txBody>
      </p:sp>
      <p:sp>
        <p:nvSpPr>
          <p:cNvPr id="36" name="Text 33"/>
          <p:cNvSpPr txBox="1"/>
          <p:nvPr/>
        </p:nvSpPr>
        <p:spPr>
          <a:xfrm>
            <a:off x="6355080" y="3108960"/>
            <a:ext cx="5303520" cy="457200"/>
          </a:xfrm>
          <a:prstGeom prst="rect">
            <a:avLst/>
          </a:prstGeom>
          <a:noFill/>
          <a:ln/>
        </p:spPr>
        <p:txBody>
          <a:bodyPr wrap="square" lIns="0" tIns="0" rIns="0" bIns="0" rtlCol="0" anchor="t"/>
          <a:lstStyle/>
          <a:p>
            <a:pPr indent="0" marL="0">
              <a:buNone/>
            </a:pPr>
            <a:r>
              <a:rPr lang="en-US" sz="2400" dirty="0">
                <a:solidFill>
                  <a:srgbClr val="5B6B8C"/>
                </a:solidFill>
                <a:latin typeface="Calibri" pitchFamily="34" charset="0"/>
                <a:ea typeface="Calibri" pitchFamily="34" charset="-122"/>
                <a:cs typeface="Calibri" pitchFamily="34" charset="-120"/>
              </a:rPr>
              <a:t>2 Ja · 12 Nein</a:t>
            </a:r>
            <a:endParaRPr lang="en-US" sz="2400" dirty="0"/>
          </a:p>
        </p:txBody>
      </p:sp>
      <p:sp>
        <p:nvSpPr>
          <p:cNvPr id="37" name="Shape 34"/>
          <p:cNvSpPr/>
          <p:nvPr/>
        </p:nvSpPr>
        <p:spPr>
          <a:xfrm>
            <a:off x="6355080" y="4434840"/>
            <a:ext cx="5303520" cy="960120"/>
          </a:xfrm>
          <a:prstGeom prst="roundRect">
            <a:avLst>
              <a:gd name="adj" fmla="val 7619"/>
            </a:avLst>
          </a:prstGeom>
          <a:solidFill>
            <a:srgbClr val="1E2761"/>
          </a:solidFill>
          <a:ln/>
        </p:spPr>
      </p:sp>
      <p:sp>
        <p:nvSpPr>
          <p:cNvPr id="38" name="Text 35"/>
          <p:cNvSpPr txBox="1"/>
          <p:nvPr/>
        </p:nvSpPr>
        <p:spPr>
          <a:xfrm>
            <a:off x="6355080" y="4434840"/>
            <a:ext cx="5303520" cy="9601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 : 12  →  abgelehnt</a:t>
            </a:r>
            <a:endParaRPr lang="en-US" sz="2800" dirty="0"/>
          </a:p>
        </p:txBody>
      </p:sp>
      <p:sp>
        <p:nvSpPr>
          <p:cNvPr id="39" name="Shape 36"/>
          <p:cNvSpPr/>
          <p:nvPr/>
        </p:nvSpPr>
        <p:spPr>
          <a:xfrm>
            <a:off x="548640" y="5669280"/>
            <a:ext cx="11109960" cy="777240"/>
          </a:xfrm>
          <a:prstGeom prst="roundRect">
            <a:avLst>
              <a:gd name="adj" fmla="val 9412"/>
            </a:avLst>
          </a:prstGeom>
          <a:solidFill>
            <a:srgbClr val="1E2761"/>
          </a:solidFill>
          <a:ln/>
        </p:spPr>
      </p:sp>
      <p:sp>
        <p:nvSpPr>
          <p:cNvPr id="40" name="Text 37"/>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Frage: </a:t>
            </a:r>
            <a:pPr indent="0" marL="0">
              <a:buNone/>
            </a:pPr>
            <a:r>
              <a:rPr lang="en-US" sz="2400" dirty="0">
                <a:solidFill>
                  <a:srgbClr val="FFFFFF"/>
                </a:solidFill>
                <a:latin typeface="Calibri" pitchFamily="34" charset="0"/>
                <a:ea typeface="Calibri" pitchFamily="34" charset="-122"/>
                <a:cs typeface="Calibri" pitchFamily="34" charset="-120"/>
              </a:rPr>
              <a:t>Was ist unfair? Die Lehrkräfte oder die Regeln?</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V · VERARBEITEN · RECHNUNG</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D9534F"/>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EAF0FA"/>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Wie viel zählt eine Stimme?</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
        <p:nvSpPr>
          <p:cNvPr id="17" name="Text 14"/>
          <p:cNvSpPr txBox="1"/>
          <p:nvPr/>
        </p:nvSpPr>
        <p:spPr>
          <a:xfrm>
            <a:off x="548640" y="1508760"/>
            <a:ext cx="6035040" cy="41148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Klerus</a:t>
            </a:r>
            <a:endParaRPr lang="en-US" sz="2400" dirty="0"/>
          </a:p>
        </p:txBody>
      </p:sp>
      <p:sp>
        <p:nvSpPr>
          <p:cNvPr id="18" name="Text 15"/>
          <p:cNvSpPr txBox="1"/>
          <p:nvPr/>
        </p:nvSpPr>
        <p:spPr>
          <a:xfrm>
            <a:off x="6629400" y="1508760"/>
            <a:ext cx="5029200" cy="411480"/>
          </a:xfrm>
          <a:prstGeom prst="rect">
            <a:avLst/>
          </a:prstGeom>
          <a:noFill/>
          <a:ln/>
        </p:spPr>
        <p:txBody>
          <a:bodyPr wrap="square" lIns="0" tIns="0" rIns="0" bIns="0" rtlCol="0" anchor="t"/>
          <a:lstStyle/>
          <a:p>
            <a:pPr algn="r" indent="0" marL="0">
              <a:buNone/>
            </a:pPr>
            <a:r>
              <a:rPr lang="en-US" sz="2400" dirty="0">
                <a:solidFill>
                  <a:srgbClr val="5B6B8C"/>
                </a:solidFill>
                <a:latin typeface="Calibri" pitchFamily="34" charset="0"/>
                <a:ea typeface="Calibri" pitchFamily="34" charset="-122"/>
                <a:cs typeface="Calibri" pitchFamily="34" charset="-120"/>
              </a:rPr>
              <a:t>pro Stimme: 150 000</a:t>
            </a:r>
            <a:endParaRPr lang="en-US" sz="2400" dirty="0"/>
          </a:p>
        </p:txBody>
      </p:sp>
      <p:sp>
        <p:nvSpPr>
          <p:cNvPr id="19" name="Shape 16"/>
          <p:cNvSpPr/>
          <p:nvPr/>
        </p:nvSpPr>
        <p:spPr>
          <a:xfrm>
            <a:off x="548640" y="2011680"/>
            <a:ext cx="11109960" cy="548640"/>
          </a:xfrm>
          <a:prstGeom prst="rect">
            <a:avLst/>
          </a:prstGeom>
          <a:solidFill>
            <a:srgbClr val="F4F7FD"/>
          </a:solidFill>
          <a:ln/>
        </p:spPr>
      </p:sp>
      <p:sp>
        <p:nvSpPr>
          <p:cNvPr id="20" name="Shape 17"/>
          <p:cNvSpPr/>
          <p:nvPr/>
        </p:nvSpPr>
        <p:spPr>
          <a:xfrm>
            <a:off x="548640" y="2011680"/>
            <a:ext cx="83325" cy="548640"/>
          </a:xfrm>
          <a:prstGeom prst="rect">
            <a:avLst/>
          </a:prstGeom>
          <a:solidFill>
            <a:srgbClr val="8E6BBE"/>
          </a:solidFill>
          <a:ln/>
        </p:spPr>
      </p:sp>
      <p:sp>
        <p:nvSpPr>
          <p:cNvPr id="21" name="Text 18"/>
          <p:cNvSpPr txBox="1"/>
          <p:nvPr/>
        </p:nvSpPr>
        <p:spPr>
          <a:xfrm>
            <a:off x="548640" y="2834640"/>
            <a:ext cx="6035040" cy="41148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Adel</a:t>
            </a:r>
            <a:endParaRPr lang="en-US" sz="2400" dirty="0"/>
          </a:p>
        </p:txBody>
      </p:sp>
      <p:sp>
        <p:nvSpPr>
          <p:cNvPr id="22" name="Text 19"/>
          <p:cNvSpPr txBox="1"/>
          <p:nvPr/>
        </p:nvSpPr>
        <p:spPr>
          <a:xfrm>
            <a:off x="6629400" y="2834640"/>
            <a:ext cx="5029200" cy="411480"/>
          </a:xfrm>
          <a:prstGeom prst="rect">
            <a:avLst/>
          </a:prstGeom>
          <a:noFill/>
          <a:ln/>
        </p:spPr>
        <p:txBody>
          <a:bodyPr wrap="square" lIns="0" tIns="0" rIns="0" bIns="0" rtlCol="0" anchor="t"/>
          <a:lstStyle/>
          <a:p>
            <a:pPr algn="r" indent="0" marL="0">
              <a:buNone/>
            </a:pPr>
            <a:r>
              <a:rPr lang="en-US" sz="2400" dirty="0">
                <a:solidFill>
                  <a:srgbClr val="5B6B8C"/>
                </a:solidFill>
                <a:latin typeface="Calibri" pitchFamily="34" charset="0"/>
                <a:ea typeface="Calibri" pitchFamily="34" charset="-122"/>
                <a:cs typeface="Calibri" pitchFamily="34" charset="-120"/>
              </a:rPr>
              <a:t>pro Stimme: 500 000</a:t>
            </a:r>
            <a:endParaRPr lang="en-US" sz="2400" dirty="0"/>
          </a:p>
        </p:txBody>
      </p:sp>
      <p:sp>
        <p:nvSpPr>
          <p:cNvPr id="23" name="Shape 20"/>
          <p:cNvSpPr/>
          <p:nvPr/>
        </p:nvSpPr>
        <p:spPr>
          <a:xfrm>
            <a:off x="548640" y="3337560"/>
            <a:ext cx="11109960" cy="548640"/>
          </a:xfrm>
          <a:prstGeom prst="rect">
            <a:avLst/>
          </a:prstGeom>
          <a:solidFill>
            <a:srgbClr val="F4F7FD"/>
          </a:solidFill>
          <a:ln/>
        </p:spPr>
      </p:sp>
      <p:sp>
        <p:nvSpPr>
          <p:cNvPr id="24" name="Shape 21"/>
          <p:cNvSpPr/>
          <p:nvPr/>
        </p:nvSpPr>
        <p:spPr>
          <a:xfrm>
            <a:off x="548640" y="3337560"/>
            <a:ext cx="277749" cy="548640"/>
          </a:xfrm>
          <a:prstGeom prst="rect">
            <a:avLst/>
          </a:prstGeom>
          <a:solidFill>
            <a:srgbClr val="E8A33D"/>
          </a:solidFill>
          <a:ln/>
        </p:spPr>
      </p:sp>
      <p:sp>
        <p:nvSpPr>
          <p:cNvPr id="25" name="Text 22"/>
          <p:cNvSpPr txBox="1"/>
          <p:nvPr/>
        </p:nvSpPr>
        <p:spPr>
          <a:xfrm>
            <a:off x="548640" y="4160520"/>
            <a:ext cx="6035040" cy="41148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Dritter Stand (Bauern und Bürger)</a:t>
            </a:r>
            <a:endParaRPr lang="en-US" sz="2400" dirty="0"/>
          </a:p>
        </p:txBody>
      </p:sp>
      <p:sp>
        <p:nvSpPr>
          <p:cNvPr id="26" name="Text 23"/>
          <p:cNvSpPr txBox="1"/>
          <p:nvPr/>
        </p:nvSpPr>
        <p:spPr>
          <a:xfrm>
            <a:off x="6629400" y="4160520"/>
            <a:ext cx="5029200" cy="411480"/>
          </a:xfrm>
          <a:prstGeom prst="rect">
            <a:avLst/>
          </a:prstGeom>
          <a:noFill/>
          <a:ln/>
        </p:spPr>
        <p:txBody>
          <a:bodyPr wrap="square" lIns="0" tIns="0" rIns="0" bIns="0" rtlCol="0" anchor="t"/>
          <a:lstStyle/>
          <a:p>
            <a:pPr algn="r" indent="0" marL="0">
              <a:buNone/>
            </a:pPr>
            <a:r>
              <a:rPr lang="en-US" sz="2400" dirty="0">
                <a:solidFill>
                  <a:srgbClr val="5B6B8C"/>
                </a:solidFill>
                <a:latin typeface="Calibri" pitchFamily="34" charset="0"/>
                <a:ea typeface="Calibri" pitchFamily="34" charset="-122"/>
                <a:cs typeface="Calibri" pitchFamily="34" charset="-120"/>
              </a:rPr>
              <a:t>pro Stimme: 20 000 000</a:t>
            </a:r>
            <a:endParaRPr lang="en-US" sz="2400" dirty="0"/>
          </a:p>
        </p:txBody>
      </p:sp>
      <p:sp>
        <p:nvSpPr>
          <p:cNvPr id="27" name="Shape 24"/>
          <p:cNvSpPr/>
          <p:nvPr/>
        </p:nvSpPr>
        <p:spPr>
          <a:xfrm>
            <a:off x="548640" y="4663440"/>
            <a:ext cx="11109960" cy="548640"/>
          </a:xfrm>
          <a:prstGeom prst="rect">
            <a:avLst/>
          </a:prstGeom>
          <a:solidFill>
            <a:srgbClr val="F4F7FD"/>
          </a:solidFill>
          <a:ln/>
        </p:spPr>
      </p:sp>
      <p:sp>
        <p:nvSpPr>
          <p:cNvPr id="28" name="Shape 25"/>
          <p:cNvSpPr/>
          <p:nvPr/>
        </p:nvSpPr>
        <p:spPr>
          <a:xfrm>
            <a:off x="548640" y="4663440"/>
            <a:ext cx="11109960" cy="548640"/>
          </a:xfrm>
          <a:prstGeom prst="rect">
            <a:avLst/>
          </a:prstGeom>
          <a:solidFill>
            <a:srgbClr val="3F7CC4"/>
          </a:solidFill>
          <a:ln/>
        </p:spPr>
      </p:sp>
      <p:sp>
        <p:nvSpPr>
          <p:cNvPr id="29" name="Shape 26"/>
          <p:cNvSpPr/>
          <p:nvPr/>
        </p:nvSpPr>
        <p:spPr>
          <a:xfrm>
            <a:off x="548640" y="5669280"/>
            <a:ext cx="11109960" cy="777240"/>
          </a:xfrm>
          <a:prstGeom prst="roundRect">
            <a:avLst>
              <a:gd name="adj" fmla="val 9412"/>
            </a:avLst>
          </a:prstGeom>
          <a:solidFill>
            <a:srgbClr val="1E2761"/>
          </a:solidFill>
          <a:ln/>
        </p:spPr>
      </p:sp>
      <p:sp>
        <p:nvSpPr>
          <p:cNvPr id="30" name="Text 27"/>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Gewicht: </a:t>
            </a:r>
            <a:pPr indent="0" marL="0">
              <a:buNone/>
            </a:pPr>
            <a:r>
              <a:rPr lang="en-US" sz="2400" dirty="0">
                <a:solidFill>
                  <a:srgbClr val="FFFFFF"/>
                </a:solidFill>
                <a:latin typeface="Calibri" pitchFamily="34" charset="0"/>
                <a:ea typeface="Calibri" pitchFamily="34" charset="-122"/>
                <a:cs typeface="Calibri" pitchFamily="34" charset="-120"/>
              </a:rPr>
              <a:t>Eine Stimme des Klerus wiegt rund 133-mal so viel.</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300" b="1" spc="200" kern="0" dirty="0">
                <a:solidFill>
                  <a:srgbClr val="D9534F"/>
                </a:solidFill>
                <a:latin typeface="Calibri" pitchFamily="34" charset="0"/>
                <a:ea typeface="Calibri" pitchFamily="34" charset="-122"/>
                <a:cs typeface="Calibri" pitchFamily="34" charset="-120"/>
              </a:rPr>
              <a:t>MERKSATZ 1 · ABSCHREIBEN UND ROT UMRAHMEN</a:t>
            </a:r>
            <a:endParaRPr lang="en-US" sz="13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Abstimmung nach Ständen</a:t>
            </a:r>
            <a:endParaRPr lang="en-US" sz="3400" dirty="0"/>
          </a:p>
        </p:txBody>
      </p:sp>
      <p:sp>
        <p:nvSpPr>
          <p:cNvPr id="4" name="Shape 2"/>
          <p:cNvSpPr/>
          <p:nvPr/>
        </p:nvSpPr>
        <p:spPr>
          <a:xfrm>
            <a:off x="548640" y="1371600"/>
            <a:ext cx="11109960" cy="1920240"/>
          </a:xfrm>
          <a:prstGeom prst="roundRect">
            <a:avLst>
              <a:gd name="adj" fmla="val 3810"/>
            </a:avLst>
          </a:prstGeom>
          <a:solidFill>
            <a:srgbClr val="FFFFFF"/>
          </a:solidFill>
          <a:ln w="38100">
            <a:solidFill>
              <a:srgbClr val="D9534F"/>
            </a:solidFill>
            <a:prstDash val="solid"/>
          </a:ln>
        </p:spPr>
      </p:sp>
      <p:sp>
        <p:nvSpPr>
          <p:cNvPr id="5" name="Text 3"/>
          <p:cNvSpPr txBox="1"/>
          <p:nvPr/>
        </p:nvSpPr>
        <p:spPr>
          <a:xfrm>
            <a:off x="868680" y="1417320"/>
            <a:ext cx="10469880" cy="182880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Bei den Generalständen hat jeder Stand </a:t>
            </a:r>
            <a:pPr indent="0" marL="0">
              <a:buNone/>
            </a:pPr>
            <a:r>
              <a:rPr lang="en-US" sz="2400" b="1" dirty="0">
                <a:solidFill>
                  <a:srgbClr val="1E2761"/>
                </a:solidFill>
                <a:latin typeface="Cambria" pitchFamily="34" charset="0"/>
                <a:ea typeface="Cambria" pitchFamily="34" charset="-122"/>
                <a:cs typeface="Cambria" pitchFamily="34" charset="-120"/>
              </a:rPr>
              <a:t>eine Stimme</a:t>
            </a:r>
            <a:pPr indent="0" marL="0">
              <a:buNone/>
            </a:pPr>
            <a:r>
              <a:rPr lang="en-US" sz="2400" dirty="0">
                <a:solidFill>
                  <a:srgbClr val="1E2761"/>
                </a:solidFill>
                <a:latin typeface="Cambria" pitchFamily="34" charset="0"/>
                <a:ea typeface="Cambria" pitchFamily="34" charset="-122"/>
                <a:cs typeface="Cambria" pitchFamily="34" charset="-120"/>
              </a:rPr>
              <a:t>. Klerus und Adel (zusammen ca. 3 % der Bevölkerung) haben damit </a:t>
            </a:r>
            <a:pPr indent="0" marL="0">
              <a:buNone/>
            </a:pPr>
            <a:r>
              <a:rPr lang="en-US" sz="2400" b="1" dirty="0">
                <a:solidFill>
                  <a:srgbClr val="1E2761"/>
                </a:solidFill>
                <a:latin typeface="Cambria" pitchFamily="34" charset="0"/>
                <a:ea typeface="Cambria" pitchFamily="34" charset="-122"/>
                <a:cs typeface="Cambria" pitchFamily="34" charset="-120"/>
              </a:rPr>
              <a:t>zwei von drei Stimmen</a:t>
            </a:r>
            <a:pPr indent="0" marL="0">
              <a:buNone/>
            </a:pPr>
            <a:r>
              <a:rPr lang="en-US" sz="2400" dirty="0">
                <a:solidFill>
                  <a:srgbClr val="1E2761"/>
                </a:solidFill>
                <a:latin typeface="Cambria" pitchFamily="34" charset="0"/>
                <a:ea typeface="Cambria" pitchFamily="34" charset="-122"/>
                <a:cs typeface="Cambria" pitchFamily="34" charset="-120"/>
              </a:rPr>
              <a:t> und können den Dritten Stand (Bauern und Bürger, ca. 97 %) </a:t>
            </a:r>
            <a:pPr indent="0" marL="0">
              <a:buNone/>
            </a:pPr>
            <a:r>
              <a:rPr lang="en-US" sz="2400" b="1" dirty="0">
                <a:solidFill>
                  <a:srgbClr val="1E2761"/>
                </a:solidFill>
                <a:latin typeface="Cambria" pitchFamily="34" charset="0"/>
                <a:ea typeface="Cambria" pitchFamily="34" charset="-122"/>
                <a:cs typeface="Cambria" pitchFamily="34" charset="-120"/>
              </a:rPr>
              <a:t>immer überstimmen</a:t>
            </a:r>
            <a:pPr indent="0" marL="0">
              <a:buNone/>
            </a:pPr>
            <a:r>
              <a:rPr lang="en-US" sz="2400" dirty="0">
                <a:solidFill>
                  <a:srgbClr val="1E2761"/>
                </a:solidFill>
                <a:latin typeface="Cambria" pitchFamily="34" charset="0"/>
                <a:ea typeface="Cambria" pitchFamily="34" charset="-122"/>
                <a:cs typeface="Cambria" pitchFamily="34" charset="-120"/>
              </a:rPr>
              <a:t>.</a:t>
            </a:r>
            <a:endParaRPr lang="en-US" sz="2400" dirty="0"/>
          </a:p>
        </p:txBody>
      </p:sp>
      <p:sp>
        <p:nvSpPr>
          <p:cNvPr id="6" name="Shape 4"/>
          <p:cNvSpPr/>
          <p:nvPr/>
        </p:nvSpPr>
        <p:spPr>
          <a:xfrm>
            <a:off x="548640" y="3401568"/>
            <a:ext cx="11109960" cy="1143000"/>
          </a:xfrm>
          <a:prstGeom prst="roundRect">
            <a:avLst>
              <a:gd name="adj" fmla="val 6400"/>
            </a:avLst>
          </a:prstGeom>
          <a:solidFill>
            <a:srgbClr val="EAF0FA"/>
          </a:solidFill>
          <a:ln/>
        </p:spPr>
      </p:sp>
      <p:sp>
        <p:nvSpPr>
          <p:cNvPr id="7" name="Text 5"/>
          <p:cNvSpPr txBox="1"/>
          <p:nvPr/>
        </p:nvSpPr>
        <p:spPr>
          <a:xfrm>
            <a:off x="822960" y="3401568"/>
            <a:ext cx="10607040" cy="1143000"/>
          </a:xfrm>
          <a:prstGeom prst="rect">
            <a:avLst/>
          </a:prstGeom>
          <a:noFill/>
          <a:ln/>
        </p:spPr>
        <p:txBody>
          <a:bodyPr wrap="square" lIns="0" tIns="0" rIns="0" bIns="0" rtlCol="0" anchor="ctr"/>
          <a:lstStyle/>
          <a:p>
            <a:pPr indent="0" marL="0">
              <a:buNone/>
            </a:pPr>
            <a:r>
              <a:rPr lang="en-US" sz="2400" b="1" dirty="0">
                <a:solidFill>
                  <a:srgbClr val="5B6B8C"/>
                </a:solidFill>
                <a:latin typeface="Calibri" pitchFamily="34" charset="0"/>
                <a:ea typeface="Calibri" pitchFamily="34" charset="-122"/>
                <a:cs typeface="Calibri" pitchFamily="34" charset="-120"/>
              </a:rPr>
              <a:t>Beispiel:   </a:t>
            </a:r>
            <a:pPr indent="0" marL="0">
              <a:buNone/>
            </a:pPr>
            <a:r>
              <a:rPr lang="en-US" sz="2400" dirty="0">
                <a:solidFill>
                  <a:srgbClr val="1E2761"/>
                </a:solidFill>
                <a:latin typeface="Cambria" pitchFamily="34" charset="0"/>
                <a:ea typeface="Cambria" pitchFamily="34" charset="-122"/>
                <a:cs typeface="Cambria" pitchFamily="34" charset="-120"/>
              </a:rPr>
              <a:t>Eine Stimme des Klerus wiegt rund </a:t>
            </a:r>
            <a:pPr indent="0" marL="0">
              <a:buNone/>
            </a:pPr>
            <a:r>
              <a:rPr lang="en-US" sz="2400" b="1" dirty="0">
                <a:solidFill>
                  <a:srgbClr val="1E2761"/>
                </a:solidFill>
                <a:latin typeface="Cambria" pitchFamily="34" charset="0"/>
                <a:ea typeface="Cambria" pitchFamily="34" charset="-122"/>
                <a:cs typeface="Cambria" pitchFamily="34" charset="-120"/>
              </a:rPr>
              <a:t>133-mal</a:t>
            </a:r>
            <a:pPr indent="0" marL="0">
              <a:buNone/>
            </a:pPr>
            <a:r>
              <a:rPr lang="en-US" sz="2400" dirty="0">
                <a:solidFill>
                  <a:srgbClr val="1E2761"/>
                </a:solidFill>
                <a:latin typeface="Cambria" pitchFamily="34" charset="0"/>
                <a:ea typeface="Cambria" pitchFamily="34" charset="-122"/>
                <a:cs typeface="Cambria" pitchFamily="34" charset="-120"/>
              </a:rPr>
              <a:t> so viel wie eine des Dritten Standes.</a:t>
            </a:r>
            <a:endParaRPr lang="en-US" sz="2400" dirty="0"/>
          </a:p>
        </p:txBody>
      </p:sp>
      <p:sp>
        <p:nvSpPr>
          <p:cNvPr id="8" name="Shape 6"/>
          <p:cNvSpPr/>
          <p:nvPr/>
        </p:nvSpPr>
        <p:spPr>
          <a:xfrm>
            <a:off x="548640" y="4645152"/>
            <a:ext cx="11109960" cy="886968"/>
          </a:xfrm>
          <a:prstGeom prst="roundRect">
            <a:avLst>
              <a:gd name="adj" fmla="val 8247"/>
            </a:avLst>
          </a:prstGeom>
          <a:solidFill>
            <a:srgbClr val="F4F7FD"/>
          </a:solidFill>
          <a:ln/>
        </p:spPr>
      </p:sp>
      <p:sp>
        <p:nvSpPr>
          <p:cNvPr id="9" name="Text 7"/>
          <p:cNvSpPr txBox="1"/>
          <p:nvPr/>
        </p:nvSpPr>
        <p:spPr>
          <a:xfrm>
            <a:off x="822960" y="4645152"/>
            <a:ext cx="10607040" cy="886968"/>
          </a:xfrm>
          <a:prstGeom prst="rect">
            <a:avLst/>
          </a:prstGeom>
          <a:noFill/>
          <a:ln/>
        </p:spPr>
        <p:txBody>
          <a:bodyPr wrap="square" lIns="0" tIns="0" rIns="0" bIns="0" rtlCol="0" anchor="ctr"/>
          <a:lstStyle/>
          <a:p>
            <a:pPr indent="0" marL="0">
              <a:buNone/>
            </a:pPr>
            <a:r>
              <a:rPr lang="en-US" sz="2400" b="1" dirty="0">
                <a:solidFill>
                  <a:srgbClr val="D9534F"/>
                </a:solidFill>
                <a:latin typeface="Cambria" pitchFamily="34" charset="0"/>
                <a:ea typeface="Cambria" pitchFamily="34" charset="-122"/>
                <a:cs typeface="Cambria" pitchFamily="34" charset="-120"/>
              </a:rPr>
              <a:t>Test:   </a:t>
            </a:r>
            <a:pPr indent="0" marL="0">
              <a:buNone/>
            </a:pPr>
            <a:r>
              <a:rPr lang="en-US" sz="2400" dirty="0">
                <a:solidFill>
                  <a:srgbClr val="1E2761"/>
                </a:solidFill>
                <a:latin typeface="Calibri" pitchFamily="34" charset="0"/>
                <a:ea typeface="Calibri" pitchFamily="34" charset="-122"/>
                <a:cs typeface="Calibri" pitchFamily="34" charset="-120"/>
              </a:rPr>
              <a:t>Wie viele Menschen stehen hinter </a:t>
            </a:r>
            <a:pPr indent="0" marL="0">
              <a:buNone/>
            </a:pPr>
            <a:r>
              <a:rPr lang="en-US" sz="2400" b="1" dirty="0">
                <a:solidFill>
                  <a:srgbClr val="1E2761"/>
                </a:solidFill>
                <a:latin typeface="Calibri" pitchFamily="34" charset="0"/>
                <a:ea typeface="Calibri" pitchFamily="34" charset="-122"/>
                <a:cs typeface="Calibri" pitchFamily="34" charset="-120"/>
              </a:rPr>
              <a:t>einer Stimme</a:t>
            </a:r>
            <a:pPr indent="0" marL="0">
              <a:buNone/>
            </a:pPr>
            <a:r>
              <a:rPr lang="en-US" sz="2400" dirty="0">
                <a:solidFill>
                  <a:srgbClr val="1E2761"/>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548640" y="5669280"/>
            <a:ext cx="11109960" cy="777240"/>
          </a:xfrm>
          <a:prstGeom prst="roundRect">
            <a:avLst>
              <a:gd name="adj" fmla="val 9412"/>
            </a:avLst>
          </a:prstGeom>
          <a:solidFill>
            <a:srgbClr val="1E2761"/>
          </a:solidFill>
          <a:ln/>
        </p:spPr>
      </p:sp>
      <p:sp>
        <p:nvSpPr>
          <p:cNvPr id="11" name="Text 9"/>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Jetzt: </a:t>
            </a:r>
            <a:pPr indent="0" marL="0">
              <a:buNone/>
            </a:pPr>
            <a:r>
              <a:rPr lang="en-US" sz="2400" dirty="0">
                <a:solidFill>
                  <a:srgbClr val="FFFFFF"/>
                </a:solidFill>
                <a:latin typeface="Calibri" pitchFamily="34" charset="0"/>
                <a:ea typeface="Calibri" pitchFamily="34" charset="-122"/>
                <a:cs typeface="Calibri" pitchFamily="34" charset="-120"/>
              </a:rPr>
              <a:t>Schreibe den Merksatz mit Beispiel ab und rahme ihn rot ein.      </a:t>
            </a:r>
            <a:pPr indent="0" marL="0">
              <a:buNone/>
            </a:pPr>
            <a:r>
              <a:rPr lang="en-US" sz="2400" i="1" dirty="0">
                <a:solidFill>
                  <a:srgbClr val="CADCFC"/>
                </a:solidFill>
                <a:latin typeface="Calibri" pitchFamily="34" charset="0"/>
                <a:ea typeface="Calibri" pitchFamily="34" charset="-122"/>
                <a:cs typeface="Calibri" pitchFamily="34" charset="-120"/>
              </a:rPr>
              <a:t>Fertig? Stift hinlegen.</a:t>
            </a:r>
            <a:endParaRPr lang="en-US" sz="2400" dirty="0"/>
          </a:p>
        </p:txBody>
      </p:sp>
      <p:sp>
        <p:nvSpPr>
          <p:cNvPr id="12" name="Text 10"/>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3" name="Text 11"/>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14</a:t>
            </a:r>
            <a:endParaRPr lang="en-US" sz="1000" dirty="0"/>
          </a:p>
        </p:txBody>
      </p:sp>
      <p:sp>
        <p:nvSpPr>
          <p:cNvPr id="15" name="Shape 12"/>
          <p:cNvSpPr/>
          <p:nvPr/>
        </p:nvSpPr>
        <p:spPr>
          <a:xfrm>
            <a:off x="9144000" y="274320"/>
            <a:ext cx="402336" cy="402336"/>
          </a:xfrm>
          <a:prstGeom prst="ellipse">
            <a:avLst/>
          </a:prstGeom>
          <a:solidFill>
            <a:srgbClr val="EAF0FA"/>
          </a:solidFill>
          <a:ln/>
        </p:spPr>
      </p:sp>
      <p:sp>
        <p:nvSpPr>
          <p:cNvPr id="16" name="Text 13"/>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17" name="Shape 14"/>
          <p:cNvSpPr/>
          <p:nvPr/>
        </p:nvSpPr>
        <p:spPr>
          <a:xfrm>
            <a:off x="9646920" y="274320"/>
            <a:ext cx="402336" cy="402336"/>
          </a:xfrm>
          <a:prstGeom prst="ellipse">
            <a:avLst/>
          </a:prstGeom>
          <a:solidFill>
            <a:srgbClr val="EAF0FA"/>
          </a:solidFill>
          <a:ln/>
        </p:spPr>
      </p:sp>
      <p:sp>
        <p:nvSpPr>
          <p:cNvPr id="18" name="Text 15"/>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9" name="Shape 16"/>
          <p:cNvSpPr/>
          <p:nvPr/>
        </p:nvSpPr>
        <p:spPr>
          <a:xfrm>
            <a:off x="10149840" y="274320"/>
            <a:ext cx="402336" cy="402336"/>
          </a:xfrm>
          <a:prstGeom prst="ellipse">
            <a:avLst/>
          </a:prstGeom>
          <a:solidFill>
            <a:srgbClr val="EAF0FA"/>
          </a:solidFill>
          <a:ln/>
        </p:spPr>
      </p:sp>
      <p:sp>
        <p:nvSpPr>
          <p:cNvPr id="20" name="Text 17"/>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21" name="Shape 18"/>
          <p:cNvSpPr/>
          <p:nvPr/>
        </p:nvSpPr>
        <p:spPr>
          <a:xfrm>
            <a:off x="10652760" y="274320"/>
            <a:ext cx="402336" cy="402336"/>
          </a:xfrm>
          <a:prstGeom prst="ellipse">
            <a:avLst/>
          </a:prstGeom>
          <a:solidFill>
            <a:srgbClr val="D9534F"/>
          </a:solidFill>
          <a:ln/>
        </p:spPr>
      </p:sp>
      <p:sp>
        <p:nvSpPr>
          <p:cNvPr id="22" name="Text 19"/>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23" name="Shape 20"/>
          <p:cNvSpPr/>
          <p:nvPr/>
        </p:nvSpPr>
        <p:spPr>
          <a:xfrm>
            <a:off x="11155680" y="274320"/>
            <a:ext cx="402336" cy="402336"/>
          </a:xfrm>
          <a:prstGeom prst="ellipse">
            <a:avLst/>
          </a:prstGeom>
          <a:solidFill>
            <a:srgbClr val="EAF0FA"/>
          </a:solidFill>
          <a:ln/>
        </p:spPr>
      </p:sp>
      <p:sp>
        <p:nvSpPr>
          <p:cNvPr id="24" name="Text 21"/>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 · AUSWERTEN · ÜBUNG 2</a:t>
            </a:r>
            <a:endParaRPr lang="en-US" sz="13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Ist die Abstimmung fair?</a:t>
            </a:r>
            <a:endParaRPr lang="en-US" sz="3400" dirty="0"/>
          </a:p>
        </p:txBody>
      </p:sp>
      <p:sp>
        <p:nvSpPr>
          <p:cNvPr id="4" name="Shape 2"/>
          <p:cNvSpPr/>
          <p:nvPr/>
        </p:nvSpPr>
        <p:spPr>
          <a:xfrm>
            <a:off x="548640" y="1371600"/>
            <a:ext cx="11109960" cy="2148840"/>
          </a:xfrm>
          <a:prstGeom prst="roundRect">
            <a:avLst>
              <a:gd name="adj" fmla="val 3404"/>
            </a:avLst>
          </a:prstGeom>
          <a:solidFill>
            <a:srgbClr val="EAF0FA"/>
          </a:solidFill>
          <a:ln/>
        </p:spPr>
      </p:sp>
      <p:sp>
        <p:nvSpPr>
          <p:cNvPr id="5" name="Shape 3"/>
          <p:cNvSpPr/>
          <p:nvPr/>
        </p:nvSpPr>
        <p:spPr>
          <a:xfrm>
            <a:off x="731520" y="1517904"/>
            <a:ext cx="384048" cy="384048"/>
          </a:xfrm>
          <a:prstGeom prst="ellipse">
            <a:avLst/>
          </a:prstGeom>
          <a:solidFill>
            <a:srgbClr val="1E2761"/>
          </a:solidFill>
          <a:ln/>
        </p:spPr>
      </p:sp>
      <p:sp>
        <p:nvSpPr>
          <p:cNvPr id="6" name="Text 4"/>
          <p:cNvSpPr txBox="1"/>
          <p:nvPr/>
        </p:nvSpPr>
        <p:spPr>
          <a:xfrm>
            <a:off x="731520" y="151790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80160" y="1481328"/>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Schreibe Ü2 ins Heft.</a:t>
            </a:r>
            <a:endParaRPr lang="en-US" sz="2400" dirty="0"/>
          </a:p>
        </p:txBody>
      </p:sp>
      <p:sp>
        <p:nvSpPr>
          <p:cNvPr id="8" name="Shape 6"/>
          <p:cNvSpPr/>
          <p:nvPr/>
        </p:nvSpPr>
        <p:spPr>
          <a:xfrm>
            <a:off x="731520" y="2048256"/>
            <a:ext cx="384048" cy="384048"/>
          </a:xfrm>
          <a:prstGeom prst="ellipse">
            <a:avLst/>
          </a:prstGeom>
          <a:solidFill>
            <a:srgbClr val="1E2761"/>
          </a:solidFill>
          <a:ln/>
        </p:spPr>
      </p:sp>
      <p:sp>
        <p:nvSpPr>
          <p:cNvPr id="9" name="Text 7"/>
          <p:cNvSpPr txBox="1"/>
          <p:nvPr/>
        </p:nvSpPr>
        <p:spPr>
          <a:xfrm>
            <a:off x="731520" y="204825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280160" y="2011680"/>
            <a:ext cx="10241280" cy="86868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Beende den Satz: „Die Abstimmung nach Ständen ist unfair, weil …“</a:t>
            </a:r>
            <a:endParaRPr lang="en-US" sz="2400" dirty="0"/>
          </a:p>
        </p:txBody>
      </p:sp>
      <p:sp>
        <p:nvSpPr>
          <p:cNvPr id="11" name="Shape 9"/>
          <p:cNvSpPr/>
          <p:nvPr/>
        </p:nvSpPr>
        <p:spPr>
          <a:xfrm>
            <a:off x="731520" y="2990088"/>
            <a:ext cx="384048" cy="384048"/>
          </a:xfrm>
          <a:prstGeom prst="ellipse">
            <a:avLst/>
          </a:prstGeom>
          <a:solidFill>
            <a:srgbClr val="1E2761"/>
          </a:solidFill>
          <a:ln/>
        </p:spPr>
      </p:sp>
      <p:sp>
        <p:nvSpPr>
          <p:cNvPr id="12" name="Text 10"/>
          <p:cNvSpPr txBox="1"/>
          <p:nvPr/>
        </p:nvSpPr>
        <p:spPr>
          <a:xfrm>
            <a:off x="731520" y="299008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80160" y="2953512"/>
            <a:ext cx="10241280" cy="457200"/>
          </a:xfrm>
          <a:prstGeom prst="rect">
            <a:avLst/>
          </a:prstGeom>
          <a:noFill/>
          <a:ln/>
        </p:spPr>
        <p:txBody>
          <a:bodyPr wrap="square" lIns="0" tIns="0" rIns="0" bIns="0"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Begründe mit mindestens einer Zahl.</a:t>
            </a:r>
            <a:endParaRPr lang="en-US" sz="2400" dirty="0"/>
          </a:p>
        </p:txBody>
      </p:sp>
      <p:sp>
        <p:nvSpPr>
          <p:cNvPr id="14" name="Shape 12"/>
          <p:cNvSpPr/>
          <p:nvPr/>
        </p:nvSpPr>
        <p:spPr>
          <a:xfrm>
            <a:off x="548640" y="5669280"/>
            <a:ext cx="11109960" cy="777240"/>
          </a:xfrm>
          <a:prstGeom prst="roundRect">
            <a:avLst>
              <a:gd name="adj" fmla="val 9412"/>
            </a:avLst>
          </a:prstGeom>
          <a:solidFill>
            <a:srgbClr val="1E2761"/>
          </a:solidFill>
          <a:ln/>
        </p:spPr>
      </p:sp>
      <p:sp>
        <p:nvSpPr>
          <p:cNvPr id="15" name="Text 13"/>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Zeit: </a:t>
            </a:r>
            <a:pPr indent="0" marL="0">
              <a:buNone/>
            </a:pPr>
            <a:r>
              <a:rPr lang="en-US" sz="2400" dirty="0">
                <a:solidFill>
                  <a:srgbClr val="FFFFFF"/>
                </a:solidFill>
                <a:latin typeface="Calibri" pitchFamily="34" charset="0"/>
                <a:ea typeface="Calibri" pitchFamily="34" charset="-122"/>
                <a:cs typeface="Calibri" pitchFamily="34" charset="-120"/>
              </a:rPr>
              <a:t>4 Minuten · allein · leise      </a:t>
            </a:r>
            <a:pPr indent="0" marL="0">
              <a:buNone/>
            </a:pPr>
            <a:r>
              <a:rPr lang="en-US" sz="2400" i="1" dirty="0">
                <a:solidFill>
                  <a:srgbClr val="CADCFC"/>
                </a:solidFill>
                <a:latin typeface="Calibri" pitchFamily="34" charset="0"/>
                <a:ea typeface="Calibri" pitchFamily="34" charset="-122"/>
                <a:cs typeface="Calibri" pitchFamily="34" charset="-120"/>
              </a:rPr>
              <a:t>Fertig? Stift hinlegen und noch einmal durchlesen.</a:t>
            </a:r>
            <a:endParaRPr lang="en-US" sz="2400" dirty="0"/>
          </a:p>
        </p:txBody>
      </p:sp>
      <p:sp>
        <p:nvSpPr>
          <p:cNvPr id="16" name="Text 14"/>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7" name="Text 15"/>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15</a:t>
            </a:r>
            <a:endParaRPr lang="en-US" sz="1000" dirty="0"/>
          </a:p>
        </p:txBody>
      </p:sp>
      <p:sp>
        <p:nvSpPr>
          <p:cNvPr id="19" name="Shape 16"/>
          <p:cNvSpPr/>
          <p:nvPr/>
        </p:nvSpPr>
        <p:spPr>
          <a:xfrm>
            <a:off x="9144000" y="274320"/>
            <a:ext cx="402336" cy="402336"/>
          </a:xfrm>
          <a:prstGeom prst="ellipse">
            <a:avLst/>
          </a:prstGeom>
          <a:solidFill>
            <a:srgbClr val="EAF0FA"/>
          </a:solidFill>
          <a:ln/>
        </p:spPr>
      </p:sp>
      <p:sp>
        <p:nvSpPr>
          <p:cNvPr id="20" name="Text 17"/>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21" name="Shape 18"/>
          <p:cNvSpPr/>
          <p:nvPr/>
        </p:nvSpPr>
        <p:spPr>
          <a:xfrm>
            <a:off x="9646920" y="274320"/>
            <a:ext cx="402336" cy="402336"/>
          </a:xfrm>
          <a:prstGeom prst="ellipse">
            <a:avLst/>
          </a:prstGeom>
          <a:solidFill>
            <a:srgbClr val="EAF0FA"/>
          </a:solidFill>
          <a:ln/>
        </p:spPr>
      </p:sp>
      <p:sp>
        <p:nvSpPr>
          <p:cNvPr id="22" name="Text 19"/>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3" name="Shape 20"/>
          <p:cNvSpPr/>
          <p:nvPr/>
        </p:nvSpPr>
        <p:spPr>
          <a:xfrm>
            <a:off x="10149840" y="274320"/>
            <a:ext cx="402336" cy="402336"/>
          </a:xfrm>
          <a:prstGeom prst="ellipse">
            <a:avLst/>
          </a:prstGeom>
          <a:solidFill>
            <a:srgbClr val="EAF0FA"/>
          </a:solidFill>
          <a:ln/>
        </p:spPr>
      </p:sp>
      <p:sp>
        <p:nvSpPr>
          <p:cNvPr id="24" name="Text 21"/>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25" name="Shape 22"/>
          <p:cNvSpPr/>
          <p:nvPr/>
        </p:nvSpPr>
        <p:spPr>
          <a:xfrm>
            <a:off x="10652760" y="274320"/>
            <a:ext cx="402336" cy="402336"/>
          </a:xfrm>
          <a:prstGeom prst="ellipse">
            <a:avLst/>
          </a:prstGeom>
          <a:solidFill>
            <a:srgbClr val="EAF0FA"/>
          </a:solidFill>
          <a:ln/>
        </p:spPr>
      </p:sp>
      <p:sp>
        <p:nvSpPr>
          <p:cNvPr id="26" name="Text 23"/>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27" name="Shape 24"/>
          <p:cNvSpPr/>
          <p:nvPr/>
        </p:nvSpPr>
        <p:spPr>
          <a:xfrm>
            <a:off x="11155680" y="274320"/>
            <a:ext cx="402336" cy="402336"/>
          </a:xfrm>
          <a:prstGeom prst="ellipse">
            <a:avLst/>
          </a:prstGeom>
          <a:solidFill>
            <a:srgbClr val="D9534F"/>
          </a:solidFill>
          <a:ln/>
        </p:spPr>
      </p:sp>
      <p:sp>
        <p:nvSpPr>
          <p:cNvPr id="28" name="Text 25"/>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300" b="1" spc="200" kern="0" dirty="0">
                <a:solidFill>
                  <a:srgbClr val="5B6B8C"/>
                </a:solidFill>
                <a:latin typeface="Calibri" pitchFamily="34" charset="0"/>
                <a:ea typeface="Calibri" pitchFamily="34" charset="-122"/>
                <a:cs typeface="Calibri" pitchFamily="34" charset="-120"/>
              </a:rPr>
              <a:t>A · AUSWERTEN</a:t>
            </a:r>
            <a:endParaRPr lang="en-US" sz="1300" dirty="0"/>
          </a:p>
        </p:txBody>
      </p:sp>
      <p:sp>
        <p:nvSpPr>
          <p:cNvPr id="3" name="Shape 1"/>
          <p:cNvSpPr/>
          <p:nvPr/>
        </p:nvSpPr>
        <p:spPr>
          <a:xfrm>
            <a:off x="9144000" y="274320"/>
            <a:ext cx="402336" cy="402336"/>
          </a:xfrm>
          <a:prstGeom prst="ellipse">
            <a:avLst/>
          </a:prstGeom>
          <a:solidFill>
            <a:srgbClr val="EAF0FA"/>
          </a:solidFill>
          <a:ln/>
        </p:spPr>
      </p:sp>
      <p:sp>
        <p:nvSpPr>
          <p:cNvPr id="4" name="Text 2"/>
          <p:cNvSpPr txBox="1"/>
          <p:nvPr/>
        </p:nvSpPr>
        <p:spPr>
          <a:xfrm>
            <a:off x="914400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A</a:t>
            </a:r>
            <a:endParaRPr lang="en-US" sz="1400" dirty="0"/>
          </a:p>
        </p:txBody>
      </p:sp>
      <p:sp>
        <p:nvSpPr>
          <p:cNvPr id="5" name="Shape 3"/>
          <p:cNvSpPr/>
          <p:nvPr/>
        </p:nvSpPr>
        <p:spPr>
          <a:xfrm>
            <a:off x="9646920" y="274320"/>
            <a:ext cx="402336" cy="402336"/>
          </a:xfrm>
          <a:prstGeom prst="ellipse">
            <a:avLst/>
          </a:prstGeom>
          <a:solidFill>
            <a:srgbClr val="EAF0FA"/>
          </a:solidFill>
          <a:ln/>
        </p:spPr>
      </p:sp>
      <p:sp>
        <p:nvSpPr>
          <p:cNvPr id="6" name="Text 4"/>
          <p:cNvSpPr txBox="1"/>
          <p:nvPr/>
        </p:nvSpPr>
        <p:spPr>
          <a:xfrm>
            <a:off x="964692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7" name="Shape 5"/>
          <p:cNvSpPr/>
          <p:nvPr/>
        </p:nvSpPr>
        <p:spPr>
          <a:xfrm>
            <a:off x="10149840" y="274320"/>
            <a:ext cx="402336" cy="402336"/>
          </a:xfrm>
          <a:prstGeom prst="ellipse">
            <a:avLst/>
          </a:prstGeom>
          <a:solidFill>
            <a:srgbClr val="EAF0FA"/>
          </a:solidFill>
          <a:ln/>
        </p:spPr>
      </p:sp>
      <p:sp>
        <p:nvSpPr>
          <p:cNvPr id="8" name="Text 6"/>
          <p:cNvSpPr txBox="1"/>
          <p:nvPr/>
        </p:nvSpPr>
        <p:spPr>
          <a:xfrm>
            <a:off x="1014984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I</a:t>
            </a:r>
            <a:endParaRPr lang="en-US" sz="1400" dirty="0"/>
          </a:p>
        </p:txBody>
      </p:sp>
      <p:sp>
        <p:nvSpPr>
          <p:cNvPr id="9" name="Shape 7"/>
          <p:cNvSpPr/>
          <p:nvPr/>
        </p:nvSpPr>
        <p:spPr>
          <a:xfrm>
            <a:off x="10652760" y="274320"/>
            <a:ext cx="402336" cy="402336"/>
          </a:xfrm>
          <a:prstGeom prst="ellipse">
            <a:avLst/>
          </a:prstGeom>
          <a:solidFill>
            <a:srgbClr val="EAF0FA"/>
          </a:solidFill>
          <a:ln/>
        </p:spPr>
      </p:sp>
      <p:sp>
        <p:nvSpPr>
          <p:cNvPr id="10" name="Text 8"/>
          <p:cNvSpPr txBox="1"/>
          <p:nvPr/>
        </p:nvSpPr>
        <p:spPr>
          <a:xfrm>
            <a:off x="10652760" y="274320"/>
            <a:ext cx="402336" cy="402336"/>
          </a:xfrm>
          <a:prstGeom prst="rect">
            <a:avLst/>
          </a:prstGeom>
          <a:noFill/>
          <a:ln/>
        </p:spPr>
        <p:txBody>
          <a:bodyPr wrap="square" lIns="0" tIns="0" rIns="0" bIns="0" rtlCol="0" anchor="ctr"/>
          <a:lstStyle/>
          <a:p>
            <a:pPr algn="ctr" indent="0" marL="0">
              <a:buNone/>
            </a:pPr>
            <a:r>
              <a:rPr lang="en-US" sz="1400" b="1" dirty="0">
                <a:solidFill>
                  <a:srgbClr val="5B6B8C"/>
                </a:solidFill>
                <a:latin typeface="Calibri" pitchFamily="34" charset="0"/>
                <a:ea typeface="Calibri" pitchFamily="34" charset="-122"/>
                <a:cs typeface="Calibri" pitchFamily="34" charset="-120"/>
              </a:rPr>
              <a:t>V</a:t>
            </a:r>
            <a:endParaRPr lang="en-US" sz="1400" dirty="0"/>
          </a:p>
        </p:txBody>
      </p:sp>
      <p:sp>
        <p:nvSpPr>
          <p:cNvPr id="11" name="Shape 9"/>
          <p:cNvSpPr/>
          <p:nvPr/>
        </p:nvSpPr>
        <p:spPr>
          <a:xfrm>
            <a:off x="11155680" y="274320"/>
            <a:ext cx="402336" cy="402336"/>
          </a:xfrm>
          <a:prstGeom prst="ellipse">
            <a:avLst/>
          </a:prstGeom>
          <a:solidFill>
            <a:srgbClr val="D9534F"/>
          </a:solidFill>
          <a:ln/>
        </p:spPr>
      </p:sp>
      <p:sp>
        <p:nvSpPr>
          <p:cNvPr id="12" name="Text 10"/>
          <p:cNvSpPr txBox="1"/>
          <p:nvPr/>
        </p:nvSpPr>
        <p:spPr>
          <a:xfrm>
            <a:off x="11155680" y="274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Hast du die Lernziele erreicht?</a:t>
            </a:r>
            <a:endParaRPr lang="en-US" sz="3400" dirty="0"/>
          </a:p>
        </p:txBody>
      </p:sp>
      <p:sp>
        <p:nvSpPr>
          <p:cNvPr id="14" name="Text 12"/>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Generalstände · Geschichte 8</a:t>
            </a:r>
            <a:endParaRPr lang="en-US" sz="1000" dirty="0"/>
          </a:p>
        </p:txBody>
      </p:sp>
      <p:sp>
        <p:nvSpPr>
          <p:cNvPr id="15" name="Text 13"/>
          <p:cNvSpPr txBox="1"/>
          <p:nvPr/>
        </p:nvSpPr>
        <p:spPr>
          <a:xfrm>
            <a:off x="11155680" y="6510528"/>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16</a:t>
            </a:r>
            <a:endParaRPr lang="en-US" sz="1000" dirty="0"/>
          </a:p>
        </p:txBody>
      </p:sp>
      <p:sp>
        <p:nvSpPr>
          <p:cNvPr id="17" name="Shape 14"/>
          <p:cNvSpPr/>
          <p:nvPr/>
        </p:nvSpPr>
        <p:spPr>
          <a:xfrm>
            <a:off x="548640" y="1463040"/>
            <a:ext cx="11109960" cy="960120"/>
          </a:xfrm>
          <a:prstGeom prst="roundRect">
            <a:avLst>
              <a:gd name="adj" fmla="val 7619"/>
            </a:avLst>
          </a:prstGeom>
          <a:solidFill>
            <a:srgbClr val="EAF0FA"/>
          </a:solidFill>
          <a:ln/>
        </p:spPr>
      </p:sp>
      <p:sp>
        <p:nvSpPr>
          <p:cNvPr id="18" name="Shape 15"/>
          <p:cNvSpPr/>
          <p:nvPr/>
        </p:nvSpPr>
        <p:spPr>
          <a:xfrm>
            <a:off x="777240" y="1691640"/>
            <a:ext cx="502920" cy="502920"/>
          </a:xfrm>
          <a:prstGeom prst="ellipse">
            <a:avLst/>
          </a:prstGeom>
          <a:solidFill>
            <a:srgbClr val="FFFFFF"/>
          </a:solidFill>
          <a:ln w="25400">
            <a:solidFill>
              <a:srgbClr val="1E2761"/>
            </a:solidFill>
            <a:prstDash val="solid"/>
          </a:ln>
        </p:spPr>
      </p:sp>
      <p:sp>
        <p:nvSpPr>
          <p:cNvPr id="19" name="Text 16"/>
          <p:cNvSpPr txBox="1"/>
          <p:nvPr/>
        </p:nvSpPr>
        <p:spPr>
          <a:xfrm>
            <a:off x="1554480" y="1463040"/>
            <a:ext cx="9875520" cy="96012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Ich kann den Weg bis zu den Generalständen am Zeitstrahl erklären.</a:t>
            </a:r>
            <a:endParaRPr lang="en-US" sz="2400" dirty="0"/>
          </a:p>
        </p:txBody>
      </p:sp>
      <p:sp>
        <p:nvSpPr>
          <p:cNvPr id="20" name="Shape 17"/>
          <p:cNvSpPr/>
          <p:nvPr/>
        </p:nvSpPr>
        <p:spPr>
          <a:xfrm>
            <a:off x="548640" y="2542032"/>
            <a:ext cx="11109960" cy="960120"/>
          </a:xfrm>
          <a:prstGeom prst="roundRect">
            <a:avLst>
              <a:gd name="adj" fmla="val 7619"/>
            </a:avLst>
          </a:prstGeom>
          <a:solidFill>
            <a:srgbClr val="F4F7FD"/>
          </a:solidFill>
          <a:ln/>
        </p:spPr>
      </p:sp>
      <p:sp>
        <p:nvSpPr>
          <p:cNvPr id="21" name="Shape 18"/>
          <p:cNvSpPr/>
          <p:nvPr/>
        </p:nvSpPr>
        <p:spPr>
          <a:xfrm>
            <a:off x="777240" y="2770632"/>
            <a:ext cx="502920" cy="502920"/>
          </a:xfrm>
          <a:prstGeom prst="ellipse">
            <a:avLst/>
          </a:prstGeom>
          <a:solidFill>
            <a:srgbClr val="FFFFFF"/>
          </a:solidFill>
          <a:ln w="25400">
            <a:solidFill>
              <a:srgbClr val="1E2761"/>
            </a:solidFill>
            <a:prstDash val="solid"/>
          </a:ln>
        </p:spPr>
      </p:sp>
      <p:sp>
        <p:nvSpPr>
          <p:cNvPr id="22" name="Text 19"/>
          <p:cNvSpPr txBox="1"/>
          <p:nvPr/>
        </p:nvSpPr>
        <p:spPr>
          <a:xfrm>
            <a:off x="1554480" y="2542032"/>
            <a:ext cx="9875520" cy="96012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Ich kann die Abstimmung nach Ständen und nach Köpfen vergleichen.</a:t>
            </a:r>
            <a:endParaRPr lang="en-US" sz="2400" dirty="0"/>
          </a:p>
        </p:txBody>
      </p:sp>
      <p:sp>
        <p:nvSpPr>
          <p:cNvPr id="23" name="Shape 20"/>
          <p:cNvSpPr/>
          <p:nvPr/>
        </p:nvSpPr>
        <p:spPr>
          <a:xfrm>
            <a:off x="548640" y="3621024"/>
            <a:ext cx="11109960" cy="960120"/>
          </a:xfrm>
          <a:prstGeom prst="roundRect">
            <a:avLst>
              <a:gd name="adj" fmla="val 7619"/>
            </a:avLst>
          </a:prstGeom>
          <a:solidFill>
            <a:srgbClr val="EAF0FA"/>
          </a:solidFill>
          <a:ln/>
        </p:spPr>
      </p:sp>
      <p:sp>
        <p:nvSpPr>
          <p:cNvPr id="24" name="Shape 21"/>
          <p:cNvSpPr/>
          <p:nvPr/>
        </p:nvSpPr>
        <p:spPr>
          <a:xfrm>
            <a:off x="777240" y="3849624"/>
            <a:ext cx="502920" cy="502920"/>
          </a:xfrm>
          <a:prstGeom prst="ellipse">
            <a:avLst/>
          </a:prstGeom>
          <a:solidFill>
            <a:srgbClr val="FFFFFF"/>
          </a:solidFill>
          <a:ln w="25400">
            <a:solidFill>
              <a:srgbClr val="1E2761"/>
            </a:solidFill>
            <a:prstDash val="solid"/>
          </a:ln>
        </p:spPr>
      </p:sp>
      <p:sp>
        <p:nvSpPr>
          <p:cNvPr id="25" name="Text 22"/>
          <p:cNvSpPr txBox="1"/>
          <p:nvPr/>
        </p:nvSpPr>
        <p:spPr>
          <a:xfrm>
            <a:off x="1554480" y="3621024"/>
            <a:ext cx="9875520" cy="960120"/>
          </a:xfrm>
          <a:prstGeom prst="rect">
            <a:avLst/>
          </a:prstGeom>
          <a:noFill/>
          <a:ln/>
        </p:spPr>
        <p:txBody>
          <a:bodyPr wrap="square" lIns="0" tIns="0" rIns="0" bIns="0" rtlCol="0" anchor="ctr"/>
          <a:lstStyle/>
          <a:p>
            <a:pPr indent="0" marL="0">
              <a:buNone/>
            </a:pPr>
            <a:r>
              <a:rPr lang="en-US" sz="2400" dirty="0">
                <a:solidFill>
                  <a:srgbClr val="1E2761"/>
                </a:solidFill>
                <a:latin typeface="Cambria" pitchFamily="34" charset="0"/>
                <a:ea typeface="Cambria" pitchFamily="34" charset="-122"/>
                <a:cs typeface="Cambria" pitchFamily="34" charset="-120"/>
              </a:rPr>
              <a:t>Ich kann begründen, warum die Abstimmung nach Ständen unfair war.</a:t>
            </a:r>
            <a:endParaRPr lang="en-US" sz="2400" dirty="0"/>
          </a:p>
        </p:txBody>
      </p:sp>
      <p:sp>
        <p:nvSpPr>
          <p:cNvPr id="26" name="Shape 23"/>
          <p:cNvSpPr/>
          <p:nvPr/>
        </p:nvSpPr>
        <p:spPr>
          <a:xfrm>
            <a:off x="548640" y="4754880"/>
            <a:ext cx="11109960" cy="822960"/>
          </a:xfrm>
          <a:prstGeom prst="roundRect">
            <a:avLst>
              <a:gd name="adj" fmla="val 8889"/>
            </a:avLst>
          </a:prstGeom>
          <a:solidFill>
            <a:srgbClr val="1E2761"/>
          </a:solidFill>
          <a:ln/>
        </p:spPr>
      </p:sp>
      <p:sp>
        <p:nvSpPr>
          <p:cNvPr id="27" name="Text 24"/>
          <p:cNvSpPr txBox="1"/>
          <p:nvPr/>
        </p:nvSpPr>
        <p:spPr>
          <a:xfrm>
            <a:off x="822960" y="4754880"/>
            <a:ext cx="10607040" cy="8229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Nächste Stunde: Was passiert, wenn der Dritte Stand „Nach Köpfen!“ fordert?</a:t>
            </a:r>
            <a:endParaRPr lang="en-US" sz="2400" dirty="0"/>
          </a:p>
        </p:txBody>
      </p:sp>
      <p:sp>
        <p:nvSpPr>
          <p:cNvPr id="28" name="Shape 25"/>
          <p:cNvSpPr/>
          <p:nvPr/>
        </p:nvSpPr>
        <p:spPr>
          <a:xfrm>
            <a:off x="548640" y="5669280"/>
            <a:ext cx="11109960" cy="777240"/>
          </a:xfrm>
          <a:prstGeom prst="roundRect">
            <a:avLst>
              <a:gd name="adj" fmla="val 9412"/>
            </a:avLst>
          </a:prstGeom>
          <a:solidFill>
            <a:srgbClr val="1E2761"/>
          </a:solidFill>
          <a:ln/>
        </p:spPr>
      </p:sp>
      <p:sp>
        <p:nvSpPr>
          <p:cNvPr id="29" name="Text 26"/>
          <p:cNvSpPr txBox="1"/>
          <p:nvPr/>
        </p:nvSpPr>
        <p:spPr>
          <a:xfrm>
            <a:off x="822960" y="5669280"/>
            <a:ext cx="10607040" cy="7772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Hausaufgabe: </a:t>
            </a:r>
            <a:pPr indent="0" marL="0">
              <a:buNone/>
            </a:pPr>
            <a:r>
              <a:rPr lang="en-US" sz="2400" dirty="0">
                <a:solidFill>
                  <a:srgbClr val="FFFFFF"/>
                </a:solidFill>
                <a:latin typeface="Calibri" pitchFamily="34" charset="0"/>
                <a:ea typeface="Calibri" pitchFamily="34" charset="-122"/>
                <a:cs typeface="Calibri" pitchFamily="34" charset="-120"/>
              </a:rPr>
              <a:t>Testaufgaben mit Grün berichtigen.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Generalstände, Stunde 1</dc:title>
  <dc:subject>PptxGenJS Presentation</dc:subject>
  <dc:creator>PptxGenJS</dc:creator>
  <cp:lastModifiedBy>PptxGenJS</cp:lastModifiedBy>
  <cp:revision>1</cp:revision>
  <dcterms:created xsi:type="dcterms:W3CDTF">2026-10-15T17:40:32Z</dcterms:created>
  <dcterms:modified xsi:type="dcterms:W3CDTF">2026-10-15T17:40:32Z</dcterms:modified>
</cp:coreProperties>
</file>