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„Ich teile Text und Zeitstrahl aus. Jetzt arbeitet ihr allein. Die Aufgabe steht rechts.“ Danach Kontrolle an der Tafel (siehe Tafelskript): 1614 · 1778–1783 · 1787 · 1788 · August 1788 · Frühjahr 1789 · 5. Mai 1789. Dann „Vergleicht und 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„Meldet euch. Ihr schreibt noch nichts auf. Was fällt euch an diesen Zahlen auf?“ Erwartung: Der Dritte Stand (Bauern und Bürger) ist fast die ganze Bevölkerung und stellt etwa die Hälfte der Abgeordneten, hat aber nur eine von drei Stimmen. Klerus und Adel (ca. 3 %) haben zusammen zwei von drei Stimmen. Zahlen der Abgeordneten bitte gegen das Buch prüfen. Die Anzahl der Menschen stammt aus dem Gruppenpuzzle-Material.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„Wir spielen jetzt eine Abstimmung. Das ist nur ein Spiel, es gilt nicht.“ Schritt 1, nach Ständen: Jede Gruppe eine Stimme. Klerus (L1) Ja, Adel (L2) Ja, Dritter Stand (Schüler) Nein: 2:1, angenommen. Schritt 2, nach Köpfen: 2 Ja, 12 Nein: abgelehnt. Fragen: Wie fühlt sich das an? Was ist unfair? Sind die Lehrkräfte das Problem oder die Regeln? Sollbruchstelle: Bei Zeitnot entfällt die Abstimmung und beginnt Stunde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1. Rahmt ihn rot ein.“ Rechnung dazu an der Tafel: 20 000 000 : 150 000 ≈ 133 (Klerus), 20 000 000 : 500 000 = 40 (Adel).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arbeitet ihr allein. Die Aufgabe steht rechts.“ Beispiel: „… weil der Dritte Stand (Bauern und Bürger) ca. 97 % der Menschen stellt, aber nur eine von drei Stimmen hat und immer überstimmt wird.“ Ausblick: Was passiert, wenn der Dritte Stand nach Köpfen fordert und der König ablehnt? (Stunde 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 · TEXT UND ZEITSTRAHL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kam es zu den Generalständen?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737360"/>
          </a:xfrm>
          <a:prstGeom prst="roundRect">
            <a:avLst>
              <a:gd name="adj" fmla="val 4211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179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den Text. Unterstreiche die Jahreszahlen.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048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116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Trage die Daten in den Zeitstrahl ein.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25786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4203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Prüfe: Passt jedes Datum zum Ereignis?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· leise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· GEMEINSAM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hat wie viel Gewicht?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035808" cy="9144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371600"/>
            <a:ext cx="2889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0" y="1371600"/>
            <a:ext cx="1664208" cy="9144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730752" y="1371600"/>
            <a:ext cx="1517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Klerus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394960" y="1371600"/>
            <a:ext cx="1664208" cy="9144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68112" y="1371600"/>
            <a:ext cx="1517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Adel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132320" y="1371600"/>
            <a:ext cx="4453128" cy="9144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05472" y="1371600"/>
            <a:ext cx="4306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Dritter Stand (Bauern und Bürger)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2377440"/>
            <a:ext cx="3035808" cy="749808"/>
          </a:xfrm>
          <a:prstGeom prst="roundRect">
            <a:avLst>
              <a:gd name="adj" fmla="val 9756"/>
            </a:avLst>
          </a:prstGeom>
          <a:solidFill>
            <a:srgbClr val="EAF0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" y="2377440"/>
            <a:ext cx="2889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Menschen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3657600" y="2377440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730752" y="2377440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150 000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394960" y="2377440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68112" y="2377440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500 000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132320" y="2377440"/>
            <a:ext cx="445312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05472" y="2377440"/>
            <a:ext cx="4306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20 000 000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548640" y="3182112"/>
            <a:ext cx="3035808" cy="749808"/>
          </a:xfrm>
          <a:prstGeom prst="roundRect">
            <a:avLst>
              <a:gd name="adj" fmla="val 9756"/>
            </a:avLst>
          </a:prstGeom>
          <a:solidFill>
            <a:srgbClr val="EAF0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" y="3182112"/>
            <a:ext cx="2889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Anteil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3657600" y="3182112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730752" y="3182112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1 %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5394960" y="3182112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68112" y="3182112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2 %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7132320" y="3182112"/>
            <a:ext cx="445312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205472" y="3182112"/>
            <a:ext cx="4306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97 %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548640" y="3986784"/>
            <a:ext cx="3035808" cy="749808"/>
          </a:xfrm>
          <a:prstGeom prst="roundRect">
            <a:avLst>
              <a:gd name="adj" fmla="val 9756"/>
            </a:avLst>
          </a:prstGeom>
          <a:solidFill>
            <a:srgbClr val="EAF0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" y="3986784"/>
            <a:ext cx="2889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Abgeordnete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3657600" y="3986784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730752" y="3986784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290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5394960" y="3986784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68112" y="3986784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270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7132320" y="3986784"/>
            <a:ext cx="445312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205472" y="3986784"/>
            <a:ext cx="4306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580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548640" y="4791456"/>
            <a:ext cx="3035808" cy="749808"/>
          </a:xfrm>
          <a:prstGeom prst="roundRect">
            <a:avLst>
              <a:gd name="adj" fmla="val 9756"/>
            </a:avLst>
          </a:prstGeom>
          <a:solidFill>
            <a:srgbClr val="EAF0F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792" y="4791456"/>
            <a:ext cx="2889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Stimmen nach Ständen</a:t>
            </a:r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3657600" y="4791456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30752" y="4791456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40" name="Shape 38"/>
          <p:cNvSpPr/>
          <p:nvPr/>
        </p:nvSpPr>
        <p:spPr>
          <a:xfrm>
            <a:off x="5394960" y="4791456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468112" y="4791456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42" name="Shape 40"/>
          <p:cNvSpPr/>
          <p:nvPr/>
        </p:nvSpPr>
        <p:spPr>
          <a:xfrm>
            <a:off x="7132320" y="4791456"/>
            <a:ext cx="445312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205472" y="4791456"/>
            <a:ext cx="4306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44" name="Shape 4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euch. Was fällt euch auf?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ABSTIMMUNG · NUR EIN SPIEL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Antrag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463040"/>
            <a:ext cx="10469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 Schüler putzen künftig das Klassenzimmer und räumen die Tische auf. Lehrkräfte sind davon befreit.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11109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Klerus: Lehrkraft 1 · Adel: Lehrkraft 2 · Dritter Stand (Bauern und Bürger): die Schüler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Hinweis: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ist nur ein Spiel. Der Antrag gilt nicht.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1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Abstimmung nach Ständen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417320"/>
            <a:ext cx="10469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 den Generalständen hat jeder Stand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Stimme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Klerus und Adel (zusammen ca. 3 % der Bevölkerung) haben damit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von drei Stimmen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können den Dritten Stand (Bauern und Bürger, ca. 97 %)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immer überstimmen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401568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401568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Stimme des Klerus wiegt rund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133-mal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so viel wie eine des Dritten Standes.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645152"/>
            <a:ext cx="11109960" cy="886968"/>
          </a:xfrm>
          <a:prstGeom prst="roundRect">
            <a:avLst>
              <a:gd name="adj" fmla="val 8247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645152"/>
            <a:ext cx="106070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Test:   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viele Menschen stehen hinter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einer Stimme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 · AUSWERTEN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 die Abstimmung fair?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2148840"/>
          </a:xfrm>
          <a:prstGeom prst="roundRect">
            <a:avLst>
              <a:gd name="adj" fmla="val 34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179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Ü2 ins Heft.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048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1168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Beende den Satz: „Die Abstimmung nach Ständen ist unfair, weil …“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2990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9535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 mit mindestens einer Zahl.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· leise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Generalstände, Stunde 1</dc:title>
  <dc:subject>PptxGenJS Presentation</dc:subject>
  <dc:creator>PptxGenJS</dc:creator>
  <cp:lastModifiedBy>PptxGenJS</cp:lastModifiedBy>
  <cp:revision>1</cp:revision>
  <dcterms:created xsi:type="dcterms:W3CDTF">2026-10-15T17:03:12Z</dcterms:created>
  <dcterms:modified xsi:type="dcterms:W3CDTF">2026-10-15T17:03:12Z</dcterms:modified>
</cp:coreProperties>
</file>