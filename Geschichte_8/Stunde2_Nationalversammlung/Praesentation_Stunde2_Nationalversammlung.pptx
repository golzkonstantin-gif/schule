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Folie steht beim Betreten. Niemand muss etwas sagen. Die Meinung zu „Darf sich das Volk gegen einen König wehren, der allein regiert?“ bleibt im Heft (Eingangsdiagnose ohne Fachbegriff, weil die Klasse „Revolution“ noch nicht kennt; Vergleich in Stunde 11). Es gibt keine richtige Antwort, geprüft wird nichts. Lehrkraft 2 hospitiert nur. Ansage: „Stifte liegen. Ihr hört nur zu.“ Danach Folie 2 und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vorlesen (1 Minute, die Klasse hört nur zu). Am Ende (Folie 16) prüft die Klasse still, ob sie erreicht sind. Der Stern (*) bei Ziel 3 bedeutet: Das Beurteilen der Karikatur wird bei Zeitnot nur angeleitet gemeinsam gemacht.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Ablauf zeigen. Die Kreise oben rechts zeigen die Phase: A V I V A. Der Stern * bedeutet: wird eventuell nicht mehr geschafft (Beurteilen der Karikatur).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arbeitet ihr allein. Die Aufgabe steht rechts.“ Vier Sätze enthalten einen Fehler, ein Satz ist richtig. Fehler: 1 (jeder Stand hat eine Stimme, nicht jeder Abgeordnete), 3 (der Dritte Stand stellt etwa 97 %), 4 (nach Köpfen hätte er mehr Gewicht), 5 (der König lehnte ab). Satz 2 ist richtig. Wiederholung der letzten Stunde. Lehrkraft 2 hospitiert nur. Nach 3 Minuten allein: Partnercheck (1 Minute, leise), dann Folie 5. Hinweis: Die Abstimmungsmöglichkeiten nach Ständen und nach Köpfen sind laut Lehrkraft noch nicht sicher.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„Vergleicht und verbessert mit Grün.“ Die korrigierten Stellen stehen grün. Satz 2 war richtig. Gezielte Abfrage (2 bis 3 Personen, kein Gespräch): „Wie viele Stimmen hat der Dritte Stand nach Ständen? Und nach Köpfen?“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erklären (1 Minute), das Bild trägt die Wiederholung. Gedankenspiel aus Stunde 1 (Antrag: Auch Adel und Klerus zahlen Steuern): Nach Ständen stimmen Klerus Nein, Adel Nein, Dritter Stand Ja: 2 zu 1, abgelehnt. Nach Köpfen Ja 580, Nein 290 + 270 = 560: knapp angenommen. Wichtig: Es wurde 1789 nicht nach Köpfen abgestimmt, der Streit um die Regel blockierte die Generalstände. Gezielte Abfrage statt Gespräch.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„Ich teile das Arbeitsblatt aus. Jetzt arbeitet ihr allein. Die Aufgabe steht rechts.“ Oben der Text mit der Quelle von Sieyès, unten der Zeitstrahl mit vorgegebenen Daten und leeren Ereignisfeldern. Warnung vor dem Fehler: Das Lehrbuch nennt den 20. Juni für die Nationalversammlung, historisch ist es der 17. Juni (Nationalversammlung) und der 20. Juni (Ballhausschwur). Material vorab auf den Plätzen. Erwartung zu 3: Der Dritte Stand stellt etwa 97 % der Menschen (ca. 20 Mio. von rund 20,65 Mio.), deshalb sagt Sieyès, er sei 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nach dem Partnervergleich zeigen (1 Minute, „Vergleicht und verbessert mit Grün.“). Mögliche Kreide-Kette bei 12 Schülern, nur wenn Zeit ist. Quelle: Sieyès (verfasst 1788, erschienen Winter 1788/89).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 zeigen (1 Minute), keine Besprechung. Quelle: Zeichnung von Jacques-Louis David, 1791 (Lehrbuch S. 113, Q4). Das Buch weist darauf hin, dass die Zeichnung nicht den tatsächlichen Hergang wiedergibt: Im Vordergrund verbrüdern sich ein Mönch, ein katholischer Priester und ein protestantischer Pfarrer. Der Zeichner steht auf der Seite der Revolution. Hinweis für die Klasse: Hier sieht man, wie die Abgeordneten ihren Schwur dargestellt haben wollten.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schreibt ihr von der Folie ab: Merksatz 1. Rahmt ihn rot ein.“ Danach „Vergleicht und verbessert mit Grün.“ Warnung vor dem Fehler: 17. Juni (Nationalversammlung) und 20. Juni (Ballhausschwur) nicht verwechseln.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Methode direkt (Portion 1, 1 Minute): Thema und Ziel nennen. Eine Karikatur ist ein Bild, das übertreibt, um eine Meinung zu zeigen. Wir gehen immer in drei Schritten vor: beschreiben, deuten, beurteilen. Die Schnipsel mit Satzanfängen liegen auf den Tischen (Buch S. 116: Historienbilder, gleiche Struktur). Warnung vor dem Fehler: Nicht sofort deuten, erst genau beschreiben.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 (3 Minuten, die Lehrkraft denkt laut, Klasse hört nur zu, „Stifte liegen“). Das Bild kennt die Klasse aus dem Absolutismus (Beischrift im Dialekt: „Man muss hoffen, dass dieses Spiel bald endet.“, 1789). 1 Beschreiben: „Ich sehe einen alten Bauern mit Sense, gebückt. Auf seinem Rücken sitzen ein Geistlicher mit Kreuz und ein Adliger mit Degen und Federhut. Unten fressen Hasen am Kohl, Hühner picken.“ 2 Deuten: „Der Bauer steht für den Dritten Stand (Bauern und Bürger). Er trägt Klerus und Adel: Er zahlt die Steuern, die beiden anderen nicht. Die Hasen am Kohl stehen für das Jagdrecht des Adels, das Wild frisst die Felder der Bauern. Die Beischrift sagt, dass das Spiel bald enden soll.“ 3 Beurteilen: „Der Zeichner steht auf der Seite des Dritten Standes. Er übertreibt, es gab auch arme Adlige und Geistliche. Aber er trifft etwas Richtiges: Klerus und Adel zahlten kaum Steuern. Er will, dass sich etwas ändert, 1789, vor den Generalständen.“ Warnung vor dem Fehler: nicht nur nennen, was man sieht, sondern deuten.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„Arbeitet zu zweit. Flüsterstufe. Die Aufgabe steht rechts.“ Partnerarbeit 7 Minuten, die Schnipsel mit dem Dreischritt liegen auf dem Tisch, die Hilfekarten (Stufe 1 bis 3) liegen am Pult und werden nur auf Nachfrage geholt. Lehrkraft geht durch die Reihen und liest bei 4 bis 6 Paaren mit (unbenotet). Bild: Nachkolorierter Kupferstich, Paris, 1789 (Lehrbuch S. 111, Q3). Bildtext: „Jeden Tag mitten auf dem Feld – in Hitze und Kälte – sieht man den armen Bauern – arbeitend das ganze Jahr über – um mit seiner Arbeit das Geld zu verdienen – und damit den Steuereintreiber zu bezahlen.“ Beischrift oben: „Ne pour la peine“ (Für die Mühsal geboren), unten: „L'Homme de Village“ (Der Mann des Dorfes). Schritt 3 hat einen Stern (*): Bei Zeitnot nur angeleitet gemeinsam. Beurteilen heißt hier: Stimmt das Bild mit dem überein, was wir über Steuern und Stände wissen, wo übertreibt es, was will der Zeichner erreichen?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Sicherung (3 Minuten): gezielte Abfrage bei 3 Paaren (je ein Schritt), kein Gespräch. Erwartung (Auswahl): 1 Beschreiben: großer Bauer mit Hut, Stock, Sack und Werkzeug; im Hintergrund Dorf mit Kirche, Tiere (Schwein, Huhn), ein weiterer Arbeiter; Titel und Bildtext. 2 Deuten: Der Bauer steht für alle Bauern und den Dritten Stand (Bauern und Bürger); er arbeitet das ganze Jahr, um Steuern zu zahlen. Einzelne Bildelemente (z. B. der Hahn auf dem Stock) sind nicht sicher gedeutet: ehrlich offen lassen. 3 Beurteilen: Der Zeichner zeigt den Bauern als Opfer und will Mitleid und Veränderung; das passt zu den Beschwerden (Steuern), übertreibt aber, weil nicht alle Bauern gleich arm waren.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Ihr hört nur zu. Das ist die letzte Aufgabe. Jetzt arbeitet ihr allein. Die Aufgabe steht rechts.“ Zehn Sekunden denken, dann schreiben. Es gibt mehrere gute Antworten, geprüft wird die Begründung: eine Position, ein Sachargument aus der Stunde, ein „weil“. Erwartung (Auswahl, keine Musterlösung): SCHWÖREN: Die Abgeordneten vertreten fast alle Menschen (Sieyès: ALLES); wenn alle schwören, kann der König nicht alle verhaften; wer jetzt nachgibt, dem bleibt alles beim Alten; ohne Verfassung entscheidet der König weiter allein; Hunger und Steuern der Menschen. NICHT SCHWÖREN: Die Familie ist in Gefahr; Gewalt vermeiden; allein ist man leicht zu verhaften; später verhandeln. Zwischenlösung (schwören, aber Familie in Sicherheit bringen) ist begründbar. Historisch schworen fast alle Abgeordneten. Das Risiko macht die Frage persönlich: Es steht etwas auf dem Spiel. Form nach Verlauf: Blitzlicht (je eine Stimme „schwören“, eine „nicht schwören“, gezielt aufgerufen), schriftlich mit Vorlesen oder Berater-Duell zu zweit. Stichprobe: bei 4 bis 6 Heften mitlesen, nicht kommentieren (unbenotet). Die Figuren sind Zeichnungen, keine historischen Porträts.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Klasse prüft still: Kann ich das? Danach Folie 17. Keine Antworten ins Plenum, keine Abfrage von Selbsteinschätzungen. Wenn das Beurteilen der Karikatur (*) nicht mehr geschafft wurde, kommt es in Stunde 3 als Wiederholung.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nur lesen (1 Minute). Ausblick: Anfang Juli zieht der König Soldaten um Paris zusammen und entlässt seinen Finanzminister. In Paris wächst die Angst. Das sehen wir in der nächsten Stunde (Bastille, Ende der Vorrechte, Menschenrechte).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1005840"/>
            <a:ext cx="105156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Der Dritte Stand handelt</a:t>
            </a:r>
            <a:endParaRPr lang="en-US" sz="4800" dirty="0"/>
          </a:p>
        </p:txBody>
      </p:sp>
      <p:sp>
        <p:nvSpPr>
          <p:cNvPr id="5" name="Text 3"/>
          <p:cNvSpPr txBox="1"/>
          <p:nvPr/>
        </p:nvSpPr>
        <p:spPr>
          <a:xfrm>
            <a:off x="822960" y="2011680"/>
            <a:ext cx="10515600" cy="548640"/>
          </a:xfrm>
          <a:prstGeom prst="rect">
            <a:avLst/>
          </a:prstGeom>
          <a:noFill/>
          <a:ln/>
        </p:spPr>
        <p:txBody>
          <a:bodyPr wrap="square" lIns="0" tIns="0" rIns="0" bIns="0" rtlCol="0" anchor="t"/>
          <a:lstStyle/>
          <a:p>
            <a:pPr indent="0" marL="0">
              <a:buNone/>
            </a:pPr>
            <a:r>
              <a:rPr lang="en-US" sz="2600" i="1" dirty="0">
                <a:solidFill>
                  <a:srgbClr val="CADCFC"/>
                </a:solidFill>
                <a:latin typeface="Calibri" pitchFamily="34" charset="0"/>
                <a:ea typeface="Calibri" pitchFamily="34" charset="-122"/>
                <a:cs typeface="Calibri" pitchFamily="34" charset="-120"/>
              </a:rPr>
              <a:t>Nationalversammlung und Ballhausschwur 1789</a:t>
            </a:r>
            <a:endParaRPr lang="en-US" sz="2600" dirty="0"/>
          </a:p>
        </p:txBody>
      </p:sp>
      <p:sp>
        <p:nvSpPr>
          <p:cNvPr id="6" name="Shape 4"/>
          <p:cNvSpPr/>
          <p:nvPr/>
        </p:nvSpPr>
        <p:spPr>
          <a:xfrm>
            <a:off x="822960" y="3017520"/>
            <a:ext cx="10515600" cy="2743200"/>
          </a:xfrm>
          <a:prstGeom prst="roundRect">
            <a:avLst>
              <a:gd name="adj" fmla="val 2667"/>
            </a:avLst>
          </a:prstGeom>
          <a:solidFill>
            <a:srgbClr val="24306E"/>
          </a:solidFill>
          <a:ln/>
        </p:spPr>
      </p:sp>
      <p:sp>
        <p:nvSpPr>
          <p:cNvPr id="7" name="Text 5"/>
          <p:cNvSpPr txBox="1"/>
          <p:nvPr/>
        </p:nvSpPr>
        <p:spPr>
          <a:xfrm>
            <a:off x="1097280" y="3108960"/>
            <a:ext cx="54864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Ankommen</a:t>
            </a:r>
            <a:endParaRPr lang="en-US" sz="2600" dirty="0"/>
          </a:p>
        </p:txBody>
      </p:sp>
      <p:sp>
        <p:nvSpPr>
          <p:cNvPr id="8" name="Shape 6"/>
          <p:cNvSpPr/>
          <p:nvPr/>
        </p:nvSpPr>
        <p:spPr>
          <a:xfrm>
            <a:off x="1097280" y="3749040"/>
            <a:ext cx="365760" cy="365760"/>
          </a:xfrm>
          <a:prstGeom prst="ellipse">
            <a:avLst/>
          </a:prstGeom>
          <a:solidFill>
            <a:srgbClr val="D9534F"/>
          </a:solidFill>
          <a:ln/>
        </p:spPr>
      </p:sp>
      <p:sp>
        <p:nvSpPr>
          <p:cNvPr id="9" name="Text 7"/>
          <p:cNvSpPr txBox="1"/>
          <p:nvPr/>
        </p:nvSpPr>
        <p:spPr>
          <a:xfrm>
            <a:off x="1097280" y="374904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691640" y="3703320"/>
            <a:ext cx="9418320" cy="45720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Hole dein Heft heraus.</a:t>
            </a:r>
            <a:endParaRPr lang="en-US" sz="2700" dirty="0"/>
          </a:p>
        </p:txBody>
      </p:sp>
      <p:sp>
        <p:nvSpPr>
          <p:cNvPr id="11" name="Shape 9"/>
          <p:cNvSpPr/>
          <p:nvPr/>
        </p:nvSpPr>
        <p:spPr>
          <a:xfrm>
            <a:off x="1097280" y="4389120"/>
            <a:ext cx="365760" cy="365760"/>
          </a:xfrm>
          <a:prstGeom prst="ellipse">
            <a:avLst/>
          </a:prstGeom>
          <a:solidFill>
            <a:srgbClr val="D9534F"/>
          </a:solidFill>
          <a:ln/>
        </p:spPr>
      </p:sp>
      <p:sp>
        <p:nvSpPr>
          <p:cNvPr id="12" name="Text 10"/>
          <p:cNvSpPr txBox="1"/>
          <p:nvPr/>
        </p:nvSpPr>
        <p:spPr>
          <a:xfrm>
            <a:off x="1097280" y="43891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1691640" y="4343400"/>
            <a:ext cx="9418320" cy="45720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Schreibe Datum und Überschrift „Der Dritte Stand handelt“.</a:t>
            </a:r>
            <a:endParaRPr lang="en-US" sz="2700" dirty="0"/>
          </a:p>
        </p:txBody>
      </p:sp>
      <p:sp>
        <p:nvSpPr>
          <p:cNvPr id="14" name="Shape 12"/>
          <p:cNvSpPr/>
          <p:nvPr/>
        </p:nvSpPr>
        <p:spPr>
          <a:xfrm>
            <a:off x="1097280" y="5029200"/>
            <a:ext cx="365760" cy="365760"/>
          </a:xfrm>
          <a:prstGeom prst="ellipse">
            <a:avLst/>
          </a:prstGeom>
          <a:solidFill>
            <a:srgbClr val="D9534F"/>
          </a:solidFill>
          <a:ln/>
        </p:spPr>
      </p:sp>
      <p:sp>
        <p:nvSpPr>
          <p:cNvPr id="15" name="Text 13"/>
          <p:cNvSpPr txBox="1"/>
          <p:nvPr/>
        </p:nvSpPr>
        <p:spPr>
          <a:xfrm>
            <a:off x="1097280" y="502920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691640" y="4983480"/>
            <a:ext cx="9418320" cy="45720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Darf sich das Volk gegen einen König wehren, der allein regiert? Schreibe: Ich finde …, weil …</a:t>
            </a:r>
            <a:endParaRPr lang="en-US" sz="2700" dirty="0"/>
          </a:p>
        </p:txBody>
      </p:sp>
      <p:sp>
        <p:nvSpPr>
          <p:cNvPr id="17" name="Text 15"/>
          <p:cNvSpPr txBox="1"/>
          <p:nvPr/>
        </p:nvSpPr>
        <p:spPr>
          <a:xfrm>
            <a:off x="822960" y="6217920"/>
            <a:ext cx="73152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Geschichte, Klasse 8C · Französische Revolution · Stunde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LERNZIELE</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Das kannst du am Ende der Stunde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554480"/>
            <a:ext cx="11109960" cy="1188720"/>
          </a:xfrm>
          <a:prstGeom prst="roundRect">
            <a:avLst>
              <a:gd name="adj" fmla="val 6154"/>
            </a:avLst>
          </a:prstGeom>
          <a:solidFill>
            <a:srgbClr val="EAF0FA"/>
          </a:solidFill>
          <a:ln/>
        </p:spPr>
      </p:sp>
      <p:sp>
        <p:nvSpPr>
          <p:cNvPr id="8" name="Shape 5"/>
          <p:cNvSpPr/>
          <p:nvPr/>
        </p:nvSpPr>
        <p:spPr>
          <a:xfrm>
            <a:off x="822960" y="1920240"/>
            <a:ext cx="457200" cy="457200"/>
          </a:xfrm>
          <a:prstGeom prst="ellipse">
            <a:avLst/>
          </a:prstGeom>
          <a:solidFill>
            <a:srgbClr val="D9534F"/>
          </a:solidFill>
          <a:ln/>
        </p:spPr>
      </p:sp>
      <p:sp>
        <p:nvSpPr>
          <p:cNvPr id="9" name="Text 6"/>
          <p:cNvSpPr txBox="1"/>
          <p:nvPr/>
        </p:nvSpPr>
        <p:spPr>
          <a:xfrm>
            <a:off x="822960" y="1920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1554480" y="1554480"/>
            <a:ext cx="9875520" cy="11887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erklären, warum sich der Dritte Stand (Bauern und Bürger) 1789 zur Nationalversammlung erklärte.</a:t>
            </a:r>
            <a:endParaRPr lang="en-US" sz="2700" dirty="0"/>
          </a:p>
        </p:txBody>
      </p:sp>
      <p:sp>
        <p:nvSpPr>
          <p:cNvPr id="11" name="Shape 8"/>
          <p:cNvSpPr/>
          <p:nvPr/>
        </p:nvSpPr>
        <p:spPr>
          <a:xfrm>
            <a:off x="548640" y="2926080"/>
            <a:ext cx="11109960" cy="1188720"/>
          </a:xfrm>
          <a:prstGeom prst="roundRect">
            <a:avLst>
              <a:gd name="adj" fmla="val 6154"/>
            </a:avLst>
          </a:prstGeom>
          <a:solidFill>
            <a:srgbClr val="F4F7FD"/>
          </a:solidFill>
          <a:ln/>
        </p:spPr>
      </p:sp>
      <p:sp>
        <p:nvSpPr>
          <p:cNvPr id="12" name="Shape 9"/>
          <p:cNvSpPr/>
          <p:nvPr/>
        </p:nvSpPr>
        <p:spPr>
          <a:xfrm>
            <a:off x="822960" y="3291840"/>
            <a:ext cx="457200" cy="457200"/>
          </a:xfrm>
          <a:prstGeom prst="ellipse">
            <a:avLst/>
          </a:prstGeom>
          <a:solidFill>
            <a:srgbClr val="D9534F"/>
          </a:solidFill>
          <a:ln/>
        </p:spPr>
      </p:sp>
      <p:sp>
        <p:nvSpPr>
          <p:cNvPr id="13" name="Text 10"/>
          <p:cNvSpPr txBox="1"/>
          <p:nvPr/>
        </p:nvSpPr>
        <p:spPr>
          <a:xfrm>
            <a:off x="822960" y="3291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1554480" y="2926080"/>
            <a:ext cx="9875520" cy="11887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erklären, was die Abgeordneten im Ballhausschwur versprachen.</a:t>
            </a:r>
            <a:endParaRPr lang="en-US" sz="2700" dirty="0"/>
          </a:p>
        </p:txBody>
      </p:sp>
      <p:sp>
        <p:nvSpPr>
          <p:cNvPr id="15" name="Shape 12"/>
          <p:cNvSpPr/>
          <p:nvPr/>
        </p:nvSpPr>
        <p:spPr>
          <a:xfrm>
            <a:off x="548640" y="4297680"/>
            <a:ext cx="11109960" cy="1188720"/>
          </a:xfrm>
          <a:prstGeom prst="roundRect">
            <a:avLst>
              <a:gd name="adj" fmla="val 6154"/>
            </a:avLst>
          </a:prstGeom>
          <a:solidFill>
            <a:srgbClr val="EAF0FA"/>
          </a:solidFill>
          <a:ln/>
        </p:spPr>
      </p:sp>
      <p:sp>
        <p:nvSpPr>
          <p:cNvPr id="16" name="Shape 13"/>
          <p:cNvSpPr/>
          <p:nvPr/>
        </p:nvSpPr>
        <p:spPr>
          <a:xfrm>
            <a:off x="822960" y="4663440"/>
            <a:ext cx="457200" cy="457200"/>
          </a:xfrm>
          <a:prstGeom prst="ellipse">
            <a:avLst/>
          </a:prstGeom>
          <a:solidFill>
            <a:srgbClr val="D9534F"/>
          </a:solidFill>
          <a:ln/>
        </p:spPr>
      </p:sp>
      <p:sp>
        <p:nvSpPr>
          <p:cNvPr id="17" name="Text 14"/>
          <p:cNvSpPr txBox="1"/>
          <p:nvPr/>
        </p:nvSpPr>
        <p:spPr>
          <a:xfrm>
            <a:off x="822960" y="4663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1554480" y="4297680"/>
            <a:ext cx="9875520" cy="11887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eine Karikatur analysieren: beschreiben, deuten, beurteilen.*</a:t>
            </a:r>
            <a:endParaRPr lang="en-US" sz="2700" dirty="0"/>
          </a:p>
        </p:txBody>
      </p:sp>
      <p:sp>
        <p:nvSpPr>
          <p:cNvPr id="19" name="Shape 16"/>
          <p:cNvSpPr/>
          <p:nvPr/>
        </p:nvSpPr>
        <p:spPr>
          <a:xfrm>
            <a:off x="548640" y="5669280"/>
            <a:ext cx="11109960" cy="777240"/>
          </a:xfrm>
          <a:prstGeom prst="roundRect">
            <a:avLst>
              <a:gd name="adj" fmla="val 9412"/>
            </a:avLst>
          </a:prstGeom>
          <a:solidFill>
            <a:srgbClr val="1E2761"/>
          </a:solidFill>
          <a:ln/>
        </p:spPr>
      </p:sp>
      <p:sp>
        <p:nvSpPr>
          <p:cNvPr id="20" name="Text 1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Heute: </a:t>
            </a:r>
            <a:pPr indent="0" marL="0">
              <a:buNone/>
            </a:pPr>
            <a:r>
              <a:rPr lang="en-US" sz="2700" dirty="0">
                <a:solidFill>
                  <a:srgbClr val="FFFFFF"/>
                </a:solidFill>
                <a:latin typeface="Calibri" pitchFamily="34" charset="0"/>
                <a:ea typeface="Calibri" pitchFamily="34" charset="-122"/>
                <a:cs typeface="Calibri" pitchFamily="34" charset="-120"/>
              </a:rPr>
              <a:t>Nationalversammlung, Ballhausschwur und eine Karikatur.</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ABLAUF</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So arbeiten wir heute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737360"/>
            <a:ext cx="2103120" cy="3291840"/>
          </a:xfrm>
          <a:prstGeom prst="roundRect">
            <a:avLst>
              <a:gd name="adj" fmla="val 3478"/>
            </a:avLst>
          </a:prstGeom>
          <a:solidFill>
            <a:srgbClr val="EAF0FA"/>
          </a:solidFill>
          <a:ln/>
        </p:spPr>
      </p:sp>
      <p:sp>
        <p:nvSpPr>
          <p:cNvPr id="8" name="Shape 5"/>
          <p:cNvSpPr/>
          <p:nvPr/>
        </p:nvSpPr>
        <p:spPr>
          <a:xfrm>
            <a:off x="1234440" y="1920240"/>
            <a:ext cx="731520" cy="731520"/>
          </a:xfrm>
          <a:prstGeom prst="ellipse">
            <a:avLst/>
          </a:prstGeom>
          <a:solidFill>
            <a:srgbClr val="D9534F"/>
          </a:solidFill>
          <a:ln/>
        </p:spPr>
      </p:sp>
      <p:sp>
        <p:nvSpPr>
          <p:cNvPr id="9" name="Text 6"/>
          <p:cNvSpPr txBox="1"/>
          <p:nvPr/>
        </p:nvSpPr>
        <p:spPr>
          <a:xfrm>
            <a:off x="123444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10" name="Text 7"/>
          <p:cNvSpPr txBox="1"/>
          <p:nvPr/>
        </p:nvSpPr>
        <p:spPr>
          <a:xfrm>
            <a:off x="548640" y="2834640"/>
            <a:ext cx="2103120" cy="45720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Ankommen</a:t>
            </a:r>
            <a:endParaRPr lang="en-US" sz="2700" dirty="0"/>
          </a:p>
        </p:txBody>
      </p:sp>
      <p:sp>
        <p:nvSpPr>
          <p:cNvPr id="11" name="Text 8"/>
          <p:cNvSpPr txBox="1"/>
          <p:nvPr/>
        </p:nvSpPr>
        <p:spPr>
          <a:xfrm>
            <a:off x="640080" y="3383280"/>
            <a:ext cx="1920240" cy="914400"/>
          </a:xfrm>
          <a:prstGeom prst="rect">
            <a:avLst/>
          </a:prstGeom>
          <a:noFill/>
          <a:ln/>
        </p:spPr>
        <p:txBody>
          <a:bodyPr wrap="square" lIns="0" tIns="0" rIns="0" bIns="0" rtlCol="0" anchor="t"/>
          <a:lstStyle/>
          <a:p>
            <a:pPr algn="ctr" indent="0" marL="0">
              <a:buNone/>
            </a:pPr>
            <a:r>
              <a:rPr lang="en-US" sz="2700" dirty="0">
                <a:solidFill>
                  <a:srgbClr val="5B6B8C"/>
                </a:solidFill>
                <a:latin typeface="Calibri" pitchFamily="34" charset="0"/>
                <a:ea typeface="Calibri" pitchFamily="34" charset="-122"/>
                <a:cs typeface="Calibri" pitchFamily="34" charset="-120"/>
              </a:rPr>
              <a:t>Ziele</a:t>
            </a:r>
            <a:endParaRPr lang="en-US" sz="2700" dirty="0"/>
          </a:p>
        </p:txBody>
      </p:sp>
      <p:sp>
        <p:nvSpPr>
          <p:cNvPr id="12" name="Text 9"/>
          <p:cNvSpPr txBox="1"/>
          <p:nvPr/>
        </p:nvSpPr>
        <p:spPr>
          <a:xfrm>
            <a:off x="548640" y="4389120"/>
            <a:ext cx="2103120" cy="457200"/>
          </a:xfrm>
          <a:prstGeom prst="rect">
            <a:avLst/>
          </a:prstGeom>
          <a:noFill/>
          <a:ln/>
        </p:spPr>
        <p:txBody>
          <a:bodyPr wrap="square" lIns="0" tIns="0" rIns="0" bIns="0" rtlCol="0" anchor="t"/>
          <a:lstStyle/>
          <a:p>
            <a:pPr algn="ctr" indent="0" marL="0">
              <a:buNone/>
            </a:pPr>
            <a:r>
              <a:rPr lang="en-US" sz="2700" b="1" dirty="0">
                <a:solidFill>
                  <a:srgbClr val="D9534F"/>
                </a:solidFill>
                <a:latin typeface="Calibri" pitchFamily="34" charset="0"/>
                <a:ea typeface="Calibri" pitchFamily="34" charset="-122"/>
                <a:cs typeface="Calibri" pitchFamily="34" charset="-120"/>
              </a:rPr>
              <a:t>3 Min.</a:t>
            </a:r>
            <a:endParaRPr lang="en-US" sz="2700" dirty="0"/>
          </a:p>
        </p:txBody>
      </p:sp>
      <p:sp>
        <p:nvSpPr>
          <p:cNvPr id="13" name="Shape 10"/>
          <p:cNvSpPr/>
          <p:nvPr/>
        </p:nvSpPr>
        <p:spPr>
          <a:xfrm>
            <a:off x="2788920" y="1737360"/>
            <a:ext cx="2103120" cy="3291840"/>
          </a:xfrm>
          <a:prstGeom prst="roundRect">
            <a:avLst>
              <a:gd name="adj" fmla="val 3478"/>
            </a:avLst>
          </a:prstGeom>
          <a:solidFill>
            <a:srgbClr val="F4F7FD"/>
          </a:solidFill>
          <a:ln/>
        </p:spPr>
      </p:sp>
      <p:sp>
        <p:nvSpPr>
          <p:cNvPr id="14" name="Shape 11"/>
          <p:cNvSpPr/>
          <p:nvPr/>
        </p:nvSpPr>
        <p:spPr>
          <a:xfrm>
            <a:off x="3474720" y="1920240"/>
            <a:ext cx="731520" cy="731520"/>
          </a:xfrm>
          <a:prstGeom prst="ellipse">
            <a:avLst/>
          </a:prstGeom>
          <a:solidFill>
            <a:srgbClr val="D9534F"/>
          </a:solidFill>
          <a:ln/>
        </p:spPr>
      </p:sp>
      <p:sp>
        <p:nvSpPr>
          <p:cNvPr id="15" name="Text 12"/>
          <p:cNvSpPr txBox="1"/>
          <p:nvPr/>
        </p:nvSpPr>
        <p:spPr>
          <a:xfrm>
            <a:off x="347472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16" name="Text 13"/>
          <p:cNvSpPr txBox="1"/>
          <p:nvPr/>
        </p:nvSpPr>
        <p:spPr>
          <a:xfrm>
            <a:off x="2788920" y="2834640"/>
            <a:ext cx="2103120" cy="45720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Vorwissen</a:t>
            </a:r>
            <a:endParaRPr lang="en-US" sz="2700" dirty="0"/>
          </a:p>
        </p:txBody>
      </p:sp>
      <p:sp>
        <p:nvSpPr>
          <p:cNvPr id="17" name="Text 14"/>
          <p:cNvSpPr txBox="1"/>
          <p:nvPr/>
        </p:nvSpPr>
        <p:spPr>
          <a:xfrm>
            <a:off x="2880360" y="3383280"/>
            <a:ext cx="1920240" cy="914400"/>
          </a:xfrm>
          <a:prstGeom prst="rect">
            <a:avLst/>
          </a:prstGeom>
          <a:noFill/>
          <a:ln/>
        </p:spPr>
        <p:txBody>
          <a:bodyPr wrap="square" lIns="0" tIns="0" rIns="0" bIns="0" rtlCol="0" anchor="t"/>
          <a:lstStyle/>
          <a:p>
            <a:pPr algn="ctr" indent="0" marL="0">
              <a:buNone/>
            </a:pPr>
            <a:r>
              <a:rPr lang="en-US" sz="2700" dirty="0">
                <a:solidFill>
                  <a:srgbClr val="5B6B8C"/>
                </a:solidFill>
                <a:latin typeface="Calibri" pitchFamily="34" charset="0"/>
                <a:ea typeface="Calibri" pitchFamily="34" charset="-122"/>
                <a:cs typeface="Calibri" pitchFamily="34" charset="-120"/>
              </a:rPr>
              <a:t>Abstimmung</a:t>
            </a:r>
            <a:endParaRPr lang="en-US" sz="2700" dirty="0"/>
          </a:p>
        </p:txBody>
      </p:sp>
      <p:sp>
        <p:nvSpPr>
          <p:cNvPr id="18" name="Text 15"/>
          <p:cNvSpPr txBox="1"/>
          <p:nvPr/>
        </p:nvSpPr>
        <p:spPr>
          <a:xfrm>
            <a:off x="2788920" y="4389120"/>
            <a:ext cx="2103120" cy="457200"/>
          </a:xfrm>
          <a:prstGeom prst="rect">
            <a:avLst/>
          </a:prstGeom>
          <a:noFill/>
          <a:ln/>
        </p:spPr>
        <p:txBody>
          <a:bodyPr wrap="square" lIns="0" tIns="0" rIns="0" bIns="0" rtlCol="0" anchor="t"/>
          <a:lstStyle/>
          <a:p>
            <a:pPr algn="ctr" indent="0" marL="0">
              <a:buNone/>
            </a:pPr>
            <a:r>
              <a:rPr lang="en-US" sz="2700" b="1" dirty="0">
                <a:solidFill>
                  <a:srgbClr val="D9534F"/>
                </a:solidFill>
                <a:latin typeface="Calibri" pitchFamily="34" charset="0"/>
                <a:ea typeface="Calibri" pitchFamily="34" charset="-122"/>
                <a:cs typeface="Calibri" pitchFamily="34" charset="-120"/>
              </a:rPr>
              <a:t>6 Min.</a:t>
            </a:r>
            <a:endParaRPr lang="en-US" sz="2700" dirty="0"/>
          </a:p>
        </p:txBody>
      </p:sp>
      <p:sp>
        <p:nvSpPr>
          <p:cNvPr id="19" name="Shape 16"/>
          <p:cNvSpPr/>
          <p:nvPr/>
        </p:nvSpPr>
        <p:spPr>
          <a:xfrm>
            <a:off x="5029200" y="1737360"/>
            <a:ext cx="2103120" cy="3291840"/>
          </a:xfrm>
          <a:prstGeom prst="roundRect">
            <a:avLst>
              <a:gd name="adj" fmla="val 3478"/>
            </a:avLst>
          </a:prstGeom>
          <a:solidFill>
            <a:srgbClr val="EAF0FA"/>
          </a:solidFill>
          <a:ln/>
        </p:spPr>
      </p:sp>
      <p:sp>
        <p:nvSpPr>
          <p:cNvPr id="20" name="Shape 17"/>
          <p:cNvSpPr/>
          <p:nvPr/>
        </p:nvSpPr>
        <p:spPr>
          <a:xfrm>
            <a:off x="5715000" y="1920240"/>
            <a:ext cx="731520" cy="731520"/>
          </a:xfrm>
          <a:prstGeom prst="ellipse">
            <a:avLst/>
          </a:prstGeom>
          <a:solidFill>
            <a:srgbClr val="D9534F"/>
          </a:solidFill>
          <a:ln/>
        </p:spPr>
      </p:sp>
      <p:sp>
        <p:nvSpPr>
          <p:cNvPr id="21" name="Text 18"/>
          <p:cNvSpPr txBox="1"/>
          <p:nvPr/>
        </p:nvSpPr>
        <p:spPr>
          <a:xfrm>
            <a:off x="571500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a:t>
            </a:r>
            <a:endParaRPr lang="en-US" sz="2800" dirty="0"/>
          </a:p>
        </p:txBody>
      </p:sp>
      <p:sp>
        <p:nvSpPr>
          <p:cNvPr id="22" name="Text 19"/>
          <p:cNvSpPr txBox="1"/>
          <p:nvPr/>
        </p:nvSpPr>
        <p:spPr>
          <a:xfrm>
            <a:off x="5029200" y="2834640"/>
            <a:ext cx="2103120" cy="45720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Informieren</a:t>
            </a:r>
            <a:endParaRPr lang="en-US" sz="2700" dirty="0"/>
          </a:p>
        </p:txBody>
      </p:sp>
      <p:sp>
        <p:nvSpPr>
          <p:cNvPr id="23" name="Text 20"/>
          <p:cNvSpPr txBox="1"/>
          <p:nvPr/>
        </p:nvSpPr>
        <p:spPr>
          <a:xfrm>
            <a:off x="5120640" y="3383280"/>
            <a:ext cx="1920240" cy="914400"/>
          </a:xfrm>
          <a:prstGeom prst="rect">
            <a:avLst/>
          </a:prstGeom>
          <a:noFill/>
          <a:ln/>
        </p:spPr>
        <p:txBody>
          <a:bodyPr wrap="square" lIns="0" tIns="0" rIns="0" bIns="0" rtlCol="0" anchor="t"/>
          <a:lstStyle/>
          <a:p>
            <a:pPr algn="ctr" indent="0" marL="0">
              <a:buNone/>
            </a:pPr>
            <a:r>
              <a:rPr lang="en-US" sz="2700" dirty="0">
                <a:solidFill>
                  <a:srgbClr val="5B6B8C"/>
                </a:solidFill>
                <a:latin typeface="Calibri" pitchFamily="34" charset="0"/>
                <a:ea typeface="Calibri" pitchFamily="34" charset="-122"/>
                <a:cs typeface="Calibri" pitchFamily="34" charset="-120"/>
              </a:rPr>
              <a:t>Text, Zeitstrahl</a:t>
            </a:r>
            <a:endParaRPr lang="en-US" sz="2700" dirty="0"/>
          </a:p>
        </p:txBody>
      </p:sp>
      <p:sp>
        <p:nvSpPr>
          <p:cNvPr id="24" name="Text 21"/>
          <p:cNvSpPr txBox="1"/>
          <p:nvPr/>
        </p:nvSpPr>
        <p:spPr>
          <a:xfrm>
            <a:off x="5029200" y="4389120"/>
            <a:ext cx="2103120" cy="457200"/>
          </a:xfrm>
          <a:prstGeom prst="rect">
            <a:avLst/>
          </a:prstGeom>
          <a:noFill/>
          <a:ln/>
        </p:spPr>
        <p:txBody>
          <a:bodyPr wrap="square" lIns="0" tIns="0" rIns="0" bIns="0" rtlCol="0" anchor="t"/>
          <a:lstStyle/>
          <a:p>
            <a:pPr algn="ctr" indent="0" marL="0">
              <a:buNone/>
            </a:pPr>
            <a:r>
              <a:rPr lang="en-US" sz="2700" b="1" dirty="0">
                <a:solidFill>
                  <a:srgbClr val="D9534F"/>
                </a:solidFill>
                <a:latin typeface="Calibri" pitchFamily="34" charset="0"/>
                <a:ea typeface="Calibri" pitchFamily="34" charset="-122"/>
                <a:cs typeface="Calibri" pitchFamily="34" charset="-120"/>
              </a:rPr>
              <a:t>12 Min.</a:t>
            </a:r>
            <a:endParaRPr lang="en-US" sz="2700" dirty="0"/>
          </a:p>
        </p:txBody>
      </p:sp>
      <p:sp>
        <p:nvSpPr>
          <p:cNvPr id="25" name="Shape 22"/>
          <p:cNvSpPr/>
          <p:nvPr/>
        </p:nvSpPr>
        <p:spPr>
          <a:xfrm>
            <a:off x="7269480" y="1737360"/>
            <a:ext cx="2103120" cy="3291840"/>
          </a:xfrm>
          <a:prstGeom prst="roundRect">
            <a:avLst>
              <a:gd name="adj" fmla="val 3478"/>
            </a:avLst>
          </a:prstGeom>
          <a:solidFill>
            <a:srgbClr val="F4F7FD"/>
          </a:solidFill>
          <a:ln/>
        </p:spPr>
      </p:sp>
      <p:sp>
        <p:nvSpPr>
          <p:cNvPr id="26" name="Shape 23"/>
          <p:cNvSpPr/>
          <p:nvPr/>
        </p:nvSpPr>
        <p:spPr>
          <a:xfrm>
            <a:off x="7955280" y="1920240"/>
            <a:ext cx="731520" cy="731520"/>
          </a:xfrm>
          <a:prstGeom prst="ellipse">
            <a:avLst/>
          </a:prstGeom>
          <a:solidFill>
            <a:srgbClr val="D9534F"/>
          </a:solidFill>
          <a:ln/>
        </p:spPr>
      </p:sp>
      <p:sp>
        <p:nvSpPr>
          <p:cNvPr id="27" name="Text 24"/>
          <p:cNvSpPr txBox="1"/>
          <p:nvPr/>
        </p:nvSpPr>
        <p:spPr>
          <a:xfrm>
            <a:off x="795528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28" name="Text 25"/>
          <p:cNvSpPr txBox="1"/>
          <p:nvPr/>
        </p:nvSpPr>
        <p:spPr>
          <a:xfrm>
            <a:off x="7269480" y="2834640"/>
            <a:ext cx="2103120" cy="45720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Verarbeiten</a:t>
            </a:r>
            <a:endParaRPr lang="en-US" sz="2700" dirty="0"/>
          </a:p>
        </p:txBody>
      </p:sp>
      <p:sp>
        <p:nvSpPr>
          <p:cNvPr id="29" name="Text 26"/>
          <p:cNvSpPr txBox="1"/>
          <p:nvPr/>
        </p:nvSpPr>
        <p:spPr>
          <a:xfrm>
            <a:off x="7360920" y="3383280"/>
            <a:ext cx="1920240" cy="914400"/>
          </a:xfrm>
          <a:prstGeom prst="rect">
            <a:avLst/>
          </a:prstGeom>
          <a:noFill/>
          <a:ln/>
        </p:spPr>
        <p:txBody>
          <a:bodyPr wrap="square" lIns="0" tIns="0" rIns="0" bIns="0" rtlCol="0" anchor="t"/>
          <a:lstStyle/>
          <a:p>
            <a:pPr algn="ctr" indent="0" marL="0">
              <a:buNone/>
            </a:pPr>
            <a:r>
              <a:rPr lang="en-US" sz="2700" dirty="0">
                <a:solidFill>
                  <a:srgbClr val="5B6B8C"/>
                </a:solidFill>
                <a:latin typeface="Calibri" pitchFamily="34" charset="0"/>
                <a:ea typeface="Calibri" pitchFamily="34" charset="-122"/>
                <a:cs typeface="Calibri" pitchFamily="34" charset="-120"/>
              </a:rPr>
              <a:t>Karikatur</a:t>
            </a:r>
            <a:endParaRPr lang="en-US" sz="2700" dirty="0"/>
          </a:p>
        </p:txBody>
      </p:sp>
      <p:sp>
        <p:nvSpPr>
          <p:cNvPr id="30" name="Text 27"/>
          <p:cNvSpPr txBox="1"/>
          <p:nvPr/>
        </p:nvSpPr>
        <p:spPr>
          <a:xfrm>
            <a:off x="7269480" y="4389120"/>
            <a:ext cx="2103120" cy="457200"/>
          </a:xfrm>
          <a:prstGeom prst="rect">
            <a:avLst/>
          </a:prstGeom>
          <a:noFill/>
          <a:ln/>
        </p:spPr>
        <p:txBody>
          <a:bodyPr wrap="square" lIns="0" tIns="0" rIns="0" bIns="0" rtlCol="0" anchor="t"/>
          <a:lstStyle/>
          <a:p>
            <a:pPr algn="ctr" indent="0" marL="0">
              <a:buNone/>
            </a:pPr>
            <a:r>
              <a:rPr lang="en-US" sz="2700" b="1" dirty="0">
                <a:solidFill>
                  <a:srgbClr val="D9534F"/>
                </a:solidFill>
                <a:latin typeface="Calibri" pitchFamily="34" charset="0"/>
                <a:ea typeface="Calibri" pitchFamily="34" charset="-122"/>
                <a:cs typeface="Calibri" pitchFamily="34" charset="-120"/>
              </a:rPr>
              <a:t>15 Min.</a:t>
            </a:r>
            <a:endParaRPr lang="en-US" sz="2700" dirty="0"/>
          </a:p>
        </p:txBody>
      </p:sp>
      <p:sp>
        <p:nvSpPr>
          <p:cNvPr id="31" name="Shape 28"/>
          <p:cNvSpPr/>
          <p:nvPr/>
        </p:nvSpPr>
        <p:spPr>
          <a:xfrm>
            <a:off x="9509760" y="1737360"/>
            <a:ext cx="2103120" cy="3291840"/>
          </a:xfrm>
          <a:prstGeom prst="roundRect">
            <a:avLst>
              <a:gd name="adj" fmla="val 3478"/>
            </a:avLst>
          </a:prstGeom>
          <a:solidFill>
            <a:srgbClr val="EAF0FA"/>
          </a:solidFill>
          <a:ln/>
        </p:spPr>
      </p:sp>
      <p:sp>
        <p:nvSpPr>
          <p:cNvPr id="32" name="Shape 29"/>
          <p:cNvSpPr/>
          <p:nvPr/>
        </p:nvSpPr>
        <p:spPr>
          <a:xfrm>
            <a:off x="10195560" y="1920240"/>
            <a:ext cx="731520" cy="731520"/>
          </a:xfrm>
          <a:prstGeom prst="ellipse">
            <a:avLst/>
          </a:prstGeom>
          <a:solidFill>
            <a:srgbClr val="D9534F"/>
          </a:solidFill>
          <a:ln/>
        </p:spPr>
      </p:sp>
      <p:sp>
        <p:nvSpPr>
          <p:cNvPr id="33" name="Text 30"/>
          <p:cNvSpPr txBox="1"/>
          <p:nvPr/>
        </p:nvSpPr>
        <p:spPr>
          <a:xfrm>
            <a:off x="1019556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34" name="Text 31"/>
          <p:cNvSpPr txBox="1"/>
          <p:nvPr/>
        </p:nvSpPr>
        <p:spPr>
          <a:xfrm>
            <a:off x="9509760" y="2834640"/>
            <a:ext cx="2103120" cy="45720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Auswerten</a:t>
            </a:r>
            <a:endParaRPr lang="en-US" sz="2700" dirty="0"/>
          </a:p>
        </p:txBody>
      </p:sp>
      <p:sp>
        <p:nvSpPr>
          <p:cNvPr id="35" name="Text 32"/>
          <p:cNvSpPr txBox="1"/>
          <p:nvPr/>
        </p:nvSpPr>
        <p:spPr>
          <a:xfrm>
            <a:off x="9601200" y="3383280"/>
            <a:ext cx="1920240" cy="914400"/>
          </a:xfrm>
          <a:prstGeom prst="rect">
            <a:avLst/>
          </a:prstGeom>
          <a:noFill/>
          <a:ln/>
        </p:spPr>
        <p:txBody>
          <a:bodyPr wrap="square" lIns="0" tIns="0" rIns="0" bIns="0" rtlCol="0" anchor="t"/>
          <a:lstStyle/>
          <a:p>
            <a:pPr algn="ctr" indent="0" marL="0">
              <a:buNone/>
            </a:pPr>
            <a:r>
              <a:rPr lang="en-US" sz="2700" dirty="0">
                <a:solidFill>
                  <a:srgbClr val="5B6B8C"/>
                </a:solidFill>
                <a:latin typeface="Calibri" pitchFamily="34" charset="0"/>
                <a:ea typeface="Calibri" pitchFamily="34" charset="-122"/>
                <a:cs typeface="Calibri" pitchFamily="34" charset="-120"/>
              </a:rPr>
              <a:t>Berater-Frage</a:t>
            </a:r>
            <a:endParaRPr lang="en-US" sz="2700" dirty="0"/>
          </a:p>
        </p:txBody>
      </p:sp>
      <p:sp>
        <p:nvSpPr>
          <p:cNvPr id="36" name="Text 33"/>
          <p:cNvSpPr txBox="1"/>
          <p:nvPr/>
        </p:nvSpPr>
        <p:spPr>
          <a:xfrm>
            <a:off x="9509760" y="4389120"/>
            <a:ext cx="2103120" cy="457200"/>
          </a:xfrm>
          <a:prstGeom prst="rect">
            <a:avLst/>
          </a:prstGeom>
          <a:noFill/>
          <a:ln/>
        </p:spPr>
        <p:txBody>
          <a:bodyPr wrap="square" lIns="0" tIns="0" rIns="0" bIns="0" rtlCol="0" anchor="t"/>
          <a:lstStyle/>
          <a:p>
            <a:pPr algn="ctr" indent="0" marL="0">
              <a:buNone/>
            </a:pPr>
            <a:r>
              <a:rPr lang="en-US" sz="2700" b="1" dirty="0">
                <a:solidFill>
                  <a:srgbClr val="D9534F"/>
                </a:solidFill>
                <a:latin typeface="Calibri" pitchFamily="34" charset="0"/>
                <a:ea typeface="Calibri" pitchFamily="34" charset="-122"/>
                <a:cs typeface="Calibri" pitchFamily="34" charset="-120"/>
              </a:rPr>
              <a:t>6 Min.</a:t>
            </a:r>
            <a:endParaRPr lang="en-US" sz="2700" dirty="0"/>
          </a:p>
        </p:txBody>
      </p:sp>
      <p:sp>
        <p:nvSpPr>
          <p:cNvPr id="37" name="Shape 34"/>
          <p:cNvSpPr/>
          <p:nvPr/>
        </p:nvSpPr>
        <p:spPr>
          <a:xfrm>
            <a:off x="548640" y="5669280"/>
            <a:ext cx="11109960" cy="777240"/>
          </a:xfrm>
          <a:prstGeom prst="roundRect">
            <a:avLst>
              <a:gd name="adj" fmla="val 9412"/>
            </a:avLst>
          </a:prstGeom>
          <a:solidFill>
            <a:srgbClr val="1E2761"/>
          </a:solidFill>
          <a:ln/>
        </p:spPr>
      </p:sp>
      <p:sp>
        <p:nvSpPr>
          <p:cNvPr id="38" name="Text 35"/>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Wichtig: </a:t>
            </a:r>
            <a:pPr indent="0" marL="0">
              <a:buNone/>
            </a:pPr>
            <a:r>
              <a:rPr lang="en-US" sz="2700" dirty="0">
                <a:solidFill>
                  <a:srgbClr val="FFFFFF"/>
                </a:solidFill>
                <a:latin typeface="Calibri" pitchFamily="34" charset="0"/>
                <a:ea typeface="Calibri" pitchFamily="34" charset="-122"/>
                <a:cs typeface="Calibri" pitchFamily="34" charset="-120"/>
              </a:rPr>
              <a:t>Wir arbeiten konzentriert. Gesprochen wird nach Ansage.</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 · ÜBUNG 1</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Fehlertext: Abstimmung bei den Generalständen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17" name="Shape 14"/>
          <p:cNvSpPr/>
          <p:nvPr/>
        </p:nvSpPr>
        <p:spPr>
          <a:xfrm>
            <a:off x="548640" y="1371600"/>
            <a:ext cx="11109960" cy="3246120"/>
          </a:xfrm>
          <a:prstGeom prst="roundRect">
            <a:avLst>
              <a:gd name="adj" fmla="val 2254"/>
            </a:avLst>
          </a:prstGeom>
          <a:solidFill>
            <a:srgbClr val="EAF0FA"/>
          </a:solidFill>
          <a:ln/>
        </p:spPr>
      </p:sp>
      <p:sp>
        <p:nvSpPr>
          <p:cNvPr id="18" name="Shape 15"/>
          <p:cNvSpPr/>
          <p:nvPr/>
        </p:nvSpPr>
        <p:spPr>
          <a:xfrm>
            <a:off x="777240" y="1554480"/>
            <a:ext cx="365760" cy="365760"/>
          </a:xfrm>
          <a:prstGeom prst="ellipse">
            <a:avLst/>
          </a:prstGeom>
          <a:solidFill>
            <a:srgbClr val="1E2761"/>
          </a:solidFill>
          <a:ln/>
        </p:spPr>
      </p:sp>
      <p:sp>
        <p:nvSpPr>
          <p:cNvPr id="19" name="Text 16"/>
          <p:cNvSpPr txBox="1"/>
          <p:nvPr/>
        </p:nvSpPr>
        <p:spPr>
          <a:xfrm>
            <a:off x="777240" y="15544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1371600" y="1481328"/>
            <a:ext cx="10149840" cy="530352"/>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 den Generalständen hat jeder Abgeordnete eine Stimme.</a:t>
            </a:r>
            <a:endParaRPr lang="en-US" sz="2700" dirty="0"/>
          </a:p>
        </p:txBody>
      </p:sp>
      <p:sp>
        <p:nvSpPr>
          <p:cNvPr id="21" name="Shape 18"/>
          <p:cNvSpPr/>
          <p:nvPr/>
        </p:nvSpPr>
        <p:spPr>
          <a:xfrm>
            <a:off x="777240" y="2157984"/>
            <a:ext cx="365760" cy="365760"/>
          </a:xfrm>
          <a:prstGeom prst="ellipse">
            <a:avLst/>
          </a:prstGeom>
          <a:solidFill>
            <a:srgbClr val="1E2761"/>
          </a:solidFill>
          <a:ln/>
        </p:spPr>
      </p:sp>
      <p:sp>
        <p:nvSpPr>
          <p:cNvPr id="22" name="Text 19"/>
          <p:cNvSpPr txBox="1"/>
          <p:nvPr/>
        </p:nvSpPr>
        <p:spPr>
          <a:xfrm>
            <a:off x="777240" y="2157984"/>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1371600" y="2084832"/>
            <a:ext cx="10149840" cy="530352"/>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Klerus und Adel haben zusammen zwei von drei Stimmen.</a:t>
            </a:r>
            <a:endParaRPr lang="en-US" sz="2700" dirty="0"/>
          </a:p>
        </p:txBody>
      </p:sp>
      <p:sp>
        <p:nvSpPr>
          <p:cNvPr id="24" name="Shape 21"/>
          <p:cNvSpPr/>
          <p:nvPr/>
        </p:nvSpPr>
        <p:spPr>
          <a:xfrm>
            <a:off x="777240" y="2761488"/>
            <a:ext cx="365760" cy="365760"/>
          </a:xfrm>
          <a:prstGeom prst="ellipse">
            <a:avLst/>
          </a:prstGeom>
          <a:solidFill>
            <a:srgbClr val="1E2761"/>
          </a:solidFill>
          <a:ln/>
        </p:spPr>
      </p:sp>
      <p:sp>
        <p:nvSpPr>
          <p:cNvPr id="25" name="Text 22"/>
          <p:cNvSpPr txBox="1"/>
          <p:nvPr/>
        </p:nvSpPr>
        <p:spPr>
          <a:xfrm>
            <a:off x="777240" y="2761488"/>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3"/>
          <p:cNvSpPr txBox="1"/>
          <p:nvPr/>
        </p:nvSpPr>
        <p:spPr>
          <a:xfrm>
            <a:off x="1371600" y="2688336"/>
            <a:ext cx="10149840" cy="530352"/>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 Dritte Stand (Bauern und Bürger) stellt etwa 3 % der Menschen.</a:t>
            </a:r>
            <a:endParaRPr lang="en-US" sz="2700" dirty="0"/>
          </a:p>
        </p:txBody>
      </p:sp>
      <p:sp>
        <p:nvSpPr>
          <p:cNvPr id="27" name="Shape 24"/>
          <p:cNvSpPr/>
          <p:nvPr/>
        </p:nvSpPr>
        <p:spPr>
          <a:xfrm>
            <a:off x="777240" y="3364992"/>
            <a:ext cx="365760" cy="365760"/>
          </a:xfrm>
          <a:prstGeom prst="ellipse">
            <a:avLst/>
          </a:prstGeom>
          <a:solidFill>
            <a:srgbClr val="1E2761"/>
          </a:solidFill>
          <a:ln/>
        </p:spPr>
      </p:sp>
      <p:sp>
        <p:nvSpPr>
          <p:cNvPr id="28" name="Text 25"/>
          <p:cNvSpPr txBox="1"/>
          <p:nvPr/>
        </p:nvSpPr>
        <p:spPr>
          <a:xfrm>
            <a:off x="777240" y="3364992"/>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6"/>
          <p:cNvSpPr txBox="1"/>
          <p:nvPr/>
        </p:nvSpPr>
        <p:spPr>
          <a:xfrm>
            <a:off x="1371600" y="3291840"/>
            <a:ext cx="10149840" cy="530352"/>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 der Abstimmung nach Köpfen hätte er weniger Gewicht gehabt.</a:t>
            </a:r>
            <a:endParaRPr lang="en-US" sz="2700" dirty="0"/>
          </a:p>
        </p:txBody>
      </p:sp>
      <p:sp>
        <p:nvSpPr>
          <p:cNvPr id="30" name="Shape 27"/>
          <p:cNvSpPr/>
          <p:nvPr/>
        </p:nvSpPr>
        <p:spPr>
          <a:xfrm>
            <a:off x="777240" y="3968496"/>
            <a:ext cx="365760" cy="365760"/>
          </a:xfrm>
          <a:prstGeom prst="ellipse">
            <a:avLst/>
          </a:prstGeom>
          <a:solidFill>
            <a:srgbClr val="1E2761"/>
          </a:solidFill>
          <a:ln/>
        </p:spPr>
      </p:sp>
      <p:sp>
        <p:nvSpPr>
          <p:cNvPr id="31" name="Text 28"/>
          <p:cNvSpPr txBox="1"/>
          <p:nvPr/>
        </p:nvSpPr>
        <p:spPr>
          <a:xfrm>
            <a:off x="777240" y="3968496"/>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29"/>
          <p:cNvSpPr txBox="1"/>
          <p:nvPr/>
        </p:nvSpPr>
        <p:spPr>
          <a:xfrm>
            <a:off x="1371600" y="3895344"/>
            <a:ext cx="10149840" cy="530352"/>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 König erlaubte die Abstimmung nach Köpfen.</a:t>
            </a:r>
            <a:endParaRPr lang="en-US" sz="2700" dirty="0"/>
          </a:p>
        </p:txBody>
      </p:sp>
      <p:sp>
        <p:nvSpPr>
          <p:cNvPr id="33" name="Shape 30"/>
          <p:cNvSpPr/>
          <p:nvPr/>
        </p:nvSpPr>
        <p:spPr>
          <a:xfrm>
            <a:off x="777240" y="4846320"/>
            <a:ext cx="347472" cy="347472"/>
          </a:xfrm>
          <a:prstGeom prst="ellipse">
            <a:avLst/>
          </a:prstGeom>
          <a:solidFill>
            <a:srgbClr val="D9534F"/>
          </a:solidFill>
          <a:ln/>
        </p:spPr>
      </p:sp>
      <p:sp>
        <p:nvSpPr>
          <p:cNvPr id="34" name="Text 31"/>
          <p:cNvSpPr txBox="1"/>
          <p:nvPr/>
        </p:nvSpPr>
        <p:spPr>
          <a:xfrm>
            <a:off x="777240" y="484632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35" name="Text 32"/>
          <p:cNvSpPr txBox="1"/>
          <p:nvPr/>
        </p:nvSpPr>
        <p:spPr>
          <a:xfrm>
            <a:off x="1371600" y="4800600"/>
            <a:ext cx="10149840" cy="41148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Vier Sätze enthalten einen Fehler. Unterstreiche die Fehler.</a:t>
            </a:r>
            <a:endParaRPr lang="en-US" sz="2700" dirty="0"/>
          </a:p>
        </p:txBody>
      </p:sp>
      <p:sp>
        <p:nvSpPr>
          <p:cNvPr id="36" name="Shape 33"/>
          <p:cNvSpPr/>
          <p:nvPr/>
        </p:nvSpPr>
        <p:spPr>
          <a:xfrm>
            <a:off x="777240" y="5257800"/>
            <a:ext cx="347472" cy="347472"/>
          </a:xfrm>
          <a:prstGeom prst="ellipse">
            <a:avLst/>
          </a:prstGeom>
          <a:solidFill>
            <a:srgbClr val="D9534F"/>
          </a:solidFill>
          <a:ln/>
        </p:spPr>
      </p:sp>
      <p:sp>
        <p:nvSpPr>
          <p:cNvPr id="37" name="Text 34"/>
          <p:cNvSpPr txBox="1"/>
          <p:nvPr/>
        </p:nvSpPr>
        <p:spPr>
          <a:xfrm>
            <a:off x="777240" y="525780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8" name="Text 35"/>
          <p:cNvSpPr txBox="1"/>
          <p:nvPr/>
        </p:nvSpPr>
        <p:spPr>
          <a:xfrm>
            <a:off x="1371600" y="5212080"/>
            <a:ext cx="10149840" cy="41148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Schreibe diese Sätze richtig ins Heft.</a:t>
            </a:r>
            <a:endParaRPr lang="en-US" sz="2700" dirty="0"/>
          </a:p>
        </p:txBody>
      </p:sp>
      <p:sp>
        <p:nvSpPr>
          <p:cNvPr id="39" name="Shape 36"/>
          <p:cNvSpPr/>
          <p:nvPr/>
        </p:nvSpPr>
        <p:spPr>
          <a:xfrm>
            <a:off x="548640" y="5669280"/>
            <a:ext cx="11109960" cy="777240"/>
          </a:xfrm>
          <a:prstGeom prst="roundRect">
            <a:avLst>
              <a:gd name="adj" fmla="val 9412"/>
            </a:avLst>
          </a:prstGeom>
          <a:solidFill>
            <a:srgbClr val="1E2761"/>
          </a:solidFill>
          <a:ln/>
        </p:spPr>
      </p:sp>
      <p:sp>
        <p:nvSpPr>
          <p:cNvPr id="40" name="Text 3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Zeit: </a:t>
            </a:r>
            <a:pPr indent="0" marL="0">
              <a:buNone/>
            </a:pPr>
            <a:r>
              <a:rPr lang="en-US" sz="2700" dirty="0">
                <a:solidFill>
                  <a:srgbClr val="FFFFFF"/>
                </a:solidFill>
                <a:latin typeface="Calibri" pitchFamily="34" charset="0"/>
                <a:ea typeface="Calibri" pitchFamily="34" charset="-122"/>
                <a:cs typeface="Calibri" pitchFamily="34" charset="-120"/>
              </a:rPr>
              <a:t>4 Minuten · allein, dann Partnercheck · leise      </a:t>
            </a:r>
            <a:pPr indent="0" marL="0">
              <a:buNone/>
            </a:pPr>
            <a:r>
              <a:rPr lang="en-US" sz="2700" i="1" dirty="0">
                <a:solidFill>
                  <a:srgbClr val="CADCFC"/>
                </a:solidFill>
                <a:latin typeface="Calibri" pitchFamily="34" charset="0"/>
                <a:ea typeface="Calibri" pitchFamily="34" charset="-122"/>
                <a:cs typeface="Calibri" pitchFamily="34" charset="-120"/>
              </a:rPr>
              <a:t>Fertig? Stift hinlegen.</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 · KONTROLLE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Fehlertext: Lösung</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
        <p:nvSpPr>
          <p:cNvPr id="17" name="Shape 14"/>
          <p:cNvSpPr/>
          <p:nvPr/>
        </p:nvSpPr>
        <p:spPr>
          <a:xfrm>
            <a:off x="548640" y="1371600"/>
            <a:ext cx="11109960" cy="4069080"/>
          </a:xfrm>
          <a:prstGeom prst="roundRect">
            <a:avLst>
              <a:gd name="adj" fmla="val 1798"/>
            </a:avLst>
          </a:prstGeom>
          <a:solidFill>
            <a:srgbClr val="EAF0FA"/>
          </a:solidFill>
          <a:ln/>
        </p:spPr>
      </p:sp>
      <p:sp>
        <p:nvSpPr>
          <p:cNvPr id="18" name="Shape 15"/>
          <p:cNvSpPr/>
          <p:nvPr/>
        </p:nvSpPr>
        <p:spPr>
          <a:xfrm>
            <a:off x="777240" y="1600200"/>
            <a:ext cx="365760" cy="365760"/>
          </a:xfrm>
          <a:prstGeom prst="ellipse">
            <a:avLst/>
          </a:prstGeom>
          <a:solidFill>
            <a:srgbClr val="1E2761"/>
          </a:solidFill>
          <a:ln/>
        </p:spPr>
      </p:sp>
      <p:sp>
        <p:nvSpPr>
          <p:cNvPr id="19" name="Text 16"/>
          <p:cNvSpPr txBox="1"/>
          <p:nvPr/>
        </p:nvSpPr>
        <p:spPr>
          <a:xfrm>
            <a:off x="777240" y="160020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1371600" y="1508760"/>
            <a:ext cx="10058400" cy="7315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 den Generalständen hat jeder </a:t>
            </a:r>
            <a:pPr indent="0" marL="0">
              <a:buNone/>
            </a:pPr>
            <a:r>
              <a:rPr lang="en-US" sz="2700" b="1" dirty="0">
                <a:solidFill>
                  <a:srgbClr val="2E9E6B"/>
                </a:solidFill>
                <a:latin typeface="Cambria" pitchFamily="34" charset="0"/>
                <a:ea typeface="Cambria" pitchFamily="34" charset="-122"/>
                <a:cs typeface="Cambria" pitchFamily="34" charset="-120"/>
              </a:rPr>
              <a:t>Stand</a:t>
            </a:r>
            <a:pPr indent="0" marL="0">
              <a:buNone/>
            </a:pPr>
            <a:r>
              <a:rPr lang="en-US" sz="2700" dirty="0">
                <a:solidFill>
                  <a:srgbClr val="1E2761"/>
                </a:solidFill>
                <a:latin typeface="Cambria" pitchFamily="34" charset="0"/>
                <a:ea typeface="Cambria" pitchFamily="34" charset="-122"/>
                <a:cs typeface="Cambria" pitchFamily="34" charset="-120"/>
              </a:rPr>
              <a:t> eine Stimme.</a:t>
            </a:r>
            <a:endParaRPr lang="en-US" sz="2700" dirty="0"/>
          </a:p>
        </p:txBody>
      </p:sp>
      <p:sp>
        <p:nvSpPr>
          <p:cNvPr id="21" name="Shape 18"/>
          <p:cNvSpPr/>
          <p:nvPr/>
        </p:nvSpPr>
        <p:spPr>
          <a:xfrm>
            <a:off x="777240" y="2377440"/>
            <a:ext cx="365760" cy="365760"/>
          </a:xfrm>
          <a:prstGeom prst="ellipse">
            <a:avLst/>
          </a:prstGeom>
          <a:solidFill>
            <a:srgbClr val="1E2761"/>
          </a:solidFill>
          <a:ln/>
        </p:spPr>
      </p:sp>
      <p:sp>
        <p:nvSpPr>
          <p:cNvPr id="22" name="Text 19"/>
          <p:cNvSpPr txBox="1"/>
          <p:nvPr/>
        </p:nvSpPr>
        <p:spPr>
          <a:xfrm>
            <a:off x="777240" y="237744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1371600" y="2286000"/>
            <a:ext cx="10058400" cy="7315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Klerus und Adel haben zusammen zwei von drei Stimmen. </a:t>
            </a:r>
            <a:pPr indent="0" marL="0">
              <a:buNone/>
            </a:pPr>
            <a:r>
              <a:rPr lang="en-US" sz="2700" i="1" dirty="0">
                <a:solidFill>
                  <a:srgbClr val="5B6B8C"/>
                </a:solidFill>
                <a:latin typeface="Cambria" pitchFamily="34" charset="0"/>
                <a:ea typeface="Cambria" pitchFamily="34" charset="-122"/>
                <a:cs typeface="Cambria" pitchFamily="34" charset="-120"/>
              </a:rPr>
              <a:t>(war richtig)</a:t>
            </a:r>
            <a:endParaRPr lang="en-US" sz="2700" dirty="0"/>
          </a:p>
        </p:txBody>
      </p:sp>
      <p:sp>
        <p:nvSpPr>
          <p:cNvPr id="24" name="Shape 21"/>
          <p:cNvSpPr/>
          <p:nvPr/>
        </p:nvSpPr>
        <p:spPr>
          <a:xfrm>
            <a:off x="777240" y="3154680"/>
            <a:ext cx="365760" cy="365760"/>
          </a:xfrm>
          <a:prstGeom prst="ellipse">
            <a:avLst/>
          </a:prstGeom>
          <a:solidFill>
            <a:srgbClr val="1E2761"/>
          </a:solidFill>
          <a:ln/>
        </p:spPr>
      </p:sp>
      <p:sp>
        <p:nvSpPr>
          <p:cNvPr id="25" name="Text 22"/>
          <p:cNvSpPr txBox="1"/>
          <p:nvPr/>
        </p:nvSpPr>
        <p:spPr>
          <a:xfrm>
            <a:off x="777240" y="31546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3"/>
          <p:cNvSpPr txBox="1"/>
          <p:nvPr/>
        </p:nvSpPr>
        <p:spPr>
          <a:xfrm>
            <a:off x="1371600" y="3063240"/>
            <a:ext cx="10058400" cy="7315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 Dritte Stand (Bauern und Bürger) stellt etwa </a:t>
            </a:r>
            <a:pPr indent="0" marL="0">
              <a:buNone/>
            </a:pPr>
            <a:r>
              <a:rPr lang="en-US" sz="2700" b="1" dirty="0">
                <a:solidFill>
                  <a:srgbClr val="2E9E6B"/>
                </a:solidFill>
                <a:latin typeface="Cambria" pitchFamily="34" charset="0"/>
                <a:ea typeface="Cambria" pitchFamily="34" charset="-122"/>
                <a:cs typeface="Cambria" pitchFamily="34" charset="-120"/>
              </a:rPr>
              <a:t>97 %</a:t>
            </a:r>
            <a:pPr indent="0" marL="0">
              <a:buNone/>
            </a:pPr>
            <a:r>
              <a:rPr lang="en-US" sz="2700" dirty="0">
                <a:solidFill>
                  <a:srgbClr val="1E2761"/>
                </a:solidFill>
                <a:latin typeface="Cambria" pitchFamily="34" charset="0"/>
                <a:ea typeface="Cambria" pitchFamily="34" charset="-122"/>
                <a:cs typeface="Cambria" pitchFamily="34" charset="-120"/>
              </a:rPr>
              <a:t> der Menschen.</a:t>
            </a:r>
            <a:endParaRPr lang="en-US" sz="2700" dirty="0"/>
          </a:p>
        </p:txBody>
      </p:sp>
      <p:sp>
        <p:nvSpPr>
          <p:cNvPr id="27" name="Shape 24"/>
          <p:cNvSpPr/>
          <p:nvPr/>
        </p:nvSpPr>
        <p:spPr>
          <a:xfrm>
            <a:off x="777240" y="3931920"/>
            <a:ext cx="365760" cy="365760"/>
          </a:xfrm>
          <a:prstGeom prst="ellipse">
            <a:avLst/>
          </a:prstGeom>
          <a:solidFill>
            <a:srgbClr val="1E2761"/>
          </a:solidFill>
          <a:ln/>
        </p:spPr>
      </p:sp>
      <p:sp>
        <p:nvSpPr>
          <p:cNvPr id="28" name="Text 25"/>
          <p:cNvSpPr txBox="1"/>
          <p:nvPr/>
        </p:nvSpPr>
        <p:spPr>
          <a:xfrm>
            <a:off x="777240" y="39319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6"/>
          <p:cNvSpPr txBox="1"/>
          <p:nvPr/>
        </p:nvSpPr>
        <p:spPr>
          <a:xfrm>
            <a:off x="1371600" y="3840480"/>
            <a:ext cx="10058400" cy="7315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 der Abstimmung nach Köpfen hätte er </a:t>
            </a:r>
            <a:pPr indent="0" marL="0">
              <a:buNone/>
            </a:pPr>
            <a:r>
              <a:rPr lang="en-US" sz="2700" b="1" dirty="0">
                <a:solidFill>
                  <a:srgbClr val="2E9E6B"/>
                </a:solidFill>
                <a:latin typeface="Cambria" pitchFamily="34" charset="0"/>
                <a:ea typeface="Cambria" pitchFamily="34" charset="-122"/>
                <a:cs typeface="Cambria" pitchFamily="34" charset="-120"/>
              </a:rPr>
              <a:t>mehr</a:t>
            </a:r>
            <a:pPr indent="0" marL="0">
              <a:buNone/>
            </a:pPr>
            <a:r>
              <a:rPr lang="en-US" sz="2700" dirty="0">
                <a:solidFill>
                  <a:srgbClr val="1E2761"/>
                </a:solidFill>
                <a:latin typeface="Cambria" pitchFamily="34" charset="0"/>
                <a:ea typeface="Cambria" pitchFamily="34" charset="-122"/>
                <a:cs typeface="Cambria" pitchFamily="34" charset="-120"/>
              </a:rPr>
              <a:t> Gewicht gehabt.</a:t>
            </a:r>
            <a:endParaRPr lang="en-US" sz="2700" dirty="0"/>
          </a:p>
        </p:txBody>
      </p:sp>
      <p:sp>
        <p:nvSpPr>
          <p:cNvPr id="30" name="Shape 27"/>
          <p:cNvSpPr/>
          <p:nvPr/>
        </p:nvSpPr>
        <p:spPr>
          <a:xfrm>
            <a:off x="777240" y="4709160"/>
            <a:ext cx="365760" cy="365760"/>
          </a:xfrm>
          <a:prstGeom prst="ellipse">
            <a:avLst/>
          </a:prstGeom>
          <a:solidFill>
            <a:srgbClr val="1E2761"/>
          </a:solidFill>
          <a:ln/>
        </p:spPr>
      </p:sp>
      <p:sp>
        <p:nvSpPr>
          <p:cNvPr id="31" name="Text 28"/>
          <p:cNvSpPr txBox="1"/>
          <p:nvPr/>
        </p:nvSpPr>
        <p:spPr>
          <a:xfrm>
            <a:off x="777240" y="47091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29"/>
          <p:cNvSpPr txBox="1"/>
          <p:nvPr/>
        </p:nvSpPr>
        <p:spPr>
          <a:xfrm>
            <a:off x="1371600" y="4617720"/>
            <a:ext cx="10058400" cy="73152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 König </a:t>
            </a:r>
            <a:pPr indent="0" marL="0">
              <a:buNone/>
            </a:pPr>
            <a:r>
              <a:rPr lang="en-US" sz="2700" b="1" dirty="0">
                <a:solidFill>
                  <a:srgbClr val="2E9E6B"/>
                </a:solidFill>
                <a:latin typeface="Cambria" pitchFamily="34" charset="0"/>
                <a:ea typeface="Cambria" pitchFamily="34" charset="-122"/>
                <a:cs typeface="Cambria" pitchFamily="34" charset="-120"/>
              </a:rPr>
              <a:t>lehnte</a:t>
            </a:r>
            <a:pPr indent="0" marL="0">
              <a:buNone/>
            </a:pPr>
            <a:r>
              <a:rPr lang="en-US" sz="2700" dirty="0">
                <a:solidFill>
                  <a:srgbClr val="1E2761"/>
                </a:solidFill>
                <a:latin typeface="Cambria" pitchFamily="34" charset="0"/>
                <a:ea typeface="Cambria" pitchFamily="34" charset="-122"/>
                <a:cs typeface="Cambria" pitchFamily="34" charset="-120"/>
              </a:rPr>
              <a:t> die Abstimmung nach Köpfen </a:t>
            </a:r>
            <a:pPr indent="0" marL="0">
              <a:buNone/>
            </a:pPr>
            <a:r>
              <a:rPr lang="en-US" sz="2700" b="1" dirty="0">
                <a:solidFill>
                  <a:srgbClr val="2E9E6B"/>
                </a:solidFill>
                <a:latin typeface="Cambria" pitchFamily="34" charset="0"/>
                <a:ea typeface="Cambria" pitchFamily="34" charset="-122"/>
                <a:cs typeface="Cambria" pitchFamily="34" charset="-120"/>
              </a:rPr>
              <a:t>ab</a:t>
            </a:r>
            <a:pPr indent="0" marL="0">
              <a:buNone/>
            </a:pPr>
            <a:r>
              <a:rPr lang="en-US" sz="2700" dirty="0">
                <a:solidFill>
                  <a:srgbClr val="1E2761"/>
                </a:solidFill>
                <a:latin typeface="Cambria" pitchFamily="34" charset="0"/>
                <a:ea typeface="Cambria" pitchFamily="34" charset="-122"/>
                <a:cs typeface="Cambria" pitchFamily="34" charset="-120"/>
              </a:rPr>
              <a:t>.</a:t>
            </a:r>
            <a:endParaRPr lang="en-US" sz="2700" dirty="0"/>
          </a:p>
        </p:txBody>
      </p:sp>
      <p:sp>
        <p:nvSpPr>
          <p:cNvPr id="33" name="Shape 30"/>
          <p:cNvSpPr/>
          <p:nvPr/>
        </p:nvSpPr>
        <p:spPr>
          <a:xfrm>
            <a:off x="548640" y="5669280"/>
            <a:ext cx="11109960" cy="777240"/>
          </a:xfrm>
          <a:prstGeom prst="roundRect">
            <a:avLst>
              <a:gd name="adj" fmla="val 9412"/>
            </a:avLst>
          </a:prstGeom>
          <a:solidFill>
            <a:srgbClr val="1E2761"/>
          </a:solidFill>
          <a:ln/>
        </p:spPr>
      </p:sp>
      <p:sp>
        <p:nvSpPr>
          <p:cNvPr id="34" name="Text 3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Jetzt: </a:t>
            </a:r>
            <a:pPr indent="0" marL="0">
              <a:buNone/>
            </a:pPr>
            <a:r>
              <a:rPr lang="en-US" sz="2700" dirty="0">
                <a:solidFill>
                  <a:srgbClr val="FFFFFF"/>
                </a:solidFill>
                <a:latin typeface="Calibri" pitchFamily="34" charset="0"/>
                <a:ea typeface="Calibri" pitchFamily="34" charset="-122"/>
                <a:cs typeface="Calibri" pitchFamily="34" charset="-120"/>
              </a:rPr>
              <a:t>Vergleiche und verbessere mit Grün.</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 · MERKBILD</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Nach Ständen oder nach Köpfen?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17" name="Shape 14"/>
          <p:cNvSpPr/>
          <p:nvPr/>
        </p:nvSpPr>
        <p:spPr>
          <a:xfrm>
            <a:off x="548640" y="1371600"/>
            <a:ext cx="5440680" cy="4114800"/>
          </a:xfrm>
          <a:prstGeom prst="roundRect">
            <a:avLst>
              <a:gd name="adj" fmla="val 1778"/>
            </a:avLst>
          </a:prstGeom>
          <a:solidFill>
            <a:srgbClr val="EAF0FA"/>
          </a:solidFill>
          <a:ln/>
        </p:spPr>
      </p:sp>
      <p:sp>
        <p:nvSpPr>
          <p:cNvPr id="18" name="Text 15"/>
          <p:cNvSpPr txBox="1"/>
          <p:nvPr/>
        </p:nvSpPr>
        <p:spPr>
          <a:xfrm>
            <a:off x="822960" y="1463040"/>
            <a:ext cx="4937760" cy="5029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Nach Ständen</a:t>
            </a:r>
            <a:endParaRPr lang="en-US" sz="2800" dirty="0"/>
          </a:p>
        </p:txBody>
      </p:sp>
      <p:sp>
        <p:nvSpPr>
          <p:cNvPr id="19" name="Text 16"/>
          <p:cNvSpPr txBox="1"/>
          <p:nvPr/>
        </p:nvSpPr>
        <p:spPr>
          <a:xfrm>
            <a:off x="822960" y="2057400"/>
            <a:ext cx="4937760" cy="4572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Jeder Stand hat eine Stimme.</a:t>
            </a:r>
            <a:endParaRPr lang="en-US" sz="2700" dirty="0"/>
          </a:p>
        </p:txBody>
      </p:sp>
      <p:sp>
        <p:nvSpPr>
          <p:cNvPr id="20" name="Shape 17"/>
          <p:cNvSpPr/>
          <p:nvPr/>
        </p:nvSpPr>
        <p:spPr>
          <a:xfrm>
            <a:off x="822960" y="2606040"/>
            <a:ext cx="1508760" cy="1463040"/>
          </a:xfrm>
          <a:prstGeom prst="rect">
            <a:avLst/>
          </a:prstGeom>
          <a:solidFill>
            <a:srgbClr val="8E6BBE"/>
          </a:solidFill>
          <a:ln/>
        </p:spPr>
      </p:sp>
      <p:sp>
        <p:nvSpPr>
          <p:cNvPr id="21" name="Text 18"/>
          <p:cNvSpPr txBox="1"/>
          <p:nvPr/>
        </p:nvSpPr>
        <p:spPr>
          <a:xfrm>
            <a:off x="822960" y="2606040"/>
            <a:ext cx="1508760" cy="14630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Klerus</a:t>
            </a:r>
            <a:endParaRPr lang="en-US" sz="2700" dirty="0"/>
          </a:p>
          <a:p>
            <a:pPr algn="ctr" indent="0" marL="0">
              <a:buNone/>
            </a:pPr>
            <a:r>
              <a:rPr lang="en-US" sz="2700" b="1" dirty="0">
                <a:solidFill>
                  <a:srgbClr val="FFFFFF"/>
                </a:solidFill>
                <a:latin typeface="Calibri" pitchFamily="34" charset="0"/>
                <a:ea typeface="Calibri" pitchFamily="34" charset="-122"/>
                <a:cs typeface="Calibri" pitchFamily="34" charset="-120"/>
              </a:rPr>
              <a:t>Nein</a:t>
            </a:r>
            <a:endParaRPr lang="en-US" sz="2700" dirty="0"/>
          </a:p>
        </p:txBody>
      </p:sp>
      <p:sp>
        <p:nvSpPr>
          <p:cNvPr id="22" name="Shape 19"/>
          <p:cNvSpPr/>
          <p:nvPr/>
        </p:nvSpPr>
        <p:spPr>
          <a:xfrm>
            <a:off x="2468880" y="2606040"/>
            <a:ext cx="1508760" cy="1463040"/>
          </a:xfrm>
          <a:prstGeom prst="rect">
            <a:avLst/>
          </a:prstGeom>
          <a:solidFill>
            <a:srgbClr val="E8A33D"/>
          </a:solidFill>
          <a:ln/>
        </p:spPr>
      </p:sp>
      <p:sp>
        <p:nvSpPr>
          <p:cNvPr id="23" name="Text 20"/>
          <p:cNvSpPr txBox="1"/>
          <p:nvPr/>
        </p:nvSpPr>
        <p:spPr>
          <a:xfrm>
            <a:off x="2468880" y="2606040"/>
            <a:ext cx="1508760" cy="14630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Adel</a:t>
            </a:r>
            <a:endParaRPr lang="en-US" sz="2700" dirty="0"/>
          </a:p>
          <a:p>
            <a:pPr algn="ctr" indent="0" marL="0">
              <a:buNone/>
            </a:pPr>
            <a:r>
              <a:rPr lang="en-US" sz="2700" b="1" dirty="0">
                <a:solidFill>
                  <a:srgbClr val="FFFFFF"/>
                </a:solidFill>
                <a:latin typeface="Calibri" pitchFamily="34" charset="0"/>
                <a:ea typeface="Calibri" pitchFamily="34" charset="-122"/>
                <a:cs typeface="Calibri" pitchFamily="34" charset="-120"/>
              </a:rPr>
              <a:t>Nein</a:t>
            </a:r>
            <a:endParaRPr lang="en-US" sz="2700" dirty="0"/>
          </a:p>
        </p:txBody>
      </p:sp>
      <p:sp>
        <p:nvSpPr>
          <p:cNvPr id="24" name="Shape 21"/>
          <p:cNvSpPr/>
          <p:nvPr/>
        </p:nvSpPr>
        <p:spPr>
          <a:xfrm>
            <a:off x="4114800" y="2606040"/>
            <a:ext cx="1508760" cy="1463040"/>
          </a:xfrm>
          <a:prstGeom prst="rect">
            <a:avLst/>
          </a:prstGeom>
          <a:solidFill>
            <a:srgbClr val="3F7CC4"/>
          </a:solidFill>
          <a:ln/>
        </p:spPr>
      </p:sp>
      <p:sp>
        <p:nvSpPr>
          <p:cNvPr id="25" name="Text 22"/>
          <p:cNvSpPr txBox="1"/>
          <p:nvPr/>
        </p:nvSpPr>
        <p:spPr>
          <a:xfrm>
            <a:off x="4114800" y="2606040"/>
            <a:ext cx="1508760" cy="14630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Dritter Stand</a:t>
            </a:r>
            <a:endParaRPr lang="en-US" sz="2700" dirty="0"/>
          </a:p>
          <a:p>
            <a:pPr algn="ctr" indent="0" marL="0">
              <a:buNone/>
            </a:pPr>
            <a:r>
              <a:rPr lang="en-US" sz="2700" b="1" dirty="0">
                <a:solidFill>
                  <a:srgbClr val="FFFFFF"/>
                </a:solidFill>
                <a:latin typeface="Calibri" pitchFamily="34" charset="0"/>
                <a:ea typeface="Calibri" pitchFamily="34" charset="-122"/>
                <a:cs typeface="Calibri" pitchFamily="34" charset="-120"/>
              </a:rPr>
              <a:t>Ja</a:t>
            </a:r>
            <a:endParaRPr lang="en-US" sz="2700" dirty="0"/>
          </a:p>
        </p:txBody>
      </p:sp>
      <p:sp>
        <p:nvSpPr>
          <p:cNvPr id="26" name="Text 23"/>
          <p:cNvSpPr txBox="1"/>
          <p:nvPr/>
        </p:nvSpPr>
        <p:spPr>
          <a:xfrm>
            <a:off x="822960" y="4343400"/>
            <a:ext cx="4937760" cy="640080"/>
          </a:xfrm>
          <a:prstGeom prst="rect">
            <a:avLst/>
          </a:prstGeom>
          <a:noFill/>
          <a:ln/>
        </p:spPr>
        <p:txBody>
          <a:bodyPr wrap="square" lIns="0" tIns="0" rIns="0" bIns="0" rtlCol="0" anchor="t"/>
          <a:lstStyle/>
          <a:p>
            <a:pPr indent="0" marL="0">
              <a:buNone/>
            </a:pPr>
            <a:r>
              <a:rPr lang="en-US" sz="2800" b="1" dirty="0">
                <a:solidFill>
                  <a:srgbClr val="D9534F"/>
                </a:solidFill>
                <a:latin typeface="Cambria" pitchFamily="34" charset="0"/>
                <a:ea typeface="Cambria" pitchFamily="34" charset="-122"/>
                <a:cs typeface="Cambria" pitchFamily="34" charset="-120"/>
              </a:rPr>
              <a:t>2 : 1  →  abgelehnt</a:t>
            </a:r>
            <a:endParaRPr lang="en-US" sz="2800" dirty="0"/>
          </a:p>
        </p:txBody>
      </p:sp>
      <p:sp>
        <p:nvSpPr>
          <p:cNvPr id="27" name="Shape 24"/>
          <p:cNvSpPr/>
          <p:nvPr/>
        </p:nvSpPr>
        <p:spPr>
          <a:xfrm>
            <a:off x="6217920" y="1371600"/>
            <a:ext cx="5440680" cy="4114800"/>
          </a:xfrm>
          <a:prstGeom prst="roundRect">
            <a:avLst>
              <a:gd name="adj" fmla="val 1778"/>
            </a:avLst>
          </a:prstGeom>
          <a:solidFill>
            <a:srgbClr val="EAF0FA"/>
          </a:solidFill>
          <a:ln/>
        </p:spPr>
      </p:sp>
      <p:sp>
        <p:nvSpPr>
          <p:cNvPr id="28" name="Text 25"/>
          <p:cNvSpPr txBox="1"/>
          <p:nvPr/>
        </p:nvSpPr>
        <p:spPr>
          <a:xfrm>
            <a:off x="6492240" y="1463040"/>
            <a:ext cx="4937760" cy="50292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Nach Köpfen</a:t>
            </a:r>
            <a:endParaRPr lang="en-US" sz="2800" dirty="0"/>
          </a:p>
        </p:txBody>
      </p:sp>
      <p:sp>
        <p:nvSpPr>
          <p:cNvPr id="29" name="Text 26"/>
          <p:cNvSpPr txBox="1"/>
          <p:nvPr/>
        </p:nvSpPr>
        <p:spPr>
          <a:xfrm>
            <a:off x="6492240" y="2057400"/>
            <a:ext cx="4937760" cy="4572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Jeder Abgeordnete: eine Stimme.</a:t>
            </a:r>
            <a:endParaRPr lang="en-US" sz="2700" dirty="0"/>
          </a:p>
        </p:txBody>
      </p:sp>
      <p:sp>
        <p:nvSpPr>
          <p:cNvPr id="30" name="Shape 27"/>
          <p:cNvSpPr/>
          <p:nvPr/>
        </p:nvSpPr>
        <p:spPr>
          <a:xfrm>
            <a:off x="6492240" y="2606040"/>
            <a:ext cx="2488933" cy="1463040"/>
          </a:xfrm>
          <a:prstGeom prst="rect">
            <a:avLst/>
          </a:prstGeom>
          <a:solidFill>
            <a:srgbClr val="2E9E6B"/>
          </a:solidFill>
          <a:ln w="19050">
            <a:solidFill>
              <a:srgbClr val="FFFFFF"/>
            </a:solidFill>
            <a:prstDash val="solid"/>
          </a:ln>
        </p:spPr>
      </p:sp>
      <p:sp>
        <p:nvSpPr>
          <p:cNvPr id="31" name="Text 28"/>
          <p:cNvSpPr txBox="1"/>
          <p:nvPr/>
        </p:nvSpPr>
        <p:spPr>
          <a:xfrm>
            <a:off x="6492240" y="2606040"/>
            <a:ext cx="2488933" cy="14630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Ja 580</a:t>
            </a:r>
            <a:endParaRPr lang="en-US" sz="2700" dirty="0"/>
          </a:p>
        </p:txBody>
      </p:sp>
      <p:sp>
        <p:nvSpPr>
          <p:cNvPr id="32" name="Shape 29"/>
          <p:cNvSpPr/>
          <p:nvPr/>
        </p:nvSpPr>
        <p:spPr>
          <a:xfrm>
            <a:off x="8981173" y="2606040"/>
            <a:ext cx="2403107" cy="1463040"/>
          </a:xfrm>
          <a:prstGeom prst="rect">
            <a:avLst/>
          </a:prstGeom>
          <a:solidFill>
            <a:srgbClr val="D9534F"/>
          </a:solidFill>
          <a:ln w="19050">
            <a:solidFill>
              <a:srgbClr val="FFFFFF"/>
            </a:solidFill>
            <a:prstDash val="solid"/>
          </a:ln>
        </p:spPr>
      </p:sp>
      <p:sp>
        <p:nvSpPr>
          <p:cNvPr id="33" name="Text 30"/>
          <p:cNvSpPr txBox="1"/>
          <p:nvPr/>
        </p:nvSpPr>
        <p:spPr>
          <a:xfrm>
            <a:off x="8981173" y="2606040"/>
            <a:ext cx="2403107" cy="14630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Nein 560</a:t>
            </a:r>
            <a:endParaRPr lang="en-US" sz="2700" dirty="0"/>
          </a:p>
        </p:txBody>
      </p:sp>
      <p:sp>
        <p:nvSpPr>
          <p:cNvPr id="34" name="Text 31"/>
          <p:cNvSpPr txBox="1"/>
          <p:nvPr/>
        </p:nvSpPr>
        <p:spPr>
          <a:xfrm>
            <a:off x="6492240" y="4343400"/>
            <a:ext cx="4937760" cy="1005840"/>
          </a:xfrm>
          <a:prstGeom prst="rect">
            <a:avLst/>
          </a:prstGeom>
          <a:noFill/>
          <a:ln/>
        </p:spPr>
        <p:txBody>
          <a:bodyPr wrap="square" lIns="0" tIns="0" rIns="0" bIns="0" rtlCol="0" anchor="t"/>
          <a:lstStyle/>
          <a:p>
            <a:pPr indent="0" marL="0">
              <a:buNone/>
            </a:pPr>
            <a:r>
              <a:rPr lang="en-US" sz="2800" b="1" dirty="0">
                <a:solidFill>
                  <a:srgbClr val="D9534F"/>
                </a:solidFill>
                <a:latin typeface="Cambria" pitchFamily="34" charset="0"/>
                <a:ea typeface="Cambria" pitchFamily="34" charset="-122"/>
                <a:cs typeface="Cambria" pitchFamily="34" charset="-120"/>
              </a:rPr>
              <a:t>580 : 560  →  knapp angenommen</a:t>
            </a:r>
            <a:endParaRPr lang="en-US" sz="2800" dirty="0"/>
          </a:p>
        </p:txBody>
      </p:sp>
      <p:sp>
        <p:nvSpPr>
          <p:cNvPr id="35" name="Shape 32"/>
          <p:cNvSpPr/>
          <p:nvPr/>
        </p:nvSpPr>
        <p:spPr>
          <a:xfrm>
            <a:off x="548640" y="5669280"/>
            <a:ext cx="11109960" cy="777240"/>
          </a:xfrm>
          <a:prstGeom prst="roundRect">
            <a:avLst>
              <a:gd name="adj" fmla="val 9412"/>
            </a:avLst>
          </a:prstGeom>
          <a:solidFill>
            <a:srgbClr val="1E2761"/>
          </a:solidFill>
          <a:ln/>
        </p:spPr>
      </p:sp>
      <p:sp>
        <p:nvSpPr>
          <p:cNvPr id="36" name="Text 3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Gedankenspiel: </a:t>
            </a:r>
            <a:pPr indent="0" marL="0">
              <a:buNone/>
            </a:pPr>
            <a:r>
              <a:rPr lang="en-US" sz="2700" dirty="0">
                <a:solidFill>
                  <a:srgbClr val="FFFFFF"/>
                </a:solidFill>
                <a:latin typeface="Calibri" pitchFamily="34" charset="0"/>
                <a:ea typeface="Calibri" pitchFamily="34" charset="-122"/>
                <a:cs typeface="Calibri" pitchFamily="34" charset="-120"/>
              </a:rPr>
              <a:t>1789 wurde nicht nach Köpfen abgestimmt.</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ÜBUNG 2</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Text, Quelle und Zeitstrahl</a:t>
            </a:r>
            <a:endParaRPr lang="en-US" sz="3400" dirty="0"/>
          </a:p>
        </p:txBody>
      </p:sp>
      <p:sp>
        <p:nvSpPr>
          <p:cNvPr id="4" name="Shape 2"/>
          <p:cNvSpPr/>
          <p:nvPr/>
        </p:nvSpPr>
        <p:spPr>
          <a:xfrm>
            <a:off x="548640" y="1371600"/>
            <a:ext cx="11109960" cy="2560320"/>
          </a:xfrm>
          <a:prstGeom prst="roundRect">
            <a:avLst>
              <a:gd name="adj" fmla="val 2857"/>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457200"/>
          </a:xfrm>
          <a:prstGeom prst="rect">
            <a:avLst/>
          </a:prstGeom>
          <a:noFill/>
          <a:ln/>
        </p:spPr>
        <p:txBody>
          <a:bodyPr wrap="square" lIns="0" tIns="0" rIns="0" bIns="0" rtlCol="0" anchor="t"/>
          <a:lstStyle/>
          <a:p>
            <a:pPr indent="0" marL="0">
              <a:buNone/>
            </a:pPr>
            <a:r>
              <a:rPr lang="en-US" sz="2700" b="1" dirty="0">
                <a:solidFill>
                  <a:srgbClr val="1E2761"/>
                </a:solidFill>
                <a:latin typeface="Calibri" pitchFamily="34" charset="0"/>
                <a:ea typeface="Calibri" pitchFamily="34" charset="-122"/>
                <a:cs typeface="Calibri" pitchFamily="34" charset="-120"/>
              </a:rPr>
              <a:t>Lies den Text. Unterstreiche alle Daten.</a:t>
            </a:r>
            <a:endParaRPr lang="en-US" sz="2700" dirty="0"/>
          </a:p>
        </p:txBody>
      </p:sp>
      <p:sp>
        <p:nvSpPr>
          <p:cNvPr id="8" name="Shape 6"/>
          <p:cNvSpPr/>
          <p:nvPr/>
        </p:nvSpPr>
        <p:spPr>
          <a:xfrm>
            <a:off x="731520" y="2048256"/>
            <a:ext cx="384048" cy="384048"/>
          </a:xfrm>
          <a:prstGeom prst="ellipse">
            <a:avLst/>
          </a:prstGeom>
          <a:solidFill>
            <a:srgbClr val="1E2761"/>
          </a:solidFill>
          <a:ln/>
        </p:spPr>
      </p:sp>
      <p:sp>
        <p:nvSpPr>
          <p:cNvPr id="9" name="Text 7"/>
          <p:cNvSpPr txBox="1"/>
          <p:nvPr/>
        </p:nvSpPr>
        <p:spPr>
          <a:xfrm>
            <a:off x="731520" y="204825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011680"/>
            <a:ext cx="10241280" cy="868680"/>
          </a:xfrm>
          <a:prstGeom prst="rect">
            <a:avLst/>
          </a:prstGeom>
          <a:noFill/>
          <a:ln/>
        </p:spPr>
        <p:txBody>
          <a:bodyPr wrap="square" lIns="0" tIns="0" rIns="0" bIns="0" rtlCol="0" anchor="t"/>
          <a:lstStyle/>
          <a:p>
            <a:pPr indent="0" marL="0">
              <a:buNone/>
            </a:pPr>
            <a:r>
              <a:rPr lang="en-US" sz="2700" b="1" dirty="0">
                <a:solidFill>
                  <a:srgbClr val="1E2761"/>
                </a:solidFill>
                <a:latin typeface="Calibri" pitchFamily="34" charset="0"/>
                <a:ea typeface="Calibri" pitchFamily="34" charset="-122"/>
                <a:cs typeface="Calibri" pitchFamily="34" charset="-120"/>
              </a:rPr>
              <a:t>Schreibe zu jedem Datum das Ereignis in den Zeitstrahl.</a:t>
            </a:r>
            <a:endParaRPr lang="en-US" sz="2700" dirty="0"/>
          </a:p>
        </p:txBody>
      </p:sp>
      <p:sp>
        <p:nvSpPr>
          <p:cNvPr id="11" name="Shape 9"/>
          <p:cNvSpPr/>
          <p:nvPr/>
        </p:nvSpPr>
        <p:spPr>
          <a:xfrm>
            <a:off x="731520" y="2990088"/>
            <a:ext cx="384048" cy="384048"/>
          </a:xfrm>
          <a:prstGeom prst="ellipse">
            <a:avLst/>
          </a:prstGeom>
          <a:solidFill>
            <a:srgbClr val="1E2761"/>
          </a:solidFill>
          <a:ln/>
        </p:spPr>
      </p:sp>
      <p:sp>
        <p:nvSpPr>
          <p:cNvPr id="12" name="Text 10"/>
          <p:cNvSpPr txBox="1"/>
          <p:nvPr/>
        </p:nvSpPr>
        <p:spPr>
          <a:xfrm>
            <a:off x="731520" y="29900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953512"/>
            <a:ext cx="10241280" cy="868680"/>
          </a:xfrm>
          <a:prstGeom prst="rect">
            <a:avLst/>
          </a:prstGeom>
          <a:noFill/>
          <a:ln/>
        </p:spPr>
        <p:txBody>
          <a:bodyPr wrap="square" lIns="0" tIns="0" rIns="0" bIns="0" rtlCol="0" anchor="t"/>
          <a:lstStyle/>
          <a:p>
            <a:pPr indent="0" marL="0">
              <a:buNone/>
            </a:pPr>
            <a:r>
              <a:rPr lang="en-US" sz="2700" b="1" dirty="0">
                <a:solidFill>
                  <a:srgbClr val="1E2761"/>
                </a:solidFill>
                <a:latin typeface="Calibri" pitchFamily="34" charset="0"/>
                <a:ea typeface="Calibri" pitchFamily="34" charset="-122"/>
                <a:cs typeface="Calibri" pitchFamily="34" charset="-120"/>
              </a:rPr>
              <a:t>Schreibe ins Heft: Sieyès sagt, der Dritte Stand sei ALLES. Erkläre das mit einer Zahl.</a:t>
            </a:r>
            <a:endParaRPr lang="en-US" sz="27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Zeit: </a:t>
            </a:r>
            <a:pPr indent="0" marL="0">
              <a:buNone/>
            </a:pPr>
            <a:r>
              <a:rPr lang="en-US" sz="2700" dirty="0">
                <a:solidFill>
                  <a:srgbClr val="FFFFFF"/>
                </a:solidFill>
                <a:latin typeface="Calibri" pitchFamily="34" charset="0"/>
                <a:ea typeface="Calibri" pitchFamily="34" charset="-122"/>
                <a:cs typeface="Calibri" pitchFamily="34" charset="-120"/>
              </a:rPr>
              <a:t>8 Minuten · allein · leise      </a:t>
            </a:r>
            <a:pPr indent="0" marL="0">
              <a:buNone/>
            </a:pPr>
            <a:r>
              <a:rPr lang="en-US" sz="2700" i="1" dirty="0">
                <a:solidFill>
                  <a:srgbClr val="CADCFC"/>
                </a:solidFill>
                <a:latin typeface="Calibri" pitchFamily="34" charset="0"/>
                <a:ea typeface="Calibri" pitchFamily="34" charset="-122"/>
                <a:cs typeface="Calibri" pitchFamily="34" charset="-120"/>
              </a:rPr>
              <a:t>Fertig? Stift hinlegen.</a:t>
            </a:r>
            <a:endParaRPr lang="en-US" sz="27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D9534F"/>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EAF0FA"/>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EAF0FA"/>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KONTROLLE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D9534F"/>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Der Dritte Stand handelt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17" name="Shape 14"/>
          <p:cNvSpPr/>
          <p:nvPr/>
        </p:nvSpPr>
        <p:spPr>
          <a:xfrm>
            <a:off x="3291840" y="1554480"/>
            <a:ext cx="91440" cy="3977640"/>
          </a:xfrm>
          <a:prstGeom prst="rect">
            <a:avLst/>
          </a:prstGeom>
          <a:solidFill>
            <a:srgbClr val="1E2761"/>
          </a:solidFill>
          <a:ln/>
        </p:spPr>
      </p:sp>
      <p:sp>
        <p:nvSpPr>
          <p:cNvPr id="18" name="Shape 15"/>
          <p:cNvSpPr/>
          <p:nvPr/>
        </p:nvSpPr>
        <p:spPr>
          <a:xfrm>
            <a:off x="548640" y="1371600"/>
            <a:ext cx="2560320" cy="685800"/>
          </a:xfrm>
          <a:prstGeom prst="roundRect">
            <a:avLst>
              <a:gd name="adj" fmla="val 10667"/>
            </a:avLst>
          </a:prstGeom>
          <a:solidFill>
            <a:srgbClr val="EAF0FA"/>
          </a:solidFill>
          <a:ln/>
        </p:spPr>
      </p:sp>
      <p:sp>
        <p:nvSpPr>
          <p:cNvPr id="19" name="Text 16"/>
          <p:cNvSpPr txBox="1"/>
          <p:nvPr/>
        </p:nvSpPr>
        <p:spPr>
          <a:xfrm>
            <a:off x="640080" y="1371600"/>
            <a:ext cx="2377440" cy="685800"/>
          </a:xfrm>
          <a:prstGeom prst="rect">
            <a:avLst/>
          </a:prstGeom>
          <a:noFill/>
          <a:ln/>
        </p:spPr>
        <p:txBody>
          <a:bodyPr wrap="square" lIns="0" tIns="0" rIns="0" bIns="0" rtlCol="0" anchor="ctr"/>
          <a:lstStyle/>
          <a:p>
            <a:pPr algn="ctr" indent="0" marL="0">
              <a:buNone/>
            </a:pPr>
            <a:r>
              <a:rPr lang="en-US" sz="2700" b="1" dirty="0">
                <a:solidFill>
                  <a:srgbClr val="D9534F"/>
                </a:solidFill>
                <a:latin typeface="Calibri" pitchFamily="34" charset="0"/>
                <a:ea typeface="Calibri" pitchFamily="34" charset="-122"/>
                <a:cs typeface="Calibri" pitchFamily="34" charset="-120"/>
              </a:rPr>
              <a:t>Winter 1788/89</a:t>
            </a:r>
            <a:endParaRPr lang="en-US" sz="2700" dirty="0"/>
          </a:p>
        </p:txBody>
      </p:sp>
      <p:sp>
        <p:nvSpPr>
          <p:cNvPr id="20" name="Shape 17"/>
          <p:cNvSpPr/>
          <p:nvPr/>
        </p:nvSpPr>
        <p:spPr>
          <a:xfrm>
            <a:off x="3200400" y="1554480"/>
            <a:ext cx="310896" cy="310896"/>
          </a:xfrm>
          <a:prstGeom prst="ellipse">
            <a:avLst/>
          </a:prstGeom>
          <a:solidFill>
            <a:srgbClr val="1E2761"/>
          </a:solidFill>
          <a:ln w="25400">
            <a:solidFill>
              <a:srgbClr val="FFFFFF"/>
            </a:solidFill>
            <a:prstDash val="solid"/>
          </a:ln>
        </p:spPr>
      </p:sp>
      <p:sp>
        <p:nvSpPr>
          <p:cNvPr id="21" name="Text 18"/>
          <p:cNvSpPr txBox="1"/>
          <p:nvPr/>
        </p:nvSpPr>
        <p:spPr>
          <a:xfrm>
            <a:off x="3840480" y="1371600"/>
            <a:ext cx="7772400" cy="685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Sieyès: Der Dritte Stand ist ALLES</a:t>
            </a:r>
            <a:endParaRPr lang="en-US" sz="2700" dirty="0"/>
          </a:p>
        </p:txBody>
      </p:sp>
      <p:sp>
        <p:nvSpPr>
          <p:cNvPr id="22" name="Shape 19"/>
          <p:cNvSpPr/>
          <p:nvPr/>
        </p:nvSpPr>
        <p:spPr>
          <a:xfrm>
            <a:off x="548640" y="2194560"/>
            <a:ext cx="2560320" cy="685800"/>
          </a:xfrm>
          <a:prstGeom prst="roundRect">
            <a:avLst>
              <a:gd name="adj" fmla="val 10667"/>
            </a:avLst>
          </a:prstGeom>
          <a:solidFill>
            <a:srgbClr val="F4F7FD"/>
          </a:solidFill>
          <a:ln/>
        </p:spPr>
      </p:sp>
      <p:sp>
        <p:nvSpPr>
          <p:cNvPr id="23" name="Text 20"/>
          <p:cNvSpPr txBox="1"/>
          <p:nvPr/>
        </p:nvSpPr>
        <p:spPr>
          <a:xfrm>
            <a:off x="640080" y="2194560"/>
            <a:ext cx="2377440" cy="685800"/>
          </a:xfrm>
          <a:prstGeom prst="rect">
            <a:avLst/>
          </a:prstGeom>
          <a:noFill/>
          <a:ln/>
        </p:spPr>
        <p:txBody>
          <a:bodyPr wrap="square" lIns="0" tIns="0" rIns="0" bIns="0" rtlCol="0" anchor="ctr"/>
          <a:lstStyle/>
          <a:p>
            <a:pPr algn="ctr" indent="0" marL="0">
              <a:buNone/>
            </a:pPr>
            <a:r>
              <a:rPr lang="en-US" sz="2700" b="1" dirty="0">
                <a:solidFill>
                  <a:srgbClr val="D9534F"/>
                </a:solidFill>
                <a:latin typeface="Calibri" pitchFamily="34" charset="0"/>
                <a:ea typeface="Calibri" pitchFamily="34" charset="-122"/>
                <a:cs typeface="Calibri" pitchFamily="34" charset="-120"/>
              </a:rPr>
              <a:t>5. Mai 1789</a:t>
            </a:r>
            <a:endParaRPr lang="en-US" sz="2700" dirty="0"/>
          </a:p>
        </p:txBody>
      </p:sp>
      <p:sp>
        <p:nvSpPr>
          <p:cNvPr id="24" name="Shape 21"/>
          <p:cNvSpPr/>
          <p:nvPr/>
        </p:nvSpPr>
        <p:spPr>
          <a:xfrm>
            <a:off x="3200400" y="2377440"/>
            <a:ext cx="310896" cy="310896"/>
          </a:xfrm>
          <a:prstGeom prst="ellipse">
            <a:avLst/>
          </a:prstGeom>
          <a:solidFill>
            <a:srgbClr val="1E2761"/>
          </a:solidFill>
          <a:ln w="25400">
            <a:solidFill>
              <a:srgbClr val="FFFFFF"/>
            </a:solidFill>
            <a:prstDash val="solid"/>
          </a:ln>
        </p:spPr>
      </p:sp>
      <p:sp>
        <p:nvSpPr>
          <p:cNvPr id="25" name="Text 22"/>
          <p:cNvSpPr txBox="1"/>
          <p:nvPr/>
        </p:nvSpPr>
        <p:spPr>
          <a:xfrm>
            <a:off x="3840480" y="2194560"/>
            <a:ext cx="7772400" cy="685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Eröffnung, Streit um die Abstimmung</a:t>
            </a:r>
            <a:endParaRPr lang="en-US" sz="2700" dirty="0"/>
          </a:p>
        </p:txBody>
      </p:sp>
      <p:sp>
        <p:nvSpPr>
          <p:cNvPr id="26" name="Shape 23"/>
          <p:cNvSpPr/>
          <p:nvPr/>
        </p:nvSpPr>
        <p:spPr>
          <a:xfrm>
            <a:off x="548640" y="3017520"/>
            <a:ext cx="2560320" cy="685800"/>
          </a:xfrm>
          <a:prstGeom prst="roundRect">
            <a:avLst>
              <a:gd name="adj" fmla="val 10667"/>
            </a:avLst>
          </a:prstGeom>
          <a:solidFill>
            <a:srgbClr val="EAF0FA"/>
          </a:solidFill>
          <a:ln/>
        </p:spPr>
      </p:sp>
      <p:sp>
        <p:nvSpPr>
          <p:cNvPr id="27" name="Text 24"/>
          <p:cNvSpPr txBox="1"/>
          <p:nvPr/>
        </p:nvSpPr>
        <p:spPr>
          <a:xfrm>
            <a:off x="640080" y="3017520"/>
            <a:ext cx="2377440" cy="685800"/>
          </a:xfrm>
          <a:prstGeom prst="rect">
            <a:avLst/>
          </a:prstGeom>
          <a:noFill/>
          <a:ln/>
        </p:spPr>
        <p:txBody>
          <a:bodyPr wrap="square" lIns="0" tIns="0" rIns="0" bIns="0" rtlCol="0" anchor="ctr"/>
          <a:lstStyle/>
          <a:p>
            <a:pPr algn="ctr" indent="0" marL="0">
              <a:buNone/>
            </a:pPr>
            <a:r>
              <a:rPr lang="en-US" sz="2700" b="1" dirty="0">
                <a:solidFill>
                  <a:srgbClr val="D9534F"/>
                </a:solidFill>
                <a:latin typeface="Calibri" pitchFamily="34" charset="0"/>
                <a:ea typeface="Calibri" pitchFamily="34" charset="-122"/>
                <a:cs typeface="Calibri" pitchFamily="34" charset="-120"/>
              </a:rPr>
              <a:t>17. Juni 1789</a:t>
            </a:r>
            <a:endParaRPr lang="en-US" sz="2700" dirty="0"/>
          </a:p>
        </p:txBody>
      </p:sp>
      <p:sp>
        <p:nvSpPr>
          <p:cNvPr id="28" name="Shape 25"/>
          <p:cNvSpPr/>
          <p:nvPr/>
        </p:nvSpPr>
        <p:spPr>
          <a:xfrm>
            <a:off x="3200400" y="3200400"/>
            <a:ext cx="310896" cy="310896"/>
          </a:xfrm>
          <a:prstGeom prst="ellipse">
            <a:avLst/>
          </a:prstGeom>
          <a:solidFill>
            <a:srgbClr val="1E2761"/>
          </a:solidFill>
          <a:ln w="25400">
            <a:solidFill>
              <a:srgbClr val="FFFFFF"/>
            </a:solidFill>
            <a:prstDash val="solid"/>
          </a:ln>
        </p:spPr>
      </p:sp>
      <p:sp>
        <p:nvSpPr>
          <p:cNvPr id="29" name="Text 26"/>
          <p:cNvSpPr txBox="1"/>
          <p:nvPr/>
        </p:nvSpPr>
        <p:spPr>
          <a:xfrm>
            <a:off x="3840480" y="3017520"/>
            <a:ext cx="7772400" cy="685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Nationalversammlung</a:t>
            </a:r>
            <a:endParaRPr lang="en-US" sz="2700" dirty="0"/>
          </a:p>
        </p:txBody>
      </p:sp>
      <p:sp>
        <p:nvSpPr>
          <p:cNvPr id="30" name="Shape 27"/>
          <p:cNvSpPr/>
          <p:nvPr/>
        </p:nvSpPr>
        <p:spPr>
          <a:xfrm>
            <a:off x="548640" y="3840480"/>
            <a:ext cx="2560320" cy="685800"/>
          </a:xfrm>
          <a:prstGeom prst="roundRect">
            <a:avLst>
              <a:gd name="adj" fmla="val 10667"/>
            </a:avLst>
          </a:prstGeom>
          <a:solidFill>
            <a:srgbClr val="F4F7FD"/>
          </a:solidFill>
          <a:ln/>
        </p:spPr>
      </p:sp>
      <p:sp>
        <p:nvSpPr>
          <p:cNvPr id="31" name="Text 28"/>
          <p:cNvSpPr txBox="1"/>
          <p:nvPr/>
        </p:nvSpPr>
        <p:spPr>
          <a:xfrm>
            <a:off x="640080" y="3840480"/>
            <a:ext cx="2377440" cy="685800"/>
          </a:xfrm>
          <a:prstGeom prst="rect">
            <a:avLst/>
          </a:prstGeom>
          <a:noFill/>
          <a:ln/>
        </p:spPr>
        <p:txBody>
          <a:bodyPr wrap="square" lIns="0" tIns="0" rIns="0" bIns="0" rtlCol="0" anchor="ctr"/>
          <a:lstStyle/>
          <a:p>
            <a:pPr algn="ctr" indent="0" marL="0">
              <a:buNone/>
            </a:pPr>
            <a:r>
              <a:rPr lang="en-US" sz="2700" b="1" dirty="0">
                <a:solidFill>
                  <a:srgbClr val="D9534F"/>
                </a:solidFill>
                <a:latin typeface="Calibri" pitchFamily="34" charset="0"/>
                <a:ea typeface="Calibri" pitchFamily="34" charset="-122"/>
                <a:cs typeface="Calibri" pitchFamily="34" charset="-120"/>
              </a:rPr>
              <a:t>20. Juni 1789</a:t>
            </a:r>
            <a:endParaRPr lang="en-US" sz="2700" dirty="0"/>
          </a:p>
        </p:txBody>
      </p:sp>
      <p:sp>
        <p:nvSpPr>
          <p:cNvPr id="32" name="Shape 29"/>
          <p:cNvSpPr/>
          <p:nvPr/>
        </p:nvSpPr>
        <p:spPr>
          <a:xfrm>
            <a:off x="3200400" y="4023360"/>
            <a:ext cx="310896" cy="310896"/>
          </a:xfrm>
          <a:prstGeom prst="ellipse">
            <a:avLst/>
          </a:prstGeom>
          <a:solidFill>
            <a:srgbClr val="D9534F"/>
          </a:solidFill>
          <a:ln w="25400">
            <a:solidFill>
              <a:srgbClr val="FFFFFF"/>
            </a:solidFill>
            <a:prstDash val="solid"/>
          </a:ln>
        </p:spPr>
      </p:sp>
      <p:sp>
        <p:nvSpPr>
          <p:cNvPr id="33" name="Text 30"/>
          <p:cNvSpPr txBox="1"/>
          <p:nvPr/>
        </p:nvSpPr>
        <p:spPr>
          <a:xfrm>
            <a:off x="3840480" y="3840480"/>
            <a:ext cx="7772400" cy="685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Ballhausschwur</a:t>
            </a:r>
            <a:endParaRPr lang="en-US" sz="2700" dirty="0"/>
          </a:p>
        </p:txBody>
      </p:sp>
      <p:sp>
        <p:nvSpPr>
          <p:cNvPr id="34" name="Shape 31"/>
          <p:cNvSpPr/>
          <p:nvPr/>
        </p:nvSpPr>
        <p:spPr>
          <a:xfrm>
            <a:off x="548640" y="4663440"/>
            <a:ext cx="2560320" cy="685800"/>
          </a:xfrm>
          <a:prstGeom prst="roundRect">
            <a:avLst>
              <a:gd name="adj" fmla="val 10667"/>
            </a:avLst>
          </a:prstGeom>
          <a:solidFill>
            <a:srgbClr val="EAF0FA"/>
          </a:solidFill>
          <a:ln/>
        </p:spPr>
      </p:sp>
      <p:sp>
        <p:nvSpPr>
          <p:cNvPr id="35" name="Text 32"/>
          <p:cNvSpPr txBox="1"/>
          <p:nvPr/>
        </p:nvSpPr>
        <p:spPr>
          <a:xfrm>
            <a:off x="640080" y="4663440"/>
            <a:ext cx="2377440" cy="685800"/>
          </a:xfrm>
          <a:prstGeom prst="rect">
            <a:avLst/>
          </a:prstGeom>
          <a:noFill/>
          <a:ln/>
        </p:spPr>
        <p:txBody>
          <a:bodyPr wrap="square" lIns="0" tIns="0" rIns="0" bIns="0" rtlCol="0" anchor="ctr"/>
          <a:lstStyle/>
          <a:p>
            <a:pPr algn="ctr" indent="0" marL="0">
              <a:buNone/>
            </a:pPr>
            <a:r>
              <a:rPr lang="en-US" sz="2700" b="1" dirty="0">
                <a:solidFill>
                  <a:srgbClr val="D9534F"/>
                </a:solidFill>
                <a:latin typeface="Calibri" pitchFamily="34" charset="0"/>
                <a:ea typeface="Calibri" pitchFamily="34" charset="-122"/>
                <a:cs typeface="Calibri" pitchFamily="34" charset="-120"/>
              </a:rPr>
              <a:t>Anfang Juli 1789</a:t>
            </a:r>
            <a:endParaRPr lang="en-US" sz="2700" dirty="0"/>
          </a:p>
        </p:txBody>
      </p:sp>
      <p:sp>
        <p:nvSpPr>
          <p:cNvPr id="36" name="Shape 33"/>
          <p:cNvSpPr/>
          <p:nvPr/>
        </p:nvSpPr>
        <p:spPr>
          <a:xfrm>
            <a:off x="3200400" y="4846320"/>
            <a:ext cx="310896" cy="310896"/>
          </a:xfrm>
          <a:prstGeom prst="ellipse">
            <a:avLst/>
          </a:prstGeom>
          <a:solidFill>
            <a:srgbClr val="1E2761"/>
          </a:solidFill>
          <a:ln w="25400">
            <a:solidFill>
              <a:srgbClr val="FFFFFF"/>
            </a:solidFill>
            <a:prstDash val="solid"/>
          </a:ln>
        </p:spPr>
      </p:sp>
      <p:sp>
        <p:nvSpPr>
          <p:cNvPr id="37" name="Text 34"/>
          <p:cNvSpPr txBox="1"/>
          <p:nvPr/>
        </p:nvSpPr>
        <p:spPr>
          <a:xfrm>
            <a:off x="3840480" y="4663440"/>
            <a:ext cx="7772400" cy="685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Soldaten um Paris, Angst in Paris</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BILD</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D9534F"/>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Der Ballhausschwur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pic>
        <p:nvPicPr>
          <p:cNvPr id="17" name="Image 0" descr="../material/ballhausschwur.png">    </p:cNvPr>
          <p:cNvPicPr>
            <a:picLocks noChangeAspect="1"/>
          </p:cNvPicPr>
          <p:nvPr/>
        </p:nvPicPr>
        <p:blipFill>
          <a:blip r:embed="rId1"/>
          <a:stretch>
            <a:fillRect/>
          </a:stretch>
        </p:blipFill>
        <p:spPr>
          <a:xfrm>
            <a:off x="640080" y="1371600"/>
            <a:ext cx="6400800" cy="4398264"/>
          </a:xfrm>
          <a:prstGeom prst="rect">
            <a:avLst/>
          </a:prstGeom>
        </p:spPr>
      </p:pic>
      <p:sp>
        <p:nvSpPr>
          <p:cNvPr id="18" name="Shape 14"/>
          <p:cNvSpPr/>
          <p:nvPr/>
        </p:nvSpPr>
        <p:spPr>
          <a:xfrm>
            <a:off x="7863840" y="1463040"/>
            <a:ext cx="3794760" cy="4114800"/>
          </a:xfrm>
          <a:prstGeom prst="roundRect">
            <a:avLst>
              <a:gd name="adj" fmla="val 1928"/>
            </a:avLst>
          </a:prstGeom>
          <a:solidFill>
            <a:srgbClr val="EAF0FA"/>
          </a:solidFill>
          <a:ln/>
        </p:spPr>
      </p:sp>
      <p:sp>
        <p:nvSpPr>
          <p:cNvPr id="19" name="Text 15"/>
          <p:cNvSpPr txBox="1"/>
          <p:nvPr/>
        </p:nvSpPr>
        <p:spPr>
          <a:xfrm>
            <a:off x="8046720" y="1554480"/>
            <a:ext cx="3474720"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Zeichnung von David, 1791</a:t>
            </a:r>
            <a:endParaRPr lang="en-US" sz="2700" dirty="0"/>
          </a:p>
        </p:txBody>
      </p:sp>
      <p:sp>
        <p:nvSpPr>
          <p:cNvPr id="20" name="Text 16"/>
          <p:cNvSpPr txBox="1"/>
          <p:nvPr/>
        </p:nvSpPr>
        <p:spPr>
          <a:xfrm>
            <a:off x="8046720" y="2560320"/>
            <a:ext cx="3474720" cy="292608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Die Abgeordneten schwören: Wir gehen nicht auseinander, bis Frankreich eine Verfassung hat.</a:t>
            </a:r>
            <a:endParaRPr lang="en-US" sz="2700" dirty="0"/>
          </a:p>
        </p:txBody>
      </p:sp>
      <p:sp>
        <p:nvSpPr>
          <p:cNvPr id="21" name="Text 17"/>
          <p:cNvSpPr txBox="1"/>
          <p:nvPr/>
        </p:nvSpPr>
        <p:spPr>
          <a:xfrm>
            <a:off x="640080" y="5852160"/>
            <a:ext cx="6400800" cy="274320"/>
          </a:xfrm>
          <a:prstGeom prst="rect">
            <a:avLst/>
          </a:prstGeom>
          <a:noFill/>
          <a:ln/>
        </p:spPr>
        <p:txBody>
          <a:bodyPr wrap="square" lIns="0" tIns="0" rIns="0" bIns="0" rtlCol="0" anchor="t"/>
          <a:lstStyle/>
          <a:p>
            <a:pPr indent="0" marL="0">
              <a:buNone/>
            </a:pPr>
            <a:r>
              <a:rPr lang="en-US" sz="1400" dirty="0">
                <a:solidFill>
                  <a:srgbClr val="5B6B8C"/>
                </a:solidFill>
                <a:latin typeface="Calibri" pitchFamily="34" charset="0"/>
                <a:ea typeface="Calibri" pitchFamily="34" charset="-122"/>
                <a:cs typeface="Calibri" pitchFamily="34" charset="-120"/>
              </a:rPr>
              <a:t>Lehrbuch S. 113</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300" b="1" spc="200" kern="0" dirty="0">
                <a:solidFill>
                  <a:srgbClr val="D9534F"/>
                </a:solidFill>
                <a:latin typeface="Calibri" pitchFamily="34" charset="0"/>
                <a:ea typeface="Calibri" pitchFamily="34" charset="-122"/>
                <a:cs typeface="Calibri" pitchFamily="34" charset="-120"/>
              </a:rPr>
              <a:t>MERKSATZ 1 · ABSCHREIBEN UND ROT UMRAHMEN</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Nationalversammlung und Ballhausschwur</a:t>
            </a:r>
            <a:endParaRPr lang="en-US" sz="3400" dirty="0"/>
          </a:p>
        </p:txBody>
      </p:sp>
      <p:sp>
        <p:nvSpPr>
          <p:cNvPr id="4" name="Shape 2"/>
          <p:cNvSpPr/>
          <p:nvPr/>
        </p:nvSpPr>
        <p:spPr>
          <a:xfrm>
            <a:off x="548640" y="1371600"/>
            <a:ext cx="11109960" cy="1920240"/>
          </a:xfrm>
          <a:prstGeom prst="roundRect">
            <a:avLst>
              <a:gd name="adj" fmla="val 3810"/>
            </a:avLst>
          </a:prstGeom>
          <a:solidFill>
            <a:srgbClr val="FFFFFF"/>
          </a:solidFill>
          <a:ln w="38100">
            <a:solidFill>
              <a:srgbClr val="D9534F"/>
            </a:solidFill>
            <a:prstDash val="solid"/>
          </a:ln>
        </p:spPr>
      </p:sp>
      <p:sp>
        <p:nvSpPr>
          <p:cNvPr id="5" name="Text 3"/>
          <p:cNvSpPr txBox="1"/>
          <p:nvPr/>
        </p:nvSpPr>
        <p:spPr>
          <a:xfrm>
            <a:off x="868680" y="1417320"/>
            <a:ext cx="10469880" cy="182880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Am </a:t>
            </a:r>
            <a:pPr indent="0" marL="0">
              <a:buNone/>
            </a:pPr>
            <a:r>
              <a:rPr lang="en-US" sz="2700" b="1" dirty="0">
                <a:solidFill>
                  <a:srgbClr val="1E2761"/>
                </a:solidFill>
                <a:latin typeface="Cambria" pitchFamily="34" charset="0"/>
                <a:ea typeface="Cambria" pitchFamily="34" charset="-122"/>
                <a:cs typeface="Cambria" pitchFamily="34" charset="-120"/>
              </a:rPr>
              <a:t>17. Juni 1789</a:t>
            </a:r>
            <a:pPr indent="0" marL="0">
              <a:buNone/>
            </a:pPr>
            <a:r>
              <a:rPr lang="en-US" sz="2700" dirty="0">
                <a:solidFill>
                  <a:srgbClr val="1E2761"/>
                </a:solidFill>
                <a:latin typeface="Cambria" pitchFamily="34" charset="0"/>
                <a:ea typeface="Cambria" pitchFamily="34" charset="-122"/>
                <a:cs typeface="Cambria" pitchFamily="34" charset="-120"/>
              </a:rPr>
              <a:t> erklärt sich der Dritte Stand (Bauern und Bürger) zur </a:t>
            </a:r>
            <a:pPr indent="0" marL="0">
              <a:buNone/>
            </a:pPr>
            <a:r>
              <a:rPr lang="en-US" sz="2700" b="1" dirty="0">
                <a:solidFill>
                  <a:srgbClr val="1E2761"/>
                </a:solidFill>
                <a:latin typeface="Cambria" pitchFamily="34" charset="0"/>
                <a:ea typeface="Cambria" pitchFamily="34" charset="-122"/>
                <a:cs typeface="Cambria" pitchFamily="34" charset="-120"/>
              </a:rPr>
              <a:t>Nationalversammlung</a:t>
            </a:r>
            <a:pPr indent="0" marL="0">
              <a:buNone/>
            </a:pPr>
            <a:r>
              <a:rPr lang="en-US" sz="2700" dirty="0">
                <a:solidFill>
                  <a:srgbClr val="1E2761"/>
                </a:solidFill>
                <a:latin typeface="Cambria" pitchFamily="34" charset="0"/>
                <a:ea typeface="Cambria" pitchFamily="34" charset="-122"/>
                <a:cs typeface="Cambria" pitchFamily="34" charset="-120"/>
              </a:rPr>
              <a:t>. Am </a:t>
            </a:r>
            <a:pPr indent="0" marL="0">
              <a:buNone/>
            </a:pPr>
            <a:r>
              <a:rPr lang="en-US" sz="2700" b="1" dirty="0">
                <a:solidFill>
                  <a:srgbClr val="1E2761"/>
                </a:solidFill>
                <a:latin typeface="Cambria" pitchFamily="34" charset="0"/>
                <a:ea typeface="Cambria" pitchFamily="34" charset="-122"/>
                <a:cs typeface="Cambria" pitchFamily="34" charset="-120"/>
              </a:rPr>
              <a:t>20. Juni</a:t>
            </a:r>
            <a:pPr indent="0" marL="0">
              <a:buNone/>
            </a:pPr>
            <a:r>
              <a:rPr lang="en-US" sz="2700" dirty="0">
                <a:solidFill>
                  <a:srgbClr val="1E2761"/>
                </a:solidFill>
                <a:latin typeface="Cambria" pitchFamily="34" charset="0"/>
                <a:ea typeface="Cambria" pitchFamily="34" charset="-122"/>
                <a:cs typeface="Cambria" pitchFamily="34" charset="-120"/>
              </a:rPr>
              <a:t> schwören die Abgeordneten im Ballhaus, nicht auseinanderzugehen, bis Frankreich eine </a:t>
            </a:r>
            <a:pPr indent="0" marL="0">
              <a:buNone/>
            </a:pPr>
            <a:r>
              <a:rPr lang="en-US" sz="2700" b="1" dirty="0">
                <a:solidFill>
                  <a:srgbClr val="1E2761"/>
                </a:solidFill>
                <a:latin typeface="Cambria" pitchFamily="34" charset="0"/>
                <a:ea typeface="Cambria" pitchFamily="34" charset="-122"/>
                <a:cs typeface="Cambria" pitchFamily="34" charset="-120"/>
              </a:rPr>
              <a:t>Verfassung</a:t>
            </a:r>
            <a:pPr indent="0" marL="0">
              <a:buNone/>
            </a:pPr>
            <a:r>
              <a:rPr lang="en-US" sz="2700" dirty="0">
                <a:solidFill>
                  <a:srgbClr val="1E2761"/>
                </a:solidFill>
                <a:latin typeface="Cambria" pitchFamily="34" charset="0"/>
                <a:ea typeface="Cambria" pitchFamily="34" charset="-122"/>
                <a:cs typeface="Cambria" pitchFamily="34" charset="-120"/>
              </a:rPr>
              <a:t> hat. Damit stellt der Dritte Stand die </a:t>
            </a:r>
            <a:pPr indent="0" marL="0">
              <a:buNone/>
            </a:pPr>
            <a:r>
              <a:rPr lang="en-US" sz="2700" b="1" dirty="0">
                <a:solidFill>
                  <a:srgbClr val="1E2761"/>
                </a:solidFill>
                <a:latin typeface="Cambria" pitchFamily="34" charset="0"/>
                <a:ea typeface="Cambria" pitchFamily="34" charset="-122"/>
                <a:cs typeface="Cambria" pitchFamily="34" charset="-120"/>
              </a:rPr>
              <a:t>Macht des Königs</a:t>
            </a:r>
            <a:pPr indent="0" marL="0">
              <a:buNone/>
            </a:pPr>
            <a:r>
              <a:rPr lang="en-US" sz="2700" dirty="0">
                <a:solidFill>
                  <a:srgbClr val="1E2761"/>
                </a:solidFill>
                <a:latin typeface="Cambria" pitchFamily="34" charset="0"/>
                <a:ea typeface="Cambria" pitchFamily="34" charset="-122"/>
                <a:cs typeface="Cambria" pitchFamily="34" charset="-120"/>
              </a:rPr>
              <a:t> infrage.</a:t>
            </a:r>
            <a:endParaRPr lang="en-US" sz="2700" dirty="0"/>
          </a:p>
        </p:txBody>
      </p:sp>
      <p:sp>
        <p:nvSpPr>
          <p:cNvPr id="6" name="Shape 4"/>
          <p:cNvSpPr/>
          <p:nvPr/>
        </p:nvSpPr>
        <p:spPr>
          <a:xfrm>
            <a:off x="548640" y="3401568"/>
            <a:ext cx="11109960" cy="1143000"/>
          </a:xfrm>
          <a:prstGeom prst="roundRect">
            <a:avLst>
              <a:gd name="adj" fmla="val 6400"/>
            </a:avLst>
          </a:prstGeom>
          <a:solidFill>
            <a:srgbClr val="EAF0FA"/>
          </a:solidFill>
          <a:ln/>
        </p:spPr>
      </p:sp>
      <p:sp>
        <p:nvSpPr>
          <p:cNvPr id="7" name="Text 5"/>
          <p:cNvSpPr txBox="1"/>
          <p:nvPr/>
        </p:nvSpPr>
        <p:spPr>
          <a:xfrm>
            <a:off x="822960" y="3401568"/>
            <a:ext cx="10607040" cy="1143000"/>
          </a:xfrm>
          <a:prstGeom prst="rect">
            <a:avLst/>
          </a:prstGeom>
          <a:noFill/>
          <a:ln/>
        </p:spPr>
        <p:txBody>
          <a:bodyPr wrap="square" lIns="0" tIns="0" rIns="0" bIns="0" rtlCol="0" anchor="ctr"/>
          <a:lstStyle/>
          <a:p>
            <a:pPr indent="0" marL="0">
              <a:buNone/>
            </a:pPr>
            <a:r>
              <a:rPr lang="en-US" sz="2700" b="1" dirty="0">
                <a:solidFill>
                  <a:srgbClr val="5B6B8C"/>
                </a:solidFill>
                <a:latin typeface="Calibri" pitchFamily="34" charset="0"/>
                <a:ea typeface="Calibri" pitchFamily="34" charset="-122"/>
                <a:cs typeface="Calibri" pitchFamily="34" charset="-120"/>
              </a:rPr>
              <a:t>Beispiel:   </a:t>
            </a:r>
            <a:pPr indent="0" marL="0">
              <a:buNone/>
            </a:pPr>
            <a:r>
              <a:rPr lang="en-US" sz="2700" dirty="0">
                <a:solidFill>
                  <a:srgbClr val="1E2761"/>
                </a:solidFill>
                <a:latin typeface="Cambria" pitchFamily="34" charset="0"/>
                <a:ea typeface="Cambria" pitchFamily="34" charset="-122"/>
                <a:cs typeface="Cambria" pitchFamily="34" charset="-120"/>
              </a:rPr>
              <a:t>Sieyès: Der Dritte Stand ist </a:t>
            </a:r>
            <a:pPr indent="0" marL="0">
              <a:buNone/>
            </a:pPr>
            <a:r>
              <a:rPr lang="en-US" sz="2700" b="1" dirty="0">
                <a:solidFill>
                  <a:srgbClr val="1E2761"/>
                </a:solidFill>
                <a:latin typeface="Cambria" pitchFamily="34" charset="0"/>
                <a:ea typeface="Cambria" pitchFamily="34" charset="-122"/>
                <a:cs typeface="Cambria" pitchFamily="34" charset="-120"/>
              </a:rPr>
              <a:t>ALLES</a:t>
            </a:r>
            <a:pPr indent="0" marL="0">
              <a:buNone/>
            </a:pPr>
            <a:r>
              <a:rPr lang="en-US" sz="2700" dirty="0">
                <a:solidFill>
                  <a:srgbClr val="1E2761"/>
                </a:solidFill>
                <a:latin typeface="Cambria" pitchFamily="34" charset="0"/>
                <a:ea typeface="Cambria" pitchFamily="34" charset="-122"/>
                <a:cs typeface="Cambria" pitchFamily="34" charset="-120"/>
              </a:rPr>
              <a:t>, bisher war er </a:t>
            </a:r>
            <a:pPr indent="0" marL="0">
              <a:buNone/>
            </a:pPr>
            <a:r>
              <a:rPr lang="en-US" sz="2700" b="1" dirty="0">
                <a:solidFill>
                  <a:srgbClr val="1E2761"/>
                </a:solidFill>
                <a:latin typeface="Cambria" pitchFamily="34" charset="0"/>
                <a:ea typeface="Cambria" pitchFamily="34" charset="-122"/>
                <a:cs typeface="Cambria" pitchFamily="34" charset="-120"/>
              </a:rPr>
              <a:t>NICHTS</a:t>
            </a:r>
            <a:pPr indent="0" marL="0">
              <a:buNone/>
            </a:pPr>
            <a:r>
              <a:rPr lang="en-US" sz="2700" dirty="0">
                <a:solidFill>
                  <a:srgbClr val="1E2761"/>
                </a:solidFill>
                <a:latin typeface="Cambria" pitchFamily="34" charset="0"/>
                <a:ea typeface="Cambria" pitchFamily="34" charset="-122"/>
                <a:cs typeface="Cambria" pitchFamily="34" charset="-120"/>
              </a:rPr>
              <a:t>, er will </a:t>
            </a:r>
            <a:pPr indent="0" marL="0">
              <a:buNone/>
            </a:pPr>
            <a:r>
              <a:rPr lang="en-US" sz="2700" b="1" dirty="0">
                <a:solidFill>
                  <a:srgbClr val="1E2761"/>
                </a:solidFill>
                <a:latin typeface="Cambria" pitchFamily="34" charset="0"/>
                <a:ea typeface="Cambria" pitchFamily="34" charset="-122"/>
                <a:cs typeface="Cambria" pitchFamily="34" charset="-120"/>
              </a:rPr>
              <a:t>ETWAS</a:t>
            </a:r>
            <a:pPr indent="0" marL="0">
              <a:buNone/>
            </a:pPr>
            <a:r>
              <a:rPr lang="en-US" sz="2700" dirty="0">
                <a:solidFill>
                  <a:srgbClr val="1E2761"/>
                </a:solidFill>
                <a:latin typeface="Cambria" pitchFamily="34" charset="0"/>
                <a:ea typeface="Cambria" pitchFamily="34" charset="-122"/>
                <a:cs typeface="Cambria" pitchFamily="34" charset="-120"/>
              </a:rPr>
              <a:t> sein.</a:t>
            </a:r>
            <a:endParaRPr lang="en-US" sz="2700" dirty="0"/>
          </a:p>
        </p:txBody>
      </p:sp>
      <p:sp>
        <p:nvSpPr>
          <p:cNvPr id="8" name="Shape 6"/>
          <p:cNvSpPr/>
          <p:nvPr/>
        </p:nvSpPr>
        <p:spPr>
          <a:xfrm>
            <a:off x="548640" y="4645152"/>
            <a:ext cx="11109960" cy="886968"/>
          </a:xfrm>
          <a:prstGeom prst="roundRect">
            <a:avLst>
              <a:gd name="adj" fmla="val 8247"/>
            </a:avLst>
          </a:prstGeom>
          <a:solidFill>
            <a:srgbClr val="F4F7FD"/>
          </a:solidFill>
          <a:ln/>
        </p:spPr>
      </p:sp>
      <p:sp>
        <p:nvSpPr>
          <p:cNvPr id="9" name="Text 7"/>
          <p:cNvSpPr txBox="1"/>
          <p:nvPr/>
        </p:nvSpPr>
        <p:spPr>
          <a:xfrm>
            <a:off x="822960" y="4645152"/>
            <a:ext cx="10607040" cy="886968"/>
          </a:xfrm>
          <a:prstGeom prst="rect">
            <a:avLst/>
          </a:prstGeom>
          <a:noFill/>
          <a:ln/>
        </p:spPr>
        <p:txBody>
          <a:bodyPr wrap="square" lIns="0" tIns="0" rIns="0" bIns="0" rtlCol="0" anchor="ctr"/>
          <a:lstStyle/>
          <a:p>
            <a:pPr indent="0" marL="0">
              <a:buNone/>
            </a:pPr>
            <a:r>
              <a:rPr lang="en-US" sz="2700" b="1" dirty="0">
                <a:solidFill>
                  <a:srgbClr val="D9534F"/>
                </a:solidFill>
                <a:latin typeface="Cambria" pitchFamily="34" charset="0"/>
                <a:ea typeface="Cambria" pitchFamily="34" charset="-122"/>
                <a:cs typeface="Cambria" pitchFamily="34" charset="-120"/>
              </a:rPr>
              <a:t>Test:   </a:t>
            </a:r>
            <a:pPr indent="0" marL="0">
              <a:buNone/>
            </a:pPr>
            <a:r>
              <a:rPr lang="en-US" sz="2700" dirty="0">
                <a:solidFill>
                  <a:srgbClr val="1E2761"/>
                </a:solidFill>
                <a:latin typeface="Calibri" pitchFamily="34" charset="0"/>
                <a:ea typeface="Calibri" pitchFamily="34" charset="-122"/>
                <a:cs typeface="Calibri" pitchFamily="34" charset="-120"/>
              </a:rPr>
              <a:t>Wer erklärte sich zur Nationalversammlung? Was </a:t>
            </a:r>
            <a:pPr indent="0" marL="0">
              <a:buNone/>
            </a:pPr>
            <a:r>
              <a:rPr lang="en-US" sz="2700" b="1" dirty="0">
                <a:solidFill>
                  <a:srgbClr val="1E2761"/>
                </a:solidFill>
                <a:latin typeface="Calibri" pitchFamily="34" charset="0"/>
                <a:ea typeface="Calibri" pitchFamily="34" charset="-122"/>
                <a:cs typeface="Calibri" pitchFamily="34" charset="-120"/>
              </a:rPr>
              <a:t>schwor</a:t>
            </a:r>
            <a:pPr indent="0" marL="0">
              <a:buNone/>
            </a:pPr>
            <a:r>
              <a:rPr lang="en-US" sz="2700" dirty="0">
                <a:solidFill>
                  <a:srgbClr val="1E2761"/>
                </a:solidFill>
                <a:latin typeface="Calibri" pitchFamily="34" charset="0"/>
                <a:ea typeface="Calibri" pitchFamily="34" charset="-122"/>
                <a:cs typeface="Calibri" pitchFamily="34" charset="-120"/>
              </a:rPr>
              <a:t> sie?</a:t>
            </a:r>
            <a:endParaRPr lang="en-US" sz="2700" dirty="0"/>
          </a:p>
        </p:txBody>
      </p:sp>
      <p:sp>
        <p:nvSpPr>
          <p:cNvPr id="10" name="Shape 8"/>
          <p:cNvSpPr/>
          <p:nvPr/>
        </p:nvSpPr>
        <p:spPr>
          <a:xfrm>
            <a:off x="548640" y="5669280"/>
            <a:ext cx="11109960" cy="777240"/>
          </a:xfrm>
          <a:prstGeom prst="roundRect">
            <a:avLst>
              <a:gd name="adj" fmla="val 9412"/>
            </a:avLst>
          </a:prstGeom>
          <a:solidFill>
            <a:srgbClr val="1E2761"/>
          </a:solidFill>
          <a:ln/>
        </p:spPr>
      </p:sp>
      <p:sp>
        <p:nvSpPr>
          <p:cNvPr id="11" name="Text 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Jetzt: </a:t>
            </a:r>
            <a:pPr indent="0" marL="0">
              <a:buNone/>
            </a:pPr>
            <a:r>
              <a:rPr lang="en-US" sz="2700" dirty="0">
                <a:solidFill>
                  <a:srgbClr val="FFFFFF"/>
                </a:solidFill>
                <a:latin typeface="Calibri" pitchFamily="34" charset="0"/>
                <a:ea typeface="Calibri" pitchFamily="34" charset="-122"/>
                <a:cs typeface="Calibri" pitchFamily="34" charset="-120"/>
              </a:rPr>
              <a:t>Schreibe den Merksatz ab. Rahme ihn rot.      </a:t>
            </a:r>
            <a:pPr indent="0" marL="0">
              <a:buNone/>
            </a:pPr>
            <a:r>
              <a:rPr lang="en-US" sz="2700" i="1" dirty="0">
                <a:solidFill>
                  <a:srgbClr val="CADCFC"/>
                </a:solidFill>
                <a:latin typeface="Calibri" pitchFamily="34" charset="0"/>
                <a:ea typeface="Calibri" pitchFamily="34" charset="-122"/>
                <a:cs typeface="Calibri" pitchFamily="34" charset="-120"/>
              </a:rPr>
              <a:t>Fertig? Stift hinlegen.</a:t>
            </a:r>
            <a:endParaRPr lang="en-US" sz="2700" dirty="0"/>
          </a:p>
        </p:txBody>
      </p:sp>
      <p:sp>
        <p:nvSpPr>
          <p:cNvPr id="12" name="Text 10"/>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3" name="Text 11"/>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15" name="Shape 12"/>
          <p:cNvSpPr/>
          <p:nvPr/>
        </p:nvSpPr>
        <p:spPr>
          <a:xfrm>
            <a:off x="9144000" y="274320"/>
            <a:ext cx="402336" cy="402336"/>
          </a:xfrm>
          <a:prstGeom prst="ellipse">
            <a:avLst/>
          </a:prstGeom>
          <a:solidFill>
            <a:srgbClr val="EAF0FA"/>
          </a:solidFill>
          <a:ln/>
        </p:spPr>
      </p:sp>
      <p:sp>
        <p:nvSpPr>
          <p:cNvPr id="16" name="Text 13"/>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7" name="Shape 14"/>
          <p:cNvSpPr/>
          <p:nvPr/>
        </p:nvSpPr>
        <p:spPr>
          <a:xfrm>
            <a:off x="9646920" y="274320"/>
            <a:ext cx="402336" cy="402336"/>
          </a:xfrm>
          <a:prstGeom prst="ellipse">
            <a:avLst/>
          </a:prstGeom>
          <a:solidFill>
            <a:srgbClr val="EAF0FA"/>
          </a:solidFill>
          <a:ln/>
        </p:spPr>
      </p:sp>
      <p:sp>
        <p:nvSpPr>
          <p:cNvPr id="18" name="Text 15"/>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9" name="Shape 16"/>
          <p:cNvSpPr/>
          <p:nvPr/>
        </p:nvSpPr>
        <p:spPr>
          <a:xfrm>
            <a:off x="10149840" y="274320"/>
            <a:ext cx="402336" cy="402336"/>
          </a:xfrm>
          <a:prstGeom prst="ellipse">
            <a:avLst/>
          </a:prstGeom>
          <a:solidFill>
            <a:srgbClr val="D9534F"/>
          </a:solidFill>
          <a:ln/>
        </p:spPr>
      </p:sp>
      <p:sp>
        <p:nvSpPr>
          <p:cNvPr id="20" name="Text 17"/>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1" name="Shape 18"/>
          <p:cNvSpPr/>
          <p:nvPr/>
        </p:nvSpPr>
        <p:spPr>
          <a:xfrm>
            <a:off x="10652760" y="274320"/>
            <a:ext cx="402336" cy="402336"/>
          </a:xfrm>
          <a:prstGeom prst="ellipse">
            <a:avLst/>
          </a:prstGeom>
          <a:solidFill>
            <a:srgbClr val="EAF0FA"/>
          </a:solidFill>
          <a:ln/>
        </p:spPr>
      </p:sp>
      <p:sp>
        <p:nvSpPr>
          <p:cNvPr id="22" name="Text 19"/>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1155680" y="274320"/>
            <a:ext cx="402336" cy="402336"/>
          </a:xfrm>
          <a:prstGeom prst="ellipse">
            <a:avLst/>
          </a:prstGeom>
          <a:solidFill>
            <a:srgbClr val="EAF0FA"/>
          </a:solidFill>
          <a:ln/>
        </p:spPr>
      </p:sp>
      <p:sp>
        <p:nvSpPr>
          <p:cNvPr id="24" name="Text 21"/>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METHODE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So analysiere ich eine Karikatur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17" name="Shape 14"/>
          <p:cNvSpPr/>
          <p:nvPr/>
        </p:nvSpPr>
        <p:spPr>
          <a:xfrm>
            <a:off x="548640" y="1554480"/>
            <a:ext cx="3611880" cy="3566160"/>
          </a:xfrm>
          <a:prstGeom prst="roundRect">
            <a:avLst>
              <a:gd name="adj" fmla="val 2051"/>
            </a:avLst>
          </a:prstGeom>
          <a:solidFill>
            <a:srgbClr val="EAF0FA"/>
          </a:solidFill>
          <a:ln/>
        </p:spPr>
      </p:sp>
      <p:sp>
        <p:nvSpPr>
          <p:cNvPr id="18" name="Shape 15"/>
          <p:cNvSpPr/>
          <p:nvPr/>
        </p:nvSpPr>
        <p:spPr>
          <a:xfrm>
            <a:off x="731520" y="1737360"/>
            <a:ext cx="548640" cy="548640"/>
          </a:xfrm>
          <a:prstGeom prst="ellipse">
            <a:avLst/>
          </a:prstGeom>
          <a:solidFill>
            <a:srgbClr val="D9534F"/>
          </a:solidFill>
          <a:ln/>
        </p:spPr>
      </p:sp>
      <p:sp>
        <p:nvSpPr>
          <p:cNvPr id="19" name="Text 16"/>
          <p:cNvSpPr txBox="1"/>
          <p:nvPr/>
        </p:nvSpPr>
        <p:spPr>
          <a:xfrm>
            <a:off x="73152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731520" y="2468880"/>
            <a:ext cx="3246120" cy="54864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Beschreiben</a:t>
            </a:r>
            <a:endParaRPr lang="en-US" sz="2800" dirty="0"/>
          </a:p>
        </p:txBody>
      </p:sp>
      <p:sp>
        <p:nvSpPr>
          <p:cNvPr id="21" name="Text 18"/>
          <p:cNvSpPr txBox="1"/>
          <p:nvPr/>
        </p:nvSpPr>
        <p:spPr>
          <a:xfrm>
            <a:off x="731520" y="3108960"/>
            <a:ext cx="3246120" cy="1828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Was sehe ich? Personen, Dinge, Beischrift.</a:t>
            </a:r>
            <a:endParaRPr lang="en-US" sz="2700" dirty="0"/>
          </a:p>
        </p:txBody>
      </p:sp>
      <p:sp>
        <p:nvSpPr>
          <p:cNvPr id="22" name="Shape 19"/>
          <p:cNvSpPr/>
          <p:nvPr/>
        </p:nvSpPr>
        <p:spPr>
          <a:xfrm>
            <a:off x="4297680" y="1554480"/>
            <a:ext cx="3611880" cy="3566160"/>
          </a:xfrm>
          <a:prstGeom prst="roundRect">
            <a:avLst>
              <a:gd name="adj" fmla="val 2051"/>
            </a:avLst>
          </a:prstGeom>
          <a:solidFill>
            <a:srgbClr val="F4F7FD"/>
          </a:solidFill>
          <a:ln/>
        </p:spPr>
      </p:sp>
      <p:sp>
        <p:nvSpPr>
          <p:cNvPr id="23" name="Shape 20"/>
          <p:cNvSpPr/>
          <p:nvPr/>
        </p:nvSpPr>
        <p:spPr>
          <a:xfrm>
            <a:off x="4480560" y="1737360"/>
            <a:ext cx="548640" cy="548640"/>
          </a:xfrm>
          <a:prstGeom prst="ellipse">
            <a:avLst/>
          </a:prstGeom>
          <a:solidFill>
            <a:srgbClr val="D9534F"/>
          </a:solidFill>
          <a:ln/>
        </p:spPr>
      </p:sp>
      <p:sp>
        <p:nvSpPr>
          <p:cNvPr id="24" name="Text 21"/>
          <p:cNvSpPr txBox="1"/>
          <p:nvPr/>
        </p:nvSpPr>
        <p:spPr>
          <a:xfrm>
            <a:off x="448056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Text 22"/>
          <p:cNvSpPr txBox="1"/>
          <p:nvPr/>
        </p:nvSpPr>
        <p:spPr>
          <a:xfrm>
            <a:off x="4480560" y="2468880"/>
            <a:ext cx="3246120" cy="54864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Deuten</a:t>
            </a:r>
            <a:endParaRPr lang="en-US" sz="2800" dirty="0"/>
          </a:p>
        </p:txBody>
      </p:sp>
      <p:sp>
        <p:nvSpPr>
          <p:cNvPr id="26" name="Text 23"/>
          <p:cNvSpPr txBox="1"/>
          <p:nvPr/>
        </p:nvSpPr>
        <p:spPr>
          <a:xfrm>
            <a:off x="4480560" y="3108960"/>
            <a:ext cx="3246120" cy="1828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Was soll es bedeuten? Wofür steht die Figur?</a:t>
            </a:r>
            <a:endParaRPr lang="en-US" sz="2700" dirty="0"/>
          </a:p>
        </p:txBody>
      </p:sp>
      <p:sp>
        <p:nvSpPr>
          <p:cNvPr id="27" name="Shape 24"/>
          <p:cNvSpPr/>
          <p:nvPr/>
        </p:nvSpPr>
        <p:spPr>
          <a:xfrm>
            <a:off x="8046720" y="1554480"/>
            <a:ext cx="3611880" cy="3566160"/>
          </a:xfrm>
          <a:prstGeom prst="roundRect">
            <a:avLst>
              <a:gd name="adj" fmla="val 2051"/>
            </a:avLst>
          </a:prstGeom>
          <a:solidFill>
            <a:srgbClr val="EAF0FA"/>
          </a:solidFill>
          <a:ln/>
        </p:spPr>
      </p:sp>
      <p:sp>
        <p:nvSpPr>
          <p:cNvPr id="28" name="Shape 25"/>
          <p:cNvSpPr/>
          <p:nvPr/>
        </p:nvSpPr>
        <p:spPr>
          <a:xfrm>
            <a:off x="8229600" y="1737360"/>
            <a:ext cx="548640" cy="548640"/>
          </a:xfrm>
          <a:prstGeom prst="ellipse">
            <a:avLst/>
          </a:prstGeom>
          <a:solidFill>
            <a:srgbClr val="D9534F"/>
          </a:solidFill>
          <a:ln/>
        </p:spPr>
      </p:sp>
      <p:sp>
        <p:nvSpPr>
          <p:cNvPr id="29" name="Text 26"/>
          <p:cNvSpPr txBox="1"/>
          <p:nvPr/>
        </p:nvSpPr>
        <p:spPr>
          <a:xfrm>
            <a:off x="822960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Text 27"/>
          <p:cNvSpPr txBox="1"/>
          <p:nvPr/>
        </p:nvSpPr>
        <p:spPr>
          <a:xfrm>
            <a:off x="8229600" y="2468880"/>
            <a:ext cx="3246120" cy="54864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Beurteilen</a:t>
            </a:r>
            <a:endParaRPr lang="en-US" sz="2800" dirty="0"/>
          </a:p>
        </p:txBody>
      </p:sp>
      <p:sp>
        <p:nvSpPr>
          <p:cNvPr id="31" name="Text 28"/>
          <p:cNvSpPr txBox="1"/>
          <p:nvPr/>
        </p:nvSpPr>
        <p:spPr>
          <a:xfrm>
            <a:off x="8229600" y="3108960"/>
            <a:ext cx="3246120" cy="1828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Stimmt das? Wo übertreibt es? Was will der Zeichner?</a:t>
            </a:r>
            <a:endParaRPr lang="en-US" sz="2700" dirty="0"/>
          </a:p>
        </p:txBody>
      </p:sp>
      <p:sp>
        <p:nvSpPr>
          <p:cNvPr id="32" name="Shape 29"/>
          <p:cNvSpPr/>
          <p:nvPr/>
        </p:nvSpPr>
        <p:spPr>
          <a:xfrm>
            <a:off x="548640" y="5669280"/>
            <a:ext cx="11109960" cy="777240"/>
          </a:xfrm>
          <a:prstGeom prst="roundRect">
            <a:avLst>
              <a:gd name="adj" fmla="val 9412"/>
            </a:avLst>
          </a:prstGeom>
          <a:solidFill>
            <a:srgbClr val="1E2761"/>
          </a:solidFill>
          <a:ln/>
        </p:spPr>
      </p:sp>
      <p:sp>
        <p:nvSpPr>
          <p:cNvPr id="33" name="Text 30"/>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Merke: </a:t>
            </a:r>
            <a:pPr indent="0" marL="0">
              <a:buNone/>
            </a:pPr>
            <a:r>
              <a:rPr lang="en-US" sz="2700" dirty="0">
                <a:solidFill>
                  <a:srgbClr val="FFFFFF"/>
                </a:solidFill>
                <a:latin typeface="Calibri" pitchFamily="34" charset="0"/>
                <a:ea typeface="Calibri" pitchFamily="34" charset="-122"/>
                <a:cs typeface="Calibri" pitchFamily="34" charset="-120"/>
              </a:rPr>
              <a:t>Erst genau beschreiben, dann deuten, dann beurteilen.</a:t>
            </a:r>
            <a:endParaRPr 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MODELL</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Ich zeige es euch: Karikatur 1789</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pic>
        <p:nvPicPr>
          <p:cNvPr id="17" name="Image 0" descr="../material/karikatur_drei_staende.jpg">    </p:cNvPr>
          <p:cNvPicPr>
            <a:picLocks noChangeAspect="1"/>
          </p:cNvPicPr>
          <p:nvPr/>
        </p:nvPicPr>
        <p:blipFill>
          <a:blip r:embed="rId1"/>
          <a:stretch>
            <a:fillRect/>
          </a:stretch>
        </p:blipFill>
        <p:spPr>
          <a:xfrm>
            <a:off x="640080" y="1325880"/>
            <a:ext cx="3429000" cy="4251960"/>
          </a:xfrm>
          <a:prstGeom prst="rect">
            <a:avLst/>
          </a:prstGeom>
        </p:spPr>
      </p:pic>
      <p:sp>
        <p:nvSpPr>
          <p:cNvPr id="18" name="Shape 14"/>
          <p:cNvSpPr/>
          <p:nvPr/>
        </p:nvSpPr>
        <p:spPr>
          <a:xfrm>
            <a:off x="4663440" y="1463040"/>
            <a:ext cx="6995160" cy="1325880"/>
          </a:xfrm>
          <a:prstGeom prst="roundRect">
            <a:avLst>
              <a:gd name="adj" fmla="val 5517"/>
            </a:avLst>
          </a:prstGeom>
          <a:solidFill>
            <a:srgbClr val="EAF0FA"/>
          </a:solidFill>
          <a:ln/>
        </p:spPr>
      </p:sp>
      <p:sp>
        <p:nvSpPr>
          <p:cNvPr id="19" name="Shape 15"/>
          <p:cNvSpPr/>
          <p:nvPr/>
        </p:nvSpPr>
        <p:spPr>
          <a:xfrm>
            <a:off x="4846320" y="1828800"/>
            <a:ext cx="502920" cy="502920"/>
          </a:xfrm>
          <a:prstGeom prst="ellipse">
            <a:avLst/>
          </a:prstGeom>
          <a:solidFill>
            <a:srgbClr val="D9534F"/>
          </a:solidFill>
          <a:ln/>
        </p:spPr>
      </p:sp>
      <p:sp>
        <p:nvSpPr>
          <p:cNvPr id="20" name="Text 16"/>
          <p:cNvSpPr txBox="1"/>
          <p:nvPr/>
        </p:nvSpPr>
        <p:spPr>
          <a:xfrm>
            <a:off x="484632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1" name="Text 17"/>
          <p:cNvSpPr txBox="1"/>
          <p:nvPr/>
        </p:nvSpPr>
        <p:spPr>
          <a:xfrm>
            <a:off x="5577840" y="1536192"/>
            <a:ext cx="5943600" cy="5029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Beschreiben</a:t>
            </a:r>
            <a:endParaRPr lang="en-US" sz="2700" dirty="0"/>
          </a:p>
        </p:txBody>
      </p:sp>
      <p:sp>
        <p:nvSpPr>
          <p:cNvPr id="22" name="Text 18"/>
          <p:cNvSpPr txBox="1"/>
          <p:nvPr/>
        </p:nvSpPr>
        <p:spPr>
          <a:xfrm>
            <a:off x="5577840" y="2057400"/>
            <a:ext cx="5943600" cy="685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Bauer, Geistlicher, Adliger, Hasen</a:t>
            </a:r>
            <a:endParaRPr lang="en-US" sz="2700" dirty="0"/>
          </a:p>
        </p:txBody>
      </p:sp>
      <p:sp>
        <p:nvSpPr>
          <p:cNvPr id="23" name="Shape 19"/>
          <p:cNvSpPr/>
          <p:nvPr/>
        </p:nvSpPr>
        <p:spPr>
          <a:xfrm>
            <a:off x="4663440" y="2971800"/>
            <a:ext cx="6995160" cy="1325880"/>
          </a:xfrm>
          <a:prstGeom prst="roundRect">
            <a:avLst>
              <a:gd name="adj" fmla="val 5517"/>
            </a:avLst>
          </a:prstGeom>
          <a:solidFill>
            <a:srgbClr val="F4F7FD"/>
          </a:solidFill>
          <a:ln/>
        </p:spPr>
      </p:sp>
      <p:sp>
        <p:nvSpPr>
          <p:cNvPr id="24" name="Shape 20"/>
          <p:cNvSpPr/>
          <p:nvPr/>
        </p:nvSpPr>
        <p:spPr>
          <a:xfrm>
            <a:off x="4846320" y="3337560"/>
            <a:ext cx="502920" cy="502920"/>
          </a:xfrm>
          <a:prstGeom prst="ellipse">
            <a:avLst/>
          </a:prstGeom>
          <a:solidFill>
            <a:srgbClr val="D9534F"/>
          </a:solidFill>
          <a:ln/>
        </p:spPr>
      </p:sp>
      <p:sp>
        <p:nvSpPr>
          <p:cNvPr id="25" name="Text 21"/>
          <p:cNvSpPr txBox="1"/>
          <p:nvPr/>
        </p:nvSpPr>
        <p:spPr>
          <a:xfrm>
            <a:off x="4846320" y="3337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Text 22"/>
          <p:cNvSpPr txBox="1"/>
          <p:nvPr/>
        </p:nvSpPr>
        <p:spPr>
          <a:xfrm>
            <a:off x="5577840" y="3044952"/>
            <a:ext cx="5943600" cy="5029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Deuten</a:t>
            </a:r>
            <a:endParaRPr lang="en-US" sz="2700" dirty="0"/>
          </a:p>
        </p:txBody>
      </p:sp>
      <p:sp>
        <p:nvSpPr>
          <p:cNvPr id="27" name="Text 23"/>
          <p:cNvSpPr txBox="1"/>
          <p:nvPr/>
        </p:nvSpPr>
        <p:spPr>
          <a:xfrm>
            <a:off x="5577840" y="3566160"/>
            <a:ext cx="5943600" cy="685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Der Dritte Stand trägt die Last</a:t>
            </a:r>
            <a:endParaRPr lang="en-US" sz="2700" dirty="0"/>
          </a:p>
        </p:txBody>
      </p:sp>
      <p:sp>
        <p:nvSpPr>
          <p:cNvPr id="28" name="Shape 24"/>
          <p:cNvSpPr/>
          <p:nvPr/>
        </p:nvSpPr>
        <p:spPr>
          <a:xfrm>
            <a:off x="4663440" y="4480560"/>
            <a:ext cx="6995160" cy="1325880"/>
          </a:xfrm>
          <a:prstGeom prst="roundRect">
            <a:avLst>
              <a:gd name="adj" fmla="val 5517"/>
            </a:avLst>
          </a:prstGeom>
          <a:solidFill>
            <a:srgbClr val="EAF0FA"/>
          </a:solidFill>
          <a:ln/>
        </p:spPr>
      </p:sp>
      <p:sp>
        <p:nvSpPr>
          <p:cNvPr id="29" name="Shape 25"/>
          <p:cNvSpPr/>
          <p:nvPr/>
        </p:nvSpPr>
        <p:spPr>
          <a:xfrm>
            <a:off x="4846320" y="4846320"/>
            <a:ext cx="502920" cy="502920"/>
          </a:xfrm>
          <a:prstGeom prst="ellipse">
            <a:avLst/>
          </a:prstGeom>
          <a:solidFill>
            <a:srgbClr val="D9534F"/>
          </a:solidFill>
          <a:ln/>
        </p:spPr>
      </p:sp>
      <p:sp>
        <p:nvSpPr>
          <p:cNvPr id="30" name="Text 26"/>
          <p:cNvSpPr txBox="1"/>
          <p:nvPr/>
        </p:nvSpPr>
        <p:spPr>
          <a:xfrm>
            <a:off x="4846320" y="4846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7"/>
          <p:cNvSpPr txBox="1"/>
          <p:nvPr/>
        </p:nvSpPr>
        <p:spPr>
          <a:xfrm>
            <a:off x="5577840" y="4553712"/>
            <a:ext cx="5943600" cy="5029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Beurteilen</a:t>
            </a:r>
            <a:endParaRPr lang="en-US" sz="2700" dirty="0"/>
          </a:p>
        </p:txBody>
      </p:sp>
      <p:sp>
        <p:nvSpPr>
          <p:cNvPr id="32" name="Text 28"/>
          <p:cNvSpPr txBox="1"/>
          <p:nvPr/>
        </p:nvSpPr>
        <p:spPr>
          <a:xfrm>
            <a:off x="5577840" y="5074920"/>
            <a:ext cx="5943600" cy="68580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Er übertreibt, trifft aber den Kern</a:t>
            </a:r>
            <a:endParaRPr lang="en-US" sz="2700" dirty="0"/>
          </a:p>
        </p:txBody>
      </p:sp>
      <p:sp>
        <p:nvSpPr>
          <p:cNvPr id="33" name="Shape 29"/>
          <p:cNvSpPr/>
          <p:nvPr/>
        </p:nvSpPr>
        <p:spPr>
          <a:xfrm>
            <a:off x="548640" y="5669280"/>
            <a:ext cx="11109960" cy="777240"/>
          </a:xfrm>
          <a:prstGeom prst="roundRect">
            <a:avLst>
              <a:gd name="adj" fmla="val 9412"/>
            </a:avLst>
          </a:prstGeom>
          <a:solidFill>
            <a:srgbClr val="1E2761"/>
          </a:solidFill>
          <a:ln/>
        </p:spPr>
      </p:sp>
      <p:sp>
        <p:nvSpPr>
          <p:cNvPr id="34" name="Text 30"/>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Jetzt: </a:t>
            </a:r>
            <a:pPr indent="0" marL="0">
              <a:buNone/>
            </a:pPr>
            <a:r>
              <a:rPr lang="en-US" sz="2700" dirty="0">
                <a:solidFill>
                  <a:srgbClr val="FFFFFF"/>
                </a:solidFill>
                <a:latin typeface="Calibri" pitchFamily="34" charset="0"/>
                <a:ea typeface="Calibri" pitchFamily="34" charset="-122"/>
                <a:cs typeface="Calibri" pitchFamily="34" charset="-120"/>
              </a:rPr>
              <a:t>Stifte liegen. Ihr hört nur zu.</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ÜBUNG 3</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Ihr analysiert: „Für die Mühsal geboren“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pic>
        <p:nvPicPr>
          <p:cNvPr id="17" name="Image 0" descr="../material/karikatur_muehsal.png">    </p:cNvPr>
          <p:cNvPicPr>
            <a:picLocks noChangeAspect="1"/>
          </p:cNvPicPr>
          <p:nvPr/>
        </p:nvPicPr>
        <p:blipFill>
          <a:blip r:embed="rId1"/>
          <a:stretch>
            <a:fillRect/>
          </a:stretch>
        </p:blipFill>
        <p:spPr>
          <a:xfrm>
            <a:off x="640080" y="1280160"/>
            <a:ext cx="2542032" cy="4251960"/>
          </a:xfrm>
          <a:prstGeom prst="rect">
            <a:avLst/>
          </a:prstGeom>
        </p:spPr>
      </p:pic>
      <p:sp>
        <p:nvSpPr>
          <p:cNvPr id="18" name="Shape 14"/>
          <p:cNvSpPr/>
          <p:nvPr/>
        </p:nvSpPr>
        <p:spPr>
          <a:xfrm>
            <a:off x="3566160" y="1371600"/>
            <a:ext cx="8092440" cy="1188720"/>
          </a:xfrm>
          <a:prstGeom prst="roundRect">
            <a:avLst>
              <a:gd name="adj" fmla="val 6154"/>
            </a:avLst>
          </a:prstGeom>
          <a:solidFill>
            <a:srgbClr val="F4F7FD"/>
          </a:solidFill>
          <a:ln/>
        </p:spPr>
      </p:sp>
      <p:sp>
        <p:nvSpPr>
          <p:cNvPr id="19" name="Text 15"/>
          <p:cNvSpPr txBox="1"/>
          <p:nvPr/>
        </p:nvSpPr>
        <p:spPr>
          <a:xfrm>
            <a:off x="3749040" y="1371600"/>
            <a:ext cx="7726680" cy="1188720"/>
          </a:xfrm>
          <a:prstGeom prst="rect">
            <a:avLst/>
          </a:prstGeom>
          <a:noFill/>
          <a:ln/>
        </p:spPr>
        <p:txBody>
          <a:bodyPr wrap="square" lIns="0" tIns="0" rIns="0" bIns="0" rtlCol="0" anchor="ctr"/>
          <a:lstStyle/>
          <a:p>
            <a:pPr indent="0" marL="0">
              <a:buNone/>
            </a:pPr>
            <a:r>
              <a:rPr lang="en-US" sz="2700" i="1" dirty="0">
                <a:solidFill>
                  <a:srgbClr val="1E2761"/>
                </a:solidFill>
                <a:latin typeface="Cambria" pitchFamily="34" charset="0"/>
                <a:ea typeface="Cambria" pitchFamily="34" charset="-122"/>
                <a:cs typeface="Cambria" pitchFamily="34" charset="-120"/>
              </a:rPr>
              <a:t>„… sieht man den armen Bauern … um mit seiner Arbeit das Geld zu verdienen und damit den Steuereintreiber zu bezahlen.“</a:t>
            </a:r>
            <a:endParaRPr lang="en-US" sz="2700" dirty="0"/>
          </a:p>
        </p:txBody>
      </p:sp>
      <p:sp>
        <p:nvSpPr>
          <p:cNvPr id="20" name="Shape 16"/>
          <p:cNvSpPr/>
          <p:nvPr/>
        </p:nvSpPr>
        <p:spPr>
          <a:xfrm>
            <a:off x="3657600" y="2807208"/>
            <a:ext cx="411480" cy="411480"/>
          </a:xfrm>
          <a:prstGeom prst="ellipse">
            <a:avLst/>
          </a:prstGeom>
          <a:solidFill>
            <a:srgbClr val="D9534F"/>
          </a:solidFill>
          <a:ln/>
        </p:spPr>
      </p:sp>
      <p:sp>
        <p:nvSpPr>
          <p:cNvPr id="21" name="Text 17"/>
          <p:cNvSpPr txBox="1"/>
          <p:nvPr/>
        </p:nvSpPr>
        <p:spPr>
          <a:xfrm>
            <a:off x="3657600" y="2807208"/>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2" name="Text 18"/>
          <p:cNvSpPr txBox="1"/>
          <p:nvPr/>
        </p:nvSpPr>
        <p:spPr>
          <a:xfrm>
            <a:off x="4297680" y="2743200"/>
            <a:ext cx="7315200" cy="50292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Beschreibe die Karikatur in drei Sätzen.</a:t>
            </a:r>
            <a:endParaRPr lang="en-US" sz="2700" dirty="0"/>
          </a:p>
        </p:txBody>
      </p:sp>
      <p:sp>
        <p:nvSpPr>
          <p:cNvPr id="23" name="Shape 19"/>
          <p:cNvSpPr/>
          <p:nvPr/>
        </p:nvSpPr>
        <p:spPr>
          <a:xfrm>
            <a:off x="3657600" y="3355848"/>
            <a:ext cx="411480" cy="411480"/>
          </a:xfrm>
          <a:prstGeom prst="ellipse">
            <a:avLst/>
          </a:prstGeom>
          <a:solidFill>
            <a:srgbClr val="D9534F"/>
          </a:solidFill>
          <a:ln/>
        </p:spPr>
      </p:sp>
      <p:sp>
        <p:nvSpPr>
          <p:cNvPr id="24" name="Text 20"/>
          <p:cNvSpPr txBox="1"/>
          <p:nvPr/>
        </p:nvSpPr>
        <p:spPr>
          <a:xfrm>
            <a:off x="3657600" y="3355848"/>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Text 21"/>
          <p:cNvSpPr txBox="1"/>
          <p:nvPr/>
        </p:nvSpPr>
        <p:spPr>
          <a:xfrm>
            <a:off x="4297680" y="3291840"/>
            <a:ext cx="7315200" cy="86868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Deute: Wofür steht der Bauer? Was sagt der Bildtext?</a:t>
            </a:r>
            <a:endParaRPr lang="en-US" sz="2700" dirty="0"/>
          </a:p>
        </p:txBody>
      </p:sp>
      <p:sp>
        <p:nvSpPr>
          <p:cNvPr id="26" name="Shape 22"/>
          <p:cNvSpPr/>
          <p:nvPr/>
        </p:nvSpPr>
        <p:spPr>
          <a:xfrm>
            <a:off x="3657600" y="4270248"/>
            <a:ext cx="411480" cy="411480"/>
          </a:xfrm>
          <a:prstGeom prst="ellipse">
            <a:avLst/>
          </a:prstGeom>
          <a:solidFill>
            <a:srgbClr val="D9534F"/>
          </a:solidFill>
          <a:ln/>
        </p:spPr>
      </p:sp>
      <p:sp>
        <p:nvSpPr>
          <p:cNvPr id="27" name="Text 23"/>
          <p:cNvSpPr txBox="1"/>
          <p:nvPr/>
        </p:nvSpPr>
        <p:spPr>
          <a:xfrm>
            <a:off x="3657600" y="4270248"/>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4"/>
          <p:cNvSpPr txBox="1"/>
          <p:nvPr/>
        </p:nvSpPr>
        <p:spPr>
          <a:xfrm>
            <a:off x="4297680" y="4206240"/>
            <a:ext cx="7315200" cy="109728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Beurteile: Stimmt das Bild mit unserem Wissen über Steuern? Wo übertreibt es? *</a:t>
            </a:r>
            <a:endParaRPr lang="en-US" sz="2700" dirty="0"/>
          </a:p>
        </p:txBody>
      </p:sp>
      <p:sp>
        <p:nvSpPr>
          <p:cNvPr id="29" name="Text 25"/>
          <p:cNvSpPr txBox="1"/>
          <p:nvPr/>
        </p:nvSpPr>
        <p:spPr>
          <a:xfrm>
            <a:off x="3566160" y="5257800"/>
            <a:ext cx="8092440" cy="411480"/>
          </a:xfrm>
          <a:prstGeom prst="rect">
            <a:avLst/>
          </a:prstGeom>
          <a:noFill/>
          <a:ln/>
        </p:spPr>
        <p:txBody>
          <a:bodyPr wrap="square" lIns="0" tIns="0" rIns="0" bIns="0" rtlCol="0" anchor="t"/>
          <a:lstStyle/>
          <a:p>
            <a:pPr indent="0" marL="0">
              <a:buNone/>
            </a:pPr>
            <a:r>
              <a:rPr lang="en-US" sz="2700" dirty="0">
                <a:solidFill>
                  <a:srgbClr val="5B6B8C"/>
                </a:solidFill>
                <a:latin typeface="Calibri" pitchFamily="34" charset="0"/>
                <a:ea typeface="Calibri" pitchFamily="34" charset="-122"/>
                <a:cs typeface="Calibri" pitchFamily="34" charset="-120"/>
              </a:rPr>
              <a:t>Hilfe: Schnipsel auf dem Tisch · Hilfekarten am Pult</a:t>
            </a:r>
            <a:endParaRPr lang="en-US" sz="2700" dirty="0"/>
          </a:p>
        </p:txBody>
      </p:sp>
      <p:sp>
        <p:nvSpPr>
          <p:cNvPr id="30" name="Shape 26"/>
          <p:cNvSpPr/>
          <p:nvPr/>
        </p:nvSpPr>
        <p:spPr>
          <a:xfrm>
            <a:off x="548640" y="5669280"/>
            <a:ext cx="11109960" cy="777240"/>
          </a:xfrm>
          <a:prstGeom prst="roundRect">
            <a:avLst>
              <a:gd name="adj" fmla="val 9412"/>
            </a:avLst>
          </a:prstGeom>
          <a:solidFill>
            <a:srgbClr val="1E2761"/>
          </a:solidFill>
          <a:ln/>
        </p:spPr>
      </p:sp>
      <p:sp>
        <p:nvSpPr>
          <p:cNvPr id="31" name="Text 2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Zeit: </a:t>
            </a:r>
            <a:pPr indent="0" marL="0">
              <a:buNone/>
            </a:pPr>
            <a:r>
              <a:rPr lang="en-US" sz="2700" dirty="0">
                <a:solidFill>
                  <a:srgbClr val="FFFFFF"/>
                </a:solidFill>
                <a:latin typeface="Calibri" pitchFamily="34" charset="0"/>
                <a:ea typeface="Calibri" pitchFamily="34" charset="-122"/>
                <a:cs typeface="Calibri" pitchFamily="34" charset="-120"/>
              </a:rPr>
              <a:t>7 Minuten · zu zweit · Flüsterstufe      </a:t>
            </a:r>
            <a:pPr indent="0" marL="0">
              <a:buNone/>
            </a:pPr>
            <a:r>
              <a:rPr lang="en-US" sz="2700" i="1" dirty="0">
                <a:solidFill>
                  <a:srgbClr val="CADCFC"/>
                </a:solidFill>
                <a:latin typeface="Calibri" pitchFamily="34" charset="0"/>
                <a:ea typeface="Calibri" pitchFamily="34" charset="-122"/>
                <a:cs typeface="Calibri" pitchFamily="34" charset="-120"/>
              </a:rPr>
              <a:t>Fertig? Stift hinlegen.</a:t>
            </a:r>
            <a:endParaRPr lang="en-US" sz="2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SICHERUNG</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Mögliche Ergebnisse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
        <p:nvSpPr>
          <p:cNvPr id="17" name="Shape 14"/>
          <p:cNvSpPr/>
          <p:nvPr/>
        </p:nvSpPr>
        <p:spPr>
          <a:xfrm>
            <a:off x="548640" y="1463040"/>
            <a:ext cx="3611880" cy="4023360"/>
          </a:xfrm>
          <a:prstGeom prst="roundRect">
            <a:avLst>
              <a:gd name="adj" fmla="val 2025"/>
            </a:avLst>
          </a:prstGeom>
          <a:solidFill>
            <a:srgbClr val="EAF0FA"/>
          </a:solidFill>
          <a:ln/>
        </p:spPr>
      </p:sp>
      <p:sp>
        <p:nvSpPr>
          <p:cNvPr id="18" name="Text 15"/>
          <p:cNvSpPr txBox="1"/>
          <p:nvPr/>
        </p:nvSpPr>
        <p:spPr>
          <a:xfrm>
            <a:off x="731520" y="1554480"/>
            <a:ext cx="3246120" cy="5486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Beschreiben</a:t>
            </a:r>
            <a:endParaRPr lang="en-US" sz="2700" dirty="0"/>
          </a:p>
        </p:txBody>
      </p:sp>
      <p:sp>
        <p:nvSpPr>
          <p:cNvPr id="19" name="Text 16"/>
          <p:cNvSpPr txBox="1"/>
          <p:nvPr/>
        </p:nvSpPr>
        <p:spPr>
          <a:xfrm>
            <a:off x="731520" y="2194560"/>
            <a:ext cx="3246120" cy="310896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Ein großer Bauer mit Hut, Stock und Sack. Hinten ein Dorf, Tiere und ein Arbeiter.</a:t>
            </a:r>
            <a:endParaRPr lang="en-US" sz="2700" dirty="0"/>
          </a:p>
        </p:txBody>
      </p:sp>
      <p:sp>
        <p:nvSpPr>
          <p:cNvPr id="20" name="Shape 17"/>
          <p:cNvSpPr/>
          <p:nvPr/>
        </p:nvSpPr>
        <p:spPr>
          <a:xfrm>
            <a:off x="4297680" y="1463040"/>
            <a:ext cx="3611880" cy="4023360"/>
          </a:xfrm>
          <a:prstGeom prst="roundRect">
            <a:avLst>
              <a:gd name="adj" fmla="val 2025"/>
            </a:avLst>
          </a:prstGeom>
          <a:solidFill>
            <a:srgbClr val="F4F7FD"/>
          </a:solidFill>
          <a:ln/>
        </p:spPr>
      </p:sp>
      <p:sp>
        <p:nvSpPr>
          <p:cNvPr id="21" name="Text 18"/>
          <p:cNvSpPr txBox="1"/>
          <p:nvPr/>
        </p:nvSpPr>
        <p:spPr>
          <a:xfrm>
            <a:off x="4480560" y="1554480"/>
            <a:ext cx="3246120" cy="5486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 Deuten</a:t>
            </a:r>
            <a:endParaRPr lang="en-US" sz="2700" dirty="0"/>
          </a:p>
        </p:txBody>
      </p:sp>
      <p:sp>
        <p:nvSpPr>
          <p:cNvPr id="22" name="Text 19"/>
          <p:cNvSpPr txBox="1"/>
          <p:nvPr/>
        </p:nvSpPr>
        <p:spPr>
          <a:xfrm>
            <a:off x="4480560" y="2194560"/>
            <a:ext cx="3246120" cy="310896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Der Bauer steht für den Dritten Stand (Bauern und Bürger). Er arbeitet das ganze Jahr, um Steuern zu zahlen.</a:t>
            </a:r>
            <a:endParaRPr lang="en-US" sz="2700" dirty="0"/>
          </a:p>
        </p:txBody>
      </p:sp>
      <p:sp>
        <p:nvSpPr>
          <p:cNvPr id="23" name="Shape 20"/>
          <p:cNvSpPr/>
          <p:nvPr/>
        </p:nvSpPr>
        <p:spPr>
          <a:xfrm>
            <a:off x="8046720" y="1463040"/>
            <a:ext cx="3611880" cy="4023360"/>
          </a:xfrm>
          <a:prstGeom prst="roundRect">
            <a:avLst>
              <a:gd name="adj" fmla="val 2025"/>
            </a:avLst>
          </a:prstGeom>
          <a:solidFill>
            <a:srgbClr val="EAF0FA"/>
          </a:solidFill>
          <a:ln/>
        </p:spPr>
      </p:sp>
      <p:sp>
        <p:nvSpPr>
          <p:cNvPr id="24" name="Text 21"/>
          <p:cNvSpPr txBox="1"/>
          <p:nvPr/>
        </p:nvSpPr>
        <p:spPr>
          <a:xfrm>
            <a:off x="8229600" y="1554480"/>
            <a:ext cx="3246120" cy="5486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3 Beurteilen*</a:t>
            </a:r>
            <a:endParaRPr lang="en-US" sz="2700" dirty="0"/>
          </a:p>
        </p:txBody>
      </p:sp>
      <p:sp>
        <p:nvSpPr>
          <p:cNvPr id="25" name="Text 22"/>
          <p:cNvSpPr txBox="1"/>
          <p:nvPr/>
        </p:nvSpPr>
        <p:spPr>
          <a:xfrm>
            <a:off x="8229600" y="2194560"/>
            <a:ext cx="3246120" cy="3108960"/>
          </a:xfrm>
          <a:prstGeom prst="rect">
            <a:avLst/>
          </a:prstGeom>
          <a:noFill/>
          <a:ln/>
        </p:spPr>
        <p:txBody>
          <a:bodyPr wrap="square" lIns="0" tIns="0" rIns="0" bIns="0" rtlCol="0" anchor="t"/>
          <a:lstStyle/>
          <a:p>
            <a:pPr indent="0" marL="0">
              <a:buNone/>
            </a:pPr>
            <a:r>
              <a:rPr lang="en-US" sz="2700" dirty="0">
                <a:solidFill>
                  <a:srgbClr val="1E2761"/>
                </a:solidFill>
                <a:latin typeface="Calibri" pitchFamily="34" charset="0"/>
                <a:ea typeface="Calibri" pitchFamily="34" charset="-122"/>
                <a:cs typeface="Calibri" pitchFamily="34" charset="-120"/>
              </a:rPr>
              <a:t>Der Zeichner will Mitleid und Veränderung. Das stimmt mit den Beschwerden überein, ist aber auch übertrieben.</a:t>
            </a:r>
            <a:endParaRPr lang="en-US" sz="2700" dirty="0"/>
          </a:p>
        </p:txBody>
      </p:sp>
      <p:sp>
        <p:nvSpPr>
          <p:cNvPr id="26" name="Shape 23"/>
          <p:cNvSpPr/>
          <p:nvPr/>
        </p:nvSpPr>
        <p:spPr>
          <a:xfrm>
            <a:off x="548640" y="5669280"/>
            <a:ext cx="11109960" cy="777240"/>
          </a:xfrm>
          <a:prstGeom prst="roundRect">
            <a:avLst>
              <a:gd name="adj" fmla="val 9412"/>
            </a:avLst>
          </a:prstGeom>
          <a:solidFill>
            <a:srgbClr val="1E2761"/>
          </a:solidFill>
          <a:ln/>
        </p:spPr>
      </p:sp>
      <p:sp>
        <p:nvSpPr>
          <p:cNvPr id="27" name="Text 24"/>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Jetzt: </a:t>
            </a:r>
            <a:pPr indent="0" marL="0">
              <a:buNone/>
            </a:pPr>
            <a:r>
              <a:rPr lang="en-US" sz="2700" dirty="0">
                <a:solidFill>
                  <a:srgbClr val="FFFFFF"/>
                </a:solidFill>
                <a:latin typeface="Calibri" pitchFamily="34" charset="0"/>
                <a:ea typeface="Calibri" pitchFamily="34" charset="-122"/>
                <a:cs typeface="Calibri" pitchFamily="34" charset="-120"/>
              </a:rPr>
              <a:t>Vergleiche mit deiner Analyse und verbessere mit Grün.</a:t>
            </a:r>
            <a:endParaRPr lang="en-US"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Abschlussfrage: Du bist Berater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pic>
        <p:nvPicPr>
          <p:cNvPr id="17" name="Image 0" descr="../material/abgeordneter.png">    </p:cNvPr>
          <p:cNvPicPr>
            <a:picLocks noChangeAspect="1"/>
          </p:cNvPicPr>
          <p:nvPr/>
        </p:nvPicPr>
        <p:blipFill>
          <a:blip r:embed="rId1"/>
          <a:stretch>
            <a:fillRect/>
          </a:stretch>
        </p:blipFill>
        <p:spPr>
          <a:xfrm>
            <a:off x="502920" y="1325880"/>
            <a:ext cx="2651760" cy="3831336"/>
          </a:xfrm>
          <a:prstGeom prst="rect">
            <a:avLst/>
          </a:prstGeom>
        </p:spPr>
      </p:pic>
      <p:sp>
        <p:nvSpPr>
          <p:cNvPr id="18" name="Text 14"/>
          <p:cNvSpPr txBox="1"/>
          <p:nvPr/>
        </p:nvSpPr>
        <p:spPr>
          <a:xfrm>
            <a:off x="502920" y="5120640"/>
            <a:ext cx="2651760" cy="36576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Abgeordneter</a:t>
            </a:r>
            <a:endParaRPr lang="en-US" sz="2700" dirty="0"/>
          </a:p>
        </p:txBody>
      </p:sp>
      <p:sp>
        <p:nvSpPr>
          <p:cNvPr id="19" name="Shape 15"/>
          <p:cNvSpPr/>
          <p:nvPr/>
        </p:nvSpPr>
        <p:spPr>
          <a:xfrm>
            <a:off x="3657600" y="1371600"/>
            <a:ext cx="8001000" cy="1783080"/>
          </a:xfrm>
          <a:prstGeom prst="roundRect">
            <a:avLst>
              <a:gd name="adj" fmla="val 9231"/>
            </a:avLst>
          </a:prstGeom>
          <a:solidFill>
            <a:srgbClr val="FFFFFF"/>
          </a:solidFill>
          <a:ln w="38100">
            <a:solidFill>
              <a:srgbClr val="1E2761"/>
            </a:solidFill>
            <a:prstDash val="solid"/>
          </a:ln>
        </p:spPr>
      </p:sp>
      <p:sp>
        <p:nvSpPr>
          <p:cNvPr id="20" name="Shape 16"/>
          <p:cNvSpPr/>
          <p:nvPr/>
        </p:nvSpPr>
        <p:spPr>
          <a:xfrm rot="16200000">
            <a:off x="3291840" y="2093976"/>
            <a:ext cx="457200" cy="384048"/>
          </a:xfrm>
          <a:prstGeom prst="triangle">
            <a:avLst/>
          </a:prstGeom>
          <a:solidFill>
            <a:srgbClr val="FFFFFF"/>
          </a:solidFill>
          <a:ln w="38100">
            <a:solidFill>
              <a:srgbClr val="1E2761"/>
            </a:solidFill>
            <a:prstDash val="solid"/>
          </a:ln>
        </p:spPr>
      </p:sp>
      <p:sp>
        <p:nvSpPr>
          <p:cNvPr id="21" name="Shape 17"/>
          <p:cNvSpPr/>
          <p:nvPr/>
        </p:nvSpPr>
        <p:spPr>
          <a:xfrm>
            <a:off x="3639312" y="2103120"/>
            <a:ext cx="91440" cy="365760"/>
          </a:xfrm>
          <a:prstGeom prst="rect">
            <a:avLst/>
          </a:prstGeom>
          <a:solidFill>
            <a:srgbClr val="FFFFFF"/>
          </a:solidFill>
          <a:ln/>
        </p:spPr>
      </p:sp>
      <p:sp>
        <p:nvSpPr>
          <p:cNvPr id="22" name="Text 18"/>
          <p:cNvSpPr txBox="1"/>
          <p:nvPr/>
        </p:nvSpPr>
        <p:spPr>
          <a:xfrm>
            <a:off x="3931920" y="1371600"/>
            <a:ext cx="7498080" cy="178308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„Draußen stehen Soldaten. Wenn ich schwöre, kann ich verhaftet werden, auch meine Familie ist in Gefahr. Soll ich trotzdem schwören?“</a:t>
            </a:r>
            <a:endParaRPr lang="en-US" sz="2600" dirty="0"/>
          </a:p>
        </p:txBody>
      </p:sp>
      <p:sp>
        <p:nvSpPr>
          <p:cNvPr id="23" name="Shape 19"/>
          <p:cNvSpPr/>
          <p:nvPr/>
        </p:nvSpPr>
        <p:spPr>
          <a:xfrm>
            <a:off x="3657600" y="3429000"/>
            <a:ext cx="6492240" cy="1463040"/>
          </a:xfrm>
          <a:prstGeom prst="roundRect">
            <a:avLst>
              <a:gd name="adj" fmla="val 11250"/>
            </a:avLst>
          </a:prstGeom>
          <a:solidFill>
            <a:srgbClr val="FDF1D8"/>
          </a:solidFill>
          <a:ln w="38100">
            <a:solidFill>
              <a:srgbClr val="C98A1E"/>
            </a:solidFill>
            <a:prstDash val="solid"/>
          </a:ln>
        </p:spPr>
      </p:sp>
      <p:sp>
        <p:nvSpPr>
          <p:cNvPr id="24" name="Shape 20"/>
          <p:cNvSpPr/>
          <p:nvPr/>
        </p:nvSpPr>
        <p:spPr>
          <a:xfrm rot="5400000">
            <a:off x="10058400" y="3968496"/>
            <a:ext cx="457200" cy="384048"/>
          </a:xfrm>
          <a:prstGeom prst="triangle">
            <a:avLst/>
          </a:prstGeom>
          <a:solidFill>
            <a:srgbClr val="FDF1D8"/>
          </a:solidFill>
          <a:ln w="38100">
            <a:solidFill>
              <a:srgbClr val="C98A1E"/>
            </a:solidFill>
            <a:prstDash val="solid"/>
          </a:ln>
        </p:spPr>
      </p:sp>
      <p:sp>
        <p:nvSpPr>
          <p:cNvPr id="25" name="Shape 21"/>
          <p:cNvSpPr/>
          <p:nvPr/>
        </p:nvSpPr>
        <p:spPr>
          <a:xfrm>
            <a:off x="10076688" y="3977640"/>
            <a:ext cx="91440" cy="365760"/>
          </a:xfrm>
          <a:prstGeom prst="rect">
            <a:avLst/>
          </a:prstGeom>
          <a:solidFill>
            <a:srgbClr val="FDF1D8"/>
          </a:solidFill>
          <a:ln/>
        </p:spPr>
      </p:sp>
      <p:sp>
        <p:nvSpPr>
          <p:cNvPr id="26" name="Text 22"/>
          <p:cNvSpPr txBox="1"/>
          <p:nvPr/>
        </p:nvSpPr>
        <p:spPr>
          <a:xfrm>
            <a:off x="3931920" y="3429000"/>
            <a:ext cx="6035040" cy="14630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Dein Rat:  „Ich rate dir, … , weil …“</a:t>
            </a:r>
            <a:endParaRPr lang="en-US" sz="2600" dirty="0"/>
          </a:p>
        </p:txBody>
      </p:sp>
      <p:pic>
        <p:nvPicPr>
          <p:cNvPr id="27" name="Image 1" descr="../material/berater.png">    </p:cNvPr>
          <p:cNvPicPr>
            <a:picLocks noChangeAspect="1"/>
          </p:cNvPicPr>
          <p:nvPr/>
        </p:nvPicPr>
        <p:blipFill>
          <a:blip r:embed="rId2"/>
          <a:stretch>
            <a:fillRect/>
          </a:stretch>
        </p:blipFill>
        <p:spPr>
          <a:xfrm>
            <a:off x="10744200" y="3108960"/>
            <a:ext cx="1188720" cy="1645920"/>
          </a:xfrm>
          <a:prstGeom prst="rect">
            <a:avLst/>
          </a:prstGeom>
        </p:spPr>
      </p:pic>
      <p:sp>
        <p:nvSpPr>
          <p:cNvPr id="28" name="Text 23"/>
          <p:cNvSpPr txBox="1"/>
          <p:nvPr/>
        </p:nvSpPr>
        <p:spPr>
          <a:xfrm>
            <a:off x="10744200" y="4754880"/>
            <a:ext cx="1188720" cy="365760"/>
          </a:xfrm>
          <a:prstGeom prst="rect">
            <a:avLst/>
          </a:prstGeom>
          <a:noFill/>
          <a:ln/>
        </p:spPr>
        <p:txBody>
          <a:bodyPr wrap="square" lIns="0" tIns="0" rIns="0" bIns="0" rtlCol="0" anchor="t"/>
          <a:lstStyle/>
          <a:p>
            <a:pPr algn="ctr" indent="0" marL="0">
              <a:buNone/>
            </a:pPr>
            <a:r>
              <a:rPr lang="en-US" sz="2700" b="1" dirty="0">
                <a:solidFill>
                  <a:srgbClr val="1E2761"/>
                </a:solidFill>
                <a:latin typeface="Cambria" pitchFamily="34" charset="0"/>
                <a:ea typeface="Cambria" pitchFamily="34" charset="-122"/>
                <a:cs typeface="Cambria" pitchFamily="34" charset="-120"/>
              </a:rPr>
              <a:t>Du</a:t>
            </a:r>
            <a:endParaRPr lang="en-US" sz="2700" dirty="0"/>
          </a:p>
        </p:txBody>
      </p:sp>
      <p:sp>
        <p:nvSpPr>
          <p:cNvPr id="29" name="Shape 24"/>
          <p:cNvSpPr/>
          <p:nvPr/>
        </p:nvSpPr>
        <p:spPr>
          <a:xfrm>
            <a:off x="3657600" y="5074920"/>
            <a:ext cx="1920240" cy="566928"/>
          </a:xfrm>
          <a:prstGeom prst="roundRect">
            <a:avLst>
              <a:gd name="adj" fmla="val 12903"/>
            </a:avLst>
          </a:prstGeom>
          <a:solidFill>
            <a:srgbClr val="EAF0FA"/>
          </a:solidFill>
          <a:ln/>
        </p:spPr>
      </p:sp>
      <p:sp>
        <p:nvSpPr>
          <p:cNvPr id="30" name="Text 25"/>
          <p:cNvSpPr txBox="1"/>
          <p:nvPr/>
        </p:nvSpPr>
        <p:spPr>
          <a:xfrm>
            <a:off x="3749040" y="5074920"/>
            <a:ext cx="1737360" cy="566928"/>
          </a:xfrm>
          <a:prstGeom prst="rect">
            <a:avLst/>
          </a:prstGeom>
          <a:noFill/>
          <a:ln/>
        </p:spPr>
        <p:txBody>
          <a:bodyPr wrap="square" lIns="0" tIns="0" rIns="0" bIns="0" rtlCol="0" anchor="ctr"/>
          <a:lstStyle/>
          <a:p>
            <a:pPr algn="ctr" indent="0" marL="0">
              <a:buNone/>
            </a:pPr>
            <a:r>
              <a:rPr lang="en-US" sz="2700" b="1" dirty="0">
                <a:solidFill>
                  <a:srgbClr val="1E2761"/>
                </a:solidFill>
                <a:latin typeface="Cambria" pitchFamily="34" charset="0"/>
                <a:ea typeface="Cambria" pitchFamily="34" charset="-122"/>
                <a:cs typeface="Cambria" pitchFamily="34" charset="-120"/>
              </a:rPr>
              <a:t>Position</a:t>
            </a:r>
            <a:endParaRPr lang="en-US" sz="2700" dirty="0"/>
          </a:p>
        </p:txBody>
      </p:sp>
      <p:sp>
        <p:nvSpPr>
          <p:cNvPr id="31" name="Shape 26"/>
          <p:cNvSpPr/>
          <p:nvPr/>
        </p:nvSpPr>
        <p:spPr>
          <a:xfrm>
            <a:off x="5760720" y="5074920"/>
            <a:ext cx="2926080" cy="566928"/>
          </a:xfrm>
          <a:prstGeom prst="roundRect">
            <a:avLst>
              <a:gd name="adj" fmla="val 12903"/>
            </a:avLst>
          </a:prstGeom>
          <a:solidFill>
            <a:srgbClr val="F4F7FD"/>
          </a:solidFill>
          <a:ln/>
        </p:spPr>
      </p:sp>
      <p:sp>
        <p:nvSpPr>
          <p:cNvPr id="32" name="Text 27"/>
          <p:cNvSpPr txBox="1"/>
          <p:nvPr/>
        </p:nvSpPr>
        <p:spPr>
          <a:xfrm>
            <a:off x="5852160" y="5074920"/>
            <a:ext cx="2743200" cy="566928"/>
          </a:xfrm>
          <a:prstGeom prst="rect">
            <a:avLst/>
          </a:prstGeom>
          <a:noFill/>
          <a:ln/>
        </p:spPr>
        <p:txBody>
          <a:bodyPr wrap="square" lIns="0" tIns="0" rIns="0" bIns="0" rtlCol="0" anchor="ctr"/>
          <a:lstStyle/>
          <a:p>
            <a:pPr algn="ctr" indent="0" marL="0">
              <a:buNone/>
            </a:pPr>
            <a:r>
              <a:rPr lang="en-US" sz="2700" b="1" dirty="0">
                <a:solidFill>
                  <a:srgbClr val="1E2761"/>
                </a:solidFill>
                <a:latin typeface="Cambria" pitchFamily="34" charset="0"/>
                <a:ea typeface="Cambria" pitchFamily="34" charset="-122"/>
                <a:cs typeface="Cambria" pitchFamily="34" charset="-120"/>
              </a:rPr>
              <a:t>Sachargument</a:t>
            </a:r>
            <a:endParaRPr lang="en-US" sz="2700" dirty="0"/>
          </a:p>
        </p:txBody>
      </p:sp>
      <p:sp>
        <p:nvSpPr>
          <p:cNvPr id="33" name="Shape 28"/>
          <p:cNvSpPr/>
          <p:nvPr/>
        </p:nvSpPr>
        <p:spPr>
          <a:xfrm>
            <a:off x="8869680" y="5074920"/>
            <a:ext cx="1737360" cy="566928"/>
          </a:xfrm>
          <a:prstGeom prst="roundRect">
            <a:avLst>
              <a:gd name="adj" fmla="val 12903"/>
            </a:avLst>
          </a:prstGeom>
          <a:solidFill>
            <a:srgbClr val="EAF0FA"/>
          </a:solidFill>
          <a:ln/>
        </p:spPr>
      </p:sp>
      <p:sp>
        <p:nvSpPr>
          <p:cNvPr id="34" name="Text 29"/>
          <p:cNvSpPr txBox="1"/>
          <p:nvPr/>
        </p:nvSpPr>
        <p:spPr>
          <a:xfrm>
            <a:off x="8961120" y="5074920"/>
            <a:ext cx="1554480" cy="566928"/>
          </a:xfrm>
          <a:prstGeom prst="rect">
            <a:avLst/>
          </a:prstGeom>
          <a:noFill/>
          <a:ln/>
        </p:spPr>
        <p:txBody>
          <a:bodyPr wrap="square" lIns="0" tIns="0" rIns="0" bIns="0" rtlCol="0" anchor="ctr"/>
          <a:lstStyle/>
          <a:p>
            <a:pPr algn="ctr" indent="0" marL="0">
              <a:buNone/>
            </a:pPr>
            <a:r>
              <a:rPr lang="en-US" sz="2700" b="1" dirty="0">
                <a:solidFill>
                  <a:srgbClr val="1E2761"/>
                </a:solidFill>
                <a:latin typeface="Cambria" pitchFamily="34" charset="0"/>
                <a:ea typeface="Cambria" pitchFamily="34" charset="-122"/>
                <a:cs typeface="Cambria" pitchFamily="34" charset="-120"/>
              </a:rPr>
              <a:t>„weil“</a:t>
            </a:r>
            <a:endParaRPr lang="en-US" sz="2700" dirty="0"/>
          </a:p>
        </p:txBody>
      </p:sp>
      <p:sp>
        <p:nvSpPr>
          <p:cNvPr id="35" name="Shape 30"/>
          <p:cNvSpPr/>
          <p:nvPr/>
        </p:nvSpPr>
        <p:spPr>
          <a:xfrm>
            <a:off x="548640" y="5669280"/>
            <a:ext cx="11109960" cy="777240"/>
          </a:xfrm>
          <a:prstGeom prst="roundRect">
            <a:avLst>
              <a:gd name="adj" fmla="val 9412"/>
            </a:avLst>
          </a:prstGeom>
          <a:solidFill>
            <a:srgbClr val="1E2761"/>
          </a:solidFill>
          <a:ln/>
        </p:spPr>
      </p:sp>
      <p:sp>
        <p:nvSpPr>
          <p:cNvPr id="36" name="Text 3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Zeit: </a:t>
            </a:r>
            <a:pPr indent="0" marL="0">
              <a:buNone/>
            </a:pPr>
            <a:r>
              <a:rPr lang="en-US" sz="2700" dirty="0">
                <a:solidFill>
                  <a:srgbClr val="FFFFFF"/>
                </a:solidFill>
                <a:latin typeface="Calibri" pitchFamily="34" charset="0"/>
                <a:ea typeface="Calibri" pitchFamily="34" charset="-122"/>
                <a:cs typeface="Calibri" pitchFamily="34" charset="-120"/>
              </a:rPr>
              <a:t>3 Minuten · allein · leise      </a:t>
            </a:r>
            <a:pPr indent="0" marL="0">
              <a:buNone/>
            </a:pPr>
            <a:r>
              <a:rPr lang="en-US" sz="2700" i="1" dirty="0">
                <a:solidFill>
                  <a:srgbClr val="CADCFC"/>
                </a:solidFill>
                <a:latin typeface="Calibri" pitchFamily="34" charset="0"/>
                <a:ea typeface="Calibri" pitchFamily="34" charset="-122"/>
                <a:cs typeface="Calibri" pitchFamily="34" charset="-120"/>
              </a:rPr>
              <a:t>Fertig? Stift hinlegen.</a:t>
            </a:r>
            <a:endParaRPr lang="en-US" sz="2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Haben wir die Ziele erreicht?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
        <p:nvSpPr>
          <p:cNvPr id="17" name="Shape 14"/>
          <p:cNvSpPr/>
          <p:nvPr/>
        </p:nvSpPr>
        <p:spPr>
          <a:xfrm>
            <a:off x="548640" y="1554480"/>
            <a:ext cx="11109960" cy="1051560"/>
          </a:xfrm>
          <a:prstGeom prst="roundRect">
            <a:avLst>
              <a:gd name="adj" fmla="val 6957"/>
            </a:avLst>
          </a:prstGeom>
          <a:solidFill>
            <a:srgbClr val="EAF0FA"/>
          </a:solidFill>
          <a:ln/>
        </p:spPr>
      </p:sp>
      <p:sp>
        <p:nvSpPr>
          <p:cNvPr id="18" name="Shape 15"/>
          <p:cNvSpPr/>
          <p:nvPr/>
        </p:nvSpPr>
        <p:spPr>
          <a:xfrm>
            <a:off x="822960" y="1828800"/>
            <a:ext cx="502920" cy="502920"/>
          </a:xfrm>
          <a:prstGeom prst="ellipse">
            <a:avLst/>
          </a:prstGeom>
          <a:solidFill>
            <a:srgbClr val="FFFFFF"/>
          </a:solidFill>
          <a:ln w="25400">
            <a:solidFill>
              <a:srgbClr val="1E2761"/>
            </a:solidFill>
            <a:prstDash val="solid"/>
          </a:ln>
        </p:spPr>
      </p:sp>
      <p:sp>
        <p:nvSpPr>
          <p:cNvPr id="19" name="Text 16"/>
          <p:cNvSpPr txBox="1"/>
          <p:nvPr/>
        </p:nvSpPr>
        <p:spPr>
          <a:xfrm>
            <a:off x="1600200" y="1554480"/>
            <a:ext cx="9875520" cy="10515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erklären, warum sich der Dritte Stand (Bauern und Bürger) 1789 zur Nationalversammlung erklärte.</a:t>
            </a:r>
            <a:endParaRPr lang="en-US" sz="2700" dirty="0"/>
          </a:p>
        </p:txBody>
      </p:sp>
      <p:sp>
        <p:nvSpPr>
          <p:cNvPr id="20" name="Shape 17"/>
          <p:cNvSpPr/>
          <p:nvPr/>
        </p:nvSpPr>
        <p:spPr>
          <a:xfrm>
            <a:off x="548640" y="2834640"/>
            <a:ext cx="11109960" cy="1051560"/>
          </a:xfrm>
          <a:prstGeom prst="roundRect">
            <a:avLst>
              <a:gd name="adj" fmla="val 6957"/>
            </a:avLst>
          </a:prstGeom>
          <a:solidFill>
            <a:srgbClr val="F4F7FD"/>
          </a:solidFill>
          <a:ln/>
        </p:spPr>
      </p:sp>
      <p:sp>
        <p:nvSpPr>
          <p:cNvPr id="21" name="Shape 18"/>
          <p:cNvSpPr/>
          <p:nvPr/>
        </p:nvSpPr>
        <p:spPr>
          <a:xfrm>
            <a:off x="822960" y="3108960"/>
            <a:ext cx="502920" cy="502920"/>
          </a:xfrm>
          <a:prstGeom prst="ellipse">
            <a:avLst/>
          </a:prstGeom>
          <a:solidFill>
            <a:srgbClr val="FFFFFF"/>
          </a:solidFill>
          <a:ln w="25400">
            <a:solidFill>
              <a:srgbClr val="1E2761"/>
            </a:solidFill>
            <a:prstDash val="solid"/>
          </a:ln>
        </p:spPr>
      </p:sp>
      <p:sp>
        <p:nvSpPr>
          <p:cNvPr id="22" name="Text 19"/>
          <p:cNvSpPr txBox="1"/>
          <p:nvPr/>
        </p:nvSpPr>
        <p:spPr>
          <a:xfrm>
            <a:off x="1600200" y="2834640"/>
            <a:ext cx="9875520" cy="10515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erklären, was die Abgeordneten im Ballhausschwur versprachen.</a:t>
            </a:r>
            <a:endParaRPr lang="en-US" sz="2700" dirty="0"/>
          </a:p>
        </p:txBody>
      </p:sp>
      <p:sp>
        <p:nvSpPr>
          <p:cNvPr id="23" name="Shape 20"/>
          <p:cNvSpPr/>
          <p:nvPr/>
        </p:nvSpPr>
        <p:spPr>
          <a:xfrm>
            <a:off x="548640" y="4114800"/>
            <a:ext cx="11109960" cy="1051560"/>
          </a:xfrm>
          <a:prstGeom prst="roundRect">
            <a:avLst>
              <a:gd name="adj" fmla="val 6957"/>
            </a:avLst>
          </a:prstGeom>
          <a:solidFill>
            <a:srgbClr val="EAF0FA"/>
          </a:solidFill>
          <a:ln/>
        </p:spPr>
      </p:sp>
      <p:sp>
        <p:nvSpPr>
          <p:cNvPr id="24" name="Shape 21"/>
          <p:cNvSpPr/>
          <p:nvPr/>
        </p:nvSpPr>
        <p:spPr>
          <a:xfrm>
            <a:off x="822960" y="4389120"/>
            <a:ext cx="502920" cy="502920"/>
          </a:xfrm>
          <a:prstGeom prst="ellipse">
            <a:avLst/>
          </a:prstGeom>
          <a:solidFill>
            <a:srgbClr val="FFFFFF"/>
          </a:solidFill>
          <a:ln w="25400">
            <a:solidFill>
              <a:srgbClr val="1E2761"/>
            </a:solidFill>
            <a:prstDash val="solid"/>
          </a:ln>
        </p:spPr>
      </p:sp>
      <p:sp>
        <p:nvSpPr>
          <p:cNvPr id="25" name="Text 22"/>
          <p:cNvSpPr txBox="1"/>
          <p:nvPr/>
        </p:nvSpPr>
        <p:spPr>
          <a:xfrm>
            <a:off x="1600200" y="4114800"/>
            <a:ext cx="9875520" cy="10515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Ich kann eine Karikatur analysieren: beschreiben, deuten, beurteilen.*</a:t>
            </a:r>
            <a:endParaRPr lang="en-US" sz="2700" dirty="0"/>
          </a:p>
        </p:txBody>
      </p:sp>
      <p:sp>
        <p:nvSpPr>
          <p:cNvPr id="26" name="Shape 23"/>
          <p:cNvSpPr/>
          <p:nvPr/>
        </p:nvSpPr>
        <p:spPr>
          <a:xfrm>
            <a:off x="548640" y="5669280"/>
            <a:ext cx="11109960" cy="777240"/>
          </a:xfrm>
          <a:prstGeom prst="roundRect">
            <a:avLst>
              <a:gd name="adj" fmla="val 9412"/>
            </a:avLst>
          </a:prstGeom>
          <a:solidFill>
            <a:srgbClr val="1E2761"/>
          </a:solidFill>
          <a:ln/>
        </p:spPr>
      </p:sp>
      <p:sp>
        <p:nvSpPr>
          <p:cNvPr id="27" name="Text 24"/>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Jetzt: </a:t>
            </a:r>
            <a:pPr indent="0" marL="0">
              <a:buNone/>
            </a:pPr>
            <a:r>
              <a:rPr lang="en-US" sz="2700" dirty="0">
                <a:solidFill>
                  <a:srgbClr val="FFFFFF"/>
                </a:solidFill>
                <a:latin typeface="Calibri" pitchFamily="34" charset="0"/>
                <a:ea typeface="Calibri" pitchFamily="34" charset="-122"/>
                <a:cs typeface="Calibri" pitchFamily="34" charset="-120"/>
              </a:rPr>
              <a:t>Schau auf die Ziele. Haben wir sie erreicht?</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 · AUSBLICK</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Wie geht es weiter?</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Der Dritte Stand handelt · Geschichte 8C</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17</a:t>
            </a:r>
            <a:endParaRPr lang="en-US" sz="1000" dirty="0"/>
          </a:p>
        </p:txBody>
      </p:sp>
      <p:sp>
        <p:nvSpPr>
          <p:cNvPr id="17" name="Shape 14"/>
          <p:cNvSpPr/>
          <p:nvPr/>
        </p:nvSpPr>
        <p:spPr>
          <a:xfrm>
            <a:off x="548640" y="1645920"/>
            <a:ext cx="11109960" cy="1828800"/>
          </a:xfrm>
          <a:prstGeom prst="roundRect">
            <a:avLst>
              <a:gd name="adj" fmla="val 4000"/>
            </a:avLst>
          </a:prstGeom>
          <a:solidFill>
            <a:srgbClr val="1E2761"/>
          </a:solidFill>
          <a:ln/>
        </p:spPr>
      </p:sp>
      <p:sp>
        <p:nvSpPr>
          <p:cNvPr id="18" name="Text 15"/>
          <p:cNvSpPr txBox="1"/>
          <p:nvPr/>
        </p:nvSpPr>
        <p:spPr>
          <a:xfrm>
            <a:off x="868680" y="1645920"/>
            <a:ext cx="10469880" cy="1828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Der König zieht Soldaten zusammen.</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In Paris wächst die Angst.</a:t>
            </a:r>
            <a:endParaRPr lang="en-US" sz="3200" dirty="0"/>
          </a:p>
        </p:txBody>
      </p:sp>
      <p:sp>
        <p:nvSpPr>
          <p:cNvPr id="19" name="Shape 16"/>
          <p:cNvSpPr/>
          <p:nvPr/>
        </p:nvSpPr>
        <p:spPr>
          <a:xfrm>
            <a:off x="548640" y="3749040"/>
            <a:ext cx="11109960" cy="1463040"/>
          </a:xfrm>
          <a:prstGeom prst="roundRect">
            <a:avLst>
              <a:gd name="adj" fmla="val 5000"/>
            </a:avLst>
          </a:prstGeom>
          <a:solidFill>
            <a:srgbClr val="EAF0FA"/>
          </a:solidFill>
          <a:ln/>
        </p:spPr>
      </p:sp>
      <p:sp>
        <p:nvSpPr>
          <p:cNvPr id="20" name="Text 17"/>
          <p:cNvSpPr txBox="1"/>
          <p:nvPr/>
        </p:nvSpPr>
        <p:spPr>
          <a:xfrm>
            <a:off x="868680" y="3749040"/>
            <a:ext cx="10469880" cy="1463040"/>
          </a:xfrm>
          <a:prstGeom prst="rect">
            <a:avLst/>
          </a:prstGeom>
          <a:noFill/>
          <a:ln/>
        </p:spPr>
        <p:txBody>
          <a:bodyPr wrap="square" lIns="0" tIns="0" rIns="0" bIns="0" rtlCol="0" anchor="ctr"/>
          <a:lstStyle/>
          <a:p>
            <a:pPr indent="0" marL="0">
              <a:buNone/>
            </a:pPr>
            <a:r>
              <a:rPr lang="en-US" sz="2800" dirty="0">
                <a:solidFill>
                  <a:srgbClr val="1E2761"/>
                </a:solidFill>
                <a:latin typeface="Cambria" pitchFamily="34" charset="0"/>
                <a:ea typeface="Cambria" pitchFamily="34" charset="-122"/>
                <a:cs typeface="Cambria" pitchFamily="34" charset="-120"/>
              </a:rPr>
              <a:t>Wie reagieren die Menschen in Paris? Das sehen wir in der nächsten Stunde.</a:t>
            </a:r>
            <a:endParaRPr lang="en-US" sz="2800" dirty="0"/>
          </a:p>
        </p:txBody>
      </p:sp>
      <p:sp>
        <p:nvSpPr>
          <p:cNvPr id="21" name="Shape 18"/>
          <p:cNvSpPr/>
          <p:nvPr/>
        </p:nvSpPr>
        <p:spPr>
          <a:xfrm>
            <a:off x="548640" y="5669280"/>
            <a:ext cx="11109960" cy="777240"/>
          </a:xfrm>
          <a:prstGeom prst="roundRect">
            <a:avLst>
              <a:gd name="adj" fmla="val 9412"/>
            </a:avLst>
          </a:prstGeom>
          <a:solidFill>
            <a:srgbClr val="1E2761"/>
          </a:solidFill>
          <a:ln/>
        </p:spPr>
      </p:sp>
      <p:sp>
        <p:nvSpPr>
          <p:cNvPr id="22" name="Text 1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Nächste Stunde: </a:t>
            </a:r>
            <a:pPr indent="0" marL="0">
              <a:buNone/>
            </a:pPr>
            <a:r>
              <a:rPr lang="en-US" sz="2700" dirty="0">
                <a:solidFill>
                  <a:srgbClr val="FFFFFF"/>
                </a:solidFill>
                <a:latin typeface="Calibri" pitchFamily="34" charset="0"/>
                <a:ea typeface="Calibri" pitchFamily="34" charset="-122"/>
                <a:cs typeface="Calibri" pitchFamily="34" charset="-120"/>
              </a:rPr>
              <a:t>Bastille, Ende der Vorrechte, Menschenrechte.</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Stunde 2: Der Dritte Stand handelt</dc:title>
  <dc:subject>PptxGenJS Presentation</dc:subject>
  <dc:creator>PptxGenJS</dc:creator>
  <cp:lastModifiedBy>PptxGenJS</cp:lastModifiedBy>
  <cp:revision>1</cp:revision>
  <dcterms:created xsi:type="dcterms:W3CDTF">2026-10-28T16:20:27Z</dcterms:created>
  <dcterms:modified xsi:type="dcterms:W3CDTF">2026-10-28T16:20:27Z</dcterms:modified>
</cp:coreProperties>
</file>