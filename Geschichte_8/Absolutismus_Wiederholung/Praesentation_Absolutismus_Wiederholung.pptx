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Präsentation enthält die Merksätze (zum Abschreiben) und die Aufgaben. Tafelbilder und die Tabelle zur Ständegesellschaft entstehen an der Tafel (siehe Tafelskript). Lösungen stehen in den Notizen.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Ihr hört nur zu. Nächste Woche schreiben wir einen Test zu diesen drei Themen. Die Stunde heute ist eure Vorbereitung: Was hier nicht klappt, wisst ihr danach.“ Noch keinen Termin im Detail diskutieren; Fragen zum Test am Stundenende.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Vorher: Wort „Absolutismus“ an die Tafel, gemeinsam klären: absolut = uneingeschränkt. Dann Ansage: „Jetzt schreibt ihr von der Folie ab: Merksatz 1. Rahmt ihn rot ein.“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Absolutismus (keine Kontrolle) · 2 kein Absolutismus (Parlament kann den König stoppen) · 3 Absolutismus (Beamte sind dem König zum Gehorsam verpflichtet, er kontrolliert sie) · 4 kein Absolutismus (Wahl = Demokratie, Macht ist begrenzt). Nach der Einzelarbeit: „Wer drankommt, schreibt an die Tafel. Alle prüfen mit.“ Dann: „Vergleicht und 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2. Rahmt ihn rot ein.“ Danach Arbeitsblatt Lückentext verteilen. Tipp: Die Säulen sind aus dem Gruppenpuzzle bekannt – kurz fragen, wer welche Säule bearbeitet 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absoluter · 2 Beamte · 3 Intendanten · 4 Steuerfreiheit · 5 Versailles · 6 Merkantilismus · 7 Zölle · 8 Gottesgnadentum · 9 Glaube · 10 stehendes · 11 400.000 · 12 Drittel. Nicht passend: Söldner, Generalstände. Kontrolle: „Wer drankommt, liest einen Absatz vor. Alle prüfen mit.“ Dann „Vergleicht und verbessert mit Grün.“ Schnelle machen die ★-Aufgabe (wichtigste Säule begründen).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„Hefte zu. Ihr schreibt noch nichts auf. Meldet euch.“ Tabelle (Stand | Anteil | Rechte | Pflichten | Mitbestimmung) bereits leer an der Tafel. Nach dem gemeinsamen Ausfüllen: „Jetzt schreibt ihr ab: die Tabelle. Mit Lineal.“ Lösungen siehe Tafelskript. Hinweis zur Mitbestimmung: Die Generalstände (je 1 Stimme pro Stand) wurden von 1614 bis 1789 nicht einberufen – unter Ludwig XIV. gab es praktisch keine Mitbestimmung.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schreibt ihr von der Folie ab: Merksatz 3. Rahmt ihn rot ein.“ Zahlen beziehen sich auf Frankreich vor 1789. Falls im Unterricht andere Werte genannt wurden, Folie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„Jetzt arbeitet ihr allein. Die Aufgabe steht rechts.“ Danach 3 Schüler vorlesen lassen (verschiedene Stände): „Wer drankommt, liest vor. Alle prüfen mit.“ Kriterien stehen auf der nächsten Folie. Mögliche Antwort: „Im Absolutismus fühle ich mich als Adeliger privilegiert, weil ich keine Steuern zahlen muss und jagen darf. Dafür muss ich dem König im Krieg dienen und am Hof erscheinen.“ / „… als Bauer ausgenutzt, weil ich Steuern und Abgaben zahlen muss, aber keine Privilegien und keine Mitbestimmung habe.“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„Wer drankommt, liest vor. Alle prüfen mit.“ Typische Fehler: Adel als Steuerzahler, Klerus mit Kriegsdienst, Dritter Stand mit Privilegien. Dann: „Verbessert mit Grün.“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Ansage: „Stifte liegen. Das ist eure Lernliste für den Test. Fragen zum Test?“ Die Liste bewusst kurz halten; Testtermin noch einmal 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und Ständegesellschaft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46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vor dem Test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Geschichte, Klasse 8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ANSAGE ZU BEGINN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Nächste Woche schreiben wir einen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431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431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172821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Ständegesellschaft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22199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 · Pflichten · Anzahl (Anteil der Stände) · Mitbestimmung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F4F7FD"/>
          </a:solidFill>
          <a:ln/>
        </p:spPr>
      </p:sp>
      <p:sp>
        <p:nvSpPr>
          <p:cNvPr id="10" name="Shape 8"/>
          <p:cNvSpPr/>
          <p:nvPr/>
        </p:nvSpPr>
        <p:spPr>
          <a:xfrm>
            <a:off x="822960" y="32689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268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5409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 Absolutismus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54787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bedeutet er? Woran erkenne ich ihn?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109960" cy="1143000"/>
          </a:xfrm>
          <a:prstGeom prst="roundRect">
            <a:avLst>
              <a:gd name="adj" fmla="val 6400"/>
            </a:avLst>
          </a:prstGeom>
          <a:solidFill>
            <a:srgbClr val="EAF0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5948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594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37997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7375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Nennen und erklären, wie der König damit seine Macht sichert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wiederholen genau das und ergänzen, was in euren Unterlagen noch fehlt.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1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war eine Herrschaftsform in Europa im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 und 18. Jahrhundert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in der ein einzelner Monarch (König oder Fürst)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uneingeschränkt (absolut)</a:t>
            </a:r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herrschte.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verkündet 1661: „Ich regiere jetzt selbst.“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Begriff ordnet eine ganze Epoche ein und ist im Test die Grundlage für alle weiteren Fragen.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jemand den König stoppen (Parlament, Verfassung, Stände)?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Absolutismus.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Absolutismus – ja oder nein?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Ü1 an den Rand.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Nummer + „Absolutismus“ oder „kein Absolutismus“.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 mit dem Test: Kann jemand den König stoppen?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346704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0" name="Shape 17"/>
          <p:cNvSpPr/>
          <p:nvPr/>
        </p:nvSpPr>
        <p:spPr>
          <a:xfrm>
            <a:off x="685800" y="3429000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58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1280160" y="3346704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König entscheidet allein über Gesetze, Krieg und Steuern.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8640" y="3950208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4" name="Shape 21"/>
          <p:cNvSpPr/>
          <p:nvPr/>
        </p:nvSpPr>
        <p:spPr>
          <a:xfrm>
            <a:off x="685800" y="4032504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800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3950208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Parlament kann Steuererhöhungen des Königs verbieten.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48640" y="4553712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" y="4636008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5800" y="4636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280160" y="4553712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handeln im Namen des Königs und müssen ihm gehorchen.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48640" y="5157216"/>
            <a:ext cx="11109960" cy="530352"/>
          </a:xfrm>
          <a:prstGeom prst="roundRect">
            <a:avLst>
              <a:gd name="adj" fmla="val 13793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685800" y="5239512"/>
            <a:ext cx="365760" cy="36576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85800" y="5239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1280160" y="5157216"/>
            <a:ext cx="10241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Bürger wählen alle vier Jahre ihre Regierung.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2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fünf Säulen des Absolutismus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Ludwig XIV. sicherte seine Macht auf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fünf Säulen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Verwaltung und Justiz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Adel und Hof von Versailles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Wirtschaft (Merkantilismus)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Religion (Gottesgnadentum) ·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Heer (stehendes Heer).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Verwaltung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kontrolliert das Land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Hof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bindet den Adel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Wirtschaft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liefert Geld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Religion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begründet die Macht · </a:t>
            </a:r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Heer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setzt sie durch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Test sollst du die Säulen nennen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erklären, wie der König damit seine Macht sichert.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Säule fragen: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sichert der König damit?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 · ARBEITSBLATT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Lückentext: Die fünf Säulen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Ü2 oben auf das Arbeitsblatt.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den Text einmal ganz. Ergänze dann die 12 Lücken mit dem Wortspeicher.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Streiche jedes benutzte Wort durch. Zwei Wörter passen nicht.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 Schnelle: ★-Aufgabe.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758184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867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Wortspeicher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23367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Beamte · Glaube · Söldner · Merkantilismus · Gottesgnadentum · Versailles · Steuerfreiheit · Zölle · stehendes · 400.000 · Drittel · absoluter · Intendanten · Generalstände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 · TAFEL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 aus dem Kopf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655064"/>
          </a:xfrm>
          <a:prstGeom prst="roundRect">
            <a:avLst>
              <a:gd name="adj" fmla="val 4420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Klappe das Heft zu. Ihr meldet euch und nennt, was ihr wisst.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füllen die Tabelle an der Tafel gemeinsam aus.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53746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2374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schreibst du die fertige Tabelle mit Lineal ab.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gemeinsam, dann abschreiben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3209544"/>
            <a:ext cx="20116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320954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651760" y="3209544"/>
            <a:ext cx="137160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651760" y="320954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4114800" y="3209544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0" y="320954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Rechte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766560" y="3209544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6560" y="3209544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Pflichten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9418320" y="3209544"/>
            <a:ext cx="214884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418320" y="3209544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Mitbestimmung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3694176"/>
            <a:ext cx="20116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48640" y="3694176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Stand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2651760" y="3694176"/>
            <a:ext cx="13716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2" name="Shape 29"/>
          <p:cNvSpPr/>
          <p:nvPr/>
        </p:nvSpPr>
        <p:spPr>
          <a:xfrm>
            <a:off x="4114800" y="3694176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3" name="Shape 30"/>
          <p:cNvSpPr/>
          <p:nvPr/>
        </p:nvSpPr>
        <p:spPr>
          <a:xfrm>
            <a:off x="6766560" y="3694176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4" name="Shape 31"/>
          <p:cNvSpPr/>
          <p:nvPr/>
        </p:nvSpPr>
        <p:spPr>
          <a:xfrm>
            <a:off x="9418320" y="3694176"/>
            <a:ext cx="214884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5" name="Shape 32"/>
          <p:cNvSpPr/>
          <p:nvPr/>
        </p:nvSpPr>
        <p:spPr>
          <a:xfrm>
            <a:off x="548640" y="4352544"/>
            <a:ext cx="20116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352544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Stand</a:t>
            </a:r>
            <a:endParaRPr lang="en-US" sz="1900" dirty="0"/>
          </a:p>
        </p:txBody>
      </p:sp>
      <p:sp>
        <p:nvSpPr>
          <p:cNvPr id="37" name="Shape 34"/>
          <p:cNvSpPr/>
          <p:nvPr/>
        </p:nvSpPr>
        <p:spPr>
          <a:xfrm>
            <a:off x="2651760" y="4352544"/>
            <a:ext cx="13716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8" name="Shape 35"/>
          <p:cNvSpPr/>
          <p:nvPr/>
        </p:nvSpPr>
        <p:spPr>
          <a:xfrm>
            <a:off x="4114800" y="4352544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39" name="Shape 36"/>
          <p:cNvSpPr/>
          <p:nvPr/>
        </p:nvSpPr>
        <p:spPr>
          <a:xfrm>
            <a:off x="6766560" y="4352544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0" name="Shape 37"/>
          <p:cNvSpPr/>
          <p:nvPr/>
        </p:nvSpPr>
        <p:spPr>
          <a:xfrm>
            <a:off x="9418320" y="4352544"/>
            <a:ext cx="214884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1" name="Shape 38"/>
          <p:cNvSpPr/>
          <p:nvPr/>
        </p:nvSpPr>
        <p:spPr>
          <a:xfrm>
            <a:off x="548640" y="5010912"/>
            <a:ext cx="2011680" cy="585216"/>
          </a:xfrm>
          <a:prstGeom prst="roundRect">
            <a:avLst>
              <a:gd name="adj" fmla="val 12500"/>
            </a:avLst>
          </a:prstGeom>
          <a:solidFill>
            <a:srgbClr val="EAF0FA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48640" y="5010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Stand</a:t>
            </a:r>
            <a:endParaRPr lang="en-US" sz="1900" dirty="0"/>
          </a:p>
        </p:txBody>
      </p:sp>
      <p:sp>
        <p:nvSpPr>
          <p:cNvPr id="43" name="Shape 40"/>
          <p:cNvSpPr/>
          <p:nvPr/>
        </p:nvSpPr>
        <p:spPr>
          <a:xfrm>
            <a:off x="2651760" y="5010912"/>
            <a:ext cx="137160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4" name="Shape 41"/>
          <p:cNvSpPr/>
          <p:nvPr/>
        </p:nvSpPr>
        <p:spPr>
          <a:xfrm>
            <a:off x="4114800" y="5010912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5" name="Shape 42"/>
          <p:cNvSpPr/>
          <p:nvPr/>
        </p:nvSpPr>
        <p:spPr>
          <a:xfrm>
            <a:off x="6766560" y="5010912"/>
            <a:ext cx="256032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  <p:sp>
        <p:nvSpPr>
          <p:cNvPr id="46" name="Shape 43"/>
          <p:cNvSpPr/>
          <p:nvPr/>
        </p:nvSpPr>
        <p:spPr>
          <a:xfrm>
            <a:off x="9418320" y="5010912"/>
            <a:ext cx="2148840" cy="585216"/>
          </a:xfrm>
          <a:prstGeom prst="roundRect">
            <a:avLst>
              <a:gd name="adj" fmla="val 12500"/>
            </a:avLst>
          </a:prstGeom>
          <a:solidFill>
            <a:srgbClr val="F4F7FD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5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3 · ABSCHREIBEN UND ROT UMRAHMEN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Ständegesellschaft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08760"/>
            <a:ext cx="10469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der Ständegesellschaft gehört jeder Mensch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durch Geburt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zu einem von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drei Ständen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 (ca. 1 %)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Adel (ca. 2 %)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Dritter Stand (ca. 97 %)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Rechte und Pflichten sind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ungleich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verteilt. Im Absolutismus hatten die Stände </a:t>
            </a:r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Mitbestimmung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EAF0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Klerus, Adel: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Privilegien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Dritter Stand: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Steuern, Abgaben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4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Wofür brauche ich das?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erklärst, warum Ludwig den Adel bei Laune hält und warum der Dritte Stand die Last trägt.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217920" y="4069080"/>
            <a:ext cx="5440680" cy="1645920"/>
          </a:xfrm>
          <a:prstGeom prst="roundRect">
            <a:avLst>
              <a:gd name="adj" fmla="val 4444"/>
            </a:avLst>
          </a:prstGeom>
          <a:solidFill>
            <a:srgbClr val="F4F7F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46520" y="41879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57200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zahlt Steuern, wer hat Privilegien? </a:t>
            </a:r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Anzahl und Lasten passen nicht zusammen.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Merksatz mit Beispiel ab und rahme ihn rot ein.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 Absolutismus fühle ich mich …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2615184"/>
          </a:xfrm>
          <a:prstGeom prst="roundRect">
            <a:avLst>
              <a:gd name="adj" fmla="val 2797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Ü4 an den Rand und wähle einen Stand: Klerus, Adel oder Dritter Stand.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37286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915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ab und beende ihn: „Im Absolutismus fühle ich mich … , weil …“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317754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1775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6382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in deiner Begründung mindestens ein Recht und eine Pflicht deines Standes.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Minuten · allein · leise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 und noch einmal durchlesen.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4864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7724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Gefühle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privilegiert · sicher · zufrieden · ausgenutzt · benachteiligt · machtlos · überlastet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4215384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F7F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446520" y="43068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Fachbegriffe für die Begründung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446520" y="4672584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Privilegien · Steuerfreiheit · Jagdrecht · Abgaben · Frondienst · Kriegsdienst · Mitbestimmung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KONTROLLE ZU Ü4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Prüft die Sätze der anderen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975104"/>
          </a:xfrm>
          <a:prstGeom prst="roundRect">
            <a:avLst>
              <a:gd name="adj" fmla="val 3704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68196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5681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5448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Hört zu: Welcher Stand wurde gewählt?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052828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0528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0391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Wird ein Recht und eine Pflicht genannt? Passen sie zum Stand?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31520" y="2857500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8575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843784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Prüft: Passt das Gefühl zur Begründung?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gemeinsam · mündlich      </a:t>
            </a:r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korrigiert, nennt die Begründung mit Fachbegriff.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SCHLUSS · STIFTE LIEGEN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943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lernst du bis zum Test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Merksatz 1 auswendig: Was bedeutet Absolutismus?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269748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51460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Lückentext noch einmal ohne Wortspeicher ausfüllen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EAF0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4747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Tabelle Ständegesellschaft aus dem Kopf aufschreiben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109960" cy="822960"/>
          </a:xfrm>
          <a:prstGeom prst="roundRect">
            <a:avLst>
              <a:gd name="adj" fmla="val 8889"/>
            </a:avLst>
          </a:prstGeom>
          <a:solidFill>
            <a:srgbClr val="F4F7F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D9534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4617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43484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Deinen Ü4-Satz zu einem zweiten Stand noch einmal schreiben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589788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2960" y="58978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nächste Woche · Ständegesellschaft · Absolutismus · fünf Säulen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510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Absolutismus · Wiederholung · Geschichte 8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5105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Absolutismus und Ständegesellschaft – Wiederholung</dc:title>
  <dc:subject>PptxGenJS Presentation</dc:subject>
  <dc:creator>PptxGenJS</dc:creator>
  <cp:lastModifiedBy>PptxGenJS</cp:lastModifiedBy>
  <cp:revision>1</cp:revision>
  <dcterms:created xsi:type="dcterms:W3CDTF">2026-09-30T17:11:56Z</dcterms:created>
  <dcterms:modified xsi:type="dcterms:W3CDTF">2026-09-30T17:11:56Z</dcterms:modified>
</cp:coreProperties>
</file>