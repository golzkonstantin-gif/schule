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Lösung: 1 wahr (ca. 20 Mio. von gut 20,6 Mio.) · 2 falsch: Der Adel zahlte keine Steuern · 3 wahr (Säule Heer) · 4 falsch: 1685 beendete Ludwig die religiöse Toleranz (Säule Religion). Nicht lange erklären, sondern notieren, was unsicher ist. Es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1.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Nach der Einzelarbeit: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2. Rahmt ihn rot ein.“ Danach Arbeitsblatt Lückentext verteilen. Tipp: Die Säulen sind aus dem Gruppenpuzzle bekannt – kurz fragen, wer welche Säule bearbeitet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Nicht passend: Söldner, Parlament.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„Hefte zu. Ihr schreibt noch nichts auf. Meldet euch.“ Raster aus dem Gruppenpuzzle (Stand | Anzahl | Bildung | Vorrechte | Pflichten) plus Spalte Mitbestimmung bereits leer an der Tafel. Inhalte siehe Tafelskript (aus den Gruppenpuzzle-Texten). Nach dem gemeinsamen Ausfüllen: „Jetzt schreibt ihr ab: die Tabelle. Mit Lineal.“ Lösungen siehe Tafelskript. Hinweis: Der Text nennt zur Mitbestimmung des Klerus nichts.  Der Dritte Stand ist ausgeschlossen, der Adel bestimmt das politische Geschehen.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3. Rahmt ihn rot ein.“ Alle Zahlen stammen aus den Gruppenpuzzle-Texten. Der Text nennt zur Mitbestimmung des Klerus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Danach 3 Schüler vorlesen lassen (verschiedene Stände): „Wer drankommt, liest vor. Alle prüfen mit.“ Kriterien stehen auf der nächsten Folie.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„Wer drankommt, liest vor. Alle prüfen mit.“ Typische Fehler: Adel als Steuerzahler, Klerus mit Wehrdienst (befreit), Dritter Stand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219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478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die vier Behauptungen. Entscheide still: wahr oder falsch?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 dich: Nenne deine Entscheidung und begründe sie.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Verbessere die Aussage.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begründet, bekommt das Wort.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war mit Abstand der größte Stand.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Begriff ordnet eine ganze Epoche ein und ist im Test die Grundlage für alle weiteren Fragen.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Test sollst du die Säulen nennen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erklären, wie der König damit seine Macht sichert.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oben auf das Arbeitsblatt.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 Zwei Wörter passen nicht.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867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23367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Söldner · Merkantilismus · Gottesgnadentum · Versailles · Steuerfreiheit · Zölle · stehendes · 400.000 · Drittel · absoluter · Intendanten · Parlament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 · TAFEL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 aus dem Kopf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Heft zu. Ihr meldet euch und nennt, was ihr wisst.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füllen die Tabelle an der Tafel gemeinsam aus.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schreibst du die fertige Tabelle mit Lineal ab.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209544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20954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194560" y="3209544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194560" y="32095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383280" y="3209544"/>
            <a:ext cx="16459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383280" y="32095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Bildung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12064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2064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1520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Pflichten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09760" y="3209544"/>
            <a:ext cx="205740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509760" y="320954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Mitbestimmung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3694176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Stand</a:t>
            </a:r>
            <a:endParaRPr lang="en-US" sz="1900" dirty="0"/>
          </a:p>
        </p:txBody>
      </p:sp>
      <p:sp>
        <p:nvSpPr>
          <p:cNvPr id="33" name="Shape 30"/>
          <p:cNvSpPr/>
          <p:nvPr/>
        </p:nvSpPr>
        <p:spPr>
          <a:xfrm>
            <a:off x="2194560" y="3694176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3383280" y="3694176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5" name="Shape 32"/>
          <p:cNvSpPr/>
          <p:nvPr/>
        </p:nvSpPr>
        <p:spPr>
          <a:xfrm>
            <a:off x="512064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731520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7" name="Shape 34"/>
          <p:cNvSpPr/>
          <p:nvPr/>
        </p:nvSpPr>
        <p:spPr>
          <a:xfrm>
            <a:off x="9509760" y="3694176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352544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48640" y="4352544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Stand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2194560" y="4352544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1" name="Shape 38"/>
          <p:cNvSpPr/>
          <p:nvPr/>
        </p:nvSpPr>
        <p:spPr>
          <a:xfrm>
            <a:off x="3383280" y="4352544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2" name="Shape 39"/>
          <p:cNvSpPr/>
          <p:nvPr/>
        </p:nvSpPr>
        <p:spPr>
          <a:xfrm>
            <a:off x="512064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3" name="Shape 40"/>
          <p:cNvSpPr/>
          <p:nvPr/>
        </p:nvSpPr>
        <p:spPr>
          <a:xfrm>
            <a:off x="731520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4" name="Shape 41"/>
          <p:cNvSpPr/>
          <p:nvPr/>
        </p:nvSpPr>
        <p:spPr>
          <a:xfrm>
            <a:off x="9509760" y="4352544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5" name="Shape 42"/>
          <p:cNvSpPr/>
          <p:nvPr/>
        </p:nvSpPr>
        <p:spPr>
          <a:xfrm>
            <a:off x="548640" y="5010912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48640" y="5010912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Stand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2194560" y="5010912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8" name="Shape 45"/>
          <p:cNvSpPr/>
          <p:nvPr/>
        </p:nvSpPr>
        <p:spPr>
          <a:xfrm>
            <a:off x="3383280" y="5010912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9" name="Shape 46"/>
          <p:cNvSpPr/>
          <p:nvPr/>
        </p:nvSpPr>
        <p:spPr>
          <a:xfrm>
            <a:off x="512064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0" name="Shape 47"/>
          <p:cNvSpPr/>
          <p:nvPr/>
        </p:nvSpPr>
        <p:spPr>
          <a:xfrm>
            <a:off x="731520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9509760" y="5010912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3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Ständegesellschaft gehört jeder Mensch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 Geburt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 einem von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Ständen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(ca. 150 000)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 (ca. 500 000)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Dritter Stand (ca. 20 000 000)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haben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Der Dritte Stand zahlt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Steuern und Abgaben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ist von der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politischen Mitbestimmung ausgeschlossen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Jagdrecht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Klerus: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Kirchenzehnt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3. Stand: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Abgaben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erklärst, warum Ludwig den Adel bei Laune hält und warum der Dritte Stand die Last trägt.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zahlt, wer ist ausgeschlossen?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 Menschen haben die Vorrechte, viele tragen die Last.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615184"/>
          </a:xfrm>
          <a:prstGeom prst="roundRect">
            <a:avLst>
              <a:gd name="adj" fmla="val 279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 und wähle einen Stand: Klerus, Adel oder Dritter Stand.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3728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915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ab und beende ihn: „Im Absolutismus fühle ich mich … , weil …“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31775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177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in deiner Begründung mindestens ein Recht und eine Pflicht deines Standes.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Gefühle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privilegiert · sicher · zufrieden · ausgenutzt · benachteiligt · machtlos · überlastet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Fachbegriffe für die Begründung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 · Steuerfreiheit · Jagdrecht · Kirchenzehnt · Pachtgebühren · Mitbestimmung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ZU Ü4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die Sätze der anderen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zu: Welcher Stand wurde gewählt?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Wird ein Recht und eine Pflicht genannt? Passen sie zum Stand?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Passt das Gefühl zur Begründung?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korrigiert, nennt die Begründung mit Fachbegriff.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1 auswendig: Was bedeutet Absolutismus?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Ü4-Satz zu einem zweiten Stand noch einmal schreiben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2026-09-30T17:21:22Z</dcterms:created>
  <dcterms:modified xsi:type="dcterms:W3CDTF">2026-09-30T17:21:22Z</dcterms:modified>
</cp:coreProperties>
</file>