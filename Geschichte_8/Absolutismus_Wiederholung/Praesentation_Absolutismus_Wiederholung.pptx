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Diese Präsentation enthält die Merksätze (zum Abschreiben) und die Aufgaben. Tafelbilder und die Tabelle zur Ständegesellschaft entstehen an der Tafel (siehe Tafelskript). Lösungen stehen in den Notizen.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„Stifte liegen. Ihr hört nur zu. Nächste Woche schreiben wir einen Test zu diesen drei Themen. Die Stunde heute ist eure Vorbereitung: Was hier nicht klappt, wisst ihr danach.“ Noch keinen Termin im Detail diskutieren; Fragen zum Test am Stundenende.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„Jetzt schreibt ihr von der Folie ab: Merksatz 1. Rahmt ihn rot ein.“ Danach Arbeitsblatt Lückentext verteilen. Tipp: Die Säulen sind aus dem Gruppenpuzzle bekannt – kurz fragen, wer welche Säule bearbeitet 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1 absoluter · 2 Beamte · 3 Intendanten · 4 Steuerfreiheit · 5 Versailles · 6 Merkantilismus · 7 Zölle · 8 Gottesgnadentum · 9 Glaube · 10 stehendes · 11 400.000 · 12 Drittel. Nicht passend: Söldner, Parlament. Kontrolle: „Wer drankommt, liest einen Absatz vor. Alle prüfen mit.“ Dann „Vergleicht und verbessert mit Grün.“ Schnelle machen die ★-Aufgabe (wichtigste Säule begründen).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„Stifte liegen. Ihr schreibt noch nichts auf. Entscheidet still und meldet euch.“ Lösung: 1 wahr (ca. 20 Mio. von gut 20,6 Mio.) · 2 falsch: Der Adel zahlte keine Steuern · 3 wahr (Säule Heer) · 4 falsch: 1685 beendete Ludwig die religiöse Toleranz (Säule Religion). Nicht lange erklären, sondern notieren, was unsicher ist. Es kommt in den folgenden Phasen.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Vorher: Wort „Absolutismus“ an die Tafel, gemeinsam klären: absolut = uneingeschränkt. Dann Ansage: „Jetzt schreibt ihr von der Folie ab: Merksatz 2. Rahmt ihn rot ein.“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1 Absolutismus (keine Kontrolle) · 2 kein Absolutismus (Parlament kann den König stoppen) · 3 Absolutismus (Beamte sind dem König zum Gehorsam verpflichtet, er kontrolliert sie) · 4 kein Absolutismus (Wahl = Demokratie, Macht ist begrenzt). Nach der Einzelarbeit: „Wer drankommt, schreibt an die Tafel. Alle prüfen mit.“ Dann: „Vergleicht und verbessert mit Grün.“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„Hefte zu. Ihr schreibt noch nichts auf. Meldet euch.“ Raster aus dem Gruppenpuzzle (Stand | Anzahl | Bildung | Vorrechte | Pflichten) plus Spalte Mitbestimmung bereits leer an der Tafel. Inhalte siehe Tafelskript (aus den Gruppenpuzzle-Texten). Nach dem gemeinsamen Ausfüllen: „Jetzt schreibt ihr ab: die Tabelle. Mit Lineal.“ Lösungen siehe Tafelskript. Hinweis: Der Text nennt zur Mitbestimmung des Klerus nichts.  Der Dritte Stand ist ausgeschlossen, der Adel bestimmt das politische Geschehen.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„Jetzt schreibt ihr von der Folie ab: Merksatz 3. Rahmt ihn rot ein.“ Alle Zahlen stammen aus den Gruppenpuzzle-Texten. Der Text nennt zur Mitbestimmung des Klerus nichts.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„Jetzt arbeitet ihr allein. Die Aufgabe steht rechts.“ Danach 3 Schüler vorlesen lassen (verschiedene Stände): „Wer drankommt, liest vor. Alle prüfen mit.“ Kriterien stehen auf der nächsten Folie. Mögliche Antwort: „Im Absolutismus fühle ich mich als Adeliger privilegiert, weil ich keine Steuern zahlen muss und allein jagen darf. Dafür muss ich mich ehrenhaft verhalten und Verwaltungsaufgaben übernehmen.“ / „… als Bauer ausgenutzt, weil ich Steuern, hohe Abgaben und Pachtgebühren zahlen muss und von der Mitbestimmung ausgeschlossen bin.“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„Wer drankommt, liest vor. Alle prüfen mit.“ Typische Fehler: Adel als Steuerzahler, Klerus mit Wehrdienst (befreit), Dritter Stand mit Vorrechten. Dann: „Verbessert mit Grün.“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„Stifte liegen. Das ist eure Lernliste für den Test. Fragen zum Test?“ Die Liste bewusst kurz halten; Testtermin noch einmal nennen.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206240"/>
            <a:ext cx="3657600" cy="365760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22860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Absolutismus und Ständegesellschaft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461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Wiederholung vor dem Test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Geschichte, Klasse 8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ANSAGE ZU BEGINN · STIFTE LIEGEN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Nächste Woche schreiben wir einen Test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1143000"/>
          </a:xfrm>
          <a:prstGeom prst="roundRect">
            <a:avLst>
              <a:gd name="adj" fmla="val 6400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4310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94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1728216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Ständegesellschaft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22199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Vorrechte · Pflichten · Anzahl · Mitbestimmung (dazu: Bildung)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2926080"/>
            <a:ext cx="11109960" cy="1143000"/>
          </a:xfrm>
          <a:prstGeom prst="roundRect">
            <a:avLst>
              <a:gd name="adj" fmla="val 6400"/>
            </a:avLst>
          </a:prstGeom>
          <a:solidFill>
            <a:srgbClr val="F4F7FD"/>
          </a:solidFill>
          <a:ln/>
        </p:spPr>
      </p:sp>
      <p:sp>
        <p:nvSpPr>
          <p:cNvPr id="10" name="Shape 8"/>
          <p:cNvSpPr/>
          <p:nvPr/>
        </p:nvSpPr>
        <p:spPr>
          <a:xfrm>
            <a:off x="822960" y="326898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2689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3054096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Begriff Absolutismus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54787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bedeutet er? Woran erkenne ich ihn?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4251960"/>
            <a:ext cx="11109960" cy="1143000"/>
          </a:xfrm>
          <a:prstGeom prst="roundRect">
            <a:avLst>
              <a:gd name="adj" fmla="val 6400"/>
            </a:avLst>
          </a:prstGeom>
          <a:solidFill>
            <a:srgbClr val="EAF0FA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459486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4594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554480" y="4379976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fünf Säulen des Absolutismus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487375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Nennen und erklären, wie der König damit seine Macht sichert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wiederholen genau das und ergänzen, was in euren Unterlagen noch fehlt.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MERKSATZ 1 · ABSCHREIBEN UND ROT UMRAHMEN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fünf Säulen des Absolutismus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38100">
            <a:solidFill>
              <a:srgbClr val="D953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508760"/>
            <a:ext cx="10469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Ludwig XIV. sicherte seine Macht auf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fünf Säulen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Verwaltung und Justiz ·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Adel und Hof von Versailles ·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Wirtschaft (Merkantilismus) ·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Religion (Gottesgnadentum) ·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Heer (stehendes Heer).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33832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EAF0F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3383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Beispiel:   </a:t>
            </a:r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Verwaltung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kontrolliert das Land · </a:t>
            </a:r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Hof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bindet den Adel · </a:t>
            </a:r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Wirtschaft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liefert Geld · </a:t>
            </a:r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Religion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begründet die Macht · </a:t>
            </a:r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Heer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setzt sie durch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4069080"/>
            <a:ext cx="5440680" cy="1645920"/>
          </a:xfrm>
          <a:prstGeom prst="roundRect">
            <a:avLst>
              <a:gd name="adj" fmla="val 4444"/>
            </a:avLst>
          </a:prstGeom>
          <a:solidFill>
            <a:srgbClr val="F4F7F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18795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Wofür brauche ich das?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57200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Test sollst du die Säulen nennen </a:t>
            </a:r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erklären, wie der König damit seine Macht sichert.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217920" y="4069080"/>
            <a:ext cx="5440680" cy="1645920"/>
          </a:xfrm>
          <a:prstGeom prst="roundRect">
            <a:avLst>
              <a:gd name="adj" fmla="val 4444"/>
            </a:avLst>
          </a:prstGeom>
          <a:solidFill>
            <a:srgbClr val="F4F7F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46520" y="418795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457200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jeder Säule fragen: </a:t>
            </a:r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sichert der König damit?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den Merksatz mit Beispiel ab und rahme ihn rot ein.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1 · ARBEITSBLATT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Lückentext: Die fünf Säulen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975104"/>
          </a:xfrm>
          <a:prstGeom prst="roundRect">
            <a:avLst>
              <a:gd name="adj" fmla="val 3704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Ü1 oben auf das Arbeitsblatt.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0528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52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3911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Lies den Text einmal ganz. Ergänze dann die 12 Lücken mit dem Wortspeicher.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31520" y="285750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8575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843784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Streiche jedes benutzte Wort durch. Zwei Wörter passen nicht.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Minuten · allein · leise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 Schnelle: ★-Aufgabe.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48640" y="3758184"/>
            <a:ext cx="11109960" cy="1463040"/>
          </a:xfrm>
          <a:prstGeom prst="roundRect">
            <a:avLst>
              <a:gd name="adj" fmla="val 5000"/>
            </a:avLst>
          </a:prstGeom>
          <a:solidFill>
            <a:srgbClr val="F4F7F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22960" y="386791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Wortspeicher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233672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Beamte · Glaube · Söldner · Merkantilismus · Gottesgnadentum · Versailles · Steuerfreiheit · Zölle · stehendes · 400.000 · Drittel · absoluter · Intendanten · Parlament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 · OHNE HEFT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Wahr oder falsch?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655064"/>
          </a:xfrm>
          <a:prstGeom prst="roundRect">
            <a:avLst>
              <a:gd name="adj" fmla="val 4420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Lies die vier Behauptungen. Entscheide still: wahr oder falsch?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0528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52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39112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Melde dich: Nenne deine Entscheidung und begründe sie.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31520" y="25374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5374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523744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„falsch“: Verbessere die Aussage.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Minuten · gemeinsam · mündlich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begründet, bekommt das Wort.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48640" y="3346704"/>
            <a:ext cx="11109960" cy="530352"/>
          </a:xfrm>
          <a:prstGeom prst="roundRect">
            <a:avLst>
              <a:gd name="adj" fmla="val 13793"/>
            </a:avLst>
          </a:prstGeom>
          <a:solidFill>
            <a:srgbClr val="F4F7FD"/>
          </a:solidFill>
          <a:ln/>
        </p:spPr>
      </p:sp>
      <p:sp>
        <p:nvSpPr>
          <p:cNvPr id="20" name="Shape 17"/>
          <p:cNvSpPr/>
          <p:nvPr/>
        </p:nvSpPr>
        <p:spPr>
          <a:xfrm>
            <a:off x="685800" y="3429000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580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1280160" y="3346704"/>
            <a:ext cx="10241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Dritte Stand war mit Abstand der größte Stand.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548640" y="3950208"/>
            <a:ext cx="11109960" cy="530352"/>
          </a:xfrm>
          <a:prstGeom prst="roundRect">
            <a:avLst>
              <a:gd name="adj" fmla="val 13793"/>
            </a:avLst>
          </a:prstGeom>
          <a:solidFill>
            <a:srgbClr val="F4F7FD"/>
          </a:solidFill>
          <a:ln/>
        </p:spPr>
      </p:sp>
      <p:sp>
        <p:nvSpPr>
          <p:cNvPr id="24" name="Shape 21"/>
          <p:cNvSpPr/>
          <p:nvPr/>
        </p:nvSpPr>
        <p:spPr>
          <a:xfrm>
            <a:off x="685800" y="4032504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85800" y="4032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1280160" y="3950208"/>
            <a:ext cx="10241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Adel musste hohe Steuern an den König zahlen.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548640" y="4553712"/>
            <a:ext cx="11109960" cy="530352"/>
          </a:xfrm>
          <a:prstGeom prst="roundRect">
            <a:avLst>
              <a:gd name="adj" fmla="val 13793"/>
            </a:avLst>
          </a:prstGeom>
          <a:solidFill>
            <a:srgbClr val="F4F7FD"/>
          </a:solidFill>
          <a:ln/>
        </p:spPr>
      </p:sp>
      <p:sp>
        <p:nvSpPr>
          <p:cNvPr id="28" name="Shape 25"/>
          <p:cNvSpPr/>
          <p:nvPr/>
        </p:nvSpPr>
        <p:spPr>
          <a:xfrm>
            <a:off x="685800" y="4636008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85800" y="4636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1280160" y="4553712"/>
            <a:ext cx="10241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Ludwig XIV. verzichtete auf Söldner und baute ein stehendes Heer auf.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548640" y="5157216"/>
            <a:ext cx="11109960" cy="530352"/>
          </a:xfrm>
          <a:prstGeom prst="roundRect">
            <a:avLst>
              <a:gd name="adj" fmla="val 13793"/>
            </a:avLst>
          </a:prstGeom>
          <a:solidFill>
            <a:srgbClr val="F4F7FD"/>
          </a:solidFill>
          <a:ln/>
        </p:spPr>
      </p:sp>
      <p:sp>
        <p:nvSpPr>
          <p:cNvPr id="32" name="Shape 29"/>
          <p:cNvSpPr/>
          <p:nvPr/>
        </p:nvSpPr>
        <p:spPr>
          <a:xfrm>
            <a:off x="685800" y="5239512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85800" y="5239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1280160" y="5157216"/>
            <a:ext cx="10241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Ludwig XIV. erlaubte den Protestanten die freie Religionsausübung.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MERKSATZ 2 · ABSCHREIBEN UND ROT UMRAHMEN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Absolutismus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38100">
            <a:solidFill>
              <a:srgbClr val="D953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508760"/>
            <a:ext cx="10469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Absolutismus</a:t>
            </a:r>
            <a:pPr indent="0" marL="0">
              <a:buNone/>
            </a:pPr>
            <a:r>
              <a:rPr lang="en-US" sz="21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war eine Herrschaftsform in Europa im </a:t>
            </a:r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 und 18. Jahrhundert</a:t>
            </a:r>
            <a:pPr indent="0" marL="0">
              <a:buNone/>
            </a:pPr>
            <a:r>
              <a:rPr lang="en-US" sz="21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in der ein einzelner Monarch (König oder Fürst) </a:t>
            </a:r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uneingeschränkt (absolut)</a:t>
            </a:r>
            <a:pPr indent="0" marL="0">
              <a:buNone/>
            </a:pPr>
            <a:r>
              <a:rPr lang="en-US" sz="21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herrschte.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48640" y="33832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EAF0F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3383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Beispiel:   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Ludwig XIV. verkündet 1661: „Ich regiere jetzt selbst.“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4069080"/>
            <a:ext cx="5440680" cy="1645920"/>
          </a:xfrm>
          <a:prstGeom prst="roundRect">
            <a:avLst>
              <a:gd name="adj" fmla="val 4444"/>
            </a:avLst>
          </a:prstGeom>
          <a:solidFill>
            <a:srgbClr val="F4F7F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18795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Wofür brauche ich das?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57200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Begriff ordnet eine ganze Epoche ein und ist im Test die Grundlage für alle weiteren Fragen.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217920" y="4069080"/>
            <a:ext cx="5440680" cy="1645920"/>
          </a:xfrm>
          <a:prstGeom prst="roundRect">
            <a:avLst>
              <a:gd name="adj" fmla="val 4444"/>
            </a:avLst>
          </a:prstGeom>
          <a:solidFill>
            <a:srgbClr val="F4F7F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46520" y="418795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457200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Kann jemand den König stoppen (Parlament, Verfassung, Stände)? </a:t>
            </a:r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Nein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Absolutismus.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den Merksatz mit Beispiel ab und rahme ihn rot ein.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Absolutismus – ja oder nein?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655064"/>
          </a:xfrm>
          <a:prstGeom prst="roundRect">
            <a:avLst>
              <a:gd name="adj" fmla="val 4420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Ü2 an den Rand.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0528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52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39112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Nummer + „Absolutismus“ oder „kein Absolutismus“.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31520" y="25374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5374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523744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Begründe mit dem Test: Kann jemand den König stoppen?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Minuten · allein · leise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 und noch einmal durchlesen.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48640" y="3346704"/>
            <a:ext cx="11109960" cy="530352"/>
          </a:xfrm>
          <a:prstGeom prst="roundRect">
            <a:avLst>
              <a:gd name="adj" fmla="val 13793"/>
            </a:avLst>
          </a:prstGeom>
          <a:solidFill>
            <a:srgbClr val="F4F7FD"/>
          </a:solidFill>
          <a:ln/>
        </p:spPr>
      </p:sp>
      <p:sp>
        <p:nvSpPr>
          <p:cNvPr id="20" name="Shape 17"/>
          <p:cNvSpPr/>
          <p:nvPr/>
        </p:nvSpPr>
        <p:spPr>
          <a:xfrm>
            <a:off x="685800" y="3429000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580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1280160" y="3346704"/>
            <a:ext cx="10241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König entscheidet allein über Gesetze, Krieg und Steuern.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548640" y="3950208"/>
            <a:ext cx="11109960" cy="530352"/>
          </a:xfrm>
          <a:prstGeom prst="roundRect">
            <a:avLst>
              <a:gd name="adj" fmla="val 13793"/>
            </a:avLst>
          </a:prstGeom>
          <a:solidFill>
            <a:srgbClr val="F4F7FD"/>
          </a:solidFill>
          <a:ln/>
        </p:spPr>
      </p:sp>
      <p:sp>
        <p:nvSpPr>
          <p:cNvPr id="24" name="Shape 21"/>
          <p:cNvSpPr/>
          <p:nvPr/>
        </p:nvSpPr>
        <p:spPr>
          <a:xfrm>
            <a:off x="685800" y="4032504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85800" y="4032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1280160" y="3950208"/>
            <a:ext cx="10241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Parlament kann Steuererhöhungen des Königs verbieten.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548640" y="4553712"/>
            <a:ext cx="11109960" cy="530352"/>
          </a:xfrm>
          <a:prstGeom prst="roundRect">
            <a:avLst>
              <a:gd name="adj" fmla="val 13793"/>
            </a:avLst>
          </a:prstGeom>
          <a:solidFill>
            <a:srgbClr val="F4F7FD"/>
          </a:solidFill>
          <a:ln/>
        </p:spPr>
      </p:sp>
      <p:sp>
        <p:nvSpPr>
          <p:cNvPr id="28" name="Shape 25"/>
          <p:cNvSpPr/>
          <p:nvPr/>
        </p:nvSpPr>
        <p:spPr>
          <a:xfrm>
            <a:off x="685800" y="4636008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85800" y="4636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1280160" y="4553712"/>
            <a:ext cx="10241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Beamte handeln im Namen des Königs und müssen ihm gehorchen.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548640" y="5157216"/>
            <a:ext cx="11109960" cy="530352"/>
          </a:xfrm>
          <a:prstGeom prst="roundRect">
            <a:avLst>
              <a:gd name="adj" fmla="val 13793"/>
            </a:avLst>
          </a:prstGeom>
          <a:solidFill>
            <a:srgbClr val="F4F7FD"/>
          </a:solidFill>
          <a:ln/>
        </p:spPr>
      </p:sp>
      <p:sp>
        <p:nvSpPr>
          <p:cNvPr id="32" name="Shape 29"/>
          <p:cNvSpPr/>
          <p:nvPr/>
        </p:nvSpPr>
        <p:spPr>
          <a:xfrm>
            <a:off x="685800" y="5239512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85800" y="5239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1280160" y="5157216"/>
            <a:ext cx="10241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Bürger wählen alle vier Jahre ihre Regierung.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3 · TAFEL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Ständegesellschaft aus dem Kopf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655064"/>
          </a:xfrm>
          <a:prstGeom prst="roundRect">
            <a:avLst>
              <a:gd name="adj" fmla="val 4420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Klappe das Heft zu. Ihr meldet euch und nennt, was ihr wisst.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0528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52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39112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füllen die Tabelle an der Tafel gemeinsam aus.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31520" y="25374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5374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523744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 schreibst du die fertige Tabelle mit Lineal ab.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Minuten · gemeinsam, dann abschreiben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48640" y="3209544"/>
            <a:ext cx="1554480" cy="41148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48640" y="3209544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2194560" y="3209544"/>
            <a:ext cx="1097280" cy="41148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2194560" y="3209544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Anzahl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3383280" y="3209544"/>
            <a:ext cx="1645920" cy="41148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3383280" y="3209544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Bildung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5120640" y="3209544"/>
            <a:ext cx="2103120" cy="41148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120640" y="3209544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Vorrechte</a:t>
            </a:r>
            <a:endParaRPr lang="en-US" sz="1700" dirty="0"/>
          </a:p>
        </p:txBody>
      </p:sp>
      <p:sp>
        <p:nvSpPr>
          <p:cNvPr id="27" name="Shape 24"/>
          <p:cNvSpPr/>
          <p:nvPr/>
        </p:nvSpPr>
        <p:spPr>
          <a:xfrm>
            <a:off x="7315200" y="3209544"/>
            <a:ext cx="2103120" cy="41148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315200" y="3209544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Pflichten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9509760" y="3209544"/>
            <a:ext cx="2057400" cy="41148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9509760" y="3209544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Mitbestimmung</a:t>
            </a:r>
            <a:endParaRPr lang="en-US" sz="1700" dirty="0"/>
          </a:p>
        </p:txBody>
      </p:sp>
      <p:sp>
        <p:nvSpPr>
          <p:cNvPr id="31" name="Shape 28"/>
          <p:cNvSpPr/>
          <p:nvPr/>
        </p:nvSpPr>
        <p:spPr>
          <a:xfrm>
            <a:off x="548640" y="3694176"/>
            <a:ext cx="1554480" cy="585216"/>
          </a:xfrm>
          <a:prstGeom prst="roundRect">
            <a:avLst>
              <a:gd name="adj" fmla="val 12500"/>
            </a:avLst>
          </a:prstGeom>
          <a:solidFill>
            <a:srgbClr val="EAF0FA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48640" y="3694176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Stand</a:t>
            </a:r>
            <a:endParaRPr lang="en-US" sz="1900" dirty="0"/>
          </a:p>
        </p:txBody>
      </p:sp>
      <p:sp>
        <p:nvSpPr>
          <p:cNvPr id="33" name="Shape 30"/>
          <p:cNvSpPr/>
          <p:nvPr/>
        </p:nvSpPr>
        <p:spPr>
          <a:xfrm>
            <a:off x="2194560" y="3694176"/>
            <a:ext cx="109728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34" name="Shape 31"/>
          <p:cNvSpPr/>
          <p:nvPr/>
        </p:nvSpPr>
        <p:spPr>
          <a:xfrm>
            <a:off x="3383280" y="3694176"/>
            <a:ext cx="16459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35" name="Shape 32"/>
          <p:cNvSpPr/>
          <p:nvPr/>
        </p:nvSpPr>
        <p:spPr>
          <a:xfrm>
            <a:off x="5120640" y="3694176"/>
            <a:ext cx="21031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36" name="Shape 33"/>
          <p:cNvSpPr/>
          <p:nvPr/>
        </p:nvSpPr>
        <p:spPr>
          <a:xfrm>
            <a:off x="7315200" y="3694176"/>
            <a:ext cx="21031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37" name="Shape 34"/>
          <p:cNvSpPr/>
          <p:nvPr/>
        </p:nvSpPr>
        <p:spPr>
          <a:xfrm>
            <a:off x="9509760" y="3694176"/>
            <a:ext cx="205740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38" name="Shape 35"/>
          <p:cNvSpPr/>
          <p:nvPr/>
        </p:nvSpPr>
        <p:spPr>
          <a:xfrm>
            <a:off x="548640" y="4352544"/>
            <a:ext cx="1554480" cy="585216"/>
          </a:xfrm>
          <a:prstGeom prst="roundRect">
            <a:avLst>
              <a:gd name="adj" fmla="val 12500"/>
            </a:avLst>
          </a:prstGeom>
          <a:solidFill>
            <a:srgbClr val="EAF0FA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548640" y="4352544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Stand</a:t>
            </a:r>
            <a:endParaRPr lang="en-US" sz="1900" dirty="0"/>
          </a:p>
        </p:txBody>
      </p:sp>
      <p:sp>
        <p:nvSpPr>
          <p:cNvPr id="40" name="Shape 37"/>
          <p:cNvSpPr/>
          <p:nvPr/>
        </p:nvSpPr>
        <p:spPr>
          <a:xfrm>
            <a:off x="2194560" y="4352544"/>
            <a:ext cx="109728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41" name="Shape 38"/>
          <p:cNvSpPr/>
          <p:nvPr/>
        </p:nvSpPr>
        <p:spPr>
          <a:xfrm>
            <a:off x="3383280" y="4352544"/>
            <a:ext cx="16459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42" name="Shape 39"/>
          <p:cNvSpPr/>
          <p:nvPr/>
        </p:nvSpPr>
        <p:spPr>
          <a:xfrm>
            <a:off x="5120640" y="4352544"/>
            <a:ext cx="21031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43" name="Shape 40"/>
          <p:cNvSpPr/>
          <p:nvPr/>
        </p:nvSpPr>
        <p:spPr>
          <a:xfrm>
            <a:off x="7315200" y="4352544"/>
            <a:ext cx="21031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44" name="Shape 41"/>
          <p:cNvSpPr/>
          <p:nvPr/>
        </p:nvSpPr>
        <p:spPr>
          <a:xfrm>
            <a:off x="9509760" y="4352544"/>
            <a:ext cx="205740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45" name="Shape 42"/>
          <p:cNvSpPr/>
          <p:nvPr/>
        </p:nvSpPr>
        <p:spPr>
          <a:xfrm>
            <a:off x="548640" y="5010912"/>
            <a:ext cx="1554480" cy="585216"/>
          </a:xfrm>
          <a:prstGeom prst="roundRect">
            <a:avLst>
              <a:gd name="adj" fmla="val 12500"/>
            </a:avLst>
          </a:prstGeom>
          <a:solidFill>
            <a:srgbClr val="EAF0FA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548640" y="5010912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Stand</a:t>
            </a:r>
            <a:endParaRPr lang="en-US" sz="1900" dirty="0"/>
          </a:p>
        </p:txBody>
      </p:sp>
      <p:sp>
        <p:nvSpPr>
          <p:cNvPr id="47" name="Shape 44"/>
          <p:cNvSpPr/>
          <p:nvPr/>
        </p:nvSpPr>
        <p:spPr>
          <a:xfrm>
            <a:off x="2194560" y="5010912"/>
            <a:ext cx="109728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48" name="Shape 45"/>
          <p:cNvSpPr/>
          <p:nvPr/>
        </p:nvSpPr>
        <p:spPr>
          <a:xfrm>
            <a:off x="3383280" y="5010912"/>
            <a:ext cx="16459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49" name="Shape 46"/>
          <p:cNvSpPr/>
          <p:nvPr/>
        </p:nvSpPr>
        <p:spPr>
          <a:xfrm>
            <a:off x="5120640" y="5010912"/>
            <a:ext cx="21031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50" name="Shape 47"/>
          <p:cNvSpPr/>
          <p:nvPr/>
        </p:nvSpPr>
        <p:spPr>
          <a:xfrm>
            <a:off x="7315200" y="5010912"/>
            <a:ext cx="21031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51" name="Shape 48"/>
          <p:cNvSpPr/>
          <p:nvPr/>
        </p:nvSpPr>
        <p:spPr>
          <a:xfrm>
            <a:off x="9509760" y="5010912"/>
            <a:ext cx="205740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MERKSATZ 3 · ABSCHREIBEN UND ROT UMRAHMEN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Ständegesellschaft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38100">
            <a:solidFill>
              <a:srgbClr val="D953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508760"/>
            <a:ext cx="10469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der Ständegesellschaft gehört jeder Mensch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durch Geburt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zu einem von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drei Ständen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Klerus (ca. 150 000)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Adel (ca. 500 000)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und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Dritter Stand (ca. 20 000 000)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Klerus und Adel haben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Vorrechte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Der Dritte Stand zahlt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Steuern und Abgaben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und ist von der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politischen Mitbestimmung ausgeschlossen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33832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EAF0F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3383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Beispiel:   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Adel: </a:t>
            </a:r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Jagdrecht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· Klerus: </a:t>
            </a:r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Kirchenzehnt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· 3. Stand: </a:t>
            </a:r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Abgaben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4069080"/>
            <a:ext cx="5440680" cy="1645920"/>
          </a:xfrm>
          <a:prstGeom prst="roundRect">
            <a:avLst>
              <a:gd name="adj" fmla="val 4444"/>
            </a:avLst>
          </a:prstGeom>
          <a:solidFill>
            <a:srgbClr val="F4F7F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18795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Wofür brauche ich das?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57200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erklärst, warum Ludwig den Adel bei Laune hält und warum der Dritte Stand die Last trägt.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217920" y="4069080"/>
            <a:ext cx="5440680" cy="1645920"/>
          </a:xfrm>
          <a:prstGeom prst="roundRect">
            <a:avLst>
              <a:gd name="adj" fmla="val 4444"/>
            </a:avLst>
          </a:prstGeom>
          <a:solidFill>
            <a:srgbClr val="F4F7F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46520" y="418795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457200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zahlt, wer ist ausgeschlossen? </a:t>
            </a:r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Wenige Menschen haben die Vorrechte, viele tragen die Last.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den Merksatz mit Beispiel ab und rahme ihn rot ein.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 Absolutismus fühle ich mich …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2615184"/>
          </a:xfrm>
          <a:prstGeom prst="roundRect">
            <a:avLst>
              <a:gd name="adj" fmla="val 2797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Ü4 an den Rand und wähle einen Stand: Klerus, Adel oder Dritter Stand.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37286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3728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915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den Satz ab und beende ihn: „Im Absolutismus fühle ich mich … , weil …“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31520" y="317754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31775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163824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Nenne in deiner Begründung mindestens ein Recht und eine Pflicht deines Standes.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Minuten · allein · leise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 und noch einmal durchlesen.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48640" y="4215384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4F7F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77240" y="430682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Gefühle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777240" y="4672584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privilegiert · sicher · zufrieden · ausgenutzt · benachteiligt · machtlos · überlastet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6217920" y="4215384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4F7FD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446520" y="430682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Fachbegriffe für die Begründung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6446520" y="4672584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Vorrechte · Steuerfreiheit · Jagdrecht · Kirchenzehnt · Pachtgebühren · Mitbestimmung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KONTROLLE ZU Ü4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Prüft die Sätze der anderen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975104"/>
          </a:xfrm>
          <a:prstGeom prst="roundRect">
            <a:avLst>
              <a:gd name="adj" fmla="val 3704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Hört zu: Welcher Stand wurde gewählt?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0528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52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3911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Prüft: Wird ein Recht und eine Pflicht genannt? Passen sie zum Stand?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31520" y="285750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8575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843784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Prüft: Passt das Gefühl zur Begründung?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Minuten · gemeinsam · mündlich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korrigiert, nennt die Begründung mit Fachbegriff.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ZUM SCHLUSS · STIFTE LIEGEN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lernst du bis zum Test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73736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55448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Merksatz 2 auswendig: Was bedeutet Absolutismus?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2514600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F4F7FD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" y="269748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51460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Lückentext noch einmal ohne Wortspeicher ausfüllen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3474720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EAF0F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365760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47472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Tabelle Ständegesellschaft aus dem Kopf aufschreiben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4434840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F4F7FD"/>
          </a:solidFill>
          <a:ln/>
        </p:spPr>
      </p:sp>
      <p:sp>
        <p:nvSpPr>
          <p:cNvPr id="17" name="Shape 15"/>
          <p:cNvSpPr/>
          <p:nvPr/>
        </p:nvSpPr>
        <p:spPr>
          <a:xfrm>
            <a:off x="777240" y="461772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724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463040" y="443484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Deinen Ü4-Satz zu einem zweiten Stand noch einmal schreiben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nächste Woche · Ständegesellschaft · Absolutismus · fünf Säulen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Absolutismus und Ständegesellschaft – Wiederholung</dc:title>
  <dc:subject>PptxGenJS Presentation</dc:subject>
  <dc:creator>PptxGenJS</dc:creator>
  <cp:lastModifiedBy>PptxGenJS</cp:lastModifiedBy>
  <cp:revision>1</cp:revision>
  <dcterms:created xsi:type="dcterms:W3CDTF">2026-09-30T17:22:49Z</dcterms:created>
  <dcterms:modified xsi:type="dcterms:W3CDTF">2026-09-30T17:22:49Z</dcterms:modified>
</cp:coreProperties>
</file>