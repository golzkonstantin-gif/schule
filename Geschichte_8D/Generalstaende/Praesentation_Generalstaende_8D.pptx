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Folie steht beim Betreten. Niemand muss etwas sagen. Tests liegen verdeckt auf den Plätzen (falls noch nicht zurückgegeben), keine Besprechung. Die Karten (Standeskarten) liegen verdeckt auf den Plätzen. Ansage: „Stifte liegen. Ihr hört nur zu.“ Danach Folie 2 und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vorlesen (1 Minute, Klasse hört nur zu). Am Ende der Stunde (Folie 16) prüft die Klasse still, ob sie erreicht sind. Was nicht geschafft wird, hat einen Stern.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Ablauf zeigen. Die Kreise oben rechts zeigen die Phase: A V I V A. Der Stern * bedeutet: wird eventuell nicht mehr geschafft (Ü3 Satz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arbeitet ihr allein. Die Aufgabe steht rechts.“ Kein Plenumsgespräch. Vier Sätze enthalten je einen Fehler, ein Satz ist richtig. Fehler: 1 (der König regiert allein, nicht mit den Ständen), 2 (die Macht kommt von Gott, Gottesgnadentum), 3 (der Klerus hat etwa 150 000 Mitglieder, nicht 20 Millionen), 4 (Klerus und Adel zahlen keine Steuern). Satz 5 ist richtig. Die Zahlen stammen aus dem Gruppenpuzzle (150 000 / 500 000 / 20 000 000). Wiederholung der letzten Stunde (Test). Die Generalstände kennt die Klasse noch nicht, sie kommen deshalb nicht vor. Nach 4 Minuten Folie 5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„Vergleicht und verbessert mit Grün.“ 2 Minuten, nicht besprechen. Die korrigierten Stellen stehen grün. Satz 5 war richtig. Kurz zum Mitnehmen für die nächste Phase: Klerus und Adel zahlen keine Steuern, der Dritte Stand (Bauern und Bürger) zahlt sie. Bei Unklarheit eine gezielte Abfrage (2 bis 3 Personen), kein Gespräch.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„Ich teile den Text aus. Jetzt arbeitet ihr allein. Die Aufgabe steht rechts.“ Oben der Text, unten der Zeitstrahl mit vorgegebenen Daten und leeren Ereignisfeldern. Danach Kreide-Kette: „Wer drankommt, schreibt an die Tafel. Alle prüfen mit. Gesprochen wird nicht.“ 7 Personen, Datum steht an der Tafel.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nach der Kreide-Kette zeigen. „Vergleicht und verbessert mit Grün.“ 1 Minute. Die Frage „Warum ruft der König die Generalstände ein, obwohl er sie 175 Jahre nicht brauchte?“ steht im Text und wird nicht im Plenum besprochen. Antwort: Geldnot, Reformen scheitern, Krise (Hunger, drohender Bankrott).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„Stifte liegen. Ihr hört nur zu. Dreht jetzt eure Karte um. Lest sie leise. Zeigt sie niemandem.“ Dann Regel vorsprechen: Jeder Stand hat eine Stimme (siehe Text). Dann: „Erster und Zweiter Stand, ihr geht jetzt leise an den Tisch vorn. Dritter Stand, ihr bleibt sitzen.“ Absprache-Zettel auf den Tisch vorn legen. Das ist die einzige Bewegung der Stunde.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„Flüsterstufe. Nur dein Partner hört dich. Ihr habt vier Minuten.“ Klerus und Adel füllen gemeinsam den Absprache-Zettel aus. Der Dritte Stand arbeitet zu zweit mit dem Sitznachbarn. Die Beobachtung ist der Zielpunkt: Dem Dritten Stand nicht sagen, dass es eine Absprache ist. Eine Minute vor Ende: „Noch eine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„Stifte liegen. Jetzt stimmt ihr ab. Kreuzt auf dem Stimmzettel unten auf eurer Karte Ja oder Nein an. Legt die Karte verdeckt auf den Tisch. Danach arbeitet ihr allein.“ Klerus und Adel stimmen nach Rolle, der Dritte Stand, wie er es für richtig hält. Karten einsammeln, in drei Stapel sortieren (Klerus, Adel, Dritter Stand), währenddessen schreibt die Klasse die Vermutung. Ergebnis (echte Zahlen!) an die Tafel 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„Stifte liegen. Ihr hört nur zu. Erster und Zweiter Stand, ihr geht leise an eure Plätze zurück.“ Die Zahlen schreiben Sie an die Tafel (Tafelbild links), die Folie zeigt nur die Regel. Je ein Satz: „Nach Ständen: abgelehnt, 2 zu 1.“ „Nach Köpfen: angenommen.“ Dann den Absprache-Zettel vorlesen (unter einer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Verhältnisse in Frankreich: Klerus ca. 150 000, Adel ca. 500 000, Dritter Stand (Bauern und Bürger) ca. 20 000 000 Menschen. Zahlen aus dem Gruppenpuzzle-Material. Abgeordnete: Klerus ca. 290, Adel ca. 270, Dritter Stand ca. 580 (bitte gegen das Schulbuch prüfen). Das Spiel ist verzerrt: In der Klasse sind Klerus und Adel 28 %, in Frankreich ca. 3 %. Die Stimme des Klerus wiegt rund 133-mal so viel (20 000 000 : 150 000), die des Adels 40-mal. Zweiter kurzer Gesprächsmoment, unter einer Minute: „Wer will, schreibt jetzt auf, was ihn am meisten überrascht hat.“ Keine Antworten ins Plenum.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arbeitet ihr allein. Die Aufgabe steht rechts.“ Nach 3 Minuten: „Noch eine Minute.“ Satz 3 hat einen Stern und darf entfallen. Erwartung: 1 … jeder Stand nur eine Stimme hat. 2 … sich abgesprochen und gemeinsam mit Nein gestimmt. 3 … der Dritte Stand ca. 97 % der Menschen stellt, aber nur 1 von 3 Stimmen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schreibt ihr ab: Merksatz 1. Rahmt ihn rot ein.“ Danach „Vergleicht und verbessert mit Grün.“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„Stifte liegen. Ihr hört nur zu. Das ist die letzte Aufgabe. Jetzt arbeitet ihr allein. Die Aufgabe steht rechts.“ Zehn Sekunden denken, dann schreiben. Es gibt mehrere gute Antworten, geprüft wird die Begründung: eine Position, ein Sachargument aus der Stunde, ein „weil“. Erwartung (Auswahl, keine Musterlösung): FÜR Erlauben: Der Staat braucht Geld, Steuern gehen nur mit dem Dritten Stand (Bauern und Bürger); er stellt fast alle Menschen, sonst droht Unruhe; Hunger und Staatsbankrott sind nah. GEGEN Erlauben: Adel und Klerus sind wütend (der Steuerplan scheiterte 1787), der König verliert Rückhalt und Macht; der Dritte Stand wäre zu mächtig; seit 1614 wurde nach Ständen abgestimmt. Auch eine Zwischenlösung ist gut begründbar. Form nach Verlauf: Blitzlicht (je eine Stimme „erlauben“, eine „nicht erlauben“, gezielt aufgerufen), schriftlich mit Vorlesen oder Berater-Duell zu zweit. Stichprobe: bei 4 bis 6 Heften unterschiedlichen Niveaus mitlesen, nicht kommentieren (unbenotet). Die Figuren sind Zeichnungen, keine historischen Porträts.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Klasse prüft still: Kann ich das? Danach Folie 17. Ziel 3 hat einen Stern (*): Es kann sein, dass es nicht mehr geschafft wurde, dann kommt es nächste Stunde als Wiederholung. Keine Antworten ins Plenum, keine Abfrage von Selbsteinschätzungen.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nur lesen (1 Minute). Ausblick: Was passiert, wenn der Dritte Stand verlangt, dass nach Köpfen abgestimmt wird, und der König ablehnt? Hausaufgabe nur, wenn der Test zurückgegeben wurde: Falsche Aufgaben mit Grün berichtigen.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bei Zeit (Puffer). Einzelarbeit im Heft, 2 Minuten. Erwartung: Die Abteilung Fußball (200 Mitglieder) hat nur eine von drei Stimmen, Tischtennis (20) und Schach (10) können sie überstimmen. Das entspricht der Abstimmung nach Ständen. Fairer: nach Köpfen.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Text 2"/>
          <p:cNvSpPr txBox="1"/>
          <p:nvPr/>
        </p:nvSpPr>
        <p:spPr>
          <a:xfrm>
            <a:off x="822960" y="1188720"/>
            <a:ext cx="105156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Generalstände 1789</a:t>
            </a:r>
            <a:endParaRPr lang="en-US" sz="4800" dirty="0"/>
          </a:p>
        </p:txBody>
      </p:sp>
      <p:sp>
        <p:nvSpPr>
          <p:cNvPr id="5" name="Text 3"/>
          <p:cNvSpPr txBox="1"/>
          <p:nvPr/>
        </p:nvSpPr>
        <p:spPr>
          <a:xfrm>
            <a:off x="822960" y="2194560"/>
            <a:ext cx="10515600" cy="548640"/>
          </a:xfrm>
          <a:prstGeom prst="rect">
            <a:avLst/>
          </a:prstGeom>
          <a:noFill/>
          <a:ln/>
        </p:spPr>
        <p:txBody>
          <a:bodyPr wrap="square" lIns="0" tIns="0" rIns="0" bIns="0" rtlCol="0" anchor="t"/>
          <a:lstStyle/>
          <a:p>
            <a:pPr indent="0" marL="0">
              <a:buNone/>
            </a:pPr>
            <a:r>
              <a:rPr lang="en-US" sz="2600" i="1" dirty="0">
                <a:solidFill>
                  <a:srgbClr val="CADCFC"/>
                </a:solidFill>
                <a:latin typeface="Calibri" pitchFamily="34" charset="0"/>
                <a:ea typeface="Calibri" pitchFamily="34" charset="-122"/>
                <a:cs typeface="Calibri" pitchFamily="34" charset="-120"/>
              </a:rPr>
              <a:t>Wie können die Stände den Dritten Stand überstimmen?</a:t>
            </a:r>
            <a:endParaRPr lang="en-US" sz="2600" dirty="0"/>
          </a:p>
        </p:txBody>
      </p:sp>
      <p:sp>
        <p:nvSpPr>
          <p:cNvPr id="6" name="Shape 4"/>
          <p:cNvSpPr/>
          <p:nvPr/>
        </p:nvSpPr>
        <p:spPr>
          <a:xfrm>
            <a:off x="822960" y="3383280"/>
            <a:ext cx="10515600" cy="2286000"/>
          </a:xfrm>
          <a:prstGeom prst="roundRect">
            <a:avLst>
              <a:gd name="adj" fmla="val 3200"/>
            </a:avLst>
          </a:prstGeom>
          <a:solidFill>
            <a:srgbClr val="24306E"/>
          </a:solidFill>
          <a:ln/>
        </p:spPr>
      </p:sp>
      <p:sp>
        <p:nvSpPr>
          <p:cNvPr id="7" name="Text 5"/>
          <p:cNvSpPr txBox="1"/>
          <p:nvPr/>
        </p:nvSpPr>
        <p:spPr>
          <a:xfrm>
            <a:off x="1097280" y="3520440"/>
            <a:ext cx="54864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Ankommen</a:t>
            </a:r>
            <a:endParaRPr lang="en-US" sz="2600" dirty="0"/>
          </a:p>
        </p:txBody>
      </p:sp>
      <p:sp>
        <p:nvSpPr>
          <p:cNvPr id="8" name="Shape 6"/>
          <p:cNvSpPr/>
          <p:nvPr/>
        </p:nvSpPr>
        <p:spPr>
          <a:xfrm>
            <a:off x="1097280" y="4160520"/>
            <a:ext cx="365760" cy="365760"/>
          </a:xfrm>
          <a:prstGeom prst="ellipse">
            <a:avLst/>
          </a:prstGeom>
          <a:solidFill>
            <a:srgbClr val="D9534F"/>
          </a:solidFill>
          <a:ln/>
        </p:spPr>
      </p:sp>
      <p:sp>
        <p:nvSpPr>
          <p:cNvPr id="9" name="Text 7"/>
          <p:cNvSpPr txBox="1"/>
          <p:nvPr/>
        </p:nvSpPr>
        <p:spPr>
          <a:xfrm>
            <a:off x="1097280" y="416052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691640" y="4133088"/>
            <a:ext cx="9418320" cy="420624"/>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Hole dein Heft heraus.</a:t>
            </a:r>
            <a:endParaRPr lang="en-US" sz="2400" dirty="0"/>
          </a:p>
        </p:txBody>
      </p:sp>
      <p:sp>
        <p:nvSpPr>
          <p:cNvPr id="11" name="Shape 9"/>
          <p:cNvSpPr/>
          <p:nvPr/>
        </p:nvSpPr>
        <p:spPr>
          <a:xfrm>
            <a:off x="1097280" y="4636008"/>
            <a:ext cx="365760" cy="365760"/>
          </a:xfrm>
          <a:prstGeom prst="ellipse">
            <a:avLst/>
          </a:prstGeom>
          <a:solidFill>
            <a:srgbClr val="D9534F"/>
          </a:solidFill>
          <a:ln/>
        </p:spPr>
      </p:sp>
      <p:sp>
        <p:nvSpPr>
          <p:cNvPr id="12" name="Text 10"/>
          <p:cNvSpPr txBox="1"/>
          <p:nvPr/>
        </p:nvSpPr>
        <p:spPr>
          <a:xfrm>
            <a:off x="1097280" y="4636008"/>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1691640" y="4608576"/>
            <a:ext cx="9418320" cy="420624"/>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Schreibe Datum und Überschrift „Generalstände 1789“.</a:t>
            </a:r>
            <a:endParaRPr lang="en-US" sz="2400" dirty="0"/>
          </a:p>
        </p:txBody>
      </p:sp>
      <p:sp>
        <p:nvSpPr>
          <p:cNvPr id="14" name="Shape 12"/>
          <p:cNvSpPr/>
          <p:nvPr/>
        </p:nvSpPr>
        <p:spPr>
          <a:xfrm>
            <a:off x="1097280" y="5111496"/>
            <a:ext cx="365760" cy="365760"/>
          </a:xfrm>
          <a:prstGeom prst="ellipse">
            <a:avLst/>
          </a:prstGeom>
          <a:solidFill>
            <a:srgbClr val="D9534F"/>
          </a:solidFill>
          <a:ln/>
        </p:spPr>
      </p:sp>
      <p:sp>
        <p:nvSpPr>
          <p:cNvPr id="15" name="Text 13"/>
          <p:cNvSpPr txBox="1"/>
          <p:nvPr/>
        </p:nvSpPr>
        <p:spPr>
          <a:xfrm>
            <a:off x="1097280" y="5111496"/>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691640" y="5084064"/>
            <a:ext cx="9418320" cy="420624"/>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Auf deinem Platz liegt eine Karte. Lass sie verdeckt liegen.</a:t>
            </a:r>
            <a:endParaRPr lang="en-US" sz="2400" dirty="0"/>
          </a:p>
        </p:txBody>
      </p:sp>
      <p:sp>
        <p:nvSpPr>
          <p:cNvPr id="17" name="Text 15"/>
          <p:cNvSpPr txBox="1"/>
          <p:nvPr/>
        </p:nvSpPr>
        <p:spPr>
          <a:xfrm>
            <a:off x="822960" y="6126480"/>
            <a:ext cx="73152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Geschichte, Klasse 8D · Französische Revolution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LERNZIELE</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Das kannst du am Ende der Stunde</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11109960" cy="1143000"/>
          </a:xfrm>
          <a:prstGeom prst="roundRect">
            <a:avLst>
              <a:gd name="adj" fmla="val 6400"/>
            </a:avLst>
          </a:prstGeom>
          <a:solidFill>
            <a:srgbClr val="EAF0FA"/>
          </a:solidFill>
          <a:ln/>
        </p:spPr>
      </p:sp>
      <p:sp>
        <p:nvSpPr>
          <p:cNvPr id="8" name="Shape 5"/>
          <p:cNvSpPr/>
          <p:nvPr/>
        </p:nvSpPr>
        <p:spPr>
          <a:xfrm>
            <a:off x="822960" y="1938528"/>
            <a:ext cx="457200" cy="457200"/>
          </a:xfrm>
          <a:prstGeom prst="ellipse">
            <a:avLst/>
          </a:prstGeom>
          <a:solidFill>
            <a:srgbClr val="D9534F"/>
          </a:solidFill>
          <a:ln/>
        </p:spPr>
      </p:sp>
      <p:sp>
        <p:nvSpPr>
          <p:cNvPr id="9" name="Text 6"/>
          <p:cNvSpPr txBox="1"/>
          <p:nvPr/>
        </p:nvSpPr>
        <p:spPr>
          <a:xfrm>
            <a:off x="822960" y="1938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1554480" y="1600200"/>
            <a:ext cx="9875520" cy="114300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Ich kann den Weg bis zu den Generalständen am Zeitstrahl erklären.</a:t>
            </a:r>
            <a:endParaRPr lang="en-US" sz="2600" dirty="0"/>
          </a:p>
        </p:txBody>
      </p:sp>
      <p:sp>
        <p:nvSpPr>
          <p:cNvPr id="11" name="Shape 8"/>
          <p:cNvSpPr/>
          <p:nvPr/>
        </p:nvSpPr>
        <p:spPr>
          <a:xfrm>
            <a:off x="548640" y="2971800"/>
            <a:ext cx="11109960" cy="1143000"/>
          </a:xfrm>
          <a:prstGeom prst="roundRect">
            <a:avLst>
              <a:gd name="adj" fmla="val 6400"/>
            </a:avLst>
          </a:prstGeom>
          <a:solidFill>
            <a:srgbClr val="F4F7FD"/>
          </a:solidFill>
          <a:ln/>
        </p:spPr>
      </p:sp>
      <p:sp>
        <p:nvSpPr>
          <p:cNvPr id="12" name="Shape 9"/>
          <p:cNvSpPr/>
          <p:nvPr/>
        </p:nvSpPr>
        <p:spPr>
          <a:xfrm>
            <a:off x="822960" y="3310128"/>
            <a:ext cx="457200" cy="457200"/>
          </a:xfrm>
          <a:prstGeom prst="ellipse">
            <a:avLst/>
          </a:prstGeom>
          <a:solidFill>
            <a:srgbClr val="D9534F"/>
          </a:solidFill>
          <a:ln/>
        </p:spPr>
      </p:sp>
      <p:sp>
        <p:nvSpPr>
          <p:cNvPr id="13" name="Text 10"/>
          <p:cNvSpPr txBox="1"/>
          <p:nvPr/>
        </p:nvSpPr>
        <p:spPr>
          <a:xfrm>
            <a:off x="822960" y="3310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txBox="1"/>
          <p:nvPr/>
        </p:nvSpPr>
        <p:spPr>
          <a:xfrm>
            <a:off x="1554480" y="2971800"/>
            <a:ext cx="9875520" cy="114300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Ich kann erklären, wie die Stände den Dritten Stand überstimmen konnten.</a:t>
            </a:r>
            <a:endParaRPr lang="en-US" sz="2600" dirty="0"/>
          </a:p>
        </p:txBody>
      </p:sp>
      <p:sp>
        <p:nvSpPr>
          <p:cNvPr id="15" name="Shape 12"/>
          <p:cNvSpPr/>
          <p:nvPr/>
        </p:nvSpPr>
        <p:spPr>
          <a:xfrm>
            <a:off x="548640" y="4343400"/>
            <a:ext cx="11109960" cy="1143000"/>
          </a:xfrm>
          <a:prstGeom prst="roundRect">
            <a:avLst>
              <a:gd name="adj" fmla="val 6400"/>
            </a:avLst>
          </a:prstGeom>
          <a:solidFill>
            <a:srgbClr val="EAF0FA"/>
          </a:solidFill>
          <a:ln/>
        </p:spPr>
      </p:sp>
      <p:sp>
        <p:nvSpPr>
          <p:cNvPr id="16" name="Shape 13"/>
          <p:cNvSpPr/>
          <p:nvPr/>
        </p:nvSpPr>
        <p:spPr>
          <a:xfrm>
            <a:off x="822960" y="4681728"/>
            <a:ext cx="457200" cy="457200"/>
          </a:xfrm>
          <a:prstGeom prst="ellipse">
            <a:avLst/>
          </a:prstGeom>
          <a:solidFill>
            <a:srgbClr val="D9534F"/>
          </a:solidFill>
          <a:ln/>
        </p:spPr>
      </p:sp>
      <p:sp>
        <p:nvSpPr>
          <p:cNvPr id="17" name="Text 14"/>
          <p:cNvSpPr txBox="1"/>
          <p:nvPr/>
        </p:nvSpPr>
        <p:spPr>
          <a:xfrm>
            <a:off x="822960" y="46817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5"/>
          <p:cNvSpPr txBox="1"/>
          <p:nvPr/>
        </p:nvSpPr>
        <p:spPr>
          <a:xfrm>
            <a:off x="1554480" y="4343400"/>
            <a:ext cx="9875520" cy="114300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Ich kann begründen, warum die Abstimmung nach Ständen unfair war.</a:t>
            </a:r>
            <a:endParaRPr lang="en-US" sz="2600" dirty="0"/>
          </a:p>
        </p:txBody>
      </p:sp>
      <p:sp>
        <p:nvSpPr>
          <p:cNvPr id="19" name="Shape 16"/>
          <p:cNvSpPr/>
          <p:nvPr/>
        </p:nvSpPr>
        <p:spPr>
          <a:xfrm>
            <a:off x="548640" y="5669280"/>
            <a:ext cx="11109960" cy="777240"/>
          </a:xfrm>
          <a:prstGeom prst="roundRect">
            <a:avLst>
              <a:gd name="adj" fmla="val 9412"/>
            </a:avLst>
          </a:prstGeom>
          <a:solidFill>
            <a:srgbClr val="1E2761"/>
          </a:solidFill>
          <a:ln/>
        </p:spPr>
      </p:sp>
      <p:sp>
        <p:nvSpPr>
          <p:cNvPr id="20" name="Text 1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Heute: </a:t>
            </a:r>
            <a:pPr indent="0" marL="0">
              <a:buNone/>
            </a:pPr>
            <a:r>
              <a:rPr lang="en-US" sz="2400" dirty="0">
                <a:solidFill>
                  <a:srgbClr val="FFFFFF"/>
                </a:solidFill>
                <a:latin typeface="Calibri" pitchFamily="34" charset="0"/>
                <a:ea typeface="Calibri" pitchFamily="34" charset="-122"/>
                <a:cs typeface="Calibri" pitchFamily="34" charset="-120"/>
              </a:rPr>
              <a:t>Zeitstrahl und Ständeversammlung (Spiel).</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ABLAUF</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So arbeiten wir heute</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737360"/>
            <a:ext cx="2103120" cy="3291840"/>
          </a:xfrm>
          <a:prstGeom prst="roundRect">
            <a:avLst>
              <a:gd name="adj" fmla="val 3478"/>
            </a:avLst>
          </a:prstGeom>
          <a:solidFill>
            <a:srgbClr val="EAF0FA"/>
          </a:solidFill>
          <a:ln/>
        </p:spPr>
      </p:sp>
      <p:sp>
        <p:nvSpPr>
          <p:cNvPr id="8" name="Shape 5"/>
          <p:cNvSpPr/>
          <p:nvPr/>
        </p:nvSpPr>
        <p:spPr>
          <a:xfrm>
            <a:off x="1234440" y="1920240"/>
            <a:ext cx="731520" cy="731520"/>
          </a:xfrm>
          <a:prstGeom prst="ellipse">
            <a:avLst/>
          </a:prstGeom>
          <a:solidFill>
            <a:srgbClr val="D9534F"/>
          </a:solidFill>
          <a:ln/>
        </p:spPr>
      </p:sp>
      <p:sp>
        <p:nvSpPr>
          <p:cNvPr id="9" name="Text 6"/>
          <p:cNvSpPr txBox="1"/>
          <p:nvPr/>
        </p:nvSpPr>
        <p:spPr>
          <a:xfrm>
            <a:off x="123444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10" name="Text 7"/>
          <p:cNvSpPr txBox="1"/>
          <p:nvPr/>
        </p:nvSpPr>
        <p:spPr>
          <a:xfrm>
            <a:off x="54864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Ankommen</a:t>
            </a:r>
            <a:endParaRPr lang="en-US" sz="2400" dirty="0"/>
          </a:p>
        </p:txBody>
      </p:sp>
      <p:sp>
        <p:nvSpPr>
          <p:cNvPr id="11" name="Text 8"/>
          <p:cNvSpPr txBox="1"/>
          <p:nvPr/>
        </p:nvSpPr>
        <p:spPr>
          <a:xfrm>
            <a:off x="64008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Ziele</a:t>
            </a:r>
            <a:endParaRPr lang="en-US" sz="2400" dirty="0"/>
          </a:p>
        </p:txBody>
      </p:sp>
      <p:sp>
        <p:nvSpPr>
          <p:cNvPr id="12" name="Text 9"/>
          <p:cNvSpPr txBox="1"/>
          <p:nvPr/>
        </p:nvSpPr>
        <p:spPr>
          <a:xfrm>
            <a:off x="54864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3 Min.</a:t>
            </a:r>
            <a:endParaRPr lang="en-US" sz="2400" dirty="0"/>
          </a:p>
        </p:txBody>
      </p:sp>
      <p:sp>
        <p:nvSpPr>
          <p:cNvPr id="13" name="Shape 10"/>
          <p:cNvSpPr/>
          <p:nvPr/>
        </p:nvSpPr>
        <p:spPr>
          <a:xfrm>
            <a:off x="2788920" y="1737360"/>
            <a:ext cx="2103120" cy="3291840"/>
          </a:xfrm>
          <a:prstGeom prst="roundRect">
            <a:avLst>
              <a:gd name="adj" fmla="val 3478"/>
            </a:avLst>
          </a:prstGeom>
          <a:solidFill>
            <a:srgbClr val="F4F7FD"/>
          </a:solidFill>
          <a:ln/>
        </p:spPr>
      </p:sp>
      <p:sp>
        <p:nvSpPr>
          <p:cNvPr id="14" name="Shape 11"/>
          <p:cNvSpPr/>
          <p:nvPr/>
        </p:nvSpPr>
        <p:spPr>
          <a:xfrm>
            <a:off x="3474720" y="1920240"/>
            <a:ext cx="731520" cy="731520"/>
          </a:xfrm>
          <a:prstGeom prst="ellipse">
            <a:avLst/>
          </a:prstGeom>
          <a:solidFill>
            <a:srgbClr val="D9534F"/>
          </a:solidFill>
          <a:ln/>
        </p:spPr>
      </p:sp>
      <p:sp>
        <p:nvSpPr>
          <p:cNvPr id="15" name="Text 12"/>
          <p:cNvSpPr txBox="1"/>
          <p:nvPr/>
        </p:nvSpPr>
        <p:spPr>
          <a:xfrm>
            <a:off x="347472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a:t>
            </a:r>
            <a:endParaRPr lang="en-US" sz="2800" dirty="0"/>
          </a:p>
        </p:txBody>
      </p:sp>
      <p:sp>
        <p:nvSpPr>
          <p:cNvPr id="16" name="Text 13"/>
          <p:cNvSpPr txBox="1"/>
          <p:nvPr/>
        </p:nvSpPr>
        <p:spPr>
          <a:xfrm>
            <a:off x="278892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Vorwissen</a:t>
            </a:r>
            <a:endParaRPr lang="en-US" sz="2400" dirty="0"/>
          </a:p>
        </p:txBody>
      </p:sp>
      <p:sp>
        <p:nvSpPr>
          <p:cNvPr id="17" name="Text 14"/>
          <p:cNvSpPr txBox="1"/>
          <p:nvPr/>
        </p:nvSpPr>
        <p:spPr>
          <a:xfrm>
            <a:off x="288036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Stände</a:t>
            </a:r>
            <a:endParaRPr lang="en-US" sz="2400" dirty="0"/>
          </a:p>
        </p:txBody>
      </p:sp>
      <p:sp>
        <p:nvSpPr>
          <p:cNvPr id="18" name="Text 15"/>
          <p:cNvSpPr txBox="1"/>
          <p:nvPr/>
        </p:nvSpPr>
        <p:spPr>
          <a:xfrm>
            <a:off x="278892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6 Min.</a:t>
            </a:r>
            <a:endParaRPr lang="en-US" sz="2400" dirty="0"/>
          </a:p>
        </p:txBody>
      </p:sp>
      <p:sp>
        <p:nvSpPr>
          <p:cNvPr id="19" name="Shape 16"/>
          <p:cNvSpPr/>
          <p:nvPr/>
        </p:nvSpPr>
        <p:spPr>
          <a:xfrm>
            <a:off x="5029200" y="1737360"/>
            <a:ext cx="2103120" cy="3291840"/>
          </a:xfrm>
          <a:prstGeom prst="roundRect">
            <a:avLst>
              <a:gd name="adj" fmla="val 3478"/>
            </a:avLst>
          </a:prstGeom>
          <a:solidFill>
            <a:srgbClr val="EAF0FA"/>
          </a:solidFill>
          <a:ln/>
        </p:spPr>
      </p:sp>
      <p:sp>
        <p:nvSpPr>
          <p:cNvPr id="20" name="Shape 17"/>
          <p:cNvSpPr/>
          <p:nvPr/>
        </p:nvSpPr>
        <p:spPr>
          <a:xfrm>
            <a:off x="5715000" y="1920240"/>
            <a:ext cx="731520" cy="731520"/>
          </a:xfrm>
          <a:prstGeom prst="ellipse">
            <a:avLst/>
          </a:prstGeom>
          <a:solidFill>
            <a:srgbClr val="D9534F"/>
          </a:solidFill>
          <a:ln/>
        </p:spPr>
      </p:sp>
      <p:sp>
        <p:nvSpPr>
          <p:cNvPr id="21" name="Text 18"/>
          <p:cNvSpPr txBox="1"/>
          <p:nvPr/>
        </p:nvSpPr>
        <p:spPr>
          <a:xfrm>
            <a:off x="571500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a:t>
            </a:r>
            <a:endParaRPr lang="en-US" sz="2800" dirty="0"/>
          </a:p>
        </p:txBody>
      </p:sp>
      <p:sp>
        <p:nvSpPr>
          <p:cNvPr id="22" name="Text 19"/>
          <p:cNvSpPr txBox="1"/>
          <p:nvPr/>
        </p:nvSpPr>
        <p:spPr>
          <a:xfrm>
            <a:off x="502920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Informieren</a:t>
            </a:r>
            <a:endParaRPr lang="en-US" sz="2400" dirty="0"/>
          </a:p>
        </p:txBody>
      </p:sp>
      <p:sp>
        <p:nvSpPr>
          <p:cNvPr id="23" name="Text 20"/>
          <p:cNvSpPr txBox="1"/>
          <p:nvPr/>
        </p:nvSpPr>
        <p:spPr>
          <a:xfrm>
            <a:off x="512064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Text und Zeitstrahl</a:t>
            </a:r>
            <a:endParaRPr lang="en-US" sz="2400" dirty="0"/>
          </a:p>
        </p:txBody>
      </p:sp>
      <p:sp>
        <p:nvSpPr>
          <p:cNvPr id="24" name="Text 21"/>
          <p:cNvSpPr txBox="1"/>
          <p:nvPr/>
        </p:nvSpPr>
        <p:spPr>
          <a:xfrm>
            <a:off x="502920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11 Min.</a:t>
            </a:r>
            <a:endParaRPr lang="en-US" sz="2400" dirty="0"/>
          </a:p>
        </p:txBody>
      </p:sp>
      <p:sp>
        <p:nvSpPr>
          <p:cNvPr id="25" name="Shape 22"/>
          <p:cNvSpPr/>
          <p:nvPr/>
        </p:nvSpPr>
        <p:spPr>
          <a:xfrm>
            <a:off x="7269480" y="1737360"/>
            <a:ext cx="2103120" cy="3291840"/>
          </a:xfrm>
          <a:prstGeom prst="roundRect">
            <a:avLst>
              <a:gd name="adj" fmla="val 3478"/>
            </a:avLst>
          </a:prstGeom>
          <a:solidFill>
            <a:srgbClr val="F4F7FD"/>
          </a:solidFill>
          <a:ln/>
        </p:spPr>
      </p:sp>
      <p:sp>
        <p:nvSpPr>
          <p:cNvPr id="26" name="Shape 23"/>
          <p:cNvSpPr/>
          <p:nvPr/>
        </p:nvSpPr>
        <p:spPr>
          <a:xfrm>
            <a:off x="7955280" y="1920240"/>
            <a:ext cx="731520" cy="731520"/>
          </a:xfrm>
          <a:prstGeom prst="ellipse">
            <a:avLst/>
          </a:prstGeom>
          <a:solidFill>
            <a:srgbClr val="D9534F"/>
          </a:solidFill>
          <a:ln/>
        </p:spPr>
      </p:sp>
      <p:sp>
        <p:nvSpPr>
          <p:cNvPr id="27" name="Text 24"/>
          <p:cNvSpPr txBox="1"/>
          <p:nvPr/>
        </p:nvSpPr>
        <p:spPr>
          <a:xfrm>
            <a:off x="795528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a:t>
            </a:r>
            <a:endParaRPr lang="en-US" sz="2800" dirty="0"/>
          </a:p>
        </p:txBody>
      </p:sp>
      <p:sp>
        <p:nvSpPr>
          <p:cNvPr id="28" name="Text 25"/>
          <p:cNvSpPr txBox="1"/>
          <p:nvPr/>
        </p:nvSpPr>
        <p:spPr>
          <a:xfrm>
            <a:off x="726948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Verarbeiten</a:t>
            </a:r>
            <a:endParaRPr lang="en-US" sz="2400" dirty="0"/>
          </a:p>
        </p:txBody>
      </p:sp>
      <p:sp>
        <p:nvSpPr>
          <p:cNvPr id="29" name="Text 26"/>
          <p:cNvSpPr txBox="1"/>
          <p:nvPr/>
        </p:nvSpPr>
        <p:spPr>
          <a:xfrm>
            <a:off x="736092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Spiel</a:t>
            </a:r>
            <a:endParaRPr lang="en-US" sz="2400" dirty="0"/>
          </a:p>
        </p:txBody>
      </p:sp>
      <p:sp>
        <p:nvSpPr>
          <p:cNvPr id="30" name="Text 27"/>
          <p:cNvSpPr txBox="1"/>
          <p:nvPr/>
        </p:nvSpPr>
        <p:spPr>
          <a:xfrm>
            <a:off x="726948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18 Min.</a:t>
            </a:r>
            <a:endParaRPr lang="en-US" sz="2400" dirty="0"/>
          </a:p>
        </p:txBody>
      </p:sp>
      <p:sp>
        <p:nvSpPr>
          <p:cNvPr id="31" name="Shape 28"/>
          <p:cNvSpPr/>
          <p:nvPr/>
        </p:nvSpPr>
        <p:spPr>
          <a:xfrm>
            <a:off x="9509760" y="1737360"/>
            <a:ext cx="2103120" cy="3291840"/>
          </a:xfrm>
          <a:prstGeom prst="roundRect">
            <a:avLst>
              <a:gd name="adj" fmla="val 3478"/>
            </a:avLst>
          </a:prstGeom>
          <a:solidFill>
            <a:srgbClr val="EAF0FA"/>
          </a:solidFill>
          <a:ln/>
        </p:spPr>
      </p:sp>
      <p:sp>
        <p:nvSpPr>
          <p:cNvPr id="32" name="Shape 29"/>
          <p:cNvSpPr/>
          <p:nvPr/>
        </p:nvSpPr>
        <p:spPr>
          <a:xfrm>
            <a:off x="10195560" y="1920240"/>
            <a:ext cx="731520" cy="731520"/>
          </a:xfrm>
          <a:prstGeom prst="ellipse">
            <a:avLst/>
          </a:prstGeom>
          <a:solidFill>
            <a:srgbClr val="D9534F"/>
          </a:solidFill>
          <a:ln/>
        </p:spPr>
      </p:sp>
      <p:sp>
        <p:nvSpPr>
          <p:cNvPr id="33" name="Text 30"/>
          <p:cNvSpPr txBox="1"/>
          <p:nvPr/>
        </p:nvSpPr>
        <p:spPr>
          <a:xfrm>
            <a:off x="1019556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34" name="Text 31"/>
          <p:cNvSpPr txBox="1"/>
          <p:nvPr/>
        </p:nvSpPr>
        <p:spPr>
          <a:xfrm>
            <a:off x="950976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Auswerten</a:t>
            </a:r>
            <a:endParaRPr lang="en-US" sz="2400" dirty="0"/>
          </a:p>
        </p:txBody>
      </p:sp>
      <p:sp>
        <p:nvSpPr>
          <p:cNvPr id="35" name="Text 32"/>
          <p:cNvSpPr txBox="1"/>
          <p:nvPr/>
        </p:nvSpPr>
        <p:spPr>
          <a:xfrm>
            <a:off x="960120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Merksatz, Abschlussfrage</a:t>
            </a:r>
            <a:endParaRPr lang="en-US" sz="2400" dirty="0"/>
          </a:p>
        </p:txBody>
      </p:sp>
      <p:sp>
        <p:nvSpPr>
          <p:cNvPr id="36" name="Text 33"/>
          <p:cNvSpPr txBox="1"/>
          <p:nvPr/>
        </p:nvSpPr>
        <p:spPr>
          <a:xfrm>
            <a:off x="950976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6 Min.</a:t>
            </a:r>
            <a:endParaRPr lang="en-US" sz="2400" dirty="0"/>
          </a:p>
        </p:txBody>
      </p:sp>
      <p:sp>
        <p:nvSpPr>
          <p:cNvPr id="37" name="Shape 34"/>
          <p:cNvSpPr/>
          <p:nvPr/>
        </p:nvSpPr>
        <p:spPr>
          <a:xfrm>
            <a:off x="548640" y="5669280"/>
            <a:ext cx="11109960" cy="777240"/>
          </a:xfrm>
          <a:prstGeom prst="roundRect">
            <a:avLst>
              <a:gd name="adj" fmla="val 9412"/>
            </a:avLst>
          </a:prstGeom>
          <a:solidFill>
            <a:srgbClr val="1E2761"/>
          </a:solidFill>
          <a:ln/>
        </p:spPr>
      </p:sp>
      <p:sp>
        <p:nvSpPr>
          <p:cNvPr id="38" name="Text 35"/>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Wichtig: </a:t>
            </a:r>
            <a:pPr indent="0" marL="0">
              <a:buNone/>
            </a:pPr>
            <a:r>
              <a:rPr lang="en-US" sz="2400" dirty="0">
                <a:solidFill>
                  <a:srgbClr val="FFFFFF"/>
                </a:solidFill>
                <a:latin typeface="Calibri" pitchFamily="34" charset="0"/>
                <a:ea typeface="Calibri" pitchFamily="34" charset="-122"/>
                <a:cs typeface="Calibri" pitchFamily="34" charset="-120"/>
              </a:rPr>
              <a:t>Wir arbeiten leise. Gesprochen wird nur, wenn es auf der Folie steht.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VORWISSEN AKTIVIEREN · ÜBUNG 1</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D9534F"/>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Fehlertext: Absolutismus und Stände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17" name="Shape 14"/>
          <p:cNvSpPr/>
          <p:nvPr/>
        </p:nvSpPr>
        <p:spPr>
          <a:xfrm>
            <a:off x="548640" y="1371600"/>
            <a:ext cx="11109960" cy="3246120"/>
          </a:xfrm>
          <a:prstGeom prst="roundRect">
            <a:avLst>
              <a:gd name="adj" fmla="val 2254"/>
            </a:avLst>
          </a:prstGeom>
          <a:solidFill>
            <a:srgbClr val="EAF0FA"/>
          </a:solidFill>
          <a:ln/>
        </p:spPr>
      </p:sp>
      <p:sp>
        <p:nvSpPr>
          <p:cNvPr id="18" name="Shape 15"/>
          <p:cNvSpPr/>
          <p:nvPr/>
        </p:nvSpPr>
        <p:spPr>
          <a:xfrm>
            <a:off x="777240" y="1554480"/>
            <a:ext cx="365760" cy="365760"/>
          </a:xfrm>
          <a:prstGeom prst="ellipse">
            <a:avLst/>
          </a:prstGeom>
          <a:solidFill>
            <a:srgbClr val="1E2761"/>
          </a:solidFill>
          <a:ln/>
        </p:spPr>
      </p:sp>
      <p:sp>
        <p:nvSpPr>
          <p:cNvPr id="19" name="Text 16"/>
          <p:cNvSpPr txBox="1"/>
          <p:nvPr/>
        </p:nvSpPr>
        <p:spPr>
          <a:xfrm>
            <a:off x="777240" y="15544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1371600" y="1481328"/>
            <a:ext cx="10149840" cy="530352"/>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Ludwig XIV. war der Sonnenkönig und regierte im Absolutismus gemeinsam mit den Ständen.</a:t>
            </a:r>
            <a:endParaRPr lang="en-US" sz="2400" dirty="0"/>
          </a:p>
        </p:txBody>
      </p:sp>
      <p:sp>
        <p:nvSpPr>
          <p:cNvPr id="21" name="Shape 18"/>
          <p:cNvSpPr/>
          <p:nvPr/>
        </p:nvSpPr>
        <p:spPr>
          <a:xfrm>
            <a:off x="777240" y="2157984"/>
            <a:ext cx="365760" cy="365760"/>
          </a:xfrm>
          <a:prstGeom prst="ellipse">
            <a:avLst/>
          </a:prstGeom>
          <a:solidFill>
            <a:srgbClr val="1E2761"/>
          </a:solidFill>
          <a:ln/>
        </p:spPr>
      </p:sp>
      <p:sp>
        <p:nvSpPr>
          <p:cNvPr id="22" name="Text 19"/>
          <p:cNvSpPr txBox="1"/>
          <p:nvPr/>
        </p:nvSpPr>
        <p:spPr>
          <a:xfrm>
            <a:off x="777240" y="2157984"/>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1371600" y="2084832"/>
            <a:ext cx="10149840" cy="530352"/>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Seine Macht komme vom Volk, sagte er (Gottesgnadentum).</a:t>
            </a:r>
            <a:endParaRPr lang="en-US" sz="2400" dirty="0"/>
          </a:p>
        </p:txBody>
      </p:sp>
      <p:sp>
        <p:nvSpPr>
          <p:cNvPr id="24" name="Shape 21"/>
          <p:cNvSpPr/>
          <p:nvPr/>
        </p:nvSpPr>
        <p:spPr>
          <a:xfrm>
            <a:off x="777240" y="2761488"/>
            <a:ext cx="365760" cy="365760"/>
          </a:xfrm>
          <a:prstGeom prst="ellipse">
            <a:avLst/>
          </a:prstGeom>
          <a:solidFill>
            <a:srgbClr val="1E2761"/>
          </a:solidFill>
          <a:ln/>
        </p:spPr>
      </p:sp>
      <p:sp>
        <p:nvSpPr>
          <p:cNvPr id="25" name="Text 22"/>
          <p:cNvSpPr txBox="1"/>
          <p:nvPr/>
        </p:nvSpPr>
        <p:spPr>
          <a:xfrm>
            <a:off x="777240" y="2761488"/>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3"/>
          <p:cNvSpPr txBox="1"/>
          <p:nvPr/>
        </p:nvSpPr>
        <p:spPr>
          <a:xfrm>
            <a:off x="1371600" y="2688336"/>
            <a:ext cx="10149840" cy="530352"/>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Zum Klerus gehörten etwa 20 Millionen Menschen, zum Adel etwa 500 000.</a:t>
            </a:r>
            <a:endParaRPr lang="en-US" sz="2400" dirty="0"/>
          </a:p>
        </p:txBody>
      </p:sp>
      <p:sp>
        <p:nvSpPr>
          <p:cNvPr id="27" name="Shape 24"/>
          <p:cNvSpPr/>
          <p:nvPr/>
        </p:nvSpPr>
        <p:spPr>
          <a:xfrm>
            <a:off x="777240" y="3364992"/>
            <a:ext cx="365760" cy="365760"/>
          </a:xfrm>
          <a:prstGeom prst="ellipse">
            <a:avLst/>
          </a:prstGeom>
          <a:solidFill>
            <a:srgbClr val="1E2761"/>
          </a:solidFill>
          <a:ln/>
        </p:spPr>
      </p:sp>
      <p:sp>
        <p:nvSpPr>
          <p:cNvPr id="28" name="Text 25"/>
          <p:cNvSpPr txBox="1"/>
          <p:nvPr/>
        </p:nvSpPr>
        <p:spPr>
          <a:xfrm>
            <a:off x="777240" y="3364992"/>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6"/>
          <p:cNvSpPr txBox="1"/>
          <p:nvPr/>
        </p:nvSpPr>
        <p:spPr>
          <a:xfrm>
            <a:off x="1371600" y="3291840"/>
            <a:ext cx="10149840" cy="530352"/>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Klerus und Adel zahlten die meisten Steuern.</a:t>
            </a:r>
            <a:endParaRPr lang="en-US" sz="2400" dirty="0"/>
          </a:p>
        </p:txBody>
      </p:sp>
      <p:sp>
        <p:nvSpPr>
          <p:cNvPr id="30" name="Shape 27"/>
          <p:cNvSpPr/>
          <p:nvPr/>
        </p:nvSpPr>
        <p:spPr>
          <a:xfrm>
            <a:off x="777240" y="3968496"/>
            <a:ext cx="365760" cy="365760"/>
          </a:xfrm>
          <a:prstGeom prst="ellipse">
            <a:avLst/>
          </a:prstGeom>
          <a:solidFill>
            <a:srgbClr val="1E2761"/>
          </a:solidFill>
          <a:ln/>
        </p:spPr>
      </p:sp>
      <p:sp>
        <p:nvSpPr>
          <p:cNvPr id="31" name="Text 28"/>
          <p:cNvSpPr txBox="1"/>
          <p:nvPr/>
        </p:nvSpPr>
        <p:spPr>
          <a:xfrm>
            <a:off x="777240" y="3968496"/>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29"/>
          <p:cNvSpPr txBox="1"/>
          <p:nvPr/>
        </p:nvSpPr>
        <p:spPr>
          <a:xfrm>
            <a:off x="1371600" y="3895344"/>
            <a:ext cx="10149840" cy="530352"/>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Der Dritte Stand (Bauern und Bürger) hatte kaum Vorrechte.</a:t>
            </a:r>
            <a:endParaRPr lang="en-US" sz="2400" dirty="0"/>
          </a:p>
        </p:txBody>
      </p:sp>
      <p:sp>
        <p:nvSpPr>
          <p:cNvPr id="33" name="Shape 30"/>
          <p:cNvSpPr/>
          <p:nvPr/>
        </p:nvSpPr>
        <p:spPr>
          <a:xfrm>
            <a:off x="777240" y="4846320"/>
            <a:ext cx="347472" cy="347472"/>
          </a:xfrm>
          <a:prstGeom prst="ellipse">
            <a:avLst/>
          </a:prstGeom>
          <a:solidFill>
            <a:srgbClr val="D9534F"/>
          </a:solidFill>
          <a:ln/>
        </p:spPr>
      </p:sp>
      <p:sp>
        <p:nvSpPr>
          <p:cNvPr id="34" name="Text 31"/>
          <p:cNvSpPr txBox="1"/>
          <p:nvPr/>
        </p:nvSpPr>
        <p:spPr>
          <a:xfrm>
            <a:off x="777240" y="484632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5" name="Text 32"/>
          <p:cNvSpPr txBox="1"/>
          <p:nvPr/>
        </p:nvSpPr>
        <p:spPr>
          <a:xfrm>
            <a:off x="1371600" y="4800600"/>
            <a:ext cx="10149840" cy="411480"/>
          </a:xfrm>
          <a:prstGeom prst="rect">
            <a:avLst/>
          </a:prstGeom>
          <a:noFill/>
          <a:ln/>
        </p:spPr>
        <p:txBody>
          <a:bodyPr wrap="square" lIns="0" tIns="0" rIns="0" bIns="0"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Vier Sätze enthalten einen Fehler. Unterstreiche die Fehler.</a:t>
            </a:r>
            <a:endParaRPr lang="en-US" sz="2400" dirty="0"/>
          </a:p>
        </p:txBody>
      </p:sp>
      <p:sp>
        <p:nvSpPr>
          <p:cNvPr id="36" name="Shape 33"/>
          <p:cNvSpPr/>
          <p:nvPr/>
        </p:nvSpPr>
        <p:spPr>
          <a:xfrm>
            <a:off x="777240" y="5257800"/>
            <a:ext cx="347472" cy="347472"/>
          </a:xfrm>
          <a:prstGeom prst="ellipse">
            <a:avLst/>
          </a:prstGeom>
          <a:solidFill>
            <a:srgbClr val="D9534F"/>
          </a:solidFill>
          <a:ln/>
        </p:spPr>
      </p:sp>
      <p:sp>
        <p:nvSpPr>
          <p:cNvPr id="37" name="Text 34"/>
          <p:cNvSpPr txBox="1"/>
          <p:nvPr/>
        </p:nvSpPr>
        <p:spPr>
          <a:xfrm>
            <a:off x="777240" y="525780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8" name="Text 35"/>
          <p:cNvSpPr txBox="1"/>
          <p:nvPr/>
        </p:nvSpPr>
        <p:spPr>
          <a:xfrm>
            <a:off x="1371600" y="5212080"/>
            <a:ext cx="10149840" cy="411480"/>
          </a:xfrm>
          <a:prstGeom prst="rect">
            <a:avLst/>
          </a:prstGeom>
          <a:noFill/>
          <a:ln/>
        </p:spPr>
        <p:txBody>
          <a:bodyPr wrap="square" lIns="0" tIns="0" rIns="0" bIns="0" rtlCol="0" anchor="ctr"/>
          <a:lstStyle/>
          <a:p>
            <a:pPr indent="0" marL="0">
              <a:buNone/>
            </a:pPr>
            <a:r>
              <a:rPr lang="en-US" sz="2400" b="1" dirty="0">
                <a:solidFill>
                  <a:srgbClr val="1E2761"/>
                </a:solidFill>
                <a:latin typeface="Calibri" pitchFamily="34" charset="0"/>
                <a:ea typeface="Calibri" pitchFamily="34" charset="-122"/>
                <a:cs typeface="Calibri" pitchFamily="34" charset="-120"/>
              </a:rPr>
              <a:t>Schreibe diese Sätze richtig ins Heft.</a:t>
            </a:r>
            <a:endParaRPr lang="en-US" sz="2400" dirty="0"/>
          </a:p>
        </p:txBody>
      </p:sp>
      <p:sp>
        <p:nvSpPr>
          <p:cNvPr id="39" name="Shape 36"/>
          <p:cNvSpPr/>
          <p:nvPr/>
        </p:nvSpPr>
        <p:spPr>
          <a:xfrm>
            <a:off x="548640" y="5669280"/>
            <a:ext cx="11109960" cy="777240"/>
          </a:xfrm>
          <a:prstGeom prst="roundRect">
            <a:avLst>
              <a:gd name="adj" fmla="val 9412"/>
            </a:avLst>
          </a:prstGeom>
          <a:solidFill>
            <a:srgbClr val="1E2761"/>
          </a:solidFill>
          <a:ln/>
        </p:spPr>
      </p:sp>
      <p:sp>
        <p:nvSpPr>
          <p:cNvPr id="40" name="Text 3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4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VORWISSEN AKTIVIEREN · KONTROLLE</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D9534F"/>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Fehlertext: Lösung</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
        <p:nvSpPr>
          <p:cNvPr id="17" name="Shape 14"/>
          <p:cNvSpPr/>
          <p:nvPr/>
        </p:nvSpPr>
        <p:spPr>
          <a:xfrm>
            <a:off x="548640" y="1371600"/>
            <a:ext cx="11109960" cy="4069080"/>
          </a:xfrm>
          <a:prstGeom prst="roundRect">
            <a:avLst>
              <a:gd name="adj" fmla="val 1798"/>
            </a:avLst>
          </a:prstGeom>
          <a:solidFill>
            <a:srgbClr val="EAF0FA"/>
          </a:solidFill>
          <a:ln/>
        </p:spPr>
      </p:sp>
      <p:sp>
        <p:nvSpPr>
          <p:cNvPr id="18" name="Shape 15"/>
          <p:cNvSpPr/>
          <p:nvPr/>
        </p:nvSpPr>
        <p:spPr>
          <a:xfrm>
            <a:off x="777240" y="1600200"/>
            <a:ext cx="365760" cy="365760"/>
          </a:xfrm>
          <a:prstGeom prst="ellipse">
            <a:avLst/>
          </a:prstGeom>
          <a:solidFill>
            <a:srgbClr val="1E2761"/>
          </a:solidFill>
          <a:ln/>
        </p:spPr>
      </p:sp>
      <p:sp>
        <p:nvSpPr>
          <p:cNvPr id="19" name="Text 16"/>
          <p:cNvSpPr txBox="1"/>
          <p:nvPr/>
        </p:nvSpPr>
        <p:spPr>
          <a:xfrm>
            <a:off x="777240" y="160020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1371600" y="1508760"/>
            <a:ext cx="10058400" cy="7315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Ludwig XIV. war der Sonnenkönig und regierte im Absolutismus </a:t>
            </a:r>
            <a:pPr indent="0" marL="0">
              <a:buNone/>
            </a:pPr>
            <a:r>
              <a:rPr lang="en-US" sz="2400" b="1" dirty="0">
                <a:solidFill>
                  <a:srgbClr val="2E9E6B"/>
                </a:solidFill>
                <a:latin typeface="Cambria" pitchFamily="34" charset="0"/>
                <a:ea typeface="Cambria" pitchFamily="34" charset="-122"/>
                <a:cs typeface="Cambria" pitchFamily="34" charset="-120"/>
              </a:rPr>
              <a:t>allein, ohne die Stände</a:t>
            </a:r>
            <a:pPr indent="0" marL="0">
              <a:buNone/>
            </a:pPr>
            <a:r>
              <a:rPr lang="en-US" sz="2400" dirty="0">
                <a:solidFill>
                  <a:srgbClr val="1E2761"/>
                </a:solidFill>
                <a:latin typeface="Cambria" pitchFamily="34" charset="0"/>
                <a:ea typeface="Cambria" pitchFamily="34" charset="-122"/>
                <a:cs typeface="Cambria" pitchFamily="34" charset="-120"/>
              </a:rPr>
              <a:t>.</a:t>
            </a:r>
            <a:endParaRPr lang="en-US" sz="2400" dirty="0"/>
          </a:p>
        </p:txBody>
      </p:sp>
      <p:sp>
        <p:nvSpPr>
          <p:cNvPr id="21" name="Shape 18"/>
          <p:cNvSpPr/>
          <p:nvPr/>
        </p:nvSpPr>
        <p:spPr>
          <a:xfrm>
            <a:off x="777240" y="2377440"/>
            <a:ext cx="365760" cy="365760"/>
          </a:xfrm>
          <a:prstGeom prst="ellipse">
            <a:avLst/>
          </a:prstGeom>
          <a:solidFill>
            <a:srgbClr val="1E2761"/>
          </a:solidFill>
          <a:ln/>
        </p:spPr>
      </p:sp>
      <p:sp>
        <p:nvSpPr>
          <p:cNvPr id="22" name="Text 19"/>
          <p:cNvSpPr txBox="1"/>
          <p:nvPr/>
        </p:nvSpPr>
        <p:spPr>
          <a:xfrm>
            <a:off x="777240" y="237744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1371600" y="2286000"/>
            <a:ext cx="10058400" cy="7315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Seine Macht komme </a:t>
            </a:r>
            <a:pPr indent="0" marL="0">
              <a:buNone/>
            </a:pPr>
            <a:r>
              <a:rPr lang="en-US" sz="2400" b="1" dirty="0">
                <a:solidFill>
                  <a:srgbClr val="2E9E6B"/>
                </a:solidFill>
                <a:latin typeface="Cambria" pitchFamily="34" charset="0"/>
                <a:ea typeface="Cambria" pitchFamily="34" charset="-122"/>
                <a:cs typeface="Cambria" pitchFamily="34" charset="-120"/>
              </a:rPr>
              <a:t>von Gott</a:t>
            </a:r>
            <a:pPr indent="0" marL="0">
              <a:buNone/>
            </a:pPr>
            <a:r>
              <a:rPr lang="en-US" sz="2400" dirty="0">
                <a:solidFill>
                  <a:srgbClr val="1E2761"/>
                </a:solidFill>
                <a:latin typeface="Cambria" pitchFamily="34" charset="0"/>
                <a:ea typeface="Cambria" pitchFamily="34" charset="-122"/>
                <a:cs typeface="Cambria" pitchFamily="34" charset="-120"/>
              </a:rPr>
              <a:t>, sagte er (Gottesgnadentum).</a:t>
            </a:r>
            <a:endParaRPr lang="en-US" sz="2400" dirty="0"/>
          </a:p>
        </p:txBody>
      </p:sp>
      <p:sp>
        <p:nvSpPr>
          <p:cNvPr id="24" name="Shape 21"/>
          <p:cNvSpPr/>
          <p:nvPr/>
        </p:nvSpPr>
        <p:spPr>
          <a:xfrm>
            <a:off x="777240" y="3154680"/>
            <a:ext cx="365760" cy="365760"/>
          </a:xfrm>
          <a:prstGeom prst="ellipse">
            <a:avLst/>
          </a:prstGeom>
          <a:solidFill>
            <a:srgbClr val="1E2761"/>
          </a:solidFill>
          <a:ln/>
        </p:spPr>
      </p:sp>
      <p:sp>
        <p:nvSpPr>
          <p:cNvPr id="25" name="Text 22"/>
          <p:cNvSpPr txBox="1"/>
          <p:nvPr/>
        </p:nvSpPr>
        <p:spPr>
          <a:xfrm>
            <a:off x="777240" y="31546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3"/>
          <p:cNvSpPr txBox="1"/>
          <p:nvPr/>
        </p:nvSpPr>
        <p:spPr>
          <a:xfrm>
            <a:off x="1371600" y="3063240"/>
            <a:ext cx="10058400" cy="7315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Zum Klerus gehörten etwa </a:t>
            </a:r>
            <a:pPr indent="0" marL="0">
              <a:buNone/>
            </a:pPr>
            <a:r>
              <a:rPr lang="en-US" sz="2400" b="1" dirty="0">
                <a:solidFill>
                  <a:srgbClr val="2E9E6B"/>
                </a:solidFill>
                <a:latin typeface="Cambria" pitchFamily="34" charset="0"/>
                <a:ea typeface="Cambria" pitchFamily="34" charset="-122"/>
                <a:cs typeface="Cambria" pitchFamily="34" charset="-120"/>
              </a:rPr>
              <a:t>150 000</a:t>
            </a:r>
            <a:pPr indent="0" marL="0">
              <a:buNone/>
            </a:pPr>
            <a:r>
              <a:rPr lang="en-US" sz="2400" dirty="0">
                <a:solidFill>
                  <a:srgbClr val="1E2761"/>
                </a:solidFill>
                <a:latin typeface="Cambria" pitchFamily="34" charset="0"/>
                <a:ea typeface="Cambria" pitchFamily="34" charset="-122"/>
                <a:cs typeface="Cambria" pitchFamily="34" charset="-120"/>
              </a:rPr>
              <a:t> Menschen, zum Adel etwa 500 000.</a:t>
            </a:r>
            <a:endParaRPr lang="en-US" sz="2400" dirty="0"/>
          </a:p>
        </p:txBody>
      </p:sp>
      <p:sp>
        <p:nvSpPr>
          <p:cNvPr id="27" name="Shape 24"/>
          <p:cNvSpPr/>
          <p:nvPr/>
        </p:nvSpPr>
        <p:spPr>
          <a:xfrm>
            <a:off x="777240" y="3931920"/>
            <a:ext cx="365760" cy="365760"/>
          </a:xfrm>
          <a:prstGeom prst="ellipse">
            <a:avLst/>
          </a:prstGeom>
          <a:solidFill>
            <a:srgbClr val="1E2761"/>
          </a:solidFill>
          <a:ln/>
        </p:spPr>
      </p:sp>
      <p:sp>
        <p:nvSpPr>
          <p:cNvPr id="28" name="Text 25"/>
          <p:cNvSpPr txBox="1"/>
          <p:nvPr/>
        </p:nvSpPr>
        <p:spPr>
          <a:xfrm>
            <a:off x="777240" y="393192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6"/>
          <p:cNvSpPr txBox="1"/>
          <p:nvPr/>
        </p:nvSpPr>
        <p:spPr>
          <a:xfrm>
            <a:off x="1371600" y="3840480"/>
            <a:ext cx="10058400" cy="7315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Klerus und Adel zahlten </a:t>
            </a:r>
            <a:pPr indent="0" marL="0">
              <a:buNone/>
            </a:pPr>
            <a:r>
              <a:rPr lang="en-US" sz="2400" b="1" dirty="0">
                <a:solidFill>
                  <a:srgbClr val="2E9E6B"/>
                </a:solidFill>
                <a:latin typeface="Cambria" pitchFamily="34" charset="0"/>
                <a:ea typeface="Cambria" pitchFamily="34" charset="-122"/>
                <a:cs typeface="Cambria" pitchFamily="34" charset="-120"/>
              </a:rPr>
              <a:t>keine Steuern</a:t>
            </a:r>
            <a:pPr indent="0" marL="0">
              <a:buNone/>
            </a:pPr>
            <a:r>
              <a:rPr lang="en-US" sz="2400" dirty="0">
                <a:solidFill>
                  <a:srgbClr val="1E2761"/>
                </a:solidFill>
                <a:latin typeface="Cambria" pitchFamily="34" charset="0"/>
                <a:ea typeface="Cambria" pitchFamily="34" charset="-122"/>
                <a:cs typeface="Cambria" pitchFamily="34" charset="-120"/>
              </a:rPr>
              <a:t>.</a:t>
            </a:r>
            <a:endParaRPr lang="en-US" sz="2400" dirty="0"/>
          </a:p>
        </p:txBody>
      </p:sp>
      <p:sp>
        <p:nvSpPr>
          <p:cNvPr id="30" name="Shape 27"/>
          <p:cNvSpPr/>
          <p:nvPr/>
        </p:nvSpPr>
        <p:spPr>
          <a:xfrm>
            <a:off x="777240" y="4709160"/>
            <a:ext cx="365760" cy="365760"/>
          </a:xfrm>
          <a:prstGeom prst="ellipse">
            <a:avLst/>
          </a:prstGeom>
          <a:solidFill>
            <a:srgbClr val="1E2761"/>
          </a:solidFill>
          <a:ln/>
        </p:spPr>
      </p:sp>
      <p:sp>
        <p:nvSpPr>
          <p:cNvPr id="31" name="Text 28"/>
          <p:cNvSpPr txBox="1"/>
          <p:nvPr/>
        </p:nvSpPr>
        <p:spPr>
          <a:xfrm>
            <a:off x="777240" y="47091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29"/>
          <p:cNvSpPr txBox="1"/>
          <p:nvPr/>
        </p:nvSpPr>
        <p:spPr>
          <a:xfrm>
            <a:off x="1371600" y="4617720"/>
            <a:ext cx="10058400" cy="7315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Der Dritte Stand (Bauern und Bürger) hatte kaum Vorrechte. </a:t>
            </a:r>
            <a:pPr indent="0" marL="0">
              <a:buNone/>
            </a:pPr>
            <a:r>
              <a:rPr lang="en-US" sz="2400" i="1" dirty="0">
                <a:solidFill>
                  <a:srgbClr val="5B6B8C"/>
                </a:solidFill>
                <a:latin typeface="Cambria" pitchFamily="34" charset="0"/>
                <a:ea typeface="Cambria" pitchFamily="34" charset="-122"/>
                <a:cs typeface="Cambria" pitchFamily="34" charset="-120"/>
              </a:rPr>
              <a:t>(war richtig)</a:t>
            </a:r>
            <a:endParaRPr lang="en-US" sz="2400" dirty="0"/>
          </a:p>
        </p:txBody>
      </p:sp>
      <p:sp>
        <p:nvSpPr>
          <p:cNvPr id="33" name="Shape 30"/>
          <p:cNvSpPr/>
          <p:nvPr/>
        </p:nvSpPr>
        <p:spPr>
          <a:xfrm>
            <a:off x="548640" y="5669280"/>
            <a:ext cx="11109960" cy="777240"/>
          </a:xfrm>
          <a:prstGeom prst="roundRect">
            <a:avLst>
              <a:gd name="adj" fmla="val 9412"/>
            </a:avLst>
          </a:prstGeom>
          <a:solidFill>
            <a:srgbClr val="1E2761"/>
          </a:solidFill>
          <a:ln/>
        </p:spPr>
      </p:sp>
      <p:sp>
        <p:nvSpPr>
          <p:cNvPr id="34" name="Text 31"/>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Jetzt: </a:t>
            </a:r>
            <a:pPr indent="0" marL="0">
              <a:buNone/>
            </a:pPr>
            <a:r>
              <a:rPr lang="en-US" sz="2400" dirty="0">
                <a:solidFill>
                  <a:srgbClr val="FFFFFF"/>
                </a:solidFill>
                <a:latin typeface="Calibri" pitchFamily="34" charset="0"/>
                <a:ea typeface="Calibri" pitchFamily="34" charset="-122"/>
                <a:cs typeface="Calibri" pitchFamily="34" charset="-120"/>
              </a:rPr>
              <a:t>Vergleiche und verbessere mit Grün.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ÜBUNG 2</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Text und Zeitstrahl</a:t>
            </a:r>
            <a:endParaRPr lang="en-US" sz="3400" dirty="0"/>
          </a:p>
        </p:txBody>
      </p:sp>
      <p:sp>
        <p:nvSpPr>
          <p:cNvPr id="4" name="Shape 2"/>
          <p:cNvSpPr/>
          <p:nvPr/>
        </p:nvSpPr>
        <p:spPr>
          <a:xfrm>
            <a:off x="548640" y="1371600"/>
            <a:ext cx="11109960" cy="1737360"/>
          </a:xfrm>
          <a:prstGeom prst="roundRect">
            <a:avLst>
              <a:gd name="adj" fmla="val 4211"/>
            </a:avLst>
          </a:prstGeom>
          <a:solidFill>
            <a:srgbClr val="EAF0FA"/>
          </a:solidFill>
          <a:ln/>
        </p:spPr>
      </p:sp>
      <p:sp>
        <p:nvSpPr>
          <p:cNvPr id="5" name="Shape 3"/>
          <p:cNvSpPr/>
          <p:nvPr/>
        </p:nvSpPr>
        <p:spPr>
          <a:xfrm>
            <a:off x="731520" y="1517904"/>
            <a:ext cx="384048" cy="384048"/>
          </a:xfrm>
          <a:prstGeom prst="ellipse">
            <a:avLst/>
          </a:prstGeom>
          <a:solidFill>
            <a:srgbClr val="1E2761"/>
          </a:solidFill>
          <a:ln/>
        </p:spPr>
      </p:sp>
      <p:sp>
        <p:nvSpPr>
          <p:cNvPr id="6" name="Text 4"/>
          <p:cNvSpPr txBox="1"/>
          <p:nvPr/>
        </p:nvSpPr>
        <p:spPr>
          <a:xfrm>
            <a:off x="731520" y="15179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80160" y="1481328"/>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Lies den Text. Unterstreiche die Jahreszahlen.</a:t>
            </a:r>
            <a:endParaRPr lang="en-US" sz="2400" dirty="0"/>
          </a:p>
        </p:txBody>
      </p:sp>
      <p:sp>
        <p:nvSpPr>
          <p:cNvPr id="8" name="Shape 6"/>
          <p:cNvSpPr/>
          <p:nvPr/>
        </p:nvSpPr>
        <p:spPr>
          <a:xfrm>
            <a:off x="731520" y="2048256"/>
            <a:ext cx="384048" cy="384048"/>
          </a:xfrm>
          <a:prstGeom prst="ellipse">
            <a:avLst/>
          </a:prstGeom>
          <a:solidFill>
            <a:srgbClr val="1E2761"/>
          </a:solidFill>
          <a:ln/>
        </p:spPr>
      </p:sp>
      <p:sp>
        <p:nvSpPr>
          <p:cNvPr id="9" name="Text 7"/>
          <p:cNvSpPr txBox="1"/>
          <p:nvPr/>
        </p:nvSpPr>
        <p:spPr>
          <a:xfrm>
            <a:off x="731520" y="204825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80160" y="2011680"/>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zu jedem Datum das Ereignis in den Zeitstrahl.</a:t>
            </a:r>
            <a:endParaRPr lang="en-US" sz="2400" dirty="0"/>
          </a:p>
        </p:txBody>
      </p:sp>
      <p:sp>
        <p:nvSpPr>
          <p:cNvPr id="11" name="Shape 9"/>
          <p:cNvSpPr/>
          <p:nvPr/>
        </p:nvSpPr>
        <p:spPr>
          <a:xfrm>
            <a:off x="731520" y="2578608"/>
            <a:ext cx="384048" cy="384048"/>
          </a:xfrm>
          <a:prstGeom prst="ellipse">
            <a:avLst/>
          </a:prstGeom>
          <a:solidFill>
            <a:srgbClr val="1E2761"/>
          </a:solidFill>
          <a:ln/>
        </p:spPr>
      </p:sp>
      <p:sp>
        <p:nvSpPr>
          <p:cNvPr id="12" name="Text 10"/>
          <p:cNvSpPr txBox="1"/>
          <p:nvPr/>
        </p:nvSpPr>
        <p:spPr>
          <a:xfrm>
            <a:off x="731520" y="257860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542032"/>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Prüfe: Passt jedes Ereignis zum Datum?</a:t>
            </a:r>
            <a:endParaRPr lang="en-US" sz="2400" dirty="0"/>
          </a:p>
        </p:txBody>
      </p:sp>
      <p:sp>
        <p:nvSpPr>
          <p:cNvPr id="14" name="Shape 12"/>
          <p:cNvSpPr/>
          <p:nvPr/>
        </p:nvSpPr>
        <p:spPr>
          <a:xfrm>
            <a:off x="548640" y="5669280"/>
            <a:ext cx="11109960" cy="777240"/>
          </a:xfrm>
          <a:prstGeom prst="roundRect">
            <a:avLst>
              <a:gd name="adj" fmla="val 9412"/>
            </a:avLst>
          </a:prstGeom>
          <a:solidFill>
            <a:srgbClr val="1E2761"/>
          </a:solidFill>
          <a:ln/>
        </p:spPr>
      </p:sp>
      <p:sp>
        <p:nvSpPr>
          <p:cNvPr id="15"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6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 und noch einmal durchlesen.</a:t>
            </a:r>
            <a:endParaRPr lang="en-US" sz="2400" dirty="0"/>
          </a:p>
        </p:txBody>
      </p:sp>
      <p:sp>
        <p:nvSpPr>
          <p:cNvPr id="16"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7" name="Text 15"/>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19" name="Shape 16"/>
          <p:cNvSpPr/>
          <p:nvPr/>
        </p:nvSpPr>
        <p:spPr>
          <a:xfrm>
            <a:off x="9144000" y="274320"/>
            <a:ext cx="402336" cy="402336"/>
          </a:xfrm>
          <a:prstGeom prst="ellipse">
            <a:avLst/>
          </a:prstGeom>
          <a:solidFill>
            <a:srgbClr val="EAF0FA"/>
          </a:solidFill>
          <a:ln/>
        </p:spPr>
      </p:sp>
      <p:sp>
        <p:nvSpPr>
          <p:cNvPr id="20" name="Text 17"/>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21" name="Shape 18"/>
          <p:cNvSpPr/>
          <p:nvPr/>
        </p:nvSpPr>
        <p:spPr>
          <a:xfrm>
            <a:off x="9646920" y="274320"/>
            <a:ext cx="402336" cy="402336"/>
          </a:xfrm>
          <a:prstGeom prst="ellipse">
            <a:avLst/>
          </a:prstGeom>
          <a:solidFill>
            <a:srgbClr val="EAF0FA"/>
          </a:solidFill>
          <a:ln/>
        </p:spPr>
      </p:sp>
      <p:sp>
        <p:nvSpPr>
          <p:cNvPr id="22" name="Text 19"/>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0149840" y="274320"/>
            <a:ext cx="402336" cy="402336"/>
          </a:xfrm>
          <a:prstGeom prst="ellipse">
            <a:avLst/>
          </a:prstGeom>
          <a:solidFill>
            <a:srgbClr val="D9534F"/>
          </a:solidFill>
          <a:ln/>
        </p:spPr>
      </p:sp>
      <p:sp>
        <p:nvSpPr>
          <p:cNvPr id="24" name="Text 21"/>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5" name="Shape 22"/>
          <p:cNvSpPr/>
          <p:nvPr/>
        </p:nvSpPr>
        <p:spPr>
          <a:xfrm>
            <a:off x="10652760" y="274320"/>
            <a:ext cx="402336" cy="402336"/>
          </a:xfrm>
          <a:prstGeom prst="ellipse">
            <a:avLst/>
          </a:prstGeom>
          <a:solidFill>
            <a:srgbClr val="EAF0FA"/>
          </a:solidFill>
          <a:ln/>
        </p:spPr>
      </p:sp>
      <p:sp>
        <p:nvSpPr>
          <p:cNvPr id="26" name="Text 23"/>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7" name="Shape 24"/>
          <p:cNvSpPr/>
          <p:nvPr/>
        </p:nvSpPr>
        <p:spPr>
          <a:xfrm>
            <a:off x="11155680" y="274320"/>
            <a:ext cx="402336" cy="402336"/>
          </a:xfrm>
          <a:prstGeom prst="ellipse">
            <a:avLst/>
          </a:prstGeom>
          <a:solidFill>
            <a:srgbClr val="EAF0FA"/>
          </a:solidFill>
          <a:ln/>
        </p:spPr>
      </p:sp>
      <p:sp>
        <p:nvSpPr>
          <p:cNvPr id="28" name="Text 25"/>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KONTROLLE</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D9534F"/>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Der Weg zu den Generalständen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
        <p:nvSpPr>
          <p:cNvPr id="17" name="Shape 14"/>
          <p:cNvSpPr/>
          <p:nvPr/>
        </p:nvSpPr>
        <p:spPr>
          <a:xfrm>
            <a:off x="640080" y="3401568"/>
            <a:ext cx="10698480" cy="91440"/>
          </a:xfrm>
          <a:prstGeom prst="rect">
            <a:avLst/>
          </a:prstGeom>
          <a:solidFill>
            <a:srgbClr val="1E2761"/>
          </a:solidFill>
          <a:ln/>
        </p:spPr>
      </p:sp>
      <p:sp>
        <p:nvSpPr>
          <p:cNvPr id="18" name="Text 15"/>
          <p:cNvSpPr txBox="1"/>
          <p:nvPr/>
        </p:nvSpPr>
        <p:spPr>
          <a:xfrm>
            <a:off x="11338560" y="3200400"/>
            <a:ext cx="457200" cy="457200"/>
          </a:xfrm>
          <a:prstGeom prst="rect">
            <a:avLst/>
          </a:prstGeom>
          <a:noFill/>
          <a:ln/>
        </p:spPr>
        <p:txBody>
          <a:bodyPr wrap="square" lIns="0" tIns="0" rIns="0" bIns="0" rtlCol="0" anchor="ctr"/>
          <a:lstStyle/>
          <a:p>
            <a:pPr algn="ctr" indent="0" marL="0">
              <a:buNone/>
            </a:pPr>
            <a:r>
              <a:rPr lang="en-US" sz="2400" dirty="0">
                <a:solidFill>
                  <a:srgbClr val="1E2761"/>
                </a:solidFill>
                <a:latin typeface="Calibri" pitchFamily="34" charset="0"/>
                <a:ea typeface="Calibri" pitchFamily="34" charset="-122"/>
                <a:cs typeface="Calibri" pitchFamily="34" charset="-120"/>
              </a:rPr>
              <a:t>▶</a:t>
            </a:r>
            <a:endParaRPr lang="en-US" sz="2400" dirty="0"/>
          </a:p>
        </p:txBody>
      </p:sp>
      <p:sp>
        <p:nvSpPr>
          <p:cNvPr id="19" name="Shape 16"/>
          <p:cNvSpPr/>
          <p:nvPr/>
        </p:nvSpPr>
        <p:spPr>
          <a:xfrm>
            <a:off x="1536192" y="3291840"/>
            <a:ext cx="310896" cy="310896"/>
          </a:xfrm>
          <a:prstGeom prst="ellipse">
            <a:avLst/>
          </a:prstGeom>
          <a:solidFill>
            <a:srgbClr val="1E2761"/>
          </a:solidFill>
          <a:ln w="25400">
            <a:solidFill>
              <a:srgbClr val="FFFFFF"/>
            </a:solidFill>
            <a:prstDash val="solid"/>
          </a:ln>
        </p:spPr>
      </p:sp>
      <p:sp>
        <p:nvSpPr>
          <p:cNvPr id="20" name="Shape 17"/>
          <p:cNvSpPr/>
          <p:nvPr/>
        </p:nvSpPr>
        <p:spPr>
          <a:xfrm>
            <a:off x="1691640" y="2743200"/>
            <a:ext cx="0" cy="548640"/>
          </a:xfrm>
          <a:prstGeom prst="line">
            <a:avLst/>
          </a:prstGeom>
          <a:noFill/>
          <a:ln w="19050">
            <a:solidFill>
              <a:srgbClr val="5B6B8C"/>
            </a:solidFill>
            <a:prstDash val="solid"/>
          </a:ln>
        </p:spPr>
      </p:sp>
      <p:sp>
        <p:nvSpPr>
          <p:cNvPr id="21" name="Shape 18"/>
          <p:cNvSpPr/>
          <p:nvPr/>
        </p:nvSpPr>
        <p:spPr>
          <a:xfrm>
            <a:off x="274320" y="1371600"/>
            <a:ext cx="2834640" cy="1325880"/>
          </a:xfrm>
          <a:prstGeom prst="roundRect">
            <a:avLst>
              <a:gd name="adj" fmla="val 5517"/>
            </a:avLst>
          </a:prstGeom>
          <a:solidFill>
            <a:srgbClr val="EAF0FA"/>
          </a:solidFill>
          <a:ln/>
        </p:spPr>
      </p:sp>
      <p:sp>
        <p:nvSpPr>
          <p:cNvPr id="22" name="Text 19"/>
          <p:cNvSpPr txBox="1"/>
          <p:nvPr/>
        </p:nvSpPr>
        <p:spPr>
          <a:xfrm>
            <a:off x="32004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1614</a:t>
            </a:r>
            <a:endParaRPr lang="en-US" sz="2400" dirty="0"/>
          </a:p>
        </p:txBody>
      </p:sp>
      <p:sp>
        <p:nvSpPr>
          <p:cNvPr id="23" name="Text 20"/>
          <p:cNvSpPr txBox="1"/>
          <p:nvPr/>
        </p:nvSpPr>
        <p:spPr>
          <a:xfrm>
            <a:off x="32004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Letzte Generalstände</a:t>
            </a:r>
            <a:endParaRPr lang="en-US" sz="2400" dirty="0"/>
          </a:p>
        </p:txBody>
      </p:sp>
      <p:sp>
        <p:nvSpPr>
          <p:cNvPr id="24" name="Shape 21"/>
          <p:cNvSpPr/>
          <p:nvPr/>
        </p:nvSpPr>
        <p:spPr>
          <a:xfrm>
            <a:off x="2999232" y="3291840"/>
            <a:ext cx="310896" cy="310896"/>
          </a:xfrm>
          <a:prstGeom prst="ellipse">
            <a:avLst/>
          </a:prstGeom>
          <a:solidFill>
            <a:srgbClr val="1E2761"/>
          </a:solidFill>
          <a:ln w="25400">
            <a:solidFill>
              <a:srgbClr val="FFFFFF"/>
            </a:solidFill>
            <a:prstDash val="solid"/>
          </a:ln>
        </p:spPr>
      </p:sp>
      <p:sp>
        <p:nvSpPr>
          <p:cNvPr id="25" name="Shape 22"/>
          <p:cNvSpPr/>
          <p:nvPr/>
        </p:nvSpPr>
        <p:spPr>
          <a:xfrm>
            <a:off x="3154680" y="3611880"/>
            <a:ext cx="0" cy="548640"/>
          </a:xfrm>
          <a:prstGeom prst="line">
            <a:avLst/>
          </a:prstGeom>
          <a:noFill/>
          <a:ln w="19050">
            <a:solidFill>
              <a:srgbClr val="5B6B8C"/>
            </a:solidFill>
            <a:prstDash val="solid"/>
          </a:ln>
        </p:spPr>
      </p:sp>
      <p:sp>
        <p:nvSpPr>
          <p:cNvPr id="26" name="Shape 23"/>
          <p:cNvSpPr/>
          <p:nvPr/>
        </p:nvSpPr>
        <p:spPr>
          <a:xfrm>
            <a:off x="1737360" y="4160520"/>
            <a:ext cx="2834640" cy="1325880"/>
          </a:xfrm>
          <a:prstGeom prst="roundRect">
            <a:avLst>
              <a:gd name="adj" fmla="val 5517"/>
            </a:avLst>
          </a:prstGeom>
          <a:solidFill>
            <a:srgbClr val="F4F7FD"/>
          </a:solidFill>
          <a:ln/>
        </p:spPr>
      </p:sp>
      <p:sp>
        <p:nvSpPr>
          <p:cNvPr id="27" name="Text 24"/>
          <p:cNvSpPr txBox="1"/>
          <p:nvPr/>
        </p:nvSpPr>
        <p:spPr>
          <a:xfrm>
            <a:off x="1783080" y="423367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1778–1783</a:t>
            </a:r>
            <a:endParaRPr lang="en-US" sz="2400" dirty="0"/>
          </a:p>
        </p:txBody>
      </p:sp>
      <p:sp>
        <p:nvSpPr>
          <p:cNvPr id="28" name="Text 25"/>
          <p:cNvSpPr txBox="1"/>
          <p:nvPr/>
        </p:nvSpPr>
        <p:spPr>
          <a:xfrm>
            <a:off x="1783080" y="470916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Krieg in Amerika, Schulden</a:t>
            </a:r>
            <a:endParaRPr lang="en-US" sz="2400" dirty="0"/>
          </a:p>
        </p:txBody>
      </p:sp>
      <p:sp>
        <p:nvSpPr>
          <p:cNvPr id="29" name="Shape 26"/>
          <p:cNvSpPr/>
          <p:nvPr/>
        </p:nvSpPr>
        <p:spPr>
          <a:xfrm>
            <a:off x="4462272" y="3291840"/>
            <a:ext cx="310896" cy="310896"/>
          </a:xfrm>
          <a:prstGeom prst="ellipse">
            <a:avLst/>
          </a:prstGeom>
          <a:solidFill>
            <a:srgbClr val="1E2761"/>
          </a:solidFill>
          <a:ln w="25400">
            <a:solidFill>
              <a:srgbClr val="FFFFFF"/>
            </a:solidFill>
            <a:prstDash val="solid"/>
          </a:ln>
        </p:spPr>
      </p:sp>
      <p:sp>
        <p:nvSpPr>
          <p:cNvPr id="30" name="Shape 27"/>
          <p:cNvSpPr/>
          <p:nvPr/>
        </p:nvSpPr>
        <p:spPr>
          <a:xfrm>
            <a:off x="4617720" y="2743200"/>
            <a:ext cx="0" cy="548640"/>
          </a:xfrm>
          <a:prstGeom prst="line">
            <a:avLst/>
          </a:prstGeom>
          <a:noFill/>
          <a:ln w="19050">
            <a:solidFill>
              <a:srgbClr val="5B6B8C"/>
            </a:solidFill>
            <a:prstDash val="solid"/>
          </a:ln>
        </p:spPr>
      </p:sp>
      <p:sp>
        <p:nvSpPr>
          <p:cNvPr id="31" name="Shape 28"/>
          <p:cNvSpPr/>
          <p:nvPr/>
        </p:nvSpPr>
        <p:spPr>
          <a:xfrm>
            <a:off x="3200400" y="1371600"/>
            <a:ext cx="2834640" cy="1325880"/>
          </a:xfrm>
          <a:prstGeom prst="roundRect">
            <a:avLst>
              <a:gd name="adj" fmla="val 5517"/>
            </a:avLst>
          </a:prstGeom>
          <a:solidFill>
            <a:srgbClr val="EAF0FA"/>
          </a:solidFill>
          <a:ln/>
        </p:spPr>
      </p:sp>
      <p:sp>
        <p:nvSpPr>
          <p:cNvPr id="32" name="Text 29"/>
          <p:cNvSpPr txBox="1"/>
          <p:nvPr/>
        </p:nvSpPr>
        <p:spPr>
          <a:xfrm>
            <a:off x="324612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1787</a:t>
            </a:r>
            <a:endParaRPr lang="en-US" sz="2400" dirty="0"/>
          </a:p>
        </p:txBody>
      </p:sp>
      <p:sp>
        <p:nvSpPr>
          <p:cNvPr id="33" name="Text 30"/>
          <p:cNvSpPr txBox="1"/>
          <p:nvPr/>
        </p:nvSpPr>
        <p:spPr>
          <a:xfrm>
            <a:off x="324612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Steuerplan scheitert</a:t>
            </a:r>
            <a:endParaRPr lang="en-US" sz="2400" dirty="0"/>
          </a:p>
        </p:txBody>
      </p:sp>
      <p:sp>
        <p:nvSpPr>
          <p:cNvPr id="34" name="Shape 31"/>
          <p:cNvSpPr/>
          <p:nvPr/>
        </p:nvSpPr>
        <p:spPr>
          <a:xfrm>
            <a:off x="5925312" y="3291840"/>
            <a:ext cx="310896" cy="310896"/>
          </a:xfrm>
          <a:prstGeom prst="ellipse">
            <a:avLst/>
          </a:prstGeom>
          <a:solidFill>
            <a:srgbClr val="1E2761"/>
          </a:solidFill>
          <a:ln w="25400">
            <a:solidFill>
              <a:srgbClr val="FFFFFF"/>
            </a:solidFill>
            <a:prstDash val="solid"/>
          </a:ln>
        </p:spPr>
      </p:sp>
      <p:sp>
        <p:nvSpPr>
          <p:cNvPr id="35" name="Shape 32"/>
          <p:cNvSpPr/>
          <p:nvPr/>
        </p:nvSpPr>
        <p:spPr>
          <a:xfrm>
            <a:off x="6080760" y="3611880"/>
            <a:ext cx="0" cy="548640"/>
          </a:xfrm>
          <a:prstGeom prst="line">
            <a:avLst/>
          </a:prstGeom>
          <a:noFill/>
          <a:ln w="19050">
            <a:solidFill>
              <a:srgbClr val="5B6B8C"/>
            </a:solidFill>
            <a:prstDash val="solid"/>
          </a:ln>
        </p:spPr>
      </p:sp>
      <p:sp>
        <p:nvSpPr>
          <p:cNvPr id="36" name="Shape 33"/>
          <p:cNvSpPr/>
          <p:nvPr/>
        </p:nvSpPr>
        <p:spPr>
          <a:xfrm>
            <a:off x="4663440" y="4160520"/>
            <a:ext cx="2834640" cy="1325880"/>
          </a:xfrm>
          <a:prstGeom prst="roundRect">
            <a:avLst>
              <a:gd name="adj" fmla="val 5517"/>
            </a:avLst>
          </a:prstGeom>
          <a:solidFill>
            <a:srgbClr val="F4F7FD"/>
          </a:solidFill>
          <a:ln/>
        </p:spPr>
      </p:sp>
      <p:sp>
        <p:nvSpPr>
          <p:cNvPr id="37" name="Text 34"/>
          <p:cNvSpPr txBox="1"/>
          <p:nvPr/>
        </p:nvSpPr>
        <p:spPr>
          <a:xfrm>
            <a:off x="4709160" y="423367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1788</a:t>
            </a:r>
            <a:endParaRPr lang="en-US" sz="2400" dirty="0"/>
          </a:p>
        </p:txBody>
      </p:sp>
      <p:sp>
        <p:nvSpPr>
          <p:cNvPr id="38" name="Text 35"/>
          <p:cNvSpPr txBox="1"/>
          <p:nvPr/>
        </p:nvSpPr>
        <p:spPr>
          <a:xfrm>
            <a:off x="4709160" y="470916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Missernte, Brotpreis</a:t>
            </a:r>
            <a:endParaRPr lang="en-US" sz="2400" dirty="0"/>
          </a:p>
        </p:txBody>
      </p:sp>
      <p:sp>
        <p:nvSpPr>
          <p:cNvPr id="39" name="Shape 36"/>
          <p:cNvSpPr/>
          <p:nvPr/>
        </p:nvSpPr>
        <p:spPr>
          <a:xfrm>
            <a:off x="7388352" y="3291840"/>
            <a:ext cx="310896" cy="310896"/>
          </a:xfrm>
          <a:prstGeom prst="ellipse">
            <a:avLst/>
          </a:prstGeom>
          <a:solidFill>
            <a:srgbClr val="1E2761"/>
          </a:solidFill>
          <a:ln w="25400">
            <a:solidFill>
              <a:srgbClr val="FFFFFF"/>
            </a:solidFill>
            <a:prstDash val="solid"/>
          </a:ln>
        </p:spPr>
      </p:sp>
      <p:sp>
        <p:nvSpPr>
          <p:cNvPr id="40" name="Shape 37"/>
          <p:cNvSpPr/>
          <p:nvPr/>
        </p:nvSpPr>
        <p:spPr>
          <a:xfrm>
            <a:off x="7543800" y="2743200"/>
            <a:ext cx="0" cy="548640"/>
          </a:xfrm>
          <a:prstGeom prst="line">
            <a:avLst/>
          </a:prstGeom>
          <a:noFill/>
          <a:ln w="19050">
            <a:solidFill>
              <a:srgbClr val="5B6B8C"/>
            </a:solidFill>
            <a:prstDash val="solid"/>
          </a:ln>
        </p:spPr>
      </p:sp>
      <p:sp>
        <p:nvSpPr>
          <p:cNvPr id="41" name="Shape 38"/>
          <p:cNvSpPr/>
          <p:nvPr/>
        </p:nvSpPr>
        <p:spPr>
          <a:xfrm>
            <a:off x="6126480" y="1371600"/>
            <a:ext cx="2834640" cy="1325880"/>
          </a:xfrm>
          <a:prstGeom prst="roundRect">
            <a:avLst>
              <a:gd name="adj" fmla="val 5517"/>
            </a:avLst>
          </a:prstGeom>
          <a:solidFill>
            <a:srgbClr val="EAF0FA"/>
          </a:solidFill>
          <a:ln/>
        </p:spPr>
      </p:sp>
      <p:sp>
        <p:nvSpPr>
          <p:cNvPr id="42" name="Text 39"/>
          <p:cNvSpPr txBox="1"/>
          <p:nvPr/>
        </p:nvSpPr>
        <p:spPr>
          <a:xfrm>
            <a:off x="617220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August 1788</a:t>
            </a:r>
            <a:endParaRPr lang="en-US" sz="2400" dirty="0"/>
          </a:p>
        </p:txBody>
      </p:sp>
      <p:sp>
        <p:nvSpPr>
          <p:cNvPr id="43" name="Text 40"/>
          <p:cNvSpPr txBox="1"/>
          <p:nvPr/>
        </p:nvSpPr>
        <p:spPr>
          <a:xfrm>
            <a:off x="617220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König kündigt an</a:t>
            </a:r>
            <a:endParaRPr lang="en-US" sz="2400" dirty="0"/>
          </a:p>
        </p:txBody>
      </p:sp>
      <p:sp>
        <p:nvSpPr>
          <p:cNvPr id="44" name="Shape 41"/>
          <p:cNvSpPr/>
          <p:nvPr/>
        </p:nvSpPr>
        <p:spPr>
          <a:xfrm>
            <a:off x="8851392" y="3291840"/>
            <a:ext cx="310896" cy="310896"/>
          </a:xfrm>
          <a:prstGeom prst="ellipse">
            <a:avLst/>
          </a:prstGeom>
          <a:solidFill>
            <a:srgbClr val="1E2761"/>
          </a:solidFill>
          <a:ln w="25400">
            <a:solidFill>
              <a:srgbClr val="FFFFFF"/>
            </a:solidFill>
            <a:prstDash val="solid"/>
          </a:ln>
        </p:spPr>
      </p:sp>
      <p:sp>
        <p:nvSpPr>
          <p:cNvPr id="45" name="Shape 42"/>
          <p:cNvSpPr/>
          <p:nvPr/>
        </p:nvSpPr>
        <p:spPr>
          <a:xfrm>
            <a:off x="9006840" y="3611880"/>
            <a:ext cx="0" cy="548640"/>
          </a:xfrm>
          <a:prstGeom prst="line">
            <a:avLst/>
          </a:prstGeom>
          <a:noFill/>
          <a:ln w="19050">
            <a:solidFill>
              <a:srgbClr val="5B6B8C"/>
            </a:solidFill>
            <a:prstDash val="solid"/>
          </a:ln>
        </p:spPr>
      </p:sp>
      <p:sp>
        <p:nvSpPr>
          <p:cNvPr id="46" name="Shape 43"/>
          <p:cNvSpPr/>
          <p:nvPr/>
        </p:nvSpPr>
        <p:spPr>
          <a:xfrm>
            <a:off x="7589520" y="4160520"/>
            <a:ext cx="2834640" cy="1325880"/>
          </a:xfrm>
          <a:prstGeom prst="roundRect">
            <a:avLst>
              <a:gd name="adj" fmla="val 5517"/>
            </a:avLst>
          </a:prstGeom>
          <a:solidFill>
            <a:srgbClr val="F4F7FD"/>
          </a:solidFill>
          <a:ln/>
        </p:spPr>
      </p:sp>
      <p:sp>
        <p:nvSpPr>
          <p:cNvPr id="47" name="Text 44"/>
          <p:cNvSpPr txBox="1"/>
          <p:nvPr/>
        </p:nvSpPr>
        <p:spPr>
          <a:xfrm>
            <a:off x="7635240" y="423367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Frühjahr 1789</a:t>
            </a:r>
            <a:endParaRPr lang="en-US" sz="2400" dirty="0"/>
          </a:p>
        </p:txBody>
      </p:sp>
      <p:sp>
        <p:nvSpPr>
          <p:cNvPr id="48" name="Text 45"/>
          <p:cNvSpPr txBox="1"/>
          <p:nvPr/>
        </p:nvSpPr>
        <p:spPr>
          <a:xfrm>
            <a:off x="7635240" y="470916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Wahlen, Beschwerdehefte</a:t>
            </a:r>
            <a:endParaRPr lang="en-US" sz="2400" dirty="0"/>
          </a:p>
        </p:txBody>
      </p:sp>
      <p:sp>
        <p:nvSpPr>
          <p:cNvPr id="49" name="Shape 46"/>
          <p:cNvSpPr/>
          <p:nvPr/>
        </p:nvSpPr>
        <p:spPr>
          <a:xfrm>
            <a:off x="10314432" y="3291840"/>
            <a:ext cx="310896" cy="310896"/>
          </a:xfrm>
          <a:prstGeom prst="ellipse">
            <a:avLst/>
          </a:prstGeom>
          <a:solidFill>
            <a:srgbClr val="D9534F"/>
          </a:solidFill>
          <a:ln w="25400">
            <a:solidFill>
              <a:srgbClr val="FFFFFF"/>
            </a:solidFill>
            <a:prstDash val="solid"/>
          </a:ln>
        </p:spPr>
      </p:sp>
      <p:sp>
        <p:nvSpPr>
          <p:cNvPr id="50" name="Shape 47"/>
          <p:cNvSpPr/>
          <p:nvPr/>
        </p:nvSpPr>
        <p:spPr>
          <a:xfrm>
            <a:off x="10469880" y="2743200"/>
            <a:ext cx="0" cy="548640"/>
          </a:xfrm>
          <a:prstGeom prst="line">
            <a:avLst/>
          </a:prstGeom>
          <a:noFill/>
          <a:ln w="19050">
            <a:solidFill>
              <a:srgbClr val="5B6B8C"/>
            </a:solidFill>
            <a:prstDash val="solid"/>
          </a:ln>
        </p:spPr>
      </p:sp>
      <p:sp>
        <p:nvSpPr>
          <p:cNvPr id="51" name="Shape 48"/>
          <p:cNvSpPr/>
          <p:nvPr/>
        </p:nvSpPr>
        <p:spPr>
          <a:xfrm>
            <a:off x="9052560" y="1371600"/>
            <a:ext cx="2834640" cy="1325880"/>
          </a:xfrm>
          <a:prstGeom prst="roundRect">
            <a:avLst>
              <a:gd name="adj" fmla="val 5517"/>
            </a:avLst>
          </a:prstGeom>
          <a:solidFill>
            <a:srgbClr val="EAF0FA"/>
          </a:solidFill>
          <a:ln/>
        </p:spPr>
      </p:sp>
      <p:sp>
        <p:nvSpPr>
          <p:cNvPr id="52" name="Text 49"/>
          <p:cNvSpPr txBox="1"/>
          <p:nvPr/>
        </p:nvSpPr>
        <p:spPr>
          <a:xfrm>
            <a:off x="909828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5. Mai 1789</a:t>
            </a:r>
            <a:endParaRPr lang="en-US" sz="2400" dirty="0"/>
          </a:p>
        </p:txBody>
      </p:sp>
      <p:sp>
        <p:nvSpPr>
          <p:cNvPr id="53" name="Text 50"/>
          <p:cNvSpPr txBox="1"/>
          <p:nvPr/>
        </p:nvSpPr>
        <p:spPr>
          <a:xfrm>
            <a:off x="909828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Eröffnung in Versailles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STÄNDEVERSAMMLUNG</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Der Antrag</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
        <p:nvSpPr>
          <p:cNvPr id="17" name="Shape 14"/>
          <p:cNvSpPr/>
          <p:nvPr/>
        </p:nvSpPr>
        <p:spPr>
          <a:xfrm>
            <a:off x="548640" y="1508760"/>
            <a:ext cx="11109960" cy="1554480"/>
          </a:xfrm>
          <a:prstGeom prst="roundRect">
            <a:avLst>
              <a:gd name="adj" fmla="val 4706"/>
            </a:avLst>
          </a:prstGeom>
          <a:solidFill>
            <a:srgbClr val="FFFFFF"/>
          </a:solidFill>
          <a:ln w="38100">
            <a:solidFill>
              <a:srgbClr val="D9534F"/>
            </a:solidFill>
            <a:prstDash val="solid"/>
          </a:ln>
        </p:spPr>
      </p:sp>
      <p:sp>
        <p:nvSpPr>
          <p:cNvPr id="18" name="Text 15"/>
          <p:cNvSpPr txBox="1"/>
          <p:nvPr/>
        </p:nvSpPr>
        <p:spPr>
          <a:xfrm>
            <a:off x="868680" y="1554480"/>
            <a:ext cx="10469880" cy="14630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Antrag: Auch Adel und Klerus zahlen künftig Steuern.</a:t>
            </a:r>
            <a:endParaRPr lang="en-US" sz="3200" dirty="0"/>
          </a:p>
        </p:txBody>
      </p:sp>
      <p:sp>
        <p:nvSpPr>
          <p:cNvPr id="19" name="Shape 16"/>
          <p:cNvSpPr/>
          <p:nvPr/>
        </p:nvSpPr>
        <p:spPr>
          <a:xfrm>
            <a:off x="548640" y="3291840"/>
            <a:ext cx="3611880" cy="1371600"/>
          </a:xfrm>
          <a:prstGeom prst="roundRect">
            <a:avLst>
              <a:gd name="adj" fmla="val 5333"/>
            </a:avLst>
          </a:prstGeom>
          <a:solidFill>
            <a:srgbClr val="F4F7FD"/>
          </a:solidFill>
          <a:ln/>
        </p:spPr>
      </p:sp>
      <p:sp>
        <p:nvSpPr>
          <p:cNvPr id="20" name="Shape 17"/>
          <p:cNvSpPr/>
          <p:nvPr/>
        </p:nvSpPr>
        <p:spPr>
          <a:xfrm>
            <a:off x="548640" y="3291840"/>
            <a:ext cx="128016" cy="1371600"/>
          </a:xfrm>
          <a:prstGeom prst="rect">
            <a:avLst/>
          </a:prstGeom>
          <a:solidFill>
            <a:srgbClr val="8E6BBE"/>
          </a:solidFill>
          <a:ln/>
        </p:spPr>
      </p:sp>
      <p:sp>
        <p:nvSpPr>
          <p:cNvPr id="21" name="Text 18"/>
          <p:cNvSpPr txBox="1"/>
          <p:nvPr/>
        </p:nvSpPr>
        <p:spPr>
          <a:xfrm>
            <a:off x="822960" y="3364992"/>
            <a:ext cx="3200400" cy="6858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Klerus</a:t>
            </a:r>
            <a:endParaRPr lang="en-US" sz="2400" dirty="0"/>
          </a:p>
        </p:txBody>
      </p:sp>
      <p:sp>
        <p:nvSpPr>
          <p:cNvPr id="22" name="Text 19"/>
          <p:cNvSpPr txBox="1"/>
          <p:nvPr/>
        </p:nvSpPr>
        <p:spPr>
          <a:xfrm>
            <a:off x="822960" y="4069080"/>
            <a:ext cx="3200400" cy="54864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3 Personen · 1 Stimme</a:t>
            </a:r>
            <a:endParaRPr lang="en-US" sz="2400" dirty="0"/>
          </a:p>
        </p:txBody>
      </p:sp>
      <p:sp>
        <p:nvSpPr>
          <p:cNvPr id="23" name="Shape 20"/>
          <p:cNvSpPr/>
          <p:nvPr/>
        </p:nvSpPr>
        <p:spPr>
          <a:xfrm>
            <a:off x="4297680" y="3291840"/>
            <a:ext cx="3611880" cy="1371600"/>
          </a:xfrm>
          <a:prstGeom prst="roundRect">
            <a:avLst>
              <a:gd name="adj" fmla="val 5333"/>
            </a:avLst>
          </a:prstGeom>
          <a:solidFill>
            <a:srgbClr val="F4F7FD"/>
          </a:solidFill>
          <a:ln/>
        </p:spPr>
      </p:sp>
      <p:sp>
        <p:nvSpPr>
          <p:cNvPr id="24" name="Shape 21"/>
          <p:cNvSpPr/>
          <p:nvPr/>
        </p:nvSpPr>
        <p:spPr>
          <a:xfrm>
            <a:off x="4297680" y="3291840"/>
            <a:ext cx="128016" cy="1371600"/>
          </a:xfrm>
          <a:prstGeom prst="rect">
            <a:avLst/>
          </a:prstGeom>
          <a:solidFill>
            <a:srgbClr val="E8A33D"/>
          </a:solidFill>
          <a:ln/>
        </p:spPr>
      </p:sp>
      <p:sp>
        <p:nvSpPr>
          <p:cNvPr id="25" name="Text 22"/>
          <p:cNvSpPr txBox="1"/>
          <p:nvPr/>
        </p:nvSpPr>
        <p:spPr>
          <a:xfrm>
            <a:off x="4572000" y="3364992"/>
            <a:ext cx="3200400" cy="6858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Adel</a:t>
            </a:r>
            <a:endParaRPr lang="en-US" sz="2400" dirty="0"/>
          </a:p>
        </p:txBody>
      </p:sp>
      <p:sp>
        <p:nvSpPr>
          <p:cNvPr id="26" name="Text 23"/>
          <p:cNvSpPr txBox="1"/>
          <p:nvPr/>
        </p:nvSpPr>
        <p:spPr>
          <a:xfrm>
            <a:off x="4572000" y="4069080"/>
            <a:ext cx="3200400" cy="54864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4 Personen · 1 Stimme</a:t>
            </a:r>
            <a:endParaRPr lang="en-US" sz="2400" dirty="0"/>
          </a:p>
        </p:txBody>
      </p:sp>
      <p:sp>
        <p:nvSpPr>
          <p:cNvPr id="27" name="Shape 24"/>
          <p:cNvSpPr/>
          <p:nvPr/>
        </p:nvSpPr>
        <p:spPr>
          <a:xfrm>
            <a:off x="8046720" y="3291840"/>
            <a:ext cx="3611880" cy="1371600"/>
          </a:xfrm>
          <a:prstGeom prst="roundRect">
            <a:avLst>
              <a:gd name="adj" fmla="val 5333"/>
            </a:avLst>
          </a:prstGeom>
          <a:solidFill>
            <a:srgbClr val="F4F7FD"/>
          </a:solidFill>
          <a:ln/>
        </p:spPr>
      </p:sp>
      <p:sp>
        <p:nvSpPr>
          <p:cNvPr id="28" name="Shape 25"/>
          <p:cNvSpPr/>
          <p:nvPr/>
        </p:nvSpPr>
        <p:spPr>
          <a:xfrm>
            <a:off x="8046720" y="3291840"/>
            <a:ext cx="128016" cy="1371600"/>
          </a:xfrm>
          <a:prstGeom prst="rect">
            <a:avLst/>
          </a:prstGeom>
          <a:solidFill>
            <a:srgbClr val="3F7CC4"/>
          </a:solidFill>
          <a:ln/>
        </p:spPr>
      </p:sp>
      <p:sp>
        <p:nvSpPr>
          <p:cNvPr id="29" name="Text 26"/>
          <p:cNvSpPr txBox="1"/>
          <p:nvPr/>
        </p:nvSpPr>
        <p:spPr>
          <a:xfrm>
            <a:off x="8321040" y="3364992"/>
            <a:ext cx="3200400" cy="6858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Dritter Stand (Bauern und Bürger)</a:t>
            </a:r>
            <a:endParaRPr lang="en-US" sz="2400" dirty="0"/>
          </a:p>
        </p:txBody>
      </p:sp>
      <p:sp>
        <p:nvSpPr>
          <p:cNvPr id="30" name="Text 27"/>
          <p:cNvSpPr txBox="1"/>
          <p:nvPr/>
        </p:nvSpPr>
        <p:spPr>
          <a:xfrm>
            <a:off x="8321040" y="4069080"/>
            <a:ext cx="3200400" cy="54864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18 Personen · 1 Stimme</a:t>
            </a:r>
            <a:endParaRPr lang="en-US" sz="2400" dirty="0"/>
          </a:p>
        </p:txBody>
      </p:sp>
      <p:sp>
        <p:nvSpPr>
          <p:cNvPr id="31" name="Shape 28"/>
          <p:cNvSpPr/>
          <p:nvPr/>
        </p:nvSpPr>
        <p:spPr>
          <a:xfrm>
            <a:off x="548640" y="5669280"/>
            <a:ext cx="11109960" cy="777240"/>
          </a:xfrm>
          <a:prstGeom prst="roundRect">
            <a:avLst>
              <a:gd name="adj" fmla="val 9412"/>
            </a:avLst>
          </a:prstGeom>
          <a:solidFill>
            <a:srgbClr val="1E2761"/>
          </a:solidFill>
          <a:ln/>
        </p:spPr>
      </p:sp>
      <p:sp>
        <p:nvSpPr>
          <p:cNvPr id="32" name="Text 2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Regel: </a:t>
            </a:r>
            <a:pPr indent="0" marL="0">
              <a:buNone/>
            </a:pPr>
            <a:r>
              <a:rPr lang="en-US" sz="2400" dirty="0">
                <a:solidFill>
                  <a:srgbClr val="FFFFFF"/>
                </a:solidFill>
                <a:latin typeface="Calibri" pitchFamily="34" charset="0"/>
                <a:ea typeface="Calibri" pitchFamily="34" charset="-122"/>
                <a:cs typeface="Calibri" pitchFamily="34" charset="-120"/>
              </a:rPr>
              <a:t>Jeder Stand hat eine Stimme (Abstimmung nach Ständen).</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BERATUNG</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Eure Aufträge (4 Minuten)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
        <p:nvSpPr>
          <p:cNvPr id="17" name="Shape 14"/>
          <p:cNvSpPr/>
          <p:nvPr/>
        </p:nvSpPr>
        <p:spPr>
          <a:xfrm>
            <a:off x="548640" y="1508760"/>
            <a:ext cx="5440680" cy="3977640"/>
          </a:xfrm>
          <a:prstGeom prst="roundRect">
            <a:avLst>
              <a:gd name="adj" fmla="val 1839"/>
            </a:avLst>
          </a:prstGeom>
          <a:solidFill>
            <a:srgbClr val="EAF0FA"/>
          </a:solidFill>
          <a:ln/>
        </p:spPr>
      </p:sp>
      <p:sp>
        <p:nvSpPr>
          <p:cNvPr id="18" name="Shape 15"/>
          <p:cNvSpPr/>
          <p:nvPr/>
        </p:nvSpPr>
        <p:spPr>
          <a:xfrm>
            <a:off x="548640" y="1508760"/>
            <a:ext cx="128016" cy="3977640"/>
          </a:xfrm>
          <a:prstGeom prst="rect">
            <a:avLst/>
          </a:prstGeom>
          <a:solidFill>
            <a:srgbClr val="E8A33D"/>
          </a:solidFill>
          <a:ln/>
        </p:spPr>
      </p:sp>
      <p:sp>
        <p:nvSpPr>
          <p:cNvPr id="19" name="Text 16"/>
          <p:cNvSpPr txBox="1"/>
          <p:nvPr/>
        </p:nvSpPr>
        <p:spPr>
          <a:xfrm>
            <a:off x="868680" y="1600200"/>
            <a:ext cx="4937760" cy="50292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Erster und Zweiter Stand</a:t>
            </a:r>
            <a:endParaRPr lang="en-US" sz="2400" dirty="0"/>
          </a:p>
        </p:txBody>
      </p:sp>
      <p:sp>
        <p:nvSpPr>
          <p:cNvPr id="20" name="Shape 17"/>
          <p:cNvSpPr/>
          <p:nvPr/>
        </p:nvSpPr>
        <p:spPr>
          <a:xfrm>
            <a:off x="868680" y="2331720"/>
            <a:ext cx="384048" cy="384048"/>
          </a:xfrm>
          <a:prstGeom prst="ellipse">
            <a:avLst/>
          </a:prstGeom>
          <a:solidFill>
            <a:srgbClr val="1E2761"/>
          </a:solidFill>
          <a:ln/>
        </p:spPr>
      </p:sp>
      <p:sp>
        <p:nvSpPr>
          <p:cNvPr id="21" name="Text 18"/>
          <p:cNvSpPr txBox="1"/>
          <p:nvPr/>
        </p:nvSpPr>
        <p:spPr>
          <a:xfrm>
            <a:off x="868680" y="23317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1417320" y="2286000"/>
            <a:ext cx="438912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Füllt gemeinsam den Absprache-Zettel aus.</a:t>
            </a:r>
            <a:endParaRPr lang="en-US" sz="2400" dirty="0"/>
          </a:p>
        </p:txBody>
      </p:sp>
      <p:sp>
        <p:nvSpPr>
          <p:cNvPr id="23" name="Shape 20"/>
          <p:cNvSpPr/>
          <p:nvPr/>
        </p:nvSpPr>
        <p:spPr>
          <a:xfrm>
            <a:off x="868680" y="3337560"/>
            <a:ext cx="384048" cy="384048"/>
          </a:xfrm>
          <a:prstGeom prst="ellipse">
            <a:avLst/>
          </a:prstGeom>
          <a:solidFill>
            <a:srgbClr val="1E2761"/>
          </a:solidFill>
          <a:ln/>
        </p:spPr>
      </p:sp>
      <p:sp>
        <p:nvSpPr>
          <p:cNvPr id="24" name="Text 21"/>
          <p:cNvSpPr txBox="1"/>
          <p:nvPr/>
        </p:nvSpPr>
        <p:spPr>
          <a:xfrm>
            <a:off x="868680" y="333756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5" name="Text 22"/>
          <p:cNvSpPr txBox="1"/>
          <p:nvPr/>
        </p:nvSpPr>
        <p:spPr>
          <a:xfrm>
            <a:off x="1417320" y="3291840"/>
            <a:ext cx="438912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Wie stimmt ihr ab?</a:t>
            </a:r>
            <a:endParaRPr lang="en-US" sz="2400" dirty="0"/>
          </a:p>
        </p:txBody>
      </p:sp>
      <p:sp>
        <p:nvSpPr>
          <p:cNvPr id="26" name="Shape 23"/>
          <p:cNvSpPr/>
          <p:nvPr/>
        </p:nvSpPr>
        <p:spPr>
          <a:xfrm>
            <a:off x="868680" y="4343400"/>
            <a:ext cx="384048" cy="384048"/>
          </a:xfrm>
          <a:prstGeom prst="ellipse">
            <a:avLst/>
          </a:prstGeom>
          <a:solidFill>
            <a:srgbClr val="1E2761"/>
          </a:solidFill>
          <a:ln/>
        </p:spPr>
      </p:sp>
      <p:sp>
        <p:nvSpPr>
          <p:cNvPr id="27" name="Text 24"/>
          <p:cNvSpPr txBox="1"/>
          <p:nvPr/>
        </p:nvSpPr>
        <p:spPr>
          <a:xfrm>
            <a:off x="868680" y="43434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Text 25"/>
          <p:cNvSpPr txBox="1"/>
          <p:nvPr/>
        </p:nvSpPr>
        <p:spPr>
          <a:xfrm>
            <a:off x="1417320" y="4297680"/>
            <a:ext cx="438912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Was versprecht ihr euch?</a:t>
            </a:r>
            <a:endParaRPr lang="en-US" sz="2400" dirty="0"/>
          </a:p>
        </p:txBody>
      </p:sp>
      <p:sp>
        <p:nvSpPr>
          <p:cNvPr id="29" name="Shape 26"/>
          <p:cNvSpPr/>
          <p:nvPr/>
        </p:nvSpPr>
        <p:spPr>
          <a:xfrm>
            <a:off x="6217920" y="1508760"/>
            <a:ext cx="5440680" cy="3977640"/>
          </a:xfrm>
          <a:prstGeom prst="roundRect">
            <a:avLst>
              <a:gd name="adj" fmla="val 1839"/>
            </a:avLst>
          </a:prstGeom>
          <a:solidFill>
            <a:srgbClr val="F4F7FD"/>
          </a:solidFill>
          <a:ln/>
        </p:spPr>
      </p:sp>
      <p:sp>
        <p:nvSpPr>
          <p:cNvPr id="30" name="Shape 27"/>
          <p:cNvSpPr/>
          <p:nvPr/>
        </p:nvSpPr>
        <p:spPr>
          <a:xfrm>
            <a:off x="6217920" y="1508760"/>
            <a:ext cx="128016" cy="3977640"/>
          </a:xfrm>
          <a:prstGeom prst="rect">
            <a:avLst/>
          </a:prstGeom>
          <a:solidFill>
            <a:srgbClr val="3F7CC4"/>
          </a:solidFill>
          <a:ln/>
        </p:spPr>
      </p:sp>
      <p:sp>
        <p:nvSpPr>
          <p:cNvPr id="31" name="Text 28"/>
          <p:cNvSpPr txBox="1"/>
          <p:nvPr/>
        </p:nvSpPr>
        <p:spPr>
          <a:xfrm>
            <a:off x="6537960" y="1600200"/>
            <a:ext cx="4937760" cy="50292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Dritter Stand (Bauern und Bürger)</a:t>
            </a:r>
            <a:endParaRPr lang="en-US" sz="2400" dirty="0"/>
          </a:p>
        </p:txBody>
      </p:sp>
      <p:sp>
        <p:nvSpPr>
          <p:cNvPr id="32" name="Shape 29"/>
          <p:cNvSpPr/>
          <p:nvPr/>
        </p:nvSpPr>
        <p:spPr>
          <a:xfrm>
            <a:off x="6537960" y="2331720"/>
            <a:ext cx="384048" cy="384048"/>
          </a:xfrm>
          <a:prstGeom prst="ellipse">
            <a:avLst/>
          </a:prstGeom>
          <a:solidFill>
            <a:srgbClr val="1E2761"/>
          </a:solidFill>
          <a:ln/>
        </p:spPr>
      </p:sp>
      <p:sp>
        <p:nvSpPr>
          <p:cNvPr id="33" name="Text 30"/>
          <p:cNvSpPr txBox="1"/>
          <p:nvPr/>
        </p:nvSpPr>
        <p:spPr>
          <a:xfrm>
            <a:off x="6537960" y="23317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4" name="Text 31"/>
          <p:cNvSpPr txBox="1"/>
          <p:nvPr/>
        </p:nvSpPr>
        <p:spPr>
          <a:xfrm>
            <a:off x="7086600" y="2286000"/>
            <a:ext cx="4389120" cy="141732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zwei Argumente auf: Warum sollen auch Adel und Klerus Steuern zahlen?</a:t>
            </a:r>
            <a:endParaRPr lang="en-US" sz="2400" dirty="0"/>
          </a:p>
        </p:txBody>
      </p:sp>
      <p:sp>
        <p:nvSpPr>
          <p:cNvPr id="35" name="Shape 32"/>
          <p:cNvSpPr/>
          <p:nvPr/>
        </p:nvSpPr>
        <p:spPr>
          <a:xfrm>
            <a:off x="6537960" y="3886200"/>
            <a:ext cx="384048" cy="384048"/>
          </a:xfrm>
          <a:prstGeom prst="ellipse">
            <a:avLst/>
          </a:prstGeom>
          <a:solidFill>
            <a:srgbClr val="1E2761"/>
          </a:solidFill>
          <a:ln/>
        </p:spPr>
      </p:sp>
      <p:sp>
        <p:nvSpPr>
          <p:cNvPr id="36" name="Text 33"/>
          <p:cNvSpPr txBox="1"/>
          <p:nvPr/>
        </p:nvSpPr>
        <p:spPr>
          <a:xfrm>
            <a:off x="6537960" y="38862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7" name="Text 34"/>
          <p:cNvSpPr txBox="1"/>
          <p:nvPr/>
        </p:nvSpPr>
        <p:spPr>
          <a:xfrm>
            <a:off x="7086600" y="3840480"/>
            <a:ext cx="4389120" cy="141732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Beobachte den Tisch vorn. Schreibe eine Beobachtung auf: Was tun Klerus und Adel?</a:t>
            </a:r>
            <a:endParaRPr lang="en-US" sz="2400" dirty="0"/>
          </a:p>
        </p:txBody>
      </p:sp>
      <p:sp>
        <p:nvSpPr>
          <p:cNvPr id="38" name="Shape 35"/>
          <p:cNvSpPr/>
          <p:nvPr/>
        </p:nvSpPr>
        <p:spPr>
          <a:xfrm>
            <a:off x="548640" y="5669280"/>
            <a:ext cx="11109960" cy="777240"/>
          </a:xfrm>
          <a:prstGeom prst="roundRect">
            <a:avLst>
              <a:gd name="adj" fmla="val 9412"/>
            </a:avLst>
          </a:prstGeom>
          <a:solidFill>
            <a:srgbClr val="1E2761"/>
          </a:solidFill>
          <a:ln/>
        </p:spPr>
      </p:sp>
      <p:sp>
        <p:nvSpPr>
          <p:cNvPr id="39" name="Text 36"/>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4 Minuten · Flüsterstufe      </a:t>
            </a:r>
            <a:pPr indent="0" marL="0">
              <a:buNone/>
            </a:pPr>
            <a:r>
              <a:rPr lang="en-US" sz="2400" i="1" dirty="0">
                <a:solidFill>
                  <a:srgbClr val="CADCFC"/>
                </a:solidFill>
                <a:latin typeface="Calibri" pitchFamily="34" charset="0"/>
                <a:ea typeface="Calibri" pitchFamily="34" charset="-122"/>
                <a:cs typeface="Calibri" pitchFamily="34" charset="-120"/>
              </a:rPr>
              <a:t>Fertig? Stift hinlegen.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ABSTIMMUNG</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Jetzt stimmt ihr ab</a:t>
            </a:r>
            <a:endParaRPr lang="en-US" sz="3400" dirty="0"/>
          </a:p>
        </p:txBody>
      </p:sp>
      <p:sp>
        <p:nvSpPr>
          <p:cNvPr id="4" name="Shape 2"/>
          <p:cNvSpPr/>
          <p:nvPr/>
        </p:nvSpPr>
        <p:spPr>
          <a:xfrm>
            <a:off x="548640" y="1371600"/>
            <a:ext cx="11109960" cy="2560320"/>
          </a:xfrm>
          <a:prstGeom prst="roundRect">
            <a:avLst>
              <a:gd name="adj" fmla="val 2857"/>
            </a:avLst>
          </a:prstGeom>
          <a:solidFill>
            <a:srgbClr val="EAF0FA"/>
          </a:solidFill>
          <a:ln/>
        </p:spPr>
      </p:sp>
      <p:sp>
        <p:nvSpPr>
          <p:cNvPr id="5" name="Shape 3"/>
          <p:cNvSpPr/>
          <p:nvPr/>
        </p:nvSpPr>
        <p:spPr>
          <a:xfrm>
            <a:off x="731520" y="1517904"/>
            <a:ext cx="384048" cy="384048"/>
          </a:xfrm>
          <a:prstGeom prst="ellipse">
            <a:avLst/>
          </a:prstGeom>
          <a:solidFill>
            <a:srgbClr val="1E2761"/>
          </a:solidFill>
          <a:ln/>
        </p:spPr>
      </p:sp>
      <p:sp>
        <p:nvSpPr>
          <p:cNvPr id="6" name="Text 4"/>
          <p:cNvSpPr txBox="1"/>
          <p:nvPr/>
        </p:nvSpPr>
        <p:spPr>
          <a:xfrm>
            <a:off x="731520" y="15179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80160" y="1481328"/>
            <a:ext cx="1024128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Kreuze auf dem Stimmzettel unten auf deiner Karte Ja oder Nein an.</a:t>
            </a:r>
            <a:endParaRPr lang="en-US" sz="2400" dirty="0"/>
          </a:p>
        </p:txBody>
      </p:sp>
      <p:sp>
        <p:nvSpPr>
          <p:cNvPr id="8" name="Shape 6"/>
          <p:cNvSpPr/>
          <p:nvPr/>
        </p:nvSpPr>
        <p:spPr>
          <a:xfrm>
            <a:off x="731520" y="2459736"/>
            <a:ext cx="384048" cy="384048"/>
          </a:xfrm>
          <a:prstGeom prst="ellipse">
            <a:avLst/>
          </a:prstGeom>
          <a:solidFill>
            <a:srgbClr val="1E2761"/>
          </a:solidFill>
          <a:ln/>
        </p:spPr>
      </p:sp>
      <p:sp>
        <p:nvSpPr>
          <p:cNvPr id="9" name="Text 7"/>
          <p:cNvSpPr txBox="1"/>
          <p:nvPr/>
        </p:nvSpPr>
        <p:spPr>
          <a:xfrm>
            <a:off x="731520" y="245973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80160" y="2423160"/>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Lege die Karte verdeckt auf den Tisch.</a:t>
            </a:r>
            <a:endParaRPr lang="en-US" sz="2400" dirty="0"/>
          </a:p>
        </p:txBody>
      </p:sp>
      <p:sp>
        <p:nvSpPr>
          <p:cNvPr id="11" name="Shape 9"/>
          <p:cNvSpPr/>
          <p:nvPr/>
        </p:nvSpPr>
        <p:spPr>
          <a:xfrm>
            <a:off x="731520" y="2990088"/>
            <a:ext cx="384048" cy="384048"/>
          </a:xfrm>
          <a:prstGeom prst="ellipse">
            <a:avLst/>
          </a:prstGeom>
          <a:solidFill>
            <a:srgbClr val="1E2761"/>
          </a:solidFill>
          <a:ln/>
        </p:spPr>
      </p:sp>
      <p:sp>
        <p:nvSpPr>
          <p:cNvPr id="12" name="Text 10"/>
          <p:cNvSpPr txBox="1"/>
          <p:nvPr/>
        </p:nvSpPr>
        <p:spPr>
          <a:xfrm>
            <a:off x="731520" y="29900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953512"/>
            <a:ext cx="1024128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auf: Wer gewinnt nach Ständen? Wer gewinnt nach Köpfen? Ein Satz mit Begründung.</a:t>
            </a:r>
            <a:endParaRPr lang="en-US" sz="2400" dirty="0"/>
          </a:p>
        </p:txBody>
      </p:sp>
      <p:sp>
        <p:nvSpPr>
          <p:cNvPr id="14" name="Shape 12"/>
          <p:cNvSpPr/>
          <p:nvPr/>
        </p:nvSpPr>
        <p:spPr>
          <a:xfrm>
            <a:off x="548640" y="5669280"/>
            <a:ext cx="11109960" cy="777240"/>
          </a:xfrm>
          <a:prstGeom prst="roundRect">
            <a:avLst>
              <a:gd name="adj" fmla="val 9412"/>
            </a:avLst>
          </a:prstGeom>
          <a:solidFill>
            <a:srgbClr val="1E2761"/>
          </a:solidFill>
          <a:ln/>
        </p:spPr>
      </p:sp>
      <p:sp>
        <p:nvSpPr>
          <p:cNvPr id="15"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3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 und noch einmal durchlesen.</a:t>
            </a:r>
            <a:endParaRPr lang="en-US" sz="2400" dirty="0"/>
          </a:p>
        </p:txBody>
      </p:sp>
      <p:sp>
        <p:nvSpPr>
          <p:cNvPr id="16"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7" name="Text 15"/>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
        <p:nvSpPr>
          <p:cNvPr id="19" name="Shape 16"/>
          <p:cNvSpPr/>
          <p:nvPr/>
        </p:nvSpPr>
        <p:spPr>
          <a:xfrm>
            <a:off x="9144000" y="274320"/>
            <a:ext cx="402336" cy="402336"/>
          </a:xfrm>
          <a:prstGeom prst="ellipse">
            <a:avLst/>
          </a:prstGeom>
          <a:solidFill>
            <a:srgbClr val="EAF0FA"/>
          </a:solidFill>
          <a:ln/>
        </p:spPr>
      </p:sp>
      <p:sp>
        <p:nvSpPr>
          <p:cNvPr id="20" name="Text 17"/>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21" name="Shape 18"/>
          <p:cNvSpPr/>
          <p:nvPr/>
        </p:nvSpPr>
        <p:spPr>
          <a:xfrm>
            <a:off x="9646920" y="274320"/>
            <a:ext cx="402336" cy="402336"/>
          </a:xfrm>
          <a:prstGeom prst="ellipse">
            <a:avLst/>
          </a:prstGeom>
          <a:solidFill>
            <a:srgbClr val="EAF0FA"/>
          </a:solidFill>
          <a:ln/>
        </p:spPr>
      </p:sp>
      <p:sp>
        <p:nvSpPr>
          <p:cNvPr id="22" name="Text 19"/>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0149840" y="274320"/>
            <a:ext cx="402336" cy="402336"/>
          </a:xfrm>
          <a:prstGeom prst="ellipse">
            <a:avLst/>
          </a:prstGeom>
          <a:solidFill>
            <a:srgbClr val="EAF0FA"/>
          </a:solidFill>
          <a:ln/>
        </p:spPr>
      </p:sp>
      <p:sp>
        <p:nvSpPr>
          <p:cNvPr id="24" name="Text 21"/>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25" name="Shape 22"/>
          <p:cNvSpPr/>
          <p:nvPr/>
        </p:nvSpPr>
        <p:spPr>
          <a:xfrm>
            <a:off x="10652760" y="274320"/>
            <a:ext cx="402336" cy="402336"/>
          </a:xfrm>
          <a:prstGeom prst="ellipse">
            <a:avLst/>
          </a:prstGeom>
          <a:solidFill>
            <a:srgbClr val="D9534F"/>
          </a:solidFill>
          <a:ln/>
        </p:spPr>
      </p:sp>
      <p:sp>
        <p:nvSpPr>
          <p:cNvPr id="26" name="Text 23"/>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27" name="Shape 24"/>
          <p:cNvSpPr/>
          <p:nvPr/>
        </p:nvSpPr>
        <p:spPr>
          <a:xfrm>
            <a:off x="11155680" y="274320"/>
            <a:ext cx="402336" cy="402336"/>
          </a:xfrm>
          <a:prstGeom prst="ellipse">
            <a:avLst/>
          </a:prstGeom>
          <a:solidFill>
            <a:srgbClr val="EAF0FA"/>
          </a:solidFill>
          <a:ln/>
        </p:spPr>
      </p:sp>
      <p:sp>
        <p:nvSpPr>
          <p:cNvPr id="28" name="Text 25"/>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AUSWERTUNG</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Zwei Regeln für dieselben Stimmen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
        <p:nvSpPr>
          <p:cNvPr id="17" name="Shape 14"/>
          <p:cNvSpPr/>
          <p:nvPr/>
        </p:nvSpPr>
        <p:spPr>
          <a:xfrm>
            <a:off x="548640" y="1508760"/>
            <a:ext cx="5440680" cy="3977640"/>
          </a:xfrm>
          <a:prstGeom prst="roundRect">
            <a:avLst>
              <a:gd name="adj" fmla="val 1839"/>
            </a:avLst>
          </a:prstGeom>
          <a:solidFill>
            <a:srgbClr val="EAF0FA"/>
          </a:solidFill>
          <a:ln/>
        </p:spPr>
      </p:sp>
      <p:sp>
        <p:nvSpPr>
          <p:cNvPr id="18" name="Text 15"/>
          <p:cNvSpPr txBox="1"/>
          <p:nvPr/>
        </p:nvSpPr>
        <p:spPr>
          <a:xfrm>
            <a:off x="822960" y="1600200"/>
            <a:ext cx="4937760" cy="5029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Nach Ständen</a:t>
            </a:r>
            <a:endParaRPr lang="en-US" sz="2800" dirty="0"/>
          </a:p>
        </p:txBody>
      </p:sp>
      <p:sp>
        <p:nvSpPr>
          <p:cNvPr id="19" name="Text 16"/>
          <p:cNvSpPr txBox="1"/>
          <p:nvPr/>
        </p:nvSpPr>
        <p:spPr>
          <a:xfrm>
            <a:off x="822960" y="2194560"/>
            <a:ext cx="4937760" cy="45720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Jeder Stand hat eine Stimme.</a:t>
            </a:r>
            <a:endParaRPr lang="en-US" sz="2400" dirty="0"/>
          </a:p>
        </p:txBody>
      </p:sp>
      <p:sp>
        <p:nvSpPr>
          <p:cNvPr id="20" name="Shape 17"/>
          <p:cNvSpPr/>
          <p:nvPr/>
        </p:nvSpPr>
        <p:spPr>
          <a:xfrm>
            <a:off x="822960" y="2926080"/>
            <a:ext cx="1508760" cy="1097280"/>
          </a:xfrm>
          <a:prstGeom prst="rect">
            <a:avLst/>
          </a:prstGeom>
          <a:solidFill>
            <a:srgbClr val="8E6BBE"/>
          </a:solidFill>
          <a:ln/>
        </p:spPr>
      </p:sp>
      <p:sp>
        <p:nvSpPr>
          <p:cNvPr id="21" name="Text 18"/>
          <p:cNvSpPr txBox="1"/>
          <p:nvPr/>
        </p:nvSpPr>
        <p:spPr>
          <a:xfrm>
            <a:off x="822960" y="2926080"/>
            <a:ext cx="150876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Klerus</a:t>
            </a:r>
            <a:endParaRPr lang="en-US" sz="2400" dirty="0"/>
          </a:p>
        </p:txBody>
      </p:sp>
      <p:sp>
        <p:nvSpPr>
          <p:cNvPr id="22" name="Shape 19"/>
          <p:cNvSpPr/>
          <p:nvPr/>
        </p:nvSpPr>
        <p:spPr>
          <a:xfrm>
            <a:off x="2468880" y="2926080"/>
            <a:ext cx="1508760" cy="1097280"/>
          </a:xfrm>
          <a:prstGeom prst="rect">
            <a:avLst/>
          </a:prstGeom>
          <a:solidFill>
            <a:srgbClr val="E8A33D"/>
          </a:solidFill>
          <a:ln/>
        </p:spPr>
      </p:sp>
      <p:sp>
        <p:nvSpPr>
          <p:cNvPr id="23" name="Text 20"/>
          <p:cNvSpPr txBox="1"/>
          <p:nvPr/>
        </p:nvSpPr>
        <p:spPr>
          <a:xfrm>
            <a:off x="2468880" y="2926080"/>
            <a:ext cx="150876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Adel</a:t>
            </a:r>
            <a:endParaRPr lang="en-US" sz="2400" dirty="0"/>
          </a:p>
        </p:txBody>
      </p:sp>
      <p:sp>
        <p:nvSpPr>
          <p:cNvPr id="24" name="Shape 21"/>
          <p:cNvSpPr/>
          <p:nvPr/>
        </p:nvSpPr>
        <p:spPr>
          <a:xfrm>
            <a:off x="4114800" y="2926080"/>
            <a:ext cx="1508760" cy="1097280"/>
          </a:xfrm>
          <a:prstGeom prst="rect">
            <a:avLst/>
          </a:prstGeom>
          <a:solidFill>
            <a:srgbClr val="3F7CC4"/>
          </a:solidFill>
          <a:ln/>
        </p:spPr>
      </p:sp>
      <p:sp>
        <p:nvSpPr>
          <p:cNvPr id="25" name="Text 22"/>
          <p:cNvSpPr txBox="1"/>
          <p:nvPr/>
        </p:nvSpPr>
        <p:spPr>
          <a:xfrm>
            <a:off x="4114800" y="2926080"/>
            <a:ext cx="150876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Dritter Stand</a:t>
            </a:r>
            <a:endParaRPr lang="en-US" sz="2400" dirty="0"/>
          </a:p>
        </p:txBody>
      </p:sp>
      <p:sp>
        <p:nvSpPr>
          <p:cNvPr id="26" name="Text 23"/>
          <p:cNvSpPr txBox="1"/>
          <p:nvPr/>
        </p:nvSpPr>
        <p:spPr>
          <a:xfrm>
            <a:off x="822960" y="4297680"/>
            <a:ext cx="4937760" cy="45720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3 Stimmen insgesamt</a:t>
            </a:r>
            <a:endParaRPr lang="en-US" sz="2400" dirty="0"/>
          </a:p>
        </p:txBody>
      </p:sp>
      <p:sp>
        <p:nvSpPr>
          <p:cNvPr id="27" name="Shape 24"/>
          <p:cNvSpPr/>
          <p:nvPr/>
        </p:nvSpPr>
        <p:spPr>
          <a:xfrm>
            <a:off x="6217920" y="1508760"/>
            <a:ext cx="5440680" cy="3977640"/>
          </a:xfrm>
          <a:prstGeom prst="roundRect">
            <a:avLst>
              <a:gd name="adj" fmla="val 1839"/>
            </a:avLst>
          </a:prstGeom>
          <a:solidFill>
            <a:srgbClr val="EAF0FA"/>
          </a:solidFill>
          <a:ln/>
        </p:spPr>
      </p:sp>
      <p:sp>
        <p:nvSpPr>
          <p:cNvPr id="28" name="Text 25"/>
          <p:cNvSpPr txBox="1"/>
          <p:nvPr/>
        </p:nvSpPr>
        <p:spPr>
          <a:xfrm>
            <a:off x="6492240" y="1600200"/>
            <a:ext cx="4937760" cy="5029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Nach Köpfen</a:t>
            </a:r>
            <a:endParaRPr lang="en-US" sz="2800" dirty="0"/>
          </a:p>
        </p:txBody>
      </p:sp>
      <p:sp>
        <p:nvSpPr>
          <p:cNvPr id="29" name="Text 26"/>
          <p:cNvSpPr txBox="1"/>
          <p:nvPr/>
        </p:nvSpPr>
        <p:spPr>
          <a:xfrm>
            <a:off x="6492240" y="2194560"/>
            <a:ext cx="4937760" cy="45720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Jede Person hat eine Stimme.</a:t>
            </a:r>
            <a:endParaRPr lang="en-US" sz="2400" dirty="0"/>
          </a:p>
        </p:txBody>
      </p:sp>
      <p:sp>
        <p:nvSpPr>
          <p:cNvPr id="30" name="Shape 27"/>
          <p:cNvSpPr/>
          <p:nvPr/>
        </p:nvSpPr>
        <p:spPr>
          <a:xfrm>
            <a:off x="6492240" y="2926080"/>
            <a:ext cx="420624" cy="420624"/>
          </a:xfrm>
          <a:prstGeom prst="ellipse">
            <a:avLst/>
          </a:prstGeom>
          <a:solidFill>
            <a:srgbClr val="8E6BBE"/>
          </a:solidFill>
          <a:ln/>
        </p:spPr>
      </p:sp>
      <p:sp>
        <p:nvSpPr>
          <p:cNvPr id="31" name="Shape 28"/>
          <p:cNvSpPr/>
          <p:nvPr/>
        </p:nvSpPr>
        <p:spPr>
          <a:xfrm>
            <a:off x="7022592" y="2926080"/>
            <a:ext cx="420624" cy="420624"/>
          </a:xfrm>
          <a:prstGeom prst="ellipse">
            <a:avLst/>
          </a:prstGeom>
          <a:solidFill>
            <a:srgbClr val="8E6BBE"/>
          </a:solidFill>
          <a:ln/>
        </p:spPr>
      </p:sp>
      <p:sp>
        <p:nvSpPr>
          <p:cNvPr id="32" name="Shape 29"/>
          <p:cNvSpPr/>
          <p:nvPr/>
        </p:nvSpPr>
        <p:spPr>
          <a:xfrm>
            <a:off x="7552944" y="2926080"/>
            <a:ext cx="420624" cy="420624"/>
          </a:xfrm>
          <a:prstGeom prst="ellipse">
            <a:avLst/>
          </a:prstGeom>
          <a:solidFill>
            <a:srgbClr val="8E6BBE"/>
          </a:solidFill>
          <a:ln/>
        </p:spPr>
      </p:sp>
      <p:sp>
        <p:nvSpPr>
          <p:cNvPr id="33" name="Shape 30"/>
          <p:cNvSpPr/>
          <p:nvPr/>
        </p:nvSpPr>
        <p:spPr>
          <a:xfrm>
            <a:off x="8083296" y="2926080"/>
            <a:ext cx="420624" cy="420624"/>
          </a:xfrm>
          <a:prstGeom prst="ellipse">
            <a:avLst/>
          </a:prstGeom>
          <a:solidFill>
            <a:srgbClr val="E8A33D"/>
          </a:solidFill>
          <a:ln/>
        </p:spPr>
      </p:sp>
      <p:sp>
        <p:nvSpPr>
          <p:cNvPr id="34" name="Shape 31"/>
          <p:cNvSpPr/>
          <p:nvPr/>
        </p:nvSpPr>
        <p:spPr>
          <a:xfrm>
            <a:off x="8613648" y="2926080"/>
            <a:ext cx="420624" cy="420624"/>
          </a:xfrm>
          <a:prstGeom prst="ellipse">
            <a:avLst/>
          </a:prstGeom>
          <a:solidFill>
            <a:srgbClr val="E8A33D"/>
          </a:solidFill>
          <a:ln/>
        </p:spPr>
      </p:sp>
      <p:sp>
        <p:nvSpPr>
          <p:cNvPr id="35" name="Shape 32"/>
          <p:cNvSpPr/>
          <p:nvPr/>
        </p:nvSpPr>
        <p:spPr>
          <a:xfrm>
            <a:off x="9144000" y="2926080"/>
            <a:ext cx="420624" cy="420624"/>
          </a:xfrm>
          <a:prstGeom prst="ellipse">
            <a:avLst/>
          </a:prstGeom>
          <a:solidFill>
            <a:srgbClr val="E8A33D"/>
          </a:solidFill>
          <a:ln/>
        </p:spPr>
      </p:sp>
      <p:sp>
        <p:nvSpPr>
          <p:cNvPr id="36" name="Shape 33"/>
          <p:cNvSpPr/>
          <p:nvPr/>
        </p:nvSpPr>
        <p:spPr>
          <a:xfrm>
            <a:off x="9674352" y="2926080"/>
            <a:ext cx="420624" cy="420624"/>
          </a:xfrm>
          <a:prstGeom prst="ellipse">
            <a:avLst/>
          </a:prstGeom>
          <a:solidFill>
            <a:srgbClr val="E8A33D"/>
          </a:solidFill>
          <a:ln/>
        </p:spPr>
      </p:sp>
      <p:sp>
        <p:nvSpPr>
          <p:cNvPr id="37" name="Shape 34"/>
          <p:cNvSpPr/>
          <p:nvPr/>
        </p:nvSpPr>
        <p:spPr>
          <a:xfrm>
            <a:off x="10204704" y="2926080"/>
            <a:ext cx="420624" cy="420624"/>
          </a:xfrm>
          <a:prstGeom prst="ellipse">
            <a:avLst/>
          </a:prstGeom>
          <a:solidFill>
            <a:srgbClr val="3F7CC4"/>
          </a:solidFill>
          <a:ln/>
        </p:spPr>
      </p:sp>
      <p:sp>
        <p:nvSpPr>
          <p:cNvPr id="38" name="Shape 35"/>
          <p:cNvSpPr/>
          <p:nvPr/>
        </p:nvSpPr>
        <p:spPr>
          <a:xfrm>
            <a:off x="10735056" y="2926080"/>
            <a:ext cx="420624" cy="420624"/>
          </a:xfrm>
          <a:prstGeom prst="ellipse">
            <a:avLst/>
          </a:prstGeom>
          <a:solidFill>
            <a:srgbClr val="3F7CC4"/>
          </a:solidFill>
          <a:ln/>
        </p:spPr>
      </p:sp>
      <p:sp>
        <p:nvSpPr>
          <p:cNvPr id="39" name="Shape 36"/>
          <p:cNvSpPr/>
          <p:nvPr/>
        </p:nvSpPr>
        <p:spPr>
          <a:xfrm>
            <a:off x="6492240" y="3456432"/>
            <a:ext cx="420624" cy="420624"/>
          </a:xfrm>
          <a:prstGeom prst="ellipse">
            <a:avLst/>
          </a:prstGeom>
          <a:solidFill>
            <a:srgbClr val="3F7CC4"/>
          </a:solidFill>
          <a:ln/>
        </p:spPr>
      </p:sp>
      <p:sp>
        <p:nvSpPr>
          <p:cNvPr id="40" name="Shape 37"/>
          <p:cNvSpPr/>
          <p:nvPr/>
        </p:nvSpPr>
        <p:spPr>
          <a:xfrm>
            <a:off x="7022592" y="3456432"/>
            <a:ext cx="420624" cy="420624"/>
          </a:xfrm>
          <a:prstGeom prst="ellipse">
            <a:avLst/>
          </a:prstGeom>
          <a:solidFill>
            <a:srgbClr val="3F7CC4"/>
          </a:solidFill>
          <a:ln/>
        </p:spPr>
      </p:sp>
      <p:sp>
        <p:nvSpPr>
          <p:cNvPr id="41" name="Shape 38"/>
          <p:cNvSpPr/>
          <p:nvPr/>
        </p:nvSpPr>
        <p:spPr>
          <a:xfrm>
            <a:off x="7552944" y="3456432"/>
            <a:ext cx="420624" cy="420624"/>
          </a:xfrm>
          <a:prstGeom prst="ellipse">
            <a:avLst/>
          </a:prstGeom>
          <a:solidFill>
            <a:srgbClr val="3F7CC4"/>
          </a:solidFill>
          <a:ln/>
        </p:spPr>
      </p:sp>
      <p:sp>
        <p:nvSpPr>
          <p:cNvPr id="42" name="Shape 39"/>
          <p:cNvSpPr/>
          <p:nvPr/>
        </p:nvSpPr>
        <p:spPr>
          <a:xfrm>
            <a:off x="8083296" y="3456432"/>
            <a:ext cx="420624" cy="420624"/>
          </a:xfrm>
          <a:prstGeom prst="ellipse">
            <a:avLst/>
          </a:prstGeom>
          <a:solidFill>
            <a:srgbClr val="3F7CC4"/>
          </a:solidFill>
          <a:ln/>
        </p:spPr>
      </p:sp>
      <p:sp>
        <p:nvSpPr>
          <p:cNvPr id="43" name="Shape 40"/>
          <p:cNvSpPr/>
          <p:nvPr/>
        </p:nvSpPr>
        <p:spPr>
          <a:xfrm>
            <a:off x="8613648" y="3456432"/>
            <a:ext cx="420624" cy="420624"/>
          </a:xfrm>
          <a:prstGeom prst="ellipse">
            <a:avLst/>
          </a:prstGeom>
          <a:solidFill>
            <a:srgbClr val="3F7CC4"/>
          </a:solidFill>
          <a:ln/>
        </p:spPr>
      </p:sp>
      <p:sp>
        <p:nvSpPr>
          <p:cNvPr id="44" name="Shape 41"/>
          <p:cNvSpPr/>
          <p:nvPr/>
        </p:nvSpPr>
        <p:spPr>
          <a:xfrm>
            <a:off x="9144000" y="3456432"/>
            <a:ext cx="420624" cy="420624"/>
          </a:xfrm>
          <a:prstGeom prst="ellipse">
            <a:avLst/>
          </a:prstGeom>
          <a:solidFill>
            <a:srgbClr val="3F7CC4"/>
          </a:solidFill>
          <a:ln/>
        </p:spPr>
      </p:sp>
      <p:sp>
        <p:nvSpPr>
          <p:cNvPr id="45" name="Shape 42"/>
          <p:cNvSpPr/>
          <p:nvPr/>
        </p:nvSpPr>
        <p:spPr>
          <a:xfrm>
            <a:off x="9674352" y="3456432"/>
            <a:ext cx="420624" cy="420624"/>
          </a:xfrm>
          <a:prstGeom prst="ellipse">
            <a:avLst/>
          </a:prstGeom>
          <a:solidFill>
            <a:srgbClr val="3F7CC4"/>
          </a:solidFill>
          <a:ln/>
        </p:spPr>
      </p:sp>
      <p:sp>
        <p:nvSpPr>
          <p:cNvPr id="46" name="Shape 43"/>
          <p:cNvSpPr/>
          <p:nvPr/>
        </p:nvSpPr>
        <p:spPr>
          <a:xfrm>
            <a:off x="10204704" y="3456432"/>
            <a:ext cx="420624" cy="420624"/>
          </a:xfrm>
          <a:prstGeom prst="ellipse">
            <a:avLst/>
          </a:prstGeom>
          <a:solidFill>
            <a:srgbClr val="3F7CC4"/>
          </a:solidFill>
          <a:ln/>
        </p:spPr>
      </p:sp>
      <p:sp>
        <p:nvSpPr>
          <p:cNvPr id="47" name="Shape 44"/>
          <p:cNvSpPr/>
          <p:nvPr/>
        </p:nvSpPr>
        <p:spPr>
          <a:xfrm>
            <a:off x="10735056" y="3456432"/>
            <a:ext cx="420624" cy="420624"/>
          </a:xfrm>
          <a:prstGeom prst="ellipse">
            <a:avLst/>
          </a:prstGeom>
          <a:solidFill>
            <a:srgbClr val="3F7CC4"/>
          </a:solidFill>
          <a:ln/>
        </p:spPr>
      </p:sp>
      <p:sp>
        <p:nvSpPr>
          <p:cNvPr id="48" name="Shape 45"/>
          <p:cNvSpPr/>
          <p:nvPr/>
        </p:nvSpPr>
        <p:spPr>
          <a:xfrm>
            <a:off x="6492240" y="3986784"/>
            <a:ext cx="420624" cy="420624"/>
          </a:xfrm>
          <a:prstGeom prst="ellipse">
            <a:avLst/>
          </a:prstGeom>
          <a:solidFill>
            <a:srgbClr val="3F7CC4"/>
          </a:solidFill>
          <a:ln/>
        </p:spPr>
      </p:sp>
      <p:sp>
        <p:nvSpPr>
          <p:cNvPr id="49" name="Shape 46"/>
          <p:cNvSpPr/>
          <p:nvPr/>
        </p:nvSpPr>
        <p:spPr>
          <a:xfrm>
            <a:off x="7022592" y="3986784"/>
            <a:ext cx="420624" cy="420624"/>
          </a:xfrm>
          <a:prstGeom prst="ellipse">
            <a:avLst/>
          </a:prstGeom>
          <a:solidFill>
            <a:srgbClr val="3F7CC4"/>
          </a:solidFill>
          <a:ln/>
        </p:spPr>
      </p:sp>
      <p:sp>
        <p:nvSpPr>
          <p:cNvPr id="50" name="Shape 47"/>
          <p:cNvSpPr/>
          <p:nvPr/>
        </p:nvSpPr>
        <p:spPr>
          <a:xfrm>
            <a:off x="7552944" y="3986784"/>
            <a:ext cx="420624" cy="420624"/>
          </a:xfrm>
          <a:prstGeom prst="ellipse">
            <a:avLst/>
          </a:prstGeom>
          <a:solidFill>
            <a:srgbClr val="3F7CC4"/>
          </a:solidFill>
          <a:ln/>
        </p:spPr>
      </p:sp>
      <p:sp>
        <p:nvSpPr>
          <p:cNvPr id="51" name="Shape 48"/>
          <p:cNvSpPr/>
          <p:nvPr/>
        </p:nvSpPr>
        <p:spPr>
          <a:xfrm>
            <a:off x="8083296" y="3986784"/>
            <a:ext cx="420624" cy="420624"/>
          </a:xfrm>
          <a:prstGeom prst="ellipse">
            <a:avLst/>
          </a:prstGeom>
          <a:solidFill>
            <a:srgbClr val="3F7CC4"/>
          </a:solidFill>
          <a:ln/>
        </p:spPr>
      </p:sp>
      <p:sp>
        <p:nvSpPr>
          <p:cNvPr id="52" name="Shape 49"/>
          <p:cNvSpPr/>
          <p:nvPr/>
        </p:nvSpPr>
        <p:spPr>
          <a:xfrm>
            <a:off x="8613648" y="3986784"/>
            <a:ext cx="420624" cy="420624"/>
          </a:xfrm>
          <a:prstGeom prst="ellipse">
            <a:avLst/>
          </a:prstGeom>
          <a:solidFill>
            <a:srgbClr val="3F7CC4"/>
          </a:solidFill>
          <a:ln/>
        </p:spPr>
      </p:sp>
      <p:sp>
        <p:nvSpPr>
          <p:cNvPr id="53" name="Shape 50"/>
          <p:cNvSpPr/>
          <p:nvPr/>
        </p:nvSpPr>
        <p:spPr>
          <a:xfrm>
            <a:off x="9144000" y="3986784"/>
            <a:ext cx="420624" cy="420624"/>
          </a:xfrm>
          <a:prstGeom prst="ellipse">
            <a:avLst/>
          </a:prstGeom>
          <a:solidFill>
            <a:srgbClr val="3F7CC4"/>
          </a:solidFill>
          <a:ln/>
        </p:spPr>
      </p:sp>
      <p:sp>
        <p:nvSpPr>
          <p:cNvPr id="54" name="Shape 51"/>
          <p:cNvSpPr/>
          <p:nvPr/>
        </p:nvSpPr>
        <p:spPr>
          <a:xfrm>
            <a:off x="9674352" y="3986784"/>
            <a:ext cx="420624" cy="420624"/>
          </a:xfrm>
          <a:prstGeom prst="ellipse">
            <a:avLst/>
          </a:prstGeom>
          <a:solidFill>
            <a:srgbClr val="3F7CC4"/>
          </a:solidFill>
          <a:ln/>
        </p:spPr>
      </p:sp>
      <p:sp>
        <p:nvSpPr>
          <p:cNvPr id="55" name="Text 52"/>
          <p:cNvSpPr txBox="1"/>
          <p:nvPr/>
        </p:nvSpPr>
        <p:spPr>
          <a:xfrm>
            <a:off x="6492240" y="4480560"/>
            <a:ext cx="4937760" cy="45720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25 Stimmen insgesamt</a:t>
            </a:r>
            <a:endParaRPr lang="en-US" sz="2400" dirty="0"/>
          </a:p>
        </p:txBody>
      </p:sp>
      <p:sp>
        <p:nvSpPr>
          <p:cNvPr id="56" name="Shape 53"/>
          <p:cNvSpPr/>
          <p:nvPr/>
        </p:nvSpPr>
        <p:spPr>
          <a:xfrm>
            <a:off x="548640" y="5669280"/>
            <a:ext cx="11109960" cy="777240"/>
          </a:xfrm>
          <a:prstGeom prst="roundRect">
            <a:avLst>
              <a:gd name="adj" fmla="val 9412"/>
            </a:avLst>
          </a:prstGeom>
          <a:solidFill>
            <a:srgbClr val="1E2761"/>
          </a:solidFill>
          <a:ln/>
        </p:spPr>
      </p:sp>
      <p:sp>
        <p:nvSpPr>
          <p:cNvPr id="57" name="Text 54"/>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Ergebnis: </a:t>
            </a:r>
            <a:pPr indent="0" marL="0">
              <a:buNone/>
            </a:pPr>
            <a:r>
              <a:rPr lang="en-US" sz="2400" dirty="0">
                <a:solidFill>
                  <a:srgbClr val="FFFFFF"/>
                </a:solidFill>
                <a:latin typeface="Calibri" pitchFamily="34" charset="0"/>
                <a:ea typeface="Calibri" pitchFamily="34" charset="-122"/>
                <a:cs typeface="Calibri" pitchFamily="34" charset="-120"/>
              </a:rPr>
              <a:t>Zwei Regeln. Dieselben Stimmen. Zwei Ergebnisse.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FRANKREICH</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Und in Frankreich?</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
        <p:nvSpPr>
          <p:cNvPr id="17" name="Shape 14"/>
          <p:cNvSpPr/>
          <p:nvPr/>
        </p:nvSpPr>
        <p:spPr>
          <a:xfrm>
            <a:off x="548640" y="1444752"/>
            <a:ext cx="274320" cy="274320"/>
          </a:xfrm>
          <a:prstGeom prst="rect">
            <a:avLst/>
          </a:prstGeom>
          <a:solidFill>
            <a:srgbClr val="8E6BBE"/>
          </a:solidFill>
          <a:ln/>
        </p:spPr>
      </p:sp>
      <p:sp>
        <p:nvSpPr>
          <p:cNvPr id="18" name="Text 15"/>
          <p:cNvSpPr txBox="1"/>
          <p:nvPr/>
        </p:nvSpPr>
        <p:spPr>
          <a:xfrm>
            <a:off x="914400" y="1371600"/>
            <a:ext cx="7315200" cy="41148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Klerus</a:t>
            </a:r>
            <a:endParaRPr lang="en-US" sz="2400" dirty="0"/>
          </a:p>
        </p:txBody>
      </p:sp>
      <p:sp>
        <p:nvSpPr>
          <p:cNvPr id="19" name="Shape 16"/>
          <p:cNvSpPr/>
          <p:nvPr/>
        </p:nvSpPr>
        <p:spPr>
          <a:xfrm>
            <a:off x="2377440" y="1444752"/>
            <a:ext cx="274320" cy="274320"/>
          </a:xfrm>
          <a:prstGeom prst="rect">
            <a:avLst/>
          </a:prstGeom>
          <a:solidFill>
            <a:srgbClr val="E8A33D"/>
          </a:solidFill>
          <a:ln/>
        </p:spPr>
      </p:sp>
      <p:sp>
        <p:nvSpPr>
          <p:cNvPr id="20" name="Text 17"/>
          <p:cNvSpPr txBox="1"/>
          <p:nvPr/>
        </p:nvSpPr>
        <p:spPr>
          <a:xfrm>
            <a:off x="2743200" y="1371600"/>
            <a:ext cx="7315200" cy="41148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Adel</a:t>
            </a:r>
            <a:endParaRPr lang="en-US" sz="2400" dirty="0"/>
          </a:p>
        </p:txBody>
      </p:sp>
      <p:sp>
        <p:nvSpPr>
          <p:cNvPr id="21" name="Shape 18"/>
          <p:cNvSpPr/>
          <p:nvPr/>
        </p:nvSpPr>
        <p:spPr>
          <a:xfrm>
            <a:off x="4206240" y="1444752"/>
            <a:ext cx="274320" cy="274320"/>
          </a:xfrm>
          <a:prstGeom prst="rect">
            <a:avLst/>
          </a:prstGeom>
          <a:solidFill>
            <a:srgbClr val="3F7CC4"/>
          </a:solidFill>
          <a:ln/>
        </p:spPr>
      </p:sp>
      <p:sp>
        <p:nvSpPr>
          <p:cNvPr id="22" name="Text 19"/>
          <p:cNvSpPr txBox="1"/>
          <p:nvPr/>
        </p:nvSpPr>
        <p:spPr>
          <a:xfrm>
            <a:off x="4572000" y="1371600"/>
            <a:ext cx="7315200" cy="41148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Dritter Stand (Bauern und Bürger)</a:t>
            </a:r>
            <a:endParaRPr lang="en-US" sz="2400" dirty="0"/>
          </a:p>
        </p:txBody>
      </p:sp>
      <p:sp>
        <p:nvSpPr>
          <p:cNvPr id="23" name="Text 20"/>
          <p:cNvSpPr txBox="1"/>
          <p:nvPr/>
        </p:nvSpPr>
        <p:spPr>
          <a:xfrm>
            <a:off x="548640" y="2057400"/>
            <a:ext cx="731520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Bevölkerung</a:t>
            </a:r>
            <a:endParaRPr lang="en-US" sz="2400" dirty="0"/>
          </a:p>
        </p:txBody>
      </p:sp>
      <p:sp>
        <p:nvSpPr>
          <p:cNvPr id="24" name="Text 21"/>
          <p:cNvSpPr txBox="1"/>
          <p:nvPr/>
        </p:nvSpPr>
        <p:spPr>
          <a:xfrm>
            <a:off x="4572000" y="2057400"/>
            <a:ext cx="7040880" cy="411480"/>
          </a:xfrm>
          <a:prstGeom prst="rect">
            <a:avLst/>
          </a:prstGeom>
          <a:noFill/>
          <a:ln/>
        </p:spPr>
        <p:txBody>
          <a:bodyPr wrap="square" lIns="0" tIns="0" rIns="0" bIns="0" rtlCol="0" anchor="t"/>
          <a:lstStyle/>
          <a:p>
            <a:pPr algn="r" indent="0" marL="0">
              <a:buNone/>
            </a:pPr>
            <a:r>
              <a:rPr lang="en-US" sz="2400" dirty="0">
                <a:solidFill>
                  <a:srgbClr val="5B6B8C"/>
                </a:solidFill>
                <a:latin typeface="Calibri" pitchFamily="34" charset="0"/>
                <a:ea typeface="Calibri" pitchFamily="34" charset="-122"/>
                <a:cs typeface="Calibri" pitchFamily="34" charset="-120"/>
              </a:rPr>
              <a:t>Klerus ca. 1 % · Adel ca. 2 %</a:t>
            </a:r>
            <a:endParaRPr lang="en-US" sz="2400" dirty="0"/>
          </a:p>
        </p:txBody>
      </p:sp>
      <p:sp>
        <p:nvSpPr>
          <p:cNvPr id="25" name="Shape 22"/>
          <p:cNvSpPr/>
          <p:nvPr/>
        </p:nvSpPr>
        <p:spPr>
          <a:xfrm>
            <a:off x="548640" y="2514600"/>
            <a:ext cx="81103" cy="594360"/>
          </a:xfrm>
          <a:prstGeom prst="rect">
            <a:avLst/>
          </a:prstGeom>
          <a:solidFill>
            <a:srgbClr val="8E6BBE"/>
          </a:solidFill>
          <a:ln w="19050">
            <a:solidFill>
              <a:srgbClr val="FFFFFF"/>
            </a:solidFill>
            <a:prstDash val="solid"/>
          </a:ln>
        </p:spPr>
      </p:sp>
      <p:sp>
        <p:nvSpPr>
          <p:cNvPr id="26" name="Shape 23"/>
          <p:cNvSpPr/>
          <p:nvPr/>
        </p:nvSpPr>
        <p:spPr>
          <a:xfrm>
            <a:off x="629743" y="2514600"/>
            <a:ext cx="268861" cy="594360"/>
          </a:xfrm>
          <a:prstGeom prst="rect">
            <a:avLst/>
          </a:prstGeom>
          <a:solidFill>
            <a:srgbClr val="E8A33D"/>
          </a:solidFill>
          <a:ln w="19050">
            <a:solidFill>
              <a:srgbClr val="FFFFFF"/>
            </a:solidFill>
            <a:prstDash val="solid"/>
          </a:ln>
        </p:spPr>
      </p:sp>
      <p:sp>
        <p:nvSpPr>
          <p:cNvPr id="27" name="Shape 24"/>
          <p:cNvSpPr/>
          <p:nvPr/>
        </p:nvSpPr>
        <p:spPr>
          <a:xfrm>
            <a:off x="898604" y="2514600"/>
            <a:ext cx="10759996" cy="594360"/>
          </a:xfrm>
          <a:prstGeom prst="rect">
            <a:avLst/>
          </a:prstGeom>
          <a:solidFill>
            <a:srgbClr val="3F7CC4"/>
          </a:solidFill>
          <a:ln w="19050">
            <a:solidFill>
              <a:srgbClr val="FFFFFF"/>
            </a:solidFill>
            <a:prstDash val="solid"/>
          </a:ln>
        </p:spPr>
      </p:sp>
      <p:sp>
        <p:nvSpPr>
          <p:cNvPr id="28" name="Text 25"/>
          <p:cNvSpPr txBox="1"/>
          <p:nvPr/>
        </p:nvSpPr>
        <p:spPr>
          <a:xfrm>
            <a:off x="898604" y="2514600"/>
            <a:ext cx="1075999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97 %</a:t>
            </a:r>
            <a:endParaRPr lang="en-US" sz="2400" dirty="0"/>
          </a:p>
        </p:txBody>
      </p:sp>
      <p:sp>
        <p:nvSpPr>
          <p:cNvPr id="29" name="Text 26"/>
          <p:cNvSpPr txBox="1"/>
          <p:nvPr/>
        </p:nvSpPr>
        <p:spPr>
          <a:xfrm>
            <a:off x="548640" y="3246120"/>
            <a:ext cx="731520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Abgeordnete</a:t>
            </a:r>
            <a:endParaRPr lang="en-US" sz="2400" dirty="0"/>
          </a:p>
        </p:txBody>
      </p:sp>
      <p:sp>
        <p:nvSpPr>
          <p:cNvPr id="30" name="Shape 27"/>
          <p:cNvSpPr/>
          <p:nvPr/>
        </p:nvSpPr>
        <p:spPr>
          <a:xfrm>
            <a:off x="548640" y="3703320"/>
            <a:ext cx="2826218" cy="594360"/>
          </a:xfrm>
          <a:prstGeom prst="rect">
            <a:avLst/>
          </a:prstGeom>
          <a:solidFill>
            <a:srgbClr val="8E6BBE"/>
          </a:solidFill>
          <a:ln w="19050">
            <a:solidFill>
              <a:srgbClr val="FFFFFF"/>
            </a:solidFill>
            <a:prstDash val="solid"/>
          </a:ln>
        </p:spPr>
      </p:sp>
      <p:sp>
        <p:nvSpPr>
          <p:cNvPr id="31" name="Text 28"/>
          <p:cNvSpPr txBox="1"/>
          <p:nvPr/>
        </p:nvSpPr>
        <p:spPr>
          <a:xfrm>
            <a:off x="548640" y="3703320"/>
            <a:ext cx="2826218"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290</a:t>
            </a:r>
            <a:endParaRPr lang="en-US" sz="2400" dirty="0"/>
          </a:p>
        </p:txBody>
      </p:sp>
      <p:sp>
        <p:nvSpPr>
          <p:cNvPr id="32" name="Shape 29"/>
          <p:cNvSpPr/>
          <p:nvPr/>
        </p:nvSpPr>
        <p:spPr>
          <a:xfrm>
            <a:off x="3374858" y="3703320"/>
            <a:ext cx="2631306" cy="594360"/>
          </a:xfrm>
          <a:prstGeom prst="rect">
            <a:avLst/>
          </a:prstGeom>
          <a:solidFill>
            <a:srgbClr val="E8A33D"/>
          </a:solidFill>
          <a:ln w="19050">
            <a:solidFill>
              <a:srgbClr val="FFFFFF"/>
            </a:solidFill>
            <a:prstDash val="solid"/>
          </a:ln>
        </p:spPr>
      </p:sp>
      <p:sp>
        <p:nvSpPr>
          <p:cNvPr id="33" name="Text 30"/>
          <p:cNvSpPr txBox="1"/>
          <p:nvPr/>
        </p:nvSpPr>
        <p:spPr>
          <a:xfrm>
            <a:off x="3374858" y="3703320"/>
            <a:ext cx="263130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270</a:t>
            </a:r>
            <a:endParaRPr lang="en-US" sz="2400" dirty="0"/>
          </a:p>
        </p:txBody>
      </p:sp>
      <p:sp>
        <p:nvSpPr>
          <p:cNvPr id="34" name="Shape 31"/>
          <p:cNvSpPr/>
          <p:nvPr/>
        </p:nvSpPr>
        <p:spPr>
          <a:xfrm>
            <a:off x="6006164" y="3703320"/>
            <a:ext cx="5652436" cy="594360"/>
          </a:xfrm>
          <a:prstGeom prst="rect">
            <a:avLst/>
          </a:prstGeom>
          <a:solidFill>
            <a:srgbClr val="3F7CC4"/>
          </a:solidFill>
          <a:ln w="19050">
            <a:solidFill>
              <a:srgbClr val="FFFFFF"/>
            </a:solidFill>
            <a:prstDash val="solid"/>
          </a:ln>
        </p:spPr>
      </p:sp>
      <p:sp>
        <p:nvSpPr>
          <p:cNvPr id="35" name="Text 32"/>
          <p:cNvSpPr txBox="1"/>
          <p:nvPr/>
        </p:nvSpPr>
        <p:spPr>
          <a:xfrm>
            <a:off x="6006164" y="3703320"/>
            <a:ext cx="565243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580</a:t>
            </a:r>
            <a:endParaRPr lang="en-US" sz="2400" dirty="0"/>
          </a:p>
        </p:txBody>
      </p:sp>
      <p:sp>
        <p:nvSpPr>
          <p:cNvPr id="36" name="Text 33"/>
          <p:cNvSpPr txBox="1"/>
          <p:nvPr/>
        </p:nvSpPr>
        <p:spPr>
          <a:xfrm>
            <a:off x="548640" y="4434840"/>
            <a:ext cx="731520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Stimmen bei der Abstimmung nach Ständen</a:t>
            </a:r>
            <a:endParaRPr lang="en-US" sz="2400" dirty="0"/>
          </a:p>
        </p:txBody>
      </p:sp>
      <p:sp>
        <p:nvSpPr>
          <p:cNvPr id="37" name="Shape 34"/>
          <p:cNvSpPr/>
          <p:nvPr/>
        </p:nvSpPr>
        <p:spPr>
          <a:xfrm>
            <a:off x="548640" y="4892040"/>
            <a:ext cx="3703320" cy="594360"/>
          </a:xfrm>
          <a:prstGeom prst="rect">
            <a:avLst/>
          </a:prstGeom>
          <a:solidFill>
            <a:srgbClr val="8E6BBE"/>
          </a:solidFill>
          <a:ln w="19050">
            <a:solidFill>
              <a:srgbClr val="FFFFFF"/>
            </a:solidFill>
            <a:prstDash val="solid"/>
          </a:ln>
        </p:spPr>
      </p:sp>
      <p:sp>
        <p:nvSpPr>
          <p:cNvPr id="38" name="Text 35"/>
          <p:cNvSpPr txBox="1"/>
          <p:nvPr/>
        </p:nvSpPr>
        <p:spPr>
          <a:xfrm>
            <a:off x="548640" y="4892040"/>
            <a:ext cx="370332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39" name="Shape 36"/>
          <p:cNvSpPr/>
          <p:nvPr/>
        </p:nvSpPr>
        <p:spPr>
          <a:xfrm>
            <a:off x="4251960" y="4892040"/>
            <a:ext cx="3703320" cy="594360"/>
          </a:xfrm>
          <a:prstGeom prst="rect">
            <a:avLst/>
          </a:prstGeom>
          <a:solidFill>
            <a:srgbClr val="E8A33D"/>
          </a:solidFill>
          <a:ln w="19050">
            <a:solidFill>
              <a:srgbClr val="FFFFFF"/>
            </a:solidFill>
            <a:prstDash val="solid"/>
          </a:ln>
        </p:spPr>
      </p:sp>
      <p:sp>
        <p:nvSpPr>
          <p:cNvPr id="40" name="Text 37"/>
          <p:cNvSpPr txBox="1"/>
          <p:nvPr/>
        </p:nvSpPr>
        <p:spPr>
          <a:xfrm>
            <a:off x="4251960" y="4892040"/>
            <a:ext cx="370332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41" name="Shape 38"/>
          <p:cNvSpPr/>
          <p:nvPr/>
        </p:nvSpPr>
        <p:spPr>
          <a:xfrm>
            <a:off x="7955280" y="4892040"/>
            <a:ext cx="3703320" cy="594360"/>
          </a:xfrm>
          <a:prstGeom prst="rect">
            <a:avLst/>
          </a:prstGeom>
          <a:solidFill>
            <a:srgbClr val="3F7CC4"/>
          </a:solidFill>
          <a:ln w="19050">
            <a:solidFill>
              <a:srgbClr val="FFFFFF"/>
            </a:solidFill>
            <a:prstDash val="solid"/>
          </a:ln>
        </p:spPr>
      </p:sp>
      <p:sp>
        <p:nvSpPr>
          <p:cNvPr id="42" name="Text 39"/>
          <p:cNvSpPr txBox="1"/>
          <p:nvPr/>
        </p:nvSpPr>
        <p:spPr>
          <a:xfrm>
            <a:off x="7955280" y="4892040"/>
            <a:ext cx="370332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43" name="Shape 40"/>
          <p:cNvSpPr/>
          <p:nvPr/>
        </p:nvSpPr>
        <p:spPr>
          <a:xfrm>
            <a:off x="548640" y="5669280"/>
            <a:ext cx="11109960" cy="777240"/>
          </a:xfrm>
          <a:prstGeom prst="roundRect">
            <a:avLst>
              <a:gd name="adj" fmla="val 9412"/>
            </a:avLst>
          </a:prstGeom>
          <a:solidFill>
            <a:srgbClr val="1E2761"/>
          </a:solidFill>
          <a:ln/>
        </p:spPr>
      </p:sp>
      <p:sp>
        <p:nvSpPr>
          <p:cNvPr id="44" name="Text 41"/>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Gewicht: </a:t>
            </a:r>
            <a:pPr indent="0" marL="0">
              <a:buNone/>
            </a:pPr>
            <a:r>
              <a:rPr lang="en-US" sz="2400" dirty="0">
                <a:solidFill>
                  <a:srgbClr val="FFFFFF"/>
                </a:solidFill>
                <a:latin typeface="Calibri" pitchFamily="34" charset="0"/>
                <a:ea typeface="Calibri" pitchFamily="34" charset="-122"/>
                <a:cs typeface="Calibri" pitchFamily="34" charset="-120"/>
              </a:rPr>
              <a:t>Eine Stimme des Klerus wiegt rund 133-mal so viel.</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ÜBUNG 3</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Was ist passiert?</a:t>
            </a:r>
            <a:endParaRPr lang="en-US" sz="3400" dirty="0"/>
          </a:p>
        </p:txBody>
      </p:sp>
      <p:sp>
        <p:nvSpPr>
          <p:cNvPr id="4" name="Shape 2"/>
          <p:cNvSpPr/>
          <p:nvPr/>
        </p:nvSpPr>
        <p:spPr>
          <a:xfrm>
            <a:off x="548640" y="1371600"/>
            <a:ext cx="11109960" cy="2148840"/>
          </a:xfrm>
          <a:prstGeom prst="roundRect">
            <a:avLst>
              <a:gd name="adj" fmla="val 3404"/>
            </a:avLst>
          </a:prstGeom>
          <a:solidFill>
            <a:srgbClr val="EAF0FA"/>
          </a:solidFill>
          <a:ln/>
        </p:spPr>
      </p:sp>
      <p:sp>
        <p:nvSpPr>
          <p:cNvPr id="5" name="Shape 3"/>
          <p:cNvSpPr/>
          <p:nvPr/>
        </p:nvSpPr>
        <p:spPr>
          <a:xfrm>
            <a:off x="731520" y="1517904"/>
            <a:ext cx="384048" cy="384048"/>
          </a:xfrm>
          <a:prstGeom prst="ellipse">
            <a:avLst/>
          </a:prstGeom>
          <a:solidFill>
            <a:srgbClr val="1E2761"/>
          </a:solidFill>
          <a:ln/>
        </p:spPr>
      </p:sp>
      <p:sp>
        <p:nvSpPr>
          <p:cNvPr id="6" name="Text 4"/>
          <p:cNvSpPr txBox="1"/>
          <p:nvPr/>
        </p:nvSpPr>
        <p:spPr>
          <a:xfrm>
            <a:off x="731520" y="15179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80160" y="1481328"/>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Der Dritte Stand wurde überstimmt, weil …</a:t>
            </a:r>
            <a:endParaRPr lang="en-US" sz="2400" dirty="0"/>
          </a:p>
        </p:txBody>
      </p:sp>
      <p:sp>
        <p:nvSpPr>
          <p:cNvPr id="8" name="Shape 6"/>
          <p:cNvSpPr/>
          <p:nvPr/>
        </p:nvSpPr>
        <p:spPr>
          <a:xfrm>
            <a:off x="731520" y="2048256"/>
            <a:ext cx="384048" cy="384048"/>
          </a:xfrm>
          <a:prstGeom prst="ellipse">
            <a:avLst/>
          </a:prstGeom>
          <a:solidFill>
            <a:srgbClr val="1E2761"/>
          </a:solidFill>
          <a:ln/>
        </p:spPr>
      </p:sp>
      <p:sp>
        <p:nvSpPr>
          <p:cNvPr id="9" name="Text 7"/>
          <p:cNvSpPr txBox="1"/>
          <p:nvPr/>
        </p:nvSpPr>
        <p:spPr>
          <a:xfrm>
            <a:off x="731520" y="204825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80160" y="2011680"/>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Klerus und Adel haben …</a:t>
            </a:r>
            <a:endParaRPr lang="en-US" sz="2400" dirty="0"/>
          </a:p>
        </p:txBody>
      </p:sp>
      <p:sp>
        <p:nvSpPr>
          <p:cNvPr id="11" name="Shape 9"/>
          <p:cNvSpPr/>
          <p:nvPr/>
        </p:nvSpPr>
        <p:spPr>
          <a:xfrm>
            <a:off x="731520" y="2578608"/>
            <a:ext cx="384048" cy="384048"/>
          </a:xfrm>
          <a:prstGeom prst="ellipse">
            <a:avLst/>
          </a:prstGeom>
          <a:solidFill>
            <a:srgbClr val="1E2761"/>
          </a:solidFill>
          <a:ln/>
        </p:spPr>
      </p:sp>
      <p:sp>
        <p:nvSpPr>
          <p:cNvPr id="12" name="Text 10"/>
          <p:cNvSpPr txBox="1"/>
          <p:nvPr/>
        </p:nvSpPr>
        <p:spPr>
          <a:xfrm>
            <a:off x="731520" y="257860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542032"/>
            <a:ext cx="1024128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 Die Abstimmung nach Ständen ist unfair, weil … (nenne eine Zahl)</a:t>
            </a:r>
            <a:endParaRPr lang="en-US" sz="2400" dirty="0"/>
          </a:p>
        </p:txBody>
      </p:sp>
      <p:sp>
        <p:nvSpPr>
          <p:cNvPr id="14" name="Shape 12"/>
          <p:cNvSpPr/>
          <p:nvPr/>
        </p:nvSpPr>
        <p:spPr>
          <a:xfrm>
            <a:off x="548640" y="5669280"/>
            <a:ext cx="11109960" cy="777240"/>
          </a:xfrm>
          <a:prstGeom prst="roundRect">
            <a:avLst>
              <a:gd name="adj" fmla="val 9412"/>
            </a:avLst>
          </a:prstGeom>
          <a:solidFill>
            <a:srgbClr val="1E2761"/>
          </a:solidFill>
          <a:ln/>
        </p:spPr>
      </p:sp>
      <p:sp>
        <p:nvSpPr>
          <p:cNvPr id="15"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4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 und noch einmal durchlesen.</a:t>
            </a:r>
            <a:endParaRPr lang="en-US" sz="2400" dirty="0"/>
          </a:p>
        </p:txBody>
      </p:sp>
      <p:sp>
        <p:nvSpPr>
          <p:cNvPr id="16"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7" name="Text 15"/>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
        <p:nvSpPr>
          <p:cNvPr id="19" name="Shape 16"/>
          <p:cNvSpPr/>
          <p:nvPr/>
        </p:nvSpPr>
        <p:spPr>
          <a:xfrm>
            <a:off x="9144000" y="274320"/>
            <a:ext cx="402336" cy="402336"/>
          </a:xfrm>
          <a:prstGeom prst="ellipse">
            <a:avLst/>
          </a:prstGeom>
          <a:solidFill>
            <a:srgbClr val="EAF0FA"/>
          </a:solidFill>
          <a:ln/>
        </p:spPr>
      </p:sp>
      <p:sp>
        <p:nvSpPr>
          <p:cNvPr id="20" name="Text 17"/>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21" name="Shape 18"/>
          <p:cNvSpPr/>
          <p:nvPr/>
        </p:nvSpPr>
        <p:spPr>
          <a:xfrm>
            <a:off x="9646920" y="274320"/>
            <a:ext cx="402336" cy="402336"/>
          </a:xfrm>
          <a:prstGeom prst="ellipse">
            <a:avLst/>
          </a:prstGeom>
          <a:solidFill>
            <a:srgbClr val="EAF0FA"/>
          </a:solidFill>
          <a:ln/>
        </p:spPr>
      </p:sp>
      <p:sp>
        <p:nvSpPr>
          <p:cNvPr id="22" name="Text 19"/>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0149840" y="274320"/>
            <a:ext cx="402336" cy="402336"/>
          </a:xfrm>
          <a:prstGeom prst="ellipse">
            <a:avLst/>
          </a:prstGeom>
          <a:solidFill>
            <a:srgbClr val="EAF0FA"/>
          </a:solidFill>
          <a:ln/>
        </p:spPr>
      </p:sp>
      <p:sp>
        <p:nvSpPr>
          <p:cNvPr id="24" name="Text 21"/>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25" name="Shape 22"/>
          <p:cNvSpPr/>
          <p:nvPr/>
        </p:nvSpPr>
        <p:spPr>
          <a:xfrm>
            <a:off x="10652760" y="274320"/>
            <a:ext cx="402336" cy="402336"/>
          </a:xfrm>
          <a:prstGeom prst="ellipse">
            <a:avLst/>
          </a:prstGeom>
          <a:solidFill>
            <a:srgbClr val="D9534F"/>
          </a:solidFill>
          <a:ln/>
        </p:spPr>
      </p:sp>
      <p:sp>
        <p:nvSpPr>
          <p:cNvPr id="26" name="Text 23"/>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27" name="Shape 24"/>
          <p:cNvSpPr/>
          <p:nvPr/>
        </p:nvSpPr>
        <p:spPr>
          <a:xfrm>
            <a:off x="11155680" y="274320"/>
            <a:ext cx="402336" cy="402336"/>
          </a:xfrm>
          <a:prstGeom prst="ellipse">
            <a:avLst/>
          </a:prstGeom>
          <a:solidFill>
            <a:srgbClr val="EAF0FA"/>
          </a:solidFill>
          <a:ln/>
        </p:spPr>
      </p:sp>
      <p:sp>
        <p:nvSpPr>
          <p:cNvPr id="28" name="Text 25"/>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300" b="1" spc="200" kern="0" dirty="0">
                <a:solidFill>
                  <a:srgbClr val="D9534F"/>
                </a:solidFill>
                <a:latin typeface="Calibri" pitchFamily="34" charset="0"/>
                <a:ea typeface="Calibri" pitchFamily="34" charset="-122"/>
                <a:cs typeface="Calibri" pitchFamily="34" charset="-120"/>
              </a:rPr>
              <a:t>MERKSATZ 1 · ABSCHREIBEN UND ROT UMRAHMEN</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Abstimmung nach Ständen</a:t>
            </a:r>
            <a:endParaRPr lang="en-US" sz="3400" dirty="0"/>
          </a:p>
        </p:txBody>
      </p:sp>
      <p:sp>
        <p:nvSpPr>
          <p:cNvPr id="4" name="Shape 2"/>
          <p:cNvSpPr/>
          <p:nvPr/>
        </p:nvSpPr>
        <p:spPr>
          <a:xfrm>
            <a:off x="548640" y="1371600"/>
            <a:ext cx="11109960" cy="1920240"/>
          </a:xfrm>
          <a:prstGeom prst="roundRect">
            <a:avLst>
              <a:gd name="adj" fmla="val 3810"/>
            </a:avLst>
          </a:prstGeom>
          <a:solidFill>
            <a:srgbClr val="FFFFFF"/>
          </a:solidFill>
          <a:ln w="38100">
            <a:solidFill>
              <a:srgbClr val="D9534F"/>
            </a:solidFill>
            <a:prstDash val="solid"/>
          </a:ln>
        </p:spPr>
      </p:sp>
      <p:sp>
        <p:nvSpPr>
          <p:cNvPr id="5" name="Text 3"/>
          <p:cNvSpPr txBox="1"/>
          <p:nvPr/>
        </p:nvSpPr>
        <p:spPr>
          <a:xfrm>
            <a:off x="868680" y="1417320"/>
            <a:ext cx="10469880" cy="182880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Bei den Generalständen hat jeder Stand </a:t>
            </a:r>
            <a:pPr indent="0" marL="0">
              <a:buNone/>
            </a:pPr>
            <a:r>
              <a:rPr lang="en-US" sz="2400" b="1" dirty="0">
                <a:solidFill>
                  <a:srgbClr val="1E2761"/>
                </a:solidFill>
                <a:latin typeface="Cambria" pitchFamily="34" charset="0"/>
                <a:ea typeface="Cambria" pitchFamily="34" charset="-122"/>
                <a:cs typeface="Cambria" pitchFamily="34" charset="-120"/>
              </a:rPr>
              <a:t>eine Stimme</a:t>
            </a:r>
            <a:pPr indent="0" marL="0">
              <a:buNone/>
            </a:pPr>
            <a:r>
              <a:rPr lang="en-US" sz="2400" dirty="0">
                <a:solidFill>
                  <a:srgbClr val="1E2761"/>
                </a:solidFill>
                <a:latin typeface="Cambria" pitchFamily="34" charset="0"/>
                <a:ea typeface="Cambria" pitchFamily="34" charset="-122"/>
                <a:cs typeface="Cambria" pitchFamily="34" charset="-120"/>
              </a:rPr>
              <a:t>. Klerus und Adel (zusammen ca. 3 % der Bevölkerung) haben damit </a:t>
            </a:r>
            <a:pPr indent="0" marL="0">
              <a:buNone/>
            </a:pPr>
            <a:r>
              <a:rPr lang="en-US" sz="2400" b="1" dirty="0">
                <a:solidFill>
                  <a:srgbClr val="1E2761"/>
                </a:solidFill>
                <a:latin typeface="Cambria" pitchFamily="34" charset="0"/>
                <a:ea typeface="Cambria" pitchFamily="34" charset="-122"/>
                <a:cs typeface="Cambria" pitchFamily="34" charset="-120"/>
              </a:rPr>
              <a:t>zwei von drei Stimmen</a:t>
            </a:r>
            <a:pPr indent="0" marL="0">
              <a:buNone/>
            </a:pPr>
            <a:r>
              <a:rPr lang="en-US" sz="2400" dirty="0">
                <a:solidFill>
                  <a:srgbClr val="1E2761"/>
                </a:solidFill>
                <a:latin typeface="Cambria" pitchFamily="34" charset="0"/>
                <a:ea typeface="Cambria" pitchFamily="34" charset="-122"/>
                <a:cs typeface="Cambria" pitchFamily="34" charset="-120"/>
              </a:rPr>
              <a:t>. Sprechen sie sich ab, können sie den Dritten Stand (Bauern und Bürger, ca. 97 %) </a:t>
            </a:r>
            <a:pPr indent="0" marL="0">
              <a:buNone/>
            </a:pPr>
            <a:r>
              <a:rPr lang="en-US" sz="2400" b="1" dirty="0">
                <a:solidFill>
                  <a:srgbClr val="1E2761"/>
                </a:solidFill>
                <a:latin typeface="Cambria" pitchFamily="34" charset="0"/>
                <a:ea typeface="Cambria" pitchFamily="34" charset="-122"/>
                <a:cs typeface="Cambria" pitchFamily="34" charset="-120"/>
              </a:rPr>
              <a:t>immer überstimmen</a:t>
            </a:r>
            <a:pPr indent="0" marL="0">
              <a:buNone/>
            </a:pPr>
            <a:r>
              <a:rPr lang="en-US" sz="2400" dirty="0">
                <a:solidFill>
                  <a:srgbClr val="1E2761"/>
                </a:solidFill>
                <a:latin typeface="Cambria" pitchFamily="34" charset="0"/>
                <a:ea typeface="Cambria" pitchFamily="34" charset="-122"/>
                <a:cs typeface="Cambria" pitchFamily="34" charset="-120"/>
              </a:rPr>
              <a:t>.</a:t>
            </a:r>
            <a:endParaRPr lang="en-US" sz="2400" dirty="0"/>
          </a:p>
        </p:txBody>
      </p:sp>
      <p:sp>
        <p:nvSpPr>
          <p:cNvPr id="6" name="Shape 4"/>
          <p:cNvSpPr/>
          <p:nvPr/>
        </p:nvSpPr>
        <p:spPr>
          <a:xfrm>
            <a:off x="548640" y="3401568"/>
            <a:ext cx="11109960" cy="1143000"/>
          </a:xfrm>
          <a:prstGeom prst="roundRect">
            <a:avLst>
              <a:gd name="adj" fmla="val 6400"/>
            </a:avLst>
          </a:prstGeom>
          <a:solidFill>
            <a:srgbClr val="EAF0FA"/>
          </a:solidFill>
          <a:ln/>
        </p:spPr>
      </p:sp>
      <p:sp>
        <p:nvSpPr>
          <p:cNvPr id="7" name="Text 5"/>
          <p:cNvSpPr txBox="1"/>
          <p:nvPr/>
        </p:nvSpPr>
        <p:spPr>
          <a:xfrm>
            <a:off x="822960" y="3401568"/>
            <a:ext cx="10607040" cy="1143000"/>
          </a:xfrm>
          <a:prstGeom prst="rect">
            <a:avLst/>
          </a:prstGeom>
          <a:noFill/>
          <a:ln/>
        </p:spPr>
        <p:txBody>
          <a:bodyPr wrap="square" lIns="0" tIns="0" rIns="0" bIns="0" rtlCol="0" anchor="ctr"/>
          <a:lstStyle/>
          <a:p>
            <a:pPr indent="0" marL="0">
              <a:buNone/>
            </a:pPr>
            <a:r>
              <a:rPr lang="en-US" sz="2400" b="1" dirty="0">
                <a:solidFill>
                  <a:srgbClr val="5B6B8C"/>
                </a:solidFill>
                <a:latin typeface="Calibri" pitchFamily="34" charset="0"/>
                <a:ea typeface="Calibri" pitchFamily="34" charset="-122"/>
                <a:cs typeface="Calibri" pitchFamily="34" charset="-120"/>
              </a:rPr>
              <a:t>Beispiel:   </a:t>
            </a:r>
            <a:pPr indent="0" marL="0">
              <a:buNone/>
            </a:pPr>
            <a:r>
              <a:rPr lang="en-US" sz="2400" dirty="0">
                <a:solidFill>
                  <a:srgbClr val="1E2761"/>
                </a:solidFill>
                <a:latin typeface="Cambria" pitchFamily="34" charset="0"/>
                <a:ea typeface="Cambria" pitchFamily="34" charset="-122"/>
                <a:cs typeface="Cambria" pitchFamily="34" charset="-120"/>
              </a:rPr>
              <a:t>Im Spiel: 18 Personen im Dritten Stand hatten zusammen </a:t>
            </a:r>
            <a:pPr indent="0" marL="0">
              <a:buNone/>
            </a:pPr>
            <a:r>
              <a:rPr lang="en-US" sz="2400" b="1" dirty="0">
                <a:solidFill>
                  <a:srgbClr val="1E2761"/>
                </a:solidFill>
                <a:latin typeface="Cambria" pitchFamily="34" charset="0"/>
                <a:ea typeface="Cambria" pitchFamily="34" charset="-122"/>
                <a:cs typeface="Cambria" pitchFamily="34" charset="-120"/>
              </a:rPr>
              <a:t>eine</a:t>
            </a:r>
            <a:pPr indent="0" marL="0">
              <a:buNone/>
            </a:pPr>
            <a:r>
              <a:rPr lang="en-US" sz="2400" dirty="0">
                <a:solidFill>
                  <a:srgbClr val="1E2761"/>
                </a:solidFill>
                <a:latin typeface="Cambria" pitchFamily="34" charset="0"/>
                <a:ea typeface="Cambria" pitchFamily="34" charset="-122"/>
                <a:cs typeface="Cambria" pitchFamily="34" charset="-120"/>
              </a:rPr>
              <a:t> Stimme, 3 Personen im Klerus ebenfalls.</a:t>
            </a:r>
            <a:endParaRPr lang="en-US" sz="2400" dirty="0"/>
          </a:p>
        </p:txBody>
      </p:sp>
      <p:sp>
        <p:nvSpPr>
          <p:cNvPr id="8" name="Shape 6"/>
          <p:cNvSpPr/>
          <p:nvPr/>
        </p:nvSpPr>
        <p:spPr>
          <a:xfrm>
            <a:off x="548640" y="4645152"/>
            <a:ext cx="11109960" cy="886968"/>
          </a:xfrm>
          <a:prstGeom prst="roundRect">
            <a:avLst>
              <a:gd name="adj" fmla="val 8247"/>
            </a:avLst>
          </a:prstGeom>
          <a:solidFill>
            <a:srgbClr val="F4F7FD"/>
          </a:solidFill>
          <a:ln/>
        </p:spPr>
      </p:sp>
      <p:sp>
        <p:nvSpPr>
          <p:cNvPr id="9" name="Text 7"/>
          <p:cNvSpPr txBox="1"/>
          <p:nvPr/>
        </p:nvSpPr>
        <p:spPr>
          <a:xfrm>
            <a:off x="822960" y="4645152"/>
            <a:ext cx="10607040" cy="886968"/>
          </a:xfrm>
          <a:prstGeom prst="rect">
            <a:avLst/>
          </a:prstGeom>
          <a:noFill/>
          <a:ln/>
        </p:spPr>
        <p:txBody>
          <a:bodyPr wrap="square" lIns="0" tIns="0" rIns="0" bIns="0" rtlCol="0" anchor="ctr"/>
          <a:lstStyle/>
          <a:p>
            <a:pPr indent="0" marL="0">
              <a:buNone/>
            </a:pPr>
            <a:r>
              <a:rPr lang="en-US" sz="2400" b="1" dirty="0">
                <a:solidFill>
                  <a:srgbClr val="D9534F"/>
                </a:solidFill>
                <a:latin typeface="Cambria" pitchFamily="34" charset="0"/>
                <a:ea typeface="Cambria" pitchFamily="34" charset="-122"/>
                <a:cs typeface="Cambria" pitchFamily="34" charset="-120"/>
              </a:rPr>
              <a:t>Test:   </a:t>
            </a:r>
            <a:pPr indent="0" marL="0">
              <a:buNone/>
            </a:pPr>
            <a:r>
              <a:rPr lang="en-US" sz="2400" dirty="0">
                <a:solidFill>
                  <a:srgbClr val="1E2761"/>
                </a:solidFill>
                <a:latin typeface="Calibri" pitchFamily="34" charset="0"/>
                <a:ea typeface="Calibri" pitchFamily="34" charset="-122"/>
                <a:cs typeface="Calibri" pitchFamily="34" charset="-120"/>
              </a:rPr>
              <a:t>Wie viele Menschen stehen hinter </a:t>
            </a:r>
            <a:pPr indent="0" marL="0">
              <a:buNone/>
            </a:pPr>
            <a:r>
              <a:rPr lang="en-US" sz="2400" b="1" dirty="0">
                <a:solidFill>
                  <a:srgbClr val="1E2761"/>
                </a:solidFill>
                <a:latin typeface="Calibri" pitchFamily="34" charset="0"/>
                <a:ea typeface="Calibri" pitchFamily="34" charset="-122"/>
                <a:cs typeface="Calibri" pitchFamily="34" charset="-120"/>
              </a:rPr>
              <a:t>einer Stimme</a:t>
            </a:r>
            <a:pPr indent="0" marL="0">
              <a:buNone/>
            </a:pPr>
            <a:r>
              <a:rPr lang="en-US" sz="2400" dirty="0">
                <a:solidFill>
                  <a:srgbClr val="1E2761"/>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548640" y="5669280"/>
            <a:ext cx="11109960" cy="777240"/>
          </a:xfrm>
          <a:prstGeom prst="roundRect">
            <a:avLst>
              <a:gd name="adj" fmla="val 9412"/>
            </a:avLst>
          </a:prstGeom>
          <a:solidFill>
            <a:srgbClr val="1E2761"/>
          </a:solidFill>
          <a:ln/>
        </p:spPr>
      </p:sp>
      <p:sp>
        <p:nvSpPr>
          <p:cNvPr id="11" name="Text 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Jetzt: </a:t>
            </a:r>
            <a:pPr indent="0" marL="0">
              <a:buNone/>
            </a:pPr>
            <a:r>
              <a:rPr lang="en-US" sz="2400" dirty="0">
                <a:solidFill>
                  <a:srgbClr val="FFFFFF"/>
                </a:solidFill>
                <a:latin typeface="Calibri" pitchFamily="34" charset="0"/>
                <a:ea typeface="Calibri" pitchFamily="34" charset="-122"/>
                <a:cs typeface="Calibri" pitchFamily="34" charset="-120"/>
              </a:rPr>
              <a:t>Schreibe den Merksatz ab. Rahme ihn rot.      </a:t>
            </a:r>
            <a:pPr indent="0" marL="0">
              <a:buNone/>
            </a:pPr>
            <a:r>
              <a:rPr lang="en-US" sz="2400" i="1" dirty="0">
                <a:solidFill>
                  <a:srgbClr val="CADCFC"/>
                </a:solidFill>
                <a:latin typeface="Calibri" pitchFamily="34" charset="0"/>
                <a:ea typeface="Calibri" pitchFamily="34" charset="-122"/>
                <a:cs typeface="Calibri" pitchFamily="34" charset="-120"/>
              </a:rPr>
              <a:t>Fertig? Stift hinlegen.</a:t>
            </a:r>
            <a:endParaRPr lang="en-US" sz="2400" dirty="0"/>
          </a:p>
        </p:txBody>
      </p:sp>
      <p:sp>
        <p:nvSpPr>
          <p:cNvPr id="12" name="Text 10"/>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3" name="Text 11"/>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
        <p:nvSpPr>
          <p:cNvPr id="15" name="Shape 12"/>
          <p:cNvSpPr/>
          <p:nvPr/>
        </p:nvSpPr>
        <p:spPr>
          <a:xfrm>
            <a:off x="9144000" y="274320"/>
            <a:ext cx="402336" cy="402336"/>
          </a:xfrm>
          <a:prstGeom prst="ellipse">
            <a:avLst/>
          </a:prstGeom>
          <a:solidFill>
            <a:srgbClr val="EAF0FA"/>
          </a:solidFill>
          <a:ln/>
        </p:spPr>
      </p:sp>
      <p:sp>
        <p:nvSpPr>
          <p:cNvPr id="16" name="Text 13"/>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7" name="Shape 14"/>
          <p:cNvSpPr/>
          <p:nvPr/>
        </p:nvSpPr>
        <p:spPr>
          <a:xfrm>
            <a:off x="9646920" y="274320"/>
            <a:ext cx="402336" cy="402336"/>
          </a:xfrm>
          <a:prstGeom prst="ellipse">
            <a:avLst/>
          </a:prstGeom>
          <a:solidFill>
            <a:srgbClr val="EAF0FA"/>
          </a:solidFill>
          <a:ln/>
        </p:spPr>
      </p:sp>
      <p:sp>
        <p:nvSpPr>
          <p:cNvPr id="18" name="Text 15"/>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9" name="Shape 16"/>
          <p:cNvSpPr/>
          <p:nvPr/>
        </p:nvSpPr>
        <p:spPr>
          <a:xfrm>
            <a:off x="10149840" y="274320"/>
            <a:ext cx="402336" cy="402336"/>
          </a:xfrm>
          <a:prstGeom prst="ellipse">
            <a:avLst/>
          </a:prstGeom>
          <a:solidFill>
            <a:srgbClr val="EAF0FA"/>
          </a:solidFill>
          <a:ln/>
        </p:spPr>
      </p:sp>
      <p:sp>
        <p:nvSpPr>
          <p:cNvPr id="20" name="Text 17"/>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21" name="Shape 18"/>
          <p:cNvSpPr/>
          <p:nvPr/>
        </p:nvSpPr>
        <p:spPr>
          <a:xfrm>
            <a:off x="10652760" y="274320"/>
            <a:ext cx="402336" cy="402336"/>
          </a:xfrm>
          <a:prstGeom prst="ellipse">
            <a:avLst/>
          </a:prstGeom>
          <a:solidFill>
            <a:srgbClr val="EAF0FA"/>
          </a:solidFill>
          <a:ln/>
        </p:spPr>
      </p:sp>
      <p:sp>
        <p:nvSpPr>
          <p:cNvPr id="22" name="Text 19"/>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1155680" y="274320"/>
            <a:ext cx="402336" cy="402336"/>
          </a:xfrm>
          <a:prstGeom prst="ellipse">
            <a:avLst/>
          </a:prstGeom>
          <a:solidFill>
            <a:srgbClr val="D9534F"/>
          </a:solidFill>
          <a:ln/>
        </p:spPr>
      </p:sp>
      <p:sp>
        <p:nvSpPr>
          <p:cNvPr id="24" name="Text 21"/>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Abschlussfrage: Du bist Berater</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pic>
        <p:nvPicPr>
          <p:cNvPr id="17" name="Image 0" descr="../material/koenig.png">    </p:cNvPr>
          <p:cNvPicPr>
            <a:picLocks noChangeAspect="1"/>
          </p:cNvPicPr>
          <p:nvPr/>
        </p:nvPicPr>
        <p:blipFill>
          <a:blip r:embed="rId1"/>
          <a:stretch>
            <a:fillRect/>
          </a:stretch>
        </p:blipFill>
        <p:spPr>
          <a:xfrm>
            <a:off x="502920" y="1325880"/>
            <a:ext cx="2834640" cy="3657600"/>
          </a:xfrm>
          <a:prstGeom prst="rect">
            <a:avLst/>
          </a:prstGeom>
        </p:spPr>
      </p:pic>
      <p:sp>
        <p:nvSpPr>
          <p:cNvPr id="18" name="Text 14"/>
          <p:cNvSpPr txBox="1"/>
          <p:nvPr/>
        </p:nvSpPr>
        <p:spPr>
          <a:xfrm>
            <a:off x="502920" y="5029200"/>
            <a:ext cx="2834640" cy="36576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König Ludwig XVI.</a:t>
            </a:r>
            <a:endParaRPr lang="en-US" sz="2400" dirty="0"/>
          </a:p>
        </p:txBody>
      </p:sp>
      <p:sp>
        <p:nvSpPr>
          <p:cNvPr id="19" name="Shape 15"/>
          <p:cNvSpPr/>
          <p:nvPr/>
        </p:nvSpPr>
        <p:spPr>
          <a:xfrm>
            <a:off x="3840480" y="1371600"/>
            <a:ext cx="7818120" cy="1783080"/>
          </a:xfrm>
          <a:prstGeom prst="roundRect">
            <a:avLst>
              <a:gd name="adj" fmla="val 9231"/>
            </a:avLst>
          </a:prstGeom>
          <a:solidFill>
            <a:srgbClr val="FFFFFF"/>
          </a:solidFill>
          <a:ln w="38100">
            <a:solidFill>
              <a:srgbClr val="1E2761"/>
            </a:solidFill>
            <a:prstDash val="solid"/>
          </a:ln>
        </p:spPr>
      </p:sp>
      <p:sp>
        <p:nvSpPr>
          <p:cNvPr id="20" name="Shape 16"/>
          <p:cNvSpPr/>
          <p:nvPr/>
        </p:nvSpPr>
        <p:spPr>
          <a:xfrm rot="16200000">
            <a:off x="3474720" y="2093976"/>
            <a:ext cx="457200" cy="384048"/>
          </a:xfrm>
          <a:prstGeom prst="triangle">
            <a:avLst/>
          </a:prstGeom>
          <a:solidFill>
            <a:srgbClr val="FFFFFF"/>
          </a:solidFill>
          <a:ln w="38100">
            <a:solidFill>
              <a:srgbClr val="1E2761"/>
            </a:solidFill>
            <a:prstDash val="solid"/>
          </a:ln>
        </p:spPr>
      </p:sp>
      <p:sp>
        <p:nvSpPr>
          <p:cNvPr id="21" name="Shape 17"/>
          <p:cNvSpPr/>
          <p:nvPr/>
        </p:nvSpPr>
        <p:spPr>
          <a:xfrm>
            <a:off x="3822192" y="2103120"/>
            <a:ext cx="91440" cy="365760"/>
          </a:xfrm>
          <a:prstGeom prst="rect">
            <a:avLst/>
          </a:prstGeom>
          <a:solidFill>
            <a:srgbClr val="FFFFFF"/>
          </a:solidFill>
          <a:ln/>
        </p:spPr>
      </p:sp>
      <p:sp>
        <p:nvSpPr>
          <p:cNvPr id="22" name="Text 18"/>
          <p:cNvSpPr txBox="1"/>
          <p:nvPr/>
        </p:nvSpPr>
        <p:spPr>
          <a:xfrm>
            <a:off x="4114800" y="1371600"/>
            <a:ext cx="7315200" cy="178308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„Soll ich erlauben, dass der Dritte Stand (Bauern und Bürger) nach Köpfen abstimmt?“</a:t>
            </a:r>
            <a:endParaRPr lang="en-US" sz="2600" dirty="0"/>
          </a:p>
        </p:txBody>
      </p:sp>
      <p:sp>
        <p:nvSpPr>
          <p:cNvPr id="23" name="Shape 19"/>
          <p:cNvSpPr/>
          <p:nvPr/>
        </p:nvSpPr>
        <p:spPr>
          <a:xfrm>
            <a:off x="3840480" y="3429000"/>
            <a:ext cx="6309360" cy="1463040"/>
          </a:xfrm>
          <a:prstGeom prst="roundRect">
            <a:avLst>
              <a:gd name="adj" fmla="val 11250"/>
            </a:avLst>
          </a:prstGeom>
          <a:solidFill>
            <a:srgbClr val="FDF1D8"/>
          </a:solidFill>
          <a:ln w="38100">
            <a:solidFill>
              <a:srgbClr val="C98A1E"/>
            </a:solidFill>
            <a:prstDash val="solid"/>
          </a:ln>
        </p:spPr>
      </p:sp>
      <p:sp>
        <p:nvSpPr>
          <p:cNvPr id="24" name="Shape 20"/>
          <p:cNvSpPr/>
          <p:nvPr/>
        </p:nvSpPr>
        <p:spPr>
          <a:xfrm rot="5400000">
            <a:off x="10058400" y="3968496"/>
            <a:ext cx="457200" cy="384048"/>
          </a:xfrm>
          <a:prstGeom prst="triangle">
            <a:avLst/>
          </a:prstGeom>
          <a:solidFill>
            <a:srgbClr val="FDF1D8"/>
          </a:solidFill>
          <a:ln w="38100">
            <a:solidFill>
              <a:srgbClr val="C98A1E"/>
            </a:solidFill>
            <a:prstDash val="solid"/>
          </a:ln>
        </p:spPr>
      </p:sp>
      <p:sp>
        <p:nvSpPr>
          <p:cNvPr id="25" name="Shape 21"/>
          <p:cNvSpPr/>
          <p:nvPr/>
        </p:nvSpPr>
        <p:spPr>
          <a:xfrm>
            <a:off x="10076688" y="3977640"/>
            <a:ext cx="91440" cy="365760"/>
          </a:xfrm>
          <a:prstGeom prst="rect">
            <a:avLst/>
          </a:prstGeom>
          <a:solidFill>
            <a:srgbClr val="FDF1D8"/>
          </a:solidFill>
          <a:ln/>
        </p:spPr>
      </p:sp>
      <p:sp>
        <p:nvSpPr>
          <p:cNvPr id="26" name="Text 22"/>
          <p:cNvSpPr txBox="1"/>
          <p:nvPr/>
        </p:nvSpPr>
        <p:spPr>
          <a:xfrm>
            <a:off x="4114800" y="3429000"/>
            <a:ext cx="5852160" cy="14630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Dein Rat:  „Ich rate dir, … , weil …“</a:t>
            </a:r>
            <a:endParaRPr lang="en-US" sz="2600" dirty="0"/>
          </a:p>
        </p:txBody>
      </p:sp>
      <p:pic>
        <p:nvPicPr>
          <p:cNvPr id="27" name="Image 1" descr="../material/berater.png">    </p:cNvPr>
          <p:cNvPicPr>
            <a:picLocks noChangeAspect="1"/>
          </p:cNvPicPr>
          <p:nvPr/>
        </p:nvPicPr>
        <p:blipFill>
          <a:blip r:embed="rId2"/>
          <a:stretch>
            <a:fillRect/>
          </a:stretch>
        </p:blipFill>
        <p:spPr>
          <a:xfrm>
            <a:off x="10744200" y="3108960"/>
            <a:ext cx="1188720" cy="1645920"/>
          </a:xfrm>
          <a:prstGeom prst="rect">
            <a:avLst/>
          </a:prstGeom>
        </p:spPr>
      </p:pic>
      <p:sp>
        <p:nvSpPr>
          <p:cNvPr id="28" name="Text 23"/>
          <p:cNvSpPr txBox="1"/>
          <p:nvPr/>
        </p:nvSpPr>
        <p:spPr>
          <a:xfrm>
            <a:off x="10744200" y="4754880"/>
            <a:ext cx="1188720" cy="36576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Du</a:t>
            </a:r>
            <a:endParaRPr lang="en-US" sz="2400" dirty="0"/>
          </a:p>
        </p:txBody>
      </p:sp>
      <p:sp>
        <p:nvSpPr>
          <p:cNvPr id="29" name="Shape 24"/>
          <p:cNvSpPr/>
          <p:nvPr/>
        </p:nvSpPr>
        <p:spPr>
          <a:xfrm>
            <a:off x="3840480" y="5074920"/>
            <a:ext cx="2103120" cy="566928"/>
          </a:xfrm>
          <a:prstGeom prst="roundRect">
            <a:avLst>
              <a:gd name="adj" fmla="val 12903"/>
            </a:avLst>
          </a:prstGeom>
          <a:solidFill>
            <a:srgbClr val="EAF0FA"/>
          </a:solidFill>
          <a:ln/>
        </p:spPr>
      </p:sp>
      <p:sp>
        <p:nvSpPr>
          <p:cNvPr id="30" name="Text 25"/>
          <p:cNvSpPr txBox="1"/>
          <p:nvPr/>
        </p:nvSpPr>
        <p:spPr>
          <a:xfrm>
            <a:off x="3931920" y="5074920"/>
            <a:ext cx="1920240" cy="566928"/>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Position</a:t>
            </a:r>
            <a:endParaRPr lang="en-US" sz="2400" dirty="0"/>
          </a:p>
        </p:txBody>
      </p:sp>
      <p:sp>
        <p:nvSpPr>
          <p:cNvPr id="31" name="Shape 26"/>
          <p:cNvSpPr/>
          <p:nvPr/>
        </p:nvSpPr>
        <p:spPr>
          <a:xfrm>
            <a:off x="6126480" y="5074920"/>
            <a:ext cx="3017520" cy="566928"/>
          </a:xfrm>
          <a:prstGeom prst="roundRect">
            <a:avLst>
              <a:gd name="adj" fmla="val 12903"/>
            </a:avLst>
          </a:prstGeom>
          <a:solidFill>
            <a:srgbClr val="F4F7FD"/>
          </a:solidFill>
          <a:ln/>
        </p:spPr>
      </p:sp>
      <p:sp>
        <p:nvSpPr>
          <p:cNvPr id="32" name="Text 27"/>
          <p:cNvSpPr txBox="1"/>
          <p:nvPr/>
        </p:nvSpPr>
        <p:spPr>
          <a:xfrm>
            <a:off x="6217920" y="5074920"/>
            <a:ext cx="2834640" cy="566928"/>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Sachargument</a:t>
            </a:r>
            <a:endParaRPr lang="en-US" sz="2400" dirty="0"/>
          </a:p>
        </p:txBody>
      </p:sp>
      <p:sp>
        <p:nvSpPr>
          <p:cNvPr id="33" name="Shape 28"/>
          <p:cNvSpPr/>
          <p:nvPr/>
        </p:nvSpPr>
        <p:spPr>
          <a:xfrm>
            <a:off x="9326880" y="5074920"/>
            <a:ext cx="1920240" cy="566928"/>
          </a:xfrm>
          <a:prstGeom prst="roundRect">
            <a:avLst>
              <a:gd name="adj" fmla="val 12903"/>
            </a:avLst>
          </a:prstGeom>
          <a:solidFill>
            <a:srgbClr val="EAF0FA"/>
          </a:solidFill>
          <a:ln/>
        </p:spPr>
      </p:sp>
      <p:sp>
        <p:nvSpPr>
          <p:cNvPr id="34" name="Text 29"/>
          <p:cNvSpPr txBox="1"/>
          <p:nvPr/>
        </p:nvSpPr>
        <p:spPr>
          <a:xfrm>
            <a:off x="9418320" y="5074920"/>
            <a:ext cx="1737360" cy="566928"/>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„weil“</a:t>
            </a:r>
            <a:endParaRPr lang="en-US" sz="2400" dirty="0"/>
          </a:p>
        </p:txBody>
      </p:sp>
      <p:sp>
        <p:nvSpPr>
          <p:cNvPr id="35" name="Shape 30"/>
          <p:cNvSpPr/>
          <p:nvPr/>
        </p:nvSpPr>
        <p:spPr>
          <a:xfrm>
            <a:off x="548640" y="5669280"/>
            <a:ext cx="11109960" cy="777240"/>
          </a:xfrm>
          <a:prstGeom prst="roundRect">
            <a:avLst>
              <a:gd name="adj" fmla="val 9412"/>
            </a:avLst>
          </a:prstGeom>
          <a:solidFill>
            <a:srgbClr val="1E2761"/>
          </a:solidFill>
          <a:ln/>
        </p:spPr>
      </p:sp>
      <p:sp>
        <p:nvSpPr>
          <p:cNvPr id="36" name="Text 31"/>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3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Haben wir die Ziele erreicht?</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16</a:t>
            </a:r>
            <a:endParaRPr lang="en-US" sz="1000" dirty="0"/>
          </a:p>
        </p:txBody>
      </p:sp>
      <p:sp>
        <p:nvSpPr>
          <p:cNvPr id="17" name="Shape 14"/>
          <p:cNvSpPr/>
          <p:nvPr/>
        </p:nvSpPr>
        <p:spPr>
          <a:xfrm>
            <a:off x="548640" y="1554480"/>
            <a:ext cx="11109960" cy="1051560"/>
          </a:xfrm>
          <a:prstGeom prst="roundRect">
            <a:avLst>
              <a:gd name="adj" fmla="val 6957"/>
            </a:avLst>
          </a:prstGeom>
          <a:solidFill>
            <a:srgbClr val="EAF0FA"/>
          </a:solidFill>
          <a:ln/>
        </p:spPr>
      </p:sp>
      <p:sp>
        <p:nvSpPr>
          <p:cNvPr id="18" name="Shape 15"/>
          <p:cNvSpPr/>
          <p:nvPr/>
        </p:nvSpPr>
        <p:spPr>
          <a:xfrm>
            <a:off x="822960" y="1828800"/>
            <a:ext cx="502920" cy="502920"/>
          </a:xfrm>
          <a:prstGeom prst="ellipse">
            <a:avLst/>
          </a:prstGeom>
          <a:solidFill>
            <a:srgbClr val="FFFFFF"/>
          </a:solidFill>
          <a:ln w="25400">
            <a:solidFill>
              <a:srgbClr val="1E2761"/>
            </a:solidFill>
            <a:prstDash val="solid"/>
          </a:ln>
        </p:spPr>
      </p:sp>
      <p:sp>
        <p:nvSpPr>
          <p:cNvPr id="19" name="Text 16"/>
          <p:cNvSpPr txBox="1"/>
          <p:nvPr/>
        </p:nvSpPr>
        <p:spPr>
          <a:xfrm>
            <a:off x="1600200" y="1554480"/>
            <a:ext cx="9875520" cy="105156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Ich kann den Weg bis zu den Generalständen am Zeitstrahl erklären.</a:t>
            </a:r>
            <a:endParaRPr lang="en-US" sz="2600" dirty="0"/>
          </a:p>
        </p:txBody>
      </p:sp>
      <p:sp>
        <p:nvSpPr>
          <p:cNvPr id="20" name="Shape 17"/>
          <p:cNvSpPr/>
          <p:nvPr/>
        </p:nvSpPr>
        <p:spPr>
          <a:xfrm>
            <a:off x="548640" y="2834640"/>
            <a:ext cx="11109960" cy="1051560"/>
          </a:xfrm>
          <a:prstGeom prst="roundRect">
            <a:avLst>
              <a:gd name="adj" fmla="val 6957"/>
            </a:avLst>
          </a:prstGeom>
          <a:solidFill>
            <a:srgbClr val="F4F7FD"/>
          </a:solidFill>
          <a:ln/>
        </p:spPr>
      </p:sp>
      <p:sp>
        <p:nvSpPr>
          <p:cNvPr id="21" name="Shape 18"/>
          <p:cNvSpPr/>
          <p:nvPr/>
        </p:nvSpPr>
        <p:spPr>
          <a:xfrm>
            <a:off x="822960" y="3108960"/>
            <a:ext cx="502920" cy="502920"/>
          </a:xfrm>
          <a:prstGeom prst="ellipse">
            <a:avLst/>
          </a:prstGeom>
          <a:solidFill>
            <a:srgbClr val="FFFFFF"/>
          </a:solidFill>
          <a:ln w="25400">
            <a:solidFill>
              <a:srgbClr val="1E2761"/>
            </a:solidFill>
            <a:prstDash val="solid"/>
          </a:ln>
        </p:spPr>
      </p:sp>
      <p:sp>
        <p:nvSpPr>
          <p:cNvPr id="22" name="Text 19"/>
          <p:cNvSpPr txBox="1"/>
          <p:nvPr/>
        </p:nvSpPr>
        <p:spPr>
          <a:xfrm>
            <a:off x="1600200" y="2834640"/>
            <a:ext cx="9875520" cy="105156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Ich kann erklären, wie die Stände den Dritten Stand überstimmen konnten.</a:t>
            </a:r>
            <a:endParaRPr lang="en-US" sz="2600" dirty="0"/>
          </a:p>
        </p:txBody>
      </p:sp>
      <p:sp>
        <p:nvSpPr>
          <p:cNvPr id="23" name="Shape 20"/>
          <p:cNvSpPr/>
          <p:nvPr/>
        </p:nvSpPr>
        <p:spPr>
          <a:xfrm>
            <a:off x="548640" y="4114800"/>
            <a:ext cx="11109960" cy="1051560"/>
          </a:xfrm>
          <a:prstGeom prst="roundRect">
            <a:avLst>
              <a:gd name="adj" fmla="val 6957"/>
            </a:avLst>
          </a:prstGeom>
          <a:solidFill>
            <a:srgbClr val="EAF0FA"/>
          </a:solidFill>
          <a:ln/>
        </p:spPr>
      </p:sp>
      <p:sp>
        <p:nvSpPr>
          <p:cNvPr id="24" name="Shape 21"/>
          <p:cNvSpPr/>
          <p:nvPr/>
        </p:nvSpPr>
        <p:spPr>
          <a:xfrm>
            <a:off x="822960" y="4389120"/>
            <a:ext cx="502920" cy="502920"/>
          </a:xfrm>
          <a:prstGeom prst="ellipse">
            <a:avLst/>
          </a:prstGeom>
          <a:solidFill>
            <a:srgbClr val="FFFFFF"/>
          </a:solidFill>
          <a:ln w="25400">
            <a:solidFill>
              <a:srgbClr val="1E2761"/>
            </a:solidFill>
            <a:prstDash val="solid"/>
          </a:ln>
        </p:spPr>
      </p:sp>
      <p:sp>
        <p:nvSpPr>
          <p:cNvPr id="25" name="Text 22"/>
          <p:cNvSpPr txBox="1"/>
          <p:nvPr/>
        </p:nvSpPr>
        <p:spPr>
          <a:xfrm>
            <a:off x="1600200" y="4114800"/>
            <a:ext cx="9875520" cy="105156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Ich kann begründen, warum die Abstimmung nach Ständen unfair war.*</a:t>
            </a:r>
            <a:endParaRPr lang="en-US" sz="2600" dirty="0"/>
          </a:p>
        </p:txBody>
      </p:sp>
      <p:sp>
        <p:nvSpPr>
          <p:cNvPr id="26" name="Shape 23"/>
          <p:cNvSpPr/>
          <p:nvPr/>
        </p:nvSpPr>
        <p:spPr>
          <a:xfrm>
            <a:off x="548640" y="5669280"/>
            <a:ext cx="11109960" cy="777240"/>
          </a:xfrm>
          <a:prstGeom prst="roundRect">
            <a:avLst>
              <a:gd name="adj" fmla="val 9412"/>
            </a:avLst>
          </a:prstGeom>
          <a:solidFill>
            <a:srgbClr val="1E2761"/>
          </a:solidFill>
          <a:ln/>
        </p:spPr>
      </p:sp>
      <p:sp>
        <p:nvSpPr>
          <p:cNvPr id="27" name="Text 24"/>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Jetzt: </a:t>
            </a:r>
            <a:pPr indent="0" marL="0">
              <a:buNone/>
            </a:pPr>
            <a:r>
              <a:rPr lang="en-US" sz="2400" dirty="0">
                <a:solidFill>
                  <a:srgbClr val="FFFFFF"/>
                </a:solidFill>
                <a:latin typeface="Calibri" pitchFamily="34" charset="0"/>
                <a:ea typeface="Calibri" pitchFamily="34" charset="-122"/>
                <a:cs typeface="Calibri" pitchFamily="34" charset="-120"/>
              </a:rPr>
              <a:t>Schau auf die Ziele. Haben wir sie erreicht?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 · AUSBLICK</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Wie geht es weiter?</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17</a:t>
            </a:r>
            <a:endParaRPr lang="en-US" sz="1000" dirty="0"/>
          </a:p>
        </p:txBody>
      </p:sp>
      <p:sp>
        <p:nvSpPr>
          <p:cNvPr id="17" name="Shape 14"/>
          <p:cNvSpPr/>
          <p:nvPr/>
        </p:nvSpPr>
        <p:spPr>
          <a:xfrm>
            <a:off x="548640" y="1645920"/>
            <a:ext cx="11109960" cy="1828800"/>
          </a:xfrm>
          <a:prstGeom prst="roundRect">
            <a:avLst>
              <a:gd name="adj" fmla="val 4000"/>
            </a:avLst>
          </a:prstGeom>
          <a:solidFill>
            <a:srgbClr val="1E2761"/>
          </a:solidFill>
          <a:ln/>
        </p:spPr>
      </p:sp>
      <p:sp>
        <p:nvSpPr>
          <p:cNvPr id="18" name="Text 15"/>
          <p:cNvSpPr txBox="1"/>
          <p:nvPr/>
        </p:nvSpPr>
        <p:spPr>
          <a:xfrm>
            <a:off x="868680" y="1645920"/>
            <a:ext cx="10469880" cy="1828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Der Dritte Stand fordert:</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„Wir stimmen nach Köpfen ab!“</a:t>
            </a:r>
            <a:endParaRPr lang="en-US" sz="3200" dirty="0"/>
          </a:p>
        </p:txBody>
      </p:sp>
      <p:sp>
        <p:nvSpPr>
          <p:cNvPr id="19" name="Shape 16"/>
          <p:cNvSpPr/>
          <p:nvPr/>
        </p:nvSpPr>
        <p:spPr>
          <a:xfrm>
            <a:off x="548640" y="3749040"/>
            <a:ext cx="11109960" cy="1463040"/>
          </a:xfrm>
          <a:prstGeom prst="roundRect">
            <a:avLst>
              <a:gd name="adj" fmla="val 5000"/>
            </a:avLst>
          </a:prstGeom>
          <a:solidFill>
            <a:srgbClr val="EAF0FA"/>
          </a:solidFill>
          <a:ln/>
        </p:spPr>
      </p:sp>
      <p:sp>
        <p:nvSpPr>
          <p:cNvPr id="20" name="Text 17"/>
          <p:cNvSpPr txBox="1"/>
          <p:nvPr/>
        </p:nvSpPr>
        <p:spPr>
          <a:xfrm>
            <a:off x="868680" y="3749040"/>
            <a:ext cx="10469880" cy="1463040"/>
          </a:xfrm>
          <a:prstGeom prst="rect">
            <a:avLst/>
          </a:prstGeom>
          <a:noFill/>
          <a:ln/>
        </p:spPr>
        <p:txBody>
          <a:bodyPr wrap="square" lIns="0" tIns="0" rIns="0" bIns="0" rtlCol="0" anchor="ctr"/>
          <a:lstStyle/>
          <a:p>
            <a:pPr indent="0" marL="0">
              <a:buNone/>
            </a:pPr>
            <a:r>
              <a:rPr lang="en-US" sz="2800" dirty="0">
                <a:solidFill>
                  <a:srgbClr val="1E2761"/>
                </a:solidFill>
                <a:latin typeface="Cambria" pitchFamily="34" charset="0"/>
                <a:ea typeface="Cambria" pitchFamily="34" charset="-122"/>
                <a:cs typeface="Cambria" pitchFamily="34" charset="-120"/>
              </a:rPr>
              <a:t>Wie reagieren Klerus, Adel und der König? Das sehen wir in der nächsten Stunde.</a:t>
            </a:r>
            <a:endParaRPr lang="en-US" sz="2800" dirty="0"/>
          </a:p>
        </p:txBody>
      </p:sp>
      <p:sp>
        <p:nvSpPr>
          <p:cNvPr id="21" name="Shape 18"/>
          <p:cNvSpPr/>
          <p:nvPr/>
        </p:nvSpPr>
        <p:spPr>
          <a:xfrm>
            <a:off x="548640" y="5669280"/>
            <a:ext cx="11109960" cy="777240"/>
          </a:xfrm>
          <a:prstGeom prst="roundRect">
            <a:avLst>
              <a:gd name="adj" fmla="val 9412"/>
            </a:avLst>
          </a:prstGeom>
          <a:solidFill>
            <a:srgbClr val="1E2761"/>
          </a:solidFill>
          <a:ln/>
        </p:spPr>
      </p:sp>
      <p:sp>
        <p:nvSpPr>
          <p:cNvPr id="22" name="Text 1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Hausaufgabe: </a:t>
            </a:r>
            <a:pPr indent="0" marL="0">
              <a:buNone/>
            </a:pPr>
            <a:r>
              <a:rPr lang="en-US" sz="2400" dirty="0">
                <a:solidFill>
                  <a:srgbClr val="FFFFFF"/>
                </a:solidFill>
                <a:latin typeface="Calibri" pitchFamily="34" charset="0"/>
                <a:ea typeface="Calibri" pitchFamily="34" charset="-122"/>
                <a:cs typeface="Calibri" pitchFamily="34" charset="-120"/>
              </a:rPr>
              <a:t>Testaufgaben mit Grün berichtigen.</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ZUSATZ · NUR BEI ZEIT*</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Ein Sportverein stimmt ab</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8D</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554480"/>
            <a:ext cx="11109960" cy="1280160"/>
          </a:xfrm>
          <a:prstGeom prst="roundRect">
            <a:avLst>
              <a:gd name="adj" fmla="val 5714"/>
            </a:avLst>
          </a:prstGeom>
          <a:solidFill>
            <a:srgbClr val="EAF0FA"/>
          </a:solidFill>
          <a:ln/>
        </p:spPr>
      </p:sp>
      <p:sp>
        <p:nvSpPr>
          <p:cNvPr id="8" name="Text 5"/>
          <p:cNvSpPr txBox="1"/>
          <p:nvPr/>
        </p:nvSpPr>
        <p:spPr>
          <a:xfrm>
            <a:off x="822960" y="1554480"/>
            <a:ext cx="10607040" cy="128016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Ein Verein hat drei Abteilungen: Fußball (200 Mitglieder), Tischtennis (20), Schach (10). Jede Abteilung hat bei der Abstimmung eine Stimme.</a:t>
            </a:r>
            <a:endParaRPr lang="en-US" sz="2400" dirty="0"/>
          </a:p>
        </p:txBody>
      </p:sp>
      <p:sp>
        <p:nvSpPr>
          <p:cNvPr id="9" name="Shape 6"/>
          <p:cNvSpPr/>
          <p:nvPr/>
        </p:nvSpPr>
        <p:spPr>
          <a:xfrm>
            <a:off x="822960" y="3246120"/>
            <a:ext cx="384048" cy="384048"/>
          </a:xfrm>
          <a:prstGeom prst="ellipse">
            <a:avLst/>
          </a:prstGeom>
          <a:solidFill>
            <a:srgbClr val="1E2761"/>
          </a:solidFill>
          <a:ln/>
        </p:spPr>
      </p:sp>
      <p:sp>
        <p:nvSpPr>
          <p:cNvPr id="10" name="Text 7"/>
          <p:cNvSpPr txBox="1"/>
          <p:nvPr/>
        </p:nvSpPr>
        <p:spPr>
          <a:xfrm>
            <a:off x="822960" y="32461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txBox="1"/>
          <p:nvPr/>
        </p:nvSpPr>
        <p:spPr>
          <a:xfrm>
            <a:off x="1417320" y="3200400"/>
            <a:ext cx="9875520" cy="50292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auf: Was ist an dieser Abstimmung unfair?</a:t>
            </a:r>
            <a:endParaRPr lang="en-US" sz="2400" dirty="0"/>
          </a:p>
        </p:txBody>
      </p:sp>
      <p:sp>
        <p:nvSpPr>
          <p:cNvPr id="12" name="Shape 9"/>
          <p:cNvSpPr/>
          <p:nvPr/>
        </p:nvSpPr>
        <p:spPr>
          <a:xfrm>
            <a:off x="822960" y="4160520"/>
            <a:ext cx="384048" cy="384048"/>
          </a:xfrm>
          <a:prstGeom prst="ellipse">
            <a:avLst/>
          </a:prstGeom>
          <a:solidFill>
            <a:srgbClr val="1E2761"/>
          </a:solidFill>
          <a:ln/>
        </p:spPr>
      </p:sp>
      <p:sp>
        <p:nvSpPr>
          <p:cNvPr id="13" name="Text 10"/>
          <p:cNvSpPr txBox="1"/>
          <p:nvPr/>
        </p:nvSpPr>
        <p:spPr>
          <a:xfrm>
            <a:off x="822960" y="41605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txBox="1"/>
          <p:nvPr/>
        </p:nvSpPr>
        <p:spPr>
          <a:xfrm>
            <a:off x="1417320" y="4114800"/>
            <a:ext cx="9875520" cy="50292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auf: Wie wäre die Abstimmung fairer?</a:t>
            </a:r>
            <a:endParaRPr lang="en-US" sz="2400" dirty="0"/>
          </a:p>
        </p:txBody>
      </p:sp>
      <p:sp>
        <p:nvSpPr>
          <p:cNvPr id="15" name="Shape 12"/>
          <p:cNvSpPr/>
          <p:nvPr/>
        </p:nvSpPr>
        <p:spPr>
          <a:xfrm>
            <a:off x="548640" y="5669280"/>
            <a:ext cx="11109960" cy="777240"/>
          </a:xfrm>
          <a:prstGeom prst="roundRect">
            <a:avLst>
              <a:gd name="adj" fmla="val 9412"/>
            </a:avLst>
          </a:prstGeom>
          <a:solidFill>
            <a:srgbClr val="1E2761"/>
          </a:solidFill>
          <a:ln/>
        </p:spPr>
      </p:sp>
      <p:sp>
        <p:nvSpPr>
          <p:cNvPr id="16"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2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Generalstände 8D</dc:title>
  <dc:subject>PptxGenJS Presentation</dc:subject>
  <dc:creator>PptxGenJS</dc:creator>
  <cp:lastModifiedBy>PptxGenJS</cp:lastModifiedBy>
  <cp:revision>1</cp:revision>
  <dcterms:created xsi:type="dcterms:W3CDTF">2026-10-27T20:07:25Z</dcterms:created>
  <dcterms:modified xsi:type="dcterms:W3CDTF">2026-10-27T20:07:25Z</dcterms:modified>
</cp:coreProperties>
</file>