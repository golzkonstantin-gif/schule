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Titelfolie, direkt weiter.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0–2 Min. Nicht kommentieren, nur abstimmen lassen und die Verteilung kurz an der Tafel notieren (z. B. A: 18, B: 4, C: 0). Erwartung: Die meisten wählen A – im Lückentext stand, dass die Archonten aus dem Adel kamen.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stehen lassen – dann sofort weiterklicken.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2–5 Min. Megakles ist mit 150 Scheffeln jetzt Thete. Hipponikos ist zwar nicht adlig, gehört aber mit einem Einkommen wie 600 Scheffel zur 1. Klasse. Merksatz ins Heft: „Geld statt Blut: Timokratie“.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5–7 Min. Nur zeigen und kurz auf die drei Teile hinweisen. So sollen die Antworten im Gruppenpuzzle aussehen.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7–8 Min. Stammgruppen à 4 bilden (bei 5er-Gruppen bekommt der Fünfte Karte E). Jede Stammgruppe bekommt einen Kartensatz A–D. Die Lösung auf der Karte bleibt zunächst nach hinten geknickt.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8–14 Min. Herumgehen. Häufige Lücke: Die Schüler nennen nur ein Organ. Nachfragen: Wer ist noch beteiligt?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14–20 Min. Bei mehr als vier Schülern mit demselben Buchstaben zwei Expertengruppen bilden.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20–32 Min. Pro Anfrage etwa 3 Minuten. Ein Zeitsignal nach jeder Runde hilft. Bei 5er-Gruppen kommt E dazu.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 zur Selbstkontrolle zeigen, nicht im Plenum durchsprechen. E nur, wenn es 5er-Gruppen gab.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32–33 Min. Ergebnis kurz notieren. Erwartung: Die meisten sagen Nein.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33–37 Min. Partnerarbeit, kein Plenum – die Lösung kommt auf der nächsten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37–39 Min. Merksatz ins Heft. Die Schlussfrage nicht beantworten – sie führt zu Kleisthenes.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39–45 Min. Ein bis zwei Schüler lesen vor, möglichst mit unterschiedlichen Ergebnissen.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Beispiel, keine Musterantwort. Auch „eher demokratisch“ ist mit Belegen vertretbar.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Nächste Stunde: Gewinner-Verlierer-Linie als Einstieg, dann Peisistratos (LB S. 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 · KLASSE 11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Geld statt Blut?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in Solons Athen regieren durfte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· ALLE LEGEN SICH FEST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 kann Archont werden?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Megakles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einer der ältesten Adelsfamilien Athens. Seine Vorfahren waren Archonten. Er ist verarmt und erntet 150 Scheffel im Jahr.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06908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Hipponikos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Sohn eines Töpfers, nicht adlig. Durch den Ölhandel reich geworden, verdient er so viel wie 600 Scheffel im Jahr.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Lykon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Tagelöhner. Er besitzt kein Land und arbeitet auf den Feldern anderer.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520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Überlege still: Wer von den dreien kann Archont werden? Zeige auf mein Zeichen mit der Hand: A, B oder C.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Vor Solon: Megakles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Megakles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einer der ältesten Adelsfamilien Athens. Seine Vorfahren waren Archonten. Er ist verarmt und erntet 150 Scheffel im Jahr.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715768"/>
            <a:ext cx="457200" cy="457200"/>
          </a:xfrm>
          <a:prstGeom prst="ellipse">
            <a:avLst/>
          </a:prstGeom>
          <a:solidFill>
            <a:srgbClr val="3C78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✔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Hipponikos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Sohn eines Töpfers, nicht adlig. Durch den Ölhandel reich geworden, verdient er so viel wie 600 Scheffel im Jahr.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715768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✘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Lykon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Tagelöhner. Er besitzt kein Land und arbeitet auf den Feldern anderer.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2715768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520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Solon herrschte der Adel: Archont wurde, wer aus einer adligen Familie kam. Wer A gewählt hat, hatte also recht – aber nur bis 594 v. Chr.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Nach Solon: Hipponikos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Megakles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einer der ältesten Adelsfamilien Athens. Seine Vorfahren waren Archonten. Er ist verarmt und erntet 150 Scheffel im Jahr.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2715768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✘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24612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06908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Hipponikos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Sohn eines Töpfers, nicht adlig. Durch den Ölhandel reich geworden, verdient er so viel wie 600 Scheffel im Jahr.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2715768"/>
            <a:ext cx="457200" cy="457200"/>
          </a:xfrm>
          <a:prstGeom prst="ellipse">
            <a:avLst/>
          </a:prstGeom>
          <a:solidFill>
            <a:srgbClr val="3C78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✔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35040" y="123444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417320"/>
            <a:ext cx="502920" cy="502920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4813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Lykon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1828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Tagelöhner. Er besitzt kein Land und arbeitet auf den Feldern anderer.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092440" y="2715768"/>
            <a:ext cx="457200" cy="45720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5204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mehr das Blut entscheidet, sondern das Geld.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Herrschaft, in der die Rechte vom Besitz abhängen, heißt </a:t>
            </a:r>
            <a:pPr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Timokratie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(griech. timē: Schätzung, Wert).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BEANTWORTET MAN EINE ANFRAGE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Musterantwort für Megakles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1615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Megakles, Adliger: „Mein Großvater war Archont. Ich ernte nur noch 150 Scheffel. Kann ich Archont werden?“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Antwort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BF8F2"/>
          </a:solidFill>
          <a:ln w="12700">
            <a:solidFill>
              <a:srgbClr val="D9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68880" y="2148840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Nein, das geht nicht.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Begründung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292608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BF8F2"/>
          </a:solidFill>
          <a:ln w="12700">
            <a:solidFill>
              <a:srgbClr val="D9CDB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68880" y="2926080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Seit Solon zählt nicht mehr die Herkunft, sondern der Besitz. Mit 150 Scheffeln gehörst du zu den Theten. Archont kann nur die 1. Klasse werden.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0332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3E5C7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370332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BF8F2"/>
          </a:solidFill>
          <a:ln w="12700">
            <a:solidFill>
              <a:srgbClr val="D9CDB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3703320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darfst in der Volksversammlung abstimmen und die Archonten mitwählen, aber selbst nicht gewählt werden.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GRUPPENPUZZLE · ÜBERBLICK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Bürgersprechstunde Athen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Bürger kommen mit Anfragen. Ihr beantwortet sie mit dem Schaubild (LB S. 21) – erst allein, dann als Experten, dann in eurer Stammgruppe.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Allein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60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0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bekommt eine Anfrage (A–D) und beantwortet sie schriftlich.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81528" y="3063240"/>
            <a:ext cx="146304" cy="0"/>
          </a:xfrm>
          <a:prstGeom prst="line">
            <a:avLst/>
          </a:prstGeom>
          <a:noFill/>
          <a:ln w="28575">
            <a:solidFill>
              <a:srgbClr val="998C7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1920240"/>
            <a:ext cx="502920" cy="50292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Expertengruppe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560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880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mit demselben Buchstaben vergleichen, klappen die Lösung auf und verbessern.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70448" y="3063240"/>
            <a:ext cx="146304" cy="0"/>
          </a:xfrm>
          <a:prstGeom prst="line">
            <a:avLst/>
          </a:prstGeom>
          <a:noFill/>
          <a:ln w="28575">
            <a:solidFill>
              <a:srgbClr val="998C7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35040" y="178308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1920240"/>
            <a:ext cx="502920" cy="50292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Stammgruppe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560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880360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Experte stellt seine Anfrage – die anderen beantworten sie, der Experte prüft.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1 · EINZELARBEIT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Beantworte deine Anfrage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43584"/>
            <a:ext cx="4617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die Anfrage auf deiner Karte. Die Lösung bleibt nach hinten geknickt!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29384"/>
            <a:ext cx="4617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im Schaubild (LB S. 21), welche Klasse und welche Organe betroffen sind.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5176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15184"/>
            <a:ext cx="4617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deine Antwort ins Heft – in drei Teilen: Antwort, Begründung, Weg.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3756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00984"/>
            <a:ext cx="4617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Unterstreiche alle Organe, die du nennst.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806440" y="1234440"/>
            <a:ext cx="2880360" cy="3154680"/>
          </a:xfrm>
          <a:prstGeom prst="roundRect">
            <a:avLst>
              <a:gd name="adj" fmla="val 2540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9320" y="13441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Satzbausteine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1755648"/>
            <a:ext cx="2560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„Ja / Nein, das geht (nicht), weil …“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„Du gehörst zur … Klasse, deshalb …“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„Zuständig ist …“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„Der Rat der 400 bereitet vor, die Volksversammlung …“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i="1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„Wende dich an …“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2 · EXPERTENGRUPPE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Werdet Experten für eure Anfrage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43584"/>
            <a:ext cx="7726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Setzt euch mit allen zusammen, die denselben Buchstaben haben (höchstens 4 pro Gruppe).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1168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75104"/>
            <a:ext cx="7726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euch eure Antworten vor und vergleicht: Was fehlt bei wem?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706624"/>
            <a:ext cx="7726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Klappt jetzt die Lösung auf. Verbessert und ergänzt eure Antwort im Heft.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47472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438144"/>
            <a:ext cx="7726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Bereitet euch vor: Welche Organe müssen die anderen in eurer Stammgruppe unbedingt nennen? Unterstreicht sie auf der Karte.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SCHRITT 3 · STAMMGRUPPE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Stellt eure Anfragen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43584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Experte A liest seine Anfrage vor – ohne die Lösung zu verraten.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93392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1956816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anderen beantworten sie gemeinsam mit dem Schaubild (1 Minute).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06624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0120" y="26700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Experte prüft mit seiner Lösung: Was stimmt, was fehlt? Er ergänzt.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419856"/>
            <a:ext cx="365760" cy="365760"/>
          </a:xfrm>
          <a:prstGeom prst="ellipse">
            <a:avLst/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383280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notieren im Heft die Antwort in einem Satz. Dann ist B dran, dann C und 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1234440"/>
            <a:ext cx="2880360" cy="3154680"/>
          </a:xfrm>
          <a:prstGeom prst="roundRect">
            <a:avLst>
              <a:gd name="adj" fmla="val 254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89320" y="13441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im Heft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783080"/>
          <a:ext cx="2514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691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Antwort in einem Satz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AD4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GRUPPENPUZZLE · 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Anfragen im Überblick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292608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Anfrage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Antwort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31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Lykon, Thete (Tagelöhner): Athen überlegt, in den Krieg zu ziehen. Darf ich mitentscheiden? Und wie läuft so eine Entscheidung ab?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– Rat bereitet vor, Volksversammlung beschließt, Archonten führen aus.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Volksversammlung · Rat der 400 · Archonten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Kleitos, Ritter (2. Klasse): Ich möchte in den Rat der 400. Geht das? Und wer wählt mich?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– Klassen 1–3 wählbar, die Phylen wählen den Rat.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 der 400 · Phylen · Volksversammlung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Demeas, Kleinbauer: Ein Beamter hat mich ungerecht behandelt. Kann ich etwas dagegen tun?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– Klage vor Volksversammlung oder Geschworenengericht.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Geschworenengericht · Volksversammlung · Areopag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Philon, ehemaliger Archont: Mein Amtsjahr als Archont ist vorbei. Was wird jetzt aus mir?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kommt in den Areopag – der Rat der Reichen wacht über alles.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Archonten · Areopag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D4426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Kallippos, Hoplit (3. Klasse): Meine Ernte ist auf 520 Scheffel gestiegen. Ändert das etwas für mich?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B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 – Aufstieg in die 1. Klasse, jetzt kann er Archont werden.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0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Vermögensklassen · Archonten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LEGEN SICH FEST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Solons Verfassung eine Demokratie?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3A3024"/>
          </a:solidFill>
          <a:ln w="12700">
            <a:solidFill>
              <a:srgbClr val="3A30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D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Denk an „Geld statt Blut“ und an eure Anfragen. Zeige auf mein Zeichen: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Daumen hoch = Ja      Daumen runter = Nein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Demokratisch oder timokratisch?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Legt im Heft zwei Spalten an und ordnet die sechs Merkmale zu: demokratisch = das Volk entscheidet · timokratisch = der Besitz entscheidet.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938528"/>
            <a:ext cx="420624" cy="420624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Archont kann nur die 1. Klasse werden.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938528"/>
            <a:ext cx="420624" cy="420624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49240" y="17830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Bürger über 20 stimmen in der Volksversammlung über Gesetze ab.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07208"/>
            <a:ext cx="420624" cy="420624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den Rat der 400 dürfen nur die Klassen 1–3.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65176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2807208"/>
            <a:ext cx="420624" cy="420624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49240" y="26517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darf vor Gericht klagen.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675888"/>
            <a:ext cx="420624" cy="420624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35204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Areopag besteht aus ehemaligen Archonten.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663440" y="3520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3675888"/>
            <a:ext cx="420624" cy="420624"/>
          </a:xfrm>
          <a:prstGeom prst="ellipse">
            <a:avLst/>
          </a:prstGeom>
          <a:solidFill>
            <a:srgbClr val="2B231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349240" y="35204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die Theten wählen die Beamten.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Beides!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Auflösung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2618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C78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demokratisch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Volk entscheidet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6596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Bürger über 20 stimmen in der Volksversammlung über Gesetze ab.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darf vor Gericht klagen.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Auch die Theten wählen die Beamten.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92040" y="12618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D44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timokratisch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6276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Besitz entscheidet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96596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Archont kann nur die 1. Klasse werden.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den Rat der 400 dürfen nur die Klassen 1–3.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Areopag besteht aus ehemaligen Archonten.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749808"/>
          </a:xfrm>
          <a:prstGeom prst="roundRect">
            <a:avLst>
              <a:gd name="adj" fmla="val 9756"/>
            </a:avLst>
          </a:prstGeom>
          <a:solidFill>
            <a:srgbClr val="2B2318"/>
          </a:solidFill>
          <a:ln w="12700">
            <a:solidFill>
              <a:srgbClr val="2B231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703320"/>
            <a:ext cx="7772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Solons Verfassung ist beides: Beim Entscheiden redet das Volk mit, die Ämter bleiben den Reichen. Was müsste sich ändern, damit Athen eine Demokratie wird?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EINZELARBEIT · HEFT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 Urteil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2B231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1554480" cy="1024128"/>
          </a:xfrm>
          <a:prstGeom prst="roundRect">
            <a:avLst>
              <a:gd name="adj" fmla="val 7143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03120" y="1234440"/>
            <a:ext cx="6583680" cy="1024128"/>
          </a:xfrm>
          <a:prstGeom prst="roundRect">
            <a:avLst>
              <a:gd name="adj" fmla="val 7143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13258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 Solons Verfassung eher demokratisch oder eher timokratisch? (2–3 Sätze)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„Aus Sicht der damaligen Zeit war Solons Verfassung eher …, denn …“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423160"/>
            <a:ext cx="1554480" cy="1024128"/>
          </a:xfrm>
          <a:prstGeom prst="roundRect">
            <a:avLst>
              <a:gd name="adj" fmla="val 7143"/>
            </a:avLst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103120" y="2423160"/>
            <a:ext cx="6583680" cy="1024128"/>
          </a:xfrm>
          <a:prstGeom prst="roundRect">
            <a:avLst>
              <a:gd name="adj" fmla="val 7143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25146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es gerecht, dass die Ämter vom Besitz abhängen? Nenne deinen Maßstab (1–4).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29718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„Gemessen an Maßstab … halte ich das für …, weil …“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5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Maßstäbe: 1 Gleichheit · 2 Leistung · 3 Schutz der Schwachen · 4 Gleiche Regeln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 knapp? Das Werturteil ist Hausaufgabe.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D4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URTEIL · BEISPIEL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könnte das Urteil aussehen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315200" y="347472"/>
            <a:ext cx="1371600" cy="292608"/>
          </a:xfrm>
          <a:prstGeom prst="roundRect">
            <a:avLst>
              <a:gd name="adj" fmla="val 31250"/>
            </a:avLst>
          </a:prstGeom>
          <a:solidFill>
            <a:srgbClr val="D9A44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1554480" cy="1508760"/>
          </a:xfrm>
          <a:prstGeom prst="roundRect">
            <a:avLst>
              <a:gd name="adj" fmla="val 4848"/>
            </a:avLst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Sachurteil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03120" y="1234440"/>
            <a:ext cx="6583680" cy="1508760"/>
          </a:xfrm>
          <a:prstGeom prst="roundRect">
            <a:avLst>
              <a:gd name="adj" fmla="val 4848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1307592"/>
            <a:ext cx="6263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„Aus Sicht der damaligen Zeit war Solons Verfassung eher timokratisch, denn die wichtigen Ämter – Archonten, Rat der 400 und Areopag – blieben den Reichen vorbehalten. Sie enthielt aber schon demokratische Elemente: Alle Bürger stimmten in der Volksversammlung ab und durften klagen.“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80360"/>
            <a:ext cx="1554480" cy="1508760"/>
          </a:xfrm>
          <a:prstGeom prst="roundRect">
            <a:avLst>
              <a:gd name="adj" fmla="val 4848"/>
            </a:avLst>
          </a:prstGeom>
          <a:solidFill>
            <a:srgbClr val="AD44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Werturteil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03120" y="2880360"/>
            <a:ext cx="6583680" cy="1508760"/>
          </a:xfrm>
          <a:prstGeom prst="roundRect">
            <a:avLst>
              <a:gd name="adj" fmla="val 4848"/>
            </a:avLst>
          </a:prstGeom>
          <a:solidFill>
            <a:srgbClr val="F4ECDE"/>
          </a:solidFill>
          <a:ln w="12700">
            <a:solidFill>
              <a:srgbClr val="F4EC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286000" y="2953512"/>
            <a:ext cx="6263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B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„Gemessen an Maßstab 1 (Gleichheit) halte ich es für ungerecht, dass die Ämter vom Besitz abhingen, weil arme Bürger so nie selbst regieren konnten. Gemessen an Maßstab 2 (Leistung) lässt es sich begründen: Die Reichen trugen mehr Lasten, etwa die eigene Rüstung im Krieg.“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Geld statt Blut? Solons Verfassung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2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geht es weiter?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3A3024"/>
          </a:solidFill>
          <a:ln w="12700">
            <a:solidFill>
              <a:srgbClr val="3A30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Solon hat beide Seiten nur teilweise zufriedengestellt. Viele waren enttäuscht – und bald kämpften in Athen wieder Gruppen um die Macht.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rgbClr val="D9A4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B23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01752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war enttäuscht – und wem schließen sich die Enttäuschten an?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47548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98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Geld statt Blut? Solons Verfassung</dc:title>
  <dc:subject>PptxGenJS Presentation</dc:subject>
  <dc:creator>PptxGenJS</dc:creator>
  <cp:lastModifiedBy>PptxGenJS</cp:lastModifiedBy>
  <cp:revision>1</cp:revision>
  <dcterms:created xsi:type="dcterms:W3CDTF">2026-10-05T18:56:29Z</dcterms:created>
  <dcterms:modified xsi:type="dcterms:W3CDTF">2026-10-05T18:56:29Z</dcterms:modified>
</cp:coreProperties>
</file>