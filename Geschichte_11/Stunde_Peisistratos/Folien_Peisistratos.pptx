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Titelfolie.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Min. Ergebnis klein in die Tafelecke schreiben (z. B. 3 Ja / 20 Nein), nicht kommentieren. Erwartung: fast alle Nein. Auflösung auf Folie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Min. Vorlesen lassen, ins Heft übernehmen. Wichtig: Heute denken wir bei „Tyrann“ an grausam – das griechische Wort meint zunächst nur, dass jemand die Macht ohne Recht erobert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 Min. Vorlesen lassen, kein Gespräch. Die drei Wörter unten klären die Begriffe, die auf den Karten und im Buchtext vorkommen.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 Min. Laut denken, Schritt für Schritt, Buchtext (Folie 7) kurz einblenden oder vorlesen. Dann die Karte selbst ins Tafelfeld „Ganzes Volk“ heften – so ist auch die Tafelarbeit vorgemacht.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9–18 Min. Arbeitsblatt austeilen (je eins pro Schüler). Herumgehen, zuhören. Hilfsimpulse gestuft: 1. Was ist das Problem? 2. Welches Stichwort sucht ihr im Text (Land, Geld, Aufträge, Feste …)? 3. Lest den Satz mit … (siehe Handreichung). Karte 9 (Alkmeonide) ist der einzige Verlierer – das Paar darf ruhig stutzen.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Während der Partnerarbeit stehen lassen – die Schüler brauchen kein Buch. Wortlaut nach LB S.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18–27 Min. Reihenfolge 1–9 (ohne 5, die hängt schon). Bei Fehlern nicht selbst korrigieren: „Stimmt ihr zu? Was steht im Text?“ Zwei Zuordnungen sind vertretbar (Weinbauer: Bauern oder Mittelstand; Homer: Volk) – die Begründung zählt.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27–29 Min. Still vergleichen. Impuls: Fast alle gewinnen – nur die mächtigsten Gegner aus dem Adel verlieren.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29–32 Min. Punkte nacheinander aufdecken lassen (oder vorlesen). Rückbezug zur Daumenabfrage: Die meisten sagten Nein – das Buch sagt: ja, ungewollt. Demokratie = alle Bürger entscheiden gleichberechtigt mit (Wiederholung aus der letzten Stunde).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32–40 Min. Karten an der Tafel abdecken oder abnehmen. Dasselbe Gerüst an die Tafel zeichnen (Skizze in der Handreichung) und gemeinsam füllen – jeder schreibt auf seinem Blatt (Teil B) mit. Fragen dabei klären. Blatt in den Hefter.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Min. Selbstkontrolle, Fehler farbig markieren.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41–45 Min. Einsammeln: Zeigt, wer den Zusammenhang „Tyrann – und trotzdem Schritt zur Demokratie“ verstanden hat. Die Beispiellösung (nächste Folie) erst nach dem Einsammeln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Nach dem Einsammeln zeigen oder in der nächsten Stunde als Einstieg nutzen.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318"/>
        </a:solidFill>
      </p:bgPr>
    </p:bg>
    <p:spTree>
      <p:nvGrpSpPr>
        <p:cNvPr id="1" name=""/>
        <p:cNvGrpSpPr/>
        <p:nvPr/>
      </p:nvGrpSpPr>
      <p:grpSpPr>
        <a:xfrm>
          <a:off x="0" y="0"/>
          <a:ext cx="0" cy="0"/>
          <a:chOff x="0" y="0"/>
          <a:chExt cx="0" cy="0"/>
        </a:xfrm>
      </p:grpSpPr>
      <p:sp>
        <p:nvSpPr>
          <p:cNvPr id="2" name="Text 0"/>
          <p:cNvSpPr txBox="1"/>
          <p:nvPr/>
        </p:nvSpPr>
        <p:spPr>
          <a:xfrm>
            <a:off x="640080" y="1005840"/>
            <a:ext cx="7863840" cy="274320"/>
          </a:xfrm>
          <a:prstGeom prst="rect">
            <a:avLst/>
          </a:prstGeom>
          <a:noFill/>
          <a:ln/>
        </p:spPr>
        <p:txBody>
          <a:bodyPr wrap="square" lIns="0" tIns="0" rIns="0" bIns="0" rtlCol="0" anchor="t"/>
          <a:lstStyle/>
          <a:p>
            <a:pPr indent="0" marL="0">
              <a:buNone/>
            </a:pPr>
            <a:r>
              <a:rPr lang="en-US" sz="1200" b="1" spc="300" kern="0" dirty="0">
                <a:solidFill>
                  <a:srgbClr val="D9A441"/>
                </a:solidFill>
                <a:latin typeface="Calibri" pitchFamily="34" charset="0"/>
                <a:ea typeface="Calibri" pitchFamily="34" charset="-122"/>
                <a:cs typeface="Calibri" pitchFamily="34" charset="-120"/>
              </a:rPr>
              <a:t>GESCHICHTE · KLASSE 11</a:t>
            </a:r>
            <a:endParaRPr lang="en-US" sz="1200" dirty="0"/>
          </a:p>
        </p:txBody>
      </p:sp>
      <p:sp>
        <p:nvSpPr>
          <p:cNvPr id="3" name="Text 1"/>
          <p:cNvSpPr txBox="1"/>
          <p:nvPr/>
        </p:nvSpPr>
        <p:spPr>
          <a:xfrm>
            <a:off x="640080" y="1325880"/>
            <a:ext cx="7863840" cy="7315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Ein Tyrann als Wegbereiter?</a:t>
            </a:r>
            <a:endParaRPr lang="en-US" sz="3400" dirty="0"/>
          </a:p>
        </p:txBody>
      </p:sp>
      <p:sp>
        <p:nvSpPr>
          <p:cNvPr id="4" name="Text 2"/>
          <p:cNvSpPr txBox="1"/>
          <p:nvPr/>
        </p:nvSpPr>
        <p:spPr>
          <a:xfrm>
            <a:off x="640080" y="2148840"/>
            <a:ext cx="7863840" cy="457200"/>
          </a:xfrm>
          <a:prstGeom prst="rect">
            <a:avLst/>
          </a:prstGeom>
          <a:noFill/>
          <a:ln/>
        </p:spPr>
        <p:txBody>
          <a:bodyPr wrap="square" lIns="0" tIns="0" rIns="0" bIns="0" rtlCol="0" anchor="t"/>
          <a:lstStyle/>
          <a:p>
            <a:pPr indent="0" marL="0">
              <a:buNone/>
            </a:pPr>
            <a:r>
              <a:rPr lang="en-US" sz="1800" dirty="0">
                <a:solidFill>
                  <a:srgbClr val="E8DFD0"/>
                </a:solidFill>
                <a:latin typeface="Calibri" pitchFamily="34" charset="0"/>
                <a:ea typeface="Calibri" pitchFamily="34" charset="-122"/>
                <a:cs typeface="Calibri" pitchFamily="34" charset="-120"/>
              </a:rPr>
              <a:t>Peisistratos in Athen (546–528/527 v. Chr.)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318"/>
        </a:solidFill>
      </p:bgPr>
    </p:bg>
    <p:spTree>
      <p:nvGrpSpPr>
        <p:cNvPr id="1" name=""/>
        <p:cNvGrpSpPr/>
        <p:nvPr/>
      </p:nvGrpSpPr>
      <p:grpSpPr>
        <a:xfrm>
          <a:off x="0" y="0"/>
          <a:ext cx="0" cy="0"/>
          <a:chOff x="0" y="0"/>
          <a:chExt cx="0" cy="0"/>
        </a:xfrm>
      </p:grpSpPr>
      <p:sp>
        <p:nvSpPr>
          <p:cNvPr id="2" name="Text 0"/>
          <p:cNvSpPr txBox="1"/>
          <p:nvPr/>
        </p:nvSpPr>
        <p:spPr>
          <a:xfrm>
            <a:off x="457200" y="320040"/>
            <a:ext cx="6400800" cy="228600"/>
          </a:xfrm>
          <a:prstGeom prst="rect">
            <a:avLst/>
          </a:prstGeom>
          <a:noFill/>
          <a:ln/>
        </p:spPr>
        <p:txBody>
          <a:bodyPr wrap="square" lIns="0" tIns="0" rIns="0" bIns="0" rtlCol="0" anchor="t"/>
          <a:lstStyle/>
          <a:p>
            <a:pPr indent="0" marL="0">
              <a:buNone/>
            </a:pPr>
            <a:r>
              <a:rPr lang="en-US" sz="1100" b="1" spc="200" kern="0" dirty="0">
                <a:solidFill>
                  <a:srgbClr val="D9A441"/>
                </a:solidFill>
                <a:latin typeface="Calibri" pitchFamily="34" charset="0"/>
                <a:ea typeface="Calibri" pitchFamily="34" charset="-122"/>
                <a:cs typeface="Calibri" pitchFamily="34" charset="-120"/>
              </a:rPr>
              <a:t>ALLE LEGEN SICH FEST</a:t>
            </a:r>
            <a:endParaRPr lang="en-US" sz="1100" dirty="0"/>
          </a:p>
        </p:txBody>
      </p:sp>
      <p:sp>
        <p:nvSpPr>
          <p:cNvPr id="3" name="Text 1"/>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1 Min.</a:t>
            </a:r>
            <a:endParaRPr lang="en-US" sz="1100" dirty="0"/>
          </a:p>
        </p:txBody>
      </p:sp>
      <p:sp>
        <p:nvSpPr>
          <p:cNvPr id="4" name="Text 2"/>
          <p:cNvSpPr txBox="1"/>
          <p:nvPr/>
        </p:nvSpPr>
        <p:spPr>
          <a:xfrm>
            <a:off x="457200" y="914400"/>
            <a:ext cx="8229600" cy="914400"/>
          </a:xfrm>
          <a:prstGeom prst="rect">
            <a:avLst/>
          </a:prstGeom>
          <a:noFill/>
          <a:ln/>
        </p:spPr>
        <p:txBody>
          <a:bodyPr wrap="square" lIns="0" tIns="0" rIns="0" bIns="0" rtlCol="0" anchor="t"/>
          <a:lstStyle/>
          <a:p>
            <a:pPr indent="0" marL="0">
              <a:buNone/>
            </a:pPr>
            <a:r>
              <a:rPr lang="en-US" sz="2200" dirty="0">
                <a:solidFill>
                  <a:srgbClr val="E8DFD0"/>
                </a:solidFill>
                <a:latin typeface="Calibri" pitchFamily="34" charset="0"/>
                <a:ea typeface="Calibri" pitchFamily="34" charset="-122"/>
                <a:cs typeface="Calibri" pitchFamily="34" charset="-120"/>
              </a:rPr>
              <a:t>Ein Mann erobert mit angeworbenen Söldnern die Burg von Athen und regiert von da an allein.</a:t>
            </a:r>
            <a:endParaRPr lang="en-US" sz="2200" dirty="0"/>
          </a:p>
        </p:txBody>
      </p:sp>
      <p:sp>
        <p:nvSpPr>
          <p:cNvPr id="5" name="Text 3"/>
          <p:cNvSpPr txBox="1"/>
          <p:nvPr/>
        </p:nvSpPr>
        <p:spPr>
          <a:xfrm>
            <a:off x="457200" y="1920240"/>
            <a:ext cx="8229600" cy="9144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Kann so jemand Athen der Demokratie näherbringen?</a:t>
            </a:r>
            <a:endParaRPr lang="en-US" sz="3000" dirty="0"/>
          </a:p>
        </p:txBody>
      </p:sp>
      <p:sp>
        <p:nvSpPr>
          <p:cNvPr id="6" name="Text 4"/>
          <p:cNvSpPr txBox="1"/>
          <p:nvPr/>
        </p:nvSpPr>
        <p:spPr>
          <a:xfrm>
            <a:off x="1828800" y="3291840"/>
            <a:ext cx="2377440" cy="685800"/>
          </a:xfrm>
          <a:prstGeom prst="roundRect">
            <a:avLst>
              <a:gd name="adj" fmla="val 13333"/>
            </a:avLst>
          </a:prstGeom>
          <a:solidFill>
            <a:srgbClr val="3C783C"/>
          </a:solidFill>
          <a:ln/>
        </p:spPr>
        <p:txBody>
          <a:bodyPr wrap="square" lIns="25400" tIns="25400" rIns="25400" bIns="2540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  Ja</a:t>
            </a:r>
            <a:endParaRPr lang="en-US" sz="2200" dirty="0"/>
          </a:p>
        </p:txBody>
      </p:sp>
      <p:sp>
        <p:nvSpPr>
          <p:cNvPr id="7" name="Text 5"/>
          <p:cNvSpPr txBox="1"/>
          <p:nvPr/>
        </p:nvSpPr>
        <p:spPr>
          <a:xfrm>
            <a:off x="4937760" y="3291840"/>
            <a:ext cx="2377440" cy="685800"/>
          </a:xfrm>
          <a:prstGeom prst="roundRect">
            <a:avLst>
              <a:gd name="adj" fmla="val 13333"/>
            </a:avLst>
          </a:prstGeom>
          <a:solidFill>
            <a:srgbClr val="AD4426"/>
          </a:solidFill>
          <a:ln/>
        </p:spPr>
        <p:txBody>
          <a:bodyPr wrap="square" lIns="25400" tIns="25400" rIns="25400" bIns="2540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  Nein</a:t>
            </a:r>
            <a:endParaRPr lang="en-US" sz="2200" dirty="0"/>
          </a:p>
        </p:txBody>
      </p:sp>
      <p:sp>
        <p:nvSpPr>
          <p:cNvPr id="8" name="Text 6"/>
          <p:cNvSpPr txBox="1"/>
          <p:nvPr/>
        </p:nvSpPr>
        <p:spPr>
          <a:xfrm>
            <a:off x="457200" y="4206240"/>
            <a:ext cx="8229600" cy="365760"/>
          </a:xfrm>
          <a:prstGeom prst="rect">
            <a:avLst/>
          </a:prstGeom>
          <a:noFill/>
          <a:ln/>
        </p:spPr>
        <p:txBody>
          <a:bodyPr wrap="square" lIns="0" tIns="0" rIns="0" bIns="0" rtlCol="0" anchor="t"/>
          <a:lstStyle/>
          <a:p>
            <a:pPr algn="ctr" indent="0" marL="0">
              <a:buNone/>
            </a:pPr>
            <a:r>
              <a:rPr lang="en-US" sz="1400" dirty="0">
                <a:solidFill>
                  <a:srgbClr val="998C77"/>
                </a:solidFill>
                <a:latin typeface="Calibri" pitchFamily="34" charset="0"/>
                <a:ea typeface="Calibri" pitchFamily="34" charset="-122"/>
                <a:cs typeface="Calibri" pitchFamily="34" charset="-120"/>
              </a:rPr>
              <a:t>Zeige auf mein Zeichen.</a:t>
            </a:r>
            <a:endParaRPr lang="en-US" sz="14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5486400" cy="274320"/>
          </a:xfrm>
          <a:prstGeom prst="rect">
            <a:avLst/>
          </a:prstGeom>
          <a:noFill/>
          <a:ln/>
        </p:spPr>
        <p:txBody>
          <a:bodyPr wrap="square" lIns="0" tIns="0" rIns="0" bIns="0" rtlCol="0" anchor="t"/>
          <a:lstStyle/>
          <a:p>
            <a:pPr indent="0" marL="0">
              <a:buNone/>
            </a:pPr>
            <a:r>
              <a:rPr lang="en-US" sz="1200" b="1" spc="300" kern="0" dirty="0">
                <a:solidFill>
                  <a:srgbClr val="AD4426"/>
                </a:solidFill>
                <a:latin typeface="Calibri" pitchFamily="34" charset="0"/>
                <a:ea typeface="Calibri" pitchFamily="34" charset="-122"/>
                <a:cs typeface="Calibri" pitchFamily="34" charset="-120"/>
              </a:rPr>
              <a:t>BEGRIFF</a:t>
            </a:r>
            <a:endParaRPr lang="en-US" sz="12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Tyrannis</a:t>
            </a:r>
            <a:endParaRPr lang="en-US" sz="3600" dirty="0"/>
          </a:p>
        </p:txBody>
      </p:sp>
      <p:sp>
        <p:nvSpPr>
          <p:cNvPr id="4" name="Text 2"/>
          <p:cNvSpPr txBox="1"/>
          <p:nvPr/>
        </p:nvSpPr>
        <p:spPr>
          <a:xfrm>
            <a:off x="457200" y="1005840"/>
            <a:ext cx="8229600" cy="274320"/>
          </a:xfrm>
          <a:prstGeom prst="rect">
            <a:avLst/>
          </a:prstGeom>
          <a:noFill/>
          <a:ln/>
        </p:spPr>
        <p:txBody>
          <a:bodyPr wrap="square" lIns="0" tIns="0" rIns="0" bIns="0" rtlCol="0" anchor="t"/>
          <a:lstStyle/>
          <a:p>
            <a:pPr indent="0" marL="0">
              <a:buNone/>
            </a:pPr>
            <a:r>
              <a:rPr lang="en-US" sz="1500" i="1" dirty="0">
                <a:solidFill>
                  <a:srgbClr val="5A5044"/>
                </a:solidFill>
                <a:latin typeface="Calibri" pitchFamily="34" charset="0"/>
                <a:ea typeface="Calibri" pitchFamily="34" charset="-122"/>
                <a:cs typeface="Calibri" pitchFamily="34" charset="-120"/>
              </a:rPr>
              <a:t>griech. tyrannos = Alleinherrscher</a:t>
            </a:r>
            <a:endParaRPr lang="en-US" sz="1500" dirty="0"/>
          </a:p>
        </p:txBody>
      </p:sp>
      <p:sp>
        <p:nvSpPr>
          <p:cNvPr id="5" name="Shape 3"/>
          <p:cNvSpPr/>
          <p:nvPr/>
        </p:nvSpPr>
        <p:spPr>
          <a:xfrm>
            <a:off x="457200" y="1417320"/>
            <a:ext cx="73152" cy="2240280"/>
          </a:xfrm>
          <a:prstGeom prst="rect">
            <a:avLst/>
          </a:prstGeom>
          <a:solidFill>
            <a:srgbClr val="AD4426"/>
          </a:solidFill>
          <a:ln w="12700">
            <a:solidFill>
              <a:srgbClr val="AD4426"/>
            </a:solidFill>
            <a:prstDash val="solid"/>
          </a:ln>
        </p:spPr>
      </p:sp>
      <p:sp>
        <p:nvSpPr>
          <p:cNvPr id="6" name="Text 4"/>
          <p:cNvSpPr/>
          <p:nvPr/>
        </p:nvSpPr>
        <p:spPr>
          <a:xfrm>
            <a:off x="731520" y="1371600"/>
            <a:ext cx="7955280" cy="2377440"/>
          </a:xfrm>
          <a:prstGeom prst="rect">
            <a:avLst/>
          </a:prstGeom>
          <a:noFill/>
          <a:ln/>
        </p:spPr>
        <p:txBody>
          <a:bodyPr wrap="square" lIns="0" tIns="0" rIns="0" bIns="0" rtlCol="0" anchor="t"/>
          <a:lstStyle/>
          <a:p>
            <a:pPr indent="0" marL="0">
              <a:buNone/>
            </a:pPr>
            <a:r>
              <a:rPr lang="en-US" sz="2700" dirty="0">
                <a:solidFill>
                  <a:srgbClr val="2B2318"/>
                </a:solidFill>
                <a:latin typeface="Calibri" pitchFamily="34" charset="0"/>
                <a:ea typeface="Calibri" pitchFamily="34" charset="-122"/>
                <a:cs typeface="Calibri" pitchFamily="34" charset="-120"/>
              </a:rPr>
              <a:t>Eine Tyrannis ist die Herrschaft eines </a:t>
            </a:r>
            <a:pPr indent="0" marL="0">
              <a:buNone/>
            </a:pPr>
            <a:r>
              <a:rPr lang="en-US" sz="2700" b="1" dirty="0">
                <a:solidFill>
                  <a:srgbClr val="AD4426"/>
                </a:solidFill>
                <a:latin typeface="Calibri" pitchFamily="34" charset="0"/>
                <a:ea typeface="Calibri" pitchFamily="34" charset="-122"/>
                <a:cs typeface="Calibri" pitchFamily="34" charset="-120"/>
              </a:rPr>
              <a:t>Alleinherrschers</a:t>
            </a:r>
            <a:pPr indent="0" marL="0">
              <a:buNone/>
            </a:pPr>
            <a:r>
              <a:rPr lang="en-US" sz="2700" dirty="0">
                <a:solidFill>
                  <a:srgbClr val="2B2318"/>
                </a:solidFill>
                <a:latin typeface="Calibri" pitchFamily="34" charset="0"/>
                <a:ea typeface="Calibri" pitchFamily="34" charset="-122"/>
                <a:cs typeface="Calibri" pitchFamily="34" charset="-120"/>
              </a:rPr>
              <a:t>, der die Macht ohne Recht an sich gerissen hat – oft mit Gewalt. Grausam war ein Tyrann aber nicht automatisch.</a:t>
            </a:r>
            <a:endParaRPr lang="en-US" sz="2700" dirty="0"/>
          </a:p>
        </p:txBody>
      </p:sp>
      <p:sp>
        <p:nvSpPr>
          <p:cNvPr id="7" name="Shape 5"/>
          <p:cNvSpPr/>
          <p:nvPr/>
        </p:nvSpPr>
        <p:spPr>
          <a:xfrm>
            <a:off x="457200" y="3931920"/>
            <a:ext cx="8229600" cy="731520"/>
          </a:xfrm>
          <a:prstGeom prst="roundRect">
            <a:avLst>
              <a:gd name="adj" fmla="val 10000"/>
            </a:avLst>
          </a:prstGeom>
          <a:solidFill>
            <a:srgbClr val="2B2318"/>
          </a:solidFill>
          <a:ln w="12700">
            <a:solidFill>
              <a:srgbClr val="2B2318"/>
            </a:solidFill>
            <a:prstDash val="solid"/>
          </a:ln>
        </p:spPr>
      </p:sp>
      <p:sp>
        <p:nvSpPr>
          <p:cNvPr id="8" name="Text 6"/>
          <p:cNvSpPr/>
          <p:nvPr/>
        </p:nvSpPr>
        <p:spPr>
          <a:xfrm>
            <a:off x="731520" y="3931920"/>
            <a:ext cx="7772400" cy="731520"/>
          </a:xfrm>
          <a:prstGeom prst="rect">
            <a:avLst/>
          </a:prstGeom>
          <a:noFill/>
          <a:ln/>
        </p:spPr>
        <p:txBody>
          <a:bodyPr wrap="square" lIns="0" tIns="0" rIns="0" bIns="0" rtlCol="0" anchor="ctr"/>
          <a:lstStyle/>
          <a:p>
            <a:pPr indent="0" marL="0">
              <a:buNone/>
            </a:pPr>
            <a:r>
              <a:rPr lang="en-US" sz="2200" b="1" dirty="0">
                <a:solidFill>
                  <a:srgbClr val="D9A441"/>
                </a:solidFill>
                <a:latin typeface="Calibri" pitchFamily="34" charset="0"/>
                <a:ea typeface="Calibri" pitchFamily="34" charset="-122"/>
                <a:cs typeface="Calibri" pitchFamily="34" charset="-120"/>
              </a:rPr>
              <a:t>Merke: </a:t>
            </a:r>
            <a:pPr indent="0" marL="0">
              <a:buNone/>
            </a:pPr>
            <a:r>
              <a:rPr lang="en-US" sz="2200" b="1" dirty="0">
                <a:solidFill>
                  <a:srgbClr val="FFFFFF"/>
                </a:solidFill>
                <a:latin typeface="Calibri" pitchFamily="34" charset="0"/>
                <a:ea typeface="Calibri" pitchFamily="34" charset="-122"/>
                <a:cs typeface="Calibri" pitchFamily="34" charset="-120"/>
              </a:rPr>
              <a:t>Tyrann = Alleinherrscher ohne Recht auf die Macht.</a:t>
            </a:r>
            <a:endParaRPr lang="en-US" sz="2200" dirty="0"/>
          </a:p>
        </p:txBody>
      </p:sp>
      <p:sp>
        <p:nvSpPr>
          <p:cNvPr id="9" name="Text 7"/>
          <p:cNvSpPr txBox="1"/>
          <p:nvPr/>
        </p:nvSpPr>
        <p:spPr>
          <a:xfrm>
            <a:off x="457200" y="4754880"/>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Peisistratos – ein Tyrann als Wegbereiter?</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GRUNDLAGE · LB S. 22</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Wie kam Peisistratos an die Macht?</a:t>
            </a:r>
            <a:endParaRPr lang="en-US" sz="2800" dirty="0"/>
          </a:p>
        </p:txBody>
      </p:sp>
      <p:sp>
        <p:nvSpPr>
          <p:cNvPr id="4" name="Shape 2"/>
          <p:cNvSpPr/>
          <p:nvPr/>
        </p:nvSpPr>
        <p:spPr>
          <a:xfrm>
            <a:off x="640080" y="1737360"/>
            <a:ext cx="7863840" cy="0"/>
          </a:xfrm>
          <a:prstGeom prst="line">
            <a:avLst/>
          </a:prstGeom>
          <a:noFill/>
          <a:ln w="38100">
            <a:solidFill>
              <a:srgbClr val="D9CDB8"/>
            </a:solidFill>
            <a:prstDash val="solid"/>
          </a:ln>
        </p:spPr>
      </p:sp>
      <p:sp>
        <p:nvSpPr>
          <p:cNvPr id="5" name="Text 3"/>
          <p:cNvSpPr txBox="1"/>
          <p:nvPr/>
        </p:nvSpPr>
        <p:spPr>
          <a:xfrm>
            <a:off x="502920" y="1508760"/>
            <a:ext cx="457200" cy="457200"/>
          </a:xfrm>
          <a:prstGeom prst="ellipse">
            <a:avLst/>
          </a:prstGeom>
          <a:solidFill>
            <a:srgbClr val="AD4426"/>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457200" y="2103120"/>
            <a:ext cx="2606040" cy="365760"/>
          </a:xfrm>
          <a:prstGeom prst="rect">
            <a:avLst/>
          </a:prstGeom>
          <a:noFill/>
          <a:ln/>
        </p:spPr>
        <p:txBody>
          <a:bodyPr wrap="square" lIns="0" tIns="0" rIns="0" bIns="0" rtlCol="0" anchor="t"/>
          <a:lstStyle/>
          <a:p>
            <a:pPr indent="0" marL="0">
              <a:buNone/>
            </a:pPr>
            <a:r>
              <a:rPr lang="en-US" sz="1800" b="1" dirty="0">
                <a:solidFill>
                  <a:srgbClr val="AD4426"/>
                </a:solidFill>
                <a:latin typeface="Cambria" pitchFamily="34" charset="0"/>
                <a:ea typeface="Cambria" pitchFamily="34" charset="-122"/>
                <a:cs typeface="Cambria" pitchFamily="34" charset="-120"/>
              </a:rPr>
              <a:t>Nach Solon</a:t>
            </a:r>
            <a:endParaRPr lang="en-US" sz="1800" dirty="0"/>
          </a:p>
        </p:txBody>
      </p:sp>
      <p:sp>
        <p:nvSpPr>
          <p:cNvPr id="7" name="Text 5"/>
          <p:cNvSpPr txBox="1"/>
          <p:nvPr/>
        </p:nvSpPr>
        <p:spPr>
          <a:xfrm>
            <a:off x="457200" y="2514600"/>
            <a:ext cx="2606040" cy="1371600"/>
          </a:xfrm>
          <a:prstGeom prst="rect">
            <a:avLst/>
          </a:prstGeom>
          <a:noFill/>
          <a:ln/>
        </p:spPr>
        <p:txBody>
          <a:bodyPr wrap="square" lIns="0" tIns="0" rIns="0" bIns="0" rtlCol="0" anchor="t"/>
          <a:lstStyle/>
          <a:p>
            <a:pPr indent="0" marL="0">
              <a:buNone/>
            </a:pPr>
            <a:r>
              <a:rPr lang="en-US" sz="1500" dirty="0">
                <a:solidFill>
                  <a:srgbClr val="2B2318"/>
                </a:solidFill>
                <a:latin typeface="Calibri" pitchFamily="34" charset="0"/>
                <a:ea typeface="Calibri" pitchFamily="34" charset="-122"/>
                <a:cs typeface="Calibri" pitchFamily="34" charset="-120"/>
              </a:rPr>
              <a:t>Viele sind von Solons Reform enttäuscht. Drei Gruppen unter der Führung von Adligen kämpfen um die Macht.</a:t>
            </a:r>
            <a:endParaRPr lang="en-US" sz="1500" dirty="0"/>
          </a:p>
        </p:txBody>
      </p:sp>
      <p:sp>
        <p:nvSpPr>
          <p:cNvPr id="8" name="Text 6"/>
          <p:cNvSpPr txBox="1"/>
          <p:nvPr/>
        </p:nvSpPr>
        <p:spPr>
          <a:xfrm>
            <a:off x="3291840" y="1508760"/>
            <a:ext cx="457200" cy="457200"/>
          </a:xfrm>
          <a:prstGeom prst="ellipse">
            <a:avLst/>
          </a:prstGeom>
          <a:solidFill>
            <a:srgbClr val="AD4426"/>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3246120" y="2103120"/>
            <a:ext cx="2606040" cy="365760"/>
          </a:xfrm>
          <a:prstGeom prst="rect">
            <a:avLst/>
          </a:prstGeom>
          <a:noFill/>
          <a:ln/>
        </p:spPr>
        <p:txBody>
          <a:bodyPr wrap="square" lIns="0" tIns="0" rIns="0" bIns="0" rtlCol="0" anchor="t"/>
          <a:lstStyle/>
          <a:p>
            <a:pPr indent="0" marL="0">
              <a:buNone/>
            </a:pPr>
            <a:r>
              <a:rPr lang="en-US" sz="1800" b="1" dirty="0">
                <a:solidFill>
                  <a:srgbClr val="AD4426"/>
                </a:solidFill>
                <a:latin typeface="Cambria" pitchFamily="34" charset="0"/>
                <a:ea typeface="Cambria" pitchFamily="34" charset="-122"/>
                <a:cs typeface="Cambria" pitchFamily="34" charset="-120"/>
              </a:rPr>
              <a:t>Bürgerkrieg</a:t>
            </a:r>
            <a:endParaRPr lang="en-US" sz="1800" dirty="0"/>
          </a:p>
        </p:txBody>
      </p:sp>
      <p:sp>
        <p:nvSpPr>
          <p:cNvPr id="10" name="Text 8"/>
          <p:cNvSpPr txBox="1"/>
          <p:nvPr/>
        </p:nvSpPr>
        <p:spPr>
          <a:xfrm>
            <a:off x="3246120" y="2514600"/>
            <a:ext cx="2606040" cy="1371600"/>
          </a:xfrm>
          <a:prstGeom prst="rect">
            <a:avLst/>
          </a:prstGeom>
          <a:noFill/>
          <a:ln/>
        </p:spPr>
        <p:txBody>
          <a:bodyPr wrap="square" lIns="0" tIns="0" rIns="0" bIns="0" rtlCol="0" anchor="t"/>
          <a:lstStyle/>
          <a:p>
            <a:pPr indent="0" marL="0">
              <a:buNone/>
            </a:pPr>
            <a:r>
              <a:rPr lang="en-US" sz="1500" dirty="0">
                <a:solidFill>
                  <a:srgbClr val="2B2318"/>
                </a:solidFill>
                <a:latin typeface="Calibri" pitchFamily="34" charset="0"/>
                <a:ea typeface="Calibri" pitchFamily="34" charset="-122"/>
                <a:cs typeface="Calibri" pitchFamily="34" charset="-120"/>
              </a:rPr>
              <a:t>Peisistratos (ca. 600–528/527) führt die Bauern des Binnenlandes an. Zweimal wird er aus Athen vertrieben.</a:t>
            </a:r>
            <a:endParaRPr lang="en-US" sz="1500" dirty="0"/>
          </a:p>
        </p:txBody>
      </p:sp>
      <p:sp>
        <p:nvSpPr>
          <p:cNvPr id="11" name="Text 9"/>
          <p:cNvSpPr txBox="1"/>
          <p:nvPr/>
        </p:nvSpPr>
        <p:spPr>
          <a:xfrm>
            <a:off x="6080760" y="1508760"/>
            <a:ext cx="457200" cy="457200"/>
          </a:xfrm>
          <a:prstGeom prst="ellipse">
            <a:avLst/>
          </a:prstGeom>
          <a:solidFill>
            <a:srgbClr val="AD4426"/>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6035040" y="2103120"/>
            <a:ext cx="2606040" cy="365760"/>
          </a:xfrm>
          <a:prstGeom prst="rect">
            <a:avLst/>
          </a:prstGeom>
          <a:noFill/>
          <a:ln/>
        </p:spPr>
        <p:txBody>
          <a:bodyPr wrap="square" lIns="0" tIns="0" rIns="0" bIns="0" rtlCol="0" anchor="t"/>
          <a:lstStyle/>
          <a:p>
            <a:pPr indent="0" marL="0">
              <a:buNone/>
            </a:pPr>
            <a:r>
              <a:rPr lang="en-US" sz="1800" b="1" dirty="0">
                <a:solidFill>
                  <a:srgbClr val="AD4426"/>
                </a:solidFill>
                <a:latin typeface="Cambria" pitchFamily="34" charset="0"/>
                <a:ea typeface="Cambria" pitchFamily="34" charset="-122"/>
                <a:cs typeface="Cambria" pitchFamily="34" charset="-120"/>
              </a:rPr>
              <a:t>546 v. Chr.</a:t>
            </a:r>
            <a:endParaRPr lang="en-US" sz="1800" dirty="0"/>
          </a:p>
        </p:txBody>
      </p:sp>
      <p:sp>
        <p:nvSpPr>
          <p:cNvPr id="13" name="Text 11"/>
          <p:cNvSpPr txBox="1"/>
          <p:nvPr/>
        </p:nvSpPr>
        <p:spPr>
          <a:xfrm>
            <a:off x="6035040" y="2514600"/>
            <a:ext cx="2606040" cy="1371600"/>
          </a:xfrm>
          <a:prstGeom prst="rect">
            <a:avLst/>
          </a:prstGeom>
          <a:noFill/>
          <a:ln/>
        </p:spPr>
        <p:txBody>
          <a:bodyPr wrap="square" lIns="0" tIns="0" rIns="0" bIns="0" rtlCol="0" anchor="t"/>
          <a:lstStyle/>
          <a:p>
            <a:pPr indent="0" marL="0">
              <a:buNone/>
            </a:pPr>
            <a:r>
              <a:rPr lang="en-US" sz="1500" dirty="0">
                <a:solidFill>
                  <a:srgbClr val="2B2318"/>
                </a:solidFill>
                <a:latin typeface="Calibri" pitchFamily="34" charset="0"/>
                <a:ea typeface="Calibri" pitchFamily="34" charset="-122"/>
                <a:cs typeface="Calibri" pitchFamily="34" charset="-120"/>
              </a:rPr>
              <a:t>Er wirbt Söldner an, kehrt mit Waffengewalt zurück und besetzt die Akropolis. Von nun an regiert er allein.</a:t>
            </a:r>
            <a:endParaRPr lang="en-US" sz="1500" dirty="0"/>
          </a:p>
        </p:txBody>
      </p:sp>
      <p:sp>
        <p:nvSpPr>
          <p:cNvPr id="14" name="Shape 12"/>
          <p:cNvSpPr/>
          <p:nvPr/>
        </p:nvSpPr>
        <p:spPr>
          <a:xfrm>
            <a:off x="457200" y="3977640"/>
            <a:ext cx="8229600" cy="640080"/>
          </a:xfrm>
          <a:prstGeom prst="roundRect">
            <a:avLst>
              <a:gd name="adj" fmla="val 11429"/>
            </a:avLst>
          </a:prstGeom>
          <a:solidFill>
            <a:srgbClr val="F4ECDE"/>
          </a:solidFill>
          <a:ln w="12700">
            <a:solidFill>
              <a:srgbClr val="F4ECDE"/>
            </a:solidFill>
            <a:prstDash val="solid"/>
          </a:ln>
        </p:spPr>
      </p:sp>
      <p:sp>
        <p:nvSpPr>
          <p:cNvPr id="15" name="Text 13"/>
          <p:cNvSpPr txBox="1"/>
          <p:nvPr/>
        </p:nvSpPr>
        <p:spPr>
          <a:xfrm>
            <a:off x="640080" y="3977640"/>
            <a:ext cx="7863840" cy="640080"/>
          </a:xfrm>
          <a:prstGeom prst="rect">
            <a:avLst/>
          </a:prstGeom>
          <a:noFill/>
          <a:ln/>
        </p:spPr>
        <p:txBody>
          <a:bodyPr wrap="square" lIns="0" tIns="0" rIns="0" bIns="0" rtlCol="0" anchor="ctr"/>
          <a:lstStyle/>
          <a:p>
            <a:pPr indent="0" marL="0">
              <a:buNone/>
            </a:pPr>
            <a:r>
              <a:rPr lang="en-US" sz="1250" dirty="0">
                <a:solidFill>
                  <a:srgbClr val="5A5044"/>
                </a:solidFill>
                <a:latin typeface="Calibri" pitchFamily="34" charset="0"/>
                <a:ea typeface="Calibri" pitchFamily="34" charset="-122"/>
                <a:cs typeface="Calibri" pitchFamily="34" charset="-120"/>
              </a:rPr>
              <a:t>Söldner = bezahlte Kämpfer   ·   Akropolis = Burgberg von Athen   ·   Alkmeoniden = mächtige Adelsfamilie, Gegner des Peisistratos</a:t>
            </a:r>
            <a:endParaRPr lang="en-US" sz="1250" dirty="0"/>
          </a:p>
        </p:txBody>
      </p:sp>
      <p:sp>
        <p:nvSpPr>
          <p:cNvPr id="16" name="Text 14"/>
          <p:cNvSpPr txBox="1"/>
          <p:nvPr/>
        </p:nvSpPr>
        <p:spPr>
          <a:xfrm>
            <a:off x="457200" y="4754880"/>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Peisistratos – ein Tyrann als Wegbereiter?</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SO GEHT'S – EIN BEISPIEL</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Kallias und das Wasser</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Lehrkraft</a:t>
            </a:r>
            <a:endParaRPr lang="en-US" sz="1100" dirty="0"/>
          </a:p>
        </p:txBody>
      </p:sp>
      <p:sp>
        <p:nvSpPr>
          <p:cNvPr id="5" name="Shape 3"/>
          <p:cNvSpPr/>
          <p:nvPr/>
        </p:nvSpPr>
        <p:spPr>
          <a:xfrm>
            <a:off x="457200" y="1188720"/>
            <a:ext cx="3749040" cy="1417320"/>
          </a:xfrm>
          <a:prstGeom prst="roundRect">
            <a:avLst>
              <a:gd name="adj" fmla="val 5161"/>
            </a:avLst>
          </a:prstGeom>
          <a:solidFill>
            <a:srgbClr val="F4ECDE"/>
          </a:solidFill>
          <a:ln w="12700">
            <a:solidFill>
              <a:srgbClr val="F4ECDE"/>
            </a:solidFill>
            <a:prstDash val="solid"/>
          </a:ln>
        </p:spPr>
      </p:sp>
      <p:sp>
        <p:nvSpPr>
          <p:cNvPr id="6" name="Text 4"/>
          <p:cNvSpPr txBox="1"/>
          <p:nvPr/>
        </p:nvSpPr>
        <p:spPr>
          <a:xfrm>
            <a:off x="640080" y="1280160"/>
            <a:ext cx="3474720" cy="228600"/>
          </a:xfrm>
          <a:prstGeom prst="rect">
            <a:avLst/>
          </a:prstGeom>
          <a:noFill/>
          <a:ln/>
        </p:spPr>
        <p:txBody>
          <a:bodyPr wrap="square" lIns="0" tIns="0" rIns="0" bIns="0" rtlCol="0" anchor="t"/>
          <a:lstStyle/>
          <a:p>
            <a:pPr indent="0" marL="0">
              <a:buNone/>
            </a:pPr>
            <a:r>
              <a:rPr lang="en-US" sz="1000" b="1" spc="100" kern="0" dirty="0">
                <a:solidFill>
                  <a:srgbClr val="AD4426"/>
                </a:solidFill>
                <a:latin typeface="Calibri" pitchFamily="34" charset="0"/>
                <a:ea typeface="Calibri" pitchFamily="34" charset="-122"/>
                <a:cs typeface="Calibri" pitchFamily="34" charset="-120"/>
              </a:rPr>
              <a:t>PERSON 5 · KALLIAS, WOHNT IN DER STADT</a:t>
            </a:r>
            <a:endParaRPr lang="en-US" sz="1000" dirty="0"/>
          </a:p>
        </p:txBody>
      </p:sp>
      <p:sp>
        <p:nvSpPr>
          <p:cNvPr id="7" name="Text 5"/>
          <p:cNvSpPr txBox="1"/>
          <p:nvPr/>
        </p:nvSpPr>
        <p:spPr>
          <a:xfrm>
            <a:off x="640080" y="1554480"/>
            <a:ext cx="3429000" cy="960120"/>
          </a:xfrm>
          <a:prstGeom prst="rect">
            <a:avLst/>
          </a:prstGeom>
          <a:noFill/>
          <a:ln/>
        </p:spPr>
        <p:txBody>
          <a:bodyPr wrap="square" lIns="0" tIns="0" rIns="0" bIns="0" rtlCol="0" anchor="t"/>
          <a:lstStyle/>
          <a:p>
            <a:pPr indent="0" marL="0">
              <a:buNone/>
            </a:pPr>
            <a:r>
              <a:rPr lang="en-US" sz="1500" i="1" dirty="0">
                <a:solidFill>
                  <a:srgbClr val="2B2318"/>
                </a:solidFill>
                <a:latin typeface="Calibri" pitchFamily="34" charset="0"/>
                <a:ea typeface="Calibri" pitchFamily="34" charset="-122"/>
                <a:cs typeface="Calibri" pitchFamily="34" charset="-120"/>
              </a:rPr>
              <a:t>„Jeden Tag müssen wir das Wasser von weit her in Krügen holen.“</a:t>
            </a:r>
            <a:endParaRPr lang="en-US" sz="1500" dirty="0"/>
          </a:p>
        </p:txBody>
      </p:sp>
      <p:sp>
        <p:nvSpPr>
          <p:cNvPr id="8" name="Text 6"/>
          <p:cNvSpPr txBox="1"/>
          <p:nvPr/>
        </p:nvSpPr>
        <p:spPr>
          <a:xfrm>
            <a:off x="4480560" y="1234440"/>
            <a:ext cx="384048" cy="384048"/>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4983480" y="1188720"/>
            <a:ext cx="3657600" cy="274320"/>
          </a:xfrm>
          <a:prstGeom prst="rect">
            <a:avLst/>
          </a:prstGeom>
          <a:noFill/>
          <a:ln/>
        </p:spPr>
        <p:txBody>
          <a:bodyPr wrap="square" lIns="0" tIns="0" rIns="0" bIns="0" rtlCol="0" anchor="t"/>
          <a:lstStyle/>
          <a:p>
            <a:pPr indent="0" marL="0">
              <a:buNone/>
            </a:pPr>
            <a:r>
              <a:rPr lang="en-US" sz="1400" b="1" dirty="0">
                <a:solidFill>
                  <a:srgbClr val="2B2318"/>
                </a:solidFill>
                <a:latin typeface="Calibri" pitchFamily="34" charset="0"/>
                <a:ea typeface="Calibri" pitchFamily="34" charset="-122"/>
                <a:cs typeface="Calibri" pitchFamily="34" charset="-120"/>
              </a:rPr>
              <a:t>Im Text suchen</a:t>
            </a:r>
            <a:endParaRPr lang="en-US" sz="1400" dirty="0"/>
          </a:p>
        </p:txBody>
      </p:sp>
      <p:sp>
        <p:nvSpPr>
          <p:cNvPr id="10" name="Text 8"/>
          <p:cNvSpPr txBox="1"/>
          <p:nvPr/>
        </p:nvSpPr>
        <p:spPr>
          <a:xfrm>
            <a:off x="4983480" y="1463040"/>
            <a:ext cx="3703320" cy="457200"/>
          </a:xfrm>
          <a:prstGeom prst="rect">
            <a:avLst/>
          </a:prstGeom>
          <a:noFill/>
          <a:ln/>
        </p:spPr>
        <p:txBody>
          <a:bodyPr wrap="square" lIns="0" tIns="0" rIns="0" bIns="0" rtlCol="0" anchor="t"/>
          <a:lstStyle/>
          <a:p>
            <a:pPr indent="0" marL="0">
              <a:buNone/>
            </a:pPr>
            <a:r>
              <a:rPr lang="en-US" sz="1250" dirty="0">
                <a:solidFill>
                  <a:srgbClr val="5A5044"/>
                </a:solidFill>
                <a:latin typeface="Calibri" pitchFamily="34" charset="0"/>
                <a:ea typeface="Calibri" pitchFamily="34" charset="-122"/>
                <a:cs typeface="Calibri" pitchFamily="34" charset="-120"/>
              </a:rPr>
              <a:t>„… öffentliche Bauten (…, die erste Wasserleitung in Athen)“</a:t>
            </a:r>
            <a:endParaRPr lang="en-US" sz="1250" dirty="0"/>
          </a:p>
        </p:txBody>
      </p:sp>
      <p:sp>
        <p:nvSpPr>
          <p:cNvPr id="11" name="Text 9"/>
          <p:cNvSpPr txBox="1"/>
          <p:nvPr/>
        </p:nvSpPr>
        <p:spPr>
          <a:xfrm>
            <a:off x="4480560" y="2011680"/>
            <a:ext cx="384048" cy="384048"/>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4983480" y="1965960"/>
            <a:ext cx="3657600" cy="274320"/>
          </a:xfrm>
          <a:prstGeom prst="rect">
            <a:avLst/>
          </a:prstGeom>
          <a:noFill/>
          <a:ln/>
        </p:spPr>
        <p:txBody>
          <a:bodyPr wrap="square" lIns="0" tIns="0" rIns="0" bIns="0" rtlCol="0" anchor="t"/>
          <a:lstStyle/>
          <a:p>
            <a:pPr indent="0" marL="0">
              <a:buNone/>
            </a:pPr>
            <a:r>
              <a:rPr lang="en-US" sz="1400" b="1" dirty="0">
                <a:solidFill>
                  <a:srgbClr val="2B2318"/>
                </a:solidFill>
                <a:latin typeface="Calibri" pitchFamily="34" charset="0"/>
                <a:ea typeface="Calibri" pitchFamily="34" charset="-122"/>
                <a:cs typeface="Calibri" pitchFamily="34" charset="-120"/>
              </a:rPr>
              <a:t>Wem nützt es?</a:t>
            </a:r>
            <a:endParaRPr lang="en-US" sz="1400" dirty="0"/>
          </a:p>
        </p:txBody>
      </p:sp>
      <p:sp>
        <p:nvSpPr>
          <p:cNvPr id="13" name="Text 11"/>
          <p:cNvSpPr txBox="1"/>
          <p:nvPr/>
        </p:nvSpPr>
        <p:spPr>
          <a:xfrm>
            <a:off x="4983480" y="2240280"/>
            <a:ext cx="3703320" cy="457200"/>
          </a:xfrm>
          <a:prstGeom prst="rect">
            <a:avLst/>
          </a:prstGeom>
          <a:noFill/>
          <a:ln/>
        </p:spPr>
        <p:txBody>
          <a:bodyPr wrap="square" lIns="0" tIns="0" rIns="0" bIns="0" rtlCol="0" anchor="t"/>
          <a:lstStyle/>
          <a:p>
            <a:pPr indent="0" marL="0">
              <a:buNone/>
            </a:pPr>
            <a:r>
              <a:rPr lang="en-US" sz="1250" dirty="0">
                <a:solidFill>
                  <a:srgbClr val="5A5044"/>
                </a:solidFill>
                <a:latin typeface="Calibri" pitchFamily="34" charset="0"/>
                <a:ea typeface="Calibri" pitchFamily="34" charset="-122"/>
                <a:cs typeface="Calibri" pitchFamily="34" charset="-120"/>
              </a:rPr>
              <a:t>Allen in der Stadt – und den Handwerkern, die bauen. → Feld „Ganzes Volk“</a:t>
            </a:r>
            <a:endParaRPr lang="en-US" sz="1250" dirty="0"/>
          </a:p>
        </p:txBody>
      </p:sp>
      <p:sp>
        <p:nvSpPr>
          <p:cNvPr id="14" name="Text 12"/>
          <p:cNvSpPr txBox="1"/>
          <p:nvPr/>
        </p:nvSpPr>
        <p:spPr>
          <a:xfrm>
            <a:off x="4480560" y="2788920"/>
            <a:ext cx="384048" cy="384048"/>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4983480" y="2743200"/>
            <a:ext cx="3657600" cy="274320"/>
          </a:xfrm>
          <a:prstGeom prst="rect">
            <a:avLst/>
          </a:prstGeom>
          <a:noFill/>
          <a:ln/>
        </p:spPr>
        <p:txBody>
          <a:bodyPr wrap="square" lIns="0" tIns="0" rIns="0" bIns="0" rtlCol="0" anchor="t"/>
          <a:lstStyle/>
          <a:p>
            <a:pPr indent="0" marL="0">
              <a:buNone/>
            </a:pPr>
            <a:r>
              <a:rPr lang="en-US" sz="1400" b="1" dirty="0">
                <a:solidFill>
                  <a:srgbClr val="2B2318"/>
                </a:solidFill>
                <a:latin typeface="Calibri" pitchFamily="34" charset="0"/>
                <a:ea typeface="Calibri" pitchFamily="34" charset="-122"/>
                <a:cs typeface="Calibri" pitchFamily="34" charset="-120"/>
              </a:rPr>
              <a:t>Was gewinnt Peisistratos?</a:t>
            </a:r>
            <a:endParaRPr lang="en-US" sz="1400" dirty="0"/>
          </a:p>
        </p:txBody>
      </p:sp>
      <p:sp>
        <p:nvSpPr>
          <p:cNvPr id="16" name="Text 14"/>
          <p:cNvSpPr txBox="1"/>
          <p:nvPr/>
        </p:nvSpPr>
        <p:spPr>
          <a:xfrm>
            <a:off x="4983480" y="3017520"/>
            <a:ext cx="3703320" cy="457200"/>
          </a:xfrm>
          <a:prstGeom prst="rect">
            <a:avLst/>
          </a:prstGeom>
          <a:noFill/>
          <a:ln/>
        </p:spPr>
        <p:txBody>
          <a:bodyPr wrap="square" lIns="0" tIns="0" rIns="0" bIns="0" rtlCol="0" anchor="t"/>
          <a:lstStyle/>
          <a:p>
            <a:pPr indent="0" marL="0">
              <a:buNone/>
            </a:pPr>
            <a:r>
              <a:rPr lang="en-US" sz="1250" dirty="0">
                <a:solidFill>
                  <a:srgbClr val="5A5044"/>
                </a:solidFill>
                <a:latin typeface="Calibri" pitchFamily="34" charset="0"/>
                <a:ea typeface="Calibri" pitchFamily="34" charset="-122"/>
                <a:cs typeface="Calibri" pitchFamily="34" charset="-120"/>
              </a:rPr>
              <a:t>Die Bürger sind zufrieden mit ihm und unterstützen ihn.</a:t>
            </a:r>
            <a:endParaRPr lang="en-US" sz="1250" dirty="0"/>
          </a:p>
        </p:txBody>
      </p:sp>
      <p:sp>
        <p:nvSpPr>
          <p:cNvPr id="17" name="Shape 15"/>
          <p:cNvSpPr/>
          <p:nvPr/>
        </p:nvSpPr>
        <p:spPr>
          <a:xfrm>
            <a:off x="457200" y="3611880"/>
            <a:ext cx="8229600" cy="1005840"/>
          </a:xfrm>
          <a:prstGeom prst="roundRect">
            <a:avLst>
              <a:gd name="adj" fmla="val 7273"/>
            </a:avLst>
          </a:prstGeom>
          <a:solidFill>
            <a:srgbClr val="2B2318"/>
          </a:solidFill>
          <a:ln w="12700">
            <a:solidFill>
              <a:srgbClr val="2B2318"/>
            </a:solidFill>
            <a:prstDash val="solid"/>
          </a:ln>
        </p:spPr>
      </p:sp>
      <p:sp>
        <p:nvSpPr>
          <p:cNvPr id="18" name="Text 16"/>
          <p:cNvSpPr txBox="1"/>
          <p:nvPr/>
        </p:nvSpPr>
        <p:spPr>
          <a:xfrm>
            <a:off x="685800" y="3675888"/>
            <a:ext cx="4572000" cy="228600"/>
          </a:xfrm>
          <a:prstGeom prst="rect">
            <a:avLst/>
          </a:prstGeom>
          <a:noFill/>
          <a:ln/>
        </p:spPr>
        <p:txBody>
          <a:bodyPr wrap="square" lIns="0" tIns="0" rIns="0" bIns="0" rtlCol="0" anchor="t"/>
          <a:lstStyle/>
          <a:p>
            <a:pPr indent="0" marL="0">
              <a:buNone/>
            </a:pPr>
            <a:r>
              <a:rPr lang="en-US" sz="1000" b="1" spc="100" kern="0" dirty="0">
                <a:solidFill>
                  <a:srgbClr val="D9A441"/>
                </a:solidFill>
                <a:latin typeface="Calibri" pitchFamily="34" charset="0"/>
                <a:ea typeface="Calibri" pitchFamily="34" charset="-122"/>
                <a:cs typeface="Calibri" pitchFamily="34" charset="-120"/>
              </a:rPr>
              <a:t>SO SCHREIBT IHR (BLATT, TEIL A)</a:t>
            </a:r>
            <a:endParaRPr lang="en-US" sz="1000" dirty="0"/>
          </a:p>
        </p:txBody>
      </p:sp>
      <p:sp>
        <p:nvSpPr>
          <p:cNvPr id="19" name="Text 17"/>
          <p:cNvSpPr txBox="1"/>
          <p:nvPr/>
        </p:nvSpPr>
        <p:spPr>
          <a:xfrm>
            <a:off x="685800" y="3931920"/>
            <a:ext cx="7772400" cy="640080"/>
          </a:xfrm>
          <a:prstGeom prst="rect">
            <a:avLst/>
          </a:prstGeom>
          <a:noFill/>
          <a:ln/>
        </p:spPr>
        <p:txBody>
          <a:bodyPr wrap="square" lIns="0" tIns="0" rIns="0" bIns="0"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„Kallias bekommt Hilfe, weil Peisistratos die erste Wasserleitung bauen lässt. Peisistratos gewinnt dadurch die Zustimmung der Bürger in der Stadt.“</a:t>
            </a:r>
            <a:endParaRPr lang="en-US" sz="1400" dirty="0"/>
          </a:p>
        </p:txBody>
      </p:sp>
      <p:sp>
        <p:nvSpPr>
          <p:cNvPr id="20" name="Text 18"/>
          <p:cNvSpPr txBox="1"/>
          <p:nvPr/>
        </p:nvSpPr>
        <p:spPr>
          <a:xfrm>
            <a:off x="457200" y="4754880"/>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Peisistratos – ein Tyrann als Wegbereiter?</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PARTNERARBEIT · BLATT TEIL A</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Was tut Peisistratos für eure Person?</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 Min.</a:t>
            </a:r>
            <a:endParaRPr lang="en-US" sz="1100" dirty="0"/>
          </a:p>
        </p:txBody>
      </p:sp>
      <p:sp>
        <p:nvSpPr>
          <p:cNvPr id="5" name="Text 3"/>
          <p:cNvSpPr txBox="1"/>
          <p:nvPr/>
        </p:nvSpPr>
        <p:spPr>
          <a:xfrm>
            <a:off x="457200" y="128016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960120" y="1243584"/>
            <a:ext cx="7726680" cy="603504"/>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Lest die Karte: Wer ist die Person, welches Problem hat sie?</a:t>
            </a:r>
            <a:endParaRPr lang="en-US" sz="1350" dirty="0"/>
          </a:p>
        </p:txBody>
      </p:sp>
      <p:sp>
        <p:nvSpPr>
          <p:cNvPr id="7" name="Text 5"/>
          <p:cNvSpPr txBox="1"/>
          <p:nvPr/>
        </p:nvSpPr>
        <p:spPr>
          <a:xfrm>
            <a:off x="457200" y="192024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8" name="Text 6"/>
          <p:cNvSpPr txBox="1"/>
          <p:nvPr/>
        </p:nvSpPr>
        <p:spPr>
          <a:xfrm>
            <a:off x="960120" y="1883664"/>
            <a:ext cx="7726680" cy="603504"/>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Sucht im Buchtext (Blatt, Teil A): Was tut Peisistratos für sie (oder mit ihr)?</a:t>
            </a:r>
            <a:endParaRPr lang="en-US" sz="1350" dirty="0"/>
          </a:p>
        </p:txBody>
      </p:sp>
      <p:sp>
        <p:nvSpPr>
          <p:cNvPr id="9" name="Text 7"/>
          <p:cNvSpPr txBox="1"/>
          <p:nvPr/>
        </p:nvSpPr>
        <p:spPr>
          <a:xfrm>
            <a:off x="457200" y="256032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0" name="Text 8"/>
          <p:cNvSpPr txBox="1"/>
          <p:nvPr/>
        </p:nvSpPr>
        <p:spPr>
          <a:xfrm>
            <a:off x="960120" y="2523744"/>
            <a:ext cx="7726680" cy="603504"/>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Entscheidet, in welches Feld eure Karte gehört: Ganzes Volk · Bauern &amp; Besitzlose · Handwerk &amp; Mittelstand · Adel.</a:t>
            </a:r>
            <a:endParaRPr lang="en-US" sz="1350" dirty="0"/>
          </a:p>
        </p:txBody>
      </p:sp>
      <p:sp>
        <p:nvSpPr>
          <p:cNvPr id="11" name="Text 9"/>
          <p:cNvSpPr txBox="1"/>
          <p:nvPr/>
        </p:nvSpPr>
        <p:spPr>
          <a:xfrm>
            <a:off x="457200" y="320040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2" name="Text 10"/>
          <p:cNvSpPr txBox="1"/>
          <p:nvPr/>
        </p:nvSpPr>
        <p:spPr>
          <a:xfrm>
            <a:off x="960120" y="3163824"/>
            <a:ext cx="7726680" cy="603504"/>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Überlegt: Was gewinnt Peisistratos selbst dadurch? (Das steht nicht im Text!)</a:t>
            </a:r>
            <a:endParaRPr lang="en-US" sz="1350" dirty="0"/>
          </a:p>
        </p:txBody>
      </p:sp>
      <p:sp>
        <p:nvSpPr>
          <p:cNvPr id="13" name="Text 11"/>
          <p:cNvSpPr txBox="1"/>
          <p:nvPr/>
        </p:nvSpPr>
        <p:spPr>
          <a:xfrm>
            <a:off x="457200" y="384048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4" name="Text 12"/>
          <p:cNvSpPr txBox="1"/>
          <p:nvPr/>
        </p:nvSpPr>
        <p:spPr>
          <a:xfrm>
            <a:off x="960120" y="3803904"/>
            <a:ext cx="7726680" cy="603504"/>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Schreibt eure Antworten jeder auf sein Blatt (Teil A). Teil B bleibt noch leer!</a:t>
            </a:r>
            <a:endParaRPr lang="en-US" sz="1350" dirty="0"/>
          </a:p>
        </p:txBody>
      </p:sp>
      <p:sp>
        <p:nvSpPr>
          <p:cNvPr id="15" name="Text 13"/>
          <p:cNvSpPr txBox="1"/>
          <p:nvPr/>
        </p:nvSpPr>
        <p:spPr>
          <a:xfrm>
            <a:off x="457200" y="4754880"/>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Peisistratos – ein Tyrann als Wegbereiter?</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274320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LB S. 22</a:t>
            </a:r>
            <a:endParaRPr lang="en-US" sz="1100" dirty="0"/>
          </a:p>
        </p:txBody>
      </p:sp>
      <p:sp>
        <p:nvSpPr>
          <p:cNvPr id="3" name="Text 1"/>
          <p:cNvSpPr txBox="1"/>
          <p:nvPr/>
        </p:nvSpPr>
        <p:spPr>
          <a:xfrm>
            <a:off x="457200" y="411480"/>
            <a:ext cx="8229600" cy="457200"/>
          </a:xfrm>
          <a:prstGeom prst="rect">
            <a:avLst/>
          </a:prstGeom>
          <a:noFill/>
          <a:ln/>
        </p:spPr>
        <p:txBody>
          <a:bodyPr wrap="square" lIns="0" tIns="0" rIns="0" bIns="0" rtlCol="0" anchor="t"/>
          <a:lstStyle/>
          <a:p>
            <a:pPr indent="0" marL="0">
              <a:buNone/>
            </a:pPr>
            <a:r>
              <a:rPr lang="en-US" sz="2400" b="1" dirty="0">
                <a:solidFill>
                  <a:srgbClr val="2B2318"/>
                </a:solidFill>
                <a:latin typeface="Cambria" pitchFamily="34" charset="0"/>
                <a:ea typeface="Cambria" pitchFamily="34" charset="-122"/>
                <a:cs typeface="Cambria" pitchFamily="34" charset="-120"/>
              </a:rPr>
              <a:t>Wie Peisistratos regierte</a:t>
            </a:r>
            <a:endParaRPr lang="en-US" sz="2400" dirty="0"/>
          </a:p>
        </p:txBody>
      </p:sp>
      <p:sp>
        <p:nvSpPr>
          <p:cNvPr id="4" name="Shape 2"/>
          <p:cNvSpPr/>
          <p:nvPr/>
        </p:nvSpPr>
        <p:spPr>
          <a:xfrm>
            <a:off x="365760" y="960120"/>
            <a:ext cx="4114800" cy="3794760"/>
          </a:xfrm>
          <a:prstGeom prst="roundRect">
            <a:avLst>
              <a:gd name="adj" fmla="val 1928"/>
            </a:avLst>
          </a:prstGeom>
          <a:solidFill>
            <a:srgbClr val="FBF8F2"/>
          </a:solidFill>
          <a:ln w="12700">
            <a:solidFill>
              <a:srgbClr val="FBF8F2"/>
            </a:solidFill>
            <a:prstDash val="solid"/>
          </a:ln>
        </p:spPr>
      </p:sp>
      <p:sp>
        <p:nvSpPr>
          <p:cNvPr id="5" name="Shape 3"/>
          <p:cNvSpPr/>
          <p:nvPr/>
        </p:nvSpPr>
        <p:spPr>
          <a:xfrm>
            <a:off x="4663440" y="960120"/>
            <a:ext cx="4114800" cy="3794760"/>
          </a:xfrm>
          <a:prstGeom prst="roundRect">
            <a:avLst>
              <a:gd name="adj" fmla="val 1928"/>
            </a:avLst>
          </a:prstGeom>
          <a:solidFill>
            <a:srgbClr val="FBF8F2"/>
          </a:solidFill>
          <a:ln w="12700">
            <a:solidFill>
              <a:srgbClr val="FBF8F2"/>
            </a:solidFill>
            <a:prstDash val="solid"/>
          </a:ln>
        </p:spPr>
      </p:sp>
      <p:sp>
        <p:nvSpPr>
          <p:cNvPr id="6" name="Text 4"/>
          <p:cNvSpPr txBox="1"/>
          <p:nvPr/>
        </p:nvSpPr>
        <p:spPr>
          <a:xfrm>
            <a:off x="502920" y="1051560"/>
            <a:ext cx="3840480" cy="3657600"/>
          </a:xfrm>
          <a:prstGeom prst="rect">
            <a:avLst/>
          </a:prstGeom>
          <a:noFill/>
          <a:ln/>
        </p:spPr>
        <p:txBody>
          <a:bodyPr wrap="square" lIns="0" tIns="0" rIns="0" bIns="0" rtlCol="0" anchor="t"/>
          <a:lstStyle/>
          <a:p>
            <a:pPr indent="0" marL="0">
              <a:lnSpc>
                <a:spcPct val="105000"/>
              </a:lnSpc>
              <a:buNone/>
            </a:pPr>
            <a:r>
              <a:rPr lang="en-US" sz="1450" dirty="0">
                <a:solidFill>
                  <a:srgbClr val="2B2318"/>
                </a:solidFill>
                <a:latin typeface="Calibri" pitchFamily="34" charset="0"/>
                <a:ea typeface="Calibri" pitchFamily="34" charset="-122"/>
                <a:cs typeface="Calibri" pitchFamily="34" charset="-120"/>
              </a:rPr>
              <a:t>Die Unterstützung der bäuerlichen Bevölkerung sicherte sich Peisistratos durch eine großzügige Umverteilung von Grund und Boden. Auch der Mittelstand wurde gezielt gefördert: Weinbau und Landwirtschaft erhielten Kredite, die attische Keramik begann in Konkurrenz zu treten zur korinthischen, die ersten attischen Münzen wurden geprägt. Dem Handwerk brachte Peisistratos lohnende Aufträge durch öffentliche Bauten (Athenetempel auf der Akropolis, Straßen und Hafenanlagen, die erste Wasserleitung in Athen). Dem Volk bot er große Feste zu Ehren der Götter.</a:t>
            </a:r>
            <a:endParaRPr lang="en-US" sz="1450" dirty="0"/>
          </a:p>
        </p:txBody>
      </p:sp>
      <p:sp>
        <p:nvSpPr>
          <p:cNvPr id="7" name="Text 5"/>
          <p:cNvSpPr txBox="1"/>
          <p:nvPr/>
        </p:nvSpPr>
        <p:spPr>
          <a:xfrm>
            <a:off x="4800600" y="1051560"/>
            <a:ext cx="3840480" cy="3657600"/>
          </a:xfrm>
          <a:prstGeom prst="rect">
            <a:avLst/>
          </a:prstGeom>
          <a:noFill/>
          <a:ln/>
        </p:spPr>
        <p:txBody>
          <a:bodyPr wrap="square" lIns="0" tIns="0" rIns="0" bIns="0" rtlCol="0" anchor="t"/>
          <a:lstStyle/>
          <a:p>
            <a:pPr indent="0" marL="0">
              <a:lnSpc>
                <a:spcPct val="105000"/>
              </a:lnSpc>
              <a:buNone/>
            </a:pPr>
            <a:r>
              <a:rPr lang="en-US" sz="1450" dirty="0">
                <a:solidFill>
                  <a:srgbClr val="2B2318"/>
                </a:solidFill>
                <a:latin typeface="Calibri" pitchFamily="34" charset="0"/>
                <a:ea typeface="Calibri" pitchFamily="34" charset="-122"/>
                <a:cs typeface="Calibri" pitchFamily="34" charset="-120"/>
              </a:rPr>
              <a:t>Unter der Herrschaft des Peisistratos sollen auch die Gedichte Homers, die Ilias und die Odyssee, schriftlich aufgezeichnet worden sein.</a:t>
            </a:r>
            <a:endParaRPr lang="en-US" sz="1450" dirty="0"/>
          </a:p>
          <a:p>
            <a:pPr indent="0" marL="0">
              <a:lnSpc>
                <a:spcPct val="105000"/>
              </a:lnSpc>
              <a:buNone/>
            </a:pPr>
            <a:endParaRPr lang="en-US" sz="1450" dirty="0"/>
          </a:p>
          <a:p>
            <a:pPr indent="0" marL="0">
              <a:lnSpc>
                <a:spcPct val="105000"/>
              </a:lnSpc>
              <a:buNone/>
            </a:pPr>
            <a:r>
              <a:rPr lang="en-US" sz="1450" dirty="0">
                <a:solidFill>
                  <a:srgbClr val="2B2318"/>
                </a:solidFill>
                <a:latin typeface="Calibri" pitchFamily="34" charset="0"/>
                <a:ea typeface="Calibri" pitchFamily="34" charset="-122"/>
                <a:cs typeface="Calibri" pitchFamily="34" charset="-120"/>
              </a:rPr>
              <a:t>Peisistratos regierte als Alleinherrscher (Tyrann). Dennoch beseitigte er die Verfassung des Solon nicht, er sicherte lediglich die Besetzung der wichtigen Ämter mit seinen Anhängern. Der Adel blieb unangetastet. Nur seine Gegner, vor allem die Standesgenossen aus dem Geschlecht der Alkmeoniden, blieben ausgeschlossen und mussten in die Verbannung gehen. Den Landbesitz verbannter Adeliger ließ Peisistratos unter Besitzlosen aufteilen.</a:t>
            </a:r>
            <a:endParaRPr lang="en-US" sz="14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TAFEL · PUZZLE</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Wer gewinnt – wer verliert?</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 Min.</a:t>
            </a:r>
            <a:endParaRPr lang="en-US" sz="1100" dirty="0"/>
          </a:p>
        </p:txBody>
      </p:sp>
      <p:sp>
        <p:nvSpPr>
          <p:cNvPr id="5" name="Text 3"/>
          <p:cNvSpPr txBox="1"/>
          <p:nvPr/>
        </p:nvSpPr>
        <p:spPr>
          <a:xfrm>
            <a:off x="457200" y="128016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960120" y="1243584"/>
            <a:ext cx="4251960" cy="740664"/>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Ein Paar nach dem anderen heftet seine Karte in das passende Feld an der Tafel.</a:t>
            </a:r>
            <a:endParaRPr lang="en-US" sz="1300" dirty="0"/>
          </a:p>
        </p:txBody>
      </p:sp>
      <p:sp>
        <p:nvSpPr>
          <p:cNvPr id="7" name="Text 5"/>
          <p:cNvSpPr txBox="1"/>
          <p:nvPr/>
        </p:nvSpPr>
        <p:spPr>
          <a:xfrm>
            <a:off x="457200" y="205740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8" name="Text 6"/>
          <p:cNvSpPr txBox="1"/>
          <p:nvPr/>
        </p:nvSpPr>
        <p:spPr>
          <a:xfrm>
            <a:off x="960120" y="2020824"/>
            <a:ext cx="4251960" cy="740664"/>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Sagt einen Satz: „… bekommt …, weil Peisistratos … Er gewinnt dadurch …“</a:t>
            </a:r>
            <a:endParaRPr lang="en-US" sz="1300" dirty="0"/>
          </a:p>
        </p:txBody>
      </p:sp>
      <p:sp>
        <p:nvSpPr>
          <p:cNvPr id="9" name="Text 7"/>
          <p:cNvSpPr txBox="1"/>
          <p:nvPr/>
        </p:nvSpPr>
        <p:spPr>
          <a:xfrm>
            <a:off x="457200" y="283464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0" name="Text 8"/>
          <p:cNvSpPr txBox="1"/>
          <p:nvPr/>
        </p:nvSpPr>
        <p:spPr>
          <a:xfrm>
            <a:off x="960120" y="2798064"/>
            <a:ext cx="4251960" cy="740664"/>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Die anderen prüfen: Stimmt das Feld? Stimmt der Satz mit dem Buchtext?</a:t>
            </a:r>
            <a:endParaRPr lang="en-US" sz="1300" dirty="0"/>
          </a:p>
        </p:txBody>
      </p:sp>
      <p:sp>
        <p:nvSpPr>
          <p:cNvPr id="11" name="Text 9"/>
          <p:cNvSpPr txBox="1"/>
          <p:nvPr/>
        </p:nvSpPr>
        <p:spPr>
          <a:xfrm>
            <a:off x="457200" y="361188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2" name="Text 10"/>
          <p:cNvSpPr txBox="1"/>
          <p:nvPr/>
        </p:nvSpPr>
        <p:spPr>
          <a:xfrm>
            <a:off x="960120" y="3575304"/>
            <a:ext cx="4251960" cy="740664"/>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Alle schauen am Ende auf das ganze Bild: Was fällt euch auf?</a:t>
            </a:r>
            <a:endParaRPr lang="en-US" sz="1300" dirty="0"/>
          </a:p>
        </p:txBody>
      </p:sp>
      <p:pic>
        <p:nvPicPr>
          <p:cNvPr id="13" name="Image 0" descr="/tmp/claude-0/-home-user-Schule/9be99485-7769-5631-81b2-1e426720ceab/scratchpad/pei/tafel_stumm.png">    </p:cNvPr>
          <p:cNvPicPr>
            <a:picLocks noChangeAspect="1"/>
          </p:cNvPicPr>
          <p:nvPr/>
        </p:nvPicPr>
        <p:blipFill>
          <a:blip r:embed="rId1"/>
          <a:stretch>
            <a:fillRect/>
          </a:stretch>
        </p:blipFill>
        <p:spPr>
          <a:xfrm>
            <a:off x="5440680" y="1280160"/>
            <a:ext cx="3246120" cy="2148840"/>
          </a:xfrm>
          <a:prstGeom prst="rect">
            <a:avLst/>
          </a:prstGeom>
        </p:spPr>
      </p:pic>
      <p:sp>
        <p:nvSpPr>
          <p:cNvPr id="14" name="Text 11"/>
          <p:cNvSpPr txBox="1"/>
          <p:nvPr/>
        </p:nvSpPr>
        <p:spPr>
          <a:xfrm>
            <a:off x="5440680" y="3520440"/>
            <a:ext cx="3246120" cy="822960"/>
          </a:xfrm>
          <a:prstGeom prst="rect">
            <a:avLst/>
          </a:prstGeom>
          <a:noFill/>
          <a:ln/>
        </p:spPr>
        <p:txBody>
          <a:bodyPr wrap="square" lIns="0" tIns="0" rIns="0" bIns="0" rtlCol="0" anchor="t"/>
          <a:lstStyle/>
          <a:p>
            <a:pPr indent="0" marL="0">
              <a:buNone/>
            </a:pPr>
            <a:r>
              <a:rPr lang="en-US" sz="1100" dirty="0">
                <a:solidFill>
                  <a:srgbClr val="5A5044"/>
                </a:solidFill>
                <a:latin typeface="Calibri" pitchFamily="34" charset="0"/>
                <a:ea typeface="Calibri" pitchFamily="34" charset="-122"/>
                <a:cs typeface="Calibri" pitchFamily="34" charset="-120"/>
              </a:rPr>
              <a:t>Tafelfelder: Ganzes Volk (oben) · Bauern &amp; Besitzlose (links) · Handwerk &amp; Mittelstand (rechts) · Adel (unten)</a:t>
            </a:r>
            <a:endParaRPr lang="en-US" sz="1100" dirty="0"/>
          </a:p>
        </p:txBody>
      </p:sp>
      <p:sp>
        <p:nvSpPr>
          <p:cNvPr id="15" name="Text 12"/>
          <p:cNvSpPr txBox="1"/>
          <p:nvPr/>
        </p:nvSpPr>
        <p:spPr>
          <a:xfrm>
            <a:off x="457200" y="4754880"/>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Peisistratos – ein Tyrann als Wegbereiter?</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PUZZLE · 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Das ganze Bild</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pic>
        <p:nvPicPr>
          <p:cNvPr id="5" name="Image 0" descr="/tmp/claude-0/-home-user-Schule/9be99485-7769-5631-81b2-1e426720ceab/scratchpad/pei/tafel_loesung.png">    </p:cNvPr>
          <p:cNvPicPr>
            <a:picLocks noChangeAspect="1"/>
          </p:cNvPicPr>
          <p:nvPr/>
        </p:nvPicPr>
        <p:blipFill>
          <a:blip r:embed="rId1"/>
          <a:stretch>
            <a:fillRect/>
          </a:stretch>
        </p:blipFill>
        <p:spPr>
          <a:xfrm>
            <a:off x="1920240" y="1143000"/>
            <a:ext cx="5312664" cy="3520440"/>
          </a:xfrm>
          <a:prstGeom prst="rect">
            <a:avLst/>
          </a:prstGeom>
        </p:spPr>
      </p:pic>
      <p:sp>
        <p:nvSpPr>
          <p:cNvPr id="6" name="Text 3"/>
          <p:cNvSpPr txBox="1"/>
          <p:nvPr/>
        </p:nvSpPr>
        <p:spPr>
          <a:xfrm>
            <a:off x="457200" y="4754880"/>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Peisistratos – ein Tyrann als Wegbereiter?</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AUFLÖSUNG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Ein Wegbereiter der Demokratie?</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Auflösung</a:t>
            </a:r>
            <a:endParaRPr lang="en-US" sz="1100" dirty="0"/>
          </a:p>
        </p:txBody>
      </p:sp>
      <p:sp>
        <p:nvSpPr>
          <p:cNvPr id="5" name="Shape 3"/>
          <p:cNvSpPr/>
          <p:nvPr/>
        </p:nvSpPr>
        <p:spPr>
          <a:xfrm>
            <a:off x="457200" y="1188720"/>
            <a:ext cx="8229600" cy="685800"/>
          </a:xfrm>
          <a:prstGeom prst="roundRect">
            <a:avLst>
              <a:gd name="adj" fmla="val 10667"/>
            </a:avLst>
          </a:prstGeom>
          <a:solidFill>
            <a:srgbClr val="2B2318"/>
          </a:solidFill>
          <a:ln w="12700">
            <a:solidFill>
              <a:srgbClr val="2B2318"/>
            </a:solidFill>
            <a:prstDash val="solid"/>
          </a:ln>
        </p:spPr>
      </p:sp>
      <p:sp>
        <p:nvSpPr>
          <p:cNvPr id="6" name="Text 4"/>
          <p:cNvSpPr txBox="1"/>
          <p:nvPr/>
        </p:nvSpPr>
        <p:spPr>
          <a:xfrm>
            <a:off x="685800" y="1188720"/>
            <a:ext cx="7772400" cy="6858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Das Lehrbuch nennt die Tyrannis einen „Übergang zur Gleichheitsdemokratie“. Warum?</a:t>
            </a:r>
            <a:endParaRPr lang="en-US" sz="1600" dirty="0"/>
          </a:p>
        </p:txBody>
      </p:sp>
      <p:sp>
        <p:nvSpPr>
          <p:cNvPr id="7" name="Shape 5"/>
          <p:cNvSpPr/>
          <p:nvPr/>
        </p:nvSpPr>
        <p:spPr>
          <a:xfrm>
            <a:off x="457200" y="2057400"/>
            <a:ext cx="2606040" cy="2011680"/>
          </a:xfrm>
          <a:prstGeom prst="roundRect">
            <a:avLst>
              <a:gd name="adj" fmla="val 3636"/>
            </a:avLst>
          </a:prstGeom>
          <a:solidFill>
            <a:srgbClr val="F4ECDE"/>
          </a:solidFill>
          <a:ln w="12700">
            <a:solidFill>
              <a:srgbClr val="F4ECDE"/>
            </a:solidFill>
            <a:prstDash val="solid"/>
          </a:ln>
        </p:spPr>
      </p:sp>
      <p:sp>
        <p:nvSpPr>
          <p:cNvPr id="8" name="Text 6"/>
          <p:cNvSpPr txBox="1"/>
          <p:nvPr/>
        </p:nvSpPr>
        <p:spPr>
          <a:xfrm>
            <a:off x="594360" y="2194560"/>
            <a:ext cx="411480" cy="411480"/>
          </a:xfrm>
          <a:prstGeom prst="ellipse">
            <a:avLst/>
          </a:prstGeom>
          <a:solidFill>
            <a:srgbClr val="AD4426"/>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1097280" y="2176272"/>
            <a:ext cx="1874520" cy="548640"/>
          </a:xfrm>
          <a:prstGeom prst="rect">
            <a:avLst/>
          </a:prstGeom>
          <a:noFill/>
          <a:ln/>
        </p:spPr>
        <p:txBody>
          <a:bodyPr wrap="square" lIns="0" tIns="0" rIns="0" bIns="0" rtlCol="0" anchor="ctr"/>
          <a:lstStyle/>
          <a:p>
            <a:pPr indent="0" marL="0">
              <a:buNone/>
            </a:pPr>
            <a:r>
              <a:rPr lang="en-US" sz="1350" b="1" dirty="0">
                <a:solidFill>
                  <a:srgbClr val="2B2318"/>
                </a:solidFill>
                <a:latin typeface="Calibri" pitchFamily="34" charset="0"/>
                <a:ea typeface="Calibri" pitchFamily="34" charset="-122"/>
                <a:cs typeface="Calibri" pitchFamily="34" charset="-120"/>
              </a:rPr>
              <a:t>Bauern und Mittelstand werden stärker</a:t>
            </a:r>
            <a:endParaRPr lang="en-US" sz="1350" dirty="0"/>
          </a:p>
        </p:txBody>
      </p:sp>
      <p:sp>
        <p:nvSpPr>
          <p:cNvPr id="10" name="Text 8"/>
          <p:cNvSpPr txBox="1"/>
          <p:nvPr/>
        </p:nvSpPr>
        <p:spPr>
          <a:xfrm>
            <a:off x="640080" y="2834640"/>
            <a:ext cx="2286000" cy="1188720"/>
          </a:xfrm>
          <a:prstGeom prst="rect">
            <a:avLst/>
          </a:prstGeom>
          <a:noFill/>
          <a:ln/>
        </p:spPr>
        <p:txBody>
          <a:bodyPr wrap="square" lIns="0" tIns="0" rIns="0" bIns="0" rtlCol="0" anchor="t"/>
          <a:lstStyle/>
          <a:p>
            <a:pPr indent="0" marL="0">
              <a:buNone/>
            </a:pPr>
            <a:r>
              <a:rPr lang="en-US" sz="1250" dirty="0">
                <a:solidFill>
                  <a:srgbClr val="5A5044"/>
                </a:solidFill>
                <a:latin typeface="Calibri" pitchFamily="34" charset="0"/>
                <a:ea typeface="Calibri" pitchFamily="34" charset="-122"/>
                <a:cs typeface="Calibri" pitchFamily="34" charset="-120"/>
              </a:rPr>
              <a:t>Wer Land, Kredite und Aufträge hat, ist nicht mehr vom Adel abhängig (Karten 1–4, 9).</a:t>
            </a:r>
            <a:endParaRPr lang="en-US" sz="1250" dirty="0"/>
          </a:p>
        </p:txBody>
      </p:sp>
      <p:sp>
        <p:nvSpPr>
          <p:cNvPr id="11" name="Shape 9"/>
          <p:cNvSpPr/>
          <p:nvPr/>
        </p:nvSpPr>
        <p:spPr>
          <a:xfrm>
            <a:off x="3246120" y="2057400"/>
            <a:ext cx="2606040" cy="2011680"/>
          </a:xfrm>
          <a:prstGeom prst="roundRect">
            <a:avLst>
              <a:gd name="adj" fmla="val 3636"/>
            </a:avLst>
          </a:prstGeom>
          <a:solidFill>
            <a:srgbClr val="F4ECDE"/>
          </a:solidFill>
          <a:ln w="12700">
            <a:solidFill>
              <a:srgbClr val="F4ECDE"/>
            </a:solidFill>
            <a:prstDash val="solid"/>
          </a:ln>
        </p:spPr>
      </p:sp>
      <p:sp>
        <p:nvSpPr>
          <p:cNvPr id="12" name="Text 10"/>
          <p:cNvSpPr txBox="1"/>
          <p:nvPr/>
        </p:nvSpPr>
        <p:spPr>
          <a:xfrm>
            <a:off x="3383280" y="2194560"/>
            <a:ext cx="411480" cy="411480"/>
          </a:xfrm>
          <a:prstGeom prst="ellipse">
            <a:avLst/>
          </a:prstGeom>
          <a:solidFill>
            <a:srgbClr val="AD4426"/>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3886200" y="2176272"/>
            <a:ext cx="1874520" cy="548640"/>
          </a:xfrm>
          <a:prstGeom prst="rect">
            <a:avLst/>
          </a:prstGeom>
          <a:noFill/>
          <a:ln/>
        </p:spPr>
        <p:txBody>
          <a:bodyPr wrap="square" lIns="0" tIns="0" rIns="0" bIns="0" rtlCol="0" anchor="ctr"/>
          <a:lstStyle/>
          <a:p>
            <a:pPr indent="0" marL="0">
              <a:buNone/>
            </a:pPr>
            <a:r>
              <a:rPr lang="en-US" sz="1350" b="1" dirty="0">
                <a:solidFill>
                  <a:srgbClr val="2B2318"/>
                </a:solidFill>
                <a:latin typeface="Calibri" pitchFamily="34" charset="0"/>
                <a:ea typeface="Calibri" pitchFamily="34" charset="-122"/>
                <a:cs typeface="Calibri" pitchFamily="34" charset="-120"/>
              </a:rPr>
              <a:t>Das Volk wächst zusammen</a:t>
            </a:r>
            <a:endParaRPr lang="en-US" sz="1350" dirty="0"/>
          </a:p>
        </p:txBody>
      </p:sp>
      <p:sp>
        <p:nvSpPr>
          <p:cNvPr id="14" name="Text 12"/>
          <p:cNvSpPr txBox="1"/>
          <p:nvPr/>
        </p:nvSpPr>
        <p:spPr>
          <a:xfrm>
            <a:off x="3429000" y="2834640"/>
            <a:ext cx="2286000" cy="1188720"/>
          </a:xfrm>
          <a:prstGeom prst="rect">
            <a:avLst/>
          </a:prstGeom>
          <a:noFill/>
          <a:ln/>
        </p:spPr>
        <p:txBody>
          <a:bodyPr wrap="square" lIns="0" tIns="0" rIns="0" bIns="0" rtlCol="0" anchor="t"/>
          <a:lstStyle/>
          <a:p>
            <a:pPr indent="0" marL="0">
              <a:buNone/>
            </a:pPr>
            <a:r>
              <a:rPr lang="en-US" sz="1250" dirty="0">
                <a:solidFill>
                  <a:srgbClr val="5A5044"/>
                </a:solidFill>
                <a:latin typeface="Calibri" pitchFamily="34" charset="0"/>
                <a:ea typeface="Calibri" pitchFamily="34" charset="-122"/>
                <a:cs typeface="Calibri" pitchFamily="34" charset="-120"/>
              </a:rPr>
              <a:t>Feste, Tempel und Homer stärken das „Wir“ der Athener (Karten 5–7).</a:t>
            </a:r>
            <a:endParaRPr lang="en-US" sz="1250" dirty="0"/>
          </a:p>
        </p:txBody>
      </p:sp>
      <p:sp>
        <p:nvSpPr>
          <p:cNvPr id="15" name="Shape 13"/>
          <p:cNvSpPr/>
          <p:nvPr/>
        </p:nvSpPr>
        <p:spPr>
          <a:xfrm>
            <a:off x="6035040" y="2057400"/>
            <a:ext cx="2606040" cy="2011680"/>
          </a:xfrm>
          <a:prstGeom prst="roundRect">
            <a:avLst>
              <a:gd name="adj" fmla="val 3636"/>
            </a:avLst>
          </a:prstGeom>
          <a:solidFill>
            <a:srgbClr val="F4ECDE"/>
          </a:solidFill>
          <a:ln w="12700">
            <a:solidFill>
              <a:srgbClr val="F4ECDE"/>
            </a:solidFill>
            <a:prstDash val="solid"/>
          </a:ln>
        </p:spPr>
      </p:sp>
      <p:sp>
        <p:nvSpPr>
          <p:cNvPr id="16" name="Text 14"/>
          <p:cNvSpPr txBox="1"/>
          <p:nvPr/>
        </p:nvSpPr>
        <p:spPr>
          <a:xfrm>
            <a:off x="6172200" y="2194560"/>
            <a:ext cx="411480" cy="411480"/>
          </a:xfrm>
          <a:prstGeom prst="ellipse">
            <a:avLst/>
          </a:prstGeom>
          <a:solidFill>
            <a:srgbClr val="AD4426"/>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6675120" y="2176272"/>
            <a:ext cx="1874520" cy="548640"/>
          </a:xfrm>
          <a:prstGeom prst="rect">
            <a:avLst/>
          </a:prstGeom>
          <a:noFill/>
          <a:ln/>
        </p:spPr>
        <p:txBody>
          <a:bodyPr wrap="square" lIns="0" tIns="0" rIns="0" bIns="0" rtlCol="0" anchor="ctr"/>
          <a:lstStyle/>
          <a:p>
            <a:pPr indent="0" marL="0">
              <a:buNone/>
            </a:pPr>
            <a:r>
              <a:rPr lang="en-US" sz="1350" b="1" dirty="0">
                <a:solidFill>
                  <a:srgbClr val="2B2318"/>
                </a:solidFill>
                <a:latin typeface="Calibri" pitchFamily="34" charset="0"/>
                <a:ea typeface="Calibri" pitchFamily="34" charset="-122"/>
                <a:cs typeface="Calibri" pitchFamily="34" charset="-120"/>
              </a:rPr>
              <a:t>Die mächtigsten Adligen verlieren</a:t>
            </a:r>
            <a:endParaRPr lang="en-US" sz="1350" dirty="0"/>
          </a:p>
        </p:txBody>
      </p:sp>
      <p:sp>
        <p:nvSpPr>
          <p:cNvPr id="18" name="Text 16"/>
          <p:cNvSpPr txBox="1"/>
          <p:nvPr/>
        </p:nvSpPr>
        <p:spPr>
          <a:xfrm>
            <a:off x="6217920" y="2834640"/>
            <a:ext cx="2286000" cy="1188720"/>
          </a:xfrm>
          <a:prstGeom prst="rect">
            <a:avLst/>
          </a:prstGeom>
          <a:noFill/>
          <a:ln/>
        </p:spPr>
        <p:txBody>
          <a:bodyPr wrap="square" lIns="0" tIns="0" rIns="0" bIns="0" rtlCol="0" anchor="t"/>
          <a:lstStyle/>
          <a:p>
            <a:pPr indent="0" marL="0">
              <a:buNone/>
            </a:pPr>
            <a:r>
              <a:rPr lang="en-US" sz="1250" dirty="0">
                <a:solidFill>
                  <a:srgbClr val="5A5044"/>
                </a:solidFill>
                <a:latin typeface="Calibri" pitchFamily="34" charset="0"/>
                <a:ea typeface="Calibri" pitchFamily="34" charset="-122"/>
                <a:cs typeface="Calibri" pitchFamily="34" charset="-120"/>
              </a:rPr>
              <a:t>Seine Gegner gehen in die Verbannung, ihr Land geht an Besitzlose (Karte 9).</a:t>
            </a:r>
            <a:endParaRPr lang="en-US" sz="1250" dirty="0"/>
          </a:p>
        </p:txBody>
      </p:sp>
      <p:sp>
        <p:nvSpPr>
          <p:cNvPr id="19" name="Text 17"/>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b="1" dirty="0">
                <a:solidFill>
                  <a:srgbClr val="AD4426"/>
                </a:solidFill>
                <a:latin typeface="Calibri" pitchFamily="34" charset="0"/>
                <a:ea typeface="Calibri" pitchFamily="34" charset="-122"/>
                <a:cs typeface="Calibri" pitchFamily="34" charset="-120"/>
              </a:rPr>
              <a:t>Und unsere Abstimmung? Schaut in die Tafelecke.</a:t>
            </a:r>
            <a:endParaRPr lang="en-US" sz="1400" dirty="0"/>
          </a:p>
        </p:txBody>
      </p:sp>
      <p:sp>
        <p:nvSpPr>
          <p:cNvPr id="20" name="Text 18"/>
          <p:cNvSpPr txBox="1"/>
          <p:nvPr/>
        </p:nvSpPr>
        <p:spPr>
          <a:xfrm>
            <a:off x="457200" y="4754880"/>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Peisistratos – ein Tyrann als Wegbereiter?</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SICHERUNG · BLATT TEIL B · TAFEL</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Das ganze Bild auf euer Blatt</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 Min.</a:t>
            </a:r>
            <a:endParaRPr lang="en-US" sz="1100" dirty="0"/>
          </a:p>
        </p:txBody>
      </p:sp>
      <p:sp>
        <p:nvSpPr>
          <p:cNvPr id="5" name="Shape 3"/>
          <p:cNvSpPr/>
          <p:nvPr/>
        </p:nvSpPr>
        <p:spPr>
          <a:xfrm>
            <a:off x="457200" y="1188720"/>
            <a:ext cx="8229600" cy="548640"/>
          </a:xfrm>
          <a:prstGeom prst="roundRect">
            <a:avLst>
              <a:gd name="adj" fmla="val 13333"/>
            </a:avLst>
          </a:prstGeom>
          <a:solidFill>
            <a:srgbClr val="AD4426"/>
          </a:solidFill>
          <a:ln w="12700">
            <a:solidFill>
              <a:srgbClr val="AD4426"/>
            </a:solidFill>
            <a:prstDash val="solid"/>
          </a:ln>
        </p:spPr>
      </p:sp>
      <p:sp>
        <p:nvSpPr>
          <p:cNvPr id="6" name="Text 4"/>
          <p:cNvSpPr txBox="1"/>
          <p:nvPr/>
        </p:nvSpPr>
        <p:spPr>
          <a:xfrm>
            <a:off x="685800" y="1188720"/>
            <a:ext cx="777240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Teil A ist fertig – jetzt Teil B auf eurem Blatt!</a:t>
            </a:r>
            <a:endParaRPr lang="en-US" sz="1600" dirty="0"/>
          </a:p>
        </p:txBody>
      </p:sp>
      <p:sp>
        <p:nvSpPr>
          <p:cNvPr id="7" name="Text 5"/>
          <p:cNvSpPr txBox="1"/>
          <p:nvPr/>
        </p:nvSpPr>
        <p:spPr>
          <a:xfrm>
            <a:off x="457200" y="192024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60120" y="1883664"/>
            <a:ext cx="4343400" cy="621792"/>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Trage in die Mitte und in die vier Felder ein, wer gemeint ist.</a:t>
            </a:r>
            <a:endParaRPr lang="en-US" sz="1300" dirty="0"/>
          </a:p>
        </p:txBody>
      </p:sp>
      <p:sp>
        <p:nvSpPr>
          <p:cNvPr id="9" name="Text 7"/>
          <p:cNvSpPr txBox="1"/>
          <p:nvPr/>
        </p:nvSpPr>
        <p:spPr>
          <a:xfrm>
            <a:off x="457200" y="2578608"/>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960120" y="2542032"/>
            <a:ext cx="4343400" cy="621792"/>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Schreibe in jedes Feld mindestens eine Maßnahme. Beim Adel: ✓ wer gewinnt, ✗ wer verliert.</a:t>
            </a:r>
            <a:endParaRPr lang="en-US" sz="1300" dirty="0"/>
          </a:p>
        </p:txBody>
      </p:sp>
      <p:sp>
        <p:nvSpPr>
          <p:cNvPr id="11" name="Text 9"/>
          <p:cNvSpPr txBox="1"/>
          <p:nvPr/>
        </p:nvSpPr>
        <p:spPr>
          <a:xfrm>
            <a:off x="457200" y="3236976"/>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txBox="1"/>
          <p:nvPr/>
        </p:nvSpPr>
        <p:spPr>
          <a:xfrm>
            <a:off x="960120" y="3200400"/>
            <a:ext cx="4343400" cy="621792"/>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Was bedeuten die dunklen, was die hellen Pfeile?</a:t>
            </a:r>
            <a:endParaRPr lang="en-US" sz="1300" dirty="0"/>
          </a:p>
        </p:txBody>
      </p:sp>
      <p:sp>
        <p:nvSpPr>
          <p:cNvPr id="13" name="Text 11"/>
          <p:cNvSpPr txBox="1"/>
          <p:nvPr/>
        </p:nvSpPr>
        <p:spPr>
          <a:xfrm>
            <a:off x="457200" y="3895344"/>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4" name="Text 12"/>
          <p:cNvSpPr txBox="1"/>
          <p:nvPr/>
        </p:nvSpPr>
        <p:spPr>
          <a:xfrm>
            <a:off x="960120" y="3858768"/>
            <a:ext cx="4343400" cy="621792"/>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Ergänze den Merksatz: „Peisistratos sichert seine Macht durch …“</a:t>
            </a:r>
            <a:endParaRPr lang="en-US" sz="1300" dirty="0"/>
          </a:p>
        </p:txBody>
      </p:sp>
      <p:pic>
        <p:nvPicPr>
          <p:cNvPr id="15" name="Image 0" descr="/tmp/claude-0/-home-user-Schule/9be99485-7769-5631-81b2-1e426720ceab/scratchpad/pei/tafel_stumm.png">    </p:cNvPr>
          <p:cNvPicPr>
            <a:picLocks noChangeAspect="1"/>
          </p:cNvPicPr>
          <p:nvPr/>
        </p:nvPicPr>
        <p:blipFill>
          <a:blip r:embed="rId1"/>
          <a:stretch>
            <a:fillRect/>
          </a:stretch>
        </p:blipFill>
        <p:spPr>
          <a:xfrm>
            <a:off x="5486400" y="1920240"/>
            <a:ext cx="3200400" cy="2121408"/>
          </a:xfrm>
          <a:prstGeom prst="rect">
            <a:avLst/>
          </a:prstGeom>
        </p:spPr>
      </p:pic>
      <p:sp>
        <p:nvSpPr>
          <p:cNvPr id="16" name="Text 13"/>
          <p:cNvSpPr txBox="1"/>
          <p:nvPr/>
        </p:nvSpPr>
        <p:spPr>
          <a:xfrm>
            <a:off x="457200" y="4754880"/>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Peisistratos – ein Tyrann als Wegbereiter?</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SICHERUNG · 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Vergleicht mit eurem Blatt</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pic>
        <p:nvPicPr>
          <p:cNvPr id="5" name="Image 0" descr="/tmp/claude-0/-home-user-Schule/9be99485-7769-5631-81b2-1e426720ceab/scratchpad/pei/tafel_loesung.png">    </p:cNvPr>
          <p:cNvPicPr>
            <a:picLocks noChangeAspect="1"/>
          </p:cNvPicPr>
          <p:nvPr/>
        </p:nvPicPr>
        <p:blipFill>
          <a:blip r:embed="rId1"/>
          <a:stretch>
            <a:fillRect/>
          </a:stretch>
        </p:blipFill>
        <p:spPr>
          <a:xfrm>
            <a:off x="457200" y="1188720"/>
            <a:ext cx="5120640" cy="3392424"/>
          </a:xfrm>
          <a:prstGeom prst="rect">
            <a:avLst/>
          </a:prstGeom>
        </p:spPr>
      </p:pic>
      <p:sp>
        <p:nvSpPr>
          <p:cNvPr id="6" name="Shape 3"/>
          <p:cNvSpPr/>
          <p:nvPr/>
        </p:nvSpPr>
        <p:spPr>
          <a:xfrm>
            <a:off x="5806440" y="1188720"/>
            <a:ext cx="2880360" cy="3392424"/>
          </a:xfrm>
          <a:prstGeom prst="roundRect">
            <a:avLst>
              <a:gd name="adj" fmla="val 2540"/>
            </a:avLst>
          </a:prstGeom>
          <a:solidFill>
            <a:srgbClr val="F4ECDE"/>
          </a:solidFill>
          <a:ln w="12700">
            <a:solidFill>
              <a:srgbClr val="F4ECDE"/>
            </a:solidFill>
            <a:prstDash val="solid"/>
          </a:ln>
        </p:spPr>
      </p:sp>
      <p:sp>
        <p:nvSpPr>
          <p:cNvPr id="7" name="Text 4"/>
          <p:cNvSpPr txBox="1"/>
          <p:nvPr/>
        </p:nvSpPr>
        <p:spPr>
          <a:xfrm>
            <a:off x="5989320" y="1280160"/>
            <a:ext cx="2560320" cy="320040"/>
          </a:xfrm>
          <a:prstGeom prst="rect">
            <a:avLst/>
          </a:prstGeom>
          <a:noFill/>
          <a:ln/>
        </p:spPr>
        <p:txBody>
          <a:bodyPr wrap="square" lIns="0" tIns="0" rIns="0" bIns="0" rtlCol="0" anchor="t"/>
          <a:lstStyle/>
          <a:p>
            <a:pPr indent="0" marL="0">
              <a:buNone/>
            </a:pPr>
            <a:r>
              <a:rPr lang="en-US" sz="1500" b="1" dirty="0">
                <a:solidFill>
                  <a:srgbClr val="AD4426"/>
                </a:solidFill>
                <a:latin typeface="Cambria" pitchFamily="34" charset="0"/>
                <a:ea typeface="Cambria" pitchFamily="34" charset="-122"/>
                <a:cs typeface="Cambria" pitchFamily="34" charset="-120"/>
              </a:rPr>
              <a:t>Die Pfeile</a:t>
            </a:r>
            <a:endParaRPr lang="en-US" sz="1500" dirty="0"/>
          </a:p>
        </p:txBody>
      </p:sp>
      <p:sp>
        <p:nvSpPr>
          <p:cNvPr id="8" name="Text 5"/>
          <p:cNvSpPr txBox="1"/>
          <p:nvPr/>
        </p:nvSpPr>
        <p:spPr>
          <a:xfrm>
            <a:off x="5989320" y="1691640"/>
            <a:ext cx="2560320" cy="2743200"/>
          </a:xfrm>
          <a:prstGeom prst="rect">
            <a:avLst/>
          </a:prstGeom>
          <a:noFill/>
          <a:ln/>
        </p:spPr>
        <p:txBody>
          <a:bodyPr wrap="square" lIns="0" tIns="0" rIns="0" bIns="0" rtlCol="0" anchor="t"/>
          <a:lstStyle/>
          <a:p>
            <a:pPr indent="0" marL="0">
              <a:buNone/>
            </a:pPr>
            <a:r>
              <a:rPr lang="en-US" sz="1300" b="1" dirty="0">
                <a:solidFill>
                  <a:srgbClr val="2B2318"/>
                </a:solidFill>
                <a:latin typeface="Calibri" pitchFamily="34" charset="0"/>
                <a:ea typeface="Calibri" pitchFamily="34" charset="-122"/>
                <a:cs typeface="Calibri" pitchFamily="34" charset="-120"/>
              </a:rPr>
              <a:t>schwarz: </a:t>
            </a:r>
            <a:pPr indent="0" marL="0">
              <a:buNone/>
            </a:pPr>
            <a:r>
              <a:rPr lang="en-US" sz="1300" dirty="0">
                <a:solidFill>
                  <a:srgbClr val="2B2318"/>
                </a:solidFill>
                <a:latin typeface="Calibri" pitchFamily="34" charset="0"/>
                <a:ea typeface="Calibri" pitchFamily="34" charset="-122"/>
                <a:cs typeface="Calibri" pitchFamily="34" charset="-120"/>
              </a:rPr>
              <a:t>Peisistratos fördert die Gruppen mit Maßnahmen.
</a:t>
            </a:r>
            <a:pPr indent="0" marL="0">
              <a:buNone/>
            </a:pPr>
            <a:r>
              <a:rPr lang="en-US" sz="1300" b="1" dirty="0">
                <a:solidFill>
                  <a:srgbClr val="AA7820"/>
                </a:solidFill>
                <a:latin typeface="Calibri" pitchFamily="34" charset="0"/>
                <a:ea typeface="Calibri" pitchFamily="34" charset="-122"/>
                <a:cs typeface="Calibri" pitchFamily="34" charset="-120"/>
              </a:rPr>
              <a:t>gold: </a:t>
            </a:r>
            <a:pPr indent="0" marL="0">
              <a:buNone/>
            </a:pPr>
            <a:r>
              <a:rPr lang="en-US" sz="1300" dirty="0">
                <a:solidFill>
                  <a:srgbClr val="2B2318"/>
                </a:solidFill>
                <a:latin typeface="Calibri" pitchFamily="34" charset="0"/>
                <a:ea typeface="Calibri" pitchFamily="34" charset="-122"/>
                <a:cs typeface="Calibri" pitchFamily="34" charset="-120"/>
              </a:rPr>
              <a:t>Die Gruppen unterstützen ihn dafür.
</a:t>
            </a:r>
            <a:pPr indent="0" marL="0">
              <a:buNone/>
            </a:pPr>
            <a:r>
              <a:rPr lang="en-US" sz="1300" b="1" dirty="0">
                <a:solidFill>
                  <a:srgbClr val="AD4426"/>
                </a:solidFill>
                <a:latin typeface="Calibri" pitchFamily="34" charset="0"/>
                <a:ea typeface="Calibri" pitchFamily="34" charset="-122"/>
                <a:cs typeface="Calibri" pitchFamily="34" charset="-120"/>
              </a:rPr>
              <a:t>So sichert er seine Macht.</a:t>
            </a:r>
            <a:endParaRPr lang="en-US" sz="1300" dirty="0"/>
          </a:p>
        </p:txBody>
      </p:sp>
      <p:sp>
        <p:nvSpPr>
          <p:cNvPr id="9" name="Text 6"/>
          <p:cNvSpPr txBox="1"/>
          <p:nvPr/>
        </p:nvSpPr>
        <p:spPr>
          <a:xfrm>
            <a:off x="457200" y="4754880"/>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Peisistratos – ein Tyrann als Wegbereiter?</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EINZELARBEIT · ZETTEL</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Ausgangskarte</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Min.</a:t>
            </a:r>
            <a:endParaRPr lang="en-US" sz="1100" dirty="0"/>
          </a:p>
        </p:txBody>
      </p:sp>
      <p:sp>
        <p:nvSpPr>
          <p:cNvPr id="5" name="Shape 3"/>
          <p:cNvSpPr/>
          <p:nvPr/>
        </p:nvSpPr>
        <p:spPr>
          <a:xfrm>
            <a:off x="457200" y="1371600"/>
            <a:ext cx="8229600" cy="1280160"/>
          </a:xfrm>
          <a:prstGeom prst="roundRect">
            <a:avLst>
              <a:gd name="adj" fmla="val 5714"/>
            </a:avLst>
          </a:prstGeom>
          <a:solidFill>
            <a:srgbClr val="2B2318"/>
          </a:solidFill>
          <a:ln w="12700">
            <a:solidFill>
              <a:srgbClr val="2B2318"/>
            </a:solidFill>
            <a:prstDash val="solid"/>
          </a:ln>
        </p:spPr>
      </p:sp>
      <p:sp>
        <p:nvSpPr>
          <p:cNvPr id="6" name="Text 4"/>
          <p:cNvSpPr txBox="1"/>
          <p:nvPr/>
        </p:nvSpPr>
        <p:spPr>
          <a:xfrm>
            <a:off x="731520" y="1371600"/>
            <a:ext cx="7680960" cy="12801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„Peisistratos war ein Tyrann, aber …, weil …“</a:t>
            </a:r>
            <a:endParaRPr lang="en-US" sz="2600" dirty="0"/>
          </a:p>
        </p:txBody>
      </p:sp>
      <p:sp>
        <p:nvSpPr>
          <p:cNvPr id="7" name="Text 5"/>
          <p:cNvSpPr txBox="1"/>
          <p:nvPr/>
        </p:nvSpPr>
        <p:spPr>
          <a:xfrm>
            <a:off x="457200" y="292608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60120" y="2889504"/>
            <a:ext cx="7726680" cy="493776"/>
          </a:xfrm>
          <a:prstGeom prst="rect">
            <a:avLst/>
          </a:prstGeom>
          <a:noFill/>
          <a:ln/>
        </p:spPr>
        <p:txBody>
          <a:bodyPr wrap="square" lIns="0" tIns="0" rIns="0" bIns="0" rtlCol="0" anchor="ctr"/>
          <a:lstStyle/>
          <a:p>
            <a:pPr indent="0" marL="0">
              <a:buNone/>
            </a:pPr>
            <a:r>
              <a:rPr lang="en-US" sz="1400" dirty="0">
                <a:solidFill>
                  <a:srgbClr val="2B2318"/>
                </a:solidFill>
                <a:latin typeface="Calibri" pitchFamily="34" charset="0"/>
                <a:ea typeface="Calibri" pitchFamily="34" charset="-122"/>
                <a:cs typeface="Calibri" pitchFamily="34" charset="-120"/>
              </a:rPr>
              <a:t>Ergänze den Satz auf einem Zettel mit Namen.</a:t>
            </a:r>
            <a:endParaRPr lang="en-US" sz="1400" dirty="0"/>
          </a:p>
        </p:txBody>
      </p:sp>
      <p:sp>
        <p:nvSpPr>
          <p:cNvPr id="9" name="Text 7"/>
          <p:cNvSpPr txBox="1"/>
          <p:nvPr/>
        </p:nvSpPr>
        <p:spPr>
          <a:xfrm>
            <a:off x="457200" y="3456432"/>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960120" y="3419856"/>
            <a:ext cx="7726680" cy="493776"/>
          </a:xfrm>
          <a:prstGeom prst="rect">
            <a:avLst/>
          </a:prstGeom>
          <a:noFill/>
          <a:ln/>
        </p:spPr>
        <p:txBody>
          <a:bodyPr wrap="square" lIns="0" tIns="0" rIns="0" bIns="0" rtlCol="0" anchor="ctr"/>
          <a:lstStyle/>
          <a:p>
            <a:pPr indent="0" marL="0">
              <a:buNone/>
            </a:pPr>
            <a:r>
              <a:rPr lang="en-US" sz="1400" dirty="0">
                <a:solidFill>
                  <a:srgbClr val="2B2318"/>
                </a:solidFill>
                <a:latin typeface="Calibri" pitchFamily="34" charset="0"/>
                <a:ea typeface="Calibri" pitchFamily="34" charset="-122"/>
                <a:cs typeface="Calibri" pitchFamily="34" charset="-120"/>
              </a:rPr>
              <a:t>Nenne mindestens eine Maßnahme als Beleg.</a:t>
            </a:r>
            <a:endParaRPr lang="en-US" sz="1400" dirty="0"/>
          </a:p>
        </p:txBody>
      </p:sp>
      <p:sp>
        <p:nvSpPr>
          <p:cNvPr id="11" name="Text 9"/>
          <p:cNvSpPr txBox="1"/>
          <p:nvPr/>
        </p:nvSpPr>
        <p:spPr>
          <a:xfrm>
            <a:off x="457200" y="3986784"/>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txBox="1"/>
          <p:nvPr/>
        </p:nvSpPr>
        <p:spPr>
          <a:xfrm>
            <a:off x="960120" y="3950208"/>
            <a:ext cx="7726680" cy="493776"/>
          </a:xfrm>
          <a:prstGeom prst="rect">
            <a:avLst/>
          </a:prstGeom>
          <a:noFill/>
          <a:ln/>
        </p:spPr>
        <p:txBody>
          <a:bodyPr wrap="square" lIns="0" tIns="0" rIns="0" bIns="0" rtlCol="0" anchor="ctr"/>
          <a:lstStyle/>
          <a:p>
            <a:pPr indent="0" marL="0">
              <a:buNone/>
            </a:pPr>
            <a:r>
              <a:rPr lang="en-US" sz="1400" dirty="0">
                <a:solidFill>
                  <a:srgbClr val="2B2318"/>
                </a:solidFill>
                <a:latin typeface="Calibri" pitchFamily="34" charset="0"/>
                <a:ea typeface="Calibri" pitchFamily="34" charset="-122"/>
                <a:cs typeface="Calibri" pitchFamily="34" charset="-120"/>
              </a:rPr>
              <a:t>Gib den Zettel beim Rausgehen ab.</a:t>
            </a:r>
            <a:endParaRPr lang="en-US" sz="1400" dirty="0"/>
          </a:p>
        </p:txBody>
      </p:sp>
      <p:sp>
        <p:nvSpPr>
          <p:cNvPr id="13" name="Text 11"/>
          <p:cNvSpPr txBox="1"/>
          <p:nvPr/>
        </p:nvSpPr>
        <p:spPr>
          <a:xfrm>
            <a:off x="457200" y="4754880"/>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Peisistratos – ein Tyrann als Wegbereiter?</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AUSGANGSKARTE · BEISPIEL</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So könnte dein Satz lauten</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sp>
        <p:nvSpPr>
          <p:cNvPr id="5" name="Shape 3"/>
          <p:cNvSpPr/>
          <p:nvPr/>
        </p:nvSpPr>
        <p:spPr>
          <a:xfrm>
            <a:off x="457200" y="1280160"/>
            <a:ext cx="8229600" cy="1737360"/>
          </a:xfrm>
          <a:prstGeom prst="roundRect">
            <a:avLst>
              <a:gd name="adj" fmla="val 4211"/>
            </a:avLst>
          </a:prstGeom>
          <a:solidFill>
            <a:srgbClr val="F4ECDE"/>
          </a:solidFill>
          <a:ln w="12700">
            <a:solidFill>
              <a:srgbClr val="F4ECDE"/>
            </a:solidFill>
            <a:prstDash val="solid"/>
          </a:ln>
        </p:spPr>
      </p:sp>
      <p:sp>
        <p:nvSpPr>
          <p:cNvPr id="6" name="Text 4"/>
          <p:cNvSpPr txBox="1"/>
          <p:nvPr/>
        </p:nvSpPr>
        <p:spPr>
          <a:xfrm>
            <a:off x="731520" y="1371600"/>
            <a:ext cx="7680960" cy="1554480"/>
          </a:xfrm>
          <a:prstGeom prst="rect">
            <a:avLst/>
          </a:prstGeom>
          <a:noFill/>
          <a:ln/>
        </p:spPr>
        <p:txBody>
          <a:bodyPr wrap="square" lIns="0" tIns="0" rIns="0" bIns="0" rtlCol="0" anchor="ctr"/>
          <a:lstStyle/>
          <a:p>
            <a:pPr indent="0" marL="0">
              <a:buNone/>
            </a:pPr>
            <a:r>
              <a:rPr lang="en-US" sz="1700" i="1" dirty="0">
                <a:solidFill>
                  <a:srgbClr val="2B2318"/>
                </a:solidFill>
                <a:latin typeface="Calibri" pitchFamily="34" charset="0"/>
                <a:ea typeface="Calibri" pitchFamily="34" charset="-122"/>
                <a:cs typeface="Calibri" pitchFamily="34" charset="-120"/>
              </a:rPr>
              <a:t>„Peisistratos war ein Tyrann, aber er brachte Athen der Demokratie näher, weil er die Bauern und den Mittelstand stärkte – zum Beispiel durch Land und Kredite – und so ihre Abhängigkeit vom Adel verringerte.“</a:t>
            </a:r>
            <a:endParaRPr lang="en-US" sz="1700" dirty="0"/>
          </a:p>
        </p:txBody>
      </p:sp>
      <p:sp>
        <p:nvSpPr>
          <p:cNvPr id="7" name="Shape 5"/>
          <p:cNvSpPr/>
          <p:nvPr/>
        </p:nvSpPr>
        <p:spPr>
          <a:xfrm>
            <a:off x="457200" y="3246120"/>
            <a:ext cx="8229600" cy="731520"/>
          </a:xfrm>
          <a:prstGeom prst="roundRect">
            <a:avLst>
              <a:gd name="adj" fmla="val 10000"/>
            </a:avLst>
          </a:prstGeom>
          <a:solidFill>
            <a:srgbClr val="2B2318"/>
          </a:solidFill>
          <a:ln w="12700">
            <a:solidFill>
              <a:srgbClr val="2B2318"/>
            </a:solidFill>
            <a:prstDash val="solid"/>
          </a:ln>
        </p:spPr>
      </p:sp>
      <p:sp>
        <p:nvSpPr>
          <p:cNvPr id="8" name="Text 6"/>
          <p:cNvSpPr txBox="1"/>
          <p:nvPr/>
        </p:nvSpPr>
        <p:spPr>
          <a:xfrm>
            <a:off x="731520" y="3246120"/>
            <a:ext cx="7680960" cy="731520"/>
          </a:xfrm>
          <a:prstGeom prst="rect">
            <a:avLst/>
          </a:prstGeom>
          <a:noFill/>
          <a:ln/>
        </p:spPr>
        <p:txBody>
          <a:bodyPr wrap="square" lIns="0" tIns="0" rIns="0" bIns="0" rtlCol="0" anchor="ctr"/>
          <a:lstStyle/>
          <a:p>
            <a:pPr indent="0" marL="0">
              <a:buNone/>
            </a:pPr>
            <a:r>
              <a:rPr lang="en-US" sz="1600" b="1" dirty="0">
                <a:solidFill>
                  <a:srgbClr val="D9A441"/>
                </a:solidFill>
                <a:latin typeface="Calibri" pitchFamily="34" charset="0"/>
                <a:ea typeface="Calibri" pitchFamily="34" charset="-122"/>
                <a:cs typeface="Calibri" pitchFamily="34" charset="-120"/>
              </a:rPr>
              <a:t>Ausblick: Wie wird aus Athen eine echte Demokratie? → Kleisthenes</a:t>
            </a:r>
            <a:endParaRPr lang="en-US" sz="1600" dirty="0"/>
          </a:p>
        </p:txBody>
      </p:sp>
      <p:sp>
        <p:nvSpPr>
          <p:cNvPr id="9" name="Text 7"/>
          <p:cNvSpPr txBox="1"/>
          <p:nvPr/>
        </p:nvSpPr>
        <p:spPr>
          <a:xfrm>
            <a:off x="457200" y="4754880"/>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Peisistratos – ein Tyrann als Wegbereiter?</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Peisistratos</dc:title>
  <dc:subject>PptxGenJS Presentation</dc:subject>
  <dc:creator>PptxGenJS</dc:creator>
  <cp:lastModifiedBy>PptxGenJS</cp:lastModifiedBy>
  <cp:revision>1</cp:revision>
  <dcterms:created xsi:type="dcterms:W3CDTF">2026-10-12T10:39:38Z</dcterms:created>
  <dcterms:modified xsi:type="dcterms:W3CDTF">2026-10-12T10:39:38Z</dcterms:modified>
</cp:coreProperties>
</file>