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Titelfolie nur kurz zeigen, nichts erklären. Direkt zu Folie 2 (stummer Impuls) weitergehen.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0–7 Min. Folie wortlos zeigen oder nur sagen: 'Lest die drei Sätze. Schreibt allein auf: Was unterscheidet sie?' Nach 2 Min. Austausch mit dem Nachbarn (3 Min.). KEINE Plenumsbesprechung – die Paare arbeiten in Phase 2 direkt weiter.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7–15 Min. M1 erst austeilen, wenn die Paare eigene Namen gefunden haben (nach ca. 4 Min.). Am Ende ein Paar auslosen: 'Was davon hattet ihr schon selbst herausgefunden?' Maximal 1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15–23 Min. Je Paar ein Umschlag mit den 12 Karten. Nicht eingreifen, nur beobachten, welche Karten quer liegen (erwartbar: H und D). Danach Folie 5 zur Selbstkontrolle.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23–24 Min. Paare vergleichen selbst. Nicht jede Karte besprechen – nur die, die quer lagen, und die Grenzfälle H und D (Folie 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24–27 Min. Erst Paare antworten lassen, die die Karte quer gelegt hatten.
H: Sachurteil, aber unvollständig – Kriterien (für wen? woran gemessen?) und Begründung fehlen.
D: Präsentismus – ein heutiger Maßstab wird auf die Antike übertragen, als hätte es ihn damals gegeben. Als Werturteil fehlen Maßstab und Begründung.
A↔G und D↔K: Ein gutes Werturteil nennt seinen Maßstab und begründet ihn.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27–40 Min. Während des Schreibens herumgehen. Häufigster Fehler: Das Sachurteil argumentiert mit heutigen Werten ('Die Griechen haben den Einheimischen Unrecht getan') – kurz auf M1 'Typischer Fehler' verweisen. Werturteil nicht fertig? Als Hausaufgabe.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40–45 Min. Exit-Tickets einsammeln. Für die Doppelstunde: 2 treffende und 1 unklare Formulierung auswählen und zum Einstieg vorlesen.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GESCHICHTE · KLASSE 11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Urteilen wie Historiker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8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unterscheidet man eine Beschreibung, ein Sachurteil und ein Werturteil?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108960"/>
            <a:ext cx="2103120" cy="502920"/>
          </a:xfrm>
          <a:prstGeom prst="roundRect">
            <a:avLst>
              <a:gd name="adj" fmla="val 21818"/>
            </a:avLst>
          </a:prstGeom>
          <a:solidFill>
            <a:srgbClr val="5A50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Beschreibung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926080" y="3108960"/>
            <a:ext cx="2103120" cy="502920"/>
          </a:xfrm>
          <a:prstGeom prst="roundRect">
            <a:avLst>
              <a:gd name="adj" fmla="val 21818"/>
            </a:avLst>
          </a:prstGeom>
          <a:solidFill>
            <a:srgbClr val="D9A44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Sachurteil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212080" y="3108960"/>
            <a:ext cx="2103120" cy="502920"/>
          </a:xfrm>
          <a:prstGeom prst="roundRect">
            <a:avLst>
              <a:gd name="adj" fmla="val 21818"/>
            </a:avLst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Werturteil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6634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griechische Polis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STUMMER IMPULS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Drei Sätze über dasselbe Thema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72768"/>
            <a:ext cx="457200" cy="457200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481328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antiken Griechenland wurden Neugeborene manchmal ausgesetzt.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395728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596896"/>
            <a:ext cx="457200" cy="457200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505456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Aussetzung lässt sich als Reaktion armer Familien auf knappes Ackerland erklären.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419856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621024"/>
            <a:ext cx="457200" cy="457200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529584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 heutiger Sicht ist die Aussetzung von Kindern nicht zu rechtfertigen, weil jeder Mensch ein Recht auf Leben hat.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943600" y="1371600"/>
            <a:ext cx="2743200" cy="2916936"/>
          </a:xfrm>
          <a:prstGeom prst="roundRect">
            <a:avLst>
              <a:gd name="adj" fmla="val 2667"/>
            </a:avLst>
          </a:prstGeom>
          <a:solidFill>
            <a:srgbClr val="2B2318"/>
          </a:solidFill>
          <a:ln w="12700">
            <a:solidFill>
              <a:srgbClr val="2B231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72200" y="16002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unterscheidet diese drei Sätze?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3063240"/>
            <a:ext cx="2286000" cy="329184"/>
          </a:xfrm>
          <a:prstGeom prst="roundRect">
            <a:avLst>
              <a:gd name="adj" fmla="val 41667"/>
            </a:avLst>
          </a:prstGeom>
          <a:solidFill>
            <a:srgbClr val="D9A44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Min. allein notieren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3520440"/>
            <a:ext cx="2286000" cy="329184"/>
          </a:xfrm>
          <a:prstGeom prst="roundRect">
            <a:avLst>
              <a:gd name="adj" fmla="val 41667"/>
            </a:avLst>
          </a:prstGeom>
          <a:solidFill>
            <a:srgbClr val="D9A44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Min. zu zweit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Sach- und Werturteil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ARBEITSAUFTRAG · PARTNERARBEIT · 8 MIN.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Gebt den Sätzen einen Namen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2606040"/>
          </a:xfrm>
          <a:prstGeom prst="roundRect">
            <a:avLst>
              <a:gd name="adj" fmla="val 2807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45920"/>
            <a:ext cx="548640" cy="548640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Namen geben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889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Erfindet für jeden der drei Satztypen einen passenden Namen.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1371600"/>
            <a:ext cx="2606040" cy="2606040"/>
          </a:xfrm>
          <a:prstGeom prst="roundRect">
            <a:avLst>
              <a:gd name="adj" fmla="val 2807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645920"/>
            <a:ext cx="548640" cy="548640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Merkmale finden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7889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Woran erkennt man jeden Typ? Notiert 2–3 Merkmale oder Signalwörter.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35040" y="1371600"/>
            <a:ext cx="2606040" cy="2606040"/>
          </a:xfrm>
          <a:prstGeom prst="roundRect">
            <a:avLst>
              <a:gd name="adj" fmla="val 2807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645920"/>
            <a:ext cx="548640" cy="548640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Vergleichen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7889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Vergleicht eure Ergebnisse mit dem Infoblatt M1. Was hattet ihr schon selbst herausgefunden?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Paar wird ausgelost und stellt in einer Minute vor.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Sach- und Werturteil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ARBEITSAUFTRAG · PARTNERARBEIT · 8 MIN.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Sortiert die zwölf Aussagekarten (M2)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2606040" cy="438912"/>
          </a:xfrm>
          <a:prstGeom prst="roundRect">
            <a:avLst>
              <a:gd name="adj" fmla="val 25000"/>
            </a:avLst>
          </a:prstGeom>
          <a:solidFill>
            <a:srgbClr val="5A50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Beschreibung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BF8F2"/>
          </a:solidFill>
          <a:ln w="12700">
            <a:solidFill>
              <a:srgbClr val="BFB5A5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640080" y="23317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war?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246120" y="1371600"/>
            <a:ext cx="2606040" cy="438912"/>
          </a:xfrm>
          <a:prstGeom prst="roundRect">
            <a:avLst>
              <a:gd name="adj" fmla="val 25000"/>
            </a:avLst>
          </a:prstGeom>
          <a:solidFill>
            <a:srgbClr val="D9A44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Sachurteil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46120" y="192024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BF8F2"/>
          </a:solidFill>
          <a:ln w="12700">
            <a:solidFill>
              <a:srgbClr val="BFB5A5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3429000" y="23317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ist es aus seiner Zeit heraus zu beurteilen?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1371600"/>
            <a:ext cx="2606040" cy="438912"/>
          </a:xfrm>
          <a:prstGeom prst="roundRect">
            <a:avLst>
              <a:gd name="adj" fmla="val 25000"/>
            </a:avLst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Werturteil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35040" y="192024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BF8F2"/>
          </a:solidFill>
          <a:ln w="12700">
            <a:solidFill>
              <a:srgbClr val="BFB5A5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6217920" y="23317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bewerte ich es heute?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858768"/>
            <a:ext cx="457200" cy="457200"/>
          </a:xfrm>
          <a:prstGeom prst="ellipse">
            <a:avLst/>
          </a:prstGeom>
          <a:solidFill>
            <a:srgbClr val="2B231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767328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Unsicher? Legt die Karte quer und notiert kurz, warum. Genau über diese Karten sprechen wir danach.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Sach- und Werturteil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SELBSTKONTROLLE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Lösung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2606040" cy="411480"/>
          </a:xfrm>
          <a:prstGeom prst="roundRect">
            <a:avLst>
              <a:gd name="adj" fmla="val 26667"/>
            </a:avLst>
          </a:prstGeom>
          <a:solidFill>
            <a:srgbClr val="5A50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Beschreibung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810512"/>
            <a:ext cx="2606040" cy="585216"/>
          </a:xfrm>
          <a:prstGeom prst="roundRect">
            <a:avLst>
              <a:gd name="adj" fmla="val 12500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810512"/>
            <a:ext cx="320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D4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1810512"/>
            <a:ext cx="2057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Kolonien ab dem 8. Jh.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487168"/>
            <a:ext cx="2606040" cy="585216"/>
          </a:xfrm>
          <a:prstGeom prst="roundRect">
            <a:avLst>
              <a:gd name="adj" fmla="val 12500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487168"/>
            <a:ext cx="320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D4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2487168"/>
            <a:ext cx="2057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Rechtsprechung beim Adel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163824"/>
            <a:ext cx="2606040" cy="585216"/>
          </a:xfrm>
          <a:prstGeom prst="roundRect">
            <a:avLst>
              <a:gd name="adj" fmla="val 12500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3163824"/>
            <a:ext cx="320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D4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932688" y="3163824"/>
            <a:ext cx="2057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Akropolis als Burgberg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2606040" cy="585216"/>
          </a:xfrm>
          <a:prstGeom prst="roundRect">
            <a:avLst>
              <a:gd name="adj" fmla="val 12500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3840480"/>
            <a:ext cx="320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D4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" y="3840480"/>
            <a:ext cx="2057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als Marktplatz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246120" y="1280160"/>
            <a:ext cx="2606040" cy="411480"/>
          </a:xfrm>
          <a:prstGeom prst="roundRect">
            <a:avLst>
              <a:gd name="adj" fmla="val 26667"/>
            </a:avLst>
          </a:prstGeom>
          <a:solidFill>
            <a:srgbClr val="D9A44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Sachurteil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246120" y="1810512"/>
            <a:ext cx="2606040" cy="585216"/>
          </a:xfrm>
          <a:prstGeom prst="roundRect">
            <a:avLst>
              <a:gd name="adj" fmla="val 12500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83280" y="1810512"/>
            <a:ext cx="320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D4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3721608" y="1810512"/>
            <a:ext cx="2057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 bot Schutz, weil …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46120" y="2487168"/>
            <a:ext cx="2606040" cy="585216"/>
          </a:xfrm>
          <a:prstGeom prst="roundRect">
            <a:avLst>
              <a:gd name="adj" fmla="val 12500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383280" y="2487168"/>
            <a:ext cx="320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D4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3721608" y="2487168"/>
            <a:ext cx="2057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 Sicht der Adligen …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46120" y="3163824"/>
            <a:ext cx="2606040" cy="585216"/>
          </a:xfrm>
          <a:prstGeom prst="roundRect">
            <a:avLst>
              <a:gd name="adj" fmla="val 12500"/>
            </a:avLst>
          </a:prstGeom>
          <a:solidFill>
            <a:srgbClr val="FBE3D9"/>
          </a:solidFill>
          <a:ln w="12700">
            <a:solidFill>
              <a:srgbClr val="FBE3D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83280" y="3163824"/>
            <a:ext cx="320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D4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3721608" y="3163824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Kolonisation war erfolgreich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458968" y="3300984"/>
            <a:ext cx="310896" cy="310896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46120" y="3840480"/>
            <a:ext cx="2606040" cy="585216"/>
          </a:xfrm>
          <a:prstGeom prst="roundRect">
            <a:avLst>
              <a:gd name="adj" fmla="val 12500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383280" y="3840480"/>
            <a:ext cx="320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D4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3721608" y="3840480"/>
            <a:ext cx="2057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Adelsherrschaft an Grenzen, weil …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035040" y="1280160"/>
            <a:ext cx="2606040" cy="411480"/>
          </a:xfrm>
          <a:prstGeom prst="roundRect">
            <a:avLst>
              <a:gd name="adj" fmla="val 26667"/>
            </a:avLst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Werturteil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035040" y="1810512"/>
            <a:ext cx="2606040" cy="585216"/>
          </a:xfrm>
          <a:prstGeom prst="roundRect">
            <a:avLst>
              <a:gd name="adj" fmla="val 12500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172200" y="1810512"/>
            <a:ext cx="320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D4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6510528" y="1810512"/>
            <a:ext cx="2057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Adlige egoistisch und gierig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035040" y="2487168"/>
            <a:ext cx="2606040" cy="585216"/>
          </a:xfrm>
          <a:prstGeom prst="roundRect">
            <a:avLst>
              <a:gd name="adj" fmla="val 12500"/>
            </a:avLst>
          </a:prstGeom>
          <a:solidFill>
            <a:srgbClr val="FBE3D9"/>
          </a:solidFill>
          <a:ln w="12700">
            <a:solidFill>
              <a:srgbClr val="FBE3D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172200" y="2487168"/>
            <a:ext cx="320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D4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6510528" y="2487168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Frauen hätten beteiligt werden müssen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8247888" y="2624328"/>
            <a:ext cx="310896" cy="310896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035040" y="3163824"/>
            <a:ext cx="2606040" cy="585216"/>
          </a:xfrm>
          <a:prstGeom prst="roundRect">
            <a:avLst>
              <a:gd name="adj" fmla="val 12500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172200" y="3163824"/>
            <a:ext cx="320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D4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6510528" y="3163824"/>
            <a:ext cx="2057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Herrschaft Weniger abzulehnen, weil …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035040" y="3840480"/>
            <a:ext cx="2606040" cy="585216"/>
          </a:xfrm>
          <a:prstGeom prst="roundRect">
            <a:avLst>
              <a:gd name="adj" fmla="val 12500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172200" y="3840480"/>
            <a:ext cx="320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D4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1800" dirty="0"/>
          </a:p>
        </p:txBody>
      </p:sp>
      <p:sp>
        <p:nvSpPr>
          <p:cNvPr id="44" name="Text 42"/>
          <p:cNvSpPr txBox="1"/>
          <p:nvPr/>
        </p:nvSpPr>
        <p:spPr>
          <a:xfrm>
            <a:off x="6510528" y="3840480"/>
            <a:ext cx="2057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Ausschluss ungerecht (Menschenwürde)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45262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= Grenzfall, darüber sprechen wir gleich.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Sach- und Werturteil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PLENUM · 3 MIN.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Grenzfälle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2011680"/>
          </a:xfrm>
          <a:prstGeom prst="roundRect">
            <a:avLst>
              <a:gd name="adj" fmla="val 3636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548640" cy="548640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50876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„Die griechische Kolonisation war erfolgreich.“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51460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Erfolgreich für wen? Und woran gemessen?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1325880"/>
            <a:ext cx="4023360" cy="2011680"/>
          </a:xfrm>
          <a:prstGeom prst="roundRect">
            <a:avLst>
              <a:gd name="adj" fmla="val 3636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508760"/>
            <a:ext cx="548640" cy="548640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623560" y="150876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„Die Griechen hätten die Frauen an der Politik beteiligen müssen.“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251460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Klingt wie ein Urteil über die damalige Zeit. Welcher Maßstab steckt aber darin?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2B2318"/>
          </a:solidFill>
          <a:ln w="12700">
            <a:solidFill>
              <a:srgbClr val="2B231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6301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Vergleicht A mit G und D mit K: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95935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macht ein gutes Werturteil aus?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Sach- und Werturteil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ARBEITSAUFTRAG · M3 · DIE GRIECHISCHE KOLONISATION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Jetzt urteilt ihr selbst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206240" cy="1325880"/>
          </a:xfrm>
          <a:prstGeom prst="roundRect">
            <a:avLst>
              <a:gd name="adj" fmla="val 5517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572768"/>
            <a:ext cx="502920" cy="502920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536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Schreiben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157276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Min. · allein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93852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Formuliere ein Sachurteil und ein Werturteil. Nutze M1 und die Satzbausteine.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2852928"/>
            <a:ext cx="4206240" cy="1325880"/>
          </a:xfrm>
          <a:prstGeom prst="roundRect">
            <a:avLst>
              <a:gd name="adj" fmla="val 5517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3054096"/>
            <a:ext cx="502920" cy="502920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3054096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Min. · zu zweit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419856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Tauscht die Blätter. Prüft das Urteil eures Nachbarn mit der Checkliste.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892040" y="1371600"/>
            <a:ext cx="3794760" cy="2807208"/>
          </a:xfrm>
          <a:prstGeom prst="roundRect">
            <a:avLst>
              <a:gd name="adj" fmla="val 2606"/>
            </a:avLst>
          </a:prstGeom>
          <a:solidFill>
            <a:srgbClr val="2B2318"/>
          </a:solidFill>
          <a:ln w="12700">
            <a:solidFill>
              <a:srgbClr val="2B231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20640" y="15361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120640" y="2075688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2B2318"/>
          </a:solidFill>
          <a:ln w="19050">
            <a:solidFill>
              <a:srgbClr val="D9A44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0" y="201168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Sachurteil: Maßstäbe der damaligen Zeit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120640" y="2596896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2B2318"/>
          </a:solidFill>
          <a:ln w="19050">
            <a:solidFill>
              <a:srgbClr val="D9A44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0" y="253288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Sachurteil: begründet (weil, da)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120640" y="3118104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2B2318"/>
          </a:solidFill>
          <a:ln w="19050">
            <a:solidFill>
              <a:srgbClr val="D9A44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0" y="305409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Werturteil: Maßstab genannt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120640" y="3639312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2B2318"/>
          </a:solidFill>
          <a:ln w="19050">
            <a:solidFill>
              <a:srgbClr val="D9A44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0" y="357530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Werturteil: begründet, nicht pauschal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Sach- und Werturteil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2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EXIT-TICKET · 5 MIN.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 es auf den Punkt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325880"/>
          </a:xfrm>
          <a:prstGeom prst="roundRect">
            <a:avLst>
              <a:gd name="adj" fmla="val 5517"/>
            </a:avLst>
          </a:prstGeom>
          <a:solidFill>
            <a:srgbClr val="3A3024"/>
          </a:solidFill>
          <a:ln w="12700">
            <a:solidFill>
              <a:srgbClr val="3A302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81328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Unterschied zwischen einem Sachurteil und einem Werturteil ist …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128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Satz, in euren eigenen Worten. Die Zettel werden eingesammelt.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108960"/>
            <a:ext cx="548640" cy="548640"/>
          </a:xfrm>
          <a:prstGeom prst="ellipse">
            <a:avLst/>
          </a:prstGeom>
          <a:solidFill>
            <a:srgbClr val="D9A44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3063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Donnerstag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338328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 um 600 v. Chr. steht kurz vor dem Bürgerkrieg, und ihr steckt mittendrin. Danach urteilt ihr, als Sach- und Werturteil.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Sach- und Werturteil</dc:title>
  <dc:subject>PptxGenJS Presentation</dc:subject>
  <dc:creator>PptxGenJS</dc:creator>
  <cp:lastModifiedBy>PptxGenJS</cp:lastModifiedBy>
  <cp:revision>1</cp:revision>
  <dcterms:created xsi:type="dcterms:W3CDTF">2026-09-25T17:26:00Z</dcterms:created>
  <dcterms:modified xsi:type="dcterms:W3CDTF">2026-09-25T17:26:00Z</dcterms:modified>
</cp:coreProperties>
</file>