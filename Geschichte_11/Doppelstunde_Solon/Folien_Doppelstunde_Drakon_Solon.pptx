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3"/>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Titelfolie. Direkt zur Urteilsampel weitergehen.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0–7 Min. Pro Aussage ca. 40 Sekunden. Nur bei Uneinigkeit zwei Schüler kurz begründen lassen. Lösungen stehen in den Notizen der folgenden Folien.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Lösung: 1 = Beschreibung. Beschreibung: überprüfbare Tatsache.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Lösung: 2 = Sachurteil. Sachurteil: erklärt Ursache und Folge aus den Bedingungen der Zeit.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Lösung: 3 = Werturteil. Werturteil, aber pauschal: kein Maßstab, keine Begründung. Nachfragen: Was müsste ergänzt werden?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Lösung: 1 = Beschreibung. Beschreibung (LB S.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Lösung: 2 = Sachurteil. Sachurteil: begründet, aus der Zeit heraus.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Lösung: 3 = Werturteil. Gutes Werturteil: Maßstab offengelegt, begründet. Vergleich mit Aussage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Lösung: 1 = Beschreibung. Beschreibung (LB S.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Lösung: 2 = Sachurteil. Sachurteil aus einer Perspektive. Leitet zur Krise über: Wie sahen das die Bauern?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7–18 Min. Lösungsvorschlag:
Gebirge → kleine fruchtbare Ebenen → knappes Ackerland; zusammen mit Bevölkerungswachstum → Kolonisation.
Gebirge → Siedlungen getrennt → einzelne Poleis (Akropolis, Agora, Mauer).
Adel besitzt das meiste Land → Adelsherrschaft → [?] Verschuldung, Unzufriedenheit, Aufruhr.
Wer knappes Ackerland mit dem Landbesitz des Adels verbindet, zeigt Transfer (nicht aus S. 17 ableitbar, daher keine Pflicht).
Am Ende zwei Paare nennen lassen, was im leeren Kästchen steht, und an der Tafel notieren.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18–25 Min. 5 Min. schreiben, 2 Min. Partnercheck. Holt nach, was in der letzten Stunde nicht mehr geschafft wurde. Jede begründete Wahl ist zulässig (Geographie, Landmangel, Schutzbedürfnis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25–30 Min. Auftrag vor dem Abspielen geben. Danach die Problemtabelle an die Tafel (nächste Folie). Falls die Hörprobe überarbeitet wird: Audio auf dieser Folie ersetzen (Rechtsklick &gt; Audio ändern).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Tabelle an die Tafel schreiben oder diese Folie zeigen. Die Schüler übernehmen sie ins Heft und füllen die Spalten in den nächsten Phasen aus.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30–38 Min. Erwartung: P1 ✘ (Schuldknechtschaft bleibt), P2 ✘, P3 ~ (geschriebenes, verbindliches Recht, 51 Richter, Blutrache aufgehoben; Vollzug bleibt bei der Sippe), P4 ✘, P5 ✘. Das Beispiel P3 bewusst stehen lassen – es zeigt, wie ein Beleg aussieht.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38–53 Min. Wichtig: Jeder liest nur seinen Teil – der Partner braucht die Erklärung, um die Spalte ausfüllen zu können.
A findet: Schulden getilgt, Schuldknechtschaft aufgehoben, Versklavte zurückgekauft, keine Zwangsenteignung der Grundherren, Förderung des Mittelstands.
B findet: vier Klassen nach Besitz, Theten nur aktives Wahlrecht, Archonten nur aus der 1. Klasse, Volksversammlung stimmt ab, wählt Beamte, Rat der 400 bereitet vor, Klagerecht jedes Bürgers, Areopag als Aufsicht.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53–57 Min. Video läuft ca. 1 Minute. Die Schlussfrage im Video („Ist das schon Demokratie?“) kann kurz stehen bleiben – sie wird in der Beurteilung wieder aufgegriffen.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57–63 Min. Erst NACH der Besprechung zeigen. Begründungen:
P1: Drakon ✘ / Solon ✔ Schulden getilgt, Verbot der Schuldknechtschaft, Rückkauf.
P2: beide ✘ – Solon lehnt die Zwangsenteignung ab.
P3: Drakon ~ geschriebenes Recht, Ende der Blutrache, aber strenge Strafen / Solon ✔ Klagerecht jedes Bürgers.
P4: Solon ~ Rechte nach Besitz statt Herkunft, Volksversammlung gestärkt – aber Theten nicht wählbar, Archonten nur 1. Klasse.
P5: Solon ~ zunächst Beruhigung, bald neue bürgerkriegsähnliche Kämpfe (LB S. 22).
Abweichende, gut begründete Einschätzungen sind zulässig.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63–80 Min. 12 Min. schreiben, 5 Min. Partnercheck. „Beurteile, inwieweit …“ ist ein Abitur-Operator – ggf. kurz darauf hinweisen. Zeit knapp? Werturteil als Hausaufgabe.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80–88 Min. Figurenkarten ausgedruckt an die Tafel. Mögliche Einordnung: Schuldsklave und Kleinbauer gewinnen (Freiheit, Schuldenerlass), aber ohne Land; reicher Händler gewinnt politisch; Großgrundbesitzer verliert Forderungen, behält Land; verarmter Adliger verliert Einfluss; Thete gewinnt Stimmrecht, aber nicht wählbar. Frauen: kommen in der Reform gar nicht vor.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88–90 Min. Überleitung zu Peisistratos. Die Figurenkarten an der Tafel liefern die Antwort: die, die links auf der Linie hängen.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audio" Target="../media/media-13-1.mp3"/><Relationship Id="rId2" Type="http://schemas.microsoft.com/office/2007/relationships/media" Target="../media/media-13-1.mp3"/><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video" Target="../media/media-17-1.mp4"/><Relationship Id="rId2" Type="http://schemas.microsoft.com/office/2007/relationships/media" Target="../media/media-17-1.mp4"/><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318"/>
        </a:solidFill>
      </p:bgPr>
    </p:bg>
    <p:spTree>
      <p:nvGrpSpPr>
        <p:cNvPr id="1" name=""/>
        <p:cNvGrpSpPr/>
        <p:nvPr/>
      </p:nvGrpSpPr>
      <p:grpSpPr>
        <a:xfrm>
          <a:off x="0" y="0"/>
          <a:ext cx="0" cy="0"/>
          <a:chOff x="0" y="0"/>
          <a:chExt cx="0" cy="0"/>
        </a:xfrm>
      </p:grpSpPr>
      <p:sp>
        <p:nvSpPr>
          <p:cNvPr id="2" name="Text 0"/>
          <p:cNvSpPr txBox="1"/>
          <p:nvPr/>
        </p:nvSpPr>
        <p:spPr>
          <a:xfrm>
            <a:off x="640080" y="1005840"/>
            <a:ext cx="7863840" cy="274320"/>
          </a:xfrm>
          <a:prstGeom prst="rect">
            <a:avLst/>
          </a:prstGeom>
          <a:noFill/>
          <a:ln/>
        </p:spPr>
        <p:txBody>
          <a:bodyPr wrap="square" lIns="0" tIns="0" rIns="0" bIns="0" rtlCol="0" anchor="t"/>
          <a:lstStyle/>
          <a:p>
            <a:pPr indent="0" marL="0">
              <a:buNone/>
            </a:pPr>
            <a:r>
              <a:rPr lang="en-US" sz="1200" b="1" spc="300" kern="0" dirty="0">
                <a:solidFill>
                  <a:srgbClr val="D9A441"/>
                </a:solidFill>
                <a:latin typeface="Calibri" pitchFamily="34" charset="0"/>
                <a:ea typeface="Calibri" pitchFamily="34" charset="-122"/>
                <a:cs typeface="Calibri" pitchFamily="34" charset="-120"/>
              </a:rPr>
              <a:t>GESCHICHTE · KLASSE 11 · DOPPELSTUNDE</a:t>
            </a:r>
            <a:endParaRPr lang="en-US" sz="1200" dirty="0"/>
          </a:p>
        </p:txBody>
      </p:sp>
      <p:sp>
        <p:nvSpPr>
          <p:cNvPr id="3" name="Text 1"/>
          <p:cNvSpPr txBox="1"/>
          <p:nvPr/>
        </p:nvSpPr>
        <p:spPr>
          <a:xfrm>
            <a:off x="640080" y="1325880"/>
            <a:ext cx="7863840" cy="822960"/>
          </a:xfrm>
          <a:prstGeom prst="rect">
            <a:avLst/>
          </a:prstGeom>
          <a:noFill/>
          <a:ln/>
        </p:spPr>
        <p:txBody>
          <a:bodyPr wrap="square" lIns="0" tIns="0" rIns="0" bIns="0" rtlCol="0" anchor="t"/>
          <a:lstStyle/>
          <a:p>
            <a:pPr indent="0" marL="0">
              <a:buNone/>
            </a:pPr>
            <a:r>
              <a:rPr lang="en-US" sz="4200" b="1" dirty="0">
                <a:solidFill>
                  <a:srgbClr val="FFFFFF"/>
                </a:solidFill>
                <a:latin typeface="Cambria" pitchFamily="34" charset="0"/>
                <a:ea typeface="Cambria" pitchFamily="34" charset="-122"/>
                <a:cs typeface="Cambria" pitchFamily="34" charset="-120"/>
              </a:rPr>
              <a:t>Von der Polis zur Krise</a:t>
            </a:r>
            <a:endParaRPr lang="en-US" sz="4200" dirty="0"/>
          </a:p>
        </p:txBody>
      </p:sp>
      <p:sp>
        <p:nvSpPr>
          <p:cNvPr id="4" name="Text 2"/>
          <p:cNvSpPr txBox="1"/>
          <p:nvPr/>
        </p:nvSpPr>
        <p:spPr>
          <a:xfrm>
            <a:off x="640080" y="2194560"/>
            <a:ext cx="7863840" cy="457200"/>
          </a:xfrm>
          <a:prstGeom prst="rect">
            <a:avLst/>
          </a:prstGeom>
          <a:noFill/>
          <a:ln/>
        </p:spPr>
        <p:txBody>
          <a:bodyPr wrap="square" lIns="0" tIns="0" rIns="0" bIns="0" rtlCol="0" anchor="t"/>
          <a:lstStyle/>
          <a:p>
            <a:pPr indent="0" marL="0">
              <a:buNone/>
            </a:pPr>
            <a:r>
              <a:rPr lang="en-US" sz="1800" dirty="0">
                <a:solidFill>
                  <a:srgbClr val="E8DFD0"/>
                </a:solidFill>
                <a:latin typeface="Calibri" pitchFamily="34" charset="0"/>
                <a:ea typeface="Calibri" pitchFamily="34" charset="-122"/>
                <a:cs typeface="Calibri" pitchFamily="34" charset="-120"/>
              </a:rPr>
              <a:t>Athen um 600 v. Chr.: Wer löst die Krise? Drakon und Solon</a:t>
            </a:r>
            <a:endParaRPr lang="en-US" sz="1800" dirty="0"/>
          </a:p>
        </p:txBody>
      </p:sp>
      <p:sp>
        <p:nvSpPr>
          <p:cNvPr id="5" name="Text 3"/>
          <p:cNvSpPr txBox="1"/>
          <p:nvPr/>
        </p:nvSpPr>
        <p:spPr>
          <a:xfrm>
            <a:off x="640080" y="3200400"/>
            <a:ext cx="1828800" cy="457200"/>
          </a:xfrm>
          <a:prstGeom prst="roundRect">
            <a:avLst>
              <a:gd name="adj" fmla="val 20000"/>
            </a:avLst>
          </a:prstGeom>
          <a:solidFill>
            <a:srgbClr val="5A5044"/>
          </a:solidFill>
          <a:ln/>
        </p:spPr>
        <p:txBody>
          <a:bodyPr wrap="square" lIns="25400" tIns="25400" rIns="25400" bIns="254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Wiederholen</a:t>
            </a:r>
            <a:endParaRPr lang="en-US" sz="1400" dirty="0"/>
          </a:p>
        </p:txBody>
      </p:sp>
      <p:sp>
        <p:nvSpPr>
          <p:cNvPr id="6" name="Text 4"/>
          <p:cNvSpPr txBox="1"/>
          <p:nvPr/>
        </p:nvSpPr>
        <p:spPr>
          <a:xfrm>
            <a:off x="2651760" y="3200400"/>
            <a:ext cx="1828800" cy="457200"/>
          </a:xfrm>
          <a:prstGeom prst="roundRect">
            <a:avLst>
              <a:gd name="adj" fmla="val 20000"/>
            </a:avLst>
          </a:prstGeom>
          <a:solidFill>
            <a:srgbClr val="D9A441"/>
          </a:solidFill>
          <a:ln/>
        </p:spPr>
        <p:txBody>
          <a:bodyPr wrap="square" lIns="25400" tIns="25400" rIns="25400" bIns="25400" rtlCol="0" anchor="ctr"/>
          <a:lstStyle/>
          <a:p>
            <a:pPr algn="ctr" indent="0" marL="0">
              <a:buNone/>
            </a:pPr>
            <a:r>
              <a:rPr lang="en-US" sz="1400" b="1" dirty="0">
                <a:solidFill>
                  <a:srgbClr val="2B2318"/>
                </a:solidFill>
                <a:latin typeface="Calibri" pitchFamily="34" charset="0"/>
                <a:ea typeface="Calibri" pitchFamily="34" charset="-122"/>
                <a:cs typeface="Calibri" pitchFamily="34" charset="-120"/>
              </a:rPr>
              <a:t>Untersuchen</a:t>
            </a:r>
            <a:endParaRPr lang="en-US" sz="1400" dirty="0"/>
          </a:p>
        </p:txBody>
      </p:sp>
      <p:sp>
        <p:nvSpPr>
          <p:cNvPr id="7" name="Text 5"/>
          <p:cNvSpPr txBox="1"/>
          <p:nvPr/>
        </p:nvSpPr>
        <p:spPr>
          <a:xfrm>
            <a:off x="4663440" y="3200400"/>
            <a:ext cx="1828800" cy="457200"/>
          </a:xfrm>
          <a:prstGeom prst="roundRect">
            <a:avLst>
              <a:gd name="adj" fmla="val 20000"/>
            </a:avLst>
          </a:prstGeom>
          <a:solidFill>
            <a:srgbClr val="AD4426"/>
          </a:solidFill>
          <a:ln/>
        </p:spPr>
        <p:txBody>
          <a:bodyPr wrap="square" lIns="25400" tIns="25400" rIns="25400" bIns="254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Beurteilen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WIEDERHOLUNG · PLENUM</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Urteilsampel</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2B2318"/>
          </a:solidFill>
          <a:ln/>
        </p:spPr>
        <p:txBody>
          <a:bodyPr wrap="square" lIns="25400" tIns="25400" rIns="25400" bIns="2540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 Min.</a:t>
            </a:r>
            <a:endParaRPr lang="en-US" sz="1100" dirty="0"/>
          </a:p>
        </p:txBody>
      </p:sp>
      <p:sp>
        <p:nvSpPr>
          <p:cNvPr id="5" name="Text 3"/>
          <p:cNvSpPr txBox="1"/>
          <p:nvPr/>
        </p:nvSpPr>
        <p:spPr>
          <a:xfrm>
            <a:off x="457200" y="1280160"/>
            <a:ext cx="8229600" cy="640080"/>
          </a:xfrm>
          <a:prstGeom prst="rect">
            <a:avLst/>
          </a:prstGeom>
          <a:noFill/>
          <a:ln/>
        </p:spPr>
        <p:txBody>
          <a:bodyPr wrap="square" lIns="0" tIns="0" rIns="0" bIns="0" rtlCol="0" anchor="t"/>
          <a:lstStyle/>
          <a:p>
            <a:pPr indent="0" marL="0">
              <a:buNone/>
            </a:pPr>
            <a:r>
              <a:rPr lang="en-US" sz="1600" dirty="0">
                <a:solidFill>
                  <a:srgbClr val="2B2318"/>
                </a:solidFill>
                <a:latin typeface="Calibri" pitchFamily="34" charset="0"/>
                <a:ea typeface="Calibri" pitchFamily="34" charset="-122"/>
                <a:cs typeface="Calibri" pitchFamily="34" charset="-120"/>
              </a:rPr>
              <a:t>Ich zeige euch Aussagen zur griechischen Polis. Zeigt gleichzeitig mit den Fingern, um welche Art von Aussage es sich handelt.</a:t>
            </a:r>
            <a:endParaRPr lang="en-US" sz="1600" dirty="0"/>
          </a:p>
        </p:txBody>
      </p:sp>
      <p:sp>
        <p:nvSpPr>
          <p:cNvPr id="6" name="Shape 4"/>
          <p:cNvSpPr/>
          <p:nvPr/>
        </p:nvSpPr>
        <p:spPr>
          <a:xfrm>
            <a:off x="457200" y="2103120"/>
            <a:ext cx="2606040" cy="1920240"/>
          </a:xfrm>
          <a:prstGeom prst="roundRect">
            <a:avLst>
              <a:gd name="adj" fmla="val 3810"/>
            </a:avLst>
          </a:prstGeom>
          <a:solidFill>
            <a:srgbClr val="5A5044"/>
          </a:solidFill>
          <a:ln w="12700">
            <a:solidFill>
              <a:srgbClr val="5A5044"/>
            </a:solidFill>
            <a:prstDash val="solid"/>
          </a:ln>
        </p:spPr>
      </p:sp>
      <p:sp>
        <p:nvSpPr>
          <p:cNvPr id="7" name="Text 5"/>
          <p:cNvSpPr txBox="1"/>
          <p:nvPr/>
        </p:nvSpPr>
        <p:spPr>
          <a:xfrm>
            <a:off x="457200" y="2194560"/>
            <a:ext cx="2606040" cy="914400"/>
          </a:xfrm>
          <a:prstGeom prst="rect">
            <a:avLst/>
          </a:prstGeom>
          <a:noFill/>
          <a:ln/>
        </p:spPr>
        <p:txBody>
          <a:bodyPr wrap="square" lIns="0" tIns="0" rIns="0" bIns="0" rtlCol="0" anchor="t"/>
          <a:lstStyle/>
          <a:p>
            <a:pPr algn="ctr" indent="0" marL="0">
              <a:buNone/>
            </a:pPr>
            <a:r>
              <a:rPr lang="en-US" sz="6000" b="1" dirty="0">
                <a:solidFill>
                  <a:srgbClr val="FFFFFF"/>
                </a:solidFill>
                <a:latin typeface="Cambria" pitchFamily="34" charset="0"/>
                <a:ea typeface="Cambria" pitchFamily="34" charset="-122"/>
                <a:cs typeface="Cambria" pitchFamily="34" charset="-120"/>
              </a:rPr>
              <a:t>1</a:t>
            </a:r>
            <a:endParaRPr lang="en-US" sz="6000" dirty="0"/>
          </a:p>
        </p:txBody>
      </p:sp>
      <p:sp>
        <p:nvSpPr>
          <p:cNvPr id="8" name="Text 6"/>
          <p:cNvSpPr txBox="1"/>
          <p:nvPr/>
        </p:nvSpPr>
        <p:spPr>
          <a:xfrm>
            <a:off x="457200" y="3063240"/>
            <a:ext cx="2606040" cy="274320"/>
          </a:xfrm>
          <a:prstGeom prst="rect">
            <a:avLst/>
          </a:prstGeom>
          <a:noFill/>
          <a:ln/>
        </p:spPr>
        <p:txBody>
          <a:bodyPr wrap="square" lIns="0" tIns="0" rIns="0" bIns="0" rtlCol="0" anchor="t"/>
          <a:lstStyle/>
          <a:p>
            <a:pPr algn="ctr" indent="0" marL="0">
              <a:buNone/>
            </a:pPr>
            <a:r>
              <a:rPr lang="en-US" sz="1200" dirty="0">
                <a:solidFill>
                  <a:srgbClr val="FFFFFF"/>
                </a:solidFill>
                <a:latin typeface="Calibri" pitchFamily="34" charset="0"/>
                <a:ea typeface="Calibri" pitchFamily="34" charset="-122"/>
                <a:cs typeface="Calibri" pitchFamily="34" charset="-120"/>
              </a:rPr>
              <a:t>Finger</a:t>
            </a:r>
            <a:endParaRPr lang="en-US" sz="1200" dirty="0"/>
          </a:p>
        </p:txBody>
      </p:sp>
      <p:sp>
        <p:nvSpPr>
          <p:cNvPr id="9" name="Text 7"/>
          <p:cNvSpPr txBox="1"/>
          <p:nvPr/>
        </p:nvSpPr>
        <p:spPr>
          <a:xfrm>
            <a:off x="457200" y="3429000"/>
            <a:ext cx="2606040" cy="411480"/>
          </a:xfrm>
          <a:prstGeom prst="rect">
            <a:avLst/>
          </a:prstGeom>
          <a:noFill/>
          <a:ln/>
        </p:spPr>
        <p:txBody>
          <a:bodyPr wrap="square" lIns="0" tIns="0" rIns="0" bIns="0" rtlCol="0" anchor="t"/>
          <a:lstStyle/>
          <a:p>
            <a:pPr algn="ctr" indent="0" marL="0">
              <a:buNone/>
            </a:pPr>
            <a:r>
              <a:rPr lang="en-US" sz="2000" b="1" dirty="0">
                <a:solidFill>
                  <a:srgbClr val="FFFFFF"/>
                </a:solidFill>
                <a:latin typeface="Calibri" pitchFamily="34" charset="0"/>
                <a:ea typeface="Calibri" pitchFamily="34" charset="-122"/>
                <a:cs typeface="Calibri" pitchFamily="34" charset="-120"/>
              </a:rPr>
              <a:t>Beschreibung</a:t>
            </a:r>
            <a:endParaRPr lang="en-US" sz="2000" dirty="0"/>
          </a:p>
        </p:txBody>
      </p:sp>
      <p:sp>
        <p:nvSpPr>
          <p:cNvPr id="10" name="Shape 8"/>
          <p:cNvSpPr/>
          <p:nvPr/>
        </p:nvSpPr>
        <p:spPr>
          <a:xfrm>
            <a:off x="3246120" y="2103120"/>
            <a:ext cx="2606040" cy="1920240"/>
          </a:xfrm>
          <a:prstGeom prst="roundRect">
            <a:avLst>
              <a:gd name="adj" fmla="val 3810"/>
            </a:avLst>
          </a:prstGeom>
          <a:solidFill>
            <a:srgbClr val="D9A441"/>
          </a:solidFill>
          <a:ln w="12700">
            <a:solidFill>
              <a:srgbClr val="D9A441"/>
            </a:solidFill>
            <a:prstDash val="solid"/>
          </a:ln>
        </p:spPr>
      </p:sp>
      <p:sp>
        <p:nvSpPr>
          <p:cNvPr id="11" name="Text 9"/>
          <p:cNvSpPr txBox="1"/>
          <p:nvPr/>
        </p:nvSpPr>
        <p:spPr>
          <a:xfrm>
            <a:off x="3246120" y="2194560"/>
            <a:ext cx="2606040" cy="914400"/>
          </a:xfrm>
          <a:prstGeom prst="rect">
            <a:avLst/>
          </a:prstGeom>
          <a:noFill/>
          <a:ln/>
        </p:spPr>
        <p:txBody>
          <a:bodyPr wrap="square" lIns="0" tIns="0" rIns="0" bIns="0" rtlCol="0" anchor="t"/>
          <a:lstStyle/>
          <a:p>
            <a:pPr algn="ctr" indent="0" marL="0">
              <a:buNone/>
            </a:pPr>
            <a:r>
              <a:rPr lang="en-US" sz="6000" b="1" dirty="0">
                <a:solidFill>
                  <a:srgbClr val="2B2318"/>
                </a:solidFill>
                <a:latin typeface="Cambria" pitchFamily="34" charset="0"/>
                <a:ea typeface="Cambria" pitchFamily="34" charset="-122"/>
                <a:cs typeface="Cambria" pitchFamily="34" charset="-120"/>
              </a:rPr>
              <a:t>2</a:t>
            </a:r>
            <a:endParaRPr lang="en-US" sz="6000" dirty="0"/>
          </a:p>
        </p:txBody>
      </p:sp>
      <p:sp>
        <p:nvSpPr>
          <p:cNvPr id="12" name="Text 10"/>
          <p:cNvSpPr txBox="1"/>
          <p:nvPr/>
        </p:nvSpPr>
        <p:spPr>
          <a:xfrm>
            <a:off x="3246120" y="3063240"/>
            <a:ext cx="2606040" cy="274320"/>
          </a:xfrm>
          <a:prstGeom prst="rect">
            <a:avLst/>
          </a:prstGeom>
          <a:noFill/>
          <a:ln/>
        </p:spPr>
        <p:txBody>
          <a:bodyPr wrap="square" lIns="0" tIns="0" rIns="0" bIns="0" rtlCol="0" anchor="t"/>
          <a:lstStyle/>
          <a:p>
            <a:pPr algn="ctr" indent="0" marL="0">
              <a:buNone/>
            </a:pPr>
            <a:r>
              <a:rPr lang="en-US" sz="1200" dirty="0">
                <a:solidFill>
                  <a:srgbClr val="2B2318"/>
                </a:solidFill>
                <a:latin typeface="Calibri" pitchFamily="34" charset="0"/>
                <a:ea typeface="Calibri" pitchFamily="34" charset="-122"/>
                <a:cs typeface="Calibri" pitchFamily="34" charset="-120"/>
              </a:rPr>
              <a:t>Finger</a:t>
            </a:r>
            <a:endParaRPr lang="en-US" sz="1200" dirty="0"/>
          </a:p>
        </p:txBody>
      </p:sp>
      <p:sp>
        <p:nvSpPr>
          <p:cNvPr id="13" name="Text 11"/>
          <p:cNvSpPr txBox="1"/>
          <p:nvPr/>
        </p:nvSpPr>
        <p:spPr>
          <a:xfrm>
            <a:off x="3246120" y="3429000"/>
            <a:ext cx="2606040" cy="411480"/>
          </a:xfrm>
          <a:prstGeom prst="rect">
            <a:avLst/>
          </a:prstGeom>
          <a:noFill/>
          <a:ln/>
        </p:spPr>
        <p:txBody>
          <a:bodyPr wrap="square" lIns="0" tIns="0" rIns="0" bIns="0" rtlCol="0" anchor="t"/>
          <a:lstStyle/>
          <a:p>
            <a:pPr algn="ctr" indent="0" marL="0">
              <a:buNone/>
            </a:pPr>
            <a:r>
              <a:rPr lang="en-US" sz="2000" b="1" dirty="0">
                <a:solidFill>
                  <a:srgbClr val="2B2318"/>
                </a:solidFill>
                <a:latin typeface="Calibri" pitchFamily="34" charset="0"/>
                <a:ea typeface="Calibri" pitchFamily="34" charset="-122"/>
                <a:cs typeface="Calibri" pitchFamily="34" charset="-120"/>
              </a:rPr>
              <a:t>Sachurteil</a:t>
            </a:r>
            <a:endParaRPr lang="en-US" sz="2000" dirty="0"/>
          </a:p>
        </p:txBody>
      </p:sp>
      <p:sp>
        <p:nvSpPr>
          <p:cNvPr id="14" name="Shape 12"/>
          <p:cNvSpPr/>
          <p:nvPr/>
        </p:nvSpPr>
        <p:spPr>
          <a:xfrm>
            <a:off x="6035040" y="2103120"/>
            <a:ext cx="2606040" cy="1920240"/>
          </a:xfrm>
          <a:prstGeom prst="roundRect">
            <a:avLst>
              <a:gd name="adj" fmla="val 3810"/>
            </a:avLst>
          </a:prstGeom>
          <a:solidFill>
            <a:srgbClr val="AD4426"/>
          </a:solidFill>
          <a:ln w="12700">
            <a:solidFill>
              <a:srgbClr val="AD4426"/>
            </a:solidFill>
            <a:prstDash val="solid"/>
          </a:ln>
        </p:spPr>
      </p:sp>
      <p:sp>
        <p:nvSpPr>
          <p:cNvPr id="15" name="Text 13"/>
          <p:cNvSpPr txBox="1"/>
          <p:nvPr/>
        </p:nvSpPr>
        <p:spPr>
          <a:xfrm>
            <a:off x="6035040" y="2194560"/>
            <a:ext cx="2606040" cy="914400"/>
          </a:xfrm>
          <a:prstGeom prst="rect">
            <a:avLst/>
          </a:prstGeom>
          <a:noFill/>
          <a:ln/>
        </p:spPr>
        <p:txBody>
          <a:bodyPr wrap="square" lIns="0" tIns="0" rIns="0" bIns="0" rtlCol="0" anchor="t"/>
          <a:lstStyle/>
          <a:p>
            <a:pPr algn="ctr" indent="0" marL="0">
              <a:buNone/>
            </a:pPr>
            <a:r>
              <a:rPr lang="en-US" sz="6000" b="1" dirty="0">
                <a:solidFill>
                  <a:srgbClr val="FFFFFF"/>
                </a:solidFill>
                <a:latin typeface="Cambria" pitchFamily="34" charset="0"/>
                <a:ea typeface="Cambria" pitchFamily="34" charset="-122"/>
                <a:cs typeface="Cambria" pitchFamily="34" charset="-120"/>
              </a:rPr>
              <a:t>3</a:t>
            </a:r>
            <a:endParaRPr lang="en-US" sz="6000" dirty="0"/>
          </a:p>
        </p:txBody>
      </p:sp>
      <p:sp>
        <p:nvSpPr>
          <p:cNvPr id="16" name="Text 14"/>
          <p:cNvSpPr txBox="1"/>
          <p:nvPr/>
        </p:nvSpPr>
        <p:spPr>
          <a:xfrm>
            <a:off x="6035040" y="3063240"/>
            <a:ext cx="2606040" cy="274320"/>
          </a:xfrm>
          <a:prstGeom prst="rect">
            <a:avLst/>
          </a:prstGeom>
          <a:noFill/>
          <a:ln/>
        </p:spPr>
        <p:txBody>
          <a:bodyPr wrap="square" lIns="0" tIns="0" rIns="0" bIns="0" rtlCol="0" anchor="t"/>
          <a:lstStyle/>
          <a:p>
            <a:pPr algn="ctr" indent="0" marL="0">
              <a:buNone/>
            </a:pPr>
            <a:r>
              <a:rPr lang="en-US" sz="1200" dirty="0">
                <a:solidFill>
                  <a:srgbClr val="FFFFFF"/>
                </a:solidFill>
                <a:latin typeface="Calibri" pitchFamily="34" charset="0"/>
                <a:ea typeface="Calibri" pitchFamily="34" charset="-122"/>
                <a:cs typeface="Calibri" pitchFamily="34" charset="-120"/>
              </a:rPr>
              <a:t>Finger</a:t>
            </a:r>
            <a:endParaRPr lang="en-US" sz="1200" dirty="0"/>
          </a:p>
        </p:txBody>
      </p:sp>
      <p:sp>
        <p:nvSpPr>
          <p:cNvPr id="17" name="Text 15"/>
          <p:cNvSpPr txBox="1"/>
          <p:nvPr/>
        </p:nvSpPr>
        <p:spPr>
          <a:xfrm>
            <a:off x="6035040" y="3429000"/>
            <a:ext cx="2606040" cy="411480"/>
          </a:xfrm>
          <a:prstGeom prst="rect">
            <a:avLst/>
          </a:prstGeom>
          <a:noFill/>
          <a:ln/>
        </p:spPr>
        <p:txBody>
          <a:bodyPr wrap="square" lIns="0" tIns="0" rIns="0" bIns="0" rtlCol="0" anchor="t"/>
          <a:lstStyle/>
          <a:p>
            <a:pPr algn="ctr" indent="0" marL="0">
              <a:buNone/>
            </a:pPr>
            <a:r>
              <a:rPr lang="en-US" sz="2000" b="1" dirty="0">
                <a:solidFill>
                  <a:srgbClr val="FFFFFF"/>
                </a:solidFill>
                <a:latin typeface="Calibri" pitchFamily="34" charset="0"/>
                <a:ea typeface="Calibri" pitchFamily="34" charset="-122"/>
                <a:cs typeface="Calibri" pitchFamily="34" charset="-120"/>
              </a:rPr>
              <a:t>Werturteil</a:t>
            </a:r>
            <a:endParaRPr lang="en-US" sz="2000" dirty="0"/>
          </a:p>
        </p:txBody>
      </p:sp>
      <p:sp>
        <p:nvSpPr>
          <p:cNvPr id="18" name="Text 16"/>
          <p:cNvSpPr txBox="1"/>
          <p:nvPr/>
        </p:nvSpPr>
        <p:spPr>
          <a:xfrm>
            <a:off x="457200" y="4206240"/>
            <a:ext cx="8229600" cy="274320"/>
          </a:xfrm>
          <a:prstGeom prst="rect">
            <a:avLst/>
          </a:prstGeom>
          <a:noFill/>
          <a:ln/>
        </p:spPr>
        <p:txBody>
          <a:bodyPr wrap="square" lIns="0" tIns="0" rIns="0" bIns="0" rtlCol="0" anchor="t"/>
          <a:lstStyle/>
          <a:p>
            <a:pPr indent="0" marL="0">
              <a:buNone/>
            </a:pPr>
            <a:r>
              <a:rPr lang="en-US" sz="1300" i="1" dirty="0">
                <a:solidFill>
                  <a:srgbClr val="5A5044"/>
                </a:solidFill>
                <a:latin typeface="Calibri" pitchFamily="34" charset="0"/>
                <a:ea typeface="Calibri" pitchFamily="34" charset="-122"/>
                <a:cs typeface="Calibri" pitchFamily="34" charset="-120"/>
              </a:rPr>
              <a:t>Erst überlegen, dann auf mein Zeichen alle gleichzeitig zeigen.</a:t>
            </a:r>
            <a:endParaRPr lang="en-US" sz="1300" dirty="0"/>
          </a:p>
        </p:txBody>
      </p:sp>
      <p:sp>
        <p:nvSpPr>
          <p:cNvPr id="19" name="Text 17"/>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Von der Polis zur Krise</a:t>
            </a:r>
            <a:endParaRPr lang="en-US" sz="900" dirty="0"/>
          </a:p>
        </p:txBody>
      </p:sp>
      <p:sp>
        <p:nvSpPr>
          <p:cNvPr id="20" name="Text 18"/>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URTEILSAMPEL · AUSSAGE 1 VON 8</a:t>
            </a:r>
            <a:endParaRPr lang="en-US" sz="1100" dirty="0"/>
          </a:p>
        </p:txBody>
      </p:sp>
      <p:sp>
        <p:nvSpPr>
          <p:cNvPr id="3" name="Shape 1"/>
          <p:cNvSpPr/>
          <p:nvPr/>
        </p:nvSpPr>
        <p:spPr>
          <a:xfrm>
            <a:off x="457200" y="868680"/>
            <a:ext cx="8229600" cy="3154680"/>
          </a:xfrm>
          <a:prstGeom prst="roundRect">
            <a:avLst>
              <a:gd name="adj" fmla="val 2319"/>
            </a:avLst>
          </a:prstGeom>
          <a:solidFill>
            <a:srgbClr val="F4ECDE"/>
          </a:solidFill>
          <a:ln w="12700">
            <a:solidFill>
              <a:srgbClr val="F4ECDE"/>
            </a:solidFill>
            <a:prstDash val="solid"/>
          </a:ln>
        </p:spPr>
      </p:sp>
      <p:sp>
        <p:nvSpPr>
          <p:cNvPr id="4" name="Text 2"/>
          <p:cNvSpPr txBox="1"/>
          <p:nvPr/>
        </p:nvSpPr>
        <p:spPr>
          <a:xfrm>
            <a:off x="914400" y="1005840"/>
            <a:ext cx="7315200" cy="2880360"/>
          </a:xfrm>
          <a:prstGeom prst="rect">
            <a:avLst/>
          </a:prstGeom>
          <a:noFill/>
          <a:ln/>
        </p:spPr>
        <p:txBody>
          <a:bodyPr wrap="square" lIns="0" tIns="0" rIns="0" bIns="0" rtlCol="0" anchor="ctr"/>
          <a:lstStyle/>
          <a:p>
            <a:pPr algn="ctr" indent="0" marL="0">
              <a:buNone/>
            </a:pPr>
            <a:r>
              <a:rPr lang="en-US" sz="3000" i="1" dirty="0">
                <a:solidFill>
                  <a:srgbClr val="2B2318"/>
                </a:solidFill>
                <a:latin typeface="Cambria" pitchFamily="34" charset="0"/>
                <a:ea typeface="Cambria" pitchFamily="34" charset="-122"/>
                <a:cs typeface="Cambria" pitchFamily="34" charset="-120"/>
              </a:rPr>
              <a:t>„Das griechische Festland ist von Gebirgen durchzogen.“</a:t>
            </a:r>
            <a:endParaRPr lang="en-US" sz="3000" dirty="0"/>
          </a:p>
        </p:txBody>
      </p:sp>
      <p:sp>
        <p:nvSpPr>
          <p:cNvPr id="5" name="Text 3"/>
          <p:cNvSpPr txBox="1"/>
          <p:nvPr/>
        </p:nvSpPr>
        <p:spPr>
          <a:xfrm>
            <a:off x="1463040" y="4315968"/>
            <a:ext cx="347472" cy="347472"/>
          </a:xfrm>
          <a:prstGeom prst="ellipse">
            <a:avLst/>
          </a:prstGeom>
          <a:solidFill>
            <a:srgbClr val="5A5044"/>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6" name="Text 4"/>
          <p:cNvSpPr txBox="1"/>
          <p:nvPr/>
        </p:nvSpPr>
        <p:spPr>
          <a:xfrm>
            <a:off x="1901952" y="4315968"/>
            <a:ext cx="1554480" cy="347472"/>
          </a:xfrm>
          <a:prstGeom prst="rect">
            <a:avLst/>
          </a:prstGeom>
          <a:noFill/>
          <a:ln/>
        </p:spPr>
        <p:txBody>
          <a:bodyPr wrap="square" lIns="0" tIns="0" rIns="0" bIns="0" rtlCol="0" anchor="ctr"/>
          <a:lstStyle/>
          <a:p>
            <a:pPr indent="0" marL="0">
              <a:buNone/>
            </a:pPr>
            <a:r>
              <a:rPr lang="en-US" sz="1300" b="1" dirty="0">
                <a:solidFill>
                  <a:srgbClr val="5A5044"/>
                </a:solidFill>
                <a:latin typeface="Calibri" pitchFamily="34" charset="0"/>
                <a:ea typeface="Calibri" pitchFamily="34" charset="-122"/>
                <a:cs typeface="Calibri" pitchFamily="34" charset="-120"/>
              </a:rPr>
              <a:t>Beschreibung</a:t>
            </a:r>
            <a:endParaRPr lang="en-US" sz="1300" dirty="0"/>
          </a:p>
        </p:txBody>
      </p:sp>
      <p:sp>
        <p:nvSpPr>
          <p:cNvPr id="7" name="Text 5"/>
          <p:cNvSpPr txBox="1"/>
          <p:nvPr/>
        </p:nvSpPr>
        <p:spPr>
          <a:xfrm>
            <a:off x="3611880" y="4315968"/>
            <a:ext cx="347472" cy="347472"/>
          </a:xfrm>
          <a:prstGeom prst="ellipse">
            <a:avLst/>
          </a:prstGeom>
          <a:solidFill>
            <a:srgbClr val="D9A441"/>
          </a:solidFill>
          <a:ln/>
        </p:spPr>
        <p:txBody>
          <a:bodyPr wrap="square" lIns="0" tIns="0" rIns="0" bIns="0" rtlCol="0" anchor="ctr"/>
          <a:lstStyle/>
          <a:p>
            <a:pPr algn="ctr" indent="0" marL="0">
              <a:buNone/>
            </a:pPr>
            <a:r>
              <a:rPr lang="en-US" sz="1400" b="1" dirty="0">
                <a:solidFill>
                  <a:srgbClr val="2B2318"/>
                </a:solidFill>
                <a:latin typeface="Cambria" pitchFamily="34" charset="0"/>
                <a:ea typeface="Cambria" pitchFamily="34" charset="-122"/>
                <a:cs typeface="Cambria" pitchFamily="34" charset="-120"/>
              </a:rPr>
              <a:t>2</a:t>
            </a:r>
            <a:endParaRPr lang="en-US" sz="1400" dirty="0"/>
          </a:p>
        </p:txBody>
      </p:sp>
      <p:sp>
        <p:nvSpPr>
          <p:cNvPr id="8" name="Text 6"/>
          <p:cNvSpPr txBox="1"/>
          <p:nvPr/>
        </p:nvSpPr>
        <p:spPr>
          <a:xfrm>
            <a:off x="4050792" y="4315968"/>
            <a:ext cx="1554480" cy="347472"/>
          </a:xfrm>
          <a:prstGeom prst="rect">
            <a:avLst/>
          </a:prstGeom>
          <a:noFill/>
          <a:ln/>
        </p:spPr>
        <p:txBody>
          <a:bodyPr wrap="square" lIns="0" tIns="0" rIns="0" bIns="0" rtlCol="0" anchor="ctr"/>
          <a:lstStyle/>
          <a:p>
            <a:pPr indent="0" marL="0">
              <a:buNone/>
            </a:pPr>
            <a:r>
              <a:rPr lang="en-US" sz="1300" b="1" dirty="0">
                <a:solidFill>
                  <a:srgbClr val="5A5044"/>
                </a:solidFill>
                <a:latin typeface="Calibri" pitchFamily="34" charset="0"/>
                <a:ea typeface="Calibri" pitchFamily="34" charset="-122"/>
                <a:cs typeface="Calibri" pitchFamily="34" charset="-120"/>
              </a:rPr>
              <a:t>Sachurteil</a:t>
            </a:r>
            <a:endParaRPr lang="en-US" sz="1300" dirty="0"/>
          </a:p>
        </p:txBody>
      </p:sp>
      <p:sp>
        <p:nvSpPr>
          <p:cNvPr id="9" name="Text 7"/>
          <p:cNvSpPr txBox="1"/>
          <p:nvPr/>
        </p:nvSpPr>
        <p:spPr>
          <a:xfrm>
            <a:off x="5760720" y="4315968"/>
            <a:ext cx="347472" cy="347472"/>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0" name="Text 8"/>
          <p:cNvSpPr txBox="1"/>
          <p:nvPr/>
        </p:nvSpPr>
        <p:spPr>
          <a:xfrm>
            <a:off x="6199632" y="4315968"/>
            <a:ext cx="1554480" cy="347472"/>
          </a:xfrm>
          <a:prstGeom prst="rect">
            <a:avLst/>
          </a:prstGeom>
          <a:noFill/>
          <a:ln/>
        </p:spPr>
        <p:txBody>
          <a:bodyPr wrap="square" lIns="0" tIns="0" rIns="0" bIns="0" rtlCol="0" anchor="ctr"/>
          <a:lstStyle/>
          <a:p>
            <a:pPr indent="0" marL="0">
              <a:buNone/>
            </a:pPr>
            <a:r>
              <a:rPr lang="en-US" sz="1300" b="1" dirty="0">
                <a:solidFill>
                  <a:srgbClr val="5A5044"/>
                </a:solidFill>
                <a:latin typeface="Calibri" pitchFamily="34" charset="0"/>
                <a:ea typeface="Calibri" pitchFamily="34" charset="-122"/>
                <a:cs typeface="Calibri" pitchFamily="34" charset="-120"/>
              </a:rPr>
              <a:t>Werturteil</a:t>
            </a:r>
            <a:endParaRPr lang="en-US" sz="1300" dirty="0"/>
          </a:p>
        </p:txBody>
      </p:sp>
      <p:sp>
        <p:nvSpPr>
          <p:cNvPr id="11" name="Text 9"/>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Von der Polis zur Krise</a:t>
            </a:r>
            <a:endParaRPr lang="en-US" sz="900" dirty="0"/>
          </a:p>
        </p:txBody>
      </p:sp>
      <p:sp>
        <p:nvSpPr>
          <p:cNvPr id="12" name="Text 10"/>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URTEILSAMPEL · AUSSAGE 2 VON 8</a:t>
            </a:r>
            <a:endParaRPr lang="en-US" sz="1100" dirty="0"/>
          </a:p>
        </p:txBody>
      </p:sp>
      <p:sp>
        <p:nvSpPr>
          <p:cNvPr id="3" name="Shape 1"/>
          <p:cNvSpPr/>
          <p:nvPr/>
        </p:nvSpPr>
        <p:spPr>
          <a:xfrm>
            <a:off x="457200" y="868680"/>
            <a:ext cx="8229600" cy="3154680"/>
          </a:xfrm>
          <a:prstGeom prst="roundRect">
            <a:avLst>
              <a:gd name="adj" fmla="val 2319"/>
            </a:avLst>
          </a:prstGeom>
          <a:solidFill>
            <a:srgbClr val="F4ECDE"/>
          </a:solidFill>
          <a:ln w="12700">
            <a:solidFill>
              <a:srgbClr val="F4ECDE"/>
            </a:solidFill>
            <a:prstDash val="solid"/>
          </a:ln>
        </p:spPr>
      </p:sp>
      <p:sp>
        <p:nvSpPr>
          <p:cNvPr id="4" name="Text 2"/>
          <p:cNvSpPr txBox="1"/>
          <p:nvPr/>
        </p:nvSpPr>
        <p:spPr>
          <a:xfrm>
            <a:off x="914400" y="1005840"/>
            <a:ext cx="7315200" cy="2880360"/>
          </a:xfrm>
          <a:prstGeom prst="rect">
            <a:avLst/>
          </a:prstGeom>
          <a:noFill/>
          <a:ln/>
        </p:spPr>
        <p:txBody>
          <a:bodyPr wrap="square" lIns="0" tIns="0" rIns="0" bIns="0" rtlCol="0" anchor="ctr"/>
          <a:lstStyle/>
          <a:p>
            <a:pPr algn="ctr" indent="0" marL="0">
              <a:buNone/>
            </a:pPr>
            <a:r>
              <a:rPr lang="en-US" sz="2600" i="1" dirty="0">
                <a:solidFill>
                  <a:srgbClr val="2B2318"/>
                </a:solidFill>
                <a:latin typeface="Cambria" pitchFamily="34" charset="0"/>
                <a:ea typeface="Cambria" pitchFamily="34" charset="-122"/>
                <a:cs typeface="Cambria" pitchFamily="34" charset="-120"/>
              </a:rPr>
              <a:t>„Weil Gebirge die Siedlungen trennten, entstanden viele kleine, unabhängige Poleis statt eines großen Reiches.“</a:t>
            </a:r>
            <a:endParaRPr lang="en-US" sz="2600" dirty="0"/>
          </a:p>
        </p:txBody>
      </p:sp>
      <p:sp>
        <p:nvSpPr>
          <p:cNvPr id="5" name="Text 3"/>
          <p:cNvSpPr txBox="1"/>
          <p:nvPr/>
        </p:nvSpPr>
        <p:spPr>
          <a:xfrm>
            <a:off x="1463040" y="4315968"/>
            <a:ext cx="347472" cy="347472"/>
          </a:xfrm>
          <a:prstGeom prst="ellipse">
            <a:avLst/>
          </a:prstGeom>
          <a:solidFill>
            <a:srgbClr val="5A5044"/>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6" name="Text 4"/>
          <p:cNvSpPr txBox="1"/>
          <p:nvPr/>
        </p:nvSpPr>
        <p:spPr>
          <a:xfrm>
            <a:off x="1901952" y="4315968"/>
            <a:ext cx="1554480" cy="347472"/>
          </a:xfrm>
          <a:prstGeom prst="rect">
            <a:avLst/>
          </a:prstGeom>
          <a:noFill/>
          <a:ln/>
        </p:spPr>
        <p:txBody>
          <a:bodyPr wrap="square" lIns="0" tIns="0" rIns="0" bIns="0" rtlCol="0" anchor="ctr"/>
          <a:lstStyle/>
          <a:p>
            <a:pPr indent="0" marL="0">
              <a:buNone/>
            </a:pPr>
            <a:r>
              <a:rPr lang="en-US" sz="1300" b="1" dirty="0">
                <a:solidFill>
                  <a:srgbClr val="5A5044"/>
                </a:solidFill>
                <a:latin typeface="Calibri" pitchFamily="34" charset="0"/>
                <a:ea typeface="Calibri" pitchFamily="34" charset="-122"/>
                <a:cs typeface="Calibri" pitchFamily="34" charset="-120"/>
              </a:rPr>
              <a:t>Beschreibung</a:t>
            </a:r>
            <a:endParaRPr lang="en-US" sz="1300" dirty="0"/>
          </a:p>
        </p:txBody>
      </p:sp>
      <p:sp>
        <p:nvSpPr>
          <p:cNvPr id="7" name="Text 5"/>
          <p:cNvSpPr txBox="1"/>
          <p:nvPr/>
        </p:nvSpPr>
        <p:spPr>
          <a:xfrm>
            <a:off x="3611880" y="4315968"/>
            <a:ext cx="347472" cy="347472"/>
          </a:xfrm>
          <a:prstGeom prst="ellipse">
            <a:avLst/>
          </a:prstGeom>
          <a:solidFill>
            <a:srgbClr val="D9A441"/>
          </a:solidFill>
          <a:ln/>
        </p:spPr>
        <p:txBody>
          <a:bodyPr wrap="square" lIns="0" tIns="0" rIns="0" bIns="0" rtlCol="0" anchor="ctr"/>
          <a:lstStyle/>
          <a:p>
            <a:pPr algn="ctr" indent="0" marL="0">
              <a:buNone/>
            </a:pPr>
            <a:r>
              <a:rPr lang="en-US" sz="1400" b="1" dirty="0">
                <a:solidFill>
                  <a:srgbClr val="2B2318"/>
                </a:solidFill>
                <a:latin typeface="Cambria" pitchFamily="34" charset="0"/>
                <a:ea typeface="Cambria" pitchFamily="34" charset="-122"/>
                <a:cs typeface="Cambria" pitchFamily="34" charset="-120"/>
              </a:rPr>
              <a:t>2</a:t>
            </a:r>
            <a:endParaRPr lang="en-US" sz="1400" dirty="0"/>
          </a:p>
        </p:txBody>
      </p:sp>
      <p:sp>
        <p:nvSpPr>
          <p:cNvPr id="8" name="Text 6"/>
          <p:cNvSpPr txBox="1"/>
          <p:nvPr/>
        </p:nvSpPr>
        <p:spPr>
          <a:xfrm>
            <a:off x="4050792" y="4315968"/>
            <a:ext cx="1554480" cy="347472"/>
          </a:xfrm>
          <a:prstGeom prst="rect">
            <a:avLst/>
          </a:prstGeom>
          <a:noFill/>
          <a:ln/>
        </p:spPr>
        <p:txBody>
          <a:bodyPr wrap="square" lIns="0" tIns="0" rIns="0" bIns="0" rtlCol="0" anchor="ctr"/>
          <a:lstStyle/>
          <a:p>
            <a:pPr indent="0" marL="0">
              <a:buNone/>
            </a:pPr>
            <a:r>
              <a:rPr lang="en-US" sz="1300" b="1" dirty="0">
                <a:solidFill>
                  <a:srgbClr val="5A5044"/>
                </a:solidFill>
                <a:latin typeface="Calibri" pitchFamily="34" charset="0"/>
                <a:ea typeface="Calibri" pitchFamily="34" charset="-122"/>
                <a:cs typeface="Calibri" pitchFamily="34" charset="-120"/>
              </a:rPr>
              <a:t>Sachurteil</a:t>
            </a:r>
            <a:endParaRPr lang="en-US" sz="1300" dirty="0"/>
          </a:p>
        </p:txBody>
      </p:sp>
      <p:sp>
        <p:nvSpPr>
          <p:cNvPr id="9" name="Text 7"/>
          <p:cNvSpPr txBox="1"/>
          <p:nvPr/>
        </p:nvSpPr>
        <p:spPr>
          <a:xfrm>
            <a:off x="5760720" y="4315968"/>
            <a:ext cx="347472" cy="347472"/>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0" name="Text 8"/>
          <p:cNvSpPr txBox="1"/>
          <p:nvPr/>
        </p:nvSpPr>
        <p:spPr>
          <a:xfrm>
            <a:off x="6199632" y="4315968"/>
            <a:ext cx="1554480" cy="347472"/>
          </a:xfrm>
          <a:prstGeom prst="rect">
            <a:avLst/>
          </a:prstGeom>
          <a:noFill/>
          <a:ln/>
        </p:spPr>
        <p:txBody>
          <a:bodyPr wrap="square" lIns="0" tIns="0" rIns="0" bIns="0" rtlCol="0" anchor="ctr"/>
          <a:lstStyle/>
          <a:p>
            <a:pPr indent="0" marL="0">
              <a:buNone/>
            </a:pPr>
            <a:r>
              <a:rPr lang="en-US" sz="1300" b="1" dirty="0">
                <a:solidFill>
                  <a:srgbClr val="5A5044"/>
                </a:solidFill>
                <a:latin typeface="Calibri" pitchFamily="34" charset="0"/>
                <a:ea typeface="Calibri" pitchFamily="34" charset="-122"/>
                <a:cs typeface="Calibri" pitchFamily="34" charset="-120"/>
              </a:rPr>
              <a:t>Werturteil</a:t>
            </a:r>
            <a:endParaRPr lang="en-US" sz="1300" dirty="0"/>
          </a:p>
        </p:txBody>
      </p:sp>
      <p:sp>
        <p:nvSpPr>
          <p:cNvPr id="11" name="Text 9"/>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Von der Polis zur Krise</a:t>
            </a:r>
            <a:endParaRPr lang="en-US" sz="900" dirty="0"/>
          </a:p>
        </p:txBody>
      </p:sp>
      <p:sp>
        <p:nvSpPr>
          <p:cNvPr id="12" name="Text 10"/>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URTEILSAMPEL · AUSSAGE 3 VON 8</a:t>
            </a:r>
            <a:endParaRPr lang="en-US" sz="1100" dirty="0"/>
          </a:p>
        </p:txBody>
      </p:sp>
      <p:sp>
        <p:nvSpPr>
          <p:cNvPr id="3" name="Shape 1"/>
          <p:cNvSpPr/>
          <p:nvPr/>
        </p:nvSpPr>
        <p:spPr>
          <a:xfrm>
            <a:off x="457200" y="868680"/>
            <a:ext cx="8229600" cy="3154680"/>
          </a:xfrm>
          <a:prstGeom prst="roundRect">
            <a:avLst>
              <a:gd name="adj" fmla="val 2319"/>
            </a:avLst>
          </a:prstGeom>
          <a:solidFill>
            <a:srgbClr val="F4ECDE"/>
          </a:solidFill>
          <a:ln w="12700">
            <a:solidFill>
              <a:srgbClr val="F4ECDE"/>
            </a:solidFill>
            <a:prstDash val="solid"/>
          </a:ln>
        </p:spPr>
      </p:sp>
      <p:sp>
        <p:nvSpPr>
          <p:cNvPr id="4" name="Text 2"/>
          <p:cNvSpPr txBox="1"/>
          <p:nvPr/>
        </p:nvSpPr>
        <p:spPr>
          <a:xfrm>
            <a:off x="914400" y="1005840"/>
            <a:ext cx="7315200" cy="2880360"/>
          </a:xfrm>
          <a:prstGeom prst="rect">
            <a:avLst/>
          </a:prstGeom>
          <a:noFill/>
          <a:ln/>
        </p:spPr>
        <p:txBody>
          <a:bodyPr wrap="square" lIns="0" tIns="0" rIns="0" bIns="0" rtlCol="0" anchor="ctr"/>
          <a:lstStyle/>
          <a:p>
            <a:pPr algn="ctr" indent="0" marL="0">
              <a:buNone/>
            </a:pPr>
            <a:r>
              <a:rPr lang="en-US" sz="3000" i="1" dirty="0">
                <a:solidFill>
                  <a:srgbClr val="2B2318"/>
                </a:solidFill>
                <a:latin typeface="Cambria" pitchFamily="34" charset="0"/>
                <a:ea typeface="Cambria" pitchFamily="34" charset="-122"/>
                <a:cs typeface="Cambria" pitchFamily="34" charset="-120"/>
              </a:rPr>
              <a:t>„Dass sich die Griechen nie zu einem Staat zusammenschlossen, war ein Fehler.“</a:t>
            </a:r>
            <a:endParaRPr lang="en-US" sz="3000" dirty="0"/>
          </a:p>
        </p:txBody>
      </p:sp>
      <p:sp>
        <p:nvSpPr>
          <p:cNvPr id="5" name="Text 3"/>
          <p:cNvSpPr txBox="1"/>
          <p:nvPr/>
        </p:nvSpPr>
        <p:spPr>
          <a:xfrm>
            <a:off x="1463040" y="4315968"/>
            <a:ext cx="347472" cy="347472"/>
          </a:xfrm>
          <a:prstGeom prst="ellipse">
            <a:avLst/>
          </a:prstGeom>
          <a:solidFill>
            <a:srgbClr val="5A5044"/>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6" name="Text 4"/>
          <p:cNvSpPr txBox="1"/>
          <p:nvPr/>
        </p:nvSpPr>
        <p:spPr>
          <a:xfrm>
            <a:off x="1901952" y="4315968"/>
            <a:ext cx="1554480" cy="347472"/>
          </a:xfrm>
          <a:prstGeom prst="rect">
            <a:avLst/>
          </a:prstGeom>
          <a:noFill/>
          <a:ln/>
        </p:spPr>
        <p:txBody>
          <a:bodyPr wrap="square" lIns="0" tIns="0" rIns="0" bIns="0" rtlCol="0" anchor="ctr"/>
          <a:lstStyle/>
          <a:p>
            <a:pPr indent="0" marL="0">
              <a:buNone/>
            </a:pPr>
            <a:r>
              <a:rPr lang="en-US" sz="1300" b="1" dirty="0">
                <a:solidFill>
                  <a:srgbClr val="5A5044"/>
                </a:solidFill>
                <a:latin typeface="Calibri" pitchFamily="34" charset="0"/>
                <a:ea typeface="Calibri" pitchFamily="34" charset="-122"/>
                <a:cs typeface="Calibri" pitchFamily="34" charset="-120"/>
              </a:rPr>
              <a:t>Beschreibung</a:t>
            </a:r>
            <a:endParaRPr lang="en-US" sz="1300" dirty="0"/>
          </a:p>
        </p:txBody>
      </p:sp>
      <p:sp>
        <p:nvSpPr>
          <p:cNvPr id="7" name="Text 5"/>
          <p:cNvSpPr txBox="1"/>
          <p:nvPr/>
        </p:nvSpPr>
        <p:spPr>
          <a:xfrm>
            <a:off x="3611880" y="4315968"/>
            <a:ext cx="347472" cy="347472"/>
          </a:xfrm>
          <a:prstGeom prst="ellipse">
            <a:avLst/>
          </a:prstGeom>
          <a:solidFill>
            <a:srgbClr val="D9A441"/>
          </a:solidFill>
          <a:ln/>
        </p:spPr>
        <p:txBody>
          <a:bodyPr wrap="square" lIns="0" tIns="0" rIns="0" bIns="0" rtlCol="0" anchor="ctr"/>
          <a:lstStyle/>
          <a:p>
            <a:pPr algn="ctr" indent="0" marL="0">
              <a:buNone/>
            </a:pPr>
            <a:r>
              <a:rPr lang="en-US" sz="1400" b="1" dirty="0">
                <a:solidFill>
                  <a:srgbClr val="2B2318"/>
                </a:solidFill>
                <a:latin typeface="Cambria" pitchFamily="34" charset="0"/>
                <a:ea typeface="Cambria" pitchFamily="34" charset="-122"/>
                <a:cs typeface="Cambria" pitchFamily="34" charset="-120"/>
              </a:rPr>
              <a:t>2</a:t>
            </a:r>
            <a:endParaRPr lang="en-US" sz="1400" dirty="0"/>
          </a:p>
        </p:txBody>
      </p:sp>
      <p:sp>
        <p:nvSpPr>
          <p:cNvPr id="8" name="Text 6"/>
          <p:cNvSpPr txBox="1"/>
          <p:nvPr/>
        </p:nvSpPr>
        <p:spPr>
          <a:xfrm>
            <a:off x="4050792" y="4315968"/>
            <a:ext cx="1554480" cy="347472"/>
          </a:xfrm>
          <a:prstGeom prst="rect">
            <a:avLst/>
          </a:prstGeom>
          <a:noFill/>
          <a:ln/>
        </p:spPr>
        <p:txBody>
          <a:bodyPr wrap="square" lIns="0" tIns="0" rIns="0" bIns="0" rtlCol="0" anchor="ctr"/>
          <a:lstStyle/>
          <a:p>
            <a:pPr indent="0" marL="0">
              <a:buNone/>
            </a:pPr>
            <a:r>
              <a:rPr lang="en-US" sz="1300" b="1" dirty="0">
                <a:solidFill>
                  <a:srgbClr val="5A5044"/>
                </a:solidFill>
                <a:latin typeface="Calibri" pitchFamily="34" charset="0"/>
                <a:ea typeface="Calibri" pitchFamily="34" charset="-122"/>
                <a:cs typeface="Calibri" pitchFamily="34" charset="-120"/>
              </a:rPr>
              <a:t>Sachurteil</a:t>
            </a:r>
            <a:endParaRPr lang="en-US" sz="1300" dirty="0"/>
          </a:p>
        </p:txBody>
      </p:sp>
      <p:sp>
        <p:nvSpPr>
          <p:cNvPr id="9" name="Text 7"/>
          <p:cNvSpPr txBox="1"/>
          <p:nvPr/>
        </p:nvSpPr>
        <p:spPr>
          <a:xfrm>
            <a:off x="5760720" y="4315968"/>
            <a:ext cx="347472" cy="347472"/>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0" name="Text 8"/>
          <p:cNvSpPr txBox="1"/>
          <p:nvPr/>
        </p:nvSpPr>
        <p:spPr>
          <a:xfrm>
            <a:off x="6199632" y="4315968"/>
            <a:ext cx="1554480" cy="347472"/>
          </a:xfrm>
          <a:prstGeom prst="rect">
            <a:avLst/>
          </a:prstGeom>
          <a:noFill/>
          <a:ln/>
        </p:spPr>
        <p:txBody>
          <a:bodyPr wrap="square" lIns="0" tIns="0" rIns="0" bIns="0" rtlCol="0" anchor="ctr"/>
          <a:lstStyle/>
          <a:p>
            <a:pPr indent="0" marL="0">
              <a:buNone/>
            </a:pPr>
            <a:r>
              <a:rPr lang="en-US" sz="1300" b="1" dirty="0">
                <a:solidFill>
                  <a:srgbClr val="5A5044"/>
                </a:solidFill>
                <a:latin typeface="Calibri" pitchFamily="34" charset="0"/>
                <a:ea typeface="Calibri" pitchFamily="34" charset="-122"/>
                <a:cs typeface="Calibri" pitchFamily="34" charset="-120"/>
              </a:rPr>
              <a:t>Werturteil</a:t>
            </a:r>
            <a:endParaRPr lang="en-US" sz="1300" dirty="0"/>
          </a:p>
        </p:txBody>
      </p:sp>
      <p:sp>
        <p:nvSpPr>
          <p:cNvPr id="11" name="Text 9"/>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Von der Polis zur Krise</a:t>
            </a:r>
            <a:endParaRPr lang="en-US" sz="900" dirty="0"/>
          </a:p>
        </p:txBody>
      </p:sp>
      <p:sp>
        <p:nvSpPr>
          <p:cNvPr id="12" name="Text 10"/>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URTEILSAMPEL · AUSSAGE 4 VON 8</a:t>
            </a:r>
            <a:endParaRPr lang="en-US" sz="1100" dirty="0"/>
          </a:p>
        </p:txBody>
      </p:sp>
      <p:sp>
        <p:nvSpPr>
          <p:cNvPr id="3" name="Shape 1"/>
          <p:cNvSpPr/>
          <p:nvPr/>
        </p:nvSpPr>
        <p:spPr>
          <a:xfrm>
            <a:off x="457200" y="868680"/>
            <a:ext cx="8229600" cy="3154680"/>
          </a:xfrm>
          <a:prstGeom prst="roundRect">
            <a:avLst>
              <a:gd name="adj" fmla="val 2319"/>
            </a:avLst>
          </a:prstGeom>
          <a:solidFill>
            <a:srgbClr val="F4ECDE"/>
          </a:solidFill>
          <a:ln w="12700">
            <a:solidFill>
              <a:srgbClr val="F4ECDE"/>
            </a:solidFill>
            <a:prstDash val="solid"/>
          </a:ln>
        </p:spPr>
      </p:sp>
      <p:sp>
        <p:nvSpPr>
          <p:cNvPr id="4" name="Text 2"/>
          <p:cNvSpPr txBox="1"/>
          <p:nvPr/>
        </p:nvSpPr>
        <p:spPr>
          <a:xfrm>
            <a:off x="914400" y="1005840"/>
            <a:ext cx="7315200" cy="2880360"/>
          </a:xfrm>
          <a:prstGeom prst="rect">
            <a:avLst/>
          </a:prstGeom>
          <a:noFill/>
          <a:ln/>
        </p:spPr>
        <p:txBody>
          <a:bodyPr wrap="square" lIns="0" tIns="0" rIns="0" bIns="0" rtlCol="0" anchor="ctr"/>
          <a:lstStyle/>
          <a:p>
            <a:pPr algn="ctr" indent="0" marL="0">
              <a:buNone/>
            </a:pPr>
            <a:r>
              <a:rPr lang="en-US" sz="3000" i="1" dirty="0">
                <a:solidFill>
                  <a:srgbClr val="2B2318"/>
                </a:solidFill>
                <a:latin typeface="Cambria" pitchFamily="34" charset="0"/>
                <a:ea typeface="Cambria" pitchFamily="34" charset="-122"/>
                <a:cs typeface="Cambria" pitchFamily="34" charset="-120"/>
              </a:rPr>
              <a:t>„Um 700 v. Chr. schlossen sich die Gemeinden Attikas zur Polis Athen zusammen.“</a:t>
            </a:r>
            <a:endParaRPr lang="en-US" sz="3000" dirty="0"/>
          </a:p>
        </p:txBody>
      </p:sp>
      <p:sp>
        <p:nvSpPr>
          <p:cNvPr id="5" name="Text 3"/>
          <p:cNvSpPr txBox="1"/>
          <p:nvPr/>
        </p:nvSpPr>
        <p:spPr>
          <a:xfrm>
            <a:off x="1463040" y="4315968"/>
            <a:ext cx="347472" cy="347472"/>
          </a:xfrm>
          <a:prstGeom prst="ellipse">
            <a:avLst/>
          </a:prstGeom>
          <a:solidFill>
            <a:srgbClr val="5A5044"/>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6" name="Text 4"/>
          <p:cNvSpPr txBox="1"/>
          <p:nvPr/>
        </p:nvSpPr>
        <p:spPr>
          <a:xfrm>
            <a:off x="1901952" y="4315968"/>
            <a:ext cx="1554480" cy="347472"/>
          </a:xfrm>
          <a:prstGeom prst="rect">
            <a:avLst/>
          </a:prstGeom>
          <a:noFill/>
          <a:ln/>
        </p:spPr>
        <p:txBody>
          <a:bodyPr wrap="square" lIns="0" tIns="0" rIns="0" bIns="0" rtlCol="0" anchor="ctr"/>
          <a:lstStyle/>
          <a:p>
            <a:pPr indent="0" marL="0">
              <a:buNone/>
            </a:pPr>
            <a:r>
              <a:rPr lang="en-US" sz="1300" b="1" dirty="0">
                <a:solidFill>
                  <a:srgbClr val="5A5044"/>
                </a:solidFill>
                <a:latin typeface="Calibri" pitchFamily="34" charset="0"/>
                <a:ea typeface="Calibri" pitchFamily="34" charset="-122"/>
                <a:cs typeface="Calibri" pitchFamily="34" charset="-120"/>
              </a:rPr>
              <a:t>Beschreibung</a:t>
            </a:r>
            <a:endParaRPr lang="en-US" sz="1300" dirty="0"/>
          </a:p>
        </p:txBody>
      </p:sp>
      <p:sp>
        <p:nvSpPr>
          <p:cNvPr id="7" name="Text 5"/>
          <p:cNvSpPr txBox="1"/>
          <p:nvPr/>
        </p:nvSpPr>
        <p:spPr>
          <a:xfrm>
            <a:off x="3611880" y="4315968"/>
            <a:ext cx="347472" cy="347472"/>
          </a:xfrm>
          <a:prstGeom prst="ellipse">
            <a:avLst/>
          </a:prstGeom>
          <a:solidFill>
            <a:srgbClr val="D9A441"/>
          </a:solidFill>
          <a:ln/>
        </p:spPr>
        <p:txBody>
          <a:bodyPr wrap="square" lIns="0" tIns="0" rIns="0" bIns="0" rtlCol="0" anchor="ctr"/>
          <a:lstStyle/>
          <a:p>
            <a:pPr algn="ctr" indent="0" marL="0">
              <a:buNone/>
            </a:pPr>
            <a:r>
              <a:rPr lang="en-US" sz="1400" b="1" dirty="0">
                <a:solidFill>
                  <a:srgbClr val="2B2318"/>
                </a:solidFill>
                <a:latin typeface="Cambria" pitchFamily="34" charset="0"/>
                <a:ea typeface="Cambria" pitchFamily="34" charset="-122"/>
                <a:cs typeface="Cambria" pitchFamily="34" charset="-120"/>
              </a:rPr>
              <a:t>2</a:t>
            </a:r>
            <a:endParaRPr lang="en-US" sz="1400" dirty="0"/>
          </a:p>
        </p:txBody>
      </p:sp>
      <p:sp>
        <p:nvSpPr>
          <p:cNvPr id="8" name="Text 6"/>
          <p:cNvSpPr txBox="1"/>
          <p:nvPr/>
        </p:nvSpPr>
        <p:spPr>
          <a:xfrm>
            <a:off x="4050792" y="4315968"/>
            <a:ext cx="1554480" cy="347472"/>
          </a:xfrm>
          <a:prstGeom prst="rect">
            <a:avLst/>
          </a:prstGeom>
          <a:noFill/>
          <a:ln/>
        </p:spPr>
        <p:txBody>
          <a:bodyPr wrap="square" lIns="0" tIns="0" rIns="0" bIns="0" rtlCol="0" anchor="ctr"/>
          <a:lstStyle/>
          <a:p>
            <a:pPr indent="0" marL="0">
              <a:buNone/>
            </a:pPr>
            <a:r>
              <a:rPr lang="en-US" sz="1300" b="1" dirty="0">
                <a:solidFill>
                  <a:srgbClr val="5A5044"/>
                </a:solidFill>
                <a:latin typeface="Calibri" pitchFamily="34" charset="0"/>
                <a:ea typeface="Calibri" pitchFamily="34" charset="-122"/>
                <a:cs typeface="Calibri" pitchFamily="34" charset="-120"/>
              </a:rPr>
              <a:t>Sachurteil</a:t>
            </a:r>
            <a:endParaRPr lang="en-US" sz="1300" dirty="0"/>
          </a:p>
        </p:txBody>
      </p:sp>
      <p:sp>
        <p:nvSpPr>
          <p:cNvPr id="9" name="Text 7"/>
          <p:cNvSpPr txBox="1"/>
          <p:nvPr/>
        </p:nvSpPr>
        <p:spPr>
          <a:xfrm>
            <a:off x="5760720" y="4315968"/>
            <a:ext cx="347472" cy="347472"/>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0" name="Text 8"/>
          <p:cNvSpPr txBox="1"/>
          <p:nvPr/>
        </p:nvSpPr>
        <p:spPr>
          <a:xfrm>
            <a:off x="6199632" y="4315968"/>
            <a:ext cx="1554480" cy="347472"/>
          </a:xfrm>
          <a:prstGeom prst="rect">
            <a:avLst/>
          </a:prstGeom>
          <a:noFill/>
          <a:ln/>
        </p:spPr>
        <p:txBody>
          <a:bodyPr wrap="square" lIns="0" tIns="0" rIns="0" bIns="0" rtlCol="0" anchor="ctr"/>
          <a:lstStyle/>
          <a:p>
            <a:pPr indent="0" marL="0">
              <a:buNone/>
            </a:pPr>
            <a:r>
              <a:rPr lang="en-US" sz="1300" b="1" dirty="0">
                <a:solidFill>
                  <a:srgbClr val="5A5044"/>
                </a:solidFill>
                <a:latin typeface="Calibri" pitchFamily="34" charset="0"/>
                <a:ea typeface="Calibri" pitchFamily="34" charset="-122"/>
                <a:cs typeface="Calibri" pitchFamily="34" charset="-120"/>
              </a:rPr>
              <a:t>Werturteil</a:t>
            </a:r>
            <a:endParaRPr lang="en-US" sz="1300" dirty="0"/>
          </a:p>
        </p:txBody>
      </p:sp>
      <p:sp>
        <p:nvSpPr>
          <p:cNvPr id="11" name="Text 9"/>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Von der Polis zur Krise</a:t>
            </a:r>
            <a:endParaRPr lang="en-US" sz="900" dirty="0"/>
          </a:p>
        </p:txBody>
      </p:sp>
      <p:sp>
        <p:nvSpPr>
          <p:cNvPr id="12" name="Text 10"/>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URTEILSAMPEL · AUSSAGE 5 VON 8</a:t>
            </a:r>
            <a:endParaRPr lang="en-US" sz="1100" dirty="0"/>
          </a:p>
        </p:txBody>
      </p:sp>
      <p:sp>
        <p:nvSpPr>
          <p:cNvPr id="3" name="Shape 1"/>
          <p:cNvSpPr/>
          <p:nvPr/>
        </p:nvSpPr>
        <p:spPr>
          <a:xfrm>
            <a:off x="457200" y="868680"/>
            <a:ext cx="8229600" cy="3154680"/>
          </a:xfrm>
          <a:prstGeom prst="roundRect">
            <a:avLst>
              <a:gd name="adj" fmla="val 2319"/>
            </a:avLst>
          </a:prstGeom>
          <a:solidFill>
            <a:srgbClr val="F4ECDE"/>
          </a:solidFill>
          <a:ln w="12700">
            <a:solidFill>
              <a:srgbClr val="F4ECDE"/>
            </a:solidFill>
            <a:prstDash val="solid"/>
          </a:ln>
        </p:spPr>
      </p:sp>
      <p:sp>
        <p:nvSpPr>
          <p:cNvPr id="4" name="Text 2"/>
          <p:cNvSpPr txBox="1"/>
          <p:nvPr/>
        </p:nvSpPr>
        <p:spPr>
          <a:xfrm>
            <a:off x="914400" y="1005840"/>
            <a:ext cx="7315200" cy="2880360"/>
          </a:xfrm>
          <a:prstGeom prst="rect">
            <a:avLst/>
          </a:prstGeom>
          <a:noFill/>
          <a:ln/>
        </p:spPr>
        <p:txBody>
          <a:bodyPr wrap="square" lIns="0" tIns="0" rIns="0" bIns="0" rtlCol="0" anchor="ctr"/>
          <a:lstStyle/>
          <a:p>
            <a:pPr algn="ctr" indent="0" marL="0">
              <a:buNone/>
            </a:pPr>
            <a:r>
              <a:rPr lang="en-US" sz="2600" i="1" dirty="0">
                <a:solidFill>
                  <a:srgbClr val="2B2318"/>
                </a:solidFill>
                <a:latin typeface="Cambria" pitchFamily="34" charset="0"/>
                <a:ea typeface="Cambria" pitchFamily="34" charset="-122"/>
                <a:cs typeface="Cambria" pitchFamily="34" charset="-120"/>
              </a:rPr>
              <a:t>„Die Kolonisation entlastete die Poleis, weil sie Landmangel und Bevölkerungsdruck verringerte.“</a:t>
            </a:r>
            <a:endParaRPr lang="en-US" sz="2600" dirty="0"/>
          </a:p>
        </p:txBody>
      </p:sp>
      <p:sp>
        <p:nvSpPr>
          <p:cNvPr id="5" name="Text 3"/>
          <p:cNvSpPr txBox="1"/>
          <p:nvPr/>
        </p:nvSpPr>
        <p:spPr>
          <a:xfrm>
            <a:off x="1463040" y="4315968"/>
            <a:ext cx="347472" cy="347472"/>
          </a:xfrm>
          <a:prstGeom prst="ellipse">
            <a:avLst/>
          </a:prstGeom>
          <a:solidFill>
            <a:srgbClr val="5A5044"/>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6" name="Text 4"/>
          <p:cNvSpPr txBox="1"/>
          <p:nvPr/>
        </p:nvSpPr>
        <p:spPr>
          <a:xfrm>
            <a:off x="1901952" y="4315968"/>
            <a:ext cx="1554480" cy="347472"/>
          </a:xfrm>
          <a:prstGeom prst="rect">
            <a:avLst/>
          </a:prstGeom>
          <a:noFill/>
          <a:ln/>
        </p:spPr>
        <p:txBody>
          <a:bodyPr wrap="square" lIns="0" tIns="0" rIns="0" bIns="0" rtlCol="0" anchor="ctr"/>
          <a:lstStyle/>
          <a:p>
            <a:pPr indent="0" marL="0">
              <a:buNone/>
            </a:pPr>
            <a:r>
              <a:rPr lang="en-US" sz="1300" b="1" dirty="0">
                <a:solidFill>
                  <a:srgbClr val="5A5044"/>
                </a:solidFill>
                <a:latin typeface="Calibri" pitchFamily="34" charset="0"/>
                <a:ea typeface="Calibri" pitchFamily="34" charset="-122"/>
                <a:cs typeface="Calibri" pitchFamily="34" charset="-120"/>
              </a:rPr>
              <a:t>Beschreibung</a:t>
            </a:r>
            <a:endParaRPr lang="en-US" sz="1300" dirty="0"/>
          </a:p>
        </p:txBody>
      </p:sp>
      <p:sp>
        <p:nvSpPr>
          <p:cNvPr id="7" name="Text 5"/>
          <p:cNvSpPr txBox="1"/>
          <p:nvPr/>
        </p:nvSpPr>
        <p:spPr>
          <a:xfrm>
            <a:off x="3611880" y="4315968"/>
            <a:ext cx="347472" cy="347472"/>
          </a:xfrm>
          <a:prstGeom prst="ellipse">
            <a:avLst/>
          </a:prstGeom>
          <a:solidFill>
            <a:srgbClr val="D9A441"/>
          </a:solidFill>
          <a:ln/>
        </p:spPr>
        <p:txBody>
          <a:bodyPr wrap="square" lIns="0" tIns="0" rIns="0" bIns="0" rtlCol="0" anchor="ctr"/>
          <a:lstStyle/>
          <a:p>
            <a:pPr algn="ctr" indent="0" marL="0">
              <a:buNone/>
            </a:pPr>
            <a:r>
              <a:rPr lang="en-US" sz="1400" b="1" dirty="0">
                <a:solidFill>
                  <a:srgbClr val="2B2318"/>
                </a:solidFill>
                <a:latin typeface="Cambria" pitchFamily="34" charset="0"/>
                <a:ea typeface="Cambria" pitchFamily="34" charset="-122"/>
                <a:cs typeface="Cambria" pitchFamily="34" charset="-120"/>
              </a:rPr>
              <a:t>2</a:t>
            </a:r>
            <a:endParaRPr lang="en-US" sz="1400" dirty="0"/>
          </a:p>
        </p:txBody>
      </p:sp>
      <p:sp>
        <p:nvSpPr>
          <p:cNvPr id="8" name="Text 6"/>
          <p:cNvSpPr txBox="1"/>
          <p:nvPr/>
        </p:nvSpPr>
        <p:spPr>
          <a:xfrm>
            <a:off x="4050792" y="4315968"/>
            <a:ext cx="1554480" cy="347472"/>
          </a:xfrm>
          <a:prstGeom prst="rect">
            <a:avLst/>
          </a:prstGeom>
          <a:noFill/>
          <a:ln/>
        </p:spPr>
        <p:txBody>
          <a:bodyPr wrap="square" lIns="0" tIns="0" rIns="0" bIns="0" rtlCol="0" anchor="ctr"/>
          <a:lstStyle/>
          <a:p>
            <a:pPr indent="0" marL="0">
              <a:buNone/>
            </a:pPr>
            <a:r>
              <a:rPr lang="en-US" sz="1300" b="1" dirty="0">
                <a:solidFill>
                  <a:srgbClr val="5A5044"/>
                </a:solidFill>
                <a:latin typeface="Calibri" pitchFamily="34" charset="0"/>
                <a:ea typeface="Calibri" pitchFamily="34" charset="-122"/>
                <a:cs typeface="Calibri" pitchFamily="34" charset="-120"/>
              </a:rPr>
              <a:t>Sachurteil</a:t>
            </a:r>
            <a:endParaRPr lang="en-US" sz="1300" dirty="0"/>
          </a:p>
        </p:txBody>
      </p:sp>
      <p:sp>
        <p:nvSpPr>
          <p:cNvPr id="9" name="Text 7"/>
          <p:cNvSpPr txBox="1"/>
          <p:nvPr/>
        </p:nvSpPr>
        <p:spPr>
          <a:xfrm>
            <a:off x="5760720" y="4315968"/>
            <a:ext cx="347472" cy="347472"/>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0" name="Text 8"/>
          <p:cNvSpPr txBox="1"/>
          <p:nvPr/>
        </p:nvSpPr>
        <p:spPr>
          <a:xfrm>
            <a:off x="6199632" y="4315968"/>
            <a:ext cx="1554480" cy="347472"/>
          </a:xfrm>
          <a:prstGeom prst="rect">
            <a:avLst/>
          </a:prstGeom>
          <a:noFill/>
          <a:ln/>
        </p:spPr>
        <p:txBody>
          <a:bodyPr wrap="square" lIns="0" tIns="0" rIns="0" bIns="0" rtlCol="0" anchor="ctr"/>
          <a:lstStyle/>
          <a:p>
            <a:pPr indent="0" marL="0">
              <a:buNone/>
            </a:pPr>
            <a:r>
              <a:rPr lang="en-US" sz="1300" b="1" dirty="0">
                <a:solidFill>
                  <a:srgbClr val="5A5044"/>
                </a:solidFill>
                <a:latin typeface="Calibri" pitchFamily="34" charset="0"/>
                <a:ea typeface="Calibri" pitchFamily="34" charset="-122"/>
                <a:cs typeface="Calibri" pitchFamily="34" charset="-120"/>
              </a:rPr>
              <a:t>Werturteil</a:t>
            </a:r>
            <a:endParaRPr lang="en-US" sz="1300" dirty="0"/>
          </a:p>
        </p:txBody>
      </p:sp>
      <p:sp>
        <p:nvSpPr>
          <p:cNvPr id="11" name="Text 9"/>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Von der Polis zur Krise</a:t>
            </a:r>
            <a:endParaRPr lang="en-US" sz="900" dirty="0"/>
          </a:p>
        </p:txBody>
      </p:sp>
      <p:sp>
        <p:nvSpPr>
          <p:cNvPr id="12" name="Text 10"/>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URTEILSAMPEL · AUSSAGE 6 VON 8</a:t>
            </a:r>
            <a:endParaRPr lang="en-US" sz="1100" dirty="0"/>
          </a:p>
        </p:txBody>
      </p:sp>
      <p:sp>
        <p:nvSpPr>
          <p:cNvPr id="3" name="Shape 1"/>
          <p:cNvSpPr/>
          <p:nvPr/>
        </p:nvSpPr>
        <p:spPr>
          <a:xfrm>
            <a:off x="457200" y="868680"/>
            <a:ext cx="8229600" cy="3154680"/>
          </a:xfrm>
          <a:prstGeom prst="roundRect">
            <a:avLst>
              <a:gd name="adj" fmla="val 2319"/>
            </a:avLst>
          </a:prstGeom>
          <a:solidFill>
            <a:srgbClr val="F4ECDE"/>
          </a:solidFill>
          <a:ln w="12700">
            <a:solidFill>
              <a:srgbClr val="F4ECDE"/>
            </a:solidFill>
            <a:prstDash val="solid"/>
          </a:ln>
        </p:spPr>
      </p:sp>
      <p:sp>
        <p:nvSpPr>
          <p:cNvPr id="4" name="Text 2"/>
          <p:cNvSpPr txBox="1"/>
          <p:nvPr/>
        </p:nvSpPr>
        <p:spPr>
          <a:xfrm>
            <a:off x="914400" y="1005840"/>
            <a:ext cx="7315200" cy="2880360"/>
          </a:xfrm>
          <a:prstGeom prst="rect">
            <a:avLst/>
          </a:prstGeom>
          <a:noFill/>
          <a:ln/>
        </p:spPr>
        <p:txBody>
          <a:bodyPr wrap="square" lIns="0" tIns="0" rIns="0" bIns="0" rtlCol="0" anchor="ctr"/>
          <a:lstStyle/>
          <a:p>
            <a:pPr algn="ctr" indent="0" marL="0">
              <a:buNone/>
            </a:pPr>
            <a:r>
              <a:rPr lang="en-US" sz="2600" i="1" dirty="0">
                <a:solidFill>
                  <a:srgbClr val="2B2318"/>
                </a:solidFill>
                <a:latin typeface="Cambria" pitchFamily="34" charset="0"/>
                <a:ea typeface="Cambria" pitchFamily="34" charset="-122"/>
                <a:cs typeface="Cambria" pitchFamily="34" charset="-120"/>
              </a:rPr>
              <a:t>„Gemessen am Recht aller Völker auf ihr Land war die Verdrängung Einheimischer durch griechische Siedler Unrecht.“</a:t>
            </a:r>
            <a:endParaRPr lang="en-US" sz="2600" dirty="0"/>
          </a:p>
        </p:txBody>
      </p:sp>
      <p:sp>
        <p:nvSpPr>
          <p:cNvPr id="5" name="Text 3"/>
          <p:cNvSpPr txBox="1"/>
          <p:nvPr/>
        </p:nvSpPr>
        <p:spPr>
          <a:xfrm>
            <a:off x="1463040" y="4315968"/>
            <a:ext cx="347472" cy="347472"/>
          </a:xfrm>
          <a:prstGeom prst="ellipse">
            <a:avLst/>
          </a:prstGeom>
          <a:solidFill>
            <a:srgbClr val="5A5044"/>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6" name="Text 4"/>
          <p:cNvSpPr txBox="1"/>
          <p:nvPr/>
        </p:nvSpPr>
        <p:spPr>
          <a:xfrm>
            <a:off x="1901952" y="4315968"/>
            <a:ext cx="1554480" cy="347472"/>
          </a:xfrm>
          <a:prstGeom prst="rect">
            <a:avLst/>
          </a:prstGeom>
          <a:noFill/>
          <a:ln/>
        </p:spPr>
        <p:txBody>
          <a:bodyPr wrap="square" lIns="0" tIns="0" rIns="0" bIns="0" rtlCol="0" anchor="ctr"/>
          <a:lstStyle/>
          <a:p>
            <a:pPr indent="0" marL="0">
              <a:buNone/>
            </a:pPr>
            <a:r>
              <a:rPr lang="en-US" sz="1300" b="1" dirty="0">
                <a:solidFill>
                  <a:srgbClr val="5A5044"/>
                </a:solidFill>
                <a:latin typeface="Calibri" pitchFamily="34" charset="0"/>
                <a:ea typeface="Calibri" pitchFamily="34" charset="-122"/>
                <a:cs typeface="Calibri" pitchFamily="34" charset="-120"/>
              </a:rPr>
              <a:t>Beschreibung</a:t>
            </a:r>
            <a:endParaRPr lang="en-US" sz="1300" dirty="0"/>
          </a:p>
        </p:txBody>
      </p:sp>
      <p:sp>
        <p:nvSpPr>
          <p:cNvPr id="7" name="Text 5"/>
          <p:cNvSpPr txBox="1"/>
          <p:nvPr/>
        </p:nvSpPr>
        <p:spPr>
          <a:xfrm>
            <a:off x="3611880" y="4315968"/>
            <a:ext cx="347472" cy="347472"/>
          </a:xfrm>
          <a:prstGeom prst="ellipse">
            <a:avLst/>
          </a:prstGeom>
          <a:solidFill>
            <a:srgbClr val="D9A441"/>
          </a:solidFill>
          <a:ln/>
        </p:spPr>
        <p:txBody>
          <a:bodyPr wrap="square" lIns="0" tIns="0" rIns="0" bIns="0" rtlCol="0" anchor="ctr"/>
          <a:lstStyle/>
          <a:p>
            <a:pPr algn="ctr" indent="0" marL="0">
              <a:buNone/>
            </a:pPr>
            <a:r>
              <a:rPr lang="en-US" sz="1400" b="1" dirty="0">
                <a:solidFill>
                  <a:srgbClr val="2B2318"/>
                </a:solidFill>
                <a:latin typeface="Cambria" pitchFamily="34" charset="0"/>
                <a:ea typeface="Cambria" pitchFamily="34" charset="-122"/>
                <a:cs typeface="Cambria" pitchFamily="34" charset="-120"/>
              </a:rPr>
              <a:t>2</a:t>
            </a:r>
            <a:endParaRPr lang="en-US" sz="1400" dirty="0"/>
          </a:p>
        </p:txBody>
      </p:sp>
      <p:sp>
        <p:nvSpPr>
          <p:cNvPr id="8" name="Text 6"/>
          <p:cNvSpPr txBox="1"/>
          <p:nvPr/>
        </p:nvSpPr>
        <p:spPr>
          <a:xfrm>
            <a:off x="4050792" y="4315968"/>
            <a:ext cx="1554480" cy="347472"/>
          </a:xfrm>
          <a:prstGeom prst="rect">
            <a:avLst/>
          </a:prstGeom>
          <a:noFill/>
          <a:ln/>
        </p:spPr>
        <p:txBody>
          <a:bodyPr wrap="square" lIns="0" tIns="0" rIns="0" bIns="0" rtlCol="0" anchor="ctr"/>
          <a:lstStyle/>
          <a:p>
            <a:pPr indent="0" marL="0">
              <a:buNone/>
            </a:pPr>
            <a:r>
              <a:rPr lang="en-US" sz="1300" b="1" dirty="0">
                <a:solidFill>
                  <a:srgbClr val="5A5044"/>
                </a:solidFill>
                <a:latin typeface="Calibri" pitchFamily="34" charset="0"/>
                <a:ea typeface="Calibri" pitchFamily="34" charset="-122"/>
                <a:cs typeface="Calibri" pitchFamily="34" charset="-120"/>
              </a:rPr>
              <a:t>Sachurteil</a:t>
            </a:r>
            <a:endParaRPr lang="en-US" sz="1300" dirty="0"/>
          </a:p>
        </p:txBody>
      </p:sp>
      <p:sp>
        <p:nvSpPr>
          <p:cNvPr id="9" name="Text 7"/>
          <p:cNvSpPr txBox="1"/>
          <p:nvPr/>
        </p:nvSpPr>
        <p:spPr>
          <a:xfrm>
            <a:off x="5760720" y="4315968"/>
            <a:ext cx="347472" cy="347472"/>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0" name="Text 8"/>
          <p:cNvSpPr txBox="1"/>
          <p:nvPr/>
        </p:nvSpPr>
        <p:spPr>
          <a:xfrm>
            <a:off x="6199632" y="4315968"/>
            <a:ext cx="1554480" cy="347472"/>
          </a:xfrm>
          <a:prstGeom prst="rect">
            <a:avLst/>
          </a:prstGeom>
          <a:noFill/>
          <a:ln/>
        </p:spPr>
        <p:txBody>
          <a:bodyPr wrap="square" lIns="0" tIns="0" rIns="0" bIns="0" rtlCol="0" anchor="ctr"/>
          <a:lstStyle/>
          <a:p>
            <a:pPr indent="0" marL="0">
              <a:buNone/>
            </a:pPr>
            <a:r>
              <a:rPr lang="en-US" sz="1300" b="1" dirty="0">
                <a:solidFill>
                  <a:srgbClr val="5A5044"/>
                </a:solidFill>
                <a:latin typeface="Calibri" pitchFamily="34" charset="0"/>
                <a:ea typeface="Calibri" pitchFamily="34" charset="-122"/>
                <a:cs typeface="Calibri" pitchFamily="34" charset="-120"/>
              </a:rPr>
              <a:t>Werturteil</a:t>
            </a:r>
            <a:endParaRPr lang="en-US" sz="1300" dirty="0"/>
          </a:p>
        </p:txBody>
      </p:sp>
      <p:sp>
        <p:nvSpPr>
          <p:cNvPr id="11" name="Text 9"/>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Von der Polis zur Krise</a:t>
            </a:r>
            <a:endParaRPr lang="en-US" sz="900" dirty="0"/>
          </a:p>
        </p:txBody>
      </p:sp>
      <p:sp>
        <p:nvSpPr>
          <p:cNvPr id="12" name="Text 10"/>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URTEILSAMPEL · AUSSAGE 7 VON 8</a:t>
            </a:r>
            <a:endParaRPr lang="en-US" sz="1100" dirty="0"/>
          </a:p>
        </p:txBody>
      </p:sp>
      <p:sp>
        <p:nvSpPr>
          <p:cNvPr id="3" name="Shape 1"/>
          <p:cNvSpPr/>
          <p:nvPr/>
        </p:nvSpPr>
        <p:spPr>
          <a:xfrm>
            <a:off x="457200" y="868680"/>
            <a:ext cx="8229600" cy="3154680"/>
          </a:xfrm>
          <a:prstGeom prst="roundRect">
            <a:avLst>
              <a:gd name="adj" fmla="val 2319"/>
            </a:avLst>
          </a:prstGeom>
          <a:solidFill>
            <a:srgbClr val="F4ECDE"/>
          </a:solidFill>
          <a:ln w="12700">
            <a:solidFill>
              <a:srgbClr val="F4ECDE"/>
            </a:solidFill>
            <a:prstDash val="solid"/>
          </a:ln>
        </p:spPr>
      </p:sp>
      <p:sp>
        <p:nvSpPr>
          <p:cNvPr id="4" name="Text 2"/>
          <p:cNvSpPr txBox="1"/>
          <p:nvPr/>
        </p:nvSpPr>
        <p:spPr>
          <a:xfrm>
            <a:off x="914400" y="1005840"/>
            <a:ext cx="7315200" cy="2880360"/>
          </a:xfrm>
          <a:prstGeom prst="rect">
            <a:avLst/>
          </a:prstGeom>
          <a:noFill/>
          <a:ln/>
        </p:spPr>
        <p:txBody>
          <a:bodyPr wrap="square" lIns="0" tIns="0" rIns="0" bIns="0" rtlCol="0" anchor="ctr"/>
          <a:lstStyle/>
          <a:p>
            <a:pPr algn="ctr" indent="0" marL="0">
              <a:buNone/>
            </a:pPr>
            <a:r>
              <a:rPr lang="en-US" sz="3000" i="1" dirty="0">
                <a:solidFill>
                  <a:srgbClr val="2B2318"/>
                </a:solidFill>
                <a:latin typeface="Cambria" pitchFamily="34" charset="0"/>
                <a:ea typeface="Cambria" pitchFamily="34" charset="-122"/>
                <a:cs typeface="Cambria" pitchFamily="34" charset="-120"/>
              </a:rPr>
              <a:t>„Die Akropolis war Götter- und Herrschersitz.“</a:t>
            </a:r>
            <a:endParaRPr lang="en-US" sz="3000" dirty="0"/>
          </a:p>
        </p:txBody>
      </p:sp>
      <p:sp>
        <p:nvSpPr>
          <p:cNvPr id="5" name="Text 3"/>
          <p:cNvSpPr txBox="1"/>
          <p:nvPr/>
        </p:nvSpPr>
        <p:spPr>
          <a:xfrm>
            <a:off x="1463040" y="4315968"/>
            <a:ext cx="347472" cy="347472"/>
          </a:xfrm>
          <a:prstGeom prst="ellipse">
            <a:avLst/>
          </a:prstGeom>
          <a:solidFill>
            <a:srgbClr val="5A5044"/>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6" name="Text 4"/>
          <p:cNvSpPr txBox="1"/>
          <p:nvPr/>
        </p:nvSpPr>
        <p:spPr>
          <a:xfrm>
            <a:off x="1901952" y="4315968"/>
            <a:ext cx="1554480" cy="347472"/>
          </a:xfrm>
          <a:prstGeom prst="rect">
            <a:avLst/>
          </a:prstGeom>
          <a:noFill/>
          <a:ln/>
        </p:spPr>
        <p:txBody>
          <a:bodyPr wrap="square" lIns="0" tIns="0" rIns="0" bIns="0" rtlCol="0" anchor="ctr"/>
          <a:lstStyle/>
          <a:p>
            <a:pPr indent="0" marL="0">
              <a:buNone/>
            </a:pPr>
            <a:r>
              <a:rPr lang="en-US" sz="1300" b="1" dirty="0">
                <a:solidFill>
                  <a:srgbClr val="5A5044"/>
                </a:solidFill>
                <a:latin typeface="Calibri" pitchFamily="34" charset="0"/>
                <a:ea typeface="Calibri" pitchFamily="34" charset="-122"/>
                <a:cs typeface="Calibri" pitchFamily="34" charset="-120"/>
              </a:rPr>
              <a:t>Beschreibung</a:t>
            </a:r>
            <a:endParaRPr lang="en-US" sz="1300" dirty="0"/>
          </a:p>
        </p:txBody>
      </p:sp>
      <p:sp>
        <p:nvSpPr>
          <p:cNvPr id="7" name="Text 5"/>
          <p:cNvSpPr txBox="1"/>
          <p:nvPr/>
        </p:nvSpPr>
        <p:spPr>
          <a:xfrm>
            <a:off x="3611880" y="4315968"/>
            <a:ext cx="347472" cy="347472"/>
          </a:xfrm>
          <a:prstGeom prst="ellipse">
            <a:avLst/>
          </a:prstGeom>
          <a:solidFill>
            <a:srgbClr val="D9A441"/>
          </a:solidFill>
          <a:ln/>
        </p:spPr>
        <p:txBody>
          <a:bodyPr wrap="square" lIns="0" tIns="0" rIns="0" bIns="0" rtlCol="0" anchor="ctr"/>
          <a:lstStyle/>
          <a:p>
            <a:pPr algn="ctr" indent="0" marL="0">
              <a:buNone/>
            </a:pPr>
            <a:r>
              <a:rPr lang="en-US" sz="1400" b="1" dirty="0">
                <a:solidFill>
                  <a:srgbClr val="2B2318"/>
                </a:solidFill>
                <a:latin typeface="Cambria" pitchFamily="34" charset="0"/>
                <a:ea typeface="Cambria" pitchFamily="34" charset="-122"/>
                <a:cs typeface="Cambria" pitchFamily="34" charset="-120"/>
              </a:rPr>
              <a:t>2</a:t>
            </a:r>
            <a:endParaRPr lang="en-US" sz="1400" dirty="0"/>
          </a:p>
        </p:txBody>
      </p:sp>
      <p:sp>
        <p:nvSpPr>
          <p:cNvPr id="8" name="Text 6"/>
          <p:cNvSpPr txBox="1"/>
          <p:nvPr/>
        </p:nvSpPr>
        <p:spPr>
          <a:xfrm>
            <a:off x="4050792" y="4315968"/>
            <a:ext cx="1554480" cy="347472"/>
          </a:xfrm>
          <a:prstGeom prst="rect">
            <a:avLst/>
          </a:prstGeom>
          <a:noFill/>
          <a:ln/>
        </p:spPr>
        <p:txBody>
          <a:bodyPr wrap="square" lIns="0" tIns="0" rIns="0" bIns="0" rtlCol="0" anchor="ctr"/>
          <a:lstStyle/>
          <a:p>
            <a:pPr indent="0" marL="0">
              <a:buNone/>
            </a:pPr>
            <a:r>
              <a:rPr lang="en-US" sz="1300" b="1" dirty="0">
                <a:solidFill>
                  <a:srgbClr val="5A5044"/>
                </a:solidFill>
                <a:latin typeface="Calibri" pitchFamily="34" charset="0"/>
                <a:ea typeface="Calibri" pitchFamily="34" charset="-122"/>
                <a:cs typeface="Calibri" pitchFamily="34" charset="-120"/>
              </a:rPr>
              <a:t>Sachurteil</a:t>
            </a:r>
            <a:endParaRPr lang="en-US" sz="1300" dirty="0"/>
          </a:p>
        </p:txBody>
      </p:sp>
      <p:sp>
        <p:nvSpPr>
          <p:cNvPr id="9" name="Text 7"/>
          <p:cNvSpPr txBox="1"/>
          <p:nvPr/>
        </p:nvSpPr>
        <p:spPr>
          <a:xfrm>
            <a:off x="5760720" y="4315968"/>
            <a:ext cx="347472" cy="347472"/>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0" name="Text 8"/>
          <p:cNvSpPr txBox="1"/>
          <p:nvPr/>
        </p:nvSpPr>
        <p:spPr>
          <a:xfrm>
            <a:off x="6199632" y="4315968"/>
            <a:ext cx="1554480" cy="347472"/>
          </a:xfrm>
          <a:prstGeom prst="rect">
            <a:avLst/>
          </a:prstGeom>
          <a:noFill/>
          <a:ln/>
        </p:spPr>
        <p:txBody>
          <a:bodyPr wrap="square" lIns="0" tIns="0" rIns="0" bIns="0" rtlCol="0" anchor="ctr"/>
          <a:lstStyle/>
          <a:p>
            <a:pPr indent="0" marL="0">
              <a:buNone/>
            </a:pPr>
            <a:r>
              <a:rPr lang="en-US" sz="1300" b="1" dirty="0">
                <a:solidFill>
                  <a:srgbClr val="5A5044"/>
                </a:solidFill>
                <a:latin typeface="Calibri" pitchFamily="34" charset="0"/>
                <a:ea typeface="Calibri" pitchFamily="34" charset="-122"/>
                <a:cs typeface="Calibri" pitchFamily="34" charset="-120"/>
              </a:rPr>
              <a:t>Werturteil</a:t>
            </a:r>
            <a:endParaRPr lang="en-US" sz="1300" dirty="0"/>
          </a:p>
        </p:txBody>
      </p:sp>
      <p:sp>
        <p:nvSpPr>
          <p:cNvPr id="11" name="Text 9"/>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Von der Polis zur Krise</a:t>
            </a:r>
            <a:endParaRPr lang="en-US" sz="900" dirty="0"/>
          </a:p>
        </p:txBody>
      </p:sp>
      <p:sp>
        <p:nvSpPr>
          <p:cNvPr id="12" name="Text 10"/>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URTEILSAMPEL · AUSSAGE 8 VON 8</a:t>
            </a:r>
            <a:endParaRPr lang="en-US" sz="1100" dirty="0"/>
          </a:p>
        </p:txBody>
      </p:sp>
      <p:sp>
        <p:nvSpPr>
          <p:cNvPr id="3" name="Shape 1"/>
          <p:cNvSpPr/>
          <p:nvPr/>
        </p:nvSpPr>
        <p:spPr>
          <a:xfrm>
            <a:off x="457200" y="868680"/>
            <a:ext cx="8229600" cy="3154680"/>
          </a:xfrm>
          <a:prstGeom prst="roundRect">
            <a:avLst>
              <a:gd name="adj" fmla="val 2319"/>
            </a:avLst>
          </a:prstGeom>
          <a:solidFill>
            <a:srgbClr val="F4ECDE"/>
          </a:solidFill>
          <a:ln w="12700">
            <a:solidFill>
              <a:srgbClr val="F4ECDE"/>
            </a:solidFill>
            <a:prstDash val="solid"/>
          </a:ln>
        </p:spPr>
      </p:sp>
      <p:sp>
        <p:nvSpPr>
          <p:cNvPr id="4" name="Text 2"/>
          <p:cNvSpPr txBox="1"/>
          <p:nvPr/>
        </p:nvSpPr>
        <p:spPr>
          <a:xfrm>
            <a:off x="914400" y="1005840"/>
            <a:ext cx="7315200" cy="2880360"/>
          </a:xfrm>
          <a:prstGeom prst="rect">
            <a:avLst/>
          </a:prstGeom>
          <a:noFill/>
          <a:ln/>
        </p:spPr>
        <p:txBody>
          <a:bodyPr wrap="square" lIns="0" tIns="0" rIns="0" bIns="0" rtlCol="0" anchor="ctr"/>
          <a:lstStyle/>
          <a:p>
            <a:pPr algn="ctr" indent="0" marL="0">
              <a:buNone/>
            </a:pPr>
            <a:r>
              <a:rPr lang="en-US" sz="3000" i="1" dirty="0">
                <a:solidFill>
                  <a:srgbClr val="2B2318"/>
                </a:solidFill>
                <a:latin typeface="Cambria" pitchFamily="34" charset="0"/>
                <a:ea typeface="Cambria" pitchFamily="34" charset="-122"/>
                <a:cs typeface="Cambria" pitchFamily="34" charset="-120"/>
              </a:rPr>
              <a:t>„Aus Sicht der Adligen war es selbstverständlich, dass nur sie Recht sprachen.“</a:t>
            </a:r>
            <a:endParaRPr lang="en-US" sz="3000" dirty="0"/>
          </a:p>
        </p:txBody>
      </p:sp>
      <p:sp>
        <p:nvSpPr>
          <p:cNvPr id="5" name="Text 3"/>
          <p:cNvSpPr txBox="1"/>
          <p:nvPr/>
        </p:nvSpPr>
        <p:spPr>
          <a:xfrm>
            <a:off x="1463040" y="4315968"/>
            <a:ext cx="347472" cy="347472"/>
          </a:xfrm>
          <a:prstGeom prst="ellipse">
            <a:avLst/>
          </a:prstGeom>
          <a:solidFill>
            <a:srgbClr val="5A5044"/>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6" name="Text 4"/>
          <p:cNvSpPr txBox="1"/>
          <p:nvPr/>
        </p:nvSpPr>
        <p:spPr>
          <a:xfrm>
            <a:off x="1901952" y="4315968"/>
            <a:ext cx="1554480" cy="347472"/>
          </a:xfrm>
          <a:prstGeom prst="rect">
            <a:avLst/>
          </a:prstGeom>
          <a:noFill/>
          <a:ln/>
        </p:spPr>
        <p:txBody>
          <a:bodyPr wrap="square" lIns="0" tIns="0" rIns="0" bIns="0" rtlCol="0" anchor="ctr"/>
          <a:lstStyle/>
          <a:p>
            <a:pPr indent="0" marL="0">
              <a:buNone/>
            </a:pPr>
            <a:r>
              <a:rPr lang="en-US" sz="1300" b="1" dirty="0">
                <a:solidFill>
                  <a:srgbClr val="5A5044"/>
                </a:solidFill>
                <a:latin typeface="Calibri" pitchFamily="34" charset="0"/>
                <a:ea typeface="Calibri" pitchFamily="34" charset="-122"/>
                <a:cs typeface="Calibri" pitchFamily="34" charset="-120"/>
              </a:rPr>
              <a:t>Beschreibung</a:t>
            </a:r>
            <a:endParaRPr lang="en-US" sz="1300" dirty="0"/>
          </a:p>
        </p:txBody>
      </p:sp>
      <p:sp>
        <p:nvSpPr>
          <p:cNvPr id="7" name="Text 5"/>
          <p:cNvSpPr txBox="1"/>
          <p:nvPr/>
        </p:nvSpPr>
        <p:spPr>
          <a:xfrm>
            <a:off x="3611880" y="4315968"/>
            <a:ext cx="347472" cy="347472"/>
          </a:xfrm>
          <a:prstGeom prst="ellipse">
            <a:avLst/>
          </a:prstGeom>
          <a:solidFill>
            <a:srgbClr val="D9A441"/>
          </a:solidFill>
          <a:ln/>
        </p:spPr>
        <p:txBody>
          <a:bodyPr wrap="square" lIns="0" tIns="0" rIns="0" bIns="0" rtlCol="0" anchor="ctr"/>
          <a:lstStyle/>
          <a:p>
            <a:pPr algn="ctr" indent="0" marL="0">
              <a:buNone/>
            </a:pPr>
            <a:r>
              <a:rPr lang="en-US" sz="1400" b="1" dirty="0">
                <a:solidFill>
                  <a:srgbClr val="2B2318"/>
                </a:solidFill>
                <a:latin typeface="Cambria" pitchFamily="34" charset="0"/>
                <a:ea typeface="Cambria" pitchFamily="34" charset="-122"/>
                <a:cs typeface="Cambria" pitchFamily="34" charset="-120"/>
              </a:rPr>
              <a:t>2</a:t>
            </a:r>
            <a:endParaRPr lang="en-US" sz="1400" dirty="0"/>
          </a:p>
        </p:txBody>
      </p:sp>
      <p:sp>
        <p:nvSpPr>
          <p:cNvPr id="8" name="Text 6"/>
          <p:cNvSpPr txBox="1"/>
          <p:nvPr/>
        </p:nvSpPr>
        <p:spPr>
          <a:xfrm>
            <a:off x="4050792" y="4315968"/>
            <a:ext cx="1554480" cy="347472"/>
          </a:xfrm>
          <a:prstGeom prst="rect">
            <a:avLst/>
          </a:prstGeom>
          <a:noFill/>
          <a:ln/>
        </p:spPr>
        <p:txBody>
          <a:bodyPr wrap="square" lIns="0" tIns="0" rIns="0" bIns="0" rtlCol="0" anchor="ctr"/>
          <a:lstStyle/>
          <a:p>
            <a:pPr indent="0" marL="0">
              <a:buNone/>
            </a:pPr>
            <a:r>
              <a:rPr lang="en-US" sz="1300" b="1" dirty="0">
                <a:solidFill>
                  <a:srgbClr val="5A5044"/>
                </a:solidFill>
                <a:latin typeface="Calibri" pitchFamily="34" charset="0"/>
                <a:ea typeface="Calibri" pitchFamily="34" charset="-122"/>
                <a:cs typeface="Calibri" pitchFamily="34" charset="-120"/>
              </a:rPr>
              <a:t>Sachurteil</a:t>
            </a:r>
            <a:endParaRPr lang="en-US" sz="1300" dirty="0"/>
          </a:p>
        </p:txBody>
      </p:sp>
      <p:sp>
        <p:nvSpPr>
          <p:cNvPr id="9" name="Text 7"/>
          <p:cNvSpPr txBox="1"/>
          <p:nvPr/>
        </p:nvSpPr>
        <p:spPr>
          <a:xfrm>
            <a:off x="5760720" y="4315968"/>
            <a:ext cx="347472" cy="347472"/>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0" name="Text 8"/>
          <p:cNvSpPr txBox="1"/>
          <p:nvPr/>
        </p:nvSpPr>
        <p:spPr>
          <a:xfrm>
            <a:off x="6199632" y="4315968"/>
            <a:ext cx="1554480" cy="347472"/>
          </a:xfrm>
          <a:prstGeom prst="rect">
            <a:avLst/>
          </a:prstGeom>
          <a:noFill/>
          <a:ln/>
        </p:spPr>
        <p:txBody>
          <a:bodyPr wrap="square" lIns="0" tIns="0" rIns="0" bIns="0" rtlCol="0" anchor="ctr"/>
          <a:lstStyle/>
          <a:p>
            <a:pPr indent="0" marL="0">
              <a:buNone/>
            </a:pPr>
            <a:r>
              <a:rPr lang="en-US" sz="1300" b="1" dirty="0">
                <a:solidFill>
                  <a:srgbClr val="5A5044"/>
                </a:solidFill>
                <a:latin typeface="Calibri" pitchFamily="34" charset="0"/>
                <a:ea typeface="Calibri" pitchFamily="34" charset="-122"/>
                <a:cs typeface="Calibri" pitchFamily="34" charset="-120"/>
              </a:rPr>
              <a:t>Werturteil</a:t>
            </a:r>
            <a:endParaRPr lang="en-US" sz="1300" dirty="0"/>
          </a:p>
        </p:txBody>
      </p:sp>
      <p:sp>
        <p:nvSpPr>
          <p:cNvPr id="11" name="Text 9"/>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Von der Polis zur Krise</a:t>
            </a:r>
            <a:endParaRPr lang="en-US" sz="900" dirty="0"/>
          </a:p>
        </p:txBody>
      </p:sp>
      <p:sp>
        <p:nvSpPr>
          <p:cNvPr id="12" name="Text 10"/>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WIEDERHOLUNG · PARTNERARBEIT · HEFT</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Wie entstanden die Poleis?</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2B2318"/>
          </a:solidFill>
          <a:ln/>
        </p:spPr>
        <p:txBody>
          <a:bodyPr wrap="square" lIns="25400" tIns="25400" rIns="25400" bIns="2540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11 Min.</a:t>
            </a:r>
            <a:endParaRPr lang="en-US" sz="1100" dirty="0"/>
          </a:p>
        </p:txBody>
      </p:sp>
      <p:sp>
        <p:nvSpPr>
          <p:cNvPr id="5" name="Text 3"/>
          <p:cNvSpPr txBox="1"/>
          <p:nvPr/>
        </p:nvSpPr>
        <p:spPr>
          <a:xfrm>
            <a:off x="457200" y="1188720"/>
            <a:ext cx="8229600" cy="548640"/>
          </a:xfrm>
          <a:prstGeom prst="rect">
            <a:avLst/>
          </a:prstGeom>
          <a:noFill/>
          <a:ln/>
        </p:spPr>
        <p:txBody>
          <a:bodyPr wrap="square" lIns="0" tIns="0" rIns="0" bIns="0" rtlCol="0" anchor="t"/>
          <a:lstStyle/>
          <a:p>
            <a:pPr indent="0" marL="0">
              <a:buNone/>
            </a:pPr>
            <a:r>
              <a:rPr lang="en-US" sz="1400" dirty="0">
                <a:solidFill>
                  <a:srgbClr val="2B2318"/>
                </a:solidFill>
                <a:latin typeface="Calibri" pitchFamily="34" charset="0"/>
                <a:ea typeface="Calibri" pitchFamily="34" charset="-122"/>
                <a:cs typeface="Calibri" pitchFamily="34" charset="-120"/>
              </a:rPr>
              <a:t>Legt die Begriffe als Ursache-Folge-Stränge in euer Heft. Beschriftet die Pfeile („führt zu“, „weil“). Ein Begriff darf mehrere Pfeile haben. Heft und LB S. 8–9, 17 sind erlaubt.</a:t>
            </a:r>
            <a:endParaRPr lang="en-US" sz="1400" dirty="0"/>
          </a:p>
        </p:txBody>
      </p:sp>
      <p:sp>
        <p:nvSpPr>
          <p:cNvPr id="6" name="Text 4"/>
          <p:cNvSpPr txBox="1"/>
          <p:nvPr/>
        </p:nvSpPr>
        <p:spPr>
          <a:xfrm>
            <a:off x="457200" y="1874520"/>
            <a:ext cx="3657600" cy="228600"/>
          </a:xfrm>
          <a:prstGeom prst="rect">
            <a:avLst/>
          </a:prstGeom>
          <a:noFill/>
          <a:ln/>
        </p:spPr>
        <p:txBody>
          <a:bodyPr wrap="square" lIns="0" tIns="0" rIns="0" bIns="0" rtlCol="0" anchor="t"/>
          <a:lstStyle/>
          <a:p>
            <a:pPr indent="0" marL="0">
              <a:buNone/>
            </a:pPr>
            <a:r>
              <a:rPr lang="en-US" sz="1100" b="1" spc="200" kern="0" dirty="0">
                <a:solidFill>
                  <a:srgbClr val="5A5044"/>
                </a:solidFill>
                <a:latin typeface="Calibri" pitchFamily="34" charset="0"/>
                <a:ea typeface="Calibri" pitchFamily="34" charset="-122"/>
                <a:cs typeface="Calibri" pitchFamily="34" charset="-120"/>
              </a:rPr>
              <a:t>BEGRIFFE</a:t>
            </a:r>
            <a:endParaRPr lang="en-US" sz="1100" dirty="0"/>
          </a:p>
        </p:txBody>
      </p:sp>
      <p:sp>
        <p:nvSpPr>
          <p:cNvPr id="7" name="Text 5"/>
          <p:cNvSpPr txBox="1"/>
          <p:nvPr/>
        </p:nvSpPr>
        <p:spPr>
          <a:xfrm>
            <a:off x="457200" y="2194560"/>
            <a:ext cx="1965960" cy="457200"/>
          </a:xfrm>
          <a:prstGeom prst="roundRect">
            <a:avLst>
              <a:gd name="adj" fmla="val 20000"/>
            </a:avLst>
          </a:prstGeom>
          <a:solidFill>
            <a:srgbClr val="F4ECDE"/>
          </a:solidFill>
          <a:ln/>
        </p:spPr>
        <p:txBody>
          <a:bodyPr wrap="square" lIns="25400" tIns="25400" rIns="25400" bIns="25400" rtlCol="0" anchor="ctr"/>
          <a:lstStyle/>
          <a:p>
            <a:pPr algn="ctr" indent="0" marL="0">
              <a:buNone/>
            </a:pPr>
            <a:r>
              <a:rPr lang="en-US" sz="1100" b="1" dirty="0">
                <a:solidFill>
                  <a:srgbClr val="2B2318"/>
                </a:solidFill>
                <a:latin typeface="Calibri" pitchFamily="34" charset="0"/>
                <a:ea typeface="Calibri" pitchFamily="34" charset="-122"/>
                <a:cs typeface="Calibri" pitchFamily="34" charset="-120"/>
              </a:rPr>
              <a:t>Gebirge</a:t>
            </a:r>
            <a:endParaRPr lang="en-US" sz="1100" dirty="0"/>
          </a:p>
        </p:txBody>
      </p:sp>
      <p:sp>
        <p:nvSpPr>
          <p:cNvPr id="8" name="Text 6"/>
          <p:cNvSpPr txBox="1"/>
          <p:nvPr/>
        </p:nvSpPr>
        <p:spPr>
          <a:xfrm>
            <a:off x="2514600" y="2194560"/>
            <a:ext cx="1965960" cy="457200"/>
          </a:xfrm>
          <a:prstGeom prst="roundRect">
            <a:avLst>
              <a:gd name="adj" fmla="val 20000"/>
            </a:avLst>
          </a:prstGeom>
          <a:solidFill>
            <a:srgbClr val="F4ECDE"/>
          </a:solidFill>
          <a:ln/>
        </p:spPr>
        <p:txBody>
          <a:bodyPr wrap="square" lIns="25400" tIns="25400" rIns="25400" bIns="25400" rtlCol="0" anchor="ctr"/>
          <a:lstStyle/>
          <a:p>
            <a:pPr algn="ctr" indent="0" marL="0">
              <a:buNone/>
            </a:pPr>
            <a:r>
              <a:rPr lang="en-US" sz="1100" b="1" dirty="0">
                <a:solidFill>
                  <a:srgbClr val="2B2318"/>
                </a:solidFill>
                <a:latin typeface="Calibri" pitchFamily="34" charset="0"/>
                <a:ea typeface="Calibri" pitchFamily="34" charset="-122"/>
                <a:cs typeface="Calibri" pitchFamily="34" charset="-120"/>
              </a:rPr>
              <a:t>kleine fruchtbare Ebenen</a:t>
            </a:r>
            <a:endParaRPr lang="en-US" sz="1100" dirty="0"/>
          </a:p>
        </p:txBody>
      </p:sp>
      <p:sp>
        <p:nvSpPr>
          <p:cNvPr id="9" name="Text 7"/>
          <p:cNvSpPr txBox="1"/>
          <p:nvPr/>
        </p:nvSpPr>
        <p:spPr>
          <a:xfrm>
            <a:off x="457200" y="2761488"/>
            <a:ext cx="1965960" cy="457200"/>
          </a:xfrm>
          <a:prstGeom prst="roundRect">
            <a:avLst>
              <a:gd name="adj" fmla="val 20000"/>
            </a:avLst>
          </a:prstGeom>
          <a:solidFill>
            <a:srgbClr val="F4ECDE"/>
          </a:solidFill>
          <a:ln/>
        </p:spPr>
        <p:txBody>
          <a:bodyPr wrap="square" lIns="25400" tIns="25400" rIns="25400" bIns="25400" rtlCol="0" anchor="ctr"/>
          <a:lstStyle/>
          <a:p>
            <a:pPr algn="ctr" indent="0" marL="0">
              <a:buNone/>
            </a:pPr>
            <a:r>
              <a:rPr lang="en-US" sz="1100" b="1" dirty="0">
                <a:solidFill>
                  <a:srgbClr val="2B2318"/>
                </a:solidFill>
                <a:latin typeface="Calibri" pitchFamily="34" charset="0"/>
                <a:ea typeface="Calibri" pitchFamily="34" charset="-122"/>
                <a:cs typeface="Calibri" pitchFamily="34" charset="-120"/>
              </a:rPr>
              <a:t>knappes Ackerland</a:t>
            </a:r>
            <a:endParaRPr lang="en-US" sz="1100" dirty="0"/>
          </a:p>
        </p:txBody>
      </p:sp>
      <p:sp>
        <p:nvSpPr>
          <p:cNvPr id="10" name="Text 8"/>
          <p:cNvSpPr txBox="1"/>
          <p:nvPr/>
        </p:nvSpPr>
        <p:spPr>
          <a:xfrm>
            <a:off x="2514600" y="2761488"/>
            <a:ext cx="1965960" cy="457200"/>
          </a:xfrm>
          <a:prstGeom prst="roundRect">
            <a:avLst>
              <a:gd name="adj" fmla="val 20000"/>
            </a:avLst>
          </a:prstGeom>
          <a:solidFill>
            <a:srgbClr val="F4ECDE"/>
          </a:solidFill>
          <a:ln/>
        </p:spPr>
        <p:txBody>
          <a:bodyPr wrap="square" lIns="25400" tIns="25400" rIns="25400" bIns="25400" rtlCol="0" anchor="ctr"/>
          <a:lstStyle/>
          <a:p>
            <a:pPr algn="ctr" indent="0" marL="0">
              <a:buNone/>
            </a:pPr>
            <a:r>
              <a:rPr lang="en-US" sz="1100" b="1" dirty="0">
                <a:solidFill>
                  <a:srgbClr val="2B2318"/>
                </a:solidFill>
                <a:latin typeface="Calibri" pitchFamily="34" charset="0"/>
                <a:ea typeface="Calibri" pitchFamily="34" charset="-122"/>
                <a:cs typeface="Calibri" pitchFamily="34" charset="-120"/>
              </a:rPr>
              <a:t>Bevölkerungs­wachstum</a:t>
            </a:r>
            <a:endParaRPr lang="en-US" sz="1100" dirty="0"/>
          </a:p>
        </p:txBody>
      </p:sp>
      <p:sp>
        <p:nvSpPr>
          <p:cNvPr id="11" name="Text 9"/>
          <p:cNvSpPr txBox="1"/>
          <p:nvPr/>
        </p:nvSpPr>
        <p:spPr>
          <a:xfrm>
            <a:off x="457200" y="3328416"/>
            <a:ext cx="1965960" cy="457200"/>
          </a:xfrm>
          <a:prstGeom prst="roundRect">
            <a:avLst>
              <a:gd name="adj" fmla="val 20000"/>
            </a:avLst>
          </a:prstGeom>
          <a:solidFill>
            <a:srgbClr val="F4ECDE"/>
          </a:solidFill>
          <a:ln/>
        </p:spPr>
        <p:txBody>
          <a:bodyPr wrap="square" lIns="25400" tIns="25400" rIns="25400" bIns="25400" rtlCol="0" anchor="ctr"/>
          <a:lstStyle/>
          <a:p>
            <a:pPr algn="ctr" indent="0" marL="0">
              <a:buNone/>
            </a:pPr>
            <a:r>
              <a:rPr lang="en-US" sz="1100" b="1" dirty="0">
                <a:solidFill>
                  <a:srgbClr val="2B2318"/>
                </a:solidFill>
                <a:latin typeface="Calibri" pitchFamily="34" charset="0"/>
                <a:ea typeface="Calibri" pitchFamily="34" charset="-122"/>
                <a:cs typeface="Calibri" pitchFamily="34" charset="-120"/>
              </a:rPr>
              <a:t>Kolonisation</a:t>
            </a:r>
            <a:endParaRPr lang="en-US" sz="1100" dirty="0"/>
          </a:p>
        </p:txBody>
      </p:sp>
      <p:sp>
        <p:nvSpPr>
          <p:cNvPr id="12" name="Text 10"/>
          <p:cNvSpPr txBox="1"/>
          <p:nvPr/>
        </p:nvSpPr>
        <p:spPr>
          <a:xfrm>
            <a:off x="2514600" y="3328416"/>
            <a:ext cx="1965960" cy="457200"/>
          </a:xfrm>
          <a:prstGeom prst="roundRect">
            <a:avLst>
              <a:gd name="adj" fmla="val 20000"/>
            </a:avLst>
          </a:prstGeom>
          <a:solidFill>
            <a:srgbClr val="F4ECDE"/>
          </a:solidFill>
          <a:ln/>
        </p:spPr>
        <p:txBody>
          <a:bodyPr wrap="square" lIns="25400" tIns="25400" rIns="25400" bIns="25400" rtlCol="0" anchor="ctr"/>
          <a:lstStyle/>
          <a:p>
            <a:pPr algn="ctr" indent="0" marL="0">
              <a:buNone/>
            </a:pPr>
            <a:r>
              <a:rPr lang="en-US" sz="1100" b="1" dirty="0">
                <a:solidFill>
                  <a:srgbClr val="2B2318"/>
                </a:solidFill>
                <a:latin typeface="Calibri" pitchFamily="34" charset="0"/>
                <a:ea typeface="Calibri" pitchFamily="34" charset="-122"/>
                <a:cs typeface="Calibri" pitchFamily="34" charset="-120"/>
              </a:rPr>
              <a:t>Polis mit Akropolis, Agora und Mauer</a:t>
            </a:r>
            <a:endParaRPr lang="en-US" sz="1100" dirty="0"/>
          </a:p>
        </p:txBody>
      </p:sp>
      <p:sp>
        <p:nvSpPr>
          <p:cNvPr id="13" name="Text 11"/>
          <p:cNvSpPr txBox="1"/>
          <p:nvPr/>
        </p:nvSpPr>
        <p:spPr>
          <a:xfrm>
            <a:off x="4754880" y="1874520"/>
            <a:ext cx="3657600" cy="228600"/>
          </a:xfrm>
          <a:prstGeom prst="rect">
            <a:avLst/>
          </a:prstGeom>
          <a:noFill/>
          <a:ln/>
        </p:spPr>
        <p:txBody>
          <a:bodyPr wrap="square" lIns="0" tIns="0" rIns="0" bIns="0" rtlCol="0" anchor="t"/>
          <a:lstStyle/>
          <a:p>
            <a:pPr indent="0" marL="0">
              <a:buNone/>
            </a:pPr>
            <a:r>
              <a:rPr lang="en-US" sz="1100" b="1" spc="200" kern="0" dirty="0">
                <a:solidFill>
                  <a:srgbClr val="5A5044"/>
                </a:solidFill>
                <a:latin typeface="Calibri" pitchFamily="34" charset="0"/>
                <a:ea typeface="Calibri" pitchFamily="34" charset="-122"/>
                <a:cs typeface="Calibri" pitchFamily="34" charset="-120"/>
              </a:rPr>
              <a:t>VORGEGEBEN</a:t>
            </a:r>
            <a:endParaRPr lang="en-US" sz="1100" dirty="0"/>
          </a:p>
        </p:txBody>
      </p:sp>
      <p:sp>
        <p:nvSpPr>
          <p:cNvPr id="14" name="Text 12"/>
          <p:cNvSpPr txBox="1"/>
          <p:nvPr/>
        </p:nvSpPr>
        <p:spPr>
          <a:xfrm>
            <a:off x="4754880" y="2194560"/>
            <a:ext cx="1188720" cy="457200"/>
          </a:xfrm>
          <a:prstGeom prst="roundRect">
            <a:avLst>
              <a:gd name="adj" fmla="val 20000"/>
            </a:avLst>
          </a:prstGeom>
          <a:solidFill>
            <a:srgbClr val="2B2318"/>
          </a:solidFill>
          <a:ln/>
        </p:spPr>
        <p:txBody>
          <a:bodyPr wrap="square" lIns="25400" tIns="25400" rIns="25400" bIns="2540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Gebirge</a:t>
            </a:r>
            <a:endParaRPr lang="en-US" sz="1200" dirty="0"/>
          </a:p>
        </p:txBody>
      </p:sp>
      <p:sp>
        <p:nvSpPr>
          <p:cNvPr id="15" name="Shape 13"/>
          <p:cNvSpPr/>
          <p:nvPr/>
        </p:nvSpPr>
        <p:spPr>
          <a:xfrm>
            <a:off x="5989320" y="2423160"/>
            <a:ext cx="548640" cy="0"/>
          </a:xfrm>
          <a:prstGeom prst="line">
            <a:avLst/>
          </a:prstGeom>
          <a:noFill/>
          <a:ln w="28575">
            <a:solidFill>
              <a:srgbClr val="AD4426"/>
            </a:solidFill>
            <a:prstDash val="solid"/>
            <a:tailEnd type="triangle"/>
          </a:ln>
        </p:spPr>
      </p:sp>
      <p:sp>
        <p:nvSpPr>
          <p:cNvPr id="16" name="Text 14"/>
          <p:cNvSpPr txBox="1"/>
          <p:nvPr/>
        </p:nvSpPr>
        <p:spPr>
          <a:xfrm>
            <a:off x="6583680" y="2194560"/>
            <a:ext cx="2103120" cy="457200"/>
          </a:xfrm>
          <a:prstGeom prst="roundRect">
            <a:avLst>
              <a:gd name="adj" fmla="val 20000"/>
            </a:avLst>
          </a:prstGeom>
          <a:solidFill>
            <a:srgbClr val="2B2318"/>
          </a:solidFill>
          <a:ln/>
        </p:spPr>
        <p:txBody>
          <a:bodyPr wrap="square" lIns="25400" tIns="25400" rIns="25400" bIns="2540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kleine fruchtbare Ebenen</a:t>
            </a:r>
            <a:endParaRPr lang="en-US" sz="1200" dirty="0"/>
          </a:p>
        </p:txBody>
      </p:sp>
      <p:sp>
        <p:nvSpPr>
          <p:cNvPr id="17" name="Text 15"/>
          <p:cNvSpPr txBox="1"/>
          <p:nvPr/>
        </p:nvSpPr>
        <p:spPr>
          <a:xfrm>
            <a:off x="4754880" y="3017520"/>
            <a:ext cx="2011680" cy="457200"/>
          </a:xfrm>
          <a:prstGeom prst="roundRect">
            <a:avLst>
              <a:gd name="adj" fmla="val 20000"/>
            </a:avLst>
          </a:prstGeom>
          <a:solidFill>
            <a:srgbClr val="2B2318"/>
          </a:solidFill>
          <a:ln/>
        </p:spPr>
        <p:txBody>
          <a:bodyPr wrap="square" lIns="25400" tIns="25400" rIns="25400" bIns="2540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Adel besitzt das meiste Land</a:t>
            </a:r>
            <a:endParaRPr lang="en-US" sz="1100" dirty="0"/>
          </a:p>
        </p:txBody>
      </p:sp>
      <p:sp>
        <p:nvSpPr>
          <p:cNvPr id="18" name="Shape 16"/>
          <p:cNvSpPr/>
          <p:nvPr/>
        </p:nvSpPr>
        <p:spPr>
          <a:xfrm>
            <a:off x="6812280" y="3246120"/>
            <a:ext cx="365760" cy="0"/>
          </a:xfrm>
          <a:prstGeom prst="line">
            <a:avLst/>
          </a:prstGeom>
          <a:noFill/>
          <a:ln w="28575">
            <a:solidFill>
              <a:srgbClr val="AD4426"/>
            </a:solidFill>
            <a:prstDash val="solid"/>
            <a:tailEnd type="triangle"/>
          </a:ln>
        </p:spPr>
      </p:sp>
      <p:sp>
        <p:nvSpPr>
          <p:cNvPr id="19" name="Text 17"/>
          <p:cNvSpPr txBox="1"/>
          <p:nvPr/>
        </p:nvSpPr>
        <p:spPr>
          <a:xfrm>
            <a:off x="7223760" y="3017520"/>
            <a:ext cx="1463040" cy="457200"/>
          </a:xfrm>
          <a:prstGeom prst="roundRect">
            <a:avLst>
              <a:gd name="adj" fmla="val 20000"/>
            </a:avLst>
          </a:prstGeom>
          <a:solidFill>
            <a:srgbClr val="2B2318"/>
          </a:solidFill>
          <a:ln/>
        </p:spPr>
        <p:txBody>
          <a:bodyPr wrap="square" lIns="25400" tIns="25400" rIns="25400" bIns="2540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Adelsherrschaft</a:t>
            </a:r>
            <a:endParaRPr lang="en-US" sz="1100" dirty="0"/>
          </a:p>
        </p:txBody>
      </p:sp>
      <p:sp>
        <p:nvSpPr>
          <p:cNvPr id="20" name="Shape 18"/>
          <p:cNvSpPr/>
          <p:nvPr/>
        </p:nvSpPr>
        <p:spPr>
          <a:xfrm>
            <a:off x="7955280" y="3520440"/>
            <a:ext cx="0" cy="320040"/>
          </a:xfrm>
          <a:prstGeom prst="line">
            <a:avLst/>
          </a:prstGeom>
          <a:noFill/>
          <a:ln w="28575">
            <a:solidFill>
              <a:srgbClr val="AD4426"/>
            </a:solidFill>
            <a:prstDash val="solid"/>
            <a:tailEnd type="triangle"/>
          </a:ln>
        </p:spPr>
      </p:sp>
      <p:sp>
        <p:nvSpPr>
          <p:cNvPr id="21" name="Text 19"/>
          <p:cNvSpPr txBox="1"/>
          <p:nvPr/>
        </p:nvSpPr>
        <p:spPr>
          <a:xfrm>
            <a:off x="7379208" y="3886200"/>
            <a:ext cx="1143000" cy="502920"/>
          </a:xfrm>
          <a:prstGeom prst="roundRect">
            <a:avLst>
              <a:gd name="adj" fmla="val 18182"/>
            </a:avLst>
          </a:prstGeom>
          <a:solidFill>
            <a:srgbClr val="FBF8F2"/>
          </a:solidFill>
          <a:ln w="19050">
            <a:solidFill>
              <a:srgbClr val="AD4426"/>
            </a:solidFill>
            <a:prstDash val="dash"/>
          </a:ln>
        </p:spPr>
        <p:txBody>
          <a:bodyPr wrap="square" lIns="0" tIns="0" rIns="0" bIns="0" rtlCol="0" anchor="ctr"/>
          <a:lstStyle/>
          <a:p>
            <a:pPr algn="ctr" indent="0" marL="0">
              <a:buNone/>
            </a:pPr>
            <a:r>
              <a:rPr lang="en-US" sz="2200" b="1" dirty="0">
                <a:solidFill>
                  <a:srgbClr val="AD4426"/>
                </a:solidFill>
                <a:latin typeface="Cambria" pitchFamily="34" charset="0"/>
                <a:ea typeface="Cambria" pitchFamily="34" charset="-122"/>
                <a:cs typeface="Cambria" pitchFamily="34" charset="-120"/>
              </a:rPr>
              <a:t>?</a:t>
            </a:r>
            <a:endParaRPr lang="en-US" sz="2200" dirty="0"/>
          </a:p>
        </p:txBody>
      </p:sp>
      <p:sp>
        <p:nvSpPr>
          <p:cNvPr id="22" name="Text 20"/>
          <p:cNvSpPr txBox="1"/>
          <p:nvPr/>
        </p:nvSpPr>
        <p:spPr>
          <a:xfrm>
            <a:off x="4572000" y="3977640"/>
            <a:ext cx="2651760" cy="320040"/>
          </a:xfrm>
          <a:prstGeom prst="rect">
            <a:avLst/>
          </a:prstGeom>
          <a:noFill/>
          <a:ln/>
        </p:spPr>
        <p:txBody>
          <a:bodyPr wrap="square" lIns="0" tIns="0" rIns="0" bIns="0" rtlCol="0" anchor="t"/>
          <a:lstStyle/>
          <a:p>
            <a:pPr algn="r" indent="0" marL="0">
              <a:buNone/>
            </a:pPr>
            <a:r>
              <a:rPr lang="en-US" sz="1400" b="1" dirty="0">
                <a:solidFill>
                  <a:srgbClr val="AD4426"/>
                </a:solidFill>
                <a:latin typeface="Calibri" pitchFamily="34" charset="0"/>
                <a:ea typeface="Calibri" pitchFamily="34" charset="-122"/>
                <a:cs typeface="Calibri" pitchFamily="34" charset="-120"/>
              </a:rPr>
              <a:t>Was folgt daraus?</a:t>
            </a:r>
            <a:endParaRPr lang="en-US" sz="1400" dirty="0"/>
          </a:p>
        </p:txBody>
      </p:sp>
      <p:sp>
        <p:nvSpPr>
          <p:cNvPr id="23" name="Text 21"/>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Von der Polis zur Krise</a:t>
            </a:r>
            <a:endParaRPr lang="en-US" sz="900" dirty="0"/>
          </a:p>
        </p:txBody>
      </p:sp>
      <p:sp>
        <p:nvSpPr>
          <p:cNvPr id="24" name="Text 22"/>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WIEDERHOLUNG · EINZELARBEIT · HEFT</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Ein Sachurteil formulieren</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2B2318"/>
          </a:solidFill>
          <a:ln/>
        </p:spPr>
        <p:txBody>
          <a:bodyPr wrap="square" lIns="25400" tIns="25400" rIns="25400" bIns="2540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 Min.</a:t>
            </a:r>
            <a:endParaRPr lang="en-US" sz="1100" dirty="0"/>
          </a:p>
        </p:txBody>
      </p:sp>
      <p:sp>
        <p:nvSpPr>
          <p:cNvPr id="5" name="Shape 3"/>
          <p:cNvSpPr/>
          <p:nvPr/>
        </p:nvSpPr>
        <p:spPr>
          <a:xfrm>
            <a:off x="457200" y="1325880"/>
            <a:ext cx="8229600" cy="1005840"/>
          </a:xfrm>
          <a:prstGeom prst="roundRect">
            <a:avLst>
              <a:gd name="adj" fmla="val 7273"/>
            </a:avLst>
          </a:prstGeom>
          <a:solidFill>
            <a:srgbClr val="2B2318"/>
          </a:solidFill>
          <a:ln w="12700">
            <a:solidFill>
              <a:srgbClr val="2B2318"/>
            </a:solidFill>
            <a:prstDash val="solid"/>
          </a:ln>
        </p:spPr>
      </p:sp>
      <p:sp>
        <p:nvSpPr>
          <p:cNvPr id="6" name="Text 4"/>
          <p:cNvSpPr txBox="1"/>
          <p:nvPr/>
        </p:nvSpPr>
        <p:spPr>
          <a:xfrm>
            <a:off x="731520" y="1417320"/>
            <a:ext cx="7680960" cy="82296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Welcher Faktor war für die Entstehung der Poleis am wichtigsten?</a:t>
            </a:r>
            <a:endParaRPr lang="en-US" sz="2200" dirty="0"/>
          </a:p>
        </p:txBody>
      </p:sp>
      <p:sp>
        <p:nvSpPr>
          <p:cNvPr id="7" name="Shape 5"/>
          <p:cNvSpPr/>
          <p:nvPr/>
        </p:nvSpPr>
        <p:spPr>
          <a:xfrm>
            <a:off x="457200" y="2560320"/>
            <a:ext cx="4754880" cy="1691640"/>
          </a:xfrm>
          <a:prstGeom prst="roundRect">
            <a:avLst>
              <a:gd name="adj" fmla="val 4324"/>
            </a:avLst>
          </a:prstGeom>
          <a:solidFill>
            <a:srgbClr val="F4ECDE"/>
          </a:solidFill>
          <a:ln w="12700">
            <a:solidFill>
              <a:srgbClr val="F4ECDE"/>
            </a:solidFill>
            <a:prstDash val="solid"/>
          </a:ln>
        </p:spPr>
      </p:sp>
      <p:sp>
        <p:nvSpPr>
          <p:cNvPr id="8" name="Text 6"/>
          <p:cNvSpPr txBox="1"/>
          <p:nvPr/>
        </p:nvSpPr>
        <p:spPr>
          <a:xfrm>
            <a:off x="685800" y="2697480"/>
            <a:ext cx="4389120" cy="548640"/>
          </a:xfrm>
          <a:prstGeom prst="rect">
            <a:avLst/>
          </a:prstGeom>
          <a:noFill/>
          <a:ln/>
        </p:spPr>
        <p:txBody>
          <a:bodyPr wrap="square" lIns="0" tIns="0" rIns="0" bIns="0" rtlCol="0" anchor="t"/>
          <a:lstStyle/>
          <a:p>
            <a:pPr indent="0" marL="0">
              <a:buNone/>
            </a:pPr>
            <a:r>
              <a:rPr lang="en-US" sz="1400" b="1" dirty="0">
                <a:solidFill>
                  <a:srgbClr val="2B2318"/>
                </a:solidFill>
                <a:latin typeface="Calibri" pitchFamily="34" charset="0"/>
                <a:ea typeface="Calibri" pitchFamily="34" charset="-122"/>
                <a:cs typeface="Calibri" pitchFamily="34" charset="-120"/>
              </a:rPr>
              <a:t>Schreibt 2–3 Sätze. Nutzt eure Ursachenstränge.</a:t>
            </a:r>
            <a:endParaRPr lang="en-US" sz="1400" dirty="0"/>
          </a:p>
        </p:txBody>
      </p:sp>
      <p:sp>
        <p:nvSpPr>
          <p:cNvPr id="9" name="Text 7"/>
          <p:cNvSpPr txBox="1"/>
          <p:nvPr/>
        </p:nvSpPr>
        <p:spPr>
          <a:xfrm>
            <a:off x="685800" y="3337560"/>
            <a:ext cx="4389120" cy="822960"/>
          </a:xfrm>
          <a:prstGeom prst="rect">
            <a:avLst/>
          </a:prstGeom>
          <a:noFill/>
          <a:ln/>
        </p:spPr>
        <p:txBody>
          <a:bodyPr wrap="square" lIns="0" tIns="0" rIns="0" bIns="0" rtlCol="0" anchor="t"/>
          <a:lstStyle/>
          <a:p>
            <a:pPr indent="0" marL="0">
              <a:buNone/>
            </a:pPr>
            <a:r>
              <a:rPr lang="en-US" sz="1400" i="1" dirty="0">
                <a:solidFill>
                  <a:srgbClr val="5A5044"/>
                </a:solidFill>
                <a:latin typeface="Calibri" pitchFamily="34" charset="0"/>
                <a:ea typeface="Calibri" pitchFamily="34" charset="-122"/>
                <a:cs typeface="Calibri" pitchFamily="34" charset="-120"/>
              </a:rPr>
              <a:t>„Im Kontext der damaligen Zeit war … am wichtigsten, da … Dies führte zu …“</a:t>
            </a:r>
            <a:endParaRPr lang="en-US" sz="1400" dirty="0"/>
          </a:p>
        </p:txBody>
      </p:sp>
      <p:sp>
        <p:nvSpPr>
          <p:cNvPr id="10" name="Shape 8"/>
          <p:cNvSpPr/>
          <p:nvPr/>
        </p:nvSpPr>
        <p:spPr>
          <a:xfrm>
            <a:off x="5440680" y="2560320"/>
            <a:ext cx="3246120" cy="1691640"/>
          </a:xfrm>
          <a:prstGeom prst="roundRect">
            <a:avLst>
              <a:gd name="adj" fmla="val 4324"/>
            </a:avLst>
          </a:prstGeom>
          <a:solidFill>
            <a:srgbClr val="FBF8F2"/>
          </a:solidFill>
          <a:ln w="19050">
            <a:solidFill>
              <a:srgbClr val="D9A441"/>
            </a:solidFill>
            <a:prstDash val="solid"/>
          </a:ln>
        </p:spPr>
      </p:sp>
      <p:sp>
        <p:nvSpPr>
          <p:cNvPr id="11" name="Text 9"/>
          <p:cNvSpPr txBox="1"/>
          <p:nvPr/>
        </p:nvSpPr>
        <p:spPr>
          <a:xfrm>
            <a:off x="5669280" y="2697480"/>
            <a:ext cx="2834640" cy="320040"/>
          </a:xfrm>
          <a:prstGeom prst="rect">
            <a:avLst/>
          </a:prstGeom>
          <a:noFill/>
          <a:ln/>
        </p:spPr>
        <p:txBody>
          <a:bodyPr wrap="square" lIns="0" tIns="0" rIns="0" bIns="0" rtlCol="0" anchor="t"/>
          <a:lstStyle/>
          <a:p>
            <a:pPr indent="0" marL="0">
              <a:buNone/>
            </a:pPr>
            <a:r>
              <a:rPr lang="en-US" sz="1500" b="1" dirty="0">
                <a:solidFill>
                  <a:srgbClr val="AD4426"/>
                </a:solidFill>
                <a:latin typeface="Cambria" pitchFamily="34" charset="0"/>
                <a:ea typeface="Cambria" pitchFamily="34" charset="-122"/>
                <a:cs typeface="Cambria" pitchFamily="34" charset="-120"/>
              </a:rPr>
              <a:t>Partnercheck</a:t>
            </a:r>
            <a:endParaRPr lang="en-US" sz="1500" dirty="0"/>
          </a:p>
        </p:txBody>
      </p:sp>
      <p:sp>
        <p:nvSpPr>
          <p:cNvPr id="12" name="Shape 10"/>
          <p:cNvSpPr/>
          <p:nvPr/>
        </p:nvSpPr>
        <p:spPr>
          <a:xfrm>
            <a:off x="5669280" y="3154680"/>
            <a:ext cx="219456" cy="219456"/>
          </a:xfrm>
          <a:prstGeom prst="roundRect">
            <a:avLst>
              <a:gd name="adj" fmla="val 16667"/>
            </a:avLst>
          </a:prstGeom>
          <a:solidFill>
            <a:srgbClr val="FFFFFF"/>
          </a:solidFill>
          <a:ln w="19050">
            <a:solidFill>
              <a:srgbClr val="D9A441"/>
            </a:solidFill>
            <a:prstDash val="solid"/>
          </a:ln>
        </p:spPr>
      </p:sp>
      <p:sp>
        <p:nvSpPr>
          <p:cNvPr id="13" name="Text 11"/>
          <p:cNvSpPr txBox="1"/>
          <p:nvPr/>
        </p:nvSpPr>
        <p:spPr>
          <a:xfrm>
            <a:off x="5989320" y="3108960"/>
            <a:ext cx="2606040" cy="310896"/>
          </a:xfrm>
          <a:prstGeom prst="rect">
            <a:avLst/>
          </a:prstGeom>
          <a:noFill/>
          <a:ln/>
        </p:spPr>
        <p:txBody>
          <a:bodyPr wrap="square" lIns="0" tIns="0" rIns="0" bIns="0" rtlCol="0" anchor="ctr"/>
          <a:lstStyle/>
          <a:p>
            <a:pPr indent="0" marL="0">
              <a:buNone/>
            </a:pPr>
            <a:r>
              <a:rPr lang="en-US" sz="1300" dirty="0">
                <a:solidFill>
                  <a:srgbClr val="2B2318"/>
                </a:solidFill>
                <a:latin typeface="Calibri" pitchFamily="34" charset="0"/>
                <a:ea typeface="Calibri" pitchFamily="34" charset="-122"/>
                <a:cs typeface="Calibri" pitchFamily="34" charset="-120"/>
              </a:rPr>
              <a:t>Maßstäbe der damaligen Zeit</a:t>
            </a:r>
            <a:endParaRPr lang="en-US" sz="1300" dirty="0"/>
          </a:p>
        </p:txBody>
      </p:sp>
      <p:sp>
        <p:nvSpPr>
          <p:cNvPr id="14" name="Shape 12"/>
          <p:cNvSpPr/>
          <p:nvPr/>
        </p:nvSpPr>
        <p:spPr>
          <a:xfrm>
            <a:off x="5669280" y="3611880"/>
            <a:ext cx="219456" cy="219456"/>
          </a:xfrm>
          <a:prstGeom prst="roundRect">
            <a:avLst>
              <a:gd name="adj" fmla="val 16667"/>
            </a:avLst>
          </a:prstGeom>
          <a:solidFill>
            <a:srgbClr val="FFFFFF"/>
          </a:solidFill>
          <a:ln w="19050">
            <a:solidFill>
              <a:srgbClr val="D9A441"/>
            </a:solidFill>
            <a:prstDash val="solid"/>
          </a:ln>
        </p:spPr>
      </p:sp>
      <p:sp>
        <p:nvSpPr>
          <p:cNvPr id="15" name="Text 13"/>
          <p:cNvSpPr txBox="1"/>
          <p:nvPr/>
        </p:nvSpPr>
        <p:spPr>
          <a:xfrm>
            <a:off x="5989320" y="3566160"/>
            <a:ext cx="2606040" cy="310896"/>
          </a:xfrm>
          <a:prstGeom prst="rect">
            <a:avLst/>
          </a:prstGeom>
          <a:noFill/>
          <a:ln/>
        </p:spPr>
        <p:txBody>
          <a:bodyPr wrap="square" lIns="0" tIns="0" rIns="0" bIns="0" rtlCol="0" anchor="ctr"/>
          <a:lstStyle/>
          <a:p>
            <a:pPr indent="0" marL="0">
              <a:buNone/>
            </a:pPr>
            <a:r>
              <a:rPr lang="en-US" sz="1300" dirty="0">
                <a:solidFill>
                  <a:srgbClr val="2B2318"/>
                </a:solidFill>
                <a:latin typeface="Calibri" pitchFamily="34" charset="0"/>
                <a:ea typeface="Calibri" pitchFamily="34" charset="-122"/>
                <a:cs typeface="Calibri" pitchFamily="34" charset="-120"/>
              </a:rPr>
              <a:t>begründet (weil, da, führte zu)</a:t>
            </a:r>
            <a:endParaRPr lang="en-US" sz="1300" dirty="0"/>
          </a:p>
        </p:txBody>
      </p:sp>
      <p:sp>
        <p:nvSpPr>
          <p:cNvPr id="16" name="Text 14"/>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Von der Polis zur Krise</a:t>
            </a:r>
            <a:endParaRPr lang="en-US" sz="900" dirty="0"/>
          </a:p>
        </p:txBody>
      </p:sp>
      <p:sp>
        <p:nvSpPr>
          <p:cNvPr id="17" name="Text 15"/>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2B2318"/>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indent="0" marL="0">
              <a:buNone/>
            </a:pPr>
            <a:r>
              <a:rPr lang="en-US" sz="1100" b="1" spc="200" kern="0" dirty="0">
                <a:solidFill>
                  <a:srgbClr val="D9A441"/>
                </a:solidFill>
                <a:latin typeface="Calibri" pitchFamily="34" charset="0"/>
                <a:ea typeface="Calibri" pitchFamily="34" charset="-122"/>
                <a:cs typeface="Calibri" pitchFamily="34" charset="-120"/>
              </a:rPr>
              <a:t>EINSTIEG · HÖRTEXT</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Athen um 600 v. Chr.</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D9A441"/>
          </a:solidFill>
          <a:ln/>
        </p:spPr>
        <p:txBody>
          <a:bodyPr wrap="square" lIns="25400" tIns="25400" rIns="25400" bIns="25400" rtlCol="0" anchor="ctr"/>
          <a:lstStyle/>
          <a:p>
            <a:pPr algn="ctr" indent="0" marL="0">
              <a:buNone/>
            </a:pPr>
            <a:r>
              <a:rPr lang="en-US" sz="1100" b="1" dirty="0">
                <a:solidFill>
                  <a:srgbClr val="2B2318"/>
                </a:solidFill>
                <a:latin typeface="Calibri" pitchFamily="34" charset="0"/>
                <a:ea typeface="Calibri" pitchFamily="34" charset="-122"/>
                <a:cs typeface="Calibri" pitchFamily="34" charset="-120"/>
              </a:rPr>
              <a:t>45 Sek.</a:t>
            </a:r>
            <a:endParaRPr lang="en-US" sz="1100" dirty="0"/>
          </a:p>
        </p:txBody>
      </p:sp>
      <p:sp>
        <p:nvSpPr>
          <p:cNvPr id="5" name="Shape 3"/>
          <p:cNvSpPr/>
          <p:nvPr/>
        </p:nvSpPr>
        <p:spPr>
          <a:xfrm>
            <a:off x="457200" y="1371600"/>
            <a:ext cx="4937760" cy="2377440"/>
          </a:xfrm>
          <a:prstGeom prst="roundRect">
            <a:avLst>
              <a:gd name="adj" fmla="val 3077"/>
            </a:avLst>
          </a:prstGeom>
          <a:solidFill>
            <a:srgbClr val="3A3024"/>
          </a:solidFill>
          <a:ln w="12700">
            <a:solidFill>
              <a:srgbClr val="3A3024"/>
            </a:solidFill>
            <a:prstDash val="solid"/>
          </a:ln>
        </p:spPr>
      </p:sp>
      <p:sp>
        <p:nvSpPr>
          <p:cNvPr id="6" name="Text 4"/>
          <p:cNvSpPr txBox="1"/>
          <p:nvPr/>
        </p:nvSpPr>
        <p:spPr>
          <a:xfrm>
            <a:off x="731520" y="1554480"/>
            <a:ext cx="4389120" cy="365760"/>
          </a:xfrm>
          <a:prstGeom prst="rect">
            <a:avLst/>
          </a:prstGeom>
          <a:noFill/>
          <a:ln/>
        </p:spPr>
        <p:txBody>
          <a:bodyPr wrap="square" lIns="0" tIns="0" rIns="0" bIns="0" rtlCol="0" anchor="t"/>
          <a:lstStyle/>
          <a:p>
            <a:pPr indent="0" marL="0">
              <a:buNone/>
            </a:pPr>
            <a:r>
              <a:rPr lang="en-US" sz="1600" b="1" dirty="0">
                <a:solidFill>
                  <a:srgbClr val="D9A441"/>
                </a:solidFill>
                <a:latin typeface="Calibri" pitchFamily="34" charset="0"/>
                <a:ea typeface="Calibri" pitchFamily="34" charset="-122"/>
                <a:cs typeface="Calibri" pitchFamily="34" charset="-120"/>
              </a:rPr>
              <a:t>Hörauftrag</a:t>
            </a:r>
            <a:endParaRPr lang="en-US" sz="1600" dirty="0"/>
          </a:p>
        </p:txBody>
      </p:sp>
      <p:sp>
        <p:nvSpPr>
          <p:cNvPr id="7" name="Text 5"/>
          <p:cNvSpPr txBox="1"/>
          <p:nvPr/>
        </p:nvSpPr>
        <p:spPr>
          <a:xfrm>
            <a:off x="731520" y="1965960"/>
            <a:ext cx="4389120" cy="1097280"/>
          </a:xfrm>
          <a:prstGeom prst="rect">
            <a:avLst/>
          </a:prstGeom>
          <a:noFill/>
          <a:ln/>
        </p:spPr>
        <p:txBody>
          <a:bodyPr wrap="square" lIns="0" tIns="0" rIns="0" bIns="0" rtlCol="0" anchor="t"/>
          <a:lstStyle/>
          <a:p>
            <a:pPr indent="0" marL="0">
              <a:buNone/>
            </a:pPr>
            <a:r>
              <a:rPr lang="en-US" sz="2200" b="1" dirty="0">
                <a:solidFill>
                  <a:srgbClr val="FFFFFF"/>
                </a:solidFill>
                <a:latin typeface="Cambria" pitchFamily="34" charset="0"/>
                <a:ea typeface="Cambria" pitchFamily="34" charset="-122"/>
                <a:cs typeface="Cambria" pitchFamily="34" charset="-120"/>
              </a:rPr>
              <a:t>Notiert beim Hören: Welche Probleme hat Athen?</a:t>
            </a:r>
            <a:endParaRPr lang="en-US" sz="2200" dirty="0"/>
          </a:p>
        </p:txBody>
      </p:sp>
      <p:sp>
        <p:nvSpPr>
          <p:cNvPr id="8" name="Text 6"/>
          <p:cNvSpPr txBox="1"/>
          <p:nvPr/>
        </p:nvSpPr>
        <p:spPr>
          <a:xfrm>
            <a:off x="731520" y="3154680"/>
            <a:ext cx="4389120" cy="365760"/>
          </a:xfrm>
          <a:prstGeom prst="rect">
            <a:avLst/>
          </a:prstGeom>
          <a:noFill/>
          <a:ln/>
        </p:spPr>
        <p:txBody>
          <a:bodyPr wrap="square" lIns="0" tIns="0" rIns="0" bIns="0" rtlCol="0" anchor="t"/>
          <a:lstStyle/>
          <a:p>
            <a:pPr indent="0" marL="0">
              <a:buNone/>
            </a:pPr>
            <a:r>
              <a:rPr lang="en-US" sz="1400" dirty="0">
                <a:solidFill>
                  <a:srgbClr val="E8DFD0"/>
                </a:solidFill>
                <a:latin typeface="Calibri" pitchFamily="34" charset="0"/>
                <a:ea typeface="Calibri" pitchFamily="34" charset="-122"/>
                <a:cs typeface="Calibri" pitchFamily="34" charset="-120"/>
              </a:rPr>
              <a:t>Vergleicht danach mit eurem leeren Kästchen.</a:t>
            </a:r>
            <a:endParaRPr lang="en-US" sz="14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6217920" y="1920240"/>
            <a:ext cx="1280160" cy="1280160"/>
          </a:xfrm>
          <a:prstGeom prst="rect">
            <a:avLst/>
          </a:prstGeom>
        </p:spPr>
      </p:pic>
      <p:sp>
        <p:nvSpPr>
          <p:cNvPr id="10" name="Text 7"/>
          <p:cNvSpPr txBox="1"/>
          <p:nvPr/>
        </p:nvSpPr>
        <p:spPr>
          <a:xfrm>
            <a:off x="5669280" y="3291840"/>
            <a:ext cx="2377440" cy="274320"/>
          </a:xfrm>
          <a:prstGeom prst="rect">
            <a:avLst/>
          </a:prstGeom>
          <a:noFill/>
          <a:ln/>
        </p:spPr>
        <p:txBody>
          <a:bodyPr wrap="square" lIns="0" tIns="0" rIns="0" bIns="0" rtlCol="0" anchor="t"/>
          <a:lstStyle/>
          <a:p>
            <a:pPr algn="ctr" indent="0" marL="0">
              <a:buNone/>
            </a:pPr>
            <a:r>
              <a:rPr lang="en-US" sz="1000" dirty="0">
                <a:solidFill>
                  <a:srgbClr val="998C77"/>
                </a:solidFill>
                <a:latin typeface="Calibri" pitchFamily="34" charset="0"/>
                <a:ea typeface="Calibri" pitchFamily="34" charset="-122"/>
                <a:cs typeface="Calibri" pitchFamily="34" charset="-120"/>
              </a:rPr>
              <a:t>Zum Abspielen auf das Symbol klicken</a:t>
            </a:r>
            <a:endParaRPr lang="en-US" sz="1000" dirty="0"/>
          </a:p>
        </p:txBody>
      </p:sp>
      <p:sp>
        <p:nvSpPr>
          <p:cNvPr id="11" name="Text 8"/>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TAFELBILD · INS HEFT ÜBERNEHMEN</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Wer löst die Krise?</a:t>
            </a:r>
            <a:endParaRPr lang="en-US" sz="28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8229600" cy="914400"/>
        </p:xfrm>
        <a:graphic>
          <a:graphicData uri="http://schemas.openxmlformats.org/drawingml/2006/table">
            <a:tbl>
              <a:tblPr/>
              <a:tblGrid>
                <a:gridCol w="640080"/>
                <a:gridCol w="4297680"/>
                <a:gridCol w="1645920"/>
                <a:gridCol w="1645920"/>
              </a:tblGrid>
              <a:tr h="475488">
                <a:tc>
                  <a:txBody>
                    <a:bodyPr/>
                    <a:lstStyle/>
                    <a:p>
                      <a:pPr indent="0" marL="0">
                        <a:buNone/>
                      </a:pPr>
                      <a:endParaRPr lang="en-US" sz="1500" dirty="0">
                        <a:latin typeface="Calibri" charset="0"/>
                        <a:ea typeface="Calibri" charset="0"/>
                        <a:cs typeface="Calibri"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FFFFF"/>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Problem</a:t>
                      </a:r>
                      <a:endParaRPr lang="en-US" sz="1500" dirty="0">
                        <a:latin typeface="Calibri" charset="0"/>
                        <a:ea typeface="Calibri" charset="0"/>
                        <a:cs typeface="Calibri"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2B2318"/>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Drakon</a:t>
                      </a:r>
                      <a:endParaRPr lang="en-US" sz="1500" dirty="0">
                        <a:latin typeface="Calibri" charset="0"/>
                        <a:ea typeface="Calibri" charset="0"/>
                        <a:cs typeface="Calibri"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2B2318"/>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Solon</a:t>
                      </a:r>
                      <a:endParaRPr lang="en-US" sz="1500" dirty="0">
                        <a:latin typeface="Calibri" charset="0"/>
                        <a:ea typeface="Calibri" charset="0"/>
                        <a:cs typeface="Calibri"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2B2318"/>
                    </a:solidFill>
                  </a:tcPr>
                </a:tc>
              </a:tr>
              <a:tr h="475488">
                <a:tc>
                  <a:txBody>
                    <a:bodyPr/>
                    <a:lstStyle/>
                    <a:p>
                      <a:pPr indent="0" marL="0">
                        <a:buNone/>
                      </a:pPr>
                      <a:r>
                        <a:rPr lang="en-US" sz="1500" b="1" dirty="0">
                          <a:solidFill>
                            <a:srgbClr val="AD4426"/>
                          </a:solidFill>
                          <a:latin typeface="Cambria" pitchFamily="34" charset="0"/>
                          <a:ea typeface="Cambria" pitchFamily="34" charset="-122"/>
                          <a:cs typeface="Cambria" pitchFamily="34" charset="-120"/>
                        </a:rPr>
                        <a:t>P1</a:t>
                      </a:r>
                      <a:endParaRPr lang="en-US" sz="1500" dirty="0">
                        <a:latin typeface="Cambria" charset="0"/>
                        <a:ea typeface="Cambria" charset="0"/>
                        <a:cs typeface="Cambria"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1500" dirty="0">
                          <a:solidFill>
                            <a:srgbClr val="2B2318"/>
                          </a:solidFill>
                          <a:latin typeface="Calibri" pitchFamily="34" charset="0"/>
                          <a:ea typeface="Calibri" pitchFamily="34" charset="-122"/>
                          <a:cs typeface="Calibri" pitchFamily="34" charset="-120"/>
                        </a:rPr>
                        <a:t>Schuldknechtschaft</a:t>
                      </a:r>
                      <a:endParaRPr lang="en-US" sz="1500" dirty="0">
                        <a:latin typeface="Calibri" charset="0"/>
                        <a:ea typeface="Calibri" charset="0"/>
                        <a:cs typeface="Calibri"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800" dirty="0">
                        <a:latin typeface="Calibri" charset="0"/>
                        <a:ea typeface="Calibri" charset="0"/>
                        <a:cs typeface="Calibri"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800" dirty="0">
                        <a:latin typeface="Calibri" charset="0"/>
                        <a:ea typeface="Calibri" charset="0"/>
                        <a:cs typeface="Calibri"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r>
              <a:tr h="475488">
                <a:tc>
                  <a:txBody>
                    <a:bodyPr/>
                    <a:lstStyle/>
                    <a:p>
                      <a:pPr indent="0" marL="0">
                        <a:buNone/>
                      </a:pPr>
                      <a:r>
                        <a:rPr lang="en-US" sz="1500" b="1" dirty="0">
                          <a:solidFill>
                            <a:srgbClr val="AD4426"/>
                          </a:solidFill>
                          <a:latin typeface="Cambria" pitchFamily="34" charset="0"/>
                          <a:ea typeface="Cambria" pitchFamily="34" charset="-122"/>
                          <a:cs typeface="Cambria" pitchFamily="34" charset="-120"/>
                        </a:rPr>
                        <a:t>P2</a:t>
                      </a:r>
                      <a:endParaRPr lang="en-US" sz="1500" dirty="0">
                        <a:latin typeface="Cambria" charset="0"/>
                        <a:ea typeface="Cambria" charset="0"/>
                        <a:cs typeface="Cambria"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1500" dirty="0">
                          <a:solidFill>
                            <a:srgbClr val="2B2318"/>
                          </a:solidFill>
                          <a:latin typeface="Calibri" pitchFamily="34" charset="0"/>
                          <a:ea typeface="Calibri" pitchFamily="34" charset="-122"/>
                          <a:cs typeface="Calibri" pitchFamily="34" charset="-120"/>
                        </a:rPr>
                        <a:t>Land in den Händen weniger</a:t>
                      </a:r>
                      <a:endParaRPr lang="en-US" sz="1500" dirty="0">
                        <a:latin typeface="Calibri" charset="0"/>
                        <a:ea typeface="Calibri" charset="0"/>
                        <a:cs typeface="Calibri"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800" dirty="0">
                        <a:latin typeface="Calibri" charset="0"/>
                        <a:ea typeface="Calibri" charset="0"/>
                        <a:cs typeface="Calibri"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800" dirty="0">
                        <a:latin typeface="Calibri" charset="0"/>
                        <a:ea typeface="Calibri" charset="0"/>
                        <a:cs typeface="Calibri"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r>
              <a:tr h="475488">
                <a:tc>
                  <a:txBody>
                    <a:bodyPr/>
                    <a:lstStyle/>
                    <a:p>
                      <a:pPr indent="0" marL="0">
                        <a:buNone/>
                      </a:pPr>
                      <a:r>
                        <a:rPr lang="en-US" sz="1500" b="1" dirty="0">
                          <a:solidFill>
                            <a:srgbClr val="AD4426"/>
                          </a:solidFill>
                          <a:latin typeface="Cambria" pitchFamily="34" charset="0"/>
                          <a:ea typeface="Cambria" pitchFamily="34" charset="-122"/>
                          <a:cs typeface="Cambria" pitchFamily="34" charset="-120"/>
                        </a:rPr>
                        <a:t>P3</a:t>
                      </a:r>
                      <a:endParaRPr lang="en-US" sz="1500" dirty="0">
                        <a:latin typeface="Cambria" charset="0"/>
                        <a:ea typeface="Cambria" charset="0"/>
                        <a:cs typeface="Cambria"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1500" dirty="0">
                          <a:solidFill>
                            <a:srgbClr val="2B2318"/>
                          </a:solidFill>
                          <a:latin typeface="Calibri" pitchFamily="34" charset="0"/>
                          <a:ea typeface="Calibri" pitchFamily="34" charset="-122"/>
                          <a:cs typeface="Calibri" pitchFamily="34" charset="-120"/>
                        </a:rPr>
                        <a:t>Recht nur beim Adel, Blutrache</a:t>
                      </a:r>
                      <a:endParaRPr lang="en-US" sz="1500" dirty="0">
                        <a:latin typeface="Calibri" charset="0"/>
                        <a:ea typeface="Calibri" charset="0"/>
                        <a:cs typeface="Calibri"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800" dirty="0">
                        <a:latin typeface="Calibri" charset="0"/>
                        <a:ea typeface="Calibri" charset="0"/>
                        <a:cs typeface="Calibri"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800" dirty="0">
                        <a:latin typeface="Calibri" charset="0"/>
                        <a:ea typeface="Calibri" charset="0"/>
                        <a:cs typeface="Calibri"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r>
              <a:tr h="475488">
                <a:tc>
                  <a:txBody>
                    <a:bodyPr/>
                    <a:lstStyle/>
                    <a:p>
                      <a:pPr indent="0" marL="0">
                        <a:buNone/>
                      </a:pPr>
                      <a:r>
                        <a:rPr lang="en-US" sz="1500" b="1" dirty="0">
                          <a:solidFill>
                            <a:srgbClr val="AD4426"/>
                          </a:solidFill>
                          <a:latin typeface="Cambria" pitchFamily="34" charset="0"/>
                          <a:ea typeface="Cambria" pitchFamily="34" charset="-122"/>
                          <a:cs typeface="Cambria" pitchFamily="34" charset="-120"/>
                        </a:rPr>
                        <a:t>P4</a:t>
                      </a:r>
                      <a:endParaRPr lang="en-US" sz="1500" dirty="0">
                        <a:latin typeface="Cambria" charset="0"/>
                        <a:ea typeface="Cambria" charset="0"/>
                        <a:cs typeface="Cambria"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1500" dirty="0">
                          <a:solidFill>
                            <a:srgbClr val="2B2318"/>
                          </a:solidFill>
                          <a:latin typeface="Calibri" pitchFamily="34" charset="0"/>
                          <a:ea typeface="Calibri" pitchFamily="34" charset="-122"/>
                          <a:cs typeface="Calibri" pitchFamily="34" charset="-120"/>
                        </a:rPr>
                        <a:t>Politische Macht nur beim Adel</a:t>
                      </a:r>
                      <a:endParaRPr lang="en-US" sz="1500" dirty="0">
                        <a:latin typeface="Calibri" charset="0"/>
                        <a:ea typeface="Calibri" charset="0"/>
                        <a:cs typeface="Calibri"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800" dirty="0">
                        <a:latin typeface="Calibri" charset="0"/>
                        <a:ea typeface="Calibri" charset="0"/>
                        <a:cs typeface="Calibri"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800" dirty="0">
                        <a:latin typeface="Calibri" charset="0"/>
                        <a:ea typeface="Calibri" charset="0"/>
                        <a:cs typeface="Calibri"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r>
              <a:tr h="475488">
                <a:tc>
                  <a:txBody>
                    <a:bodyPr/>
                    <a:lstStyle/>
                    <a:p>
                      <a:pPr indent="0" marL="0">
                        <a:buNone/>
                      </a:pPr>
                      <a:r>
                        <a:rPr lang="en-US" sz="1500" b="1" dirty="0">
                          <a:solidFill>
                            <a:srgbClr val="AD4426"/>
                          </a:solidFill>
                          <a:latin typeface="Cambria" pitchFamily="34" charset="0"/>
                          <a:ea typeface="Cambria" pitchFamily="34" charset="-122"/>
                          <a:cs typeface="Cambria" pitchFamily="34" charset="-120"/>
                        </a:rPr>
                        <a:t>P5</a:t>
                      </a:r>
                      <a:endParaRPr lang="en-US" sz="1500" dirty="0">
                        <a:latin typeface="Cambria" charset="0"/>
                        <a:ea typeface="Cambria" charset="0"/>
                        <a:cs typeface="Cambria"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1500" dirty="0">
                          <a:solidFill>
                            <a:srgbClr val="2B2318"/>
                          </a:solidFill>
                          <a:latin typeface="Calibri" pitchFamily="34" charset="0"/>
                          <a:ea typeface="Calibri" pitchFamily="34" charset="-122"/>
                          <a:cs typeface="Calibri" pitchFamily="34" charset="-120"/>
                        </a:rPr>
                        <a:t>Gefahr eines Bürgerkriegs</a:t>
                      </a:r>
                      <a:endParaRPr lang="en-US" sz="1500" dirty="0">
                        <a:latin typeface="Calibri" charset="0"/>
                        <a:ea typeface="Calibri" charset="0"/>
                        <a:cs typeface="Calibri"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800" dirty="0">
                        <a:latin typeface="Calibri" charset="0"/>
                        <a:ea typeface="Calibri" charset="0"/>
                        <a:cs typeface="Calibri"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800" dirty="0">
                        <a:latin typeface="Calibri" charset="0"/>
                        <a:ea typeface="Calibri" charset="0"/>
                        <a:cs typeface="Calibri"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r>
            </a:tbl>
          </a:graphicData>
        </a:graphic>
      </p:graphicFrame>
      <p:sp>
        <p:nvSpPr>
          <p:cNvPr id="5" name="Text 2"/>
          <p:cNvSpPr txBox="1"/>
          <p:nvPr/>
        </p:nvSpPr>
        <p:spPr>
          <a:xfrm>
            <a:off x="457200" y="4251960"/>
            <a:ext cx="8229600" cy="274320"/>
          </a:xfrm>
          <a:prstGeom prst="rect">
            <a:avLst/>
          </a:prstGeom>
          <a:noFill/>
          <a:ln/>
        </p:spPr>
        <p:txBody>
          <a:bodyPr wrap="square" lIns="0" tIns="0" rIns="0" bIns="0" rtlCol="0" anchor="t"/>
          <a:lstStyle/>
          <a:p>
            <a:pPr indent="0" marL="0">
              <a:buNone/>
            </a:pPr>
            <a:r>
              <a:rPr lang="en-US" sz="1300" b="1" dirty="0">
                <a:solidFill>
                  <a:srgbClr val="5A5044"/>
                </a:solidFill>
                <a:latin typeface="Calibri" pitchFamily="34" charset="0"/>
                <a:ea typeface="Calibri" pitchFamily="34" charset="-122"/>
                <a:cs typeface="Calibri" pitchFamily="34" charset="-120"/>
              </a:rPr>
              <a:t>✔ gelöst     ~ teilweise     ✘ nicht gelöst</a:t>
            </a:r>
            <a:endParaRPr lang="en-US" sz="1300" dirty="0"/>
          </a:p>
        </p:txBody>
      </p:sp>
      <p:sp>
        <p:nvSpPr>
          <p:cNvPr id="6" name="Text 3"/>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Von der Polis zur Krise</a:t>
            </a:r>
            <a:endParaRPr lang="en-US" sz="900" dirty="0"/>
          </a:p>
        </p:txBody>
      </p:sp>
      <p:sp>
        <p:nvSpPr>
          <p:cNvPr id="7" name="Text 4"/>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PARTNERARBEIT · LB S. 20</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Drakon: Was ändert er?</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2B2318"/>
          </a:solidFill>
          <a:ln/>
        </p:spPr>
        <p:txBody>
          <a:bodyPr wrap="square" lIns="25400" tIns="25400" rIns="25400" bIns="2540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 Min.</a:t>
            </a:r>
            <a:endParaRPr lang="en-US" sz="1100" dirty="0"/>
          </a:p>
        </p:txBody>
      </p:sp>
      <p:sp>
        <p:nvSpPr>
          <p:cNvPr id="5" name="Shape 3"/>
          <p:cNvSpPr/>
          <p:nvPr/>
        </p:nvSpPr>
        <p:spPr>
          <a:xfrm>
            <a:off x="457200" y="1325880"/>
            <a:ext cx="5120640" cy="2926080"/>
          </a:xfrm>
          <a:prstGeom prst="roundRect">
            <a:avLst>
              <a:gd name="adj" fmla="val 2500"/>
            </a:avLst>
          </a:prstGeom>
          <a:solidFill>
            <a:srgbClr val="F4ECDE"/>
          </a:solidFill>
          <a:ln w="12700">
            <a:solidFill>
              <a:srgbClr val="F4ECDE"/>
            </a:solidFill>
            <a:prstDash val="solid"/>
          </a:ln>
        </p:spPr>
      </p:sp>
      <p:sp>
        <p:nvSpPr>
          <p:cNvPr id="6" name="Text 4"/>
          <p:cNvSpPr txBox="1"/>
          <p:nvPr/>
        </p:nvSpPr>
        <p:spPr>
          <a:xfrm>
            <a:off x="685800" y="1554480"/>
            <a:ext cx="457200" cy="457200"/>
          </a:xfrm>
          <a:prstGeom prst="ellipse">
            <a:avLst/>
          </a:prstGeom>
          <a:solidFill>
            <a:srgbClr val="AD4426"/>
          </a:solid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7" name="Text 5"/>
          <p:cNvSpPr txBox="1"/>
          <p:nvPr/>
        </p:nvSpPr>
        <p:spPr>
          <a:xfrm>
            <a:off x="1325880" y="1554480"/>
            <a:ext cx="4023360" cy="640080"/>
          </a:xfrm>
          <a:prstGeom prst="rect">
            <a:avLst/>
          </a:prstGeom>
          <a:noFill/>
          <a:ln/>
        </p:spPr>
        <p:txBody>
          <a:bodyPr wrap="square" lIns="0" tIns="0" rIns="0" bIns="0" rtlCol="0" anchor="ctr"/>
          <a:lstStyle/>
          <a:p>
            <a:pPr indent="0" marL="0">
              <a:buNone/>
            </a:pPr>
            <a:r>
              <a:rPr lang="en-US" sz="1500" dirty="0">
                <a:solidFill>
                  <a:srgbClr val="2B2318"/>
                </a:solidFill>
                <a:latin typeface="Calibri" pitchFamily="34" charset="0"/>
                <a:ea typeface="Calibri" pitchFamily="34" charset="-122"/>
                <a:cs typeface="Calibri" pitchFamily="34" charset="-120"/>
              </a:rPr>
              <a:t>Lest im LB S. 20 den Abschnitt „Die Gesetzgebung des Drakon“.</a:t>
            </a:r>
            <a:endParaRPr lang="en-US" sz="1500" dirty="0"/>
          </a:p>
        </p:txBody>
      </p:sp>
      <p:sp>
        <p:nvSpPr>
          <p:cNvPr id="8" name="Text 6"/>
          <p:cNvSpPr txBox="1"/>
          <p:nvPr/>
        </p:nvSpPr>
        <p:spPr>
          <a:xfrm>
            <a:off x="685800" y="2377440"/>
            <a:ext cx="457200" cy="457200"/>
          </a:xfrm>
          <a:prstGeom prst="ellipse">
            <a:avLst/>
          </a:prstGeom>
          <a:solidFill>
            <a:srgbClr val="AD4426"/>
          </a:solid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1325880" y="2377440"/>
            <a:ext cx="4023360" cy="457200"/>
          </a:xfrm>
          <a:prstGeom prst="rect">
            <a:avLst/>
          </a:prstGeom>
          <a:noFill/>
          <a:ln/>
        </p:spPr>
        <p:txBody>
          <a:bodyPr wrap="square" lIns="0" tIns="0" rIns="0" bIns="0" rtlCol="0" anchor="ctr"/>
          <a:lstStyle/>
          <a:p>
            <a:pPr indent="0" marL="0">
              <a:buNone/>
            </a:pPr>
            <a:r>
              <a:rPr lang="en-US" sz="1500" dirty="0">
                <a:solidFill>
                  <a:srgbClr val="2B2318"/>
                </a:solidFill>
                <a:latin typeface="Calibri" pitchFamily="34" charset="0"/>
                <a:ea typeface="Calibri" pitchFamily="34" charset="-122"/>
                <a:cs typeface="Calibri" pitchFamily="34" charset="-120"/>
              </a:rPr>
              <a:t>Füllt die Spalte „Drakon“ aus: ✔, ~ oder ✘.</a:t>
            </a:r>
            <a:endParaRPr lang="en-US" sz="1500" dirty="0"/>
          </a:p>
        </p:txBody>
      </p:sp>
      <p:sp>
        <p:nvSpPr>
          <p:cNvPr id="10" name="Text 8"/>
          <p:cNvSpPr txBox="1"/>
          <p:nvPr/>
        </p:nvSpPr>
        <p:spPr>
          <a:xfrm>
            <a:off x="685800" y="3108960"/>
            <a:ext cx="457200" cy="457200"/>
          </a:xfrm>
          <a:prstGeom prst="ellipse">
            <a:avLst/>
          </a:prstGeom>
          <a:solidFill>
            <a:srgbClr val="AD4426"/>
          </a:solid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1" name="Text 9"/>
          <p:cNvSpPr txBox="1"/>
          <p:nvPr/>
        </p:nvSpPr>
        <p:spPr>
          <a:xfrm>
            <a:off x="1325880" y="3108960"/>
            <a:ext cx="4023360" cy="640080"/>
          </a:xfrm>
          <a:prstGeom prst="rect">
            <a:avLst/>
          </a:prstGeom>
          <a:noFill/>
          <a:ln/>
        </p:spPr>
        <p:txBody>
          <a:bodyPr wrap="square" lIns="0" tIns="0" rIns="0" bIns="0" rtlCol="0" anchor="ctr"/>
          <a:lstStyle/>
          <a:p>
            <a:pPr indent="0" marL="0">
              <a:buNone/>
            </a:pPr>
            <a:r>
              <a:rPr lang="en-US" sz="1500" dirty="0">
                <a:solidFill>
                  <a:srgbClr val="2B2318"/>
                </a:solidFill>
                <a:latin typeface="Calibri" pitchFamily="34" charset="0"/>
                <a:ea typeface="Calibri" pitchFamily="34" charset="-122"/>
                <a:cs typeface="Calibri" pitchFamily="34" charset="-120"/>
              </a:rPr>
              <a:t>Notiert zu jedem Feld ein Stichwort als Beleg aus dem Text.</a:t>
            </a:r>
            <a:endParaRPr lang="en-US" sz="1500" dirty="0"/>
          </a:p>
        </p:txBody>
      </p:sp>
      <p:sp>
        <p:nvSpPr>
          <p:cNvPr id="12" name="Shape 10"/>
          <p:cNvSpPr/>
          <p:nvPr/>
        </p:nvSpPr>
        <p:spPr>
          <a:xfrm>
            <a:off x="5806440" y="1325880"/>
            <a:ext cx="2880360" cy="2926080"/>
          </a:xfrm>
          <a:prstGeom prst="roundRect">
            <a:avLst>
              <a:gd name="adj" fmla="val 2540"/>
            </a:avLst>
          </a:prstGeom>
          <a:solidFill>
            <a:srgbClr val="2B2318"/>
          </a:solidFill>
          <a:ln w="12700">
            <a:solidFill>
              <a:srgbClr val="2B2318"/>
            </a:solidFill>
            <a:prstDash val="solid"/>
          </a:ln>
        </p:spPr>
      </p:sp>
      <p:sp>
        <p:nvSpPr>
          <p:cNvPr id="13" name="Text 11"/>
          <p:cNvSpPr txBox="1"/>
          <p:nvPr/>
        </p:nvSpPr>
        <p:spPr>
          <a:xfrm>
            <a:off x="6035040" y="1508760"/>
            <a:ext cx="2468880" cy="320040"/>
          </a:xfrm>
          <a:prstGeom prst="rect">
            <a:avLst/>
          </a:prstGeom>
          <a:noFill/>
          <a:ln/>
        </p:spPr>
        <p:txBody>
          <a:bodyPr wrap="square" lIns="0" tIns="0" rIns="0" bIns="0" rtlCol="0" anchor="t"/>
          <a:lstStyle/>
          <a:p>
            <a:pPr indent="0" marL="0">
              <a:buNone/>
            </a:pPr>
            <a:r>
              <a:rPr lang="en-US" sz="1400" b="1" dirty="0">
                <a:solidFill>
                  <a:srgbClr val="D9A441"/>
                </a:solidFill>
                <a:latin typeface="Calibri" pitchFamily="34" charset="0"/>
                <a:ea typeface="Calibri" pitchFamily="34" charset="-122"/>
                <a:cs typeface="Calibri" pitchFamily="34" charset="-120"/>
              </a:rPr>
              <a:t>Beispiel</a:t>
            </a:r>
            <a:endParaRPr lang="en-US" sz="1400" dirty="0"/>
          </a:p>
        </p:txBody>
      </p:sp>
      <p:sp>
        <p:nvSpPr>
          <p:cNvPr id="14" name="Text 12"/>
          <p:cNvSpPr txBox="1"/>
          <p:nvPr/>
        </p:nvSpPr>
        <p:spPr>
          <a:xfrm>
            <a:off x="6035040" y="1920240"/>
            <a:ext cx="2468880" cy="45720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P3  ~</a:t>
            </a:r>
            <a:endParaRPr lang="en-US" sz="2400" dirty="0"/>
          </a:p>
        </p:txBody>
      </p:sp>
      <p:sp>
        <p:nvSpPr>
          <p:cNvPr id="15" name="Text 13"/>
          <p:cNvSpPr txBox="1"/>
          <p:nvPr/>
        </p:nvSpPr>
        <p:spPr>
          <a:xfrm>
            <a:off x="6035040" y="2468880"/>
            <a:ext cx="2468880" cy="1554480"/>
          </a:xfrm>
          <a:prstGeom prst="rect">
            <a:avLst/>
          </a:prstGeom>
          <a:noFill/>
          <a:ln/>
        </p:spPr>
        <p:txBody>
          <a:bodyPr wrap="square" lIns="0" tIns="0" rIns="0" bIns="0" rtlCol="0" anchor="t"/>
          <a:lstStyle/>
          <a:p>
            <a:pPr indent="0" marL="0">
              <a:buNone/>
            </a:pPr>
            <a:r>
              <a:rPr lang="en-US" sz="1300" i="1" dirty="0">
                <a:solidFill>
                  <a:srgbClr val="E8DFD0"/>
                </a:solidFill>
                <a:latin typeface="Calibri" pitchFamily="34" charset="0"/>
                <a:ea typeface="Calibri" pitchFamily="34" charset="-122"/>
                <a:cs typeface="Calibri" pitchFamily="34" charset="-120"/>
              </a:rPr>
              <a:t>„geschriebenes Recht für alle Bürger, Blutrache aufgehoben, aber strenge Strafen“</a:t>
            </a:r>
            <a:endParaRPr lang="en-US" sz="1300" dirty="0"/>
          </a:p>
        </p:txBody>
      </p:sp>
      <p:sp>
        <p:nvSpPr>
          <p:cNvPr id="16" name="Text 14"/>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Von der Polis zur Krise</a:t>
            </a:r>
            <a:endParaRPr lang="en-US" sz="900" dirty="0"/>
          </a:p>
        </p:txBody>
      </p:sp>
      <p:sp>
        <p:nvSpPr>
          <p:cNvPr id="17" name="Text 15"/>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PARTNERARBEIT · LESETANDEM · LB S. 20–22</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Solon: Zwei Reformen, zwei Experten</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2B2318"/>
          </a:solidFill>
          <a:ln/>
        </p:spPr>
        <p:txBody>
          <a:bodyPr wrap="square" lIns="25400" tIns="25400" rIns="25400" bIns="2540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 Min.</a:t>
            </a:r>
            <a:endParaRPr lang="en-US" sz="1100" dirty="0"/>
          </a:p>
        </p:txBody>
      </p:sp>
      <p:sp>
        <p:nvSpPr>
          <p:cNvPr id="5" name="Shape 3"/>
          <p:cNvSpPr/>
          <p:nvPr/>
        </p:nvSpPr>
        <p:spPr>
          <a:xfrm>
            <a:off x="457200" y="1325880"/>
            <a:ext cx="4023360" cy="1691640"/>
          </a:xfrm>
          <a:prstGeom prst="roundRect">
            <a:avLst>
              <a:gd name="adj" fmla="val 4324"/>
            </a:avLst>
          </a:prstGeom>
          <a:solidFill>
            <a:srgbClr val="F4ECDE"/>
          </a:solidFill>
          <a:ln w="12700">
            <a:solidFill>
              <a:srgbClr val="F4ECDE"/>
            </a:solidFill>
            <a:prstDash val="solid"/>
          </a:ln>
        </p:spPr>
      </p:sp>
      <p:sp>
        <p:nvSpPr>
          <p:cNvPr id="6" name="Text 4"/>
          <p:cNvSpPr txBox="1"/>
          <p:nvPr/>
        </p:nvSpPr>
        <p:spPr>
          <a:xfrm>
            <a:off x="685800" y="1508760"/>
            <a:ext cx="548640" cy="548640"/>
          </a:xfrm>
          <a:prstGeom prst="ellipse">
            <a:avLst/>
          </a:prstGeom>
          <a:solidFill>
            <a:srgbClr val="AD4426"/>
          </a:solid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a:t>
            </a:r>
            <a:endParaRPr lang="en-US" sz="2200" dirty="0"/>
          </a:p>
        </p:txBody>
      </p:sp>
      <p:sp>
        <p:nvSpPr>
          <p:cNvPr id="7" name="Text 5"/>
          <p:cNvSpPr txBox="1"/>
          <p:nvPr/>
        </p:nvSpPr>
        <p:spPr>
          <a:xfrm>
            <a:off x="1417320" y="1481328"/>
            <a:ext cx="2834640" cy="274320"/>
          </a:xfrm>
          <a:prstGeom prst="rect">
            <a:avLst/>
          </a:prstGeom>
          <a:noFill/>
          <a:ln/>
        </p:spPr>
        <p:txBody>
          <a:bodyPr wrap="square" lIns="0" tIns="0" rIns="0" bIns="0" rtlCol="0" anchor="t"/>
          <a:lstStyle/>
          <a:p>
            <a:pPr indent="0" marL="0">
              <a:buNone/>
            </a:pPr>
            <a:r>
              <a:rPr lang="en-US" sz="1200" b="1" dirty="0">
                <a:solidFill>
                  <a:srgbClr val="5A5044"/>
                </a:solidFill>
                <a:latin typeface="Calibri" pitchFamily="34" charset="0"/>
                <a:ea typeface="Calibri" pitchFamily="34" charset="-122"/>
                <a:cs typeface="Calibri" pitchFamily="34" charset="-120"/>
              </a:rPr>
              <a:t>Partner A</a:t>
            </a:r>
            <a:endParaRPr lang="en-US" sz="1200" dirty="0"/>
          </a:p>
        </p:txBody>
      </p:sp>
      <p:sp>
        <p:nvSpPr>
          <p:cNvPr id="8" name="Text 6"/>
          <p:cNvSpPr txBox="1"/>
          <p:nvPr/>
        </p:nvSpPr>
        <p:spPr>
          <a:xfrm>
            <a:off x="1417320" y="1737360"/>
            <a:ext cx="2834640" cy="365760"/>
          </a:xfrm>
          <a:prstGeom prst="rect">
            <a:avLst/>
          </a:prstGeom>
          <a:noFill/>
          <a:ln/>
        </p:spPr>
        <p:txBody>
          <a:bodyPr wrap="square" lIns="0" tIns="0" rIns="0" bIns="0" rtlCol="0" anchor="t"/>
          <a:lstStyle/>
          <a:p>
            <a:pPr indent="0" marL="0">
              <a:buNone/>
            </a:pPr>
            <a:r>
              <a:rPr lang="en-US" sz="1900" b="1" dirty="0">
                <a:solidFill>
                  <a:srgbClr val="2B2318"/>
                </a:solidFill>
                <a:latin typeface="Cambria" pitchFamily="34" charset="0"/>
                <a:ea typeface="Cambria" pitchFamily="34" charset="-122"/>
                <a:cs typeface="Cambria" pitchFamily="34" charset="-120"/>
              </a:rPr>
              <a:t>Sozialreform</a:t>
            </a:r>
            <a:endParaRPr lang="en-US" sz="1900" dirty="0"/>
          </a:p>
        </p:txBody>
      </p:sp>
      <p:sp>
        <p:nvSpPr>
          <p:cNvPr id="9" name="Text 7"/>
          <p:cNvSpPr txBox="1"/>
          <p:nvPr/>
        </p:nvSpPr>
        <p:spPr>
          <a:xfrm>
            <a:off x="685800" y="2240280"/>
            <a:ext cx="3611880" cy="685800"/>
          </a:xfrm>
          <a:prstGeom prst="rect">
            <a:avLst/>
          </a:prstGeom>
          <a:noFill/>
          <a:ln/>
        </p:spPr>
        <p:txBody>
          <a:bodyPr wrap="square" lIns="0" tIns="0" rIns="0" bIns="0" rtlCol="0" anchor="t"/>
          <a:lstStyle/>
          <a:p>
            <a:pPr indent="0" marL="0">
              <a:buNone/>
            </a:pPr>
            <a:r>
              <a:rPr lang="en-US" sz="1300" dirty="0">
                <a:solidFill>
                  <a:srgbClr val="2B2318"/>
                </a:solidFill>
                <a:latin typeface="Calibri" pitchFamily="34" charset="0"/>
                <a:ea typeface="Calibri" pitchFamily="34" charset="-122"/>
                <a:cs typeface="Calibri" pitchFamily="34" charset="-120"/>
              </a:rPr>
              <a:t>S. 20 ab „Die Reform Solons“ bis S. 21 „… fremde Handwerker ins Land“</a:t>
            </a:r>
            <a:endParaRPr lang="en-US" sz="1300" dirty="0"/>
          </a:p>
        </p:txBody>
      </p:sp>
      <p:sp>
        <p:nvSpPr>
          <p:cNvPr id="10" name="Shape 8"/>
          <p:cNvSpPr/>
          <p:nvPr/>
        </p:nvSpPr>
        <p:spPr>
          <a:xfrm>
            <a:off x="4663440" y="1325880"/>
            <a:ext cx="4023360" cy="1691640"/>
          </a:xfrm>
          <a:prstGeom prst="roundRect">
            <a:avLst>
              <a:gd name="adj" fmla="val 4324"/>
            </a:avLst>
          </a:prstGeom>
          <a:solidFill>
            <a:srgbClr val="F4ECDE"/>
          </a:solidFill>
          <a:ln w="12700">
            <a:solidFill>
              <a:srgbClr val="F4ECDE"/>
            </a:solidFill>
            <a:prstDash val="solid"/>
          </a:ln>
        </p:spPr>
      </p:sp>
      <p:sp>
        <p:nvSpPr>
          <p:cNvPr id="11" name="Text 9"/>
          <p:cNvSpPr txBox="1"/>
          <p:nvPr/>
        </p:nvSpPr>
        <p:spPr>
          <a:xfrm>
            <a:off x="4892040" y="1508760"/>
            <a:ext cx="548640" cy="548640"/>
          </a:xfrm>
          <a:prstGeom prst="ellipse">
            <a:avLst/>
          </a:prstGeom>
          <a:solidFill>
            <a:srgbClr val="D9A441"/>
          </a:solidFill>
          <a:ln/>
        </p:spPr>
        <p:txBody>
          <a:bodyPr wrap="square" lIns="0" tIns="0" rIns="0" bIns="0" rtlCol="0" anchor="ctr"/>
          <a:lstStyle/>
          <a:p>
            <a:pPr algn="ctr" indent="0" marL="0">
              <a:buNone/>
            </a:pPr>
            <a:r>
              <a:rPr lang="en-US" sz="2200" b="1" dirty="0">
                <a:solidFill>
                  <a:srgbClr val="2B2318"/>
                </a:solidFill>
                <a:latin typeface="Cambria" pitchFamily="34" charset="0"/>
                <a:ea typeface="Cambria" pitchFamily="34" charset="-122"/>
                <a:cs typeface="Cambria" pitchFamily="34" charset="-120"/>
              </a:rPr>
              <a:t>B</a:t>
            </a:r>
            <a:endParaRPr lang="en-US" sz="2200" dirty="0"/>
          </a:p>
        </p:txBody>
      </p:sp>
      <p:sp>
        <p:nvSpPr>
          <p:cNvPr id="12" name="Text 10"/>
          <p:cNvSpPr txBox="1"/>
          <p:nvPr/>
        </p:nvSpPr>
        <p:spPr>
          <a:xfrm>
            <a:off x="5623560" y="1481328"/>
            <a:ext cx="2834640" cy="274320"/>
          </a:xfrm>
          <a:prstGeom prst="rect">
            <a:avLst/>
          </a:prstGeom>
          <a:noFill/>
          <a:ln/>
        </p:spPr>
        <p:txBody>
          <a:bodyPr wrap="square" lIns="0" tIns="0" rIns="0" bIns="0" rtlCol="0" anchor="t"/>
          <a:lstStyle/>
          <a:p>
            <a:pPr indent="0" marL="0">
              <a:buNone/>
            </a:pPr>
            <a:r>
              <a:rPr lang="en-US" sz="1200" b="1" dirty="0">
                <a:solidFill>
                  <a:srgbClr val="5A5044"/>
                </a:solidFill>
                <a:latin typeface="Calibri" pitchFamily="34" charset="0"/>
                <a:ea typeface="Calibri" pitchFamily="34" charset="-122"/>
                <a:cs typeface="Calibri" pitchFamily="34" charset="-120"/>
              </a:rPr>
              <a:t>Partner B</a:t>
            </a:r>
            <a:endParaRPr lang="en-US" sz="1200" dirty="0"/>
          </a:p>
        </p:txBody>
      </p:sp>
      <p:sp>
        <p:nvSpPr>
          <p:cNvPr id="13" name="Text 11"/>
          <p:cNvSpPr txBox="1"/>
          <p:nvPr/>
        </p:nvSpPr>
        <p:spPr>
          <a:xfrm>
            <a:off x="5623560" y="1737360"/>
            <a:ext cx="2834640" cy="365760"/>
          </a:xfrm>
          <a:prstGeom prst="rect">
            <a:avLst/>
          </a:prstGeom>
          <a:noFill/>
          <a:ln/>
        </p:spPr>
        <p:txBody>
          <a:bodyPr wrap="square" lIns="0" tIns="0" rIns="0" bIns="0" rtlCol="0" anchor="t"/>
          <a:lstStyle/>
          <a:p>
            <a:pPr indent="0" marL="0">
              <a:buNone/>
            </a:pPr>
            <a:r>
              <a:rPr lang="en-US" sz="1900" b="1" dirty="0">
                <a:solidFill>
                  <a:srgbClr val="2B2318"/>
                </a:solidFill>
                <a:latin typeface="Cambria" pitchFamily="34" charset="0"/>
                <a:ea typeface="Cambria" pitchFamily="34" charset="-122"/>
                <a:cs typeface="Cambria" pitchFamily="34" charset="-120"/>
              </a:rPr>
              <a:t>Verfassungsreform</a:t>
            </a:r>
            <a:endParaRPr lang="en-US" sz="1900" dirty="0"/>
          </a:p>
        </p:txBody>
      </p:sp>
      <p:sp>
        <p:nvSpPr>
          <p:cNvPr id="14" name="Text 12"/>
          <p:cNvSpPr txBox="1"/>
          <p:nvPr/>
        </p:nvSpPr>
        <p:spPr>
          <a:xfrm>
            <a:off x="4892040" y="2240280"/>
            <a:ext cx="3611880" cy="685800"/>
          </a:xfrm>
          <a:prstGeom prst="rect">
            <a:avLst/>
          </a:prstGeom>
          <a:noFill/>
          <a:ln/>
        </p:spPr>
        <p:txBody>
          <a:bodyPr wrap="square" lIns="0" tIns="0" rIns="0" bIns="0" rtlCol="0" anchor="t"/>
          <a:lstStyle/>
          <a:p>
            <a:pPr indent="0" marL="0">
              <a:buNone/>
            </a:pPr>
            <a:r>
              <a:rPr lang="en-US" sz="1300" dirty="0">
                <a:solidFill>
                  <a:srgbClr val="2B2318"/>
                </a:solidFill>
                <a:latin typeface="Calibri" pitchFamily="34" charset="0"/>
                <a:ea typeface="Calibri" pitchFamily="34" charset="-122"/>
                <a:cs typeface="Calibri" pitchFamily="34" charset="-120"/>
              </a:rPr>
              <a:t>S. 21 ab „Bei der Reform des Verfassungslebens …“ bis S. 22 „… M4, M5)“</a:t>
            </a:r>
            <a:endParaRPr lang="en-US" sz="1300" dirty="0"/>
          </a:p>
        </p:txBody>
      </p:sp>
      <p:sp>
        <p:nvSpPr>
          <p:cNvPr id="15" name="Shape 13"/>
          <p:cNvSpPr/>
          <p:nvPr/>
        </p:nvSpPr>
        <p:spPr>
          <a:xfrm>
            <a:off x="457200" y="3291840"/>
            <a:ext cx="2606040" cy="960120"/>
          </a:xfrm>
          <a:prstGeom prst="roundRect">
            <a:avLst>
              <a:gd name="adj" fmla="val 7619"/>
            </a:avLst>
          </a:prstGeom>
          <a:solidFill>
            <a:srgbClr val="2B2318"/>
          </a:solidFill>
          <a:ln w="12700">
            <a:solidFill>
              <a:srgbClr val="2B2318"/>
            </a:solidFill>
            <a:prstDash val="solid"/>
          </a:ln>
        </p:spPr>
      </p:sp>
      <p:sp>
        <p:nvSpPr>
          <p:cNvPr id="16" name="Text 14"/>
          <p:cNvSpPr txBox="1"/>
          <p:nvPr/>
        </p:nvSpPr>
        <p:spPr>
          <a:xfrm>
            <a:off x="640080" y="3401568"/>
            <a:ext cx="2240280" cy="274320"/>
          </a:xfrm>
          <a:prstGeom prst="rect">
            <a:avLst/>
          </a:prstGeom>
          <a:noFill/>
          <a:ln/>
        </p:spPr>
        <p:txBody>
          <a:bodyPr wrap="square" lIns="0" tIns="0" rIns="0" bIns="0" rtlCol="0" anchor="t"/>
          <a:lstStyle/>
          <a:p>
            <a:pPr indent="0" marL="0">
              <a:buNone/>
            </a:pPr>
            <a:r>
              <a:rPr lang="en-US" sz="1200" b="1" dirty="0">
                <a:solidFill>
                  <a:srgbClr val="D9A441"/>
                </a:solidFill>
                <a:latin typeface="Calibri" pitchFamily="34" charset="0"/>
                <a:ea typeface="Calibri" pitchFamily="34" charset="-122"/>
                <a:cs typeface="Calibri" pitchFamily="34" charset="-120"/>
              </a:rPr>
              <a:t>7 Min.</a:t>
            </a:r>
            <a:endParaRPr lang="en-US" sz="1200" dirty="0"/>
          </a:p>
        </p:txBody>
      </p:sp>
      <p:sp>
        <p:nvSpPr>
          <p:cNvPr id="17" name="Text 15"/>
          <p:cNvSpPr txBox="1"/>
          <p:nvPr/>
        </p:nvSpPr>
        <p:spPr>
          <a:xfrm>
            <a:off x="640080" y="3703320"/>
            <a:ext cx="2240280" cy="41148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Allein lesen</a:t>
            </a:r>
            <a:endParaRPr lang="en-US" sz="1600" dirty="0"/>
          </a:p>
        </p:txBody>
      </p:sp>
      <p:sp>
        <p:nvSpPr>
          <p:cNvPr id="18" name="Shape 16"/>
          <p:cNvSpPr/>
          <p:nvPr/>
        </p:nvSpPr>
        <p:spPr>
          <a:xfrm>
            <a:off x="3081528" y="3767328"/>
            <a:ext cx="146304" cy="0"/>
          </a:xfrm>
          <a:prstGeom prst="line">
            <a:avLst/>
          </a:prstGeom>
          <a:noFill/>
          <a:ln w="28575">
            <a:solidFill>
              <a:srgbClr val="998C77"/>
            </a:solidFill>
            <a:prstDash val="solid"/>
            <a:tailEnd type="triangle"/>
          </a:ln>
        </p:spPr>
      </p:sp>
      <p:sp>
        <p:nvSpPr>
          <p:cNvPr id="19" name="Shape 17"/>
          <p:cNvSpPr/>
          <p:nvPr/>
        </p:nvSpPr>
        <p:spPr>
          <a:xfrm>
            <a:off x="3246120" y="3291840"/>
            <a:ext cx="2606040" cy="960120"/>
          </a:xfrm>
          <a:prstGeom prst="roundRect">
            <a:avLst>
              <a:gd name="adj" fmla="val 7619"/>
            </a:avLst>
          </a:prstGeom>
          <a:solidFill>
            <a:srgbClr val="2B2318"/>
          </a:solidFill>
          <a:ln w="12700">
            <a:solidFill>
              <a:srgbClr val="2B2318"/>
            </a:solidFill>
            <a:prstDash val="solid"/>
          </a:ln>
        </p:spPr>
      </p:sp>
      <p:sp>
        <p:nvSpPr>
          <p:cNvPr id="20" name="Text 18"/>
          <p:cNvSpPr txBox="1"/>
          <p:nvPr/>
        </p:nvSpPr>
        <p:spPr>
          <a:xfrm>
            <a:off x="3429000" y="3401568"/>
            <a:ext cx="2240280" cy="274320"/>
          </a:xfrm>
          <a:prstGeom prst="rect">
            <a:avLst/>
          </a:prstGeom>
          <a:noFill/>
          <a:ln/>
        </p:spPr>
        <p:txBody>
          <a:bodyPr wrap="square" lIns="0" tIns="0" rIns="0" bIns="0" rtlCol="0" anchor="t"/>
          <a:lstStyle/>
          <a:p>
            <a:pPr indent="0" marL="0">
              <a:buNone/>
            </a:pPr>
            <a:r>
              <a:rPr lang="en-US" sz="1200" b="1" dirty="0">
                <a:solidFill>
                  <a:srgbClr val="D9A441"/>
                </a:solidFill>
                <a:latin typeface="Calibri" pitchFamily="34" charset="0"/>
                <a:ea typeface="Calibri" pitchFamily="34" charset="-122"/>
                <a:cs typeface="Calibri" pitchFamily="34" charset="-120"/>
              </a:rPr>
              <a:t>3 + 3 Min.</a:t>
            </a:r>
            <a:endParaRPr lang="en-US" sz="1200" dirty="0"/>
          </a:p>
        </p:txBody>
      </p:sp>
      <p:sp>
        <p:nvSpPr>
          <p:cNvPr id="21" name="Text 19"/>
          <p:cNvSpPr txBox="1"/>
          <p:nvPr/>
        </p:nvSpPr>
        <p:spPr>
          <a:xfrm>
            <a:off x="3429000" y="3703320"/>
            <a:ext cx="2240280" cy="41148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Dem Partner erklären</a:t>
            </a:r>
            <a:endParaRPr lang="en-US" sz="1600" dirty="0"/>
          </a:p>
        </p:txBody>
      </p:sp>
      <p:sp>
        <p:nvSpPr>
          <p:cNvPr id="22" name="Shape 20"/>
          <p:cNvSpPr/>
          <p:nvPr/>
        </p:nvSpPr>
        <p:spPr>
          <a:xfrm>
            <a:off x="5870448" y="3767328"/>
            <a:ext cx="146304" cy="0"/>
          </a:xfrm>
          <a:prstGeom prst="line">
            <a:avLst/>
          </a:prstGeom>
          <a:noFill/>
          <a:ln w="28575">
            <a:solidFill>
              <a:srgbClr val="998C77"/>
            </a:solidFill>
            <a:prstDash val="solid"/>
            <a:tailEnd type="triangle"/>
          </a:ln>
        </p:spPr>
      </p:sp>
      <p:sp>
        <p:nvSpPr>
          <p:cNvPr id="23" name="Shape 21"/>
          <p:cNvSpPr/>
          <p:nvPr/>
        </p:nvSpPr>
        <p:spPr>
          <a:xfrm>
            <a:off x="6035040" y="3291840"/>
            <a:ext cx="2606040" cy="960120"/>
          </a:xfrm>
          <a:prstGeom prst="roundRect">
            <a:avLst>
              <a:gd name="adj" fmla="val 7619"/>
            </a:avLst>
          </a:prstGeom>
          <a:solidFill>
            <a:srgbClr val="2B2318"/>
          </a:solidFill>
          <a:ln w="12700">
            <a:solidFill>
              <a:srgbClr val="2B2318"/>
            </a:solidFill>
            <a:prstDash val="solid"/>
          </a:ln>
        </p:spPr>
      </p:sp>
      <p:sp>
        <p:nvSpPr>
          <p:cNvPr id="24" name="Text 22"/>
          <p:cNvSpPr txBox="1"/>
          <p:nvPr/>
        </p:nvSpPr>
        <p:spPr>
          <a:xfrm>
            <a:off x="6217920" y="3401568"/>
            <a:ext cx="2240280" cy="274320"/>
          </a:xfrm>
          <a:prstGeom prst="rect">
            <a:avLst/>
          </a:prstGeom>
          <a:noFill/>
          <a:ln/>
        </p:spPr>
        <p:txBody>
          <a:bodyPr wrap="square" lIns="0" tIns="0" rIns="0" bIns="0" rtlCol="0" anchor="t"/>
          <a:lstStyle/>
          <a:p>
            <a:pPr indent="0" marL="0">
              <a:buNone/>
            </a:pPr>
            <a:r>
              <a:rPr lang="en-US" sz="1200" b="1" dirty="0">
                <a:solidFill>
                  <a:srgbClr val="D9A441"/>
                </a:solidFill>
                <a:latin typeface="Calibri" pitchFamily="34" charset="0"/>
                <a:ea typeface="Calibri" pitchFamily="34" charset="-122"/>
                <a:cs typeface="Calibri" pitchFamily="34" charset="-120"/>
              </a:rPr>
              <a:t>2 Min.</a:t>
            </a:r>
            <a:endParaRPr lang="en-US" sz="1200" dirty="0"/>
          </a:p>
        </p:txBody>
      </p:sp>
      <p:sp>
        <p:nvSpPr>
          <p:cNvPr id="25" name="Text 23"/>
          <p:cNvSpPr txBox="1"/>
          <p:nvPr/>
        </p:nvSpPr>
        <p:spPr>
          <a:xfrm>
            <a:off x="6217920" y="3703320"/>
            <a:ext cx="2240280" cy="41148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Spalte „Solon“ ausfüllen</a:t>
            </a:r>
            <a:endParaRPr lang="en-US" sz="1600" dirty="0"/>
          </a:p>
        </p:txBody>
      </p:sp>
      <p:sp>
        <p:nvSpPr>
          <p:cNvPr id="26" name="Text 24"/>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Von der Polis zur Krise</a:t>
            </a:r>
            <a:endParaRPr lang="en-US" sz="900" dirty="0"/>
          </a:p>
        </p:txBody>
      </p:sp>
      <p:sp>
        <p:nvSpPr>
          <p:cNvPr id="27" name="Text 25"/>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SICHERUNG · ERKLÄRVIDEO</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Solons Verfassung</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2B2318"/>
          </a:solidFill>
          <a:ln/>
        </p:spPr>
        <p:txBody>
          <a:bodyPr wrap="square" lIns="25400" tIns="25400" rIns="25400" bIns="2540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 Min.</a:t>
            </a:r>
            <a:endParaRPr lang="en-US" sz="11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457200" y="1280160"/>
            <a:ext cx="5394960" cy="3035808"/>
          </a:xfrm>
          <a:prstGeom prst="rect">
            <a:avLst/>
          </a:prstGeom>
        </p:spPr>
      </p:pic>
      <p:sp>
        <p:nvSpPr>
          <p:cNvPr id="6" name="Shape 3"/>
          <p:cNvSpPr/>
          <p:nvPr/>
        </p:nvSpPr>
        <p:spPr>
          <a:xfrm>
            <a:off x="6080760" y="1280160"/>
            <a:ext cx="2606040" cy="3035808"/>
          </a:xfrm>
          <a:prstGeom prst="roundRect">
            <a:avLst>
              <a:gd name="adj" fmla="val 2807"/>
            </a:avLst>
          </a:prstGeom>
          <a:solidFill>
            <a:srgbClr val="2B2318"/>
          </a:solidFill>
          <a:ln w="12700">
            <a:solidFill>
              <a:srgbClr val="2B2318"/>
            </a:solidFill>
            <a:prstDash val="solid"/>
          </a:ln>
        </p:spPr>
      </p:sp>
      <p:sp>
        <p:nvSpPr>
          <p:cNvPr id="7" name="Text 4"/>
          <p:cNvSpPr txBox="1"/>
          <p:nvPr/>
        </p:nvSpPr>
        <p:spPr>
          <a:xfrm>
            <a:off x="6309360" y="1463040"/>
            <a:ext cx="2194560" cy="320040"/>
          </a:xfrm>
          <a:prstGeom prst="rect">
            <a:avLst/>
          </a:prstGeom>
          <a:noFill/>
          <a:ln/>
        </p:spPr>
        <p:txBody>
          <a:bodyPr wrap="square" lIns="0" tIns="0" rIns="0" bIns="0" rtlCol="0" anchor="t"/>
          <a:lstStyle/>
          <a:p>
            <a:pPr indent="0" marL="0">
              <a:buNone/>
            </a:pPr>
            <a:r>
              <a:rPr lang="en-US" sz="1400" b="1" dirty="0">
                <a:solidFill>
                  <a:srgbClr val="D9A441"/>
                </a:solidFill>
                <a:latin typeface="Calibri" pitchFamily="34" charset="0"/>
                <a:ea typeface="Calibri" pitchFamily="34" charset="-122"/>
                <a:cs typeface="Calibri" pitchFamily="34" charset="-120"/>
              </a:rPr>
              <a:t>Sehauftrag</a:t>
            </a:r>
            <a:endParaRPr lang="en-US" sz="1400" dirty="0"/>
          </a:p>
        </p:txBody>
      </p:sp>
      <p:sp>
        <p:nvSpPr>
          <p:cNvPr id="8" name="Text 5"/>
          <p:cNvSpPr txBox="1"/>
          <p:nvPr/>
        </p:nvSpPr>
        <p:spPr>
          <a:xfrm>
            <a:off x="6309360" y="1874520"/>
            <a:ext cx="2194560" cy="1280160"/>
          </a:xfrm>
          <a:prstGeom prst="rect">
            <a:avLst/>
          </a:prstGeom>
          <a:noFill/>
          <a:ln/>
        </p:spPr>
        <p:txBody>
          <a:bodyPr wrap="square" lIns="0" tIns="0" rIns="0" bIns="0" rtlCol="0" anchor="t"/>
          <a:lstStyle/>
          <a:p>
            <a:pPr indent="0" marL="0">
              <a:buNone/>
            </a:pPr>
            <a:r>
              <a:rPr lang="en-US" sz="1700" b="1" dirty="0">
                <a:solidFill>
                  <a:srgbClr val="FFFFFF"/>
                </a:solidFill>
                <a:latin typeface="Cambria" pitchFamily="34" charset="0"/>
                <a:ea typeface="Cambria" pitchFamily="34" charset="-122"/>
                <a:cs typeface="Cambria" pitchFamily="34" charset="-120"/>
              </a:rPr>
              <a:t>Prüft eure Einschätzung zu P4: Politische Macht nur beim Adel.</a:t>
            </a:r>
            <a:endParaRPr lang="en-US" sz="1700" dirty="0"/>
          </a:p>
        </p:txBody>
      </p:sp>
      <p:sp>
        <p:nvSpPr>
          <p:cNvPr id="9" name="Text 6"/>
          <p:cNvSpPr txBox="1"/>
          <p:nvPr/>
        </p:nvSpPr>
        <p:spPr>
          <a:xfrm>
            <a:off x="6309360" y="3383280"/>
            <a:ext cx="2194560" cy="548640"/>
          </a:xfrm>
          <a:prstGeom prst="rect">
            <a:avLst/>
          </a:prstGeom>
          <a:noFill/>
          <a:ln/>
        </p:spPr>
        <p:txBody>
          <a:bodyPr wrap="square" lIns="0" tIns="0" rIns="0" bIns="0" rtlCol="0" anchor="t"/>
          <a:lstStyle/>
          <a:p>
            <a:pPr indent="0" marL="0">
              <a:buNone/>
            </a:pPr>
            <a:r>
              <a:rPr lang="en-US" sz="1400" dirty="0">
                <a:solidFill>
                  <a:srgbClr val="E8DFD0"/>
                </a:solidFill>
                <a:latin typeface="Calibri" pitchFamily="34" charset="0"/>
                <a:ea typeface="Calibri" pitchFamily="34" charset="-122"/>
                <a:cs typeface="Calibri" pitchFamily="34" charset="-120"/>
              </a:rPr>
              <a:t>Bleibt ihr bei eurem Zeichen?</a:t>
            </a:r>
            <a:endParaRPr lang="en-US" sz="1400" dirty="0"/>
          </a:p>
        </p:txBody>
      </p:sp>
      <p:sp>
        <p:nvSpPr>
          <p:cNvPr id="10" name="Text 7"/>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Von der Polis zur Krise</a:t>
            </a:r>
            <a:endParaRPr lang="en-US" sz="900" dirty="0"/>
          </a:p>
        </p:txBody>
      </p:sp>
      <p:sp>
        <p:nvSpPr>
          <p:cNvPr id="11" name="Text 8"/>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ABGLEICH · NUR STRITTIGE FELDER BESPRECHEN</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Mögliche Lösung</a:t>
            </a:r>
            <a:endParaRPr lang="en-US" sz="28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8229600" cy="914400"/>
        </p:xfrm>
        <a:graphic>
          <a:graphicData uri="http://schemas.openxmlformats.org/drawingml/2006/table">
            <a:tbl>
              <a:tblPr/>
              <a:tblGrid>
                <a:gridCol w="640080"/>
                <a:gridCol w="4297680"/>
                <a:gridCol w="1645920"/>
                <a:gridCol w="1645920"/>
              </a:tblGrid>
              <a:tr h="475488">
                <a:tc>
                  <a:txBody>
                    <a:bodyPr/>
                    <a:lstStyle/>
                    <a:p>
                      <a:pPr indent="0" marL="0">
                        <a:buNone/>
                      </a:pPr>
                      <a:endParaRPr lang="en-US" sz="1500" dirty="0">
                        <a:latin typeface="Calibri" charset="0"/>
                        <a:ea typeface="Calibri" charset="0"/>
                        <a:cs typeface="Calibri"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FFFFF"/>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Problem</a:t>
                      </a:r>
                      <a:endParaRPr lang="en-US" sz="1500" dirty="0">
                        <a:latin typeface="Calibri" charset="0"/>
                        <a:ea typeface="Calibri" charset="0"/>
                        <a:cs typeface="Calibri"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2B2318"/>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Drakon</a:t>
                      </a:r>
                      <a:endParaRPr lang="en-US" sz="1500" dirty="0">
                        <a:latin typeface="Calibri" charset="0"/>
                        <a:ea typeface="Calibri" charset="0"/>
                        <a:cs typeface="Calibri"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2B2318"/>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Solon</a:t>
                      </a:r>
                      <a:endParaRPr lang="en-US" sz="1500" dirty="0">
                        <a:latin typeface="Calibri" charset="0"/>
                        <a:ea typeface="Calibri" charset="0"/>
                        <a:cs typeface="Calibri"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2B2318"/>
                    </a:solidFill>
                  </a:tcPr>
                </a:tc>
              </a:tr>
              <a:tr h="475488">
                <a:tc>
                  <a:txBody>
                    <a:bodyPr/>
                    <a:lstStyle/>
                    <a:p>
                      <a:pPr indent="0" marL="0">
                        <a:buNone/>
                      </a:pPr>
                      <a:r>
                        <a:rPr lang="en-US" sz="1500" b="1" dirty="0">
                          <a:solidFill>
                            <a:srgbClr val="AD4426"/>
                          </a:solidFill>
                          <a:latin typeface="Cambria" pitchFamily="34" charset="0"/>
                          <a:ea typeface="Cambria" pitchFamily="34" charset="-122"/>
                          <a:cs typeface="Cambria" pitchFamily="34" charset="-120"/>
                        </a:rPr>
                        <a:t>P1</a:t>
                      </a:r>
                      <a:endParaRPr lang="en-US" sz="1500" dirty="0">
                        <a:latin typeface="Cambria" charset="0"/>
                        <a:ea typeface="Cambria" charset="0"/>
                        <a:cs typeface="Cambria"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1500" dirty="0">
                          <a:solidFill>
                            <a:srgbClr val="2B2318"/>
                          </a:solidFill>
                          <a:latin typeface="Calibri" pitchFamily="34" charset="0"/>
                          <a:ea typeface="Calibri" pitchFamily="34" charset="-122"/>
                          <a:cs typeface="Calibri" pitchFamily="34" charset="-120"/>
                        </a:rPr>
                        <a:t>Schuldknechtschaft</a:t>
                      </a:r>
                      <a:endParaRPr lang="en-US" sz="1500" dirty="0">
                        <a:latin typeface="Calibri" charset="0"/>
                        <a:ea typeface="Calibri" charset="0"/>
                        <a:cs typeface="Calibri"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r>
                        <a:rPr lang="en-US" sz="1800" b="1" dirty="0">
                          <a:solidFill>
                            <a:srgbClr val="2B2318"/>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r>
                        <a:rPr lang="en-US" sz="1800" b="1" dirty="0">
                          <a:solidFill>
                            <a:srgbClr val="2B2318"/>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r>
              <a:tr h="475488">
                <a:tc>
                  <a:txBody>
                    <a:bodyPr/>
                    <a:lstStyle/>
                    <a:p>
                      <a:pPr indent="0" marL="0">
                        <a:buNone/>
                      </a:pPr>
                      <a:r>
                        <a:rPr lang="en-US" sz="1500" b="1" dirty="0">
                          <a:solidFill>
                            <a:srgbClr val="AD4426"/>
                          </a:solidFill>
                          <a:latin typeface="Cambria" pitchFamily="34" charset="0"/>
                          <a:ea typeface="Cambria" pitchFamily="34" charset="-122"/>
                          <a:cs typeface="Cambria" pitchFamily="34" charset="-120"/>
                        </a:rPr>
                        <a:t>P2</a:t>
                      </a:r>
                      <a:endParaRPr lang="en-US" sz="1500" dirty="0">
                        <a:latin typeface="Cambria" charset="0"/>
                        <a:ea typeface="Cambria" charset="0"/>
                        <a:cs typeface="Cambria"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1500" dirty="0">
                          <a:solidFill>
                            <a:srgbClr val="2B2318"/>
                          </a:solidFill>
                          <a:latin typeface="Calibri" pitchFamily="34" charset="0"/>
                          <a:ea typeface="Calibri" pitchFamily="34" charset="-122"/>
                          <a:cs typeface="Calibri" pitchFamily="34" charset="-120"/>
                        </a:rPr>
                        <a:t>Land in den Händen weniger</a:t>
                      </a:r>
                      <a:endParaRPr lang="en-US" sz="1500" dirty="0">
                        <a:latin typeface="Calibri" charset="0"/>
                        <a:ea typeface="Calibri" charset="0"/>
                        <a:cs typeface="Calibri"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r>
                        <a:rPr lang="en-US" sz="1800" b="1" dirty="0">
                          <a:solidFill>
                            <a:srgbClr val="2B2318"/>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r>
                        <a:rPr lang="en-US" sz="1800" b="1" dirty="0">
                          <a:solidFill>
                            <a:srgbClr val="2B2318"/>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r>
              <a:tr h="475488">
                <a:tc>
                  <a:txBody>
                    <a:bodyPr/>
                    <a:lstStyle/>
                    <a:p>
                      <a:pPr indent="0" marL="0">
                        <a:buNone/>
                      </a:pPr>
                      <a:r>
                        <a:rPr lang="en-US" sz="1500" b="1" dirty="0">
                          <a:solidFill>
                            <a:srgbClr val="AD4426"/>
                          </a:solidFill>
                          <a:latin typeface="Cambria" pitchFamily="34" charset="0"/>
                          <a:ea typeface="Cambria" pitchFamily="34" charset="-122"/>
                          <a:cs typeface="Cambria" pitchFamily="34" charset="-120"/>
                        </a:rPr>
                        <a:t>P3</a:t>
                      </a:r>
                      <a:endParaRPr lang="en-US" sz="1500" dirty="0">
                        <a:latin typeface="Cambria" charset="0"/>
                        <a:ea typeface="Cambria" charset="0"/>
                        <a:cs typeface="Cambria"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1500" dirty="0">
                          <a:solidFill>
                            <a:srgbClr val="2B2318"/>
                          </a:solidFill>
                          <a:latin typeface="Calibri" pitchFamily="34" charset="0"/>
                          <a:ea typeface="Calibri" pitchFamily="34" charset="-122"/>
                          <a:cs typeface="Calibri" pitchFamily="34" charset="-120"/>
                        </a:rPr>
                        <a:t>Recht nur beim Adel, Blutrache</a:t>
                      </a:r>
                      <a:endParaRPr lang="en-US" sz="1500" dirty="0">
                        <a:latin typeface="Calibri" charset="0"/>
                        <a:ea typeface="Calibri" charset="0"/>
                        <a:cs typeface="Calibri"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r>
                        <a:rPr lang="en-US" sz="1800" b="1" dirty="0">
                          <a:solidFill>
                            <a:srgbClr val="2B2318"/>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r>
                        <a:rPr lang="en-US" sz="1800" b="1" dirty="0">
                          <a:solidFill>
                            <a:srgbClr val="2B2318"/>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r>
              <a:tr h="475488">
                <a:tc>
                  <a:txBody>
                    <a:bodyPr/>
                    <a:lstStyle/>
                    <a:p>
                      <a:pPr indent="0" marL="0">
                        <a:buNone/>
                      </a:pPr>
                      <a:r>
                        <a:rPr lang="en-US" sz="1500" b="1" dirty="0">
                          <a:solidFill>
                            <a:srgbClr val="AD4426"/>
                          </a:solidFill>
                          <a:latin typeface="Cambria" pitchFamily="34" charset="0"/>
                          <a:ea typeface="Cambria" pitchFamily="34" charset="-122"/>
                          <a:cs typeface="Cambria" pitchFamily="34" charset="-120"/>
                        </a:rPr>
                        <a:t>P4</a:t>
                      </a:r>
                      <a:endParaRPr lang="en-US" sz="1500" dirty="0">
                        <a:latin typeface="Cambria" charset="0"/>
                        <a:ea typeface="Cambria" charset="0"/>
                        <a:cs typeface="Cambria"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1500" dirty="0">
                          <a:solidFill>
                            <a:srgbClr val="2B2318"/>
                          </a:solidFill>
                          <a:latin typeface="Calibri" pitchFamily="34" charset="0"/>
                          <a:ea typeface="Calibri" pitchFamily="34" charset="-122"/>
                          <a:cs typeface="Calibri" pitchFamily="34" charset="-120"/>
                        </a:rPr>
                        <a:t>Politische Macht nur beim Adel</a:t>
                      </a:r>
                      <a:endParaRPr lang="en-US" sz="1500" dirty="0">
                        <a:latin typeface="Calibri" charset="0"/>
                        <a:ea typeface="Calibri" charset="0"/>
                        <a:cs typeface="Calibri"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r>
                        <a:rPr lang="en-US" sz="1800" b="1" dirty="0">
                          <a:solidFill>
                            <a:srgbClr val="2B2318"/>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r>
                        <a:rPr lang="en-US" sz="1800" b="1" dirty="0">
                          <a:solidFill>
                            <a:srgbClr val="2B2318"/>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r>
              <a:tr h="475488">
                <a:tc>
                  <a:txBody>
                    <a:bodyPr/>
                    <a:lstStyle/>
                    <a:p>
                      <a:pPr indent="0" marL="0">
                        <a:buNone/>
                      </a:pPr>
                      <a:r>
                        <a:rPr lang="en-US" sz="1500" b="1" dirty="0">
                          <a:solidFill>
                            <a:srgbClr val="AD4426"/>
                          </a:solidFill>
                          <a:latin typeface="Cambria" pitchFamily="34" charset="0"/>
                          <a:ea typeface="Cambria" pitchFamily="34" charset="-122"/>
                          <a:cs typeface="Cambria" pitchFamily="34" charset="-120"/>
                        </a:rPr>
                        <a:t>P5</a:t>
                      </a:r>
                      <a:endParaRPr lang="en-US" sz="1500" dirty="0">
                        <a:latin typeface="Cambria" charset="0"/>
                        <a:ea typeface="Cambria" charset="0"/>
                        <a:cs typeface="Cambria"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1500" dirty="0">
                          <a:solidFill>
                            <a:srgbClr val="2B2318"/>
                          </a:solidFill>
                          <a:latin typeface="Calibri" pitchFamily="34" charset="0"/>
                          <a:ea typeface="Calibri" pitchFamily="34" charset="-122"/>
                          <a:cs typeface="Calibri" pitchFamily="34" charset="-120"/>
                        </a:rPr>
                        <a:t>Gefahr eines Bürgerkriegs</a:t>
                      </a:r>
                      <a:endParaRPr lang="en-US" sz="1500" dirty="0">
                        <a:latin typeface="Calibri" charset="0"/>
                        <a:ea typeface="Calibri" charset="0"/>
                        <a:cs typeface="Calibri"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r>
                        <a:rPr lang="en-US" sz="1800" b="1" dirty="0">
                          <a:solidFill>
                            <a:srgbClr val="2B2318"/>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r>
                        <a:rPr lang="en-US" sz="1800" b="1" dirty="0">
                          <a:solidFill>
                            <a:srgbClr val="2B2318"/>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r>
            </a:tbl>
          </a:graphicData>
        </a:graphic>
      </p:graphicFrame>
      <p:sp>
        <p:nvSpPr>
          <p:cNvPr id="5" name="Text 2"/>
          <p:cNvSpPr txBox="1"/>
          <p:nvPr/>
        </p:nvSpPr>
        <p:spPr>
          <a:xfrm>
            <a:off x="457200" y="4251960"/>
            <a:ext cx="8229600" cy="274320"/>
          </a:xfrm>
          <a:prstGeom prst="rect">
            <a:avLst/>
          </a:prstGeom>
          <a:noFill/>
          <a:ln/>
        </p:spPr>
        <p:txBody>
          <a:bodyPr wrap="square" lIns="0" tIns="0" rIns="0" bIns="0" rtlCol="0" anchor="t"/>
          <a:lstStyle/>
          <a:p>
            <a:pPr indent="0" marL="0">
              <a:buNone/>
            </a:pPr>
            <a:r>
              <a:rPr lang="en-US" sz="1300" b="1" dirty="0">
                <a:solidFill>
                  <a:srgbClr val="5A5044"/>
                </a:solidFill>
                <a:latin typeface="Calibri" pitchFamily="34" charset="0"/>
                <a:ea typeface="Calibri" pitchFamily="34" charset="-122"/>
                <a:cs typeface="Calibri" pitchFamily="34" charset="-120"/>
              </a:rPr>
              <a:t>✔ gelöst     ~ teilweise     ✘ nicht gelöst</a:t>
            </a:r>
            <a:endParaRPr lang="en-US" sz="1300" dirty="0"/>
          </a:p>
        </p:txBody>
      </p:sp>
      <p:sp>
        <p:nvSpPr>
          <p:cNvPr id="6" name="Text 3"/>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Von der Polis zur Krise</a:t>
            </a:r>
            <a:endParaRPr lang="en-US" sz="900" dirty="0"/>
          </a:p>
        </p:txBody>
      </p:sp>
      <p:sp>
        <p:nvSpPr>
          <p:cNvPr id="7" name="Text 4"/>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EINZELARBEIT · HEFT</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Schriftliche Beurteilung</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2B2318"/>
          </a:solidFill>
          <a:ln/>
        </p:spPr>
        <p:txBody>
          <a:bodyPr wrap="square" lIns="25400" tIns="25400" rIns="25400" bIns="2540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17 Min.</a:t>
            </a:r>
            <a:endParaRPr lang="en-US" sz="1100" dirty="0"/>
          </a:p>
        </p:txBody>
      </p:sp>
      <p:sp>
        <p:nvSpPr>
          <p:cNvPr id="5" name="Shape 3"/>
          <p:cNvSpPr/>
          <p:nvPr/>
        </p:nvSpPr>
        <p:spPr>
          <a:xfrm>
            <a:off x="457200" y="1280160"/>
            <a:ext cx="8229600" cy="868680"/>
          </a:xfrm>
          <a:prstGeom prst="roundRect">
            <a:avLst>
              <a:gd name="adj" fmla="val 8421"/>
            </a:avLst>
          </a:prstGeom>
          <a:solidFill>
            <a:srgbClr val="2B2318"/>
          </a:solidFill>
          <a:ln w="12700">
            <a:solidFill>
              <a:srgbClr val="2B2318"/>
            </a:solidFill>
            <a:prstDash val="solid"/>
          </a:ln>
        </p:spPr>
      </p:sp>
      <p:sp>
        <p:nvSpPr>
          <p:cNvPr id="6" name="Text 4"/>
          <p:cNvSpPr txBox="1"/>
          <p:nvPr/>
        </p:nvSpPr>
        <p:spPr>
          <a:xfrm>
            <a:off x="731520" y="1325880"/>
            <a:ext cx="7680960" cy="77724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Beurteile, inwieweit es Drakon und Solon gelang, die Krise Athens zu lösen.</a:t>
            </a:r>
            <a:endParaRPr lang="en-US" sz="2000" dirty="0"/>
          </a:p>
        </p:txBody>
      </p:sp>
      <p:sp>
        <p:nvSpPr>
          <p:cNvPr id="7" name="Text 5"/>
          <p:cNvSpPr txBox="1"/>
          <p:nvPr/>
        </p:nvSpPr>
        <p:spPr>
          <a:xfrm>
            <a:off x="457200" y="2331720"/>
            <a:ext cx="1554480" cy="822960"/>
          </a:xfrm>
          <a:prstGeom prst="roundRect">
            <a:avLst>
              <a:gd name="adj" fmla="val 8889"/>
            </a:avLst>
          </a:prstGeom>
          <a:solidFill>
            <a:srgbClr val="D9A441"/>
          </a:solidFill>
          <a:ln/>
        </p:spPr>
        <p:txBody>
          <a:bodyPr wrap="square" lIns="0" tIns="0" rIns="0" bIns="0" rtlCol="0" anchor="ctr"/>
          <a:lstStyle/>
          <a:p>
            <a:pPr algn="ctr" indent="0" marL="0">
              <a:buNone/>
            </a:pPr>
            <a:r>
              <a:rPr lang="en-US" sz="1500" b="1" dirty="0">
                <a:solidFill>
                  <a:srgbClr val="2B2318"/>
                </a:solidFill>
                <a:latin typeface="Calibri" pitchFamily="34" charset="0"/>
                <a:ea typeface="Calibri" pitchFamily="34" charset="-122"/>
                <a:cs typeface="Calibri" pitchFamily="34" charset="-120"/>
              </a:rPr>
              <a:t>Sachurteil</a:t>
            </a:r>
            <a:endParaRPr lang="en-US" sz="1500" dirty="0"/>
          </a:p>
        </p:txBody>
      </p:sp>
      <p:sp>
        <p:nvSpPr>
          <p:cNvPr id="8" name="Shape 6"/>
          <p:cNvSpPr/>
          <p:nvPr/>
        </p:nvSpPr>
        <p:spPr>
          <a:xfrm>
            <a:off x="2103120" y="2331720"/>
            <a:ext cx="3383280" cy="822960"/>
          </a:xfrm>
          <a:prstGeom prst="roundRect">
            <a:avLst>
              <a:gd name="adj" fmla="val 8889"/>
            </a:avLst>
          </a:prstGeom>
          <a:solidFill>
            <a:srgbClr val="F4ECDE"/>
          </a:solidFill>
          <a:ln w="12700">
            <a:solidFill>
              <a:srgbClr val="F4ECDE"/>
            </a:solidFill>
            <a:prstDash val="solid"/>
          </a:ln>
        </p:spPr>
      </p:sp>
      <p:sp>
        <p:nvSpPr>
          <p:cNvPr id="9" name="Text 7"/>
          <p:cNvSpPr txBox="1"/>
          <p:nvPr/>
        </p:nvSpPr>
        <p:spPr>
          <a:xfrm>
            <a:off x="2240280" y="2404872"/>
            <a:ext cx="3154680" cy="228600"/>
          </a:xfrm>
          <a:prstGeom prst="rect">
            <a:avLst/>
          </a:prstGeom>
          <a:noFill/>
          <a:ln/>
        </p:spPr>
        <p:txBody>
          <a:bodyPr wrap="square" lIns="0" tIns="0" rIns="0" bIns="0" rtlCol="0" anchor="t"/>
          <a:lstStyle/>
          <a:p>
            <a:pPr indent="0" marL="0">
              <a:buNone/>
            </a:pPr>
            <a:r>
              <a:rPr lang="en-US" sz="1100" b="1" dirty="0">
                <a:solidFill>
                  <a:srgbClr val="5A5044"/>
                </a:solidFill>
                <a:latin typeface="Calibri" pitchFamily="34" charset="0"/>
                <a:ea typeface="Calibri" pitchFamily="34" charset="-122"/>
                <a:cs typeface="Calibri" pitchFamily="34" charset="-120"/>
              </a:rPr>
              <a:t>3–4 Sätze, gestützt auf eure Tabelle</a:t>
            </a:r>
            <a:endParaRPr lang="en-US" sz="1100" dirty="0"/>
          </a:p>
        </p:txBody>
      </p:sp>
      <p:sp>
        <p:nvSpPr>
          <p:cNvPr id="10" name="Text 8"/>
          <p:cNvSpPr txBox="1"/>
          <p:nvPr/>
        </p:nvSpPr>
        <p:spPr>
          <a:xfrm>
            <a:off x="2240280" y="2624328"/>
            <a:ext cx="3154680" cy="512064"/>
          </a:xfrm>
          <a:prstGeom prst="rect">
            <a:avLst/>
          </a:prstGeom>
          <a:noFill/>
          <a:ln/>
        </p:spPr>
        <p:txBody>
          <a:bodyPr wrap="square" lIns="0" tIns="0" rIns="0" bIns="0" rtlCol="0" anchor="t"/>
          <a:lstStyle/>
          <a:p>
            <a:pPr indent="0" marL="0">
              <a:buNone/>
            </a:pPr>
            <a:r>
              <a:rPr lang="en-US" sz="1100" i="1" dirty="0">
                <a:solidFill>
                  <a:srgbClr val="2B2318"/>
                </a:solidFill>
                <a:latin typeface="Calibri" pitchFamily="34" charset="0"/>
                <a:ea typeface="Calibri" pitchFamily="34" charset="-122"/>
                <a:cs typeface="Calibri" pitchFamily="34" charset="-120"/>
              </a:rPr>
              <a:t>„Aus Sicht der damaligen Zeit gelang es Solon weitgehend / nur teilweise …, da …“</a:t>
            </a:r>
            <a:endParaRPr lang="en-US" sz="1100" dirty="0"/>
          </a:p>
        </p:txBody>
      </p:sp>
      <p:sp>
        <p:nvSpPr>
          <p:cNvPr id="11" name="Text 9"/>
          <p:cNvSpPr txBox="1"/>
          <p:nvPr/>
        </p:nvSpPr>
        <p:spPr>
          <a:xfrm>
            <a:off x="457200" y="3319272"/>
            <a:ext cx="1554480" cy="822960"/>
          </a:xfrm>
          <a:prstGeom prst="roundRect">
            <a:avLst>
              <a:gd name="adj" fmla="val 8889"/>
            </a:avLst>
          </a:prstGeom>
          <a:solidFill>
            <a:srgbClr val="AD442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Werturteil</a:t>
            </a:r>
            <a:endParaRPr lang="en-US" sz="1500" dirty="0"/>
          </a:p>
        </p:txBody>
      </p:sp>
      <p:sp>
        <p:nvSpPr>
          <p:cNvPr id="12" name="Shape 10"/>
          <p:cNvSpPr/>
          <p:nvPr/>
        </p:nvSpPr>
        <p:spPr>
          <a:xfrm>
            <a:off x="2103120" y="3319272"/>
            <a:ext cx="3383280" cy="822960"/>
          </a:xfrm>
          <a:prstGeom prst="roundRect">
            <a:avLst>
              <a:gd name="adj" fmla="val 8889"/>
            </a:avLst>
          </a:prstGeom>
          <a:solidFill>
            <a:srgbClr val="F4ECDE"/>
          </a:solidFill>
          <a:ln w="12700">
            <a:solidFill>
              <a:srgbClr val="F4ECDE"/>
            </a:solidFill>
            <a:prstDash val="solid"/>
          </a:ln>
        </p:spPr>
      </p:sp>
      <p:sp>
        <p:nvSpPr>
          <p:cNvPr id="13" name="Text 11"/>
          <p:cNvSpPr txBox="1"/>
          <p:nvPr/>
        </p:nvSpPr>
        <p:spPr>
          <a:xfrm>
            <a:off x="2240280" y="3392424"/>
            <a:ext cx="3154680" cy="228600"/>
          </a:xfrm>
          <a:prstGeom prst="rect">
            <a:avLst/>
          </a:prstGeom>
          <a:noFill/>
          <a:ln/>
        </p:spPr>
        <p:txBody>
          <a:bodyPr wrap="square" lIns="0" tIns="0" rIns="0" bIns="0" rtlCol="0" anchor="t"/>
          <a:lstStyle/>
          <a:p>
            <a:pPr indent="0" marL="0">
              <a:buNone/>
            </a:pPr>
            <a:r>
              <a:rPr lang="en-US" sz="1100" b="1" dirty="0">
                <a:solidFill>
                  <a:srgbClr val="5A5044"/>
                </a:solidFill>
                <a:latin typeface="Calibri" pitchFamily="34" charset="0"/>
                <a:ea typeface="Calibri" pitchFamily="34" charset="-122"/>
                <a:cs typeface="Calibri" pitchFamily="34" charset="-120"/>
              </a:rPr>
              <a:t>2–3 Sätze</a:t>
            </a:r>
            <a:endParaRPr lang="en-US" sz="1100" dirty="0"/>
          </a:p>
        </p:txBody>
      </p:sp>
      <p:sp>
        <p:nvSpPr>
          <p:cNvPr id="14" name="Text 12"/>
          <p:cNvSpPr txBox="1"/>
          <p:nvPr/>
        </p:nvSpPr>
        <p:spPr>
          <a:xfrm>
            <a:off x="2240280" y="3611880"/>
            <a:ext cx="3154680" cy="512064"/>
          </a:xfrm>
          <a:prstGeom prst="rect">
            <a:avLst/>
          </a:prstGeom>
          <a:noFill/>
          <a:ln/>
        </p:spPr>
        <p:txBody>
          <a:bodyPr wrap="square" lIns="0" tIns="0" rIns="0" bIns="0" rtlCol="0" anchor="t"/>
          <a:lstStyle/>
          <a:p>
            <a:pPr indent="0" marL="0">
              <a:buNone/>
            </a:pPr>
            <a:r>
              <a:rPr lang="en-US" sz="1100" i="1" dirty="0">
                <a:solidFill>
                  <a:srgbClr val="2B2318"/>
                </a:solidFill>
                <a:latin typeface="Calibri" pitchFamily="34" charset="0"/>
                <a:ea typeface="Calibri" pitchFamily="34" charset="-122"/>
                <a:cs typeface="Calibri" pitchFamily="34" charset="-120"/>
              </a:rPr>
              <a:t>„Gemessen an … halte ich …, weil …“</a:t>
            </a:r>
            <a:endParaRPr lang="en-US" sz="1100" dirty="0"/>
          </a:p>
        </p:txBody>
      </p:sp>
      <p:sp>
        <p:nvSpPr>
          <p:cNvPr id="15" name="Shape 13"/>
          <p:cNvSpPr/>
          <p:nvPr/>
        </p:nvSpPr>
        <p:spPr>
          <a:xfrm>
            <a:off x="5669280" y="2331720"/>
            <a:ext cx="3017520" cy="1810512"/>
          </a:xfrm>
          <a:prstGeom prst="roundRect">
            <a:avLst>
              <a:gd name="adj" fmla="val 4040"/>
            </a:avLst>
          </a:prstGeom>
          <a:solidFill>
            <a:srgbClr val="FBF8F2"/>
          </a:solidFill>
          <a:ln w="19050">
            <a:solidFill>
              <a:srgbClr val="D9A441"/>
            </a:solidFill>
            <a:prstDash val="solid"/>
          </a:ln>
        </p:spPr>
      </p:sp>
      <p:sp>
        <p:nvSpPr>
          <p:cNvPr id="16" name="Text 14"/>
          <p:cNvSpPr txBox="1"/>
          <p:nvPr/>
        </p:nvSpPr>
        <p:spPr>
          <a:xfrm>
            <a:off x="5852160" y="2404872"/>
            <a:ext cx="2651760" cy="274320"/>
          </a:xfrm>
          <a:prstGeom prst="rect">
            <a:avLst/>
          </a:prstGeom>
          <a:noFill/>
          <a:ln/>
        </p:spPr>
        <p:txBody>
          <a:bodyPr wrap="square" lIns="0" tIns="0" rIns="0" bIns="0" rtlCol="0" anchor="t"/>
          <a:lstStyle/>
          <a:p>
            <a:pPr indent="0" marL="0">
              <a:buNone/>
            </a:pPr>
            <a:r>
              <a:rPr lang="en-US" sz="1400" b="1" dirty="0">
                <a:solidFill>
                  <a:srgbClr val="AD4426"/>
                </a:solidFill>
                <a:latin typeface="Cambria" pitchFamily="34" charset="0"/>
                <a:ea typeface="Cambria" pitchFamily="34" charset="-122"/>
                <a:cs typeface="Cambria" pitchFamily="34" charset="-120"/>
              </a:rPr>
              <a:t>Partnercheck</a:t>
            </a:r>
            <a:endParaRPr lang="en-US" sz="1400" dirty="0"/>
          </a:p>
        </p:txBody>
      </p:sp>
      <p:sp>
        <p:nvSpPr>
          <p:cNvPr id="17" name="Shape 15"/>
          <p:cNvSpPr/>
          <p:nvPr/>
        </p:nvSpPr>
        <p:spPr>
          <a:xfrm>
            <a:off x="5852160" y="2779776"/>
            <a:ext cx="201168" cy="201168"/>
          </a:xfrm>
          <a:prstGeom prst="roundRect">
            <a:avLst>
              <a:gd name="adj" fmla="val 18182"/>
            </a:avLst>
          </a:prstGeom>
          <a:solidFill>
            <a:srgbClr val="FFFFFF"/>
          </a:solidFill>
          <a:ln w="19050">
            <a:solidFill>
              <a:srgbClr val="D9A441"/>
            </a:solidFill>
            <a:prstDash val="solid"/>
          </a:ln>
        </p:spPr>
      </p:sp>
      <p:sp>
        <p:nvSpPr>
          <p:cNvPr id="18" name="Text 16"/>
          <p:cNvSpPr txBox="1"/>
          <p:nvPr/>
        </p:nvSpPr>
        <p:spPr>
          <a:xfrm>
            <a:off x="6144768" y="2743200"/>
            <a:ext cx="2468880" cy="274320"/>
          </a:xfrm>
          <a:prstGeom prst="rect">
            <a:avLst/>
          </a:prstGeom>
          <a:noFill/>
          <a:ln/>
        </p:spPr>
        <p:txBody>
          <a:bodyPr wrap="square" lIns="0" tIns="0" rIns="0" bIns="0" rtlCol="0" anchor="ctr"/>
          <a:lstStyle/>
          <a:p>
            <a:pPr indent="0" marL="0">
              <a:buNone/>
            </a:pPr>
            <a:r>
              <a:rPr lang="en-US" sz="1200" dirty="0">
                <a:solidFill>
                  <a:srgbClr val="2B2318"/>
                </a:solidFill>
                <a:latin typeface="Calibri" pitchFamily="34" charset="0"/>
                <a:ea typeface="Calibri" pitchFamily="34" charset="-122"/>
                <a:cs typeface="Calibri" pitchFamily="34" charset="-120"/>
              </a:rPr>
              <a:t>Sachurteil: Maßstäbe der Zeit</a:t>
            </a:r>
            <a:endParaRPr lang="en-US" sz="1200" dirty="0"/>
          </a:p>
        </p:txBody>
      </p:sp>
      <p:sp>
        <p:nvSpPr>
          <p:cNvPr id="19" name="Shape 17"/>
          <p:cNvSpPr/>
          <p:nvPr/>
        </p:nvSpPr>
        <p:spPr>
          <a:xfrm>
            <a:off x="5852160" y="3118104"/>
            <a:ext cx="201168" cy="201168"/>
          </a:xfrm>
          <a:prstGeom prst="roundRect">
            <a:avLst>
              <a:gd name="adj" fmla="val 18182"/>
            </a:avLst>
          </a:prstGeom>
          <a:solidFill>
            <a:srgbClr val="FFFFFF"/>
          </a:solidFill>
          <a:ln w="19050">
            <a:solidFill>
              <a:srgbClr val="D9A441"/>
            </a:solidFill>
            <a:prstDash val="solid"/>
          </a:ln>
        </p:spPr>
      </p:sp>
      <p:sp>
        <p:nvSpPr>
          <p:cNvPr id="20" name="Text 18"/>
          <p:cNvSpPr txBox="1"/>
          <p:nvPr/>
        </p:nvSpPr>
        <p:spPr>
          <a:xfrm>
            <a:off x="6144768" y="3081528"/>
            <a:ext cx="2468880" cy="274320"/>
          </a:xfrm>
          <a:prstGeom prst="rect">
            <a:avLst/>
          </a:prstGeom>
          <a:noFill/>
          <a:ln/>
        </p:spPr>
        <p:txBody>
          <a:bodyPr wrap="square" lIns="0" tIns="0" rIns="0" bIns="0" rtlCol="0" anchor="ctr"/>
          <a:lstStyle/>
          <a:p>
            <a:pPr indent="0" marL="0">
              <a:buNone/>
            </a:pPr>
            <a:r>
              <a:rPr lang="en-US" sz="1200" dirty="0">
                <a:solidFill>
                  <a:srgbClr val="2B2318"/>
                </a:solidFill>
                <a:latin typeface="Calibri" pitchFamily="34" charset="0"/>
                <a:ea typeface="Calibri" pitchFamily="34" charset="-122"/>
                <a:cs typeface="Calibri" pitchFamily="34" charset="-120"/>
              </a:rPr>
              <a:t>Sachurteil: mit Belegen</a:t>
            </a:r>
            <a:endParaRPr lang="en-US" sz="1200" dirty="0"/>
          </a:p>
        </p:txBody>
      </p:sp>
      <p:sp>
        <p:nvSpPr>
          <p:cNvPr id="21" name="Shape 19"/>
          <p:cNvSpPr/>
          <p:nvPr/>
        </p:nvSpPr>
        <p:spPr>
          <a:xfrm>
            <a:off x="5852160" y="3456432"/>
            <a:ext cx="201168" cy="201168"/>
          </a:xfrm>
          <a:prstGeom prst="roundRect">
            <a:avLst>
              <a:gd name="adj" fmla="val 18182"/>
            </a:avLst>
          </a:prstGeom>
          <a:solidFill>
            <a:srgbClr val="FFFFFF"/>
          </a:solidFill>
          <a:ln w="19050">
            <a:solidFill>
              <a:srgbClr val="D9A441"/>
            </a:solidFill>
            <a:prstDash val="solid"/>
          </a:ln>
        </p:spPr>
      </p:sp>
      <p:sp>
        <p:nvSpPr>
          <p:cNvPr id="22" name="Text 20"/>
          <p:cNvSpPr txBox="1"/>
          <p:nvPr/>
        </p:nvSpPr>
        <p:spPr>
          <a:xfrm>
            <a:off x="6144768" y="3419856"/>
            <a:ext cx="2468880" cy="274320"/>
          </a:xfrm>
          <a:prstGeom prst="rect">
            <a:avLst/>
          </a:prstGeom>
          <a:noFill/>
          <a:ln/>
        </p:spPr>
        <p:txBody>
          <a:bodyPr wrap="square" lIns="0" tIns="0" rIns="0" bIns="0" rtlCol="0" anchor="ctr"/>
          <a:lstStyle/>
          <a:p>
            <a:pPr indent="0" marL="0">
              <a:buNone/>
            </a:pPr>
            <a:r>
              <a:rPr lang="en-US" sz="1200" dirty="0">
                <a:solidFill>
                  <a:srgbClr val="2B2318"/>
                </a:solidFill>
                <a:latin typeface="Calibri" pitchFamily="34" charset="0"/>
                <a:ea typeface="Calibri" pitchFamily="34" charset="-122"/>
                <a:cs typeface="Calibri" pitchFamily="34" charset="-120"/>
              </a:rPr>
              <a:t>Werturteil: Maßstab genannt</a:t>
            </a:r>
            <a:endParaRPr lang="en-US" sz="1200" dirty="0"/>
          </a:p>
        </p:txBody>
      </p:sp>
      <p:sp>
        <p:nvSpPr>
          <p:cNvPr id="23" name="Shape 21"/>
          <p:cNvSpPr/>
          <p:nvPr/>
        </p:nvSpPr>
        <p:spPr>
          <a:xfrm>
            <a:off x="5852160" y="3794760"/>
            <a:ext cx="201168" cy="201168"/>
          </a:xfrm>
          <a:prstGeom prst="roundRect">
            <a:avLst>
              <a:gd name="adj" fmla="val 18182"/>
            </a:avLst>
          </a:prstGeom>
          <a:solidFill>
            <a:srgbClr val="FFFFFF"/>
          </a:solidFill>
          <a:ln w="19050">
            <a:solidFill>
              <a:srgbClr val="D9A441"/>
            </a:solidFill>
            <a:prstDash val="solid"/>
          </a:ln>
        </p:spPr>
      </p:sp>
      <p:sp>
        <p:nvSpPr>
          <p:cNvPr id="24" name="Text 22"/>
          <p:cNvSpPr txBox="1"/>
          <p:nvPr/>
        </p:nvSpPr>
        <p:spPr>
          <a:xfrm>
            <a:off x="6144768" y="3758184"/>
            <a:ext cx="2468880" cy="274320"/>
          </a:xfrm>
          <a:prstGeom prst="rect">
            <a:avLst/>
          </a:prstGeom>
          <a:noFill/>
          <a:ln/>
        </p:spPr>
        <p:txBody>
          <a:bodyPr wrap="square" lIns="0" tIns="0" rIns="0" bIns="0" rtlCol="0" anchor="ctr"/>
          <a:lstStyle/>
          <a:p>
            <a:pPr indent="0" marL="0">
              <a:buNone/>
            </a:pPr>
            <a:r>
              <a:rPr lang="en-US" sz="1200" dirty="0">
                <a:solidFill>
                  <a:srgbClr val="2B2318"/>
                </a:solidFill>
                <a:latin typeface="Calibri" pitchFamily="34" charset="0"/>
                <a:ea typeface="Calibri" pitchFamily="34" charset="-122"/>
                <a:cs typeface="Calibri" pitchFamily="34" charset="-120"/>
              </a:rPr>
              <a:t>Werturteil: begründet</a:t>
            </a:r>
            <a:endParaRPr lang="en-US" sz="1200" dirty="0"/>
          </a:p>
        </p:txBody>
      </p:sp>
      <p:sp>
        <p:nvSpPr>
          <p:cNvPr id="25" name="Text 23"/>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Von der Polis zur Krise</a:t>
            </a:r>
            <a:endParaRPr lang="en-US" sz="900" dirty="0"/>
          </a:p>
        </p:txBody>
      </p:sp>
      <p:sp>
        <p:nvSpPr>
          <p:cNvPr id="26" name="Text 24"/>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PLENUM · TAFEL</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Wer gewinnt, wer verliert?</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2B2318"/>
          </a:solidFill>
          <a:ln/>
        </p:spPr>
        <p:txBody>
          <a:bodyPr wrap="square" lIns="25400" tIns="25400" rIns="25400" bIns="2540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 Min.</a:t>
            </a:r>
            <a:endParaRPr lang="en-US" sz="1100" dirty="0"/>
          </a:p>
        </p:txBody>
      </p:sp>
      <p:sp>
        <p:nvSpPr>
          <p:cNvPr id="5" name="Text 3"/>
          <p:cNvSpPr txBox="1"/>
          <p:nvPr/>
        </p:nvSpPr>
        <p:spPr>
          <a:xfrm>
            <a:off x="457200" y="1234440"/>
            <a:ext cx="8229600" cy="365760"/>
          </a:xfrm>
          <a:prstGeom prst="rect">
            <a:avLst/>
          </a:prstGeom>
          <a:noFill/>
          <a:ln/>
        </p:spPr>
        <p:txBody>
          <a:bodyPr wrap="square" lIns="0" tIns="0" rIns="0" bIns="0" rtlCol="0" anchor="t"/>
          <a:lstStyle/>
          <a:p>
            <a:pPr indent="0" marL="0">
              <a:buNone/>
            </a:pPr>
            <a:r>
              <a:rPr lang="en-US" sz="1500" dirty="0">
                <a:solidFill>
                  <a:srgbClr val="2B2318"/>
                </a:solidFill>
                <a:latin typeface="Calibri" pitchFamily="34" charset="0"/>
                <a:ea typeface="Calibri" pitchFamily="34" charset="-122"/>
                <a:cs typeface="Calibri" pitchFamily="34" charset="-120"/>
              </a:rPr>
              <a:t>Hängt eine Figur an die passende Stelle der Linie und begründet in einem Satz.</a:t>
            </a:r>
            <a:endParaRPr lang="en-US" sz="1500" dirty="0"/>
          </a:p>
        </p:txBody>
      </p:sp>
      <p:sp>
        <p:nvSpPr>
          <p:cNvPr id="6" name="Shape 4"/>
          <p:cNvSpPr/>
          <p:nvPr/>
        </p:nvSpPr>
        <p:spPr>
          <a:xfrm>
            <a:off x="731520" y="2240280"/>
            <a:ext cx="7680960" cy="0"/>
          </a:xfrm>
          <a:prstGeom prst="line">
            <a:avLst/>
          </a:prstGeom>
          <a:noFill/>
          <a:ln w="38100">
            <a:solidFill>
              <a:srgbClr val="2B2318"/>
            </a:solidFill>
            <a:prstDash val="solid"/>
            <a:headEnd type="triangle"/>
            <a:tailEnd type="triangle"/>
          </a:ln>
        </p:spPr>
      </p:sp>
      <p:sp>
        <p:nvSpPr>
          <p:cNvPr id="7" name="Text 5"/>
          <p:cNvSpPr txBox="1"/>
          <p:nvPr/>
        </p:nvSpPr>
        <p:spPr>
          <a:xfrm>
            <a:off x="457200" y="2377440"/>
            <a:ext cx="1371600" cy="320040"/>
          </a:xfrm>
          <a:prstGeom prst="rect">
            <a:avLst/>
          </a:prstGeom>
          <a:noFill/>
          <a:ln/>
        </p:spPr>
        <p:txBody>
          <a:bodyPr wrap="square" lIns="0" tIns="0" rIns="0" bIns="0" rtlCol="0" anchor="t"/>
          <a:lstStyle/>
          <a:p>
            <a:pPr indent="0" marL="0">
              <a:buNone/>
            </a:pPr>
            <a:r>
              <a:rPr lang="en-US" sz="1500" b="1" dirty="0">
                <a:solidFill>
                  <a:srgbClr val="AD4426"/>
                </a:solidFill>
                <a:latin typeface="Calibri" pitchFamily="34" charset="0"/>
                <a:ea typeface="Calibri" pitchFamily="34" charset="-122"/>
                <a:cs typeface="Calibri" pitchFamily="34" charset="-120"/>
              </a:rPr>
              <a:t>verliert</a:t>
            </a:r>
            <a:endParaRPr lang="en-US" sz="1500" dirty="0"/>
          </a:p>
        </p:txBody>
      </p:sp>
      <p:sp>
        <p:nvSpPr>
          <p:cNvPr id="8" name="Text 6"/>
          <p:cNvSpPr txBox="1"/>
          <p:nvPr/>
        </p:nvSpPr>
        <p:spPr>
          <a:xfrm>
            <a:off x="7315200" y="2377440"/>
            <a:ext cx="1371600" cy="320040"/>
          </a:xfrm>
          <a:prstGeom prst="rect">
            <a:avLst/>
          </a:prstGeom>
          <a:noFill/>
          <a:ln/>
        </p:spPr>
        <p:txBody>
          <a:bodyPr wrap="square" lIns="0" tIns="0" rIns="0" bIns="0" rtlCol="0" anchor="t"/>
          <a:lstStyle/>
          <a:p>
            <a:pPr algn="r" indent="0" marL="0">
              <a:buNone/>
            </a:pPr>
            <a:r>
              <a:rPr lang="en-US" sz="1500" b="1" dirty="0">
                <a:solidFill>
                  <a:srgbClr val="3C783C"/>
                </a:solidFill>
                <a:latin typeface="Calibri" pitchFamily="34" charset="0"/>
                <a:ea typeface="Calibri" pitchFamily="34" charset="-122"/>
                <a:cs typeface="Calibri" pitchFamily="34" charset="-120"/>
              </a:rPr>
              <a:t>gewinnt</a:t>
            </a:r>
            <a:endParaRPr lang="en-US" sz="1500" dirty="0"/>
          </a:p>
        </p:txBody>
      </p:sp>
      <p:sp>
        <p:nvSpPr>
          <p:cNvPr id="9" name="Text 7"/>
          <p:cNvSpPr txBox="1"/>
          <p:nvPr/>
        </p:nvSpPr>
        <p:spPr>
          <a:xfrm>
            <a:off x="457200" y="2926080"/>
            <a:ext cx="2606040" cy="457200"/>
          </a:xfrm>
          <a:prstGeom prst="roundRect">
            <a:avLst>
              <a:gd name="adj" fmla="val 20000"/>
            </a:avLst>
          </a:prstGeom>
          <a:solidFill>
            <a:srgbClr val="F4ECDE"/>
          </a:solidFill>
          <a:ln/>
        </p:spPr>
        <p:txBody>
          <a:bodyPr wrap="square" lIns="25400" tIns="25400" rIns="25400" bIns="25400" rtlCol="0" anchor="ctr"/>
          <a:lstStyle/>
          <a:p>
            <a:pPr algn="ctr" indent="0" marL="0">
              <a:buNone/>
            </a:pPr>
            <a:r>
              <a:rPr lang="en-US" sz="1300" b="1" dirty="0">
                <a:solidFill>
                  <a:srgbClr val="2B2318"/>
                </a:solidFill>
                <a:latin typeface="Calibri" pitchFamily="34" charset="0"/>
                <a:ea typeface="Calibri" pitchFamily="34" charset="-122"/>
                <a:cs typeface="Calibri" pitchFamily="34" charset="-120"/>
              </a:rPr>
              <a:t>Kleinbauer</a:t>
            </a:r>
            <a:endParaRPr lang="en-US" sz="1300" dirty="0"/>
          </a:p>
        </p:txBody>
      </p:sp>
      <p:sp>
        <p:nvSpPr>
          <p:cNvPr id="10" name="Text 8"/>
          <p:cNvSpPr txBox="1"/>
          <p:nvPr/>
        </p:nvSpPr>
        <p:spPr>
          <a:xfrm>
            <a:off x="3246120" y="2926080"/>
            <a:ext cx="2606040" cy="457200"/>
          </a:xfrm>
          <a:prstGeom prst="roundRect">
            <a:avLst>
              <a:gd name="adj" fmla="val 20000"/>
            </a:avLst>
          </a:prstGeom>
          <a:solidFill>
            <a:srgbClr val="F4ECDE"/>
          </a:solidFill>
          <a:ln/>
        </p:spPr>
        <p:txBody>
          <a:bodyPr wrap="square" lIns="25400" tIns="25400" rIns="25400" bIns="25400" rtlCol="0" anchor="ctr"/>
          <a:lstStyle/>
          <a:p>
            <a:pPr algn="ctr" indent="0" marL="0">
              <a:buNone/>
            </a:pPr>
            <a:r>
              <a:rPr lang="en-US" sz="1300" b="1" dirty="0">
                <a:solidFill>
                  <a:srgbClr val="2B2318"/>
                </a:solidFill>
                <a:latin typeface="Calibri" pitchFamily="34" charset="0"/>
                <a:ea typeface="Calibri" pitchFamily="34" charset="-122"/>
                <a:cs typeface="Calibri" pitchFamily="34" charset="-120"/>
              </a:rPr>
              <a:t>Großgrundbesitzer</a:t>
            </a:r>
            <a:endParaRPr lang="en-US" sz="1300" dirty="0"/>
          </a:p>
        </p:txBody>
      </p:sp>
      <p:sp>
        <p:nvSpPr>
          <p:cNvPr id="11" name="Text 9"/>
          <p:cNvSpPr txBox="1"/>
          <p:nvPr/>
        </p:nvSpPr>
        <p:spPr>
          <a:xfrm>
            <a:off x="6035040" y="2926080"/>
            <a:ext cx="2606040" cy="457200"/>
          </a:xfrm>
          <a:prstGeom prst="roundRect">
            <a:avLst>
              <a:gd name="adj" fmla="val 20000"/>
            </a:avLst>
          </a:prstGeom>
          <a:solidFill>
            <a:srgbClr val="F4ECDE"/>
          </a:solidFill>
          <a:ln/>
        </p:spPr>
        <p:txBody>
          <a:bodyPr wrap="square" lIns="25400" tIns="25400" rIns="25400" bIns="25400" rtlCol="0" anchor="ctr"/>
          <a:lstStyle/>
          <a:p>
            <a:pPr algn="ctr" indent="0" marL="0">
              <a:buNone/>
            </a:pPr>
            <a:r>
              <a:rPr lang="en-US" sz="1300" b="1" dirty="0">
                <a:solidFill>
                  <a:srgbClr val="2B2318"/>
                </a:solidFill>
                <a:latin typeface="Calibri" pitchFamily="34" charset="0"/>
                <a:ea typeface="Calibri" pitchFamily="34" charset="-122"/>
                <a:cs typeface="Calibri" pitchFamily="34" charset="-120"/>
              </a:rPr>
              <a:t>Reicher Händler</a:t>
            </a:r>
            <a:endParaRPr lang="en-US" sz="1300" dirty="0"/>
          </a:p>
        </p:txBody>
      </p:sp>
      <p:sp>
        <p:nvSpPr>
          <p:cNvPr id="12" name="Text 10"/>
          <p:cNvSpPr txBox="1"/>
          <p:nvPr/>
        </p:nvSpPr>
        <p:spPr>
          <a:xfrm>
            <a:off x="457200" y="3493008"/>
            <a:ext cx="2606040" cy="457200"/>
          </a:xfrm>
          <a:prstGeom prst="roundRect">
            <a:avLst>
              <a:gd name="adj" fmla="val 20000"/>
            </a:avLst>
          </a:prstGeom>
          <a:solidFill>
            <a:srgbClr val="F4ECDE"/>
          </a:solidFill>
          <a:ln/>
        </p:spPr>
        <p:txBody>
          <a:bodyPr wrap="square" lIns="25400" tIns="25400" rIns="25400" bIns="25400" rtlCol="0" anchor="ctr"/>
          <a:lstStyle/>
          <a:p>
            <a:pPr algn="ctr" indent="0" marL="0">
              <a:buNone/>
            </a:pPr>
            <a:r>
              <a:rPr lang="en-US" sz="1300" b="1" dirty="0">
                <a:solidFill>
                  <a:srgbClr val="2B2318"/>
                </a:solidFill>
                <a:latin typeface="Calibri" pitchFamily="34" charset="0"/>
                <a:ea typeface="Calibri" pitchFamily="34" charset="-122"/>
                <a:cs typeface="Calibri" pitchFamily="34" charset="-120"/>
              </a:rPr>
              <a:t>Verarmter Adliger</a:t>
            </a:r>
            <a:endParaRPr lang="en-US" sz="1300" dirty="0"/>
          </a:p>
        </p:txBody>
      </p:sp>
      <p:sp>
        <p:nvSpPr>
          <p:cNvPr id="13" name="Text 11"/>
          <p:cNvSpPr txBox="1"/>
          <p:nvPr/>
        </p:nvSpPr>
        <p:spPr>
          <a:xfrm>
            <a:off x="3246120" y="3493008"/>
            <a:ext cx="2606040" cy="457200"/>
          </a:xfrm>
          <a:prstGeom prst="roundRect">
            <a:avLst>
              <a:gd name="adj" fmla="val 20000"/>
            </a:avLst>
          </a:prstGeom>
          <a:solidFill>
            <a:srgbClr val="F4ECDE"/>
          </a:solidFill>
          <a:ln/>
        </p:spPr>
        <p:txBody>
          <a:bodyPr wrap="square" lIns="25400" tIns="25400" rIns="25400" bIns="25400" rtlCol="0" anchor="ctr"/>
          <a:lstStyle/>
          <a:p>
            <a:pPr algn="ctr" indent="0" marL="0">
              <a:buNone/>
            </a:pPr>
            <a:r>
              <a:rPr lang="en-US" sz="1300" b="1" dirty="0">
                <a:solidFill>
                  <a:srgbClr val="2B2318"/>
                </a:solidFill>
                <a:latin typeface="Calibri" pitchFamily="34" charset="0"/>
                <a:ea typeface="Calibri" pitchFamily="34" charset="-122"/>
                <a:cs typeface="Calibri" pitchFamily="34" charset="-120"/>
              </a:rPr>
              <a:t>Zurückgekaufter Schuldsklave</a:t>
            </a:r>
            <a:endParaRPr lang="en-US" sz="1300" dirty="0"/>
          </a:p>
        </p:txBody>
      </p:sp>
      <p:sp>
        <p:nvSpPr>
          <p:cNvPr id="14" name="Text 12"/>
          <p:cNvSpPr txBox="1"/>
          <p:nvPr/>
        </p:nvSpPr>
        <p:spPr>
          <a:xfrm>
            <a:off x="6035040" y="3493008"/>
            <a:ext cx="2606040" cy="457200"/>
          </a:xfrm>
          <a:prstGeom prst="roundRect">
            <a:avLst>
              <a:gd name="adj" fmla="val 20000"/>
            </a:avLst>
          </a:prstGeom>
          <a:solidFill>
            <a:srgbClr val="F4ECDE"/>
          </a:solidFill>
          <a:ln/>
        </p:spPr>
        <p:txBody>
          <a:bodyPr wrap="square" lIns="25400" tIns="25400" rIns="25400" bIns="25400" rtlCol="0" anchor="ctr"/>
          <a:lstStyle/>
          <a:p>
            <a:pPr algn="ctr" indent="0" marL="0">
              <a:buNone/>
            </a:pPr>
            <a:r>
              <a:rPr lang="en-US" sz="1300" b="1" dirty="0">
                <a:solidFill>
                  <a:srgbClr val="2B2318"/>
                </a:solidFill>
                <a:latin typeface="Calibri" pitchFamily="34" charset="0"/>
                <a:ea typeface="Calibri" pitchFamily="34" charset="-122"/>
                <a:cs typeface="Calibri" pitchFamily="34" charset="-120"/>
              </a:rPr>
              <a:t>Tagelöhner (Thete)</a:t>
            </a:r>
            <a:endParaRPr lang="en-US" sz="1300" dirty="0"/>
          </a:p>
        </p:txBody>
      </p:sp>
      <p:sp>
        <p:nvSpPr>
          <p:cNvPr id="15" name="Text 13"/>
          <p:cNvSpPr txBox="1"/>
          <p:nvPr/>
        </p:nvSpPr>
        <p:spPr>
          <a:xfrm>
            <a:off x="457200" y="4160520"/>
            <a:ext cx="8229600" cy="320040"/>
          </a:xfrm>
          <a:prstGeom prst="rect">
            <a:avLst/>
          </a:prstGeom>
          <a:noFill/>
          <a:ln/>
        </p:spPr>
        <p:txBody>
          <a:bodyPr wrap="square" lIns="0" tIns="0" rIns="0" bIns="0" rtlCol="0" anchor="t"/>
          <a:lstStyle/>
          <a:p>
            <a:pPr indent="0" marL="0">
              <a:buNone/>
            </a:pPr>
            <a:r>
              <a:rPr lang="en-US" sz="1500" b="1" i="1" dirty="0">
                <a:solidFill>
                  <a:srgbClr val="AD4426"/>
                </a:solidFill>
                <a:latin typeface="Calibri" pitchFamily="34" charset="0"/>
                <a:ea typeface="Calibri" pitchFamily="34" charset="-122"/>
                <a:cs typeface="Calibri" pitchFamily="34" charset="-120"/>
              </a:rPr>
              <a:t>Und wo steht eine Frau?</a:t>
            </a:r>
            <a:endParaRPr lang="en-US" sz="1500" dirty="0"/>
          </a:p>
        </p:txBody>
      </p:sp>
      <p:sp>
        <p:nvSpPr>
          <p:cNvPr id="16" name="Text 14"/>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Von der Polis zur Krise</a:t>
            </a:r>
            <a:endParaRPr lang="en-US" sz="900" dirty="0"/>
          </a:p>
        </p:txBody>
      </p:sp>
      <p:sp>
        <p:nvSpPr>
          <p:cNvPr id="17" name="Text 15"/>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2B2318"/>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indent="0" marL="0">
              <a:buNone/>
            </a:pPr>
            <a:r>
              <a:rPr lang="en-US" sz="1100" b="1" spc="200" kern="0" dirty="0">
                <a:solidFill>
                  <a:srgbClr val="D9A441"/>
                </a:solidFill>
                <a:latin typeface="Calibri" pitchFamily="34" charset="0"/>
                <a:ea typeface="Calibri" pitchFamily="34" charset="-122"/>
                <a:cs typeface="Calibri" pitchFamily="34" charset="-120"/>
              </a:rPr>
              <a:t>AUSBLICK · LB S. 22</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Und dann?</a:t>
            </a:r>
            <a:endParaRPr lang="en-US" sz="2800" dirty="0"/>
          </a:p>
        </p:txBody>
      </p:sp>
      <p:sp>
        <p:nvSpPr>
          <p:cNvPr id="4" name="Shape 2"/>
          <p:cNvSpPr/>
          <p:nvPr/>
        </p:nvSpPr>
        <p:spPr>
          <a:xfrm>
            <a:off x="457200" y="1371600"/>
            <a:ext cx="8229600" cy="1554480"/>
          </a:xfrm>
          <a:prstGeom prst="roundRect">
            <a:avLst>
              <a:gd name="adj" fmla="val 4706"/>
            </a:avLst>
          </a:prstGeom>
          <a:solidFill>
            <a:srgbClr val="3A3024"/>
          </a:solidFill>
          <a:ln w="12700">
            <a:solidFill>
              <a:srgbClr val="3A3024"/>
            </a:solidFill>
            <a:prstDash val="solid"/>
          </a:ln>
        </p:spPr>
      </p:sp>
      <p:sp>
        <p:nvSpPr>
          <p:cNvPr id="5" name="Text 3"/>
          <p:cNvSpPr txBox="1"/>
          <p:nvPr/>
        </p:nvSpPr>
        <p:spPr>
          <a:xfrm>
            <a:off x="731520" y="1481328"/>
            <a:ext cx="7680960" cy="1325880"/>
          </a:xfrm>
          <a:prstGeom prst="rect">
            <a:avLst/>
          </a:prstGeom>
          <a:noFill/>
          <a:ln/>
        </p:spPr>
        <p:txBody>
          <a:bodyPr wrap="square" lIns="0" tIns="0" rIns="0" bIns="0" rtlCol="0" anchor="ctr"/>
          <a:lstStyle/>
          <a:p>
            <a:pPr indent="0" marL="0">
              <a:buNone/>
            </a:pPr>
            <a:r>
              <a:rPr lang="en-US" sz="1700" i="1" dirty="0">
                <a:solidFill>
                  <a:srgbClr val="FFFFFF"/>
                </a:solidFill>
                <a:latin typeface="Cambria" pitchFamily="34" charset="0"/>
                <a:ea typeface="Cambria" pitchFamily="34" charset="-122"/>
                <a:cs typeface="Cambria" pitchFamily="34" charset="-120"/>
              </a:rPr>
              <a:t>„Obwohl Solon sich bemüht hatte, durch Augenmaß und Ausgleich nach allen Seiten seinem Werk Dauerhaftigkeit zu verleihen, fühlten sich doch viele aus unterschiedlichen Motiven von seiner Reform enttäuscht.“</a:t>
            </a:r>
            <a:endParaRPr lang="en-US" sz="1700" dirty="0"/>
          </a:p>
        </p:txBody>
      </p:sp>
      <p:sp>
        <p:nvSpPr>
          <p:cNvPr id="6" name="Text 4"/>
          <p:cNvSpPr txBox="1"/>
          <p:nvPr/>
        </p:nvSpPr>
        <p:spPr>
          <a:xfrm>
            <a:off x="457200" y="3246120"/>
            <a:ext cx="548640" cy="548640"/>
          </a:xfrm>
          <a:prstGeom prst="ellipse">
            <a:avLst/>
          </a:prstGeom>
          <a:solidFill>
            <a:srgbClr val="D9A441"/>
          </a:solidFill>
          <a:ln/>
        </p:spPr>
        <p:txBody>
          <a:bodyPr wrap="square" lIns="0" tIns="0" rIns="0" bIns="0" rtlCol="0" anchor="ctr"/>
          <a:lstStyle/>
          <a:p>
            <a:pPr algn="ctr" indent="0" marL="0">
              <a:buNone/>
            </a:pPr>
            <a:r>
              <a:rPr lang="en-US" sz="2200" b="1" dirty="0">
                <a:solidFill>
                  <a:srgbClr val="2B2318"/>
                </a:solidFill>
                <a:latin typeface="Cambria" pitchFamily="34" charset="0"/>
                <a:ea typeface="Cambria" pitchFamily="34" charset="-122"/>
                <a:cs typeface="Cambria" pitchFamily="34" charset="-120"/>
              </a:rPr>
              <a:t>?</a:t>
            </a:r>
            <a:endParaRPr lang="en-US" sz="2200" dirty="0"/>
          </a:p>
        </p:txBody>
      </p:sp>
      <p:sp>
        <p:nvSpPr>
          <p:cNvPr id="7" name="Text 5"/>
          <p:cNvSpPr txBox="1"/>
          <p:nvPr/>
        </p:nvSpPr>
        <p:spPr>
          <a:xfrm>
            <a:off x="1188720" y="3246120"/>
            <a:ext cx="7406640" cy="54864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Wer war enttäuscht, und was könnte jetzt passieren?</a:t>
            </a:r>
            <a:endParaRPr lang="en-US" sz="2000" dirty="0"/>
          </a:p>
        </p:txBody>
      </p:sp>
      <p:sp>
        <p:nvSpPr>
          <p:cNvPr id="8" name="Text 6"/>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Von der Polis zur Krise</dc:title>
  <dc:subject>PptxGenJS Presentation</dc:subject>
  <dc:creator>PptxGenJS</dc:creator>
  <cp:lastModifiedBy>PptxGenJS</cp:lastModifiedBy>
  <cp:revision>1</cp:revision>
  <dcterms:created xsi:type="dcterms:W3CDTF">2026-09-29T15:47:29Z</dcterms:created>
  <dcterms:modified xsi:type="dcterms:W3CDTF">2026-09-29T15:47:29Z</dcterms:modified>
</cp:coreProperties>
</file>