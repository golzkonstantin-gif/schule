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Direkt zur Urteilsampel weitergehen.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Min. Pro Aussage ca. 40 Sekunden. Nur bei Uneinigkeit zwei Schüler kurz begründen lassen. Lösungen stehen in den Notizen der folgenden 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überprüfbare Tatsache.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Beschreibung. Beschreibung: überprüfbare Tatsache.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erklärt Ursache und Folge aus den Bedingungen der Zeit.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Sachurteil. Sachurteil: erklärt Ursache und Folge aus den Bedingungen der 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3 = Werturteil. Werturteil, aber pauschal: kein Maßstab, keine Begründung. Nachfragen: Was müsste ergänzt werden?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Werturteil. Werturteil, aber pauschal: kein Maßstab, keine Begründung. Nachfragen: Was müsste ergänzt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(LB S. 20).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Beschreibung. Beschreibung (LB 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begründet, aus der Zeit heraus.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Sachurteil. Sachurteil: begründet, aus der Zeit heraus.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3 = Werturteil. Gutes Werturteil: Maßstab offengelegt, begründet. Vergleich mit Aussage 3.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Werturteil. Gutes Werturteil: Maßstab offengelegt, begründet. Vergleich mit Aussage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(LB S. 20).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Beschreibung. Beschreibung (LB 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aus einer Perspektive. Leitet zur Krise über: Wie sahen das die Bauern?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Sachurteil. Sachurteil aus einer Perspektive. Leitet zur Krise über: Wie sahen das die Bauern?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7–17 Min. Einzelarbeit, dann Vergleich mit dem Nachbarn (ausgedrucktes Blatt oder Nummern und Wörter ins Heft). Jedes Wort aus dem Wortspeicher passt genau einmal. Neue Begriffe: Chora (Umland) und Synoikismos (Zusammenschluss Attikas, LB S. 20). Genos, Phyle, Aristokratie, Areopag/Adelsrat, Archonten: vgl. LB S.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Bewusst offen lassen: Was passiert, wenn die Bauern ihre Schulden nicht zurückzahlen können? Die Frage führt zur Hörprobe und zur Krise.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Teil 1 zeigen, Paare korrigieren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 Min. Zwei Schüler nennen ihre Vermutung zur Schlussfrage. An der Tafel festhalten, die Hörprobe bestätigt sie.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18–25 Min. 5 Min. schreiben, 2 Min. Partnercheck. Holt nach, was in der letzten Stunde nicht mehr geschafft wurde. Jede begründete Wahl ist zulässig (Geographie, Landmangel, Schutzbedürfnis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Andere Faktoren sind ebenso richtig, wenn sie begründet sind (z. B. Landmangel, Schutzbedürfnis, Herrschaft des Adels). Die drei Kästen zeigen, woran man ein gelungenes Sachurteil erkennt.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Min. Auftrag vor dem Abspielen geben. Danach die Problemtabelle an die Tafel (nächste Folie). Falls die Hörprobe überarbeitet wird: Audio auf dieser Folie ersetzen (Rechtsklick &gt; Audio 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Zuordnung zeigt, wie aus den Notizen die Zeilen der Tabelle werden. Die Zeile „Politische Macht nur beim Adel“ kommt im Hörtext nur indirekt vor – sie ergibt sich aus dem Lückentext (Aristokratie, Archonten, Areopag). Falls die Hörprobe überarbeitet wird, diese Folie anpassen.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Tabelle an die Tafel schreiben oder diese Folie zeigen. Die Schüler übernehmen sie ins Heft und füllen die Spalten in den nächsten Phasen 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30–38 Min. Erwartung: Schuldknechtschaft ✘ (Schuldknechtschaft bleibt), Landbesitz ✘, Recht ~ (geschriebenes, verbindliches Recht, 51 Richter, Blutrache aufgehoben; Vollzug bleibt bei der Sippe), Politische Macht ✘, Bürgerkrieg ✘. Das Beispiel „Recht nur beim Adel“ bewusst stehen lassen – es zeigt, wie ein Beleg aussieht.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Beleg für „Recht“: LB S. 20 – schriftliches Recht (624 oder 621), für alle Bürger verbindlich, Blutrache und Adelsfehde aufgehoben, 51 Richter; Vollzug des Urteils bleibt bei der Sippe. Die Schuldknechtschaft beseitigte er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38–53 Min. Wichtig: Jeder liest nur seinen Teil – der Partner braucht die Erklärung, um die Spalte ausfüllen zu können.
A findet: Schulden getilgt, Schuldknechtschaft aufgehoben, Versklavte zurückgekauft, keine Zwangsenteignung der Grundherren, Förderung des Mittelstands.
B findet: vier Klassen nach Besitz, Theten nur aktives Wahlrecht, Archonten nur aus der 1. Klasse, Volksversammlung stimmt ab, wählt Beamte, Rat der 400 bereitet vor, Klagerecht jedes Bürgers, Areopag als Aufsicht.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Abgleich: Nur die Felder besprechen, bei denen die Paare anders entschieden haben (meist politische Macht und Bürgerkrieg). Belege: LB S. 20–22 (Schulden getilgt, Schuldknechtschaft aufgehoben, Rückkauf; keine Zwangsenteignung; Klagerecht jedes Bürgers; vier Klassen nach Besitz, Theten nur aktives Wahlrecht, Archonten nur 1. Klasse). Bürgerkrieg: LB S. 22 berichtet von neuen bürgerkriegsähnlichen Kämpfen.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 Min. Video läuft ca. 1 Minute. Die Schlussfrage im Video („Ist das schon Demokratie?“) kann kurz stehen bleiben – sie wird in der Beurteilung wieder aufgegriffen.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letzte Punkt (Frauen, Sklaven, Fremde) steht nicht im Video – bewusst ergänzen oder als Frage stellen: „Wer fehlt im Schaubild?“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63–80 Min. 12 Min. schreiben, 5 Min. Partnercheck. „Beurteile, inwieweit …“ ist ein Abitur-Operator – ggf. kurz darauf hinweisen. Zeit knapp? Werturteil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Beispiellösung, keine Musterantwort: Andere Gewichtungen sind möglich, wenn sie mit der Tabelle belegt sind. Beim Werturteil auf den offengelegten Maßstab 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80–88 Min. Figurenkarten ausgedruckt an die Tafel. Mögliche Einordnung: Schuldsklave und Kleinbauer gewinnen (Freiheit, Schuldenerlass), aber ohne Land; reicher Händler gewinnt politisch; Großgrundbesitzer verliert Forderungen, behält Land; verarmter Adliger verliert Einfluss; Thete gewinnt Stimmrecht, aber nicht wählbar. Frauen: kommen in der Reform gar nicht 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Mögliche Lösung – andere begründete Positionen sind möglich, besonders in der Mitte (Thete, Kleinbauer, Großgrundbesitzer). Die links stehenden Figuren leiten zur Enttäuschung über (LB S.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88–90 Min. Überleitung zu Peisistratos. Die Figurenkarten an der Tafel liefern die Antwort: die, die links auf der Linie hängen.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audio" Target="../media/media-25-1.mp3"/><Relationship Id="rId2" Type="http://schemas.microsoft.com/office/2007/relationships/media" Target="../media/media-25-1.mp3"/><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video" Target="../media/media-32-1.mp4"/><Relationship Id="rId2" Type="http://schemas.microsoft.com/office/2007/relationships/media" Target="../media/media-32-1.mp4"/><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 · DOPPELSTUNDE</a:t>
            </a:r>
            <a:endParaRPr lang="en-US" sz="1200" dirty="0"/>
          </a:p>
        </p:txBody>
      </p:sp>
      <p:sp>
        <p:nvSpPr>
          <p:cNvPr id="3" name="Text 1"/>
          <p:cNvSpPr txBox="1"/>
          <p:nvPr/>
        </p:nvSpPr>
        <p:spPr>
          <a:xfrm>
            <a:off x="640080" y="1325880"/>
            <a:ext cx="7863840" cy="82296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Von der Polis zur Krise</a:t>
            </a:r>
            <a:endParaRPr lang="en-US" sz="4200" dirty="0"/>
          </a:p>
        </p:txBody>
      </p:sp>
      <p:sp>
        <p:nvSpPr>
          <p:cNvPr id="4" name="Text 2"/>
          <p:cNvSpPr txBox="1"/>
          <p:nvPr/>
        </p:nvSpPr>
        <p:spPr>
          <a:xfrm>
            <a:off x="640080" y="219456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Athen um 600 v. Chr.: Wer löst die Krise? Drakon und Solon</a:t>
            </a:r>
            <a:endParaRPr lang="en-US" sz="1800" dirty="0"/>
          </a:p>
        </p:txBody>
      </p:sp>
      <p:sp>
        <p:nvSpPr>
          <p:cNvPr id="5" name="Text 3"/>
          <p:cNvSpPr txBox="1"/>
          <p:nvPr/>
        </p:nvSpPr>
        <p:spPr>
          <a:xfrm>
            <a:off x="640080" y="3200400"/>
            <a:ext cx="1828800" cy="457200"/>
          </a:xfrm>
          <a:prstGeom prst="roundRect">
            <a:avLst>
              <a:gd name="adj" fmla="val 20000"/>
            </a:avLst>
          </a:prstGeom>
          <a:solidFill>
            <a:srgbClr val="5A5044"/>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Wiederholen</a:t>
            </a:r>
            <a:endParaRPr lang="en-US" sz="1400" dirty="0"/>
          </a:p>
        </p:txBody>
      </p:sp>
      <p:sp>
        <p:nvSpPr>
          <p:cNvPr id="6" name="Text 4"/>
          <p:cNvSpPr txBox="1"/>
          <p:nvPr/>
        </p:nvSpPr>
        <p:spPr>
          <a:xfrm>
            <a:off x="2651760" y="3200400"/>
            <a:ext cx="1828800" cy="457200"/>
          </a:xfrm>
          <a:prstGeom prst="roundRect">
            <a:avLst>
              <a:gd name="adj" fmla="val 20000"/>
            </a:avLst>
          </a:prstGeom>
          <a:solidFill>
            <a:srgbClr val="D9A441"/>
          </a:solidFill>
          <a:ln/>
        </p:spPr>
        <p:txBody>
          <a:bodyPr wrap="square" lIns="25400" tIns="25400" rIns="25400" bIns="25400" rtlCol="0" anchor="ctr"/>
          <a:lstStyle/>
          <a:p>
            <a:pPr algn="ctr" indent="0" marL="0">
              <a:buNone/>
            </a:pPr>
            <a:r>
              <a:rPr lang="en-US" sz="1400" b="1" dirty="0">
                <a:solidFill>
                  <a:srgbClr val="2B2318"/>
                </a:solidFill>
                <a:latin typeface="Calibri" pitchFamily="34" charset="0"/>
                <a:ea typeface="Calibri" pitchFamily="34" charset="-122"/>
                <a:cs typeface="Calibri" pitchFamily="34" charset="-120"/>
              </a:rPr>
              <a:t>Untersuchen</a:t>
            </a:r>
            <a:endParaRPr lang="en-US" sz="1400" dirty="0"/>
          </a:p>
        </p:txBody>
      </p:sp>
      <p:sp>
        <p:nvSpPr>
          <p:cNvPr id="7" name="Text 5"/>
          <p:cNvSpPr txBox="1"/>
          <p:nvPr/>
        </p:nvSpPr>
        <p:spPr>
          <a:xfrm>
            <a:off x="4663440" y="3200400"/>
            <a:ext cx="1828800" cy="457200"/>
          </a:xfrm>
          <a:prstGeom prst="roundRect">
            <a:avLst>
              <a:gd name="adj" fmla="val 20000"/>
            </a:avLst>
          </a:prstGeom>
          <a:solidFill>
            <a:srgbClr val="AD4426"/>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Beurteilen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PLENUM</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Urteilsampel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Text 3"/>
          <p:cNvSpPr txBox="1"/>
          <p:nvPr/>
        </p:nvSpPr>
        <p:spPr>
          <a:xfrm>
            <a:off x="457200" y="1280160"/>
            <a:ext cx="8229600" cy="64008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Ich zeige euch Aussagen zur griechischen Polis. Zeigt gleichzeitig mit den Fingern, um welche Art von Aussage es sich handelt.</a:t>
            </a:r>
            <a:endParaRPr lang="en-US" sz="1600" dirty="0"/>
          </a:p>
        </p:txBody>
      </p:sp>
      <p:sp>
        <p:nvSpPr>
          <p:cNvPr id="6" name="Shape 4"/>
          <p:cNvSpPr/>
          <p:nvPr/>
        </p:nvSpPr>
        <p:spPr>
          <a:xfrm>
            <a:off x="457200" y="2103120"/>
            <a:ext cx="2606040" cy="1920240"/>
          </a:xfrm>
          <a:prstGeom prst="roundRect">
            <a:avLst>
              <a:gd name="adj" fmla="val 3810"/>
            </a:avLst>
          </a:prstGeom>
          <a:solidFill>
            <a:srgbClr val="5A5044"/>
          </a:solidFill>
          <a:ln w="12700">
            <a:solidFill>
              <a:srgbClr val="5A5044"/>
            </a:solidFill>
            <a:prstDash val="solid"/>
          </a:ln>
        </p:spPr>
      </p:sp>
      <p:sp>
        <p:nvSpPr>
          <p:cNvPr id="7" name="Text 5"/>
          <p:cNvSpPr txBox="1"/>
          <p:nvPr/>
        </p:nvSpPr>
        <p:spPr>
          <a:xfrm>
            <a:off x="457200" y="2194560"/>
            <a:ext cx="2606040" cy="914400"/>
          </a:xfrm>
          <a:prstGeom prst="rect">
            <a:avLst/>
          </a:prstGeom>
          <a:noFill/>
          <a:ln/>
        </p:spPr>
        <p:txBody>
          <a:bodyPr wrap="square" lIns="0" tIns="0" rIns="0" bIns="0" rtlCol="0" anchor="t"/>
          <a:lstStyle/>
          <a:p>
            <a:pPr algn="ctr" indent="0" marL="0">
              <a:buNone/>
            </a:pPr>
            <a:r>
              <a:rPr lang="en-US" sz="6000" b="1" dirty="0">
                <a:solidFill>
                  <a:srgbClr val="FFFFFF"/>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457200" y="3063240"/>
            <a:ext cx="2606040" cy="2743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Finger</a:t>
            </a:r>
            <a:endParaRPr lang="en-US" sz="1200" dirty="0"/>
          </a:p>
        </p:txBody>
      </p:sp>
      <p:sp>
        <p:nvSpPr>
          <p:cNvPr id="9" name="Text 7"/>
          <p:cNvSpPr txBox="1"/>
          <p:nvPr/>
        </p:nvSpPr>
        <p:spPr>
          <a:xfrm>
            <a:off x="457200" y="3429000"/>
            <a:ext cx="2606040" cy="41148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Beschreibung</a:t>
            </a:r>
            <a:endParaRPr lang="en-US" sz="2000" dirty="0"/>
          </a:p>
        </p:txBody>
      </p:sp>
      <p:sp>
        <p:nvSpPr>
          <p:cNvPr id="10" name="Shape 8"/>
          <p:cNvSpPr/>
          <p:nvPr/>
        </p:nvSpPr>
        <p:spPr>
          <a:xfrm>
            <a:off x="3246120" y="2103120"/>
            <a:ext cx="2606040" cy="1920240"/>
          </a:xfrm>
          <a:prstGeom prst="roundRect">
            <a:avLst>
              <a:gd name="adj" fmla="val 3810"/>
            </a:avLst>
          </a:prstGeom>
          <a:solidFill>
            <a:srgbClr val="D9A441"/>
          </a:solidFill>
          <a:ln w="12700">
            <a:solidFill>
              <a:srgbClr val="D9A441"/>
            </a:solidFill>
            <a:prstDash val="solid"/>
          </a:ln>
        </p:spPr>
      </p:sp>
      <p:sp>
        <p:nvSpPr>
          <p:cNvPr id="11" name="Text 9"/>
          <p:cNvSpPr txBox="1"/>
          <p:nvPr/>
        </p:nvSpPr>
        <p:spPr>
          <a:xfrm>
            <a:off x="3246120" y="2194560"/>
            <a:ext cx="2606040" cy="914400"/>
          </a:xfrm>
          <a:prstGeom prst="rect">
            <a:avLst/>
          </a:prstGeom>
          <a:noFill/>
          <a:ln/>
        </p:spPr>
        <p:txBody>
          <a:bodyPr wrap="square" lIns="0" tIns="0" rIns="0" bIns="0" rtlCol="0" anchor="t"/>
          <a:lstStyle/>
          <a:p>
            <a:pPr algn="ctr" indent="0" marL="0">
              <a:buNone/>
            </a:pPr>
            <a:r>
              <a:rPr lang="en-US" sz="6000" b="1" dirty="0">
                <a:solidFill>
                  <a:srgbClr val="2B2318"/>
                </a:solidFill>
                <a:latin typeface="Cambria" pitchFamily="34" charset="0"/>
                <a:ea typeface="Cambria" pitchFamily="34" charset="-122"/>
                <a:cs typeface="Cambria" pitchFamily="34" charset="-120"/>
              </a:rPr>
              <a:t>2</a:t>
            </a:r>
            <a:endParaRPr lang="en-US" sz="6000" dirty="0"/>
          </a:p>
        </p:txBody>
      </p:sp>
      <p:sp>
        <p:nvSpPr>
          <p:cNvPr id="12" name="Text 10"/>
          <p:cNvSpPr txBox="1"/>
          <p:nvPr/>
        </p:nvSpPr>
        <p:spPr>
          <a:xfrm>
            <a:off x="3246120" y="3063240"/>
            <a:ext cx="2606040" cy="274320"/>
          </a:xfrm>
          <a:prstGeom prst="rect">
            <a:avLst/>
          </a:prstGeom>
          <a:noFill/>
          <a:ln/>
        </p:spPr>
        <p:txBody>
          <a:bodyPr wrap="square" lIns="0" tIns="0" rIns="0" bIns="0" rtlCol="0" anchor="t"/>
          <a:lstStyle/>
          <a:p>
            <a:pPr algn="ctr" indent="0" marL="0">
              <a:buNone/>
            </a:pPr>
            <a:r>
              <a:rPr lang="en-US" sz="1200" dirty="0">
                <a:solidFill>
                  <a:srgbClr val="2B2318"/>
                </a:solidFill>
                <a:latin typeface="Calibri" pitchFamily="34" charset="0"/>
                <a:ea typeface="Calibri" pitchFamily="34" charset="-122"/>
                <a:cs typeface="Calibri" pitchFamily="34" charset="-120"/>
              </a:rPr>
              <a:t>Finger</a:t>
            </a:r>
            <a:endParaRPr lang="en-US" sz="1200" dirty="0"/>
          </a:p>
        </p:txBody>
      </p:sp>
      <p:sp>
        <p:nvSpPr>
          <p:cNvPr id="13" name="Text 11"/>
          <p:cNvSpPr txBox="1"/>
          <p:nvPr/>
        </p:nvSpPr>
        <p:spPr>
          <a:xfrm>
            <a:off x="3246120" y="3429000"/>
            <a:ext cx="2606040" cy="411480"/>
          </a:xfrm>
          <a:prstGeom prst="rect">
            <a:avLst/>
          </a:prstGeom>
          <a:noFill/>
          <a:ln/>
        </p:spPr>
        <p:txBody>
          <a:bodyPr wrap="square" lIns="0" tIns="0" rIns="0" bIns="0" rtlCol="0" anchor="t"/>
          <a:lstStyle/>
          <a:p>
            <a:pPr algn="ctr" indent="0" marL="0">
              <a:buNone/>
            </a:pPr>
            <a:r>
              <a:rPr lang="en-US" sz="2000" b="1" dirty="0">
                <a:solidFill>
                  <a:srgbClr val="2B2318"/>
                </a:solidFill>
                <a:latin typeface="Calibri" pitchFamily="34" charset="0"/>
                <a:ea typeface="Calibri" pitchFamily="34" charset="-122"/>
                <a:cs typeface="Calibri" pitchFamily="34" charset="-120"/>
              </a:rPr>
              <a:t>Sachurteil</a:t>
            </a:r>
            <a:endParaRPr lang="en-US" sz="2000" dirty="0"/>
          </a:p>
        </p:txBody>
      </p:sp>
      <p:sp>
        <p:nvSpPr>
          <p:cNvPr id="14" name="Shape 12"/>
          <p:cNvSpPr/>
          <p:nvPr/>
        </p:nvSpPr>
        <p:spPr>
          <a:xfrm>
            <a:off x="6035040" y="2103120"/>
            <a:ext cx="2606040" cy="1920240"/>
          </a:xfrm>
          <a:prstGeom prst="roundRect">
            <a:avLst>
              <a:gd name="adj" fmla="val 3810"/>
            </a:avLst>
          </a:prstGeom>
          <a:solidFill>
            <a:srgbClr val="AD4426"/>
          </a:solidFill>
          <a:ln w="12700">
            <a:solidFill>
              <a:srgbClr val="AD4426"/>
            </a:solidFill>
            <a:prstDash val="solid"/>
          </a:ln>
        </p:spPr>
      </p:sp>
      <p:sp>
        <p:nvSpPr>
          <p:cNvPr id="15" name="Text 13"/>
          <p:cNvSpPr txBox="1"/>
          <p:nvPr/>
        </p:nvSpPr>
        <p:spPr>
          <a:xfrm>
            <a:off x="6035040" y="2194560"/>
            <a:ext cx="2606040" cy="914400"/>
          </a:xfrm>
          <a:prstGeom prst="rect">
            <a:avLst/>
          </a:prstGeom>
          <a:noFill/>
          <a:ln/>
        </p:spPr>
        <p:txBody>
          <a:bodyPr wrap="square" lIns="0" tIns="0" rIns="0" bIns="0" rtlCol="0" anchor="t"/>
          <a:lstStyle/>
          <a:p>
            <a:pPr algn="ctr" indent="0" marL="0">
              <a:buNone/>
            </a:pPr>
            <a:r>
              <a:rPr lang="en-US" sz="6000" b="1" dirty="0">
                <a:solidFill>
                  <a:srgbClr val="FFFFFF"/>
                </a:solidFill>
                <a:latin typeface="Cambria" pitchFamily="34" charset="0"/>
                <a:ea typeface="Cambria" pitchFamily="34" charset="-122"/>
                <a:cs typeface="Cambria" pitchFamily="34" charset="-120"/>
              </a:rPr>
              <a:t>3</a:t>
            </a:r>
            <a:endParaRPr lang="en-US" sz="6000" dirty="0"/>
          </a:p>
        </p:txBody>
      </p:sp>
      <p:sp>
        <p:nvSpPr>
          <p:cNvPr id="16" name="Text 14"/>
          <p:cNvSpPr txBox="1"/>
          <p:nvPr/>
        </p:nvSpPr>
        <p:spPr>
          <a:xfrm>
            <a:off x="6035040" y="3063240"/>
            <a:ext cx="2606040" cy="2743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Finger</a:t>
            </a:r>
            <a:endParaRPr lang="en-US" sz="1200" dirty="0"/>
          </a:p>
        </p:txBody>
      </p:sp>
      <p:sp>
        <p:nvSpPr>
          <p:cNvPr id="17" name="Text 15"/>
          <p:cNvSpPr txBox="1"/>
          <p:nvPr/>
        </p:nvSpPr>
        <p:spPr>
          <a:xfrm>
            <a:off x="6035040" y="3429000"/>
            <a:ext cx="2606040" cy="41148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Werturteil</a:t>
            </a:r>
            <a:endParaRPr lang="en-US" sz="2000" dirty="0"/>
          </a:p>
        </p:txBody>
      </p:sp>
      <p:sp>
        <p:nvSpPr>
          <p:cNvPr id="18" name="Text 1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300" i="1" dirty="0">
                <a:solidFill>
                  <a:srgbClr val="5A5044"/>
                </a:solidFill>
                <a:latin typeface="Calibri" pitchFamily="34" charset="0"/>
                <a:ea typeface="Calibri" pitchFamily="34" charset="-122"/>
                <a:cs typeface="Calibri" pitchFamily="34" charset="-120"/>
              </a:rPr>
              <a:t>Erst überlegen, dann auf mein Zeichen alle gleichzeitig zeigen.</a:t>
            </a:r>
            <a:endParaRPr lang="en-US" sz="1300" dirty="0"/>
          </a:p>
        </p:txBody>
      </p:sp>
      <p:sp>
        <p:nvSpPr>
          <p:cNvPr id="19" name="Text 17"/>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0" name="Text 1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1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„Das griechische Festland ist von Gebirgen durchzogen.“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1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„Das griechische Festland ist von Gebirgen durchzogen.“</a:t>
            </a:r>
            <a:endParaRPr lang="en-US" sz="2200" dirty="0"/>
          </a:p>
        </p:txBody>
      </p:sp>
      <p:sp>
        <p:nvSpPr>
          <p:cNvPr id="5" name="Shape 3"/>
          <p:cNvSpPr/>
          <p:nvPr/>
        </p:nvSpPr>
        <p:spPr>
          <a:xfrm>
            <a:off x="457200" y="2651760"/>
            <a:ext cx="8229600" cy="1463040"/>
          </a:xfrm>
          <a:prstGeom prst="roundRect">
            <a:avLst>
              <a:gd name="adj" fmla="val 5000"/>
            </a:avLst>
          </a:prstGeom>
          <a:solidFill>
            <a:srgbClr val="5A5044"/>
          </a:solidFill>
          <a:ln w="12700">
            <a:solidFill>
              <a:srgbClr val="5A5044"/>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5A5044"/>
                </a:solidFill>
                <a:latin typeface="Cambria" pitchFamily="34" charset="0"/>
                <a:ea typeface="Cambria" pitchFamily="34" charset="-122"/>
                <a:cs typeface="Cambria" pitchFamily="34" charset="-120"/>
              </a:rPr>
              <a:t>1</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Beschreibung</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Eine überprüfbare Tatsache. Hier wird nichts bewertet.</a:t>
            </a:r>
            <a:endParaRPr lang="en-US" sz="1600" dirty="0"/>
          </a:p>
        </p:txBody>
      </p:sp>
      <p:sp>
        <p:nvSpPr>
          <p:cNvPr id="9" name="Text 7"/>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2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„Weil Gebirge die Siedlungen trennten, entstanden viele kleine, unabhängige Poleis statt eines großen Reiches.“</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2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1900" i="1" dirty="0">
                <a:solidFill>
                  <a:srgbClr val="2B2318"/>
                </a:solidFill>
                <a:latin typeface="Cambria" pitchFamily="34" charset="0"/>
                <a:ea typeface="Cambria" pitchFamily="34" charset="-122"/>
                <a:cs typeface="Cambria" pitchFamily="34" charset="-120"/>
              </a:rPr>
              <a:t>„Weil Gebirge die Siedlungen trennten, entstanden viele kleine, unabhängige Poleis statt eines großen Reiches.“</a:t>
            </a:r>
            <a:endParaRPr lang="en-US" sz="1900" dirty="0"/>
          </a:p>
        </p:txBody>
      </p:sp>
      <p:sp>
        <p:nvSpPr>
          <p:cNvPr id="5" name="Shape 3"/>
          <p:cNvSpPr/>
          <p:nvPr/>
        </p:nvSpPr>
        <p:spPr>
          <a:xfrm>
            <a:off x="457200" y="2651760"/>
            <a:ext cx="8229600" cy="1463040"/>
          </a:xfrm>
          <a:prstGeom prst="roundRect">
            <a:avLst>
              <a:gd name="adj" fmla="val 5000"/>
            </a:avLst>
          </a:prstGeom>
          <a:solidFill>
            <a:srgbClr val="D9A441"/>
          </a:solidFill>
          <a:ln w="12700">
            <a:solidFill>
              <a:srgbClr val="D9A441"/>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Sachurteil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Erklärt Ursache und Folge aus den Bedingungen der damaligen Zeit („Weil …“).</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3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„Dass sich die Griechen nie zu einem Staat zusammenschlossen, war ein Fehler.“</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3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„Dass sich die Griechen nie zu einem Staat zusammenschlossen, war ein Fehler.“</a:t>
            </a:r>
            <a:endParaRPr lang="en-US" sz="2200" dirty="0"/>
          </a:p>
        </p:txBody>
      </p:sp>
      <p:sp>
        <p:nvSpPr>
          <p:cNvPr id="5" name="Shape 3"/>
          <p:cNvSpPr/>
          <p:nvPr/>
        </p:nvSpPr>
        <p:spPr>
          <a:xfrm>
            <a:off x="457200" y="2651760"/>
            <a:ext cx="8229600" cy="1463040"/>
          </a:xfrm>
          <a:prstGeom prst="roundRect">
            <a:avLst>
              <a:gd name="adj" fmla="val 5000"/>
            </a:avLst>
          </a:prstGeom>
          <a:solidFill>
            <a:srgbClr val="AD4426"/>
          </a:solidFill>
          <a:ln w="12700">
            <a:solidFill>
              <a:srgbClr val="AD4426"/>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AD4426"/>
                </a:solidFill>
                <a:latin typeface="Cambria" pitchFamily="34" charset="0"/>
                <a:ea typeface="Cambria" pitchFamily="34" charset="-122"/>
                <a:cs typeface="Cambria" pitchFamily="34" charset="-120"/>
              </a:rPr>
              <a:t>3</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Werturteil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Wertet („ein Fehler“), aber pauschal: Maßstab und Begründung fehlen.</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4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„Um 700 v. Chr. schlossen sich die Gemeinden Attikas zur Polis Athen zusammen.“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4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„Um 700 v. Chr. schlossen sich die Gemeinden Attikas zur Polis Athen zusammen.“</a:t>
            </a:r>
            <a:endParaRPr lang="en-US" sz="2200" dirty="0"/>
          </a:p>
        </p:txBody>
      </p:sp>
      <p:sp>
        <p:nvSpPr>
          <p:cNvPr id="5" name="Shape 3"/>
          <p:cNvSpPr/>
          <p:nvPr/>
        </p:nvSpPr>
        <p:spPr>
          <a:xfrm>
            <a:off x="457200" y="2651760"/>
            <a:ext cx="8229600" cy="1463040"/>
          </a:xfrm>
          <a:prstGeom prst="roundRect">
            <a:avLst>
              <a:gd name="adj" fmla="val 5000"/>
            </a:avLst>
          </a:prstGeom>
          <a:solidFill>
            <a:srgbClr val="5A5044"/>
          </a:solidFill>
          <a:ln w="12700">
            <a:solidFill>
              <a:srgbClr val="5A5044"/>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5A5044"/>
                </a:solidFill>
                <a:latin typeface="Cambria" pitchFamily="34" charset="0"/>
                <a:ea typeface="Cambria" pitchFamily="34" charset="-122"/>
                <a:cs typeface="Cambria" pitchFamily="34" charset="-120"/>
              </a:rPr>
              <a:t>1</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Beschreibung</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Eine überprüfbare Tatsache (LB S. 20).</a:t>
            </a:r>
            <a:endParaRPr lang="en-US" sz="1600" dirty="0"/>
          </a:p>
        </p:txBody>
      </p:sp>
      <p:sp>
        <p:nvSpPr>
          <p:cNvPr id="9" name="Text 7"/>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5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„Die Kolonisation entlastete die Poleis, weil sie Landmangel und Bevölkerungsdruck verringerte.“</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5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1900" i="1" dirty="0">
                <a:solidFill>
                  <a:srgbClr val="2B2318"/>
                </a:solidFill>
                <a:latin typeface="Cambria" pitchFamily="34" charset="0"/>
                <a:ea typeface="Cambria" pitchFamily="34" charset="-122"/>
                <a:cs typeface="Cambria" pitchFamily="34" charset="-120"/>
              </a:rPr>
              <a:t>„Die Kolonisation entlastete die Poleis, weil sie Landmangel und Bevölkerungsdruck verringerte.“</a:t>
            </a:r>
            <a:endParaRPr lang="en-US" sz="1900" dirty="0"/>
          </a:p>
        </p:txBody>
      </p:sp>
      <p:sp>
        <p:nvSpPr>
          <p:cNvPr id="5" name="Shape 3"/>
          <p:cNvSpPr/>
          <p:nvPr/>
        </p:nvSpPr>
        <p:spPr>
          <a:xfrm>
            <a:off x="457200" y="2651760"/>
            <a:ext cx="8229600" cy="1463040"/>
          </a:xfrm>
          <a:prstGeom prst="roundRect">
            <a:avLst>
              <a:gd name="adj" fmla="val 5000"/>
            </a:avLst>
          </a:prstGeom>
          <a:solidFill>
            <a:srgbClr val="D9A441"/>
          </a:solidFill>
          <a:ln w="12700">
            <a:solidFill>
              <a:srgbClr val="D9A441"/>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Sachurteil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Beurteilt die Wirkung im Zusammenhang der damaligen Zeit und begründet („weil …“).</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6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„Gemessen am Recht aller Völker auf ihr Land war die Verdrängung Einheimischer durch griechische Siedler Unrecht.“</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6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1900" i="1" dirty="0">
                <a:solidFill>
                  <a:srgbClr val="2B2318"/>
                </a:solidFill>
                <a:latin typeface="Cambria" pitchFamily="34" charset="0"/>
                <a:ea typeface="Cambria" pitchFamily="34" charset="-122"/>
                <a:cs typeface="Cambria" pitchFamily="34" charset="-120"/>
              </a:rPr>
              <a:t>„Gemessen am Recht aller Völker auf ihr Land war die Verdrängung Einheimischer durch griechische Siedler Unrecht.“</a:t>
            </a:r>
            <a:endParaRPr lang="en-US" sz="1900" dirty="0"/>
          </a:p>
        </p:txBody>
      </p:sp>
      <p:sp>
        <p:nvSpPr>
          <p:cNvPr id="5" name="Shape 3"/>
          <p:cNvSpPr/>
          <p:nvPr/>
        </p:nvSpPr>
        <p:spPr>
          <a:xfrm>
            <a:off x="457200" y="2651760"/>
            <a:ext cx="8229600" cy="1463040"/>
          </a:xfrm>
          <a:prstGeom prst="roundRect">
            <a:avLst>
              <a:gd name="adj" fmla="val 5000"/>
            </a:avLst>
          </a:prstGeom>
          <a:solidFill>
            <a:srgbClr val="AD4426"/>
          </a:solidFill>
          <a:ln w="12700">
            <a:solidFill>
              <a:srgbClr val="AD4426"/>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AD4426"/>
                </a:solidFill>
                <a:latin typeface="Cambria" pitchFamily="34" charset="0"/>
                <a:ea typeface="Cambria" pitchFamily="34" charset="-122"/>
                <a:cs typeface="Cambria" pitchFamily="34" charset="-120"/>
              </a:rPr>
              <a:t>3</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Werturteil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Wertet aus heutiger Sicht, nennt den Maßstab und begründet: ein gutes Werturteil.</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7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„Die Akropolis war Götter- und Herrschersitz.“</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7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„Die Akropolis war Götter- und Herrschersitz.“</a:t>
            </a:r>
            <a:endParaRPr lang="en-US" sz="2200" dirty="0"/>
          </a:p>
        </p:txBody>
      </p:sp>
      <p:sp>
        <p:nvSpPr>
          <p:cNvPr id="5" name="Shape 3"/>
          <p:cNvSpPr/>
          <p:nvPr/>
        </p:nvSpPr>
        <p:spPr>
          <a:xfrm>
            <a:off x="457200" y="2651760"/>
            <a:ext cx="8229600" cy="1463040"/>
          </a:xfrm>
          <a:prstGeom prst="roundRect">
            <a:avLst>
              <a:gd name="adj" fmla="val 5000"/>
            </a:avLst>
          </a:prstGeom>
          <a:solidFill>
            <a:srgbClr val="5A5044"/>
          </a:solidFill>
          <a:ln w="12700">
            <a:solidFill>
              <a:srgbClr val="5A5044"/>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5A5044"/>
                </a:solidFill>
                <a:latin typeface="Cambria" pitchFamily="34" charset="0"/>
                <a:ea typeface="Cambria" pitchFamily="34" charset="-122"/>
                <a:cs typeface="Cambria" pitchFamily="34" charset="-120"/>
              </a:rPr>
              <a:t>1</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Beschreibung</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Eine überprüfbare Tatsache (LB S. 20).</a:t>
            </a:r>
            <a:endParaRPr lang="en-US" sz="1600" dirty="0"/>
          </a:p>
        </p:txBody>
      </p:sp>
      <p:sp>
        <p:nvSpPr>
          <p:cNvPr id="9" name="Text 7"/>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8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„Aus Sicht der Adligen war es selbstverständlich, dass nur sie Recht sprachen.“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8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„Aus Sicht der Adligen war es selbstverständlich, dass nur sie Recht sprachen.“</a:t>
            </a:r>
            <a:endParaRPr lang="en-US" sz="2200" dirty="0"/>
          </a:p>
        </p:txBody>
      </p:sp>
      <p:sp>
        <p:nvSpPr>
          <p:cNvPr id="5" name="Shape 3"/>
          <p:cNvSpPr/>
          <p:nvPr/>
        </p:nvSpPr>
        <p:spPr>
          <a:xfrm>
            <a:off x="457200" y="2651760"/>
            <a:ext cx="8229600" cy="1463040"/>
          </a:xfrm>
          <a:prstGeom prst="roundRect">
            <a:avLst>
              <a:gd name="adj" fmla="val 5000"/>
            </a:avLst>
          </a:prstGeom>
          <a:solidFill>
            <a:srgbClr val="D9A441"/>
          </a:solidFill>
          <a:ln w="12700">
            <a:solidFill>
              <a:srgbClr val="D9A441"/>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Sachurteil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Beurteilt aus der Sicht einer Gruppe von damals. Ob das richtig war, sagt der Satz nicht.</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EINZELARBEIT · LÜCKENTEXT 1/2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entstanden die Poleis?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 Min.</a:t>
            </a:r>
            <a:endParaRPr lang="en-US" sz="1100" dirty="0"/>
          </a:p>
        </p:txBody>
      </p:sp>
      <p:sp>
        <p:nvSpPr>
          <p:cNvPr id="5" name="Text 3"/>
          <p:cNvSpPr txBox="1"/>
          <p:nvPr/>
        </p:nvSpPr>
        <p:spPr>
          <a:xfrm>
            <a:off x="457200" y="1097280"/>
            <a:ext cx="8229600" cy="420624"/>
          </a:xfrm>
          <a:prstGeom prst="rect">
            <a:avLst/>
          </a:prstGeom>
          <a:noFill/>
          <a:ln/>
        </p:spPr>
        <p:txBody>
          <a:bodyPr wrap="square" lIns="0" tIns="0" rIns="0" bIns="0" rtlCol="0" anchor="ctr"/>
          <a:lstStyle/>
          <a:p>
            <a:pPr indent="0" marL="0">
              <a:buNone/>
            </a:pPr>
            <a:r>
              <a:rPr lang="en-US" sz="1200" b="1" dirty="0">
                <a:solidFill>
                  <a:srgbClr val="5A5044"/>
                </a:solidFill>
                <a:latin typeface="Calibri" pitchFamily="34" charset="0"/>
                <a:ea typeface="Calibri" pitchFamily="34" charset="-122"/>
                <a:cs typeface="Calibri" pitchFamily="34" charset="-120"/>
              </a:rPr>
              <a:t>1. Lies den Text auf deinem Blatt.   2. Setze die Wörter aus dem Wortspeicher ein (jedes passt genau einmal).   3. Vergleiche mit deinem Nachbarn.</a:t>
            </a:r>
            <a:endParaRPr lang="en-US" sz="1200" dirty="0"/>
          </a:p>
        </p:txBody>
      </p:sp>
      <p:sp>
        <p:nvSpPr>
          <p:cNvPr id="6" name="Shape 4"/>
          <p:cNvSpPr/>
          <p:nvPr/>
        </p:nvSpPr>
        <p:spPr>
          <a:xfrm>
            <a:off x="457200" y="1572768"/>
            <a:ext cx="8229600" cy="2139696"/>
          </a:xfrm>
          <a:prstGeom prst="roundRect">
            <a:avLst>
              <a:gd name="adj" fmla="val 3419"/>
            </a:avLst>
          </a:prstGeom>
          <a:solidFill>
            <a:srgbClr val="FBF8F2"/>
          </a:solidFill>
          <a:ln w="12700">
            <a:solidFill>
              <a:srgbClr val="E6E0D6"/>
            </a:solidFill>
            <a:prstDash val="solid"/>
          </a:ln>
        </p:spPr>
      </p:sp>
      <p:sp>
        <p:nvSpPr>
          <p:cNvPr id="7" name="Text 5"/>
          <p:cNvSpPr txBox="1"/>
          <p:nvPr/>
        </p:nvSpPr>
        <p:spPr>
          <a:xfrm>
            <a:off x="621792" y="1600200"/>
            <a:ext cx="7900416" cy="2084832"/>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Das griechische Festland ist von </a:t>
            </a:r>
            <a:pPr indent="0" marL="0">
              <a:buNone/>
            </a:pPr>
            <a:r>
              <a:rPr lang="en-US" sz="1300" b="1" dirty="0">
                <a:solidFill>
                  <a:srgbClr val="AD4426"/>
                </a:solidFill>
                <a:latin typeface="Calibri" pitchFamily="34" charset="0"/>
                <a:ea typeface="Calibri" pitchFamily="34" charset="-122"/>
                <a:cs typeface="Calibri" pitchFamily="34" charset="-120"/>
              </a:rPr>
              <a:t>(1) __________</a:t>
            </a:r>
            <a:pPr indent="0" marL="0">
              <a:buNone/>
            </a:pPr>
            <a:r>
              <a:rPr lang="en-US" sz="1300" dirty="0">
                <a:solidFill>
                  <a:srgbClr val="2B2318"/>
                </a:solidFill>
                <a:latin typeface="Calibri" pitchFamily="34" charset="0"/>
                <a:ea typeface="Calibri" pitchFamily="34" charset="-122"/>
                <a:cs typeface="Calibri" pitchFamily="34" charset="-120"/>
              </a:rPr>
              <a:t> durchzogen. Fruchtbares Ackerland gibt es nur in kleinen </a:t>
            </a:r>
            <a:pPr indent="0" marL="0">
              <a:buNone/>
            </a:pPr>
            <a:r>
              <a:rPr lang="en-US" sz="1300" b="1" dirty="0">
                <a:solidFill>
                  <a:srgbClr val="AD4426"/>
                </a:solidFill>
                <a:latin typeface="Calibri" pitchFamily="34" charset="0"/>
                <a:ea typeface="Calibri" pitchFamily="34" charset="-122"/>
                <a:cs typeface="Calibri" pitchFamily="34" charset="-120"/>
              </a:rPr>
              <a:t>(2) __________</a:t>
            </a:r>
            <a:pPr indent="0" marL="0">
              <a:buNone/>
            </a:pPr>
            <a:r>
              <a:rPr lang="en-US" sz="1300" dirty="0">
                <a:solidFill>
                  <a:srgbClr val="2B2318"/>
                </a:solidFill>
                <a:latin typeface="Calibri" pitchFamily="34" charset="0"/>
                <a:ea typeface="Calibri" pitchFamily="34" charset="-122"/>
                <a:cs typeface="Calibri" pitchFamily="34" charset="-120"/>
              </a:rPr>
              <a:t> an den Küsten und in den Tälern. Weil die Berge die Siedlungen voneinander trennten, entstand kein großes Reich, sondern viele kleine, unabhängige Stadtstaaten: die </a:t>
            </a:r>
            <a:pPr indent="0" marL="0">
              <a:buNone/>
            </a:pPr>
            <a:r>
              <a:rPr lang="en-US" sz="1300" b="1" dirty="0">
                <a:solidFill>
                  <a:srgbClr val="AD4426"/>
                </a:solidFill>
                <a:latin typeface="Calibri" pitchFamily="34" charset="0"/>
                <a:ea typeface="Calibri" pitchFamily="34" charset="-122"/>
                <a:cs typeface="Calibri" pitchFamily="34" charset="-120"/>
              </a:rPr>
              <a:t>(3) __________</a:t>
            </a:r>
            <a:pPr indent="0" marL="0">
              <a:buNone/>
            </a:pPr>
            <a:r>
              <a:rPr lang="en-US" sz="1300" dirty="0">
                <a:solidFill>
                  <a:srgbClr val="2B2318"/>
                </a:solidFill>
                <a:latin typeface="Calibri" pitchFamily="34" charset="0"/>
                <a:ea typeface="Calibri" pitchFamily="34" charset="-122"/>
                <a:cs typeface="Calibri" pitchFamily="34" charset="-120"/>
              </a:rPr>
              <a:t>. Eine Polis war ein </a:t>
            </a:r>
            <a:pPr indent="0" marL="0">
              <a:buNone/>
            </a:pPr>
            <a:r>
              <a:rPr lang="en-US" sz="1300" b="1" dirty="0">
                <a:solidFill>
                  <a:srgbClr val="AD4426"/>
                </a:solidFill>
                <a:latin typeface="Calibri" pitchFamily="34" charset="0"/>
                <a:ea typeface="Calibri" pitchFamily="34" charset="-122"/>
                <a:cs typeface="Calibri" pitchFamily="34" charset="-120"/>
              </a:rPr>
              <a:t>(4) __________</a:t>
            </a:r>
            <a:pPr indent="0" marL="0">
              <a:buNone/>
            </a:pPr>
            <a:r>
              <a:rPr lang="en-US" sz="1300" dirty="0">
                <a:solidFill>
                  <a:srgbClr val="2B2318"/>
                </a:solidFill>
                <a:latin typeface="Calibri" pitchFamily="34" charset="0"/>
                <a:ea typeface="Calibri" pitchFamily="34" charset="-122"/>
                <a:cs typeface="Calibri" pitchFamily="34" charset="-120"/>
              </a:rPr>
              <a:t>: Der Staat, das waren seine Bürger. Man sprach deshalb von „den Athenern“, nicht von „Athen“.</a:t>
            </a:r>
            <a:pPr indent="0" marL="0">
              <a:buNone/>
            </a:pPr>
            <a:endParaRPr lang="en-US" sz="1300" dirty="0"/>
          </a:p>
          <a:p>
            <a:pPr indent="0" marL="0">
              <a:buNone/>
            </a:pPr>
            <a:r>
              <a:rPr lang="en-US" sz="500" dirty="0">
                <a:solidFill>
                  <a:srgbClr val="2B2318"/>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2B2318"/>
                </a:solidFill>
                <a:latin typeface="Calibri" pitchFamily="34" charset="0"/>
                <a:ea typeface="Calibri" pitchFamily="34" charset="-122"/>
                <a:cs typeface="Calibri" pitchFamily="34" charset="-120"/>
              </a:rPr>
              <a:t>Zu jeder Polis gehörten die Stadt mit dem Burgberg, der </a:t>
            </a:r>
            <a:pPr indent="0" marL="0">
              <a:buNone/>
            </a:pPr>
            <a:r>
              <a:rPr lang="en-US" sz="1300" b="1" dirty="0">
                <a:solidFill>
                  <a:srgbClr val="AD4426"/>
                </a:solidFill>
                <a:latin typeface="Calibri" pitchFamily="34" charset="0"/>
                <a:ea typeface="Calibri" pitchFamily="34" charset="-122"/>
                <a:cs typeface="Calibri" pitchFamily="34" charset="-120"/>
              </a:rPr>
              <a:t>(5) __________</a:t>
            </a:r>
            <a:pPr indent="0" marL="0">
              <a:buNone/>
            </a:pPr>
            <a:r>
              <a:rPr lang="en-US" sz="1300" dirty="0">
                <a:solidFill>
                  <a:srgbClr val="2B2318"/>
                </a:solidFill>
                <a:latin typeface="Calibri" pitchFamily="34" charset="0"/>
                <a:ea typeface="Calibri" pitchFamily="34" charset="-122"/>
                <a:cs typeface="Calibri" pitchFamily="34" charset="-120"/>
              </a:rPr>
              <a:t>, und dem Marktplatz, der </a:t>
            </a:r>
            <a:pPr indent="0" marL="0">
              <a:buNone/>
            </a:pPr>
            <a:r>
              <a:rPr lang="en-US" sz="1300" b="1" dirty="0">
                <a:solidFill>
                  <a:srgbClr val="AD4426"/>
                </a:solidFill>
                <a:latin typeface="Calibri" pitchFamily="34" charset="0"/>
                <a:ea typeface="Calibri" pitchFamily="34" charset="-122"/>
                <a:cs typeface="Calibri" pitchFamily="34" charset="-120"/>
              </a:rPr>
              <a:t>(6) __________</a:t>
            </a:r>
            <a:pPr indent="0" marL="0">
              <a:buNone/>
            </a:pPr>
            <a:r>
              <a:rPr lang="en-US" sz="1300" dirty="0">
                <a:solidFill>
                  <a:srgbClr val="2B2318"/>
                </a:solidFill>
                <a:latin typeface="Calibri" pitchFamily="34" charset="0"/>
                <a:ea typeface="Calibri" pitchFamily="34" charset="-122"/>
                <a:cs typeface="Calibri" pitchFamily="34" charset="-120"/>
              </a:rPr>
              <a:t>, sowie das Umland mit Feldern und Weiden, die </a:t>
            </a:r>
            <a:pPr indent="0" marL="0">
              <a:buNone/>
            </a:pPr>
            <a:r>
              <a:rPr lang="en-US" sz="1300" b="1" dirty="0">
                <a:solidFill>
                  <a:srgbClr val="AD4426"/>
                </a:solidFill>
                <a:latin typeface="Calibri" pitchFamily="34" charset="0"/>
                <a:ea typeface="Calibri" pitchFamily="34" charset="-122"/>
                <a:cs typeface="Calibri" pitchFamily="34" charset="-120"/>
              </a:rPr>
              <a:t>Chora</a:t>
            </a:r>
            <a:pPr indent="0" marL="0">
              <a:buNone/>
            </a:pPr>
            <a:r>
              <a:rPr lang="en-US" sz="1300" dirty="0">
                <a:solidFill>
                  <a:srgbClr val="2B2318"/>
                </a:solidFill>
                <a:latin typeface="Calibri" pitchFamily="34" charset="0"/>
                <a:ea typeface="Calibri" pitchFamily="34" charset="-122"/>
                <a:cs typeface="Calibri" pitchFamily="34" charset="-120"/>
              </a:rPr>
              <a:t>. Athen entstand durch den Zusammenschluss vieler Dörfer und Gemeinden der Halbinsel Attika. Dieser Vorgang, der um 700 v. Chr. abgeschlossen war, heißt </a:t>
            </a:r>
            <a:pPr indent="0" marL="0">
              <a:buNone/>
            </a:pPr>
            <a:r>
              <a:rPr lang="en-US" sz="1300" b="1" dirty="0">
                <a:solidFill>
                  <a:srgbClr val="AD4426"/>
                </a:solidFill>
                <a:latin typeface="Calibri" pitchFamily="34" charset="0"/>
                <a:ea typeface="Calibri" pitchFamily="34" charset="-122"/>
                <a:cs typeface="Calibri" pitchFamily="34" charset="-120"/>
              </a:rPr>
              <a:t>Synoikismos</a:t>
            </a:r>
            <a:pPr indent="0" marL="0">
              <a:buNone/>
            </a:pPr>
            <a:r>
              <a:rPr lang="en-US" sz="1300" dirty="0">
                <a:solidFill>
                  <a:srgbClr val="2B2318"/>
                </a:solidFill>
                <a:latin typeface="Calibri" pitchFamily="34" charset="0"/>
                <a:ea typeface="Calibri" pitchFamily="34" charset="-122"/>
                <a:cs typeface="Calibri" pitchFamily="34" charset="-120"/>
              </a:rPr>
              <a:t> (griechisch: „Zusammensiedlung“).</a:t>
            </a:r>
            <a:endParaRPr lang="en-US" sz="1300" dirty="0"/>
          </a:p>
        </p:txBody>
      </p:sp>
      <p:sp>
        <p:nvSpPr>
          <p:cNvPr id="8" name="Text 6"/>
          <p:cNvSpPr txBox="1"/>
          <p:nvPr/>
        </p:nvSpPr>
        <p:spPr>
          <a:xfrm>
            <a:off x="457200" y="3767328"/>
            <a:ext cx="1828800" cy="228600"/>
          </a:xfrm>
          <a:prstGeom prst="rect">
            <a:avLst/>
          </a:prstGeom>
          <a:noFill/>
          <a:ln/>
        </p:spPr>
        <p:txBody>
          <a:bodyPr wrap="square" lIns="0" tIns="0" rIns="0" bIns="0" rtlCol="0" anchor="t"/>
          <a:lstStyle/>
          <a:p>
            <a:pPr indent="0" marL="0">
              <a:buNone/>
            </a:pPr>
            <a:r>
              <a:rPr lang="en-US" sz="1000" b="1" spc="200" kern="0" dirty="0">
                <a:solidFill>
                  <a:srgbClr val="5A5044"/>
                </a:solidFill>
                <a:latin typeface="Calibri" pitchFamily="34" charset="0"/>
                <a:ea typeface="Calibri" pitchFamily="34" charset="-122"/>
                <a:cs typeface="Calibri" pitchFamily="34" charset="-120"/>
              </a:rPr>
              <a:t>WORTSPEICHER</a:t>
            </a:r>
            <a:endParaRPr lang="en-US" sz="1000" dirty="0"/>
          </a:p>
        </p:txBody>
      </p:sp>
      <p:sp>
        <p:nvSpPr>
          <p:cNvPr id="9" name="Text 7"/>
          <p:cNvSpPr txBox="1"/>
          <p:nvPr/>
        </p:nvSpPr>
        <p:spPr>
          <a:xfrm>
            <a:off x="457200"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Adel</a:t>
            </a:r>
            <a:endParaRPr lang="en-US" sz="1050" dirty="0"/>
          </a:p>
        </p:txBody>
      </p:sp>
      <p:sp>
        <p:nvSpPr>
          <p:cNvPr id="10" name="Text 8"/>
          <p:cNvSpPr txBox="1"/>
          <p:nvPr/>
        </p:nvSpPr>
        <p:spPr>
          <a:xfrm>
            <a:off x="1636776"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Agora</a:t>
            </a:r>
            <a:endParaRPr lang="en-US" sz="1050" dirty="0"/>
          </a:p>
        </p:txBody>
      </p:sp>
      <p:sp>
        <p:nvSpPr>
          <p:cNvPr id="11" name="Text 9"/>
          <p:cNvSpPr txBox="1"/>
          <p:nvPr/>
        </p:nvSpPr>
        <p:spPr>
          <a:xfrm>
            <a:off x="2816352"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Akropolis</a:t>
            </a:r>
            <a:endParaRPr lang="en-US" sz="1050" dirty="0"/>
          </a:p>
        </p:txBody>
      </p:sp>
      <p:sp>
        <p:nvSpPr>
          <p:cNvPr id="12" name="Text 10"/>
          <p:cNvSpPr txBox="1"/>
          <p:nvPr/>
        </p:nvSpPr>
        <p:spPr>
          <a:xfrm>
            <a:off x="3995928"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Areopag</a:t>
            </a:r>
            <a:endParaRPr lang="en-US" sz="1050" dirty="0"/>
          </a:p>
        </p:txBody>
      </p:sp>
      <p:sp>
        <p:nvSpPr>
          <p:cNvPr id="13" name="Text 11"/>
          <p:cNvSpPr txBox="1"/>
          <p:nvPr/>
        </p:nvSpPr>
        <p:spPr>
          <a:xfrm>
            <a:off x="5175504"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Aristokratie</a:t>
            </a:r>
            <a:endParaRPr lang="en-US" sz="1050" dirty="0"/>
          </a:p>
        </p:txBody>
      </p:sp>
      <p:sp>
        <p:nvSpPr>
          <p:cNvPr id="14" name="Text 12"/>
          <p:cNvSpPr txBox="1"/>
          <p:nvPr/>
        </p:nvSpPr>
        <p:spPr>
          <a:xfrm>
            <a:off x="6355080"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Ebenen</a:t>
            </a:r>
            <a:endParaRPr lang="en-US" sz="1050" dirty="0"/>
          </a:p>
        </p:txBody>
      </p:sp>
      <p:sp>
        <p:nvSpPr>
          <p:cNvPr id="15" name="Text 13"/>
          <p:cNvSpPr txBox="1"/>
          <p:nvPr/>
        </p:nvSpPr>
        <p:spPr>
          <a:xfrm>
            <a:off x="7534656"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Gebirgen</a:t>
            </a:r>
            <a:endParaRPr lang="en-US" sz="1050" dirty="0"/>
          </a:p>
        </p:txBody>
      </p:sp>
      <p:sp>
        <p:nvSpPr>
          <p:cNvPr id="16" name="Text 14"/>
          <p:cNvSpPr txBox="1"/>
          <p:nvPr/>
        </p:nvSpPr>
        <p:spPr>
          <a:xfrm>
            <a:off x="457200"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Gemeinde­staat</a:t>
            </a:r>
            <a:endParaRPr lang="en-US" sz="1050" dirty="0"/>
          </a:p>
        </p:txBody>
      </p:sp>
      <p:sp>
        <p:nvSpPr>
          <p:cNvPr id="17" name="Text 15"/>
          <p:cNvSpPr txBox="1"/>
          <p:nvPr/>
        </p:nvSpPr>
        <p:spPr>
          <a:xfrm>
            <a:off x="1636776"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Genos</a:t>
            </a:r>
            <a:endParaRPr lang="en-US" sz="1050" dirty="0"/>
          </a:p>
        </p:txBody>
      </p:sp>
      <p:sp>
        <p:nvSpPr>
          <p:cNvPr id="18" name="Text 16"/>
          <p:cNvSpPr txBox="1"/>
          <p:nvPr/>
        </p:nvSpPr>
        <p:spPr>
          <a:xfrm>
            <a:off x="2816352"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knapper</a:t>
            </a:r>
            <a:endParaRPr lang="en-US" sz="1050" dirty="0"/>
          </a:p>
        </p:txBody>
      </p:sp>
      <p:sp>
        <p:nvSpPr>
          <p:cNvPr id="19" name="Text 17"/>
          <p:cNvSpPr txBox="1"/>
          <p:nvPr/>
        </p:nvSpPr>
        <p:spPr>
          <a:xfrm>
            <a:off x="3995928"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Kolonisation</a:t>
            </a:r>
            <a:endParaRPr lang="en-US" sz="1050" dirty="0"/>
          </a:p>
        </p:txBody>
      </p:sp>
      <p:sp>
        <p:nvSpPr>
          <p:cNvPr id="20" name="Text 18"/>
          <p:cNvSpPr txBox="1"/>
          <p:nvPr/>
        </p:nvSpPr>
        <p:spPr>
          <a:xfrm>
            <a:off x="5175504"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Phyle</a:t>
            </a:r>
            <a:endParaRPr lang="en-US" sz="1050" dirty="0"/>
          </a:p>
        </p:txBody>
      </p:sp>
      <p:sp>
        <p:nvSpPr>
          <p:cNvPr id="21" name="Text 19"/>
          <p:cNvSpPr txBox="1"/>
          <p:nvPr/>
        </p:nvSpPr>
        <p:spPr>
          <a:xfrm>
            <a:off x="6355080"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Poleis</a:t>
            </a:r>
            <a:endParaRPr lang="en-US" sz="1050" dirty="0"/>
          </a:p>
        </p:txBody>
      </p:sp>
      <p:sp>
        <p:nvSpPr>
          <p:cNvPr id="22" name="Text 20"/>
          <p:cNvSpPr txBox="1"/>
          <p:nvPr/>
        </p:nvSpPr>
        <p:spPr>
          <a:xfrm>
            <a:off x="7534656"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Schulden</a:t>
            </a:r>
            <a:endParaRPr lang="en-US" sz="1050" dirty="0"/>
          </a:p>
        </p:txBody>
      </p:sp>
      <p:sp>
        <p:nvSpPr>
          <p:cNvPr id="23" name="Text 21"/>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4" name="Text 22"/>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EINZELARBEIT · LÜCKENTEXT 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entstanden die Poleis?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Teil 2</a:t>
            </a:r>
            <a:endParaRPr lang="en-US" sz="1100" dirty="0"/>
          </a:p>
        </p:txBody>
      </p:sp>
      <p:sp>
        <p:nvSpPr>
          <p:cNvPr id="5" name="Text 3"/>
          <p:cNvSpPr txBox="1"/>
          <p:nvPr/>
        </p:nvSpPr>
        <p:spPr>
          <a:xfrm>
            <a:off x="457200" y="1097280"/>
            <a:ext cx="8229600" cy="420624"/>
          </a:xfrm>
          <a:prstGeom prst="rect">
            <a:avLst/>
          </a:prstGeom>
          <a:noFill/>
          <a:ln/>
        </p:spPr>
        <p:txBody>
          <a:bodyPr wrap="square" lIns="0" tIns="0" rIns="0" bIns="0" rtlCol="0" anchor="ctr"/>
          <a:lstStyle/>
          <a:p>
            <a:pPr indent="0" marL="0">
              <a:buNone/>
            </a:pPr>
            <a:r>
              <a:rPr lang="en-US" sz="1200" b="1" dirty="0">
                <a:solidFill>
                  <a:srgbClr val="5A5044"/>
                </a:solidFill>
                <a:latin typeface="Calibri" pitchFamily="34" charset="0"/>
                <a:ea typeface="Calibri" pitchFamily="34" charset="-122"/>
                <a:cs typeface="Calibri" pitchFamily="34" charset="-120"/>
              </a:rPr>
              <a:t>Ergänze die Lücken 7–14. Schreibe danach unter den Text in einem Satz: Was passiert, wenn die Bauern ihre Schulden nicht zurückzahlen können?</a:t>
            </a:r>
            <a:endParaRPr lang="en-US" sz="1200" dirty="0"/>
          </a:p>
        </p:txBody>
      </p:sp>
      <p:sp>
        <p:nvSpPr>
          <p:cNvPr id="6" name="Shape 4"/>
          <p:cNvSpPr/>
          <p:nvPr/>
        </p:nvSpPr>
        <p:spPr>
          <a:xfrm>
            <a:off x="457200" y="1572768"/>
            <a:ext cx="8229600" cy="2139696"/>
          </a:xfrm>
          <a:prstGeom prst="roundRect">
            <a:avLst>
              <a:gd name="adj" fmla="val 3419"/>
            </a:avLst>
          </a:prstGeom>
          <a:solidFill>
            <a:srgbClr val="FBF8F2"/>
          </a:solidFill>
          <a:ln w="12700">
            <a:solidFill>
              <a:srgbClr val="E6E0D6"/>
            </a:solidFill>
            <a:prstDash val="solid"/>
          </a:ln>
        </p:spPr>
      </p:sp>
      <p:sp>
        <p:nvSpPr>
          <p:cNvPr id="7" name="Text 5"/>
          <p:cNvSpPr txBox="1"/>
          <p:nvPr/>
        </p:nvSpPr>
        <p:spPr>
          <a:xfrm>
            <a:off x="621792" y="1600200"/>
            <a:ext cx="7900416" cy="2084832"/>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Als die Bevölkerung wuchs, wurde das Ackerland immer </a:t>
            </a:r>
            <a:pPr indent="0" marL="0">
              <a:buNone/>
            </a:pPr>
            <a:r>
              <a:rPr lang="en-US" sz="1200" b="1" dirty="0">
                <a:solidFill>
                  <a:srgbClr val="AD4426"/>
                </a:solidFill>
                <a:latin typeface="Calibri" pitchFamily="34" charset="0"/>
                <a:ea typeface="Calibri" pitchFamily="34" charset="-122"/>
                <a:cs typeface="Calibri" pitchFamily="34" charset="-120"/>
              </a:rPr>
              <a:t>(7) __________</a:t>
            </a:r>
            <a:pPr indent="0" marL="0">
              <a:buNone/>
            </a:pPr>
            <a:r>
              <a:rPr lang="en-US" sz="1200" dirty="0">
                <a:solidFill>
                  <a:srgbClr val="2B2318"/>
                </a:solidFill>
                <a:latin typeface="Calibri" pitchFamily="34" charset="0"/>
                <a:ea typeface="Calibri" pitchFamily="34" charset="-122"/>
                <a:cs typeface="Calibri" pitchFamily="34" charset="-120"/>
              </a:rPr>
              <a:t>. Viele Poleis schickten deshalb Bürger aus, die an den Küsten des Mittelmeers und des Schwarzen Meeres neue Siedlungen gründeten. Diesen Vorgang nennt man </a:t>
            </a:r>
            <a:pPr indent="0" marL="0">
              <a:buNone/>
            </a:pPr>
            <a:r>
              <a:rPr lang="en-US" sz="1200" b="1" dirty="0">
                <a:solidFill>
                  <a:srgbClr val="AD4426"/>
                </a:solidFill>
                <a:latin typeface="Calibri" pitchFamily="34" charset="0"/>
                <a:ea typeface="Calibri" pitchFamily="34" charset="-122"/>
                <a:cs typeface="Calibri" pitchFamily="34" charset="-120"/>
              </a:rPr>
              <a:t>(8) __________</a:t>
            </a:r>
            <a:pPr indent="0" marL="0">
              <a:buNone/>
            </a:pPr>
            <a:r>
              <a:rPr lang="en-US" sz="1200" dirty="0">
                <a:solidFill>
                  <a:srgbClr val="2B2318"/>
                </a:solidFill>
                <a:latin typeface="Calibri" pitchFamily="34" charset="0"/>
                <a:ea typeface="Calibri" pitchFamily="34" charset="-122"/>
                <a:cs typeface="Calibri" pitchFamily="34" charset="-120"/>
              </a:rPr>
              <a:t>.</a:t>
            </a:r>
            <a:pPr indent="0" marL="0">
              <a:buNone/>
            </a:pPr>
            <a:endParaRPr lang="en-US" sz="1200" dirty="0"/>
          </a:p>
          <a:p>
            <a:pPr indent="0" marL="0">
              <a:buNone/>
            </a:pPr>
            <a:r>
              <a:rPr lang="en-US" sz="500" dirty="0">
                <a:solidFill>
                  <a:srgbClr val="2B2318"/>
                </a:solidFill>
                <a:latin typeface="Calibri" pitchFamily="34" charset="0"/>
                <a:ea typeface="Calibri" pitchFamily="34" charset="-122"/>
                <a:cs typeface="Calibri" pitchFamily="34" charset="-120"/>
              </a:rPr>
              <a:t> </a:t>
            </a:r>
            <a:endParaRPr lang="en-US" sz="1200" dirty="0"/>
          </a:p>
          <a:p>
            <a:pPr indent="0" marL="0">
              <a:buNone/>
            </a:pPr>
            <a:r>
              <a:rPr lang="en-US" sz="1200" dirty="0">
                <a:solidFill>
                  <a:srgbClr val="2B2318"/>
                </a:solidFill>
                <a:latin typeface="Calibri" pitchFamily="34" charset="0"/>
                <a:ea typeface="Calibri" pitchFamily="34" charset="-122"/>
                <a:cs typeface="Calibri" pitchFamily="34" charset="-120"/>
              </a:rPr>
              <a:t>Das meiste Land gehörte wenigen reichen Familien, dem </a:t>
            </a:r>
            <a:pPr indent="0" marL="0">
              <a:buNone/>
            </a:pPr>
            <a:r>
              <a:rPr lang="en-US" sz="1200" b="1" dirty="0">
                <a:solidFill>
                  <a:srgbClr val="AD4426"/>
                </a:solidFill>
                <a:latin typeface="Calibri" pitchFamily="34" charset="0"/>
                <a:ea typeface="Calibri" pitchFamily="34" charset="-122"/>
                <a:cs typeface="Calibri" pitchFamily="34" charset="-120"/>
              </a:rPr>
              <a:t>(9) __________</a:t>
            </a:r>
            <a:pPr indent="0" marL="0">
              <a:buNone/>
            </a:pPr>
            <a:r>
              <a:rPr lang="en-US" sz="1200" dirty="0">
                <a:solidFill>
                  <a:srgbClr val="2B2318"/>
                </a:solidFill>
                <a:latin typeface="Calibri" pitchFamily="34" charset="0"/>
                <a:ea typeface="Calibri" pitchFamily="34" charset="-122"/>
                <a:cs typeface="Calibri" pitchFamily="34" charset="-120"/>
              </a:rPr>
              <a:t>. Jede dieser Familien gehörte zu einem Geschlechterverband, einem </a:t>
            </a:r>
            <a:pPr indent="0" marL="0">
              <a:buNone/>
            </a:pPr>
            <a:r>
              <a:rPr lang="en-US" sz="1200" b="1" dirty="0">
                <a:solidFill>
                  <a:srgbClr val="AD4426"/>
                </a:solidFill>
                <a:latin typeface="Calibri" pitchFamily="34" charset="0"/>
                <a:ea typeface="Calibri" pitchFamily="34" charset="-122"/>
                <a:cs typeface="Calibri" pitchFamily="34" charset="-120"/>
              </a:rPr>
              <a:t>(10) __________</a:t>
            </a:r>
            <a:pPr indent="0" marL="0">
              <a:buNone/>
            </a:pPr>
            <a:r>
              <a:rPr lang="en-US" sz="1200" dirty="0">
                <a:solidFill>
                  <a:srgbClr val="2B2318"/>
                </a:solidFill>
                <a:latin typeface="Calibri" pitchFamily="34" charset="0"/>
                <a:ea typeface="Calibri" pitchFamily="34" charset="-122"/>
                <a:cs typeface="Calibri" pitchFamily="34" charset="-120"/>
              </a:rPr>
              <a:t>. Alle Athener waren außerdem in vier große Stammesverbände eingeteilt; ein solcher Verband hieß </a:t>
            </a:r>
            <a:pPr indent="0" marL="0">
              <a:buNone/>
            </a:pPr>
            <a:r>
              <a:rPr lang="en-US" sz="1200" b="1" dirty="0">
                <a:solidFill>
                  <a:srgbClr val="AD4426"/>
                </a:solidFill>
                <a:latin typeface="Calibri" pitchFamily="34" charset="0"/>
                <a:ea typeface="Calibri" pitchFamily="34" charset="-122"/>
                <a:cs typeface="Calibri" pitchFamily="34" charset="-120"/>
              </a:rPr>
              <a:t>(11) __________</a:t>
            </a:r>
            <a:pPr indent="0" marL="0">
              <a:buNone/>
            </a:pPr>
            <a:r>
              <a:rPr lang="en-US" sz="1200" dirty="0">
                <a:solidFill>
                  <a:srgbClr val="2B2318"/>
                </a:solidFill>
                <a:latin typeface="Calibri" pitchFamily="34" charset="0"/>
                <a:ea typeface="Calibri" pitchFamily="34" charset="-122"/>
                <a:cs typeface="Calibri" pitchFamily="34" charset="-120"/>
              </a:rPr>
              <a:t>. Die Adligen hatten auch die politische Macht. Diese Herrschaft der „Besten“ nennt man </a:t>
            </a:r>
            <a:pPr indent="0" marL="0">
              <a:buNone/>
            </a:pPr>
            <a:r>
              <a:rPr lang="en-US" sz="1200" b="1" dirty="0">
                <a:solidFill>
                  <a:srgbClr val="AD4426"/>
                </a:solidFill>
                <a:latin typeface="Calibri" pitchFamily="34" charset="0"/>
                <a:ea typeface="Calibri" pitchFamily="34" charset="-122"/>
                <a:cs typeface="Calibri" pitchFamily="34" charset="-120"/>
              </a:rPr>
              <a:t>(12) __________</a:t>
            </a:r>
            <a:pPr indent="0" marL="0">
              <a:buNone/>
            </a:pPr>
            <a:r>
              <a:rPr lang="en-US" sz="1200" dirty="0">
                <a:solidFill>
                  <a:srgbClr val="2B2318"/>
                </a:solidFill>
                <a:latin typeface="Calibri" pitchFamily="34" charset="0"/>
                <a:ea typeface="Calibri" pitchFamily="34" charset="-122"/>
                <a:cs typeface="Calibri" pitchFamily="34" charset="-120"/>
              </a:rPr>
              <a:t>. Aus ihren Reihen kamen die Archonten, und ihr Rat tagte auf dem Hügel des Kriegsgottes Ares. Er hieß deshalb </a:t>
            </a:r>
            <a:pPr indent="0" marL="0">
              <a:buNone/>
            </a:pPr>
            <a:r>
              <a:rPr lang="en-US" sz="1200" b="1" dirty="0">
                <a:solidFill>
                  <a:srgbClr val="AD4426"/>
                </a:solidFill>
                <a:latin typeface="Calibri" pitchFamily="34" charset="0"/>
                <a:ea typeface="Calibri" pitchFamily="34" charset="-122"/>
                <a:cs typeface="Calibri" pitchFamily="34" charset="-120"/>
              </a:rPr>
              <a:t>(13) __________</a:t>
            </a:r>
            <a:pPr indent="0" marL="0">
              <a:buNone/>
            </a:pPr>
            <a:r>
              <a:rPr lang="en-US" sz="1200" dirty="0">
                <a:solidFill>
                  <a:srgbClr val="2B2318"/>
                </a:solidFill>
                <a:latin typeface="Calibri" pitchFamily="34" charset="0"/>
                <a:ea typeface="Calibri" pitchFamily="34" charset="-122"/>
                <a:cs typeface="Calibri" pitchFamily="34" charset="-120"/>
              </a:rPr>
              <a:t>.</a:t>
            </a:r>
            <a:pPr indent="0" marL="0">
              <a:buNone/>
            </a:pPr>
            <a:endParaRPr lang="en-US" sz="1200" dirty="0"/>
          </a:p>
          <a:p>
            <a:pPr indent="0" marL="0">
              <a:buNone/>
            </a:pPr>
            <a:r>
              <a:rPr lang="en-US" sz="500" dirty="0">
                <a:solidFill>
                  <a:srgbClr val="2B2318"/>
                </a:solidFill>
                <a:latin typeface="Calibri" pitchFamily="34" charset="0"/>
                <a:ea typeface="Calibri" pitchFamily="34" charset="-122"/>
                <a:cs typeface="Calibri" pitchFamily="34" charset="-120"/>
              </a:rPr>
              <a:t> </a:t>
            </a:r>
            <a:endParaRPr lang="en-US" sz="1200" dirty="0"/>
          </a:p>
          <a:p>
            <a:pPr indent="0" marL="0">
              <a:buNone/>
            </a:pPr>
            <a:r>
              <a:rPr lang="en-US" sz="1200" dirty="0">
                <a:solidFill>
                  <a:srgbClr val="2B2318"/>
                </a:solidFill>
                <a:latin typeface="Calibri" pitchFamily="34" charset="0"/>
                <a:ea typeface="Calibri" pitchFamily="34" charset="-122"/>
                <a:cs typeface="Calibri" pitchFamily="34" charset="-120"/>
              </a:rPr>
              <a:t>Viele Kleinbauern dagegen konnten von ihrem Land kaum leben. Sie liehen sich Saatgut und Getreide bei den Adligen und gerieten so in </a:t>
            </a:r>
            <a:pPr indent="0" marL="0">
              <a:buNone/>
            </a:pPr>
            <a:r>
              <a:rPr lang="en-US" sz="1200" b="1" dirty="0">
                <a:solidFill>
                  <a:srgbClr val="AD4426"/>
                </a:solidFill>
                <a:latin typeface="Calibri" pitchFamily="34" charset="0"/>
                <a:ea typeface="Calibri" pitchFamily="34" charset="-122"/>
                <a:cs typeface="Calibri" pitchFamily="34" charset="-120"/>
              </a:rPr>
              <a:t>(14) __________</a:t>
            </a:r>
            <a:pPr indent="0" marL="0">
              <a:buNone/>
            </a:pPr>
            <a:r>
              <a:rPr lang="en-US" sz="1200" dirty="0">
                <a:solidFill>
                  <a:srgbClr val="2B2318"/>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457200" y="3767328"/>
            <a:ext cx="1828800" cy="228600"/>
          </a:xfrm>
          <a:prstGeom prst="rect">
            <a:avLst/>
          </a:prstGeom>
          <a:noFill/>
          <a:ln/>
        </p:spPr>
        <p:txBody>
          <a:bodyPr wrap="square" lIns="0" tIns="0" rIns="0" bIns="0" rtlCol="0" anchor="t"/>
          <a:lstStyle/>
          <a:p>
            <a:pPr indent="0" marL="0">
              <a:buNone/>
            </a:pPr>
            <a:r>
              <a:rPr lang="en-US" sz="1000" b="1" spc="200" kern="0" dirty="0">
                <a:solidFill>
                  <a:srgbClr val="5A5044"/>
                </a:solidFill>
                <a:latin typeface="Calibri" pitchFamily="34" charset="0"/>
                <a:ea typeface="Calibri" pitchFamily="34" charset="-122"/>
                <a:cs typeface="Calibri" pitchFamily="34" charset="-120"/>
              </a:rPr>
              <a:t>WORTSPEICHER</a:t>
            </a:r>
            <a:endParaRPr lang="en-US" sz="1000" dirty="0"/>
          </a:p>
        </p:txBody>
      </p:sp>
      <p:sp>
        <p:nvSpPr>
          <p:cNvPr id="9" name="Text 7"/>
          <p:cNvSpPr txBox="1"/>
          <p:nvPr/>
        </p:nvSpPr>
        <p:spPr>
          <a:xfrm>
            <a:off x="457200"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Adel</a:t>
            </a:r>
            <a:endParaRPr lang="en-US" sz="1050" dirty="0"/>
          </a:p>
        </p:txBody>
      </p:sp>
      <p:sp>
        <p:nvSpPr>
          <p:cNvPr id="10" name="Text 8"/>
          <p:cNvSpPr txBox="1"/>
          <p:nvPr/>
        </p:nvSpPr>
        <p:spPr>
          <a:xfrm>
            <a:off x="1636776"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Agora</a:t>
            </a:r>
            <a:endParaRPr lang="en-US" sz="1050" dirty="0"/>
          </a:p>
        </p:txBody>
      </p:sp>
      <p:sp>
        <p:nvSpPr>
          <p:cNvPr id="11" name="Text 9"/>
          <p:cNvSpPr txBox="1"/>
          <p:nvPr/>
        </p:nvSpPr>
        <p:spPr>
          <a:xfrm>
            <a:off x="2816352"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Akropolis</a:t>
            </a:r>
            <a:endParaRPr lang="en-US" sz="1050" dirty="0"/>
          </a:p>
        </p:txBody>
      </p:sp>
      <p:sp>
        <p:nvSpPr>
          <p:cNvPr id="12" name="Text 10"/>
          <p:cNvSpPr txBox="1"/>
          <p:nvPr/>
        </p:nvSpPr>
        <p:spPr>
          <a:xfrm>
            <a:off x="3995928"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Areopag</a:t>
            </a:r>
            <a:endParaRPr lang="en-US" sz="1050" dirty="0"/>
          </a:p>
        </p:txBody>
      </p:sp>
      <p:sp>
        <p:nvSpPr>
          <p:cNvPr id="13" name="Text 11"/>
          <p:cNvSpPr txBox="1"/>
          <p:nvPr/>
        </p:nvSpPr>
        <p:spPr>
          <a:xfrm>
            <a:off x="5175504"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Aristokratie</a:t>
            </a:r>
            <a:endParaRPr lang="en-US" sz="1050" dirty="0"/>
          </a:p>
        </p:txBody>
      </p:sp>
      <p:sp>
        <p:nvSpPr>
          <p:cNvPr id="14" name="Text 12"/>
          <p:cNvSpPr txBox="1"/>
          <p:nvPr/>
        </p:nvSpPr>
        <p:spPr>
          <a:xfrm>
            <a:off x="6355080"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Ebenen</a:t>
            </a:r>
            <a:endParaRPr lang="en-US" sz="1050" dirty="0"/>
          </a:p>
        </p:txBody>
      </p:sp>
      <p:sp>
        <p:nvSpPr>
          <p:cNvPr id="15" name="Text 13"/>
          <p:cNvSpPr txBox="1"/>
          <p:nvPr/>
        </p:nvSpPr>
        <p:spPr>
          <a:xfrm>
            <a:off x="7534656" y="402336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Gebirgen</a:t>
            </a:r>
            <a:endParaRPr lang="en-US" sz="1050" dirty="0"/>
          </a:p>
        </p:txBody>
      </p:sp>
      <p:sp>
        <p:nvSpPr>
          <p:cNvPr id="16" name="Text 14"/>
          <p:cNvSpPr txBox="1"/>
          <p:nvPr/>
        </p:nvSpPr>
        <p:spPr>
          <a:xfrm>
            <a:off x="457200"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Gemeinde­staat</a:t>
            </a:r>
            <a:endParaRPr lang="en-US" sz="1050" dirty="0"/>
          </a:p>
        </p:txBody>
      </p:sp>
      <p:sp>
        <p:nvSpPr>
          <p:cNvPr id="17" name="Text 15"/>
          <p:cNvSpPr txBox="1"/>
          <p:nvPr/>
        </p:nvSpPr>
        <p:spPr>
          <a:xfrm>
            <a:off x="1636776"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Genos</a:t>
            </a:r>
            <a:endParaRPr lang="en-US" sz="1050" dirty="0"/>
          </a:p>
        </p:txBody>
      </p:sp>
      <p:sp>
        <p:nvSpPr>
          <p:cNvPr id="18" name="Text 16"/>
          <p:cNvSpPr txBox="1"/>
          <p:nvPr/>
        </p:nvSpPr>
        <p:spPr>
          <a:xfrm>
            <a:off x="2816352"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knapper</a:t>
            </a:r>
            <a:endParaRPr lang="en-US" sz="1050" dirty="0"/>
          </a:p>
        </p:txBody>
      </p:sp>
      <p:sp>
        <p:nvSpPr>
          <p:cNvPr id="19" name="Text 17"/>
          <p:cNvSpPr txBox="1"/>
          <p:nvPr/>
        </p:nvSpPr>
        <p:spPr>
          <a:xfrm>
            <a:off x="3995928"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Kolonisation</a:t>
            </a:r>
            <a:endParaRPr lang="en-US" sz="1050" dirty="0"/>
          </a:p>
        </p:txBody>
      </p:sp>
      <p:sp>
        <p:nvSpPr>
          <p:cNvPr id="20" name="Text 18"/>
          <p:cNvSpPr txBox="1"/>
          <p:nvPr/>
        </p:nvSpPr>
        <p:spPr>
          <a:xfrm>
            <a:off x="5175504"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Phyle</a:t>
            </a:r>
            <a:endParaRPr lang="en-US" sz="1050" dirty="0"/>
          </a:p>
        </p:txBody>
      </p:sp>
      <p:sp>
        <p:nvSpPr>
          <p:cNvPr id="21" name="Text 19"/>
          <p:cNvSpPr txBox="1"/>
          <p:nvPr/>
        </p:nvSpPr>
        <p:spPr>
          <a:xfrm>
            <a:off x="6355080"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Poleis</a:t>
            </a:r>
            <a:endParaRPr lang="en-US" sz="1050" dirty="0"/>
          </a:p>
        </p:txBody>
      </p:sp>
      <p:sp>
        <p:nvSpPr>
          <p:cNvPr id="22" name="Text 20"/>
          <p:cNvSpPr txBox="1"/>
          <p:nvPr/>
        </p:nvSpPr>
        <p:spPr>
          <a:xfrm>
            <a:off x="7534656" y="4389120"/>
            <a:ext cx="1106424" cy="301752"/>
          </a:xfrm>
          <a:prstGeom prst="roundRect">
            <a:avLst>
              <a:gd name="adj" fmla="val 30303"/>
            </a:avLst>
          </a:prstGeom>
          <a:solidFill>
            <a:srgbClr val="F4ECDE"/>
          </a:solidFill>
          <a:ln/>
        </p:spPr>
        <p:txBody>
          <a:bodyPr wrap="square" lIns="25400" tIns="25400" rIns="25400" bIns="25400" rtlCol="0" anchor="ctr"/>
          <a:lstStyle/>
          <a:p>
            <a:pPr algn="ctr" indent="0" marL="0">
              <a:buNone/>
            </a:pPr>
            <a:r>
              <a:rPr lang="en-US" sz="1050" b="1" dirty="0">
                <a:solidFill>
                  <a:srgbClr val="2B2318"/>
                </a:solidFill>
                <a:latin typeface="Calibri" pitchFamily="34" charset="0"/>
                <a:ea typeface="Calibri" pitchFamily="34" charset="-122"/>
                <a:cs typeface="Calibri" pitchFamily="34" charset="-120"/>
              </a:rPr>
              <a:t>Schulden</a:t>
            </a:r>
            <a:endParaRPr lang="en-US" sz="1050" dirty="0"/>
          </a:p>
        </p:txBody>
      </p:sp>
      <p:sp>
        <p:nvSpPr>
          <p:cNvPr id="23" name="Text 21"/>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4" name="Text 22"/>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LÜCKENTEXT · LÖSUNG 1–6</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entstanden die Poleis?</a:t>
            </a:r>
            <a:endParaRPr lang="en-US" sz="2800" dirty="0"/>
          </a:p>
        </p:txBody>
      </p:sp>
      <p:sp>
        <p:nvSpPr>
          <p:cNvPr id="4" name="Text 2"/>
          <p:cNvSpPr txBox="1"/>
          <p:nvPr/>
        </p:nvSpPr>
        <p:spPr>
          <a:xfrm>
            <a:off x="457200" y="1234440"/>
            <a:ext cx="8229600" cy="3291840"/>
          </a:xfrm>
          <a:prstGeom prst="rect">
            <a:avLst/>
          </a:prstGeom>
          <a:noFill/>
          <a:ln/>
        </p:spPr>
        <p:txBody>
          <a:bodyPr wrap="square" lIns="0" tIns="0" rIns="0" bIns="0" rtlCol="0" anchor="t"/>
          <a:lstStyle/>
          <a:p>
            <a:pPr indent="0" marL="0">
              <a:buNone/>
            </a:pPr>
            <a:r>
              <a:rPr lang="en-US" sz="1400" dirty="0">
                <a:solidFill>
                  <a:srgbClr val="2B2318"/>
                </a:solidFill>
                <a:latin typeface="Calibri" pitchFamily="34" charset="0"/>
                <a:ea typeface="Calibri" pitchFamily="34" charset="-122"/>
                <a:cs typeface="Calibri" pitchFamily="34" charset="-120"/>
              </a:rPr>
              <a:t>Das griechische Festland ist von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Gebirgen</a:t>
            </a:r>
            <a:pPr indent="0" marL="0">
              <a:buNone/>
            </a:pPr>
            <a:r>
              <a:rPr lang="en-US" sz="1400" dirty="0">
                <a:solidFill>
                  <a:srgbClr val="2B2318"/>
                </a:solidFill>
                <a:latin typeface="Calibri" pitchFamily="34" charset="0"/>
                <a:ea typeface="Calibri" pitchFamily="34" charset="-122"/>
                <a:cs typeface="Calibri" pitchFamily="34" charset="-120"/>
              </a:rPr>
              <a:t> durchzogen. Fruchtbares Ackerland gibt es nur in kleinen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Ebenen</a:t>
            </a:r>
            <a:pPr indent="0" marL="0">
              <a:buNone/>
            </a:pPr>
            <a:r>
              <a:rPr lang="en-US" sz="1400" dirty="0">
                <a:solidFill>
                  <a:srgbClr val="2B2318"/>
                </a:solidFill>
                <a:latin typeface="Calibri" pitchFamily="34" charset="0"/>
                <a:ea typeface="Calibri" pitchFamily="34" charset="-122"/>
                <a:cs typeface="Calibri" pitchFamily="34" charset="-120"/>
              </a:rPr>
              <a:t> an den Küsten und in den Tälern. Weil die Berge die Siedlungen voneinander trennten, entstand kein großes Reich, sondern viele kleine, unabhängige Stadtstaaten: die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Poleis</a:t>
            </a:r>
            <a:pPr indent="0" marL="0">
              <a:buNone/>
            </a:pPr>
            <a:r>
              <a:rPr lang="en-US" sz="1400" dirty="0">
                <a:solidFill>
                  <a:srgbClr val="2B2318"/>
                </a:solidFill>
                <a:latin typeface="Calibri" pitchFamily="34" charset="0"/>
                <a:ea typeface="Calibri" pitchFamily="34" charset="-122"/>
                <a:cs typeface="Calibri" pitchFamily="34" charset="-120"/>
              </a:rPr>
              <a:t>. Eine Polis war ein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Gemeindestaat</a:t>
            </a:r>
            <a:pPr indent="0" marL="0">
              <a:buNone/>
            </a:pPr>
            <a:r>
              <a:rPr lang="en-US" sz="1400" dirty="0">
                <a:solidFill>
                  <a:srgbClr val="2B2318"/>
                </a:solidFill>
                <a:latin typeface="Calibri" pitchFamily="34" charset="0"/>
                <a:ea typeface="Calibri" pitchFamily="34" charset="-122"/>
                <a:cs typeface="Calibri" pitchFamily="34" charset="-120"/>
              </a:rPr>
              <a:t>: Der Staat, das waren seine Bürger. Man sprach deshalb von „den Athenern“, nicht von „Athen“.</a:t>
            </a:r>
            <a:pPr indent="0" marL="0">
              <a:buNone/>
            </a:pPr>
            <a:endParaRPr lang="en-US" sz="1400" dirty="0"/>
          </a:p>
          <a:p>
            <a:pPr indent="0" marL="0">
              <a:buNone/>
            </a:pPr>
            <a:r>
              <a:rPr lang="en-US" sz="500" dirty="0">
                <a:solidFill>
                  <a:srgbClr val="2B2318"/>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2B2318"/>
                </a:solidFill>
                <a:latin typeface="Calibri" pitchFamily="34" charset="0"/>
                <a:ea typeface="Calibri" pitchFamily="34" charset="-122"/>
                <a:cs typeface="Calibri" pitchFamily="34" charset="-120"/>
              </a:rPr>
              <a:t>Zu jeder Polis gehörten die Stadt mit dem Burgberg, der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Akropolis</a:t>
            </a:r>
            <a:pPr indent="0" marL="0">
              <a:buNone/>
            </a:pPr>
            <a:r>
              <a:rPr lang="en-US" sz="1400" dirty="0">
                <a:solidFill>
                  <a:srgbClr val="2B2318"/>
                </a:solidFill>
                <a:latin typeface="Calibri" pitchFamily="34" charset="0"/>
                <a:ea typeface="Calibri" pitchFamily="34" charset="-122"/>
                <a:cs typeface="Calibri" pitchFamily="34" charset="-120"/>
              </a:rPr>
              <a:t>, und dem Marktplatz, der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Agora</a:t>
            </a:r>
            <a:pPr indent="0" marL="0">
              <a:buNone/>
            </a:pPr>
            <a:r>
              <a:rPr lang="en-US" sz="1400" dirty="0">
                <a:solidFill>
                  <a:srgbClr val="2B2318"/>
                </a:solidFill>
                <a:latin typeface="Calibri" pitchFamily="34" charset="0"/>
                <a:ea typeface="Calibri" pitchFamily="34" charset="-122"/>
                <a:cs typeface="Calibri" pitchFamily="34" charset="-120"/>
              </a:rPr>
              <a:t>, sowie das Umland mit Feldern und Weiden, die </a:t>
            </a:r>
            <a:pPr indent="0" marL="0">
              <a:buNone/>
            </a:pPr>
            <a:r>
              <a:rPr lang="en-US" sz="1400" b="1" dirty="0">
                <a:solidFill>
                  <a:srgbClr val="AD4426"/>
                </a:solidFill>
                <a:latin typeface="Calibri" pitchFamily="34" charset="0"/>
                <a:ea typeface="Calibri" pitchFamily="34" charset="-122"/>
                <a:cs typeface="Calibri" pitchFamily="34" charset="-120"/>
              </a:rPr>
              <a:t>Chora</a:t>
            </a:r>
            <a:pPr indent="0" marL="0">
              <a:buNone/>
            </a:pPr>
            <a:r>
              <a:rPr lang="en-US" sz="1400" dirty="0">
                <a:solidFill>
                  <a:srgbClr val="2B2318"/>
                </a:solidFill>
                <a:latin typeface="Calibri" pitchFamily="34" charset="0"/>
                <a:ea typeface="Calibri" pitchFamily="34" charset="-122"/>
                <a:cs typeface="Calibri" pitchFamily="34" charset="-120"/>
              </a:rPr>
              <a:t>. Athen entstand durch den Zusammenschluss vieler Dörfer und Gemeinden der Halbinsel Attika. Dieser Vorgang, der um 700 v. Chr. abgeschlossen war, heißt </a:t>
            </a:r>
            <a:pPr indent="0" marL="0">
              <a:buNone/>
            </a:pPr>
            <a:r>
              <a:rPr lang="en-US" sz="1400" b="1" dirty="0">
                <a:solidFill>
                  <a:srgbClr val="AD4426"/>
                </a:solidFill>
                <a:latin typeface="Calibri" pitchFamily="34" charset="0"/>
                <a:ea typeface="Calibri" pitchFamily="34" charset="-122"/>
                <a:cs typeface="Calibri" pitchFamily="34" charset="-120"/>
              </a:rPr>
              <a:t>Synoikismos</a:t>
            </a:r>
            <a:pPr indent="0" marL="0">
              <a:buNone/>
            </a:pPr>
            <a:r>
              <a:rPr lang="en-US" sz="1400" dirty="0">
                <a:solidFill>
                  <a:srgbClr val="2B2318"/>
                </a:solidFill>
                <a:latin typeface="Calibri" pitchFamily="34" charset="0"/>
                <a:ea typeface="Calibri" pitchFamily="34" charset="-122"/>
                <a:cs typeface="Calibri" pitchFamily="34" charset="-120"/>
              </a:rPr>
              <a:t> (griechisch: „Zusammensiedlung“).</a:t>
            </a:r>
            <a:endParaRPr lang="en-US" sz="1400" dirty="0"/>
          </a:p>
        </p:txBody>
      </p:sp>
      <p:sp>
        <p:nvSpPr>
          <p:cNvPr id="5" name="Text 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LÜCKENTEXT · LÖSUNG 7–14</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entstanden die Poleis?</a:t>
            </a:r>
            <a:endParaRPr lang="en-US" sz="2800" dirty="0"/>
          </a:p>
        </p:txBody>
      </p:sp>
      <p:sp>
        <p:nvSpPr>
          <p:cNvPr id="4" name="Text 2"/>
          <p:cNvSpPr txBox="1"/>
          <p:nvPr/>
        </p:nvSpPr>
        <p:spPr>
          <a:xfrm>
            <a:off x="457200" y="1234440"/>
            <a:ext cx="8229600" cy="2971800"/>
          </a:xfrm>
          <a:prstGeom prst="rect">
            <a:avLst/>
          </a:prstGeom>
          <a:noFill/>
          <a:ln/>
        </p:spPr>
        <p:txBody>
          <a:bodyPr wrap="square" lIns="0" tIns="0" rIns="0" bIns="0" rtlCol="0" anchor="t"/>
          <a:lstStyle/>
          <a:p>
            <a:pPr indent="0" marL="0">
              <a:buNone/>
            </a:pPr>
            <a:r>
              <a:rPr lang="en-US" sz="1400" dirty="0">
                <a:solidFill>
                  <a:srgbClr val="2B2318"/>
                </a:solidFill>
                <a:latin typeface="Calibri" pitchFamily="34" charset="0"/>
                <a:ea typeface="Calibri" pitchFamily="34" charset="-122"/>
                <a:cs typeface="Calibri" pitchFamily="34" charset="-120"/>
              </a:rPr>
              <a:t>Als die Bevölkerung wuchs, wurde das Ackerland immer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knapper</a:t>
            </a:r>
            <a:pPr indent="0" marL="0">
              <a:buNone/>
            </a:pPr>
            <a:r>
              <a:rPr lang="en-US" sz="1400" dirty="0">
                <a:solidFill>
                  <a:srgbClr val="2B2318"/>
                </a:solidFill>
                <a:latin typeface="Calibri" pitchFamily="34" charset="0"/>
                <a:ea typeface="Calibri" pitchFamily="34" charset="-122"/>
                <a:cs typeface="Calibri" pitchFamily="34" charset="-120"/>
              </a:rPr>
              <a:t>. Viele Poleis schickten deshalb Bürger aus, die an den Küsten des Mittelmeers und des Schwarzen Meeres neue Siedlungen gründeten. Diesen Vorgang nennt man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Kolonisation</a:t>
            </a:r>
            <a:pPr indent="0" marL="0">
              <a:buNone/>
            </a:pPr>
            <a:r>
              <a:rPr lang="en-US" sz="1400" dirty="0">
                <a:solidFill>
                  <a:srgbClr val="2B2318"/>
                </a:solidFill>
                <a:latin typeface="Calibri" pitchFamily="34" charset="0"/>
                <a:ea typeface="Calibri" pitchFamily="34" charset="-122"/>
                <a:cs typeface="Calibri" pitchFamily="34" charset="-120"/>
              </a:rPr>
              <a:t>.</a:t>
            </a:r>
            <a:pPr indent="0" marL="0">
              <a:buNone/>
            </a:pPr>
            <a:endParaRPr lang="en-US" sz="1400" dirty="0"/>
          </a:p>
          <a:p>
            <a:pPr indent="0" marL="0">
              <a:buNone/>
            </a:pPr>
            <a:r>
              <a:rPr lang="en-US" sz="500" dirty="0">
                <a:solidFill>
                  <a:srgbClr val="2B2318"/>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2B2318"/>
                </a:solidFill>
                <a:latin typeface="Calibri" pitchFamily="34" charset="0"/>
                <a:ea typeface="Calibri" pitchFamily="34" charset="-122"/>
                <a:cs typeface="Calibri" pitchFamily="34" charset="-120"/>
              </a:rPr>
              <a:t>Das meiste Land gehörte wenigen reichen Familien, dem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Adel</a:t>
            </a:r>
            <a:pPr indent="0" marL="0">
              <a:buNone/>
            </a:pPr>
            <a:r>
              <a:rPr lang="en-US" sz="1400" dirty="0">
                <a:solidFill>
                  <a:srgbClr val="2B2318"/>
                </a:solidFill>
                <a:latin typeface="Calibri" pitchFamily="34" charset="0"/>
                <a:ea typeface="Calibri" pitchFamily="34" charset="-122"/>
                <a:cs typeface="Calibri" pitchFamily="34" charset="-120"/>
              </a:rPr>
              <a:t>. Jede dieser Familien gehörte zu einem Geschlechterverband, einem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Genos</a:t>
            </a:r>
            <a:pPr indent="0" marL="0">
              <a:buNone/>
            </a:pPr>
            <a:r>
              <a:rPr lang="en-US" sz="1400" dirty="0">
                <a:solidFill>
                  <a:srgbClr val="2B2318"/>
                </a:solidFill>
                <a:latin typeface="Calibri" pitchFamily="34" charset="0"/>
                <a:ea typeface="Calibri" pitchFamily="34" charset="-122"/>
                <a:cs typeface="Calibri" pitchFamily="34" charset="-120"/>
              </a:rPr>
              <a:t>. Alle Athener waren außerdem in vier große Stammesverbände eingeteilt; ein solcher Verband hieß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Phyle</a:t>
            </a:r>
            <a:pPr indent="0" marL="0">
              <a:buNone/>
            </a:pPr>
            <a:r>
              <a:rPr lang="en-US" sz="1400" dirty="0">
                <a:solidFill>
                  <a:srgbClr val="2B2318"/>
                </a:solidFill>
                <a:latin typeface="Calibri" pitchFamily="34" charset="0"/>
                <a:ea typeface="Calibri" pitchFamily="34" charset="-122"/>
                <a:cs typeface="Calibri" pitchFamily="34" charset="-120"/>
              </a:rPr>
              <a:t>. Die Adligen hatten auch die politische Macht. Diese Herrschaft der „Besten“ nennt man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Aristokratie</a:t>
            </a:r>
            <a:pPr indent="0" marL="0">
              <a:buNone/>
            </a:pPr>
            <a:r>
              <a:rPr lang="en-US" sz="1400" dirty="0">
                <a:solidFill>
                  <a:srgbClr val="2B2318"/>
                </a:solidFill>
                <a:latin typeface="Calibri" pitchFamily="34" charset="0"/>
                <a:ea typeface="Calibri" pitchFamily="34" charset="-122"/>
                <a:cs typeface="Calibri" pitchFamily="34" charset="-120"/>
              </a:rPr>
              <a:t>. Aus ihren Reihen kamen die Archonten, und ihr Rat tagte auf dem Hügel des Kriegsgottes Ares. Er hieß deshalb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Areopag</a:t>
            </a:r>
            <a:pPr indent="0" marL="0">
              <a:buNone/>
            </a:pPr>
            <a:r>
              <a:rPr lang="en-US" sz="1400" dirty="0">
                <a:solidFill>
                  <a:srgbClr val="2B2318"/>
                </a:solidFill>
                <a:latin typeface="Calibri" pitchFamily="34" charset="0"/>
                <a:ea typeface="Calibri" pitchFamily="34" charset="-122"/>
                <a:cs typeface="Calibri" pitchFamily="34" charset="-120"/>
              </a:rPr>
              <a:t>.</a:t>
            </a:r>
            <a:pPr indent="0" marL="0">
              <a:buNone/>
            </a:pPr>
            <a:endParaRPr lang="en-US" sz="1400" dirty="0"/>
          </a:p>
          <a:p>
            <a:pPr indent="0" marL="0">
              <a:buNone/>
            </a:pPr>
            <a:r>
              <a:rPr lang="en-US" sz="500" dirty="0">
                <a:solidFill>
                  <a:srgbClr val="2B2318"/>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2B2318"/>
                </a:solidFill>
                <a:latin typeface="Calibri" pitchFamily="34" charset="0"/>
                <a:ea typeface="Calibri" pitchFamily="34" charset="-122"/>
                <a:cs typeface="Calibri" pitchFamily="34" charset="-120"/>
              </a:rPr>
              <a:t>Viele Kleinbauern dagegen konnten von ihrem Land kaum leben. Sie liehen sich Saatgut und Getreide bei den Adligen und gerieten so in </a:t>
            </a:r>
            <a:pPr indent="0" marL="0">
              <a:buNone/>
            </a:pPr>
            <a:r>
              <a:rPr lang="en-US" sz="1400" b="1" dirty="0">
                <a:solidFill>
                  <a:srgbClr val="2B2318"/>
                </a:solidFill>
                <a:highlight>
                  <a:srgbClr val="F3DDA6"/>
                </a:highlight>
                <a:latin typeface="Calibri" pitchFamily="34" charset="0"/>
                <a:ea typeface="Calibri" pitchFamily="34" charset="-122"/>
                <a:cs typeface="Calibri" pitchFamily="34" charset="-120"/>
              </a:rPr>
              <a:t>Schulden</a:t>
            </a:r>
            <a:pPr indent="0" marL="0">
              <a:buNone/>
            </a:pPr>
            <a:r>
              <a:rPr lang="en-US" sz="1400" dirty="0">
                <a:solidFill>
                  <a:srgbClr val="2B2318"/>
                </a:solidFill>
                <a:latin typeface="Calibri" pitchFamily="34" charset="0"/>
                <a:ea typeface="Calibri" pitchFamily="34" charset="-122"/>
                <a:cs typeface="Calibri" pitchFamily="34" charset="-120"/>
              </a:rPr>
              <a:t>.</a:t>
            </a:r>
            <a:endParaRPr lang="en-US" sz="1400" dirty="0"/>
          </a:p>
        </p:txBody>
      </p:sp>
      <p:sp>
        <p:nvSpPr>
          <p:cNvPr id="5" name="Shape 3"/>
          <p:cNvSpPr/>
          <p:nvPr/>
        </p:nvSpPr>
        <p:spPr>
          <a:xfrm>
            <a:off x="457200" y="4297680"/>
            <a:ext cx="8229600" cy="384048"/>
          </a:xfrm>
          <a:prstGeom prst="roundRect">
            <a:avLst>
              <a:gd name="adj" fmla="val 19048"/>
            </a:avLst>
          </a:prstGeom>
          <a:solidFill>
            <a:srgbClr val="2B2318"/>
          </a:solidFill>
          <a:ln w="12700">
            <a:solidFill>
              <a:srgbClr val="2B2318"/>
            </a:solidFill>
            <a:prstDash val="solid"/>
          </a:ln>
        </p:spPr>
      </p:sp>
      <p:sp>
        <p:nvSpPr>
          <p:cNvPr id="6" name="Text 4"/>
          <p:cNvSpPr txBox="1"/>
          <p:nvPr/>
        </p:nvSpPr>
        <p:spPr>
          <a:xfrm>
            <a:off x="640080" y="4297680"/>
            <a:ext cx="786384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Und jetzt? Was passiert, wenn die Bauern ihre Schulden nicht zurückzahlen können?</a:t>
            </a:r>
            <a:endParaRPr lang="en-US" sz="1300" dirty="0"/>
          </a:p>
        </p:txBody>
      </p:sp>
      <p:sp>
        <p:nvSpPr>
          <p:cNvPr id="7" name="Text 5"/>
          <p:cNvSpPr txBox="1"/>
          <p:nvPr/>
        </p:nvSpPr>
        <p:spPr>
          <a:xfrm>
            <a:off x="8229600" y="480060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EINZELARBEIT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Ein Sachurteil formulieren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325880"/>
            <a:ext cx="8229600" cy="1005840"/>
          </a:xfrm>
          <a:prstGeom prst="roundRect">
            <a:avLst>
              <a:gd name="adj" fmla="val 7273"/>
            </a:avLst>
          </a:prstGeom>
          <a:solidFill>
            <a:srgbClr val="2B2318"/>
          </a:solidFill>
          <a:ln w="12700">
            <a:solidFill>
              <a:srgbClr val="2B2318"/>
            </a:solidFill>
            <a:prstDash val="solid"/>
          </a:ln>
        </p:spPr>
      </p:sp>
      <p:sp>
        <p:nvSpPr>
          <p:cNvPr id="6" name="Text 4"/>
          <p:cNvSpPr txBox="1"/>
          <p:nvPr/>
        </p:nvSpPr>
        <p:spPr>
          <a:xfrm>
            <a:off x="731520" y="1417320"/>
            <a:ext cx="7680960" cy="8229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Welcher Faktor war für die Entstehung der Poleis am wichtigsten?</a:t>
            </a:r>
            <a:endParaRPr lang="en-US" sz="2200" dirty="0"/>
          </a:p>
        </p:txBody>
      </p:sp>
      <p:sp>
        <p:nvSpPr>
          <p:cNvPr id="7" name="Shape 5"/>
          <p:cNvSpPr/>
          <p:nvPr/>
        </p:nvSpPr>
        <p:spPr>
          <a:xfrm>
            <a:off x="457200" y="2487168"/>
            <a:ext cx="4754880" cy="1920240"/>
          </a:xfrm>
          <a:prstGeom prst="roundRect">
            <a:avLst>
              <a:gd name="adj" fmla="val 3810"/>
            </a:avLst>
          </a:prstGeom>
          <a:solidFill>
            <a:srgbClr val="F4ECDE"/>
          </a:solidFill>
          <a:ln w="12700">
            <a:solidFill>
              <a:srgbClr val="F4ECDE"/>
            </a:solidFill>
            <a:prstDash val="solid"/>
          </a:ln>
        </p:spPr>
      </p:sp>
      <p:sp>
        <p:nvSpPr>
          <p:cNvPr id="8" name="Text 6"/>
          <p:cNvSpPr txBox="1"/>
          <p:nvPr/>
        </p:nvSpPr>
        <p:spPr>
          <a:xfrm>
            <a:off x="658368" y="2578608"/>
            <a:ext cx="4434840" cy="1188720"/>
          </a:xfrm>
          <a:prstGeom prst="rect">
            <a:avLst/>
          </a:prstGeom>
          <a:noFill/>
          <a:ln/>
        </p:spPr>
        <p:txBody>
          <a:bodyPr wrap="square" lIns="0" tIns="0" rIns="0" bIns="0" rtlCol="0" anchor="ctr"/>
          <a:lstStyle/>
          <a:p>
            <a:pPr indent="0" marL="0">
              <a:spcAft>
                <a:spcPts val="300"/>
              </a:spcAft>
              <a:buNone/>
            </a:pPr>
            <a:r>
              <a:rPr lang="en-US" sz="1200" dirty="0">
                <a:solidFill>
                  <a:srgbClr val="2B2318"/>
                </a:solidFill>
                <a:latin typeface="Calibri" pitchFamily="34" charset="0"/>
                <a:ea typeface="Calibri" pitchFamily="34" charset="-122"/>
                <a:cs typeface="Calibri" pitchFamily="34" charset="-120"/>
              </a:rPr>
              <a:t>1. Entscheide dich für einen Faktor, z. B. Gebirge, Landmangel oder Adel.</a:t>
            </a:r>
            <a:endParaRPr lang="en-US" sz="1200" dirty="0"/>
          </a:p>
          <a:p>
            <a:pPr indent="0" marL="0">
              <a:spcAft>
                <a:spcPts val="300"/>
              </a:spcAft>
              <a:buNone/>
            </a:pPr>
            <a:r>
              <a:rPr lang="en-US" sz="1200" dirty="0">
                <a:solidFill>
                  <a:srgbClr val="2B2318"/>
                </a:solidFill>
                <a:latin typeface="Calibri" pitchFamily="34" charset="0"/>
                <a:ea typeface="Calibri" pitchFamily="34" charset="-122"/>
                <a:cs typeface="Calibri" pitchFamily="34" charset="-120"/>
              </a:rPr>
              <a:t>2. Begründe in 2–3 Sätzen mit Informationen aus dem Lückentext.</a:t>
            </a:r>
            <a:endParaRPr lang="en-US" sz="1200" dirty="0"/>
          </a:p>
          <a:p>
            <a:pPr indent="0" marL="0">
              <a:spcAft>
                <a:spcPts val="300"/>
              </a:spcAft>
              <a:buNone/>
            </a:pPr>
            <a:r>
              <a:rPr lang="en-US" sz="1200" dirty="0">
                <a:solidFill>
                  <a:srgbClr val="2B2318"/>
                </a:solidFill>
                <a:latin typeface="Calibri" pitchFamily="34" charset="0"/>
                <a:ea typeface="Calibri" pitchFamily="34" charset="-122"/>
                <a:cs typeface="Calibri" pitchFamily="34" charset="-120"/>
              </a:rPr>
              <a:t>3. Tausche mit deinem Nachbarn und prüft mit der Checkliste.</a:t>
            </a:r>
            <a:endParaRPr lang="en-US" sz="1200" dirty="0"/>
          </a:p>
        </p:txBody>
      </p:sp>
      <p:sp>
        <p:nvSpPr>
          <p:cNvPr id="9" name="Text 7"/>
          <p:cNvSpPr txBox="1"/>
          <p:nvPr/>
        </p:nvSpPr>
        <p:spPr>
          <a:xfrm>
            <a:off x="658368" y="3840480"/>
            <a:ext cx="4434840" cy="502920"/>
          </a:xfrm>
          <a:prstGeom prst="rect">
            <a:avLst/>
          </a:prstGeom>
          <a:noFill/>
          <a:ln/>
        </p:spPr>
        <p:txBody>
          <a:bodyPr wrap="square" lIns="0" tIns="0" rIns="0" bIns="0" rtlCol="0" anchor="t"/>
          <a:lstStyle/>
          <a:p>
            <a:pPr indent="0" marL="0">
              <a:buNone/>
            </a:pPr>
            <a:r>
              <a:rPr lang="en-US" sz="1200" i="1" dirty="0">
                <a:solidFill>
                  <a:srgbClr val="5A5044"/>
                </a:solidFill>
                <a:latin typeface="Calibri" pitchFamily="34" charset="0"/>
                <a:ea typeface="Calibri" pitchFamily="34" charset="-122"/>
                <a:cs typeface="Calibri" pitchFamily="34" charset="-120"/>
              </a:rPr>
              <a:t>„Im Kontext der damaligen Zeit war … am wichtigsten, da … Dies führte zu …“</a:t>
            </a:r>
            <a:endParaRPr lang="en-US" sz="1200" dirty="0"/>
          </a:p>
        </p:txBody>
      </p:sp>
      <p:sp>
        <p:nvSpPr>
          <p:cNvPr id="10" name="Shape 8"/>
          <p:cNvSpPr/>
          <p:nvPr/>
        </p:nvSpPr>
        <p:spPr>
          <a:xfrm>
            <a:off x="5440680" y="2487168"/>
            <a:ext cx="3246120" cy="1920240"/>
          </a:xfrm>
          <a:prstGeom prst="roundRect">
            <a:avLst>
              <a:gd name="adj" fmla="val 3810"/>
            </a:avLst>
          </a:prstGeom>
          <a:solidFill>
            <a:srgbClr val="FBF8F2"/>
          </a:solidFill>
          <a:ln w="19050">
            <a:solidFill>
              <a:srgbClr val="D9A441"/>
            </a:solidFill>
            <a:prstDash val="solid"/>
          </a:ln>
        </p:spPr>
      </p:sp>
      <p:sp>
        <p:nvSpPr>
          <p:cNvPr id="11" name="Text 9"/>
          <p:cNvSpPr txBox="1"/>
          <p:nvPr/>
        </p:nvSpPr>
        <p:spPr>
          <a:xfrm>
            <a:off x="5669280" y="2697480"/>
            <a:ext cx="283464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Partnercheck</a:t>
            </a:r>
            <a:endParaRPr lang="en-US" sz="1500" dirty="0"/>
          </a:p>
        </p:txBody>
      </p:sp>
      <p:sp>
        <p:nvSpPr>
          <p:cNvPr id="12" name="Shape 10"/>
          <p:cNvSpPr/>
          <p:nvPr/>
        </p:nvSpPr>
        <p:spPr>
          <a:xfrm>
            <a:off x="5669280" y="3154680"/>
            <a:ext cx="219456" cy="219456"/>
          </a:xfrm>
          <a:prstGeom prst="roundRect">
            <a:avLst>
              <a:gd name="adj" fmla="val 16667"/>
            </a:avLst>
          </a:prstGeom>
          <a:solidFill>
            <a:srgbClr val="FFFFFF"/>
          </a:solidFill>
          <a:ln w="19050">
            <a:solidFill>
              <a:srgbClr val="D9A441"/>
            </a:solidFill>
            <a:prstDash val="solid"/>
          </a:ln>
        </p:spPr>
      </p:sp>
      <p:sp>
        <p:nvSpPr>
          <p:cNvPr id="13" name="Text 11"/>
          <p:cNvSpPr txBox="1"/>
          <p:nvPr/>
        </p:nvSpPr>
        <p:spPr>
          <a:xfrm>
            <a:off x="5989320" y="3108960"/>
            <a:ext cx="2606040" cy="31089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Maßstäbe der damaligen Zeit</a:t>
            </a:r>
            <a:endParaRPr lang="en-US" sz="1300" dirty="0"/>
          </a:p>
        </p:txBody>
      </p:sp>
      <p:sp>
        <p:nvSpPr>
          <p:cNvPr id="14" name="Shape 12"/>
          <p:cNvSpPr/>
          <p:nvPr/>
        </p:nvSpPr>
        <p:spPr>
          <a:xfrm>
            <a:off x="5669280" y="3611880"/>
            <a:ext cx="219456" cy="219456"/>
          </a:xfrm>
          <a:prstGeom prst="roundRect">
            <a:avLst>
              <a:gd name="adj" fmla="val 16667"/>
            </a:avLst>
          </a:prstGeom>
          <a:solidFill>
            <a:srgbClr val="FFFFFF"/>
          </a:solidFill>
          <a:ln w="19050">
            <a:solidFill>
              <a:srgbClr val="D9A441"/>
            </a:solidFill>
            <a:prstDash val="solid"/>
          </a:ln>
        </p:spPr>
      </p:sp>
      <p:sp>
        <p:nvSpPr>
          <p:cNvPr id="15" name="Text 13"/>
          <p:cNvSpPr txBox="1"/>
          <p:nvPr/>
        </p:nvSpPr>
        <p:spPr>
          <a:xfrm>
            <a:off x="5989320" y="3566160"/>
            <a:ext cx="2606040" cy="31089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begründet (weil, da, führte zu)</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SACHURTEIL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ein Sachurteil aussehen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80160"/>
            <a:ext cx="8229600" cy="2057400"/>
          </a:xfrm>
          <a:prstGeom prst="roundRect">
            <a:avLst>
              <a:gd name="adj" fmla="val 3556"/>
            </a:avLst>
          </a:prstGeom>
          <a:solidFill>
            <a:srgbClr val="F4ECDE"/>
          </a:solidFill>
          <a:ln w="12700">
            <a:solidFill>
              <a:srgbClr val="F4ECDE"/>
            </a:solidFill>
            <a:prstDash val="solid"/>
          </a:ln>
        </p:spPr>
      </p:sp>
      <p:sp>
        <p:nvSpPr>
          <p:cNvPr id="6" name="Text 4"/>
          <p:cNvSpPr txBox="1"/>
          <p:nvPr/>
        </p:nvSpPr>
        <p:spPr>
          <a:xfrm>
            <a:off x="731520" y="1371600"/>
            <a:ext cx="7680960" cy="1874520"/>
          </a:xfrm>
          <a:prstGeom prst="rect">
            <a:avLst/>
          </a:prstGeom>
          <a:noFill/>
          <a:ln/>
        </p:spPr>
        <p:txBody>
          <a:bodyPr wrap="square" lIns="0" tIns="0" rIns="0" bIns="0" rtlCol="0" anchor="ctr"/>
          <a:lstStyle/>
          <a:p>
            <a:pPr indent="0" marL="0">
              <a:buNone/>
            </a:pPr>
            <a:r>
              <a:rPr lang="en-US" sz="1500" i="1" dirty="0">
                <a:solidFill>
                  <a:srgbClr val="2B2318"/>
                </a:solidFill>
                <a:latin typeface="Cambria" pitchFamily="34" charset="0"/>
                <a:ea typeface="Cambria" pitchFamily="34" charset="-122"/>
                <a:cs typeface="Cambria" pitchFamily="34" charset="-120"/>
              </a:rPr>
              <a:t>„Im Kontext der damaligen Zeit waren die geographischen Bedingungen der wichtigste Faktor, da die Gebirge die Siedlungen voneinander trennten und so viele kleine, unabhängige Poleis entstanden. Außerdem gab es nur wenig fruchtbares Land in kleinen Ebenen. Dies führte bei wachsender Bevölkerung zu Landmangel und schließlich zur Kolonisation.“</a:t>
            </a:r>
            <a:endParaRPr lang="en-US" sz="1500" dirty="0"/>
          </a:p>
        </p:txBody>
      </p:sp>
      <p:sp>
        <p:nvSpPr>
          <p:cNvPr id="7" name="Shape 5"/>
          <p:cNvSpPr/>
          <p:nvPr/>
        </p:nvSpPr>
        <p:spPr>
          <a:xfrm>
            <a:off x="457200" y="3520440"/>
            <a:ext cx="2606040" cy="868680"/>
          </a:xfrm>
          <a:prstGeom prst="roundRect">
            <a:avLst>
              <a:gd name="adj" fmla="val 8421"/>
            </a:avLst>
          </a:prstGeom>
          <a:solidFill>
            <a:srgbClr val="2B2318"/>
          </a:solidFill>
          <a:ln w="12700">
            <a:solidFill>
              <a:srgbClr val="2B2318"/>
            </a:solidFill>
            <a:prstDash val="solid"/>
          </a:ln>
        </p:spPr>
      </p:sp>
      <p:sp>
        <p:nvSpPr>
          <p:cNvPr id="8" name="Text 6"/>
          <p:cNvSpPr txBox="1"/>
          <p:nvPr/>
        </p:nvSpPr>
        <p:spPr>
          <a:xfrm>
            <a:off x="640080" y="359359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Faktor benannt</a:t>
            </a:r>
            <a:endParaRPr lang="en-US" sz="1300" dirty="0"/>
          </a:p>
        </p:txBody>
      </p:sp>
      <p:sp>
        <p:nvSpPr>
          <p:cNvPr id="9" name="Text 7"/>
          <p:cNvSpPr txBox="1"/>
          <p:nvPr/>
        </p:nvSpPr>
        <p:spPr>
          <a:xfrm>
            <a:off x="640080" y="3886200"/>
            <a:ext cx="2286000" cy="457200"/>
          </a:xfrm>
          <a:prstGeom prst="rect">
            <a:avLst/>
          </a:prstGeom>
          <a:noFill/>
          <a:ln/>
        </p:spPr>
        <p:txBody>
          <a:bodyPr wrap="square" lIns="0" tIns="0" rIns="0" bIns="0" rtlCol="0" anchor="t"/>
          <a:lstStyle/>
          <a:p>
            <a:pPr indent="0" marL="0">
              <a:buNone/>
            </a:pPr>
            <a:r>
              <a:rPr lang="en-US" sz="1150" i="1" dirty="0">
                <a:solidFill>
                  <a:srgbClr val="E8DFD0"/>
                </a:solidFill>
                <a:latin typeface="Calibri" pitchFamily="34" charset="0"/>
                <a:ea typeface="Calibri" pitchFamily="34" charset="-122"/>
                <a:cs typeface="Calibri" pitchFamily="34" charset="-120"/>
              </a:rPr>
              <a:t>„die geographischen Bedingungen“</a:t>
            </a:r>
            <a:endParaRPr lang="en-US" sz="1150" dirty="0"/>
          </a:p>
        </p:txBody>
      </p:sp>
      <p:sp>
        <p:nvSpPr>
          <p:cNvPr id="10" name="Shape 8"/>
          <p:cNvSpPr/>
          <p:nvPr/>
        </p:nvSpPr>
        <p:spPr>
          <a:xfrm>
            <a:off x="3246120" y="3520440"/>
            <a:ext cx="2606040" cy="868680"/>
          </a:xfrm>
          <a:prstGeom prst="roundRect">
            <a:avLst>
              <a:gd name="adj" fmla="val 8421"/>
            </a:avLst>
          </a:prstGeom>
          <a:solidFill>
            <a:srgbClr val="2B2318"/>
          </a:solidFill>
          <a:ln w="12700">
            <a:solidFill>
              <a:srgbClr val="2B2318"/>
            </a:solidFill>
            <a:prstDash val="solid"/>
          </a:ln>
        </p:spPr>
      </p:sp>
      <p:sp>
        <p:nvSpPr>
          <p:cNvPr id="11" name="Text 9"/>
          <p:cNvSpPr txBox="1"/>
          <p:nvPr/>
        </p:nvSpPr>
        <p:spPr>
          <a:xfrm>
            <a:off x="3429000" y="359359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Aus der Zeit heraus</a:t>
            </a:r>
            <a:endParaRPr lang="en-US" sz="1300" dirty="0"/>
          </a:p>
        </p:txBody>
      </p:sp>
      <p:sp>
        <p:nvSpPr>
          <p:cNvPr id="12" name="Text 10"/>
          <p:cNvSpPr txBox="1"/>
          <p:nvPr/>
        </p:nvSpPr>
        <p:spPr>
          <a:xfrm>
            <a:off x="3429000" y="3886200"/>
            <a:ext cx="2286000" cy="457200"/>
          </a:xfrm>
          <a:prstGeom prst="rect">
            <a:avLst/>
          </a:prstGeom>
          <a:noFill/>
          <a:ln/>
        </p:spPr>
        <p:txBody>
          <a:bodyPr wrap="square" lIns="0" tIns="0" rIns="0" bIns="0" rtlCol="0" anchor="t"/>
          <a:lstStyle/>
          <a:p>
            <a:pPr indent="0" marL="0">
              <a:buNone/>
            </a:pPr>
            <a:r>
              <a:rPr lang="en-US" sz="1150" i="1" dirty="0">
                <a:solidFill>
                  <a:srgbClr val="E8DFD0"/>
                </a:solidFill>
                <a:latin typeface="Calibri" pitchFamily="34" charset="0"/>
                <a:ea typeface="Calibri" pitchFamily="34" charset="-122"/>
                <a:cs typeface="Calibri" pitchFamily="34" charset="-120"/>
              </a:rPr>
              <a:t>„Im Kontext der damaligen Zeit“</a:t>
            </a:r>
            <a:endParaRPr lang="en-US" sz="1150" dirty="0"/>
          </a:p>
        </p:txBody>
      </p:sp>
      <p:sp>
        <p:nvSpPr>
          <p:cNvPr id="13" name="Shape 11"/>
          <p:cNvSpPr/>
          <p:nvPr/>
        </p:nvSpPr>
        <p:spPr>
          <a:xfrm>
            <a:off x="6035040" y="3520440"/>
            <a:ext cx="2606040" cy="868680"/>
          </a:xfrm>
          <a:prstGeom prst="roundRect">
            <a:avLst>
              <a:gd name="adj" fmla="val 8421"/>
            </a:avLst>
          </a:prstGeom>
          <a:solidFill>
            <a:srgbClr val="2B2318"/>
          </a:solidFill>
          <a:ln w="12700">
            <a:solidFill>
              <a:srgbClr val="2B2318"/>
            </a:solidFill>
            <a:prstDash val="solid"/>
          </a:ln>
        </p:spPr>
      </p:sp>
      <p:sp>
        <p:nvSpPr>
          <p:cNvPr id="14" name="Text 12"/>
          <p:cNvSpPr txBox="1"/>
          <p:nvPr/>
        </p:nvSpPr>
        <p:spPr>
          <a:xfrm>
            <a:off x="6217920" y="359359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Begründet</a:t>
            </a:r>
            <a:endParaRPr lang="en-US" sz="1300" dirty="0"/>
          </a:p>
        </p:txBody>
      </p:sp>
      <p:sp>
        <p:nvSpPr>
          <p:cNvPr id="15" name="Text 13"/>
          <p:cNvSpPr txBox="1"/>
          <p:nvPr/>
        </p:nvSpPr>
        <p:spPr>
          <a:xfrm>
            <a:off x="6217920" y="3886200"/>
            <a:ext cx="2286000" cy="457200"/>
          </a:xfrm>
          <a:prstGeom prst="rect">
            <a:avLst/>
          </a:prstGeom>
          <a:noFill/>
          <a:ln/>
        </p:spPr>
        <p:txBody>
          <a:bodyPr wrap="square" lIns="0" tIns="0" rIns="0" bIns="0" rtlCol="0" anchor="t"/>
          <a:lstStyle/>
          <a:p>
            <a:pPr indent="0" marL="0">
              <a:buNone/>
            </a:pPr>
            <a:r>
              <a:rPr lang="en-US" sz="1150" i="1" dirty="0">
                <a:solidFill>
                  <a:srgbClr val="E8DFD0"/>
                </a:solidFill>
                <a:latin typeface="Calibri" pitchFamily="34" charset="0"/>
                <a:ea typeface="Calibri" pitchFamily="34" charset="-122"/>
                <a:cs typeface="Calibri" pitchFamily="34" charset="-120"/>
              </a:rPr>
              <a:t>„da …“, „Dies führte zu …“</a:t>
            </a:r>
            <a:endParaRPr lang="en-US" sz="115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EINSTIEG · HÖRTEXT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Athen um 600 v. Chr.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45 Sek.</a:t>
            </a:r>
            <a:endParaRPr lang="en-US" sz="1100" dirty="0"/>
          </a:p>
        </p:txBody>
      </p:sp>
      <p:sp>
        <p:nvSpPr>
          <p:cNvPr id="5" name="Shape 3"/>
          <p:cNvSpPr/>
          <p:nvPr/>
        </p:nvSpPr>
        <p:spPr>
          <a:xfrm>
            <a:off x="457200" y="1371600"/>
            <a:ext cx="4937760" cy="2377440"/>
          </a:xfrm>
          <a:prstGeom prst="roundRect">
            <a:avLst>
              <a:gd name="adj" fmla="val 3077"/>
            </a:avLst>
          </a:prstGeom>
          <a:solidFill>
            <a:srgbClr val="3A3024"/>
          </a:solidFill>
          <a:ln w="12700">
            <a:solidFill>
              <a:srgbClr val="3A3024"/>
            </a:solidFill>
            <a:prstDash val="solid"/>
          </a:ln>
        </p:spPr>
      </p:sp>
      <p:sp>
        <p:nvSpPr>
          <p:cNvPr id="6" name="Text 4"/>
          <p:cNvSpPr txBox="1"/>
          <p:nvPr/>
        </p:nvSpPr>
        <p:spPr>
          <a:xfrm>
            <a:off x="731520" y="1554480"/>
            <a:ext cx="4389120" cy="365760"/>
          </a:xfrm>
          <a:prstGeom prst="rect">
            <a:avLst/>
          </a:prstGeom>
          <a:noFill/>
          <a:ln/>
        </p:spPr>
        <p:txBody>
          <a:bodyPr wrap="square" lIns="0" tIns="0" rIns="0" bIns="0" rtlCol="0" anchor="t"/>
          <a:lstStyle/>
          <a:p>
            <a:pPr indent="0" marL="0">
              <a:buNone/>
            </a:pPr>
            <a:r>
              <a:rPr lang="en-US" sz="1600" b="1" dirty="0">
                <a:solidFill>
                  <a:srgbClr val="D9A441"/>
                </a:solidFill>
                <a:latin typeface="Calibri" pitchFamily="34" charset="0"/>
                <a:ea typeface="Calibri" pitchFamily="34" charset="-122"/>
                <a:cs typeface="Calibri" pitchFamily="34" charset="-120"/>
              </a:rPr>
              <a:t>Hörauftrag</a:t>
            </a:r>
            <a:endParaRPr lang="en-US" sz="1600" dirty="0"/>
          </a:p>
        </p:txBody>
      </p:sp>
      <p:sp>
        <p:nvSpPr>
          <p:cNvPr id="7" name="Text 5"/>
          <p:cNvSpPr txBox="1"/>
          <p:nvPr/>
        </p:nvSpPr>
        <p:spPr>
          <a:xfrm>
            <a:off x="731520" y="1920240"/>
            <a:ext cx="4389120" cy="6858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Welche Probleme hat Athen um 600 v. Chr.?</a:t>
            </a:r>
            <a:endParaRPr lang="en-US" sz="2000" dirty="0"/>
          </a:p>
        </p:txBody>
      </p:sp>
      <p:sp>
        <p:nvSpPr>
          <p:cNvPr id="8" name="Text 6"/>
          <p:cNvSpPr txBox="1"/>
          <p:nvPr/>
        </p:nvSpPr>
        <p:spPr>
          <a:xfrm>
            <a:off x="731520" y="2697480"/>
            <a:ext cx="4389120" cy="868680"/>
          </a:xfrm>
          <a:prstGeom prst="rect">
            <a:avLst/>
          </a:prstGeom>
          <a:noFill/>
          <a:ln/>
        </p:spPr>
        <p:txBody>
          <a:bodyPr wrap="square" lIns="0" tIns="0" rIns="0" bIns="0" rtlCol="0" anchor="ctr"/>
          <a:lstStyle/>
          <a:p>
            <a:pPr indent="0" marL="0">
              <a:spcAft>
                <a:spcPts val="400"/>
              </a:spcAft>
              <a:buNone/>
            </a:pPr>
            <a:r>
              <a:rPr lang="en-US" sz="1300" dirty="0">
                <a:solidFill>
                  <a:srgbClr val="E8DFD0"/>
                </a:solidFill>
                <a:latin typeface="Calibri" pitchFamily="34" charset="0"/>
                <a:ea typeface="Calibri" pitchFamily="34" charset="-122"/>
                <a:cs typeface="Calibri" pitchFamily="34" charset="-120"/>
              </a:rPr>
              <a:t>1. Notiere beim Hören alle Probleme in Stichpunkten untereinander.</a:t>
            </a:r>
            <a:endParaRPr lang="en-US" sz="1300" dirty="0"/>
          </a:p>
          <a:p>
            <a:pPr indent="0" marL="0">
              <a:spcAft>
                <a:spcPts val="400"/>
              </a:spcAft>
              <a:buNone/>
            </a:pPr>
            <a:r>
              <a:rPr lang="en-US" sz="1300" dirty="0">
                <a:solidFill>
                  <a:srgbClr val="E8DFD0"/>
                </a:solidFill>
                <a:latin typeface="Calibri" pitchFamily="34" charset="0"/>
                <a:ea typeface="Calibri" pitchFamily="34" charset="-122"/>
                <a:cs typeface="Calibri" pitchFamily="34" charset="-120"/>
              </a:rPr>
              <a:t>2. Vergleiche danach mit deiner Vermutung vom Ende des Lückentextes.</a:t>
            </a:r>
            <a:endParaRPr lang="en-US" sz="13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217920" y="1920240"/>
            <a:ext cx="1280160" cy="1280160"/>
          </a:xfrm>
          <a:prstGeom prst="rect">
            <a:avLst/>
          </a:prstGeom>
        </p:spPr>
      </p:pic>
      <p:sp>
        <p:nvSpPr>
          <p:cNvPr id="10" name="Text 7"/>
          <p:cNvSpPr txBox="1"/>
          <p:nvPr/>
        </p:nvSpPr>
        <p:spPr>
          <a:xfrm>
            <a:off x="5669280" y="3291840"/>
            <a:ext cx="2377440" cy="274320"/>
          </a:xfrm>
          <a:prstGeom prst="rect">
            <a:avLst/>
          </a:prstGeom>
          <a:noFill/>
          <a:ln/>
        </p:spPr>
        <p:txBody>
          <a:bodyPr wrap="square" lIns="0" tIns="0" rIns="0" bIns="0" rtlCol="0" anchor="t"/>
          <a:lstStyle/>
          <a:p>
            <a:pPr algn="ctr" indent="0" marL="0">
              <a:buNone/>
            </a:pPr>
            <a:r>
              <a:rPr lang="en-US" sz="1000" dirty="0">
                <a:solidFill>
                  <a:srgbClr val="998C77"/>
                </a:solidFill>
                <a:latin typeface="Calibri" pitchFamily="34" charset="0"/>
                <a:ea typeface="Calibri" pitchFamily="34" charset="-122"/>
                <a:cs typeface="Calibri" pitchFamily="34" charset="-120"/>
              </a:rPr>
              <a:t>Zum Abspielen auf das Symbol klicken</a:t>
            </a:r>
            <a:endParaRPr lang="en-US" sz="1000" dirty="0"/>
          </a:p>
        </p:txBody>
      </p:sp>
      <p:sp>
        <p:nvSpPr>
          <p:cNvPr id="11" name="Text 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HÖRTEXT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Die Probleme Athens um 600 v. Chr.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Text 3"/>
          <p:cNvSpPr txBox="1"/>
          <p:nvPr/>
        </p:nvSpPr>
        <p:spPr>
          <a:xfrm>
            <a:off x="457200" y="1188720"/>
            <a:ext cx="5029200" cy="228600"/>
          </a:xfrm>
          <a:prstGeom prst="rect">
            <a:avLst/>
          </a:prstGeom>
          <a:noFill/>
          <a:ln/>
        </p:spPr>
        <p:txBody>
          <a:bodyPr wrap="square" lIns="0" tIns="0" rIns="0" bIns="0" rtlCol="0" anchor="t"/>
          <a:lstStyle/>
          <a:p>
            <a:pPr indent="0" marL="0">
              <a:buNone/>
            </a:pPr>
            <a:r>
              <a:rPr lang="en-US" sz="1000" b="1" spc="200" kern="0" dirty="0">
                <a:solidFill>
                  <a:srgbClr val="5A5044"/>
                </a:solidFill>
                <a:latin typeface="Calibri" pitchFamily="34" charset="0"/>
                <a:ea typeface="Calibri" pitchFamily="34" charset="-122"/>
                <a:cs typeface="Calibri" pitchFamily="34" charset="-120"/>
              </a:rPr>
              <a:t>IM HÖRTEXT</a:t>
            </a:r>
            <a:endParaRPr lang="en-US" sz="1000" dirty="0"/>
          </a:p>
        </p:txBody>
      </p:sp>
      <p:sp>
        <p:nvSpPr>
          <p:cNvPr id="6" name="Text 4"/>
          <p:cNvSpPr txBox="1"/>
          <p:nvPr/>
        </p:nvSpPr>
        <p:spPr>
          <a:xfrm>
            <a:off x="5852160" y="1188720"/>
            <a:ext cx="2834640" cy="228600"/>
          </a:xfrm>
          <a:prstGeom prst="rect">
            <a:avLst/>
          </a:prstGeom>
          <a:noFill/>
          <a:ln/>
        </p:spPr>
        <p:txBody>
          <a:bodyPr wrap="square" lIns="0" tIns="0" rIns="0" bIns="0" rtlCol="0" anchor="t"/>
          <a:lstStyle/>
          <a:p>
            <a:pPr indent="0" marL="0">
              <a:buNone/>
            </a:pPr>
            <a:r>
              <a:rPr lang="en-US" sz="1000" b="1" spc="200" kern="0" dirty="0">
                <a:solidFill>
                  <a:srgbClr val="5A5044"/>
                </a:solidFill>
                <a:latin typeface="Calibri" pitchFamily="34" charset="0"/>
                <a:ea typeface="Calibri" pitchFamily="34" charset="-122"/>
                <a:cs typeface="Calibri" pitchFamily="34" charset="-120"/>
              </a:rPr>
              <a:t>ZEILE IN DER TABELLE</a:t>
            </a:r>
            <a:endParaRPr lang="en-US" sz="1000" dirty="0"/>
          </a:p>
        </p:txBody>
      </p:sp>
      <p:sp>
        <p:nvSpPr>
          <p:cNvPr id="7" name="Shape 5"/>
          <p:cNvSpPr/>
          <p:nvPr/>
        </p:nvSpPr>
        <p:spPr>
          <a:xfrm>
            <a:off x="457200" y="1481328"/>
            <a:ext cx="5212080" cy="493776"/>
          </a:xfrm>
          <a:prstGeom prst="roundRect">
            <a:avLst>
              <a:gd name="adj" fmla="val 14815"/>
            </a:avLst>
          </a:prstGeom>
          <a:solidFill>
            <a:srgbClr val="F4ECDE"/>
          </a:solidFill>
          <a:ln w="12700">
            <a:solidFill>
              <a:srgbClr val="F4ECDE"/>
            </a:solidFill>
            <a:prstDash val="solid"/>
          </a:ln>
        </p:spPr>
      </p:sp>
      <p:sp>
        <p:nvSpPr>
          <p:cNvPr id="8" name="Text 6"/>
          <p:cNvSpPr txBox="1"/>
          <p:nvPr/>
        </p:nvSpPr>
        <p:spPr>
          <a:xfrm>
            <a:off x="621792" y="1481328"/>
            <a:ext cx="493776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Wenige adlige Familien besitzen das meiste Land.</a:t>
            </a:r>
            <a:endParaRPr lang="en-US" sz="1300" dirty="0"/>
          </a:p>
        </p:txBody>
      </p:sp>
      <p:sp>
        <p:nvSpPr>
          <p:cNvPr id="9" name="Shape 7"/>
          <p:cNvSpPr/>
          <p:nvPr/>
        </p:nvSpPr>
        <p:spPr>
          <a:xfrm>
            <a:off x="5715000" y="1728216"/>
            <a:ext cx="109728" cy="0"/>
          </a:xfrm>
          <a:prstGeom prst="line">
            <a:avLst/>
          </a:prstGeom>
          <a:noFill/>
          <a:ln w="28575">
            <a:solidFill>
              <a:srgbClr val="998C77"/>
            </a:solidFill>
            <a:prstDash val="solid"/>
            <a:tailEnd type="triangle"/>
          </a:ln>
        </p:spPr>
      </p:sp>
      <p:sp>
        <p:nvSpPr>
          <p:cNvPr id="10" name="Text 8"/>
          <p:cNvSpPr txBox="1"/>
          <p:nvPr/>
        </p:nvSpPr>
        <p:spPr>
          <a:xfrm>
            <a:off x="5852160" y="1527048"/>
            <a:ext cx="2834640" cy="402336"/>
          </a:xfrm>
          <a:prstGeom prst="roundRect">
            <a:avLst>
              <a:gd name="adj" fmla="val 22727"/>
            </a:avLst>
          </a:prstGeom>
          <a:solidFill>
            <a:srgbClr val="2B2318"/>
          </a:solid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Land in den Händen weniger</a:t>
            </a:r>
            <a:endParaRPr lang="en-US" sz="1150" dirty="0"/>
          </a:p>
        </p:txBody>
      </p:sp>
      <p:sp>
        <p:nvSpPr>
          <p:cNvPr id="11" name="Shape 9"/>
          <p:cNvSpPr/>
          <p:nvPr/>
        </p:nvSpPr>
        <p:spPr>
          <a:xfrm>
            <a:off x="457200" y="2066544"/>
            <a:ext cx="5212080" cy="493776"/>
          </a:xfrm>
          <a:prstGeom prst="roundRect">
            <a:avLst>
              <a:gd name="adj" fmla="val 14815"/>
            </a:avLst>
          </a:prstGeom>
          <a:solidFill>
            <a:srgbClr val="F4ECDE"/>
          </a:solidFill>
          <a:ln w="12700">
            <a:solidFill>
              <a:srgbClr val="F4ECDE"/>
            </a:solidFill>
            <a:prstDash val="solid"/>
          </a:ln>
        </p:spPr>
      </p:sp>
      <p:sp>
        <p:nvSpPr>
          <p:cNvPr id="12" name="Text 10"/>
          <p:cNvSpPr txBox="1"/>
          <p:nvPr/>
        </p:nvSpPr>
        <p:spPr>
          <a:xfrm>
            <a:off x="621792" y="2066544"/>
            <a:ext cx="493776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Viele Bauern sind hoch verschuldet.</a:t>
            </a:r>
            <a:endParaRPr lang="en-US" sz="1300" dirty="0"/>
          </a:p>
        </p:txBody>
      </p:sp>
      <p:sp>
        <p:nvSpPr>
          <p:cNvPr id="13" name="Shape 11"/>
          <p:cNvSpPr/>
          <p:nvPr/>
        </p:nvSpPr>
        <p:spPr>
          <a:xfrm>
            <a:off x="5715000" y="2313432"/>
            <a:ext cx="109728" cy="0"/>
          </a:xfrm>
          <a:prstGeom prst="line">
            <a:avLst/>
          </a:prstGeom>
          <a:noFill/>
          <a:ln w="28575">
            <a:solidFill>
              <a:srgbClr val="998C77"/>
            </a:solidFill>
            <a:prstDash val="solid"/>
            <a:tailEnd type="triangle"/>
          </a:ln>
        </p:spPr>
      </p:sp>
      <p:sp>
        <p:nvSpPr>
          <p:cNvPr id="14" name="Text 12"/>
          <p:cNvSpPr txBox="1"/>
          <p:nvPr/>
        </p:nvSpPr>
        <p:spPr>
          <a:xfrm>
            <a:off x="5852160" y="2112264"/>
            <a:ext cx="2834640" cy="402336"/>
          </a:xfrm>
          <a:prstGeom prst="roundRect">
            <a:avLst>
              <a:gd name="adj" fmla="val 22727"/>
            </a:avLst>
          </a:prstGeom>
          <a:solidFill>
            <a:srgbClr val="2B2318"/>
          </a:solid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Schuldknechtschaft</a:t>
            </a:r>
            <a:endParaRPr lang="en-US" sz="1150" dirty="0"/>
          </a:p>
        </p:txBody>
      </p:sp>
      <p:sp>
        <p:nvSpPr>
          <p:cNvPr id="15" name="Shape 13"/>
          <p:cNvSpPr/>
          <p:nvPr/>
        </p:nvSpPr>
        <p:spPr>
          <a:xfrm>
            <a:off x="457200" y="2651760"/>
            <a:ext cx="5212080" cy="493776"/>
          </a:xfrm>
          <a:prstGeom prst="roundRect">
            <a:avLst>
              <a:gd name="adj" fmla="val 14815"/>
            </a:avLst>
          </a:prstGeom>
          <a:solidFill>
            <a:srgbClr val="F4ECDE"/>
          </a:solidFill>
          <a:ln w="12700">
            <a:solidFill>
              <a:srgbClr val="F4ECDE"/>
            </a:solidFill>
            <a:prstDash val="solid"/>
          </a:ln>
        </p:spPr>
      </p:sp>
      <p:sp>
        <p:nvSpPr>
          <p:cNvPr id="16" name="Text 14"/>
          <p:cNvSpPr txBox="1"/>
          <p:nvPr/>
        </p:nvSpPr>
        <p:spPr>
          <a:xfrm>
            <a:off x="621792" y="2651760"/>
            <a:ext cx="493776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Wer nicht zahlen kann, wird Sklave, manchmal sogar ins Ausland verkauft.</a:t>
            </a:r>
            <a:endParaRPr lang="en-US" sz="1300" dirty="0"/>
          </a:p>
        </p:txBody>
      </p:sp>
      <p:sp>
        <p:nvSpPr>
          <p:cNvPr id="17" name="Shape 15"/>
          <p:cNvSpPr/>
          <p:nvPr/>
        </p:nvSpPr>
        <p:spPr>
          <a:xfrm>
            <a:off x="5715000" y="2898648"/>
            <a:ext cx="109728" cy="0"/>
          </a:xfrm>
          <a:prstGeom prst="line">
            <a:avLst/>
          </a:prstGeom>
          <a:noFill/>
          <a:ln w="28575">
            <a:solidFill>
              <a:srgbClr val="998C77"/>
            </a:solidFill>
            <a:prstDash val="solid"/>
            <a:tailEnd type="triangle"/>
          </a:ln>
        </p:spPr>
      </p:sp>
      <p:sp>
        <p:nvSpPr>
          <p:cNvPr id="18" name="Text 16"/>
          <p:cNvSpPr txBox="1"/>
          <p:nvPr/>
        </p:nvSpPr>
        <p:spPr>
          <a:xfrm>
            <a:off x="5852160" y="2697480"/>
            <a:ext cx="2834640" cy="402336"/>
          </a:xfrm>
          <a:prstGeom prst="roundRect">
            <a:avLst>
              <a:gd name="adj" fmla="val 22727"/>
            </a:avLst>
          </a:prstGeom>
          <a:solidFill>
            <a:srgbClr val="2B2318"/>
          </a:solid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Schuldknechtschaft</a:t>
            </a:r>
            <a:endParaRPr lang="en-US" sz="1150" dirty="0"/>
          </a:p>
        </p:txBody>
      </p:sp>
      <p:sp>
        <p:nvSpPr>
          <p:cNvPr id="19" name="Shape 17"/>
          <p:cNvSpPr/>
          <p:nvPr/>
        </p:nvSpPr>
        <p:spPr>
          <a:xfrm>
            <a:off x="457200" y="3236976"/>
            <a:ext cx="5212080" cy="493776"/>
          </a:xfrm>
          <a:prstGeom prst="roundRect">
            <a:avLst>
              <a:gd name="adj" fmla="val 14815"/>
            </a:avLst>
          </a:prstGeom>
          <a:solidFill>
            <a:srgbClr val="F4ECDE"/>
          </a:solidFill>
          <a:ln w="12700">
            <a:solidFill>
              <a:srgbClr val="F4ECDE"/>
            </a:solidFill>
            <a:prstDash val="solid"/>
          </a:ln>
        </p:spPr>
      </p:sp>
      <p:sp>
        <p:nvSpPr>
          <p:cNvPr id="20" name="Text 18"/>
          <p:cNvSpPr txBox="1"/>
          <p:nvPr/>
        </p:nvSpPr>
        <p:spPr>
          <a:xfrm>
            <a:off x="621792" y="3236976"/>
            <a:ext cx="493776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Drakon hat das Recht aufgeschrieben, aber seine Gesetze sind streng.</a:t>
            </a:r>
            <a:endParaRPr lang="en-US" sz="1300" dirty="0"/>
          </a:p>
        </p:txBody>
      </p:sp>
      <p:sp>
        <p:nvSpPr>
          <p:cNvPr id="21" name="Shape 19"/>
          <p:cNvSpPr/>
          <p:nvPr/>
        </p:nvSpPr>
        <p:spPr>
          <a:xfrm>
            <a:off x="5715000" y="3483864"/>
            <a:ext cx="109728" cy="0"/>
          </a:xfrm>
          <a:prstGeom prst="line">
            <a:avLst/>
          </a:prstGeom>
          <a:noFill/>
          <a:ln w="28575">
            <a:solidFill>
              <a:srgbClr val="998C77"/>
            </a:solidFill>
            <a:prstDash val="solid"/>
            <a:tailEnd type="triangle"/>
          </a:ln>
        </p:spPr>
      </p:sp>
      <p:sp>
        <p:nvSpPr>
          <p:cNvPr id="22" name="Text 20"/>
          <p:cNvSpPr txBox="1"/>
          <p:nvPr/>
        </p:nvSpPr>
        <p:spPr>
          <a:xfrm>
            <a:off x="5852160" y="3282696"/>
            <a:ext cx="2834640" cy="402336"/>
          </a:xfrm>
          <a:prstGeom prst="roundRect">
            <a:avLst>
              <a:gd name="adj" fmla="val 22727"/>
            </a:avLst>
          </a:prstGeom>
          <a:solidFill>
            <a:srgbClr val="2B2318"/>
          </a:solid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Recht nur beim Adel, Blutrache</a:t>
            </a:r>
            <a:endParaRPr lang="en-US" sz="1150" dirty="0"/>
          </a:p>
        </p:txBody>
      </p:sp>
      <p:sp>
        <p:nvSpPr>
          <p:cNvPr id="23" name="Shape 21"/>
          <p:cNvSpPr/>
          <p:nvPr/>
        </p:nvSpPr>
        <p:spPr>
          <a:xfrm>
            <a:off x="457200" y="3822192"/>
            <a:ext cx="5212080" cy="493776"/>
          </a:xfrm>
          <a:prstGeom prst="roundRect">
            <a:avLst>
              <a:gd name="adj" fmla="val 14815"/>
            </a:avLst>
          </a:prstGeom>
          <a:solidFill>
            <a:srgbClr val="F4ECDE"/>
          </a:solidFill>
          <a:ln w="12700">
            <a:solidFill>
              <a:srgbClr val="F4ECDE"/>
            </a:solidFill>
            <a:prstDash val="solid"/>
          </a:ln>
        </p:spPr>
      </p:sp>
      <p:sp>
        <p:nvSpPr>
          <p:cNvPr id="24" name="Text 22"/>
          <p:cNvSpPr txBox="1"/>
          <p:nvPr/>
        </p:nvSpPr>
        <p:spPr>
          <a:xfrm>
            <a:off x="621792" y="3822192"/>
            <a:ext cx="4937760" cy="49377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Die Stadt steht kurz vor dem Aufruhr.</a:t>
            </a:r>
            <a:endParaRPr lang="en-US" sz="1300" dirty="0"/>
          </a:p>
        </p:txBody>
      </p:sp>
      <p:sp>
        <p:nvSpPr>
          <p:cNvPr id="25" name="Shape 23"/>
          <p:cNvSpPr/>
          <p:nvPr/>
        </p:nvSpPr>
        <p:spPr>
          <a:xfrm>
            <a:off x="5715000" y="4069080"/>
            <a:ext cx="109728" cy="0"/>
          </a:xfrm>
          <a:prstGeom prst="line">
            <a:avLst/>
          </a:prstGeom>
          <a:noFill/>
          <a:ln w="28575">
            <a:solidFill>
              <a:srgbClr val="998C77"/>
            </a:solidFill>
            <a:prstDash val="solid"/>
            <a:tailEnd type="triangle"/>
          </a:ln>
        </p:spPr>
      </p:sp>
      <p:sp>
        <p:nvSpPr>
          <p:cNvPr id="26" name="Text 24"/>
          <p:cNvSpPr txBox="1"/>
          <p:nvPr/>
        </p:nvSpPr>
        <p:spPr>
          <a:xfrm>
            <a:off x="5852160" y="3867912"/>
            <a:ext cx="2834640" cy="402336"/>
          </a:xfrm>
          <a:prstGeom prst="roundRect">
            <a:avLst>
              <a:gd name="adj" fmla="val 22727"/>
            </a:avLst>
          </a:prstGeom>
          <a:solidFill>
            <a:srgbClr val="2B2318"/>
          </a:solidFill>
          <a:ln/>
        </p:spPr>
        <p:txBody>
          <a:bodyPr wrap="square" lIns="25400" tIns="25400" rIns="25400" bIns="2540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Gefahr eines Bürgerkriegs</a:t>
            </a:r>
            <a:endParaRPr lang="en-US" sz="1150" dirty="0"/>
          </a:p>
        </p:txBody>
      </p:sp>
      <p:sp>
        <p:nvSpPr>
          <p:cNvPr id="27" name="Text 25"/>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8" name="Text 26"/>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TAFELBILD · INS HEFT ÜBERNEHMEN</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löst die Krise?</a:t>
            </a:r>
            <a:endParaRPr lang="en-US" sz="2800" dirty="0"/>
          </a:p>
        </p:txBody>
      </p:sp>
      <p:sp>
        <p:nvSpPr>
          <p:cNvPr id="4" name="Text 2"/>
          <p:cNvSpPr txBox="1"/>
          <p:nvPr/>
        </p:nvSpPr>
        <p:spPr>
          <a:xfrm>
            <a:off x="457200" y="1097280"/>
            <a:ext cx="8229600" cy="320040"/>
          </a:xfrm>
          <a:prstGeom prst="rect">
            <a:avLst/>
          </a:prstGeom>
          <a:noFill/>
          <a:ln/>
        </p:spPr>
        <p:txBody>
          <a:bodyPr wrap="square" lIns="0" tIns="0" rIns="0" bIns="0" rtlCol="0" anchor="t"/>
          <a:lstStyle/>
          <a:p>
            <a:pPr indent="0" marL="0">
              <a:buNone/>
            </a:pPr>
            <a:r>
              <a:rPr lang="en-US" sz="1300" b="1" dirty="0">
                <a:solidFill>
                  <a:srgbClr val="5A5044"/>
                </a:solidFill>
                <a:latin typeface="Calibri" pitchFamily="34" charset="0"/>
                <a:ea typeface="Calibri" pitchFamily="34" charset="-122"/>
                <a:cs typeface="Calibri" pitchFamily="34" charset="-120"/>
              </a:rPr>
              <a:t>Übertrage die Tabelle in dein Heft. Lass in jeder Zeile Platz für Zeichen und Stichworte.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640080"/>
                <a:gridCol w="4297680"/>
                <a:gridCol w="1645920"/>
                <a:gridCol w="1645920"/>
              </a:tblGrid>
              <a:tr h="448056">
                <a:tc>
                  <a:txBody>
                    <a:bodyPr/>
                    <a:lstStyle/>
                    <a:p>
                      <a:pPr indent="0" marL="0">
                        <a:buNone/>
                      </a:pP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FFFF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Problem</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Drakon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Solon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448056">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1</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Schuldknechtschaft</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48056">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2</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Land in den Händen weniger</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48056">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3</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Recht nur beim Adel, Blutrache</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48056">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4</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Politische Macht nur beim Adel</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48056">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5</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Gefahr eines Bürgerkriegs</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6" name="Text 3"/>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300" b="1" dirty="0">
                <a:solidFill>
                  <a:srgbClr val="5A5044"/>
                </a:solidFill>
                <a:latin typeface="Calibri" pitchFamily="34" charset="0"/>
                <a:ea typeface="Calibri" pitchFamily="34" charset="-122"/>
                <a:cs typeface="Calibri" pitchFamily="34" charset="-120"/>
              </a:rPr>
              <a:t>✔ gelöst     ~ teilweise     ✘ nicht gelöst</a:t>
            </a:r>
            <a:endParaRPr lang="en-US" sz="1300" dirty="0"/>
          </a:p>
        </p:txBody>
      </p:sp>
      <p:sp>
        <p:nvSpPr>
          <p:cNvPr id="7" name="Text 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8" name="Text 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LB S. 20</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Drakon: Was ändert 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Shape 3"/>
          <p:cNvSpPr/>
          <p:nvPr/>
        </p:nvSpPr>
        <p:spPr>
          <a:xfrm>
            <a:off x="457200" y="1325880"/>
            <a:ext cx="5120640" cy="2926080"/>
          </a:xfrm>
          <a:prstGeom prst="roundRect">
            <a:avLst>
              <a:gd name="adj" fmla="val 2500"/>
            </a:avLst>
          </a:prstGeom>
          <a:solidFill>
            <a:srgbClr val="F4ECDE"/>
          </a:solidFill>
          <a:ln w="12700">
            <a:solidFill>
              <a:srgbClr val="F4ECDE"/>
            </a:solidFill>
            <a:prstDash val="solid"/>
          </a:ln>
        </p:spPr>
      </p:sp>
      <p:sp>
        <p:nvSpPr>
          <p:cNvPr id="6" name="Text 4"/>
          <p:cNvSpPr txBox="1"/>
          <p:nvPr/>
        </p:nvSpPr>
        <p:spPr>
          <a:xfrm>
            <a:off x="685800" y="15544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1481328"/>
            <a:ext cx="4114800" cy="603504"/>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Lest im LB S. 20 den Abschnitt „Die Gesetzgebung des Drakon“.</a:t>
            </a:r>
            <a:endParaRPr lang="en-US" sz="1400" dirty="0"/>
          </a:p>
        </p:txBody>
      </p:sp>
      <p:sp>
        <p:nvSpPr>
          <p:cNvPr id="8" name="Text 6"/>
          <p:cNvSpPr txBox="1"/>
          <p:nvPr/>
        </p:nvSpPr>
        <p:spPr>
          <a:xfrm>
            <a:off x="685800" y="228600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25880" y="2194560"/>
            <a:ext cx="4114800" cy="868680"/>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Prüft für jedes der fünf Probleme in eurer Tabelle: Hat Drakon es gelöst? Tragt in die Spalte „Drakon“ ein: ✔ gelöst, ~ teilweise, ✘ nicht gelöst.</a:t>
            </a:r>
            <a:endParaRPr lang="en-US" sz="1400" dirty="0"/>
          </a:p>
        </p:txBody>
      </p:sp>
      <p:sp>
        <p:nvSpPr>
          <p:cNvPr id="10" name="Text 8"/>
          <p:cNvSpPr txBox="1"/>
          <p:nvPr/>
        </p:nvSpPr>
        <p:spPr>
          <a:xfrm>
            <a:off x="685800" y="3310128"/>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1" name="Text 9"/>
          <p:cNvSpPr txBox="1"/>
          <p:nvPr/>
        </p:nvSpPr>
        <p:spPr>
          <a:xfrm>
            <a:off x="1325880" y="3246120"/>
            <a:ext cx="4114800" cy="603504"/>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Schreibt hinter jedes Zeichen ein Stichwort aus dem Text als Beleg.</a:t>
            </a:r>
            <a:endParaRPr lang="en-US" sz="1400" dirty="0"/>
          </a:p>
        </p:txBody>
      </p:sp>
      <p:sp>
        <p:nvSpPr>
          <p:cNvPr id="12" name="Shape 10"/>
          <p:cNvSpPr/>
          <p:nvPr/>
        </p:nvSpPr>
        <p:spPr>
          <a:xfrm>
            <a:off x="5806440" y="1325880"/>
            <a:ext cx="2880360" cy="2926080"/>
          </a:xfrm>
          <a:prstGeom prst="roundRect">
            <a:avLst>
              <a:gd name="adj" fmla="val 2540"/>
            </a:avLst>
          </a:prstGeom>
          <a:solidFill>
            <a:srgbClr val="2B2318"/>
          </a:solidFill>
          <a:ln w="12700">
            <a:solidFill>
              <a:srgbClr val="2B2318"/>
            </a:solidFill>
            <a:prstDash val="solid"/>
          </a:ln>
        </p:spPr>
      </p:sp>
      <p:sp>
        <p:nvSpPr>
          <p:cNvPr id="13" name="Text 11"/>
          <p:cNvSpPr txBox="1"/>
          <p:nvPr/>
        </p:nvSpPr>
        <p:spPr>
          <a:xfrm>
            <a:off x="6035040" y="1508760"/>
            <a:ext cx="246888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Beispiel</a:t>
            </a:r>
            <a:endParaRPr lang="en-US" sz="1400" dirty="0"/>
          </a:p>
        </p:txBody>
      </p:sp>
      <p:sp>
        <p:nvSpPr>
          <p:cNvPr id="14" name="Text 12"/>
          <p:cNvSpPr txBox="1"/>
          <p:nvPr/>
        </p:nvSpPr>
        <p:spPr>
          <a:xfrm>
            <a:off x="6035040" y="1874520"/>
            <a:ext cx="2468880" cy="6400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Recht nur beim Adel: ~</a:t>
            </a:r>
            <a:endParaRPr lang="en-US" sz="1700" dirty="0"/>
          </a:p>
        </p:txBody>
      </p:sp>
      <p:sp>
        <p:nvSpPr>
          <p:cNvPr id="15" name="Text 13"/>
          <p:cNvSpPr txBox="1"/>
          <p:nvPr/>
        </p:nvSpPr>
        <p:spPr>
          <a:xfrm>
            <a:off x="6035040" y="2606040"/>
            <a:ext cx="2468880" cy="1463040"/>
          </a:xfrm>
          <a:prstGeom prst="rect">
            <a:avLst/>
          </a:prstGeom>
          <a:noFill/>
          <a:ln/>
        </p:spPr>
        <p:txBody>
          <a:bodyPr wrap="square" lIns="0" tIns="0" rIns="0" bIns="0" rtlCol="0" anchor="t"/>
          <a:lstStyle/>
          <a:p>
            <a:pPr indent="0" marL="0">
              <a:buNone/>
            </a:pPr>
            <a:r>
              <a:rPr lang="en-US" sz="1300" i="1" dirty="0">
                <a:solidFill>
                  <a:srgbClr val="E8DFD0"/>
                </a:solidFill>
                <a:latin typeface="Calibri" pitchFamily="34" charset="0"/>
                <a:ea typeface="Calibri" pitchFamily="34" charset="-122"/>
                <a:cs typeface="Calibri" pitchFamily="34" charset="-120"/>
              </a:rPr>
              <a:t>„geschriebenes Recht für alle Bürger, Blutrache aufgehoben, aber strenge Strafen“</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DRAKON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Was ändert Drakon?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65760"/>
                <a:gridCol w="2286000"/>
                <a:gridCol w="2788920"/>
                <a:gridCol w="2788920"/>
              </a:tblGrid>
              <a:tr h="310896">
                <a:tc>
                  <a:txBody>
                    <a:bodyPr/>
                    <a:lstStyle/>
                    <a:p>
                      <a:pPr indent="0" marL="0">
                        <a:buNone/>
                      </a:pP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FFFF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Problem</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Drakon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Solon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1</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Schuldknechtschaft</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Schuldknechtschaft bleibt bestehen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2</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Land in den Händen weniger</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keine Änderung</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3</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Recht nur beim Adel, Blutrache</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geschriebenes Recht für alle, Blutrache aufgehoben, aber strenge Strafen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4</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Politische Macht nur beim Adel</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der Adel behält die Macht</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5</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Gefahr eines Bürgerkriegs</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die Spannungen bleiben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6" name="Text 3"/>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050" b="1" dirty="0">
                <a:solidFill>
                  <a:srgbClr val="5A5044"/>
                </a:solidFill>
                <a:latin typeface="Calibri" pitchFamily="34" charset="0"/>
                <a:ea typeface="Calibri" pitchFamily="34" charset="-122"/>
                <a:cs typeface="Calibri" pitchFamily="34" charset="-120"/>
              </a:rPr>
              <a:t>✔ gelöst     ~ teilweise     ✘ nicht gelöst     Abweichende, gut begründete Einschätzungen sind möglich.</a:t>
            </a:r>
            <a:endParaRPr lang="en-US" sz="1050" dirty="0"/>
          </a:p>
        </p:txBody>
      </p:sp>
      <p:sp>
        <p:nvSpPr>
          <p:cNvPr id="7" name="Text 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8" name="Text 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LESETANDEM · LB S. 20–22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 Zwei Reformen, zwei Experten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 Min.</a:t>
            </a:r>
            <a:endParaRPr lang="en-US" sz="1100" dirty="0"/>
          </a:p>
        </p:txBody>
      </p:sp>
      <p:sp>
        <p:nvSpPr>
          <p:cNvPr id="5" name="Shape 3"/>
          <p:cNvSpPr/>
          <p:nvPr/>
        </p:nvSpPr>
        <p:spPr>
          <a:xfrm>
            <a:off x="457200" y="1280160"/>
            <a:ext cx="4023360" cy="1463040"/>
          </a:xfrm>
          <a:prstGeom prst="roundRect">
            <a:avLst>
              <a:gd name="adj" fmla="val 5000"/>
            </a:avLst>
          </a:prstGeom>
          <a:solidFill>
            <a:srgbClr val="F4ECDE"/>
          </a:solidFill>
          <a:ln w="12700">
            <a:solidFill>
              <a:srgbClr val="F4ECDE"/>
            </a:solidFill>
            <a:prstDash val="solid"/>
          </a:ln>
        </p:spPr>
      </p:sp>
      <p:sp>
        <p:nvSpPr>
          <p:cNvPr id="6" name="Text 4"/>
          <p:cNvSpPr txBox="1"/>
          <p:nvPr/>
        </p:nvSpPr>
        <p:spPr>
          <a:xfrm>
            <a:off x="685800" y="1417320"/>
            <a:ext cx="548640" cy="548640"/>
          </a:xfrm>
          <a:prstGeom prst="ellipse">
            <a:avLst/>
          </a:prstGeom>
          <a:solidFill>
            <a:srgbClr val="AD4426"/>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a:t>
            </a:r>
            <a:endParaRPr lang="en-US" sz="2200" dirty="0"/>
          </a:p>
        </p:txBody>
      </p:sp>
      <p:sp>
        <p:nvSpPr>
          <p:cNvPr id="7" name="Text 5"/>
          <p:cNvSpPr txBox="1"/>
          <p:nvPr/>
        </p:nvSpPr>
        <p:spPr>
          <a:xfrm>
            <a:off x="1417320" y="1389888"/>
            <a:ext cx="2834640" cy="274320"/>
          </a:xfrm>
          <a:prstGeom prst="rect">
            <a:avLst/>
          </a:prstGeom>
          <a:noFill/>
          <a:ln/>
        </p:spPr>
        <p:txBody>
          <a:bodyPr wrap="square" lIns="0" tIns="0" rIns="0" bIns="0" rtlCol="0" anchor="t"/>
          <a:lstStyle/>
          <a:p>
            <a:pPr indent="0" marL="0">
              <a:buNone/>
            </a:pPr>
            <a:r>
              <a:rPr lang="en-US" sz="1200" b="1" dirty="0">
                <a:solidFill>
                  <a:srgbClr val="5A5044"/>
                </a:solidFill>
                <a:latin typeface="Calibri" pitchFamily="34" charset="0"/>
                <a:ea typeface="Calibri" pitchFamily="34" charset="-122"/>
                <a:cs typeface="Calibri" pitchFamily="34" charset="-120"/>
              </a:rPr>
              <a:t>Partner A</a:t>
            </a:r>
            <a:endParaRPr lang="en-US" sz="1200" dirty="0"/>
          </a:p>
        </p:txBody>
      </p:sp>
      <p:sp>
        <p:nvSpPr>
          <p:cNvPr id="8" name="Text 6"/>
          <p:cNvSpPr txBox="1"/>
          <p:nvPr/>
        </p:nvSpPr>
        <p:spPr>
          <a:xfrm>
            <a:off x="1417320" y="1645920"/>
            <a:ext cx="2834640" cy="365760"/>
          </a:xfrm>
          <a:prstGeom prst="rect">
            <a:avLst/>
          </a:prstGeom>
          <a:noFill/>
          <a:ln/>
        </p:spPr>
        <p:txBody>
          <a:bodyPr wrap="square" lIns="0" tIns="0" rIns="0" bIns="0" rtlCol="0" anchor="t"/>
          <a:lstStyle/>
          <a:p>
            <a:pPr indent="0" marL="0">
              <a:buNone/>
            </a:pPr>
            <a:r>
              <a:rPr lang="en-US" sz="1900" b="1" dirty="0">
                <a:solidFill>
                  <a:srgbClr val="2B2318"/>
                </a:solidFill>
                <a:latin typeface="Cambria" pitchFamily="34" charset="0"/>
                <a:ea typeface="Cambria" pitchFamily="34" charset="-122"/>
                <a:cs typeface="Cambria" pitchFamily="34" charset="-120"/>
              </a:rPr>
              <a:t>Sozialreform</a:t>
            </a:r>
            <a:endParaRPr lang="en-US" sz="1900" dirty="0"/>
          </a:p>
        </p:txBody>
      </p:sp>
      <p:sp>
        <p:nvSpPr>
          <p:cNvPr id="9" name="Text 7"/>
          <p:cNvSpPr txBox="1"/>
          <p:nvPr/>
        </p:nvSpPr>
        <p:spPr>
          <a:xfrm>
            <a:off x="685800" y="2103120"/>
            <a:ext cx="3611880" cy="566928"/>
          </a:xfrm>
          <a:prstGeom prst="rect">
            <a:avLst/>
          </a:prstGeom>
          <a:noFill/>
          <a:ln/>
        </p:spPr>
        <p:txBody>
          <a:bodyPr wrap="square" lIns="0" tIns="0" rIns="0" bIns="0" rtlCol="0" anchor="t"/>
          <a:lstStyle/>
          <a:p>
            <a:pPr indent="0" marL="0">
              <a:buNone/>
            </a:pPr>
            <a:r>
              <a:rPr lang="en-US" sz="1250" dirty="0">
                <a:solidFill>
                  <a:srgbClr val="2B2318"/>
                </a:solidFill>
                <a:latin typeface="Calibri" pitchFamily="34" charset="0"/>
                <a:ea typeface="Calibri" pitchFamily="34" charset="-122"/>
                <a:cs typeface="Calibri" pitchFamily="34" charset="-120"/>
              </a:rPr>
              <a:t>S. 20 ab „Die Reform Solons“ bis S. 21 „… fremde Handwerker ins Land“</a:t>
            </a:r>
            <a:endParaRPr lang="en-US" sz="1250" dirty="0"/>
          </a:p>
        </p:txBody>
      </p:sp>
      <p:sp>
        <p:nvSpPr>
          <p:cNvPr id="10" name="Shape 8"/>
          <p:cNvSpPr/>
          <p:nvPr/>
        </p:nvSpPr>
        <p:spPr>
          <a:xfrm>
            <a:off x="4663440" y="1280160"/>
            <a:ext cx="4023360" cy="1463040"/>
          </a:xfrm>
          <a:prstGeom prst="roundRect">
            <a:avLst>
              <a:gd name="adj" fmla="val 5000"/>
            </a:avLst>
          </a:prstGeom>
          <a:solidFill>
            <a:srgbClr val="F4ECDE"/>
          </a:solidFill>
          <a:ln w="12700">
            <a:solidFill>
              <a:srgbClr val="F4ECDE"/>
            </a:solidFill>
            <a:prstDash val="solid"/>
          </a:ln>
        </p:spPr>
      </p:sp>
      <p:sp>
        <p:nvSpPr>
          <p:cNvPr id="11" name="Text 9"/>
          <p:cNvSpPr txBox="1"/>
          <p:nvPr/>
        </p:nvSpPr>
        <p:spPr>
          <a:xfrm>
            <a:off x="4892040" y="1417320"/>
            <a:ext cx="548640" cy="548640"/>
          </a:xfrm>
          <a:prstGeom prst="ellipse">
            <a:avLst/>
          </a:prstGeom>
          <a:solidFill>
            <a:srgbClr val="D9A441"/>
          </a:solidFill>
          <a:ln/>
        </p:spPr>
        <p:txBody>
          <a:bodyPr wrap="square" lIns="0" tIns="0" rIns="0" bIns="0" rtlCol="0" anchor="ctr"/>
          <a:lstStyle/>
          <a:p>
            <a:pPr algn="ctr" indent="0" marL="0">
              <a:buNone/>
            </a:pPr>
            <a:r>
              <a:rPr lang="en-US" sz="2200" b="1" dirty="0">
                <a:solidFill>
                  <a:srgbClr val="2B2318"/>
                </a:solidFill>
                <a:latin typeface="Cambria" pitchFamily="34" charset="0"/>
                <a:ea typeface="Cambria" pitchFamily="34" charset="-122"/>
                <a:cs typeface="Cambria" pitchFamily="34" charset="-120"/>
              </a:rPr>
              <a:t>B</a:t>
            </a:r>
            <a:endParaRPr lang="en-US" sz="2200" dirty="0"/>
          </a:p>
        </p:txBody>
      </p:sp>
      <p:sp>
        <p:nvSpPr>
          <p:cNvPr id="12" name="Text 10"/>
          <p:cNvSpPr txBox="1"/>
          <p:nvPr/>
        </p:nvSpPr>
        <p:spPr>
          <a:xfrm>
            <a:off x="5623560" y="1389888"/>
            <a:ext cx="2834640" cy="274320"/>
          </a:xfrm>
          <a:prstGeom prst="rect">
            <a:avLst/>
          </a:prstGeom>
          <a:noFill/>
          <a:ln/>
        </p:spPr>
        <p:txBody>
          <a:bodyPr wrap="square" lIns="0" tIns="0" rIns="0" bIns="0" rtlCol="0" anchor="t"/>
          <a:lstStyle/>
          <a:p>
            <a:pPr indent="0" marL="0">
              <a:buNone/>
            </a:pPr>
            <a:r>
              <a:rPr lang="en-US" sz="1200" b="1" dirty="0">
                <a:solidFill>
                  <a:srgbClr val="5A5044"/>
                </a:solidFill>
                <a:latin typeface="Calibri" pitchFamily="34" charset="0"/>
                <a:ea typeface="Calibri" pitchFamily="34" charset="-122"/>
                <a:cs typeface="Calibri" pitchFamily="34" charset="-120"/>
              </a:rPr>
              <a:t>Partner B</a:t>
            </a:r>
            <a:endParaRPr lang="en-US" sz="1200" dirty="0"/>
          </a:p>
        </p:txBody>
      </p:sp>
      <p:sp>
        <p:nvSpPr>
          <p:cNvPr id="13" name="Text 11"/>
          <p:cNvSpPr txBox="1"/>
          <p:nvPr/>
        </p:nvSpPr>
        <p:spPr>
          <a:xfrm>
            <a:off x="5623560" y="1645920"/>
            <a:ext cx="2834640" cy="365760"/>
          </a:xfrm>
          <a:prstGeom prst="rect">
            <a:avLst/>
          </a:prstGeom>
          <a:noFill/>
          <a:ln/>
        </p:spPr>
        <p:txBody>
          <a:bodyPr wrap="square" lIns="0" tIns="0" rIns="0" bIns="0" rtlCol="0" anchor="t"/>
          <a:lstStyle/>
          <a:p>
            <a:pPr indent="0" marL="0">
              <a:buNone/>
            </a:pPr>
            <a:r>
              <a:rPr lang="en-US" sz="1900" b="1" dirty="0">
                <a:solidFill>
                  <a:srgbClr val="2B2318"/>
                </a:solidFill>
                <a:latin typeface="Cambria" pitchFamily="34" charset="0"/>
                <a:ea typeface="Cambria" pitchFamily="34" charset="-122"/>
                <a:cs typeface="Cambria" pitchFamily="34" charset="-120"/>
              </a:rPr>
              <a:t>Verfassungsreform</a:t>
            </a:r>
            <a:endParaRPr lang="en-US" sz="1900" dirty="0"/>
          </a:p>
        </p:txBody>
      </p:sp>
      <p:sp>
        <p:nvSpPr>
          <p:cNvPr id="14" name="Text 12"/>
          <p:cNvSpPr txBox="1"/>
          <p:nvPr/>
        </p:nvSpPr>
        <p:spPr>
          <a:xfrm>
            <a:off x="4892040" y="2103120"/>
            <a:ext cx="3611880" cy="566928"/>
          </a:xfrm>
          <a:prstGeom prst="rect">
            <a:avLst/>
          </a:prstGeom>
          <a:noFill/>
          <a:ln/>
        </p:spPr>
        <p:txBody>
          <a:bodyPr wrap="square" lIns="0" tIns="0" rIns="0" bIns="0" rtlCol="0" anchor="t"/>
          <a:lstStyle/>
          <a:p>
            <a:pPr indent="0" marL="0">
              <a:buNone/>
            </a:pPr>
            <a:r>
              <a:rPr lang="en-US" sz="1250" dirty="0">
                <a:solidFill>
                  <a:srgbClr val="2B2318"/>
                </a:solidFill>
                <a:latin typeface="Calibri" pitchFamily="34" charset="0"/>
                <a:ea typeface="Calibri" pitchFamily="34" charset="-122"/>
                <a:cs typeface="Calibri" pitchFamily="34" charset="-120"/>
              </a:rPr>
              <a:t>S. 21 ab „Bei der Reform des Verfassungslebens …“ bis S. 22 „… M4, M5)“</a:t>
            </a:r>
            <a:endParaRPr lang="en-US" sz="1250" dirty="0"/>
          </a:p>
        </p:txBody>
      </p:sp>
      <p:sp>
        <p:nvSpPr>
          <p:cNvPr id="15" name="Shape 13"/>
          <p:cNvSpPr/>
          <p:nvPr/>
        </p:nvSpPr>
        <p:spPr>
          <a:xfrm>
            <a:off x="457200" y="2926080"/>
            <a:ext cx="2606040" cy="1572768"/>
          </a:xfrm>
          <a:prstGeom prst="roundRect">
            <a:avLst>
              <a:gd name="adj" fmla="val 4651"/>
            </a:avLst>
          </a:prstGeom>
          <a:solidFill>
            <a:srgbClr val="2B2318"/>
          </a:solidFill>
          <a:ln w="12700">
            <a:solidFill>
              <a:srgbClr val="2B2318"/>
            </a:solidFill>
            <a:prstDash val="solid"/>
          </a:ln>
        </p:spPr>
      </p:sp>
      <p:sp>
        <p:nvSpPr>
          <p:cNvPr id="16" name="Text 14"/>
          <p:cNvSpPr txBox="1"/>
          <p:nvPr/>
        </p:nvSpPr>
        <p:spPr>
          <a:xfrm>
            <a:off x="640080" y="3017520"/>
            <a:ext cx="2240280" cy="256032"/>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7 Min.</a:t>
            </a:r>
            <a:endParaRPr lang="en-US" sz="1200" dirty="0"/>
          </a:p>
        </p:txBody>
      </p:sp>
      <p:sp>
        <p:nvSpPr>
          <p:cNvPr id="17" name="Text 15"/>
          <p:cNvSpPr txBox="1"/>
          <p:nvPr/>
        </p:nvSpPr>
        <p:spPr>
          <a:xfrm>
            <a:off x="640080" y="3273552"/>
            <a:ext cx="224028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Allein lesen</a:t>
            </a:r>
            <a:endParaRPr lang="en-US" sz="1600" dirty="0"/>
          </a:p>
        </p:txBody>
      </p:sp>
      <p:sp>
        <p:nvSpPr>
          <p:cNvPr id="18" name="Text 16"/>
          <p:cNvSpPr txBox="1"/>
          <p:nvPr/>
        </p:nvSpPr>
        <p:spPr>
          <a:xfrm>
            <a:off x="640080" y="3611880"/>
            <a:ext cx="2286000" cy="841248"/>
          </a:xfrm>
          <a:prstGeom prst="rect">
            <a:avLst/>
          </a:prstGeom>
          <a:noFill/>
          <a:ln/>
        </p:spPr>
        <p:txBody>
          <a:bodyPr wrap="square" lIns="0" tIns="0" rIns="0" bIns="0" rtlCol="0" anchor="t"/>
          <a:lstStyle/>
          <a:p>
            <a:pPr indent="0" marL="0">
              <a:buNone/>
            </a:pPr>
            <a:r>
              <a:rPr lang="en-US" sz="1150" dirty="0">
                <a:solidFill>
                  <a:srgbClr val="E8DFD0"/>
                </a:solidFill>
                <a:latin typeface="Calibri" pitchFamily="34" charset="0"/>
                <a:ea typeface="Calibri" pitchFamily="34" charset="-122"/>
                <a:cs typeface="Calibri" pitchFamily="34" charset="-120"/>
              </a:rPr>
              <a:t>Lies nur deinen Abschnitt. Notiere in Stichpunkten, was Solon ändert.</a:t>
            </a:r>
            <a:endParaRPr lang="en-US" sz="1150" dirty="0"/>
          </a:p>
        </p:txBody>
      </p:sp>
      <p:sp>
        <p:nvSpPr>
          <p:cNvPr id="19" name="Shape 17"/>
          <p:cNvSpPr/>
          <p:nvPr/>
        </p:nvSpPr>
        <p:spPr>
          <a:xfrm>
            <a:off x="3081528" y="3703320"/>
            <a:ext cx="146304" cy="0"/>
          </a:xfrm>
          <a:prstGeom prst="line">
            <a:avLst/>
          </a:prstGeom>
          <a:noFill/>
          <a:ln w="28575">
            <a:solidFill>
              <a:srgbClr val="998C77"/>
            </a:solidFill>
            <a:prstDash val="solid"/>
            <a:tailEnd type="triangle"/>
          </a:ln>
        </p:spPr>
      </p:sp>
      <p:sp>
        <p:nvSpPr>
          <p:cNvPr id="20" name="Shape 18"/>
          <p:cNvSpPr/>
          <p:nvPr/>
        </p:nvSpPr>
        <p:spPr>
          <a:xfrm>
            <a:off x="3246120" y="2926080"/>
            <a:ext cx="2606040" cy="1572768"/>
          </a:xfrm>
          <a:prstGeom prst="roundRect">
            <a:avLst>
              <a:gd name="adj" fmla="val 4651"/>
            </a:avLst>
          </a:prstGeom>
          <a:solidFill>
            <a:srgbClr val="2B2318"/>
          </a:solidFill>
          <a:ln w="12700">
            <a:solidFill>
              <a:srgbClr val="2B2318"/>
            </a:solidFill>
            <a:prstDash val="solid"/>
          </a:ln>
        </p:spPr>
      </p:sp>
      <p:sp>
        <p:nvSpPr>
          <p:cNvPr id="21" name="Text 19"/>
          <p:cNvSpPr txBox="1"/>
          <p:nvPr/>
        </p:nvSpPr>
        <p:spPr>
          <a:xfrm>
            <a:off x="3429000" y="3017520"/>
            <a:ext cx="2240280" cy="256032"/>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3 + 3 Min.</a:t>
            </a:r>
            <a:endParaRPr lang="en-US" sz="1200" dirty="0"/>
          </a:p>
        </p:txBody>
      </p:sp>
      <p:sp>
        <p:nvSpPr>
          <p:cNvPr id="22" name="Text 20"/>
          <p:cNvSpPr txBox="1"/>
          <p:nvPr/>
        </p:nvSpPr>
        <p:spPr>
          <a:xfrm>
            <a:off x="3429000" y="3273552"/>
            <a:ext cx="224028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Erklären</a:t>
            </a:r>
            <a:endParaRPr lang="en-US" sz="1600" dirty="0"/>
          </a:p>
        </p:txBody>
      </p:sp>
      <p:sp>
        <p:nvSpPr>
          <p:cNvPr id="23" name="Text 21"/>
          <p:cNvSpPr txBox="1"/>
          <p:nvPr/>
        </p:nvSpPr>
        <p:spPr>
          <a:xfrm>
            <a:off x="3429000" y="3611880"/>
            <a:ext cx="2286000" cy="841248"/>
          </a:xfrm>
          <a:prstGeom prst="rect">
            <a:avLst/>
          </a:prstGeom>
          <a:noFill/>
          <a:ln/>
        </p:spPr>
        <p:txBody>
          <a:bodyPr wrap="square" lIns="0" tIns="0" rIns="0" bIns="0" rtlCol="0" anchor="t"/>
          <a:lstStyle/>
          <a:p>
            <a:pPr indent="0" marL="0">
              <a:buNone/>
            </a:pPr>
            <a:r>
              <a:rPr lang="en-US" sz="1150" dirty="0">
                <a:solidFill>
                  <a:srgbClr val="E8DFD0"/>
                </a:solidFill>
                <a:latin typeface="Calibri" pitchFamily="34" charset="0"/>
                <a:ea typeface="Calibri" pitchFamily="34" charset="-122"/>
                <a:cs typeface="Calibri" pitchFamily="34" charset="-120"/>
              </a:rPr>
              <a:t>Erkläre deinem Partner mit deinen Notizen, was Solon ändert. Der Partner hört zu und fragt nach.</a:t>
            </a:r>
            <a:endParaRPr lang="en-US" sz="1150" dirty="0"/>
          </a:p>
        </p:txBody>
      </p:sp>
      <p:sp>
        <p:nvSpPr>
          <p:cNvPr id="24" name="Shape 22"/>
          <p:cNvSpPr/>
          <p:nvPr/>
        </p:nvSpPr>
        <p:spPr>
          <a:xfrm>
            <a:off x="5870448" y="3703320"/>
            <a:ext cx="146304" cy="0"/>
          </a:xfrm>
          <a:prstGeom prst="line">
            <a:avLst/>
          </a:prstGeom>
          <a:noFill/>
          <a:ln w="28575">
            <a:solidFill>
              <a:srgbClr val="998C77"/>
            </a:solidFill>
            <a:prstDash val="solid"/>
            <a:tailEnd type="triangle"/>
          </a:ln>
        </p:spPr>
      </p:sp>
      <p:sp>
        <p:nvSpPr>
          <p:cNvPr id="25" name="Shape 23"/>
          <p:cNvSpPr/>
          <p:nvPr/>
        </p:nvSpPr>
        <p:spPr>
          <a:xfrm>
            <a:off x="6035040" y="2926080"/>
            <a:ext cx="2606040" cy="1572768"/>
          </a:xfrm>
          <a:prstGeom prst="roundRect">
            <a:avLst>
              <a:gd name="adj" fmla="val 4651"/>
            </a:avLst>
          </a:prstGeom>
          <a:solidFill>
            <a:srgbClr val="2B2318"/>
          </a:solidFill>
          <a:ln w="12700">
            <a:solidFill>
              <a:srgbClr val="2B2318"/>
            </a:solidFill>
            <a:prstDash val="solid"/>
          </a:ln>
        </p:spPr>
      </p:sp>
      <p:sp>
        <p:nvSpPr>
          <p:cNvPr id="26" name="Text 24"/>
          <p:cNvSpPr txBox="1"/>
          <p:nvPr/>
        </p:nvSpPr>
        <p:spPr>
          <a:xfrm>
            <a:off x="6217920" y="3017520"/>
            <a:ext cx="2240280" cy="256032"/>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2 Min.</a:t>
            </a:r>
            <a:endParaRPr lang="en-US" sz="1200" dirty="0"/>
          </a:p>
        </p:txBody>
      </p:sp>
      <p:sp>
        <p:nvSpPr>
          <p:cNvPr id="27" name="Text 25"/>
          <p:cNvSpPr txBox="1"/>
          <p:nvPr/>
        </p:nvSpPr>
        <p:spPr>
          <a:xfrm>
            <a:off x="6217920" y="3273552"/>
            <a:ext cx="224028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Eintragen</a:t>
            </a:r>
            <a:endParaRPr lang="en-US" sz="1600" dirty="0"/>
          </a:p>
        </p:txBody>
      </p:sp>
      <p:sp>
        <p:nvSpPr>
          <p:cNvPr id="28" name="Text 26"/>
          <p:cNvSpPr txBox="1"/>
          <p:nvPr/>
        </p:nvSpPr>
        <p:spPr>
          <a:xfrm>
            <a:off x="6217920" y="3611880"/>
            <a:ext cx="2286000" cy="841248"/>
          </a:xfrm>
          <a:prstGeom prst="rect">
            <a:avLst/>
          </a:prstGeom>
          <a:noFill/>
          <a:ln/>
        </p:spPr>
        <p:txBody>
          <a:bodyPr wrap="square" lIns="0" tIns="0" rIns="0" bIns="0" rtlCol="0" anchor="t"/>
          <a:lstStyle/>
          <a:p>
            <a:pPr indent="0" marL="0">
              <a:buNone/>
            </a:pPr>
            <a:r>
              <a:rPr lang="en-US" sz="1150" dirty="0">
                <a:solidFill>
                  <a:srgbClr val="E8DFD0"/>
                </a:solidFill>
                <a:latin typeface="Calibri" pitchFamily="34" charset="0"/>
                <a:ea typeface="Calibri" pitchFamily="34" charset="-122"/>
                <a:cs typeface="Calibri" pitchFamily="34" charset="-120"/>
              </a:rPr>
              <a:t>Tragt gemeinsam die Spalte „Solon“ ein: Zeichen und Beleg für jedes Problem.</a:t>
            </a:r>
            <a:endParaRPr lang="en-US" sz="1150" dirty="0"/>
          </a:p>
        </p:txBody>
      </p:sp>
      <p:sp>
        <p:nvSpPr>
          <p:cNvPr id="29" name="Text 27"/>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30" name="Text 2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SOLON · LÖSUNG · ABGLEICH</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Was ändert Solon?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65760"/>
                <a:gridCol w="2286000"/>
                <a:gridCol w="2788920"/>
                <a:gridCol w="2788920"/>
              </a:tblGrid>
              <a:tr h="310896">
                <a:tc>
                  <a:txBody>
                    <a:bodyPr/>
                    <a:lstStyle/>
                    <a:p>
                      <a:pPr indent="0" marL="0">
                        <a:buNone/>
                      </a:pP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FFFF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Problem</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Drakon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Solon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1</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Schuldknechtschaft</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Schuldknechtschaft bleibt bestehen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Schulden gestrichen, Schuldknechtschaft verboten, Versklavte zurückgekauft</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2</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Land in den Händen weniger</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keine Änderung</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keine Neuverteilung des Landes</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3</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Recht nur beim Adel, Blutrache</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geschriebenes Recht für alle, Blutrache aufgehoben, aber strenge Strafen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jeder Bürger darf klagen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4</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Politische Macht nur beim Adel</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der Adel behält die Macht</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Rechte nach Besitz statt Herkunft, aber Theten nicht wählbar</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512064">
                <a:tc>
                  <a:txBody>
                    <a:bodyPr/>
                    <a:lstStyle/>
                    <a:p>
                      <a:pPr indent="0" marL="0">
                        <a:buNone/>
                      </a:pPr>
                      <a:r>
                        <a:rPr lang="en-US" sz="1200" b="1" dirty="0">
                          <a:solidFill>
                            <a:srgbClr val="AD4426"/>
                          </a:solidFill>
                          <a:latin typeface="Cambria" pitchFamily="34" charset="0"/>
                          <a:ea typeface="Cambria" pitchFamily="34" charset="-122"/>
                          <a:cs typeface="Cambria" pitchFamily="34" charset="-120"/>
                        </a:rPr>
                        <a:t>5</a:t>
                      </a:r>
                      <a:endParaRPr lang="en-US" sz="1200" dirty="0">
                        <a:latin typeface="Cambria" charset="0"/>
                        <a:ea typeface="Cambria" charset="0"/>
                        <a:cs typeface="Cambria"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150" dirty="0">
                          <a:solidFill>
                            <a:srgbClr val="2B2318"/>
                          </a:solidFill>
                          <a:latin typeface="Calibri" pitchFamily="34" charset="0"/>
                          <a:ea typeface="Calibri" pitchFamily="34" charset="-122"/>
                          <a:cs typeface="Calibri" pitchFamily="34" charset="-120"/>
                        </a:rPr>
                        <a:t>Gefahr eines Bürgerkriegs</a:t>
                      </a:r>
                      <a:endParaRPr lang="en-US" sz="115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die Spannungen bleiben</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b="1" dirty="0">
                          <a:solidFill>
                            <a:srgbClr val="2B2318"/>
                          </a:solidFill>
                          <a:latin typeface="Calibri" pitchFamily="34" charset="0"/>
                          <a:ea typeface="Calibri" pitchFamily="34" charset="-122"/>
                          <a:cs typeface="Calibri" pitchFamily="34" charset="-120"/>
                        </a:rPr>
                        <a:t>~  </a:t>
                      </a:r>
                      <a:pPr indent="0" marL="0">
                        <a:buNone/>
                      </a:pPr>
                      <a:r>
                        <a:rPr lang="en-US" sz="1050" dirty="0">
                          <a:solidFill>
                            <a:srgbClr val="2B2318"/>
                          </a:solidFill>
                          <a:latin typeface="Calibri" pitchFamily="34" charset="0"/>
                          <a:ea typeface="Calibri" pitchFamily="34" charset="-122"/>
                          <a:cs typeface="Calibri" pitchFamily="34" charset="-120"/>
                        </a:rPr>
                        <a:t>zunächst Beruhigung, bald neue Kämpfe (LB S. 22)</a:t>
                      </a:r>
                      <a:endParaRPr lang="en-US" sz="1200" dirty="0">
                        <a:latin typeface="Calibri" charset="0"/>
                        <a:ea typeface="Calibri" charset="0"/>
                        <a:cs typeface="Calibri" charset="0"/>
                      </a:endParaRPr>
                    </a:p>
                  </a:txBody>
                  <a:tcPr marL="54864" marR="54864" marT="54864" marB="54864"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6" name="Text 3"/>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050" b="1" dirty="0">
                <a:solidFill>
                  <a:srgbClr val="5A5044"/>
                </a:solidFill>
                <a:latin typeface="Calibri" pitchFamily="34" charset="0"/>
                <a:ea typeface="Calibri" pitchFamily="34" charset="-122"/>
                <a:cs typeface="Calibri" pitchFamily="34" charset="-120"/>
              </a:rPr>
              <a:t>✔ gelöst     ~ teilweise     ✘ nicht gelöst     Abweichende, gut begründete Einschätzungen sind möglich.</a:t>
            </a:r>
            <a:endParaRPr lang="en-US" sz="1050" dirty="0"/>
          </a:p>
        </p:txBody>
      </p:sp>
      <p:sp>
        <p:nvSpPr>
          <p:cNvPr id="7" name="Text 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8" name="Text 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ERKLÄRVIDEO</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Solons Verfassung</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80160"/>
            <a:ext cx="5394960" cy="3035808"/>
          </a:xfrm>
          <a:prstGeom prst="rect">
            <a:avLst/>
          </a:prstGeom>
        </p:spPr>
      </p:pic>
      <p:sp>
        <p:nvSpPr>
          <p:cNvPr id="6" name="Shape 3"/>
          <p:cNvSpPr/>
          <p:nvPr/>
        </p:nvSpPr>
        <p:spPr>
          <a:xfrm>
            <a:off x="6080760" y="1280160"/>
            <a:ext cx="2606040" cy="3035808"/>
          </a:xfrm>
          <a:prstGeom prst="roundRect">
            <a:avLst>
              <a:gd name="adj" fmla="val 2807"/>
            </a:avLst>
          </a:prstGeom>
          <a:solidFill>
            <a:srgbClr val="2B2318"/>
          </a:solidFill>
          <a:ln w="12700">
            <a:solidFill>
              <a:srgbClr val="2B2318"/>
            </a:solidFill>
            <a:prstDash val="solid"/>
          </a:ln>
        </p:spPr>
      </p:sp>
      <p:sp>
        <p:nvSpPr>
          <p:cNvPr id="7" name="Text 4"/>
          <p:cNvSpPr txBox="1"/>
          <p:nvPr/>
        </p:nvSpPr>
        <p:spPr>
          <a:xfrm>
            <a:off x="6309360" y="1463040"/>
            <a:ext cx="219456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Sehauftrag</a:t>
            </a:r>
            <a:endParaRPr lang="en-US" sz="1400" dirty="0"/>
          </a:p>
        </p:txBody>
      </p:sp>
      <p:sp>
        <p:nvSpPr>
          <p:cNvPr id="8" name="Text 5"/>
          <p:cNvSpPr txBox="1"/>
          <p:nvPr/>
        </p:nvSpPr>
        <p:spPr>
          <a:xfrm>
            <a:off x="6309360" y="1828800"/>
            <a:ext cx="2194560" cy="96012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Achtet auf die Zeile „Politische Macht nur beim Adel“.</a:t>
            </a:r>
            <a:endParaRPr lang="en-US" sz="1600" dirty="0"/>
          </a:p>
        </p:txBody>
      </p:sp>
      <p:sp>
        <p:nvSpPr>
          <p:cNvPr id="9" name="Text 6"/>
          <p:cNvSpPr txBox="1"/>
          <p:nvPr/>
        </p:nvSpPr>
        <p:spPr>
          <a:xfrm>
            <a:off x="6309360" y="2834640"/>
            <a:ext cx="2194560" cy="1371600"/>
          </a:xfrm>
          <a:prstGeom prst="rect">
            <a:avLst/>
          </a:prstGeom>
          <a:noFill/>
          <a:ln/>
        </p:spPr>
        <p:txBody>
          <a:bodyPr wrap="square" lIns="0" tIns="0" rIns="0" bIns="0" rtlCol="0" anchor="t"/>
          <a:lstStyle/>
          <a:p>
            <a:pPr indent="0" marL="0">
              <a:buNone/>
            </a:pPr>
            <a:r>
              <a:rPr lang="en-US" sz="1250" dirty="0">
                <a:solidFill>
                  <a:srgbClr val="E8DFD0"/>
                </a:solidFill>
                <a:latin typeface="Calibri" pitchFamily="34" charset="0"/>
                <a:ea typeface="Calibri" pitchFamily="34" charset="-122"/>
                <a:cs typeface="Calibri" pitchFamily="34" charset="-120"/>
              </a:rPr>
              <a:t>Stimmt euer Zeichen in der Spalte „Solon“? Korrigiert es, falls nötig, und ergänzt einen Beleg aus dem Video.</a:t>
            </a:r>
            <a:endParaRPr lang="en-US" sz="1250" dirty="0"/>
          </a:p>
        </p:txBody>
      </p:sp>
      <p:sp>
        <p:nvSpPr>
          <p:cNvPr id="10" name="Text 7"/>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1" name="Text 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ERKLÄRVIDEO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Politische Macht nur beim Adel?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Text 3"/>
          <p:cNvSpPr txBox="1"/>
          <p:nvPr/>
        </p:nvSpPr>
        <p:spPr>
          <a:xfrm>
            <a:off x="457200" y="1234440"/>
            <a:ext cx="3291840" cy="420624"/>
          </a:xfrm>
          <a:prstGeom prst="roundRect">
            <a:avLst>
              <a:gd name="adj" fmla="val 21739"/>
            </a:avLst>
          </a:prstGeom>
          <a:solidFill>
            <a:srgbClr val="D9A441"/>
          </a:solidFill>
          <a:ln/>
        </p:spPr>
        <p:txBody>
          <a:bodyPr wrap="square" lIns="25400" tIns="25400" rIns="25400" bIns="25400" rtlCol="0" anchor="ctr"/>
          <a:lstStyle/>
          <a:p>
            <a:pPr algn="ctr" indent="0" marL="0">
              <a:buNone/>
            </a:pPr>
            <a:r>
              <a:rPr lang="en-US" sz="1400" b="1" dirty="0">
                <a:solidFill>
                  <a:srgbClr val="2B2318"/>
                </a:solidFill>
                <a:latin typeface="Calibri" pitchFamily="34" charset="0"/>
                <a:ea typeface="Calibri" pitchFamily="34" charset="-122"/>
                <a:cs typeface="Calibri" pitchFamily="34" charset="-120"/>
              </a:rPr>
              <a:t>Solon:  ~  teilweise gelöst</a:t>
            </a:r>
            <a:endParaRPr lang="en-US" sz="1400" dirty="0"/>
          </a:p>
        </p:txBody>
      </p:sp>
      <p:sp>
        <p:nvSpPr>
          <p:cNvPr id="6" name="Shape 4"/>
          <p:cNvSpPr/>
          <p:nvPr/>
        </p:nvSpPr>
        <p:spPr>
          <a:xfrm>
            <a:off x="457200" y="1828800"/>
            <a:ext cx="4023360" cy="2606040"/>
          </a:xfrm>
          <a:prstGeom prst="roundRect">
            <a:avLst>
              <a:gd name="adj" fmla="val 2807"/>
            </a:avLst>
          </a:prstGeom>
          <a:solidFill>
            <a:srgbClr val="F4ECDE"/>
          </a:solidFill>
          <a:ln w="12700">
            <a:solidFill>
              <a:srgbClr val="F4ECDE"/>
            </a:solidFill>
            <a:prstDash val="solid"/>
          </a:ln>
        </p:spPr>
      </p:sp>
      <p:sp>
        <p:nvSpPr>
          <p:cNvPr id="7" name="Text 5"/>
          <p:cNvSpPr txBox="1"/>
          <p:nvPr/>
        </p:nvSpPr>
        <p:spPr>
          <a:xfrm>
            <a:off x="685800" y="1920240"/>
            <a:ext cx="3566160" cy="365760"/>
          </a:xfrm>
          <a:prstGeom prst="rect">
            <a:avLst/>
          </a:prstGeom>
          <a:noFill/>
          <a:ln/>
        </p:spPr>
        <p:txBody>
          <a:bodyPr wrap="square" lIns="0" tIns="0" rIns="0" bIns="0" rtlCol="0" anchor="t"/>
          <a:lstStyle/>
          <a:p>
            <a:pPr indent="0" marL="0">
              <a:buNone/>
            </a:pPr>
            <a:r>
              <a:rPr lang="en-US" sz="1800" b="1" dirty="0">
                <a:solidFill>
                  <a:srgbClr val="3C783C"/>
                </a:solidFill>
                <a:latin typeface="Cambria" pitchFamily="34" charset="0"/>
                <a:ea typeface="Cambria" pitchFamily="34" charset="-122"/>
                <a:cs typeface="Cambria" pitchFamily="34" charset="-120"/>
              </a:rPr>
              <a:t>Neu</a:t>
            </a:r>
            <a:endParaRPr lang="en-US" sz="1800" dirty="0"/>
          </a:p>
        </p:txBody>
      </p:sp>
      <p:sp>
        <p:nvSpPr>
          <p:cNvPr id="8" name="Text 6"/>
          <p:cNvSpPr txBox="1"/>
          <p:nvPr/>
        </p:nvSpPr>
        <p:spPr>
          <a:xfrm>
            <a:off x="685800" y="2331720"/>
            <a:ext cx="3611880" cy="20116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Politische Rechte richten sich nach dem Besitz, nicht mehr nach der Herkunft.</a:t>
            </a:r>
            <a:endParaRPr lang="en-US" sz="1250" dirty="0"/>
          </a:p>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Reiche Nichtadlige können wichtige Ämter übernehmen.</a:t>
            </a:r>
            <a:endParaRPr lang="en-US" sz="1250" dirty="0"/>
          </a:p>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250" dirty="0"/>
          </a:p>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Der Rat der 400 bereitet die Gesetze vor.</a:t>
            </a:r>
            <a:endParaRPr lang="en-US" sz="1250" dirty="0"/>
          </a:p>
        </p:txBody>
      </p:sp>
      <p:sp>
        <p:nvSpPr>
          <p:cNvPr id="9" name="Shape 7"/>
          <p:cNvSpPr/>
          <p:nvPr/>
        </p:nvSpPr>
        <p:spPr>
          <a:xfrm>
            <a:off x="4663440" y="1828800"/>
            <a:ext cx="4023360" cy="2606040"/>
          </a:xfrm>
          <a:prstGeom prst="roundRect">
            <a:avLst>
              <a:gd name="adj" fmla="val 2807"/>
            </a:avLst>
          </a:prstGeom>
          <a:solidFill>
            <a:srgbClr val="F4ECDE"/>
          </a:solidFill>
          <a:ln w="12700">
            <a:solidFill>
              <a:srgbClr val="F4ECDE"/>
            </a:solidFill>
            <a:prstDash val="solid"/>
          </a:ln>
        </p:spPr>
      </p:sp>
      <p:sp>
        <p:nvSpPr>
          <p:cNvPr id="10" name="Text 8"/>
          <p:cNvSpPr txBox="1"/>
          <p:nvPr/>
        </p:nvSpPr>
        <p:spPr>
          <a:xfrm>
            <a:off x="4892040" y="1920240"/>
            <a:ext cx="356616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Aber</a:t>
            </a:r>
            <a:endParaRPr lang="en-US" sz="1800" dirty="0"/>
          </a:p>
        </p:txBody>
      </p:sp>
      <p:sp>
        <p:nvSpPr>
          <p:cNvPr id="11" name="Text 9"/>
          <p:cNvSpPr txBox="1"/>
          <p:nvPr/>
        </p:nvSpPr>
        <p:spPr>
          <a:xfrm>
            <a:off x="4892040" y="2331720"/>
            <a:ext cx="3611880" cy="20116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Archont kann nur die reichste Klasse werden.</a:t>
            </a:r>
            <a:endParaRPr lang="en-US" sz="1250" dirty="0"/>
          </a:p>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Theten dürfen wählen, aber nicht gewählt werden.</a:t>
            </a:r>
            <a:endParaRPr lang="en-US" sz="1250" dirty="0"/>
          </a:p>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Über allem wacht der Areopag aus ehemaligen Archonten.</a:t>
            </a:r>
            <a:endParaRPr lang="en-US" sz="1250" dirty="0"/>
          </a:p>
          <a:p>
            <a:pPr marL="342900" indent="-342900">
              <a:spcAft>
                <a:spcPts val="500"/>
              </a:spcAft>
              <a:buSzPct val="100000"/>
              <a:buChar char="•"/>
            </a:pPr>
            <a:r>
              <a:rPr lang="en-US" sz="1250" dirty="0">
                <a:solidFill>
                  <a:srgbClr val="2B2318"/>
                </a:solidFill>
                <a:latin typeface="Calibri" pitchFamily="34" charset="0"/>
                <a:ea typeface="Calibri" pitchFamily="34" charset="-122"/>
                <a:cs typeface="Calibri" pitchFamily="34" charset="-120"/>
              </a:rPr>
              <a:t>Frauen, Sklaven und Fremde bleiben ganz ausgeschlossen.</a:t>
            </a:r>
            <a:endParaRPr lang="en-US" sz="1250" dirty="0"/>
          </a:p>
        </p:txBody>
      </p:sp>
      <p:sp>
        <p:nvSpPr>
          <p:cNvPr id="12" name="Text 10"/>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3" name="Text 11"/>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Schriftliche Beurteilung</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17 Min.</a:t>
            </a:r>
            <a:endParaRPr lang="en-US" sz="1100" dirty="0"/>
          </a:p>
        </p:txBody>
      </p:sp>
      <p:sp>
        <p:nvSpPr>
          <p:cNvPr id="5" name="Shape 3"/>
          <p:cNvSpPr/>
          <p:nvPr/>
        </p:nvSpPr>
        <p:spPr>
          <a:xfrm>
            <a:off x="457200" y="1280160"/>
            <a:ext cx="8229600" cy="868680"/>
          </a:xfrm>
          <a:prstGeom prst="roundRect">
            <a:avLst>
              <a:gd name="adj" fmla="val 8421"/>
            </a:avLst>
          </a:prstGeom>
          <a:solidFill>
            <a:srgbClr val="2B2318"/>
          </a:solidFill>
          <a:ln w="12700">
            <a:solidFill>
              <a:srgbClr val="2B2318"/>
            </a:solidFill>
            <a:prstDash val="solid"/>
          </a:ln>
        </p:spPr>
      </p:sp>
      <p:sp>
        <p:nvSpPr>
          <p:cNvPr id="6" name="Text 4"/>
          <p:cNvSpPr txBox="1"/>
          <p:nvPr/>
        </p:nvSpPr>
        <p:spPr>
          <a:xfrm>
            <a:off x="731520" y="1325880"/>
            <a:ext cx="768096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Beurteile, inwieweit es Drakon und Solon gelang, die Krise Athens zu lösen.</a:t>
            </a:r>
            <a:endParaRPr lang="en-US" sz="2000" dirty="0"/>
          </a:p>
        </p:txBody>
      </p:sp>
      <p:sp>
        <p:nvSpPr>
          <p:cNvPr id="7" name="Text 5"/>
          <p:cNvSpPr txBox="1"/>
          <p:nvPr/>
        </p:nvSpPr>
        <p:spPr>
          <a:xfrm>
            <a:off x="457200" y="2331720"/>
            <a:ext cx="1554480" cy="822960"/>
          </a:xfrm>
          <a:prstGeom prst="roundRect">
            <a:avLst>
              <a:gd name="adj" fmla="val 8889"/>
            </a:avLst>
          </a:prstGeom>
          <a:solidFill>
            <a:srgbClr val="D9A441"/>
          </a:solidFill>
          <a:ln/>
        </p:spPr>
        <p:txBody>
          <a:bodyPr wrap="square" lIns="0" tIns="0" rIns="0" bIns="0" rtlCol="0" anchor="ctr"/>
          <a:lstStyle/>
          <a:p>
            <a:pPr algn="ctr" indent="0" marL="0">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8" name="Shape 6"/>
          <p:cNvSpPr/>
          <p:nvPr/>
        </p:nvSpPr>
        <p:spPr>
          <a:xfrm>
            <a:off x="2103120" y="2331720"/>
            <a:ext cx="3383280" cy="822960"/>
          </a:xfrm>
          <a:prstGeom prst="roundRect">
            <a:avLst>
              <a:gd name="adj" fmla="val 8889"/>
            </a:avLst>
          </a:prstGeom>
          <a:solidFill>
            <a:srgbClr val="F4ECDE"/>
          </a:solidFill>
          <a:ln w="12700">
            <a:solidFill>
              <a:srgbClr val="F4ECDE"/>
            </a:solidFill>
            <a:prstDash val="solid"/>
          </a:ln>
        </p:spPr>
      </p:sp>
      <p:sp>
        <p:nvSpPr>
          <p:cNvPr id="9" name="Text 7"/>
          <p:cNvSpPr txBox="1"/>
          <p:nvPr/>
        </p:nvSpPr>
        <p:spPr>
          <a:xfrm>
            <a:off x="2240280" y="2404872"/>
            <a:ext cx="3154680" cy="228600"/>
          </a:xfrm>
          <a:prstGeom prst="rect">
            <a:avLst/>
          </a:prstGeom>
          <a:noFill/>
          <a:ln/>
        </p:spPr>
        <p:txBody>
          <a:bodyPr wrap="square" lIns="0" tIns="0" rIns="0" bIns="0" rtlCol="0" anchor="t"/>
          <a:lstStyle/>
          <a:p>
            <a:pPr indent="0" marL="0">
              <a:buNone/>
            </a:pPr>
            <a:r>
              <a:rPr lang="en-US" sz="1100" b="1" dirty="0">
                <a:solidFill>
                  <a:srgbClr val="5A5044"/>
                </a:solidFill>
                <a:latin typeface="Calibri" pitchFamily="34" charset="0"/>
                <a:ea typeface="Calibri" pitchFamily="34" charset="-122"/>
                <a:cs typeface="Calibri" pitchFamily="34" charset="-120"/>
              </a:rPr>
              <a:t>3–4 Sätze · nutze deine Tabelle</a:t>
            </a:r>
            <a:endParaRPr lang="en-US" sz="1100" dirty="0"/>
          </a:p>
        </p:txBody>
      </p:sp>
      <p:sp>
        <p:nvSpPr>
          <p:cNvPr id="10" name="Text 8"/>
          <p:cNvSpPr txBox="1"/>
          <p:nvPr/>
        </p:nvSpPr>
        <p:spPr>
          <a:xfrm>
            <a:off x="2240280" y="2624328"/>
            <a:ext cx="3154680" cy="512064"/>
          </a:xfrm>
          <a:prstGeom prst="rect">
            <a:avLst/>
          </a:prstGeom>
          <a:noFill/>
          <a:ln/>
        </p:spPr>
        <p:txBody>
          <a:bodyPr wrap="square" lIns="0" tIns="0" rIns="0" bIns="0" rtlCol="0" anchor="t"/>
          <a:lstStyle/>
          <a:p>
            <a:pPr indent="0" marL="0">
              <a:buNone/>
            </a:pPr>
            <a:r>
              <a:rPr lang="en-US" sz="1100" i="1" dirty="0">
                <a:solidFill>
                  <a:srgbClr val="2B2318"/>
                </a:solidFill>
                <a:latin typeface="Calibri" pitchFamily="34" charset="0"/>
                <a:ea typeface="Calibri" pitchFamily="34" charset="-122"/>
                <a:cs typeface="Calibri" pitchFamily="34" charset="-120"/>
              </a:rPr>
              <a:t>„Aus Sicht der damaligen Zeit gelang es Solon weitgehend / nur teilweise …, da …“</a:t>
            </a:r>
            <a:endParaRPr lang="en-US" sz="1100" dirty="0"/>
          </a:p>
        </p:txBody>
      </p:sp>
      <p:sp>
        <p:nvSpPr>
          <p:cNvPr id="11" name="Text 9"/>
          <p:cNvSpPr txBox="1"/>
          <p:nvPr/>
        </p:nvSpPr>
        <p:spPr>
          <a:xfrm>
            <a:off x="457200" y="3319272"/>
            <a:ext cx="1554480" cy="822960"/>
          </a:xfrm>
          <a:prstGeom prst="roundRect">
            <a:avLst>
              <a:gd name="adj" fmla="val 8889"/>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12" name="Shape 10"/>
          <p:cNvSpPr/>
          <p:nvPr/>
        </p:nvSpPr>
        <p:spPr>
          <a:xfrm>
            <a:off x="2103120" y="3319272"/>
            <a:ext cx="3383280" cy="822960"/>
          </a:xfrm>
          <a:prstGeom prst="roundRect">
            <a:avLst>
              <a:gd name="adj" fmla="val 8889"/>
            </a:avLst>
          </a:prstGeom>
          <a:solidFill>
            <a:srgbClr val="F4ECDE"/>
          </a:solidFill>
          <a:ln w="12700">
            <a:solidFill>
              <a:srgbClr val="F4ECDE"/>
            </a:solidFill>
            <a:prstDash val="solid"/>
          </a:ln>
        </p:spPr>
      </p:sp>
      <p:sp>
        <p:nvSpPr>
          <p:cNvPr id="13" name="Text 11"/>
          <p:cNvSpPr txBox="1"/>
          <p:nvPr/>
        </p:nvSpPr>
        <p:spPr>
          <a:xfrm>
            <a:off x="2240280" y="3392424"/>
            <a:ext cx="3154680" cy="228600"/>
          </a:xfrm>
          <a:prstGeom prst="rect">
            <a:avLst/>
          </a:prstGeom>
          <a:noFill/>
          <a:ln/>
        </p:spPr>
        <p:txBody>
          <a:bodyPr wrap="square" lIns="0" tIns="0" rIns="0" bIns="0" rtlCol="0" anchor="t"/>
          <a:lstStyle/>
          <a:p>
            <a:pPr indent="0" marL="0">
              <a:buNone/>
            </a:pPr>
            <a:r>
              <a:rPr lang="en-US" sz="1100" b="1" dirty="0">
                <a:solidFill>
                  <a:srgbClr val="5A5044"/>
                </a:solidFill>
                <a:latin typeface="Calibri" pitchFamily="34" charset="0"/>
                <a:ea typeface="Calibri" pitchFamily="34" charset="-122"/>
                <a:cs typeface="Calibri" pitchFamily="34" charset="-120"/>
              </a:rPr>
              <a:t>2–3 Sätze · nenne deinen Maßstab</a:t>
            </a:r>
            <a:endParaRPr lang="en-US" sz="1100" dirty="0"/>
          </a:p>
        </p:txBody>
      </p:sp>
      <p:sp>
        <p:nvSpPr>
          <p:cNvPr id="14" name="Text 12"/>
          <p:cNvSpPr txBox="1"/>
          <p:nvPr/>
        </p:nvSpPr>
        <p:spPr>
          <a:xfrm>
            <a:off x="2240280" y="3611880"/>
            <a:ext cx="3154680" cy="512064"/>
          </a:xfrm>
          <a:prstGeom prst="rect">
            <a:avLst/>
          </a:prstGeom>
          <a:noFill/>
          <a:ln/>
        </p:spPr>
        <p:txBody>
          <a:bodyPr wrap="square" lIns="0" tIns="0" rIns="0" bIns="0" rtlCol="0" anchor="t"/>
          <a:lstStyle/>
          <a:p>
            <a:pPr indent="0" marL="0">
              <a:buNone/>
            </a:pPr>
            <a:r>
              <a:rPr lang="en-US" sz="1100" i="1" dirty="0">
                <a:solidFill>
                  <a:srgbClr val="2B2318"/>
                </a:solidFill>
                <a:latin typeface="Calibri" pitchFamily="34" charset="0"/>
                <a:ea typeface="Calibri" pitchFamily="34" charset="-122"/>
                <a:cs typeface="Calibri" pitchFamily="34" charset="-120"/>
              </a:rPr>
              <a:t>„Gemessen an … halte ich …, weil …“</a:t>
            </a:r>
            <a:endParaRPr lang="en-US" sz="1100" dirty="0"/>
          </a:p>
        </p:txBody>
      </p:sp>
      <p:sp>
        <p:nvSpPr>
          <p:cNvPr id="15" name="Shape 13"/>
          <p:cNvSpPr/>
          <p:nvPr/>
        </p:nvSpPr>
        <p:spPr>
          <a:xfrm>
            <a:off x="5669280" y="2331720"/>
            <a:ext cx="3017520" cy="1810512"/>
          </a:xfrm>
          <a:prstGeom prst="roundRect">
            <a:avLst>
              <a:gd name="adj" fmla="val 4040"/>
            </a:avLst>
          </a:prstGeom>
          <a:solidFill>
            <a:srgbClr val="FBF8F2"/>
          </a:solidFill>
          <a:ln w="19050">
            <a:solidFill>
              <a:srgbClr val="D9A441"/>
            </a:solidFill>
            <a:prstDash val="solid"/>
          </a:ln>
        </p:spPr>
      </p:sp>
      <p:sp>
        <p:nvSpPr>
          <p:cNvPr id="16" name="Text 14"/>
          <p:cNvSpPr txBox="1"/>
          <p:nvPr/>
        </p:nvSpPr>
        <p:spPr>
          <a:xfrm>
            <a:off x="5852160" y="2404872"/>
            <a:ext cx="2651760" cy="274320"/>
          </a:xfrm>
          <a:prstGeom prst="rect">
            <a:avLst/>
          </a:prstGeom>
          <a:noFill/>
          <a:ln/>
        </p:spPr>
        <p:txBody>
          <a:bodyPr wrap="square" lIns="0" tIns="0" rIns="0" bIns="0" rtlCol="0" anchor="t"/>
          <a:lstStyle/>
          <a:p>
            <a:pPr indent="0" marL="0">
              <a:buNone/>
            </a:pPr>
            <a:r>
              <a:rPr lang="en-US" sz="1400" b="1" dirty="0">
                <a:solidFill>
                  <a:srgbClr val="AD4426"/>
                </a:solidFill>
                <a:latin typeface="Cambria" pitchFamily="34" charset="0"/>
                <a:ea typeface="Cambria" pitchFamily="34" charset="-122"/>
                <a:cs typeface="Cambria" pitchFamily="34" charset="-120"/>
              </a:rPr>
              <a:t>Partnercheck</a:t>
            </a:r>
            <a:endParaRPr lang="en-US" sz="1400" dirty="0"/>
          </a:p>
        </p:txBody>
      </p:sp>
      <p:sp>
        <p:nvSpPr>
          <p:cNvPr id="17" name="Shape 15"/>
          <p:cNvSpPr/>
          <p:nvPr/>
        </p:nvSpPr>
        <p:spPr>
          <a:xfrm>
            <a:off x="5852160" y="2779776"/>
            <a:ext cx="201168" cy="201168"/>
          </a:xfrm>
          <a:prstGeom prst="roundRect">
            <a:avLst>
              <a:gd name="adj" fmla="val 18182"/>
            </a:avLst>
          </a:prstGeom>
          <a:solidFill>
            <a:srgbClr val="FFFFFF"/>
          </a:solidFill>
          <a:ln w="19050">
            <a:solidFill>
              <a:srgbClr val="D9A441"/>
            </a:solidFill>
            <a:prstDash val="solid"/>
          </a:ln>
        </p:spPr>
      </p:sp>
      <p:sp>
        <p:nvSpPr>
          <p:cNvPr id="18" name="Text 16"/>
          <p:cNvSpPr txBox="1"/>
          <p:nvPr/>
        </p:nvSpPr>
        <p:spPr>
          <a:xfrm>
            <a:off x="6144768" y="2743200"/>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Sachurteil: Maßstäbe der Zeit</a:t>
            </a:r>
            <a:endParaRPr lang="en-US" sz="1200" dirty="0"/>
          </a:p>
        </p:txBody>
      </p:sp>
      <p:sp>
        <p:nvSpPr>
          <p:cNvPr id="19" name="Shape 17"/>
          <p:cNvSpPr/>
          <p:nvPr/>
        </p:nvSpPr>
        <p:spPr>
          <a:xfrm>
            <a:off x="5852160" y="3118104"/>
            <a:ext cx="201168" cy="201168"/>
          </a:xfrm>
          <a:prstGeom prst="roundRect">
            <a:avLst>
              <a:gd name="adj" fmla="val 18182"/>
            </a:avLst>
          </a:prstGeom>
          <a:solidFill>
            <a:srgbClr val="FFFFFF"/>
          </a:solidFill>
          <a:ln w="19050">
            <a:solidFill>
              <a:srgbClr val="D9A441"/>
            </a:solidFill>
            <a:prstDash val="solid"/>
          </a:ln>
        </p:spPr>
      </p:sp>
      <p:sp>
        <p:nvSpPr>
          <p:cNvPr id="20" name="Text 18"/>
          <p:cNvSpPr txBox="1"/>
          <p:nvPr/>
        </p:nvSpPr>
        <p:spPr>
          <a:xfrm>
            <a:off x="6144768" y="3081528"/>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Sachurteil: mit Belegen</a:t>
            </a:r>
            <a:endParaRPr lang="en-US" sz="1200" dirty="0"/>
          </a:p>
        </p:txBody>
      </p:sp>
      <p:sp>
        <p:nvSpPr>
          <p:cNvPr id="21" name="Shape 19"/>
          <p:cNvSpPr/>
          <p:nvPr/>
        </p:nvSpPr>
        <p:spPr>
          <a:xfrm>
            <a:off x="5852160" y="3456432"/>
            <a:ext cx="201168" cy="201168"/>
          </a:xfrm>
          <a:prstGeom prst="roundRect">
            <a:avLst>
              <a:gd name="adj" fmla="val 18182"/>
            </a:avLst>
          </a:prstGeom>
          <a:solidFill>
            <a:srgbClr val="FFFFFF"/>
          </a:solidFill>
          <a:ln w="19050">
            <a:solidFill>
              <a:srgbClr val="D9A441"/>
            </a:solidFill>
            <a:prstDash val="solid"/>
          </a:ln>
        </p:spPr>
      </p:sp>
      <p:sp>
        <p:nvSpPr>
          <p:cNvPr id="22" name="Text 20"/>
          <p:cNvSpPr txBox="1"/>
          <p:nvPr/>
        </p:nvSpPr>
        <p:spPr>
          <a:xfrm>
            <a:off x="6144768" y="3419856"/>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Werturteil: Maßstab genannt</a:t>
            </a:r>
            <a:endParaRPr lang="en-US" sz="1200" dirty="0"/>
          </a:p>
        </p:txBody>
      </p:sp>
      <p:sp>
        <p:nvSpPr>
          <p:cNvPr id="23" name="Shape 21"/>
          <p:cNvSpPr/>
          <p:nvPr/>
        </p:nvSpPr>
        <p:spPr>
          <a:xfrm>
            <a:off x="5852160" y="3794760"/>
            <a:ext cx="201168" cy="201168"/>
          </a:xfrm>
          <a:prstGeom prst="roundRect">
            <a:avLst>
              <a:gd name="adj" fmla="val 18182"/>
            </a:avLst>
          </a:prstGeom>
          <a:solidFill>
            <a:srgbClr val="FFFFFF"/>
          </a:solidFill>
          <a:ln w="19050">
            <a:solidFill>
              <a:srgbClr val="D9A441"/>
            </a:solidFill>
            <a:prstDash val="solid"/>
          </a:ln>
        </p:spPr>
      </p:sp>
      <p:sp>
        <p:nvSpPr>
          <p:cNvPr id="24" name="Text 22"/>
          <p:cNvSpPr txBox="1"/>
          <p:nvPr/>
        </p:nvSpPr>
        <p:spPr>
          <a:xfrm>
            <a:off x="6144768" y="3758184"/>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Werturteil: begründet</a:t>
            </a:r>
            <a:endParaRPr lang="en-US" sz="1200" dirty="0"/>
          </a:p>
        </p:txBody>
      </p:sp>
      <p:sp>
        <p:nvSpPr>
          <p:cNvPr id="25" name="Text 2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6" name="Text 2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BEURTEILUNG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eine Beurteilung aussehen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Text 3"/>
          <p:cNvSpPr txBox="1"/>
          <p:nvPr/>
        </p:nvSpPr>
        <p:spPr>
          <a:xfrm>
            <a:off x="457200" y="1234440"/>
            <a:ext cx="1554480" cy="1920240"/>
          </a:xfrm>
          <a:prstGeom prst="roundRect">
            <a:avLst>
              <a:gd name="adj" fmla="val 4706"/>
            </a:avLst>
          </a:prstGeom>
          <a:solidFill>
            <a:srgbClr val="D9A441"/>
          </a:solidFill>
          <a:ln/>
        </p:spPr>
        <p:txBody>
          <a:bodyPr wrap="square" lIns="0" tIns="0" rIns="0" bIns="0" rtlCol="0" anchor="ctr"/>
          <a:lstStyle/>
          <a:p>
            <a:pPr algn="ctr" indent="0" marL="0">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6" name="Shape 4"/>
          <p:cNvSpPr/>
          <p:nvPr/>
        </p:nvSpPr>
        <p:spPr>
          <a:xfrm>
            <a:off x="2103120" y="1234440"/>
            <a:ext cx="6583680" cy="1920240"/>
          </a:xfrm>
          <a:prstGeom prst="roundRect">
            <a:avLst>
              <a:gd name="adj" fmla="val 3810"/>
            </a:avLst>
          </a:prstGeom>
          <a:solidFill>
            <a:srgbClr val="F4ECDE"/>
          </a:solidFill>
          <a:ln w="12700">
            <a:solidFill>
              <a:srgbClr val="F4ECDE"/>
            </a:solidFill>
            <a:prstDash val="solid"/>
          </a:ln>
        </p:spPr>
      </p:sp>
      <p:sp>
        <p:nvSpPr>
          <p:cNvPr id="7" name="Text 5"/>
          <p:cNvSpPr txBox="1"/>
          <p:nvPr/>
        </p:nvSpPr>
        <p:spPr>
          <a:xfrm>
            <a:off x="2286000" y="1307592"/>
            <a:ext cx="6263640" cy="1773936"/>
          </a:xfrm>
          <a:prstGeom prst="rect">
            <a:avLst/>
          </a:prstGeom>
          <a:noFill/>
          <a:ln/>
        </p:spPr>
        <p:txBody>
          <a:bodyPr wrap="square" lIns="0" tIns="0" rIns="0" bIns="0" rtlCol="0" anchor="ctr"/>
          <a:lstStyle/>
          <a:p>
            <a:pPr indent="0" marL="0">
              <a:buNone/>
            </a:pPr>
            <a:r>
              <a:rPr lang="en-US" sz="1250" i="1" dirty="0">
                <a:solidFill>
                  <a:srgbClr val="2B2318"/>
                </a:solidFill>
                <a:latin typeface="Calibri" pitchFamily="34" charset="0"/>
                <a:ea typeface="Calibri" pitchFamily="34" charset="-122"/>
                <a:cs typeface="Calibri" pitchFamily="34" charset="-120"/>
              </a:rPr>
              <a:t>„Aus Sicht der damaligen Zeit gelang es Drakon nur in einem Punkt, die Krise zu entschärfen: Er schuf ein geschriebenes, für alle verbindliches Recht und beendete die Blutrache, beseitigte aber die Schuldknechtschaft nicht. Solon gelang es weitgehend: Er strich die Schulden, verbot die Schuldknechtschaft und band die politischen Rechte an den Besitz statt an die Herkunft. Die Landfrage löste er jedoch nicht, sodass bald neue Kämpfe ausbrachen.“</a:t>
            </a:r>
            <a:endParaRPr lang="en-US" sz="1250" dirty="0"/>
          </a:p>
        </p:txBody>
      </p:sp>
      <p:sp>
        <p:nvSpPr>
          <p:cNvPr id="8" name="Text 6"/>
          <p:cNvSpPr txBox="1"/>
          <p:nvPr/>
        </p:nvSpPr>
        <p:spPr>
          <a:xfrm>
            <a:off x="457200" y="3310128"/>
            <a:ext cx="1554480" cy="1143000"/>
          </a:xfrm>
          <a:prstGeom prst="roundRect">
            <a:avLst>
              <a:gd name="adj" fmla="val 6400"/>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9" name="Shape 7"/>
          <p:cNvSpPr/>
          <p:nvPr/>
        </p:nvSpPr>
        <p:spPr>
          <a:xfrm>
            <a:off x="2103120" y="3310128"/>
            <a:ext cx="6583680" cy="1143000"/>
          </a:xfrm>
          <a:prstGeom prst="roundRect">
            <a:avLst>
              <a:gd name="adj" fmla="val 6400"/>
            </a:avLst>
          </a:prstGeom>
          <a:solidFill>
            <a:srgbClr val="F4ECDE"/>
          </a:solidFill>
          <a:ln w="12700">
            <a:solidFill>
              <a:srgbClr val="F4ECDE"/>
            </a:solidFill>
            <a:prstDash val="solid"/>
          </a:ln>
        </p:spPr>
      </p:sp>
      <p:sp>
        <p:nvSpPr>
          <p:cNvPr id="10" name="Text 8"/>
          <p:cNvSpPr txBox="1"/>
          <p:nvPr/>
        </p:nvSpPr>
        <p:spPr>
          <a:xfrm>
            <a:off x="2286000" y="3383280"/>
            <a:ext cx="6263640" cy="996696"/>
          </a:xfrm>
          <a:prstGeom prst="rect">
            <a:avLst/>
          </a:prstGeom>
          <a:noFill/>
          <a:ln/>
        </p:spPr>
        <p:txBody>
          <a:bodyPr wrap="square" lIns="0" tIns="0" rIns="0" bIns="0" rtlCol="0" anchor="ctr"/>
          <a:lstStyle/>
          <a:p>
            <a:pPr indent="0" marL="0">
              <a:buNone/>
            </a:pPr>
            <a:r>
              <a:rPr lang="en-US" sz="1250" i="1" dirty="0">
                <a:solidFill>
                  <a:srgbClr val="2B2318"/>
                </a:solidFill>
                <a:latin typeface="Calibri" pitchFamily="34" charset="0"/>
                <a:ea typeface="Calibri" pitchFamily="34" charset="-122"/>
                <a:cs typeface="Calibri" pitchFamily="34" charset="-120"/>
              </a:rPr>
              <a:t>„Gemessen am Grundsatz der Gleichheit aller Menschen halte ich Solons Reform für einen wichtigen, aber unvollständigen Schritt, weil die ärmsten Bürger zwar mitstimmen, aber keine Ämter übernehmen durften und Frauen, Sklaven und Fremde ganz ausgeschlossen blieben.“</a:t>
            </a:r>
            <a:endParaRPr lang="en-US" sz="125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PLENUM · TAFEL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gewinnt, wer verliert?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Text 3"/>
          <p:cNvSpPr txBox="1"/>
          <p:nvPr/>
        </p:nvSpPr>
        <p:spPr>
          <a:xfrm>
            <a:off x="457200" y="1234440"/>
            <a:ext cx="8229600" cy="36576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Hängt eine Figur an die passende Stelle der Linie und begründet in einem Satz.</a:t>
            </a:r>
            <a:endParaRPr lang="en-US" sz="1500" dirty="0"/>
          </a:p>
        </p:txBody>
      </p:sp>
      <p:sp>
        <p:nvSpPr>
          <p:cNvPr id="6" name="Shape 4"/>
          <p:cNvSpPr/>
          <p:nvPr/>
        </p:nvSpPr>
        <p:spPr>
          <a:xfrm>
            <a:off x="731520" y="2240280"/>
            <a:ext cx="7680960" cy="0"/>
          </a:xfrm>
          <a:prstGeom prst="line">
            <a:avLst/>
          </a:prstGeom>
          <a:noFill/>
          <a:ln w="38100">
            <a:solidFill>
              <a:srgbClr val="2B2318"/>
            </a:solidFill>
            <a:prstDash val="solid"/>
            <a:headEnd type="triangle"/>
            <a:tailEnd type="triangle"/>
          </a:ln>
        </p:spPr>
      </p:sp>
      <p:sp>
        <p:nvSpPr>
          <p:cNvPr id="7" name="Text 5"/>
          <p:cNvSpPr txBox="1"/>
          <p:nvPr/>
        </p:nvSpPr>
        <p:spPr>
          <a:xfrm>
            <a:off x="457200" y="2377440"/>
            <a:ext cx="1371600" cy="320040"/>
          </a:xfrm>
          <a:prstGeom prst="rect">
            <a:avLst/>
          </a:prstGeom>
          <a:noFill/>
          <a:ln/>
        </p:spPr>
        <p:txBody>
          <a:bodyPr wrap="square" lIns="0" tIns="0" rIns="0" bIns="0" rtlCol="0" anchor="t"/>
          <a:lstStyle/>
          <a:p>
            <a:pPr indent="0" marL="0">
              <a:buNone/>
            </a:pPr>
            <a:r>
              <a:rPr lang="en-US" sz="1500" b="1" dirty="0">
                <a:solidFill>
                  <a:srgbClr val="AD4426"/>
                </a:solidFill>
                <a:latin typeface="Calibri" pitchFamily="34" charset="0"/>
                <a:ea typeface="Calibri" pitchFamily="34" charset="-122"/>
                <a:cs typeface="Calibri" pitchFamily="34" charset="-120"/>
              </a:rPr>
              <a:t>verliert</a:t>
            </a:r>
            <a:endParaRPr lang="en-US" sz="1500" dirty="0"/>
          </a:p>
        </p:txBody>
      </p:sp>
      <p:sp>
        <p:nvSpPr>
          <p:cNvPr id="8" name="Text 6"/>
          <p:cNvSpPr txBox="1"/>
          <p:nvPr/>
        </p:nvSpPr>
        <p:spPr>
          <a:xfrm>
            <a:off x="7315200" y="2377440"/>
            <a:ext cx="1371600" cy="320040"/>
          </a:xfrm>
          <a:prstGeom prst="rect">
            <a:avLst/>
          </a:prstGeom>
          <a:noFill/>
          <a:ln/>
        </p:spPr>
        <p:txBody>
          <a:bodyPr wrap="square" lIns="0" tIns="0" rIns="0" bIns="0" rtlCol="0" anchor="t"/>
          <a:lstStyle/>
          <a:p>
            <a:pPr algn="r" indent="0" marL="0">
              <a:buNone/>
            </a:pPr>
            <a:r>
              <a:rPr lang="en-US" sz="1500" b="1" dirty="0">
                <a:solidFill>
                  <a:srgbClr val="3C783C"/>
                </a:solidFill>
                <a:latin typeface="Calibri" pitchFamily="34" charset="0"/>
                <a:ea typeface="Calibri" pitchFamily="34" charset="-122"/>
                <a:cs typeface="Calibri" pitchFamily="34" charset="-120"/>
              </a:rPr>
              <a:t>gewinnt</a:t>
            </a:r>
            <a:endParaRPr lang="en-US" sz="1500" dirty="0"/>
          </a:p>
        </p:txBody>
      </p:sp>
      <p:sp>
        <p:nvSpPr>
          <p:cNvPr id="9" name="Text 7"/>
          <p:cNvSpPr txBox="1"/>
          <p:nvPr/>
        </p:nvSpPr>
        <p:spPr>
          <a:xfrm>
            <a:off x="45720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Kleinbauer</a:t>
            </a:r>
            <a:endParaRPr lang="en-US" sz="1300" dirty="0"/>
          </a:p>
        </p:txBody>
      </p:sp>
      <p:sp>
        <p:nvSpPr>
          <p:cNvPr id="10" name="Text 8"/>
          <p:cNvSpPr txBox="1"/>
          <p:nvPr/>
        </p:nvSpPr>
        <p:spPr>
          <a:xfrm>
            <a:off x="324612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Großgrundbesitzer</a:t>
            </a:r>
            <a:endParaRPr lang="en-US" sz="1300" dirty="0"/>
          </a:p>
        </p:txBody>
      </p:sp>
      <p:sp>
        <p:nvSpPr>
          <p:cNvPr id="11" name="Text 9"/>
          <p:cNvSpPr txBox="1"/>
          <p:nvPr/>
        </p:nvSpPr>
        <p:spPr>
          <a:xfrm>
            <a:off x="603504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Reicher Händler</a:t>
            </a:r>
            <a:endParaRPr lang="en-US" sz="1300" dirty="0"/>
          </a:p>
        </p:txBody>
      </p:sp>
      <p:sp>
        <p:nvSpPr>
          <p:cNvPr id="12" name="Text 10"/>
          <p:cNvSpPr txBox="1"/>
          <p:nvPr/>
        </p:nvSpPr>
        <p:spPr>
          <a:xfrm>
            <a:off x="45720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Verarmter Adliger</a:t>
            </a:r>
            <a:endParaRPr lang="en-US" sz="1300" dirty="0"/>
          </a:p>
        </p:txBody>
      </p:sp>
      <p:sp>
        <p:nvSpPr>
          <p:cNvPr id="13" name="Text 11"/>
          <p:cNvSpPr txBox="1"/>
          <p:nvPr/>
        </p:nvSpPr>
        <p:spPr>
          <a:xfrm>
            <a:off x="324612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Zurückgekaufter Schuldsklave</a:t>
            </a:r>
            <a:endParaRPr lang="en-US" sz="1300" dirty="0"/>
          </a:p>
        </p:txBody>
      </p:sp>
      <p:sp>
        <p:nvSpPr>
          <p:cNvPr id="14" name="Text 12"/>
          <p:cNvSpPr txBox="1"/>
          <p:nvPr/>
        </p:nvSpPr>
        <p:spPr>
          <a:xfrm>
            <a:off x="603504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Tagelöhner (Thete)</a:t>
            </a:r>
            <a:endParaRPr lang="en-US" sz="1300" dirty="0"/>
          </a:p>
        </p:txBody>
      </p:sp>
      <p:sp>
        <p:nvSpPr>
          <p:cNvPr id="15" name="Text 13"/>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500" b="1" i="1" dirty="0">
                <a:solidFill>
                  <a:srgbClr val="AD4426"/>
                </a:solidFill>
                <a:latin typeface="Calibri" pitchFamily="34" charset="0"/>
                <a:ea typeface="Calibri" pitchFamily="34" charset="-122"/>
                <a:cs typeface="Calibri" pitchFamily="34" charset="-120"/>
              </a:rPr>
              <a:t>Und wo steht eine Frau?</a:t>
            </a:r>
            <a:endParaRPr lang="en-US" sz="15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GEWINNER UND VERLIERER · MÖGLICHE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gewinnt, wer verliert?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731520" y="1481328"/>
            <a:ext cx="7680960" cy="0"/>
          </a:xfrm>
          <a:prstGeom prst="line">
            <a:avLst/>
          </a:prstGeom>
          <a:noFill/>
          <a:ln w="38100">
            <a:solidFill>
              <a:srgbClr val="2B2318"/>
            </a:solidFill>
            <a:prstDash val="solid"/>
            <a:headEnd type="triangle"/>
            <a:tailEnd type="triangle"/>
          </a:ln>
        </p:spPr>
      </p:sp>
      <p:sp>
        <p:nvSpPr>
          <p:cNvPr id="6" name="Text 4"/>
          <p:cNvSpPr txBox="1"/>
          <p:nvPr/>
        </p:nvSpPr>
        <p:spPr>
          <a:xfrm>
            <a:off x="457200" y="1188720"/>
            <a:ext cx="1371600" cy="228600"/>
          </a:xfrm>
          <a:prstGeom prst="rect">
            <a:avLst/>
          </a:prstGeom>
          <a:noFill/>
          <a:ln/>
        </p:spPr>
        <p:txBody>
          <a:bodyPr wrap="square" lIns="0" tIns="0" rIns="0" bIns="0" rtlCol="0" anchor="t"/>
          <a:lstStyle/>
          <a:p>
            <a:pPr indent="0" marL="0">
              <a:buNone/>
            </a:pPr>
            <a:r>
              <a:rPr lang="en-US" sz="1200" b="1" dirty="0">
                <a:solidFill>
                  <a:srgbClr val="AD4426"/>
                </a:solidFill>
                <a:latin typeface="Calibri" pitchFamily="34" charset="0"/>
                <a:ea typeface="Calibri" pitchFamily="34" charset="-122"/>
                <a:cs typeface="Calibri" pitchFamily="34" charset="-120"/>
              </a:rPr>
              <a:t>verliert</a:t>
            </a:r>
            <a:endParaRPr lang="en-US" sz="1200" dirty="0"/>
          </a:p>
        </p:txBody>
      </p:sp>
      <p:sp>
        <p:nvSpPr>
          <p:cNvPr id="7" name="Text 5"/>
          <p:cNvSpPr txBox="1"/>
          <p:nvPr/>
        </p:nvSpPr>
        <p:spPr>
          <a:xfrm>
            <a:off x="7315200" y="1188720"/>
            <a:ext cx="1371600" cy="228600"/>
          </a:xfrm>
          <a:prstGeom prst="rect">
            <a:avLst/>
          </a:prstGeom>
          <a:noFill/>
          <a:ln/>
        </p:spPr>
        <p:txBody>
          <a:bodyPr wrap="square" lIns="0" tIns="0" rIns="0" bIns="0" rtlCol="0" anchor="t"/>
          <a:lstStyle/>
          <a:p>
            <a:pPr algn="r" indent="0" marL="0">
              <a:buNone/>
            </a:pPr>
            <a:r>
              <a:rPr lang="en-US" sz="1200" b="1" dirty="0">
                <a:solidFill>
                  <a:srgbClr val="3C783C"/>
                </a:solidFill>
                <a:latin typeface="Calibri" pitchFamily="34" charset="0"/>
                <a:ea typeface="Calibri" pitchFamily="34" charset="-122"/>
                <a:cs typeface="Calibri" pitchFamily="34" charset="-120"/>
              </a:rPr>
              <a:t>gewinnt</a:t>
            </a:r>
            <a:endParaRPr lang="en-US" sz="1200" dirty="0"/>
          </a:p>
        </p:txBody>
      </p:sp>
      <p:sp>
        <p:nvSpPr>
          <p:cNvPr id="8" name="Shape 6"/>
          <p:cNvSpPr/>
          <p:nvPr/>
        </p:nvSpPr>
        <p:spPr>
          <a:xfrm>
            <a:off x="1110996" y="1481328"/>
            <a:ext cx="0" cy="256032"/>
          </a:xfrm>
          <a:prstGeom prst="line">
            <a:avLst/>
          </a:prstGeom>
          <a:noFill/>
          <a:ln w="12700">
            <a:solidFill>
              <a:srgbClr val="998C77"/>
            </a:solidFill>
            <a:prstDash val="solid"/>
          </a:ln>
        </p:spPr>
      </p:sp>
      <p:sp>
        <p:nvSpPr>
          <p:cNvPr id="9" name="Shape 7"/>
          <p:cNvSpPr/>
          <p:nvPr/>
        </p:nvSpPr>
        <p:spPr>
          <a:xfrm>
            <a:off x="457200" y="1755648"/>
            <a:ext cx="1307592" cy="2103120"/>
          </a:xfrm>
          <a:prstGeom prst="roundRect">
            <a:avLst>
              <a:gd name="adj" fmla="val 5594"/>
            </a:avLst>
          </a:prstGeom>
          <a:solidFill>
            <a:srgbClr val="F4ECDE"/>
          </a:solidFill>
          <a:ln w="12700">
            <a:solidFill>
              <a:srgbClr val="F4ECDE"/>
            </a:solidFill>
            <a:prstDash val="solid"/>
          </a:ln>
        </p:spPr>
      </p:sp>
      <p:sp>
        <p:nvSpPr>
          <p:cNvPr id="10" name="Text 8"/>
          <p:cNvSpPr txBox="1"/>
          <p:nvPr/>
        </p:nvSpPr>
        <p:spPr>
          <a:xfrm>
            <a:off x="530352" y="1828800"/>
            <a:ext cx="1161288" cy="566928"/>
          </a:xfrm>
          <a:prstGeom prst="rect">
            <a:avLst/>
          </a:prstGeom>
          <a:noFill/>
          <a:ln/>
        </p:spPr>
        <p:txBody>
          <a:bodyPr wrap="square" lIns="0" tIns="0" rIns="0" bIns="0" rtlCol="0" anchor="ctr"/>
          <a:lstStyle/>
          <a:p>
            <a:pPr algn="ctr" indent="0" marL="0">
              <a:buNone/>
            </a:pPr>
            <a:r>
              <a:rPr lang="en-US" sz="1200" b="1" dirty="0">
                <a:solidFill>
                  <a:srgbClr val="2B2318"/>
                </a:solidFill>
                <a:latin typeface="Calibri" pitchFamily="34" charset="0"/>
                <a:ea typeface="Calibri" pitchFamily="34" charset="-122"/>
                <a:cs typeface="Calibri" pitchFamily="34" charset="-120"/>
              </a:rPr>
              <a:t>Verarmter Adliger</a:t>
            </a:r>
            <a:endParaRPr lang="en-US" sz="1200" dirty="0"/>
          </a:p>
        </p:txBody>
      </p:sp>
      <p:sp>
        <p:nvSpPr>
          <p:cNvPr id="11" name="Text 9"/>
          <p:cNvSpPr txBox="1"/>
          <p:nvPr/>
        </p:nvSpPr>
        <p:spPr>
          <a:xfrm>
            <a:off x="530352" y="2423160"/>
            <a:ext cx="1161288" cy="1371600"/>
          </a:xfrm>
          <a:prstGeom prst="rect">
            <a:avLst/>
          </a:prstGeom>
          <a:noFill/>
          <a:ln/>
        </p:spPr>
        <p:txBody>
          <a:bodyPr wrap="square" lIns="0" tIns="0" rIns="0" bIns="0" rtlCol="0" anchor="t"/>
          <a:lstStyle/>
          <a:p>
            <a:pPr algn="ctr" indent="0" marL="0">
              <a:buNone/>
            </a:pPr>
            <a:r>
              <a:rPr lang="en-US" sz="1050" dirty="0">
                <a:solidFill>
                  <a:srgbClr val="5A5044"/>
                </a:solidFill>
                <a:latin typeface="Calibri" pitchFamily="34" charset="0"/>
                <a:ea typeface="Calibri" pitchFamily="34" charset="-122"/>
                <a:cs typeface="Calibri" pitchFamily="34" charset="-120"/>
              </a:rPr>
              <a:t>verliert Einfluss: Herkunft zählt nicht mehr</a:t>
            </a:r>
            <a:endParaRPr lang="en-US" sz="1050" dirty="0"/>
          </a:p>
        </p:txBody>
      </p:sp>
      <p:sp>
        <p:nvSpPr>
          <p:cNvPr id="12" name="Shape 10"/>
          <p:cNvSpPr/>
          <p:nvPr/>
        </p:nvSpPr>
        <p:spPr>
          <a:xfrm>
            <a:off x="2510028" y="1481328"/>
            <a:ext cx="0" cy="256032"/>
          </a:xfrm>
          <a:prstGeom prst="line">
            <a:avLst/>
          </a:prstGeom>
          <a:noFill/>
          <a:ln w="12700">
            <a:solidFill>
              <a:srgbClr val="998C77"/>
            </a:solidFill>
            <a:prstDash val="solid"/>
          </a:ln>
        </p:spPr>
      </p:sp>
      <p:sp>
        <p:nvSpPr>
          <p:cNvPr id="13" name="Shape 11"/>
          <p:cNvSpPr/>
          <p:nvPr/>
        </p:nvSpPr>
        <p:spPr>
          <a:xfrm>
            <a:off x="1856232" y="1755648"/>
            <a:ext cx="1307592" cy="2103120"/>
          </a:xfrm>
          <a:prstGeom prst="roundRect">
            <a:avLst>
              <a:gd name="adj" fmla="val 5594"/>
            </a:avLst>
          </a:prstGeom>
          <a:solidFill>
            <a:srgbClr val="F4ECDE"/>
          </a:solidFill>
          <a:ln w="12700">
            <a:solidFill>
              <a:srgbClr val="F4ECDE"/>
            </a:solidFill>
            <a:prstDash val="solid"/>
          </a:ln>
        </p:spPr>
      </p:sp>
      <p:sp>
        <p:nvSpPr>
          <p:cNvPr id="14" name="Text 12"/>
          <p:cNvSpPr txBox="1"/>
          <p:nvPr/>
        </p:nvSpPr>
        <p:spPr>
          <a:xfrm>
            <a:off x="1929384" y="1828800"/>
            <a:ext cx="1161288" cy="566928"/>
          </a:xfrm>
          <a:prstGeom prst="rect">
            <a:avLst/>
          </a:prstGeom>
          <a:noFill/>
          <a:ln/>
        </p:spPr>
        <p:txBody>
          <a:bodyPr wrap="square" lIns="0" tIns="0" rIns="0" bIns="0" rtlCol="0" anchor="ctr"/>
          <a:lstStyle/>
          <a:p>
            <a:pPr algn="ctr" indent="0" marL="0">
              <a:buNone/>
            </a:pPr>
            <a:r>
              <a:rPr lang="en-US" sz="1200" b="1" dirty="0">
                <a:solidFill>
                  <a:srgbClr val="2B2318"/>
                </a:solidFill>
                <a:latin typeface="Calibri" pitchFamily="34" charset="0"/>
                <a:ea typeface="Calibri" pitchFamily="34" charset="-122"/>
                <a:cs typeface="Calibri" pitchFamily="34" charset="-120"/>
              </a:rPr>
              <a:t>Großgrund­besitzer</a:t>
            </a:r>
            <a:endParaRPr lang="en-US" sz="1200" dirty="0"/>
          </a:p>
        </p:txBody>
      </p:sp>
      <p:sp>
        <p:nvSpPr>
          <p:cNvPr id="15" name="Text 13"/>
          <p:cNvSpPr txBox="1"/>
          <p:nvPr/>
        </p:nvSpPr>
        <p:spPr>
          <a:xfrm>
            <a:off x="1929384" y="2423160"/>
            <a:ext cx="1161288" cy="1371600"/>
          </a:xfrm>
          <a:prstGeom prst="rect">
            <a:avLst/>
          </a:prstGeom>
          <a:noFill/>
          <a:ln/>
        </p:spPr>
        <p:txBody>
          <a:bodyPr wrap="square" lIns="0" tIns="0" rIns="0" bIns="0" rtlCol="0" anchor="t"/>
          <a:lstStyle/>
          <a:p>
            <a:pPr algn="ctr" indent="0" marL="0">
              <a:buNone/>
            </a:pPr>
            <a:r>
              <a:rPr lang="en-US" sz="1050" dirty="0">
                <a:solidFill>
                  <a:srgbClr val="5A5044"/>
                </a:solidFill>
                <a:latin typeface="Calibri" pitchFamily="34" charset="0"/>
                <a:ea typeface="Calibri" pitchFamily="34" charset="-122"/>
                <a:cs typeface="Calibri" pitchFamily="34" charset="-120"/>
              </a:rPr>
              <a:t>verliert seine Forderungen, behält aber Land und Ämter</a:t>
            </a:r>
            <a:endParaRPr lang="en-US" sz="1050" dirty="0"/>
          </a:p>
        </p:txBody>
      </p:sp>
      <p:sp>
        <p:nvSpPr>
          <p:cNvPr id="16" name="Shape 14"/>
          <p:cNvSpPr/>
          <p:nvPr/>
        </p:nvSpPr>
        <p:spPr>
          <a:xfrm>
            <a:off x="3909060" y="1481328"/>
            <a:ext cx="0" cy="256032"/>
          </a:xfrm>
          <a:prstGeom prst="line">
            <a:avLst/>
          </a:prstGeom>
          <a:noFill/>
          <a:ln w="12700">
            <a:solidFill>
              <a:srgbClr val="998C77"/>
            </a:solidFill>
            <a:prstDash val="solid"/>
          </a:ln>
        </p:spPr>
      </p:sp>
      <p:sp>
        <p:nvSpPr>
          <p:cNvPr id="17" name="Shape 15"/>
          <p:cNvSpPr/>
          <p:nvPr/>
        </p:nvSpPr>
        <p:spPr>
          <a:xfrm>
            <a:off x="3255264" y="1755648"/>
            <a:ext cx="1307592" cy="2103120"/>
          </a:xfrm>
          <a:prstGeom prst="roundRect">
            <a:avLst>
              <a:gd name="adj" fmla="val 5594"/>
            </a:avLst>
          </a:prstGeom>
          <a:solidFill>
            <a:srgbClr val="F4ECDE"/>
          </a:solidFill>
          <a:ln w="12700">
            <a:solidFill>
              <a:srgbClr val="F4ECDE"/>
            </a:solidFill>
            <a:prstDash val="solid"/>
          </a:ln>
        </p:spPr>
      </p:sp>
      <p:sp>
        <p:nvSpPr>
          <p:cNvPr id="18" name="Text 16"/>
          <p:cNvSpPr txBox="1"/>
          <p:nvPr/>
        </p:nvSpPr>
        <p:spPr>
          <a:xfrm>
            <a:off x="3328416" y="1828800"/>
            <a:ext cx="1161288" cy="566928"/>
          </a:xfrm>
          <a:prstGeom prst="rect">
            <a:avLst/>
          </a:prstGeom>
          <a:noFill/>
          <a:ln/>
        </p:spPr>
        <p:txBody>
          <a:bodyPr wrap="square" lIns="0" tIns="0" rIns="0" bIns="0" rtlCol="0" anchor="ctr"/>
          <a:lstStyle/>
          <a:p>
            <a:pPr algn="ctr" indent="0" marL="0">
              <a:buNone/>
            </a:pPr>
            <a:r>
              <a:rPr lang="en-US" sz="1200" b="1" dirty="0">
                <a:solidFill>
                  <a:srgbClr val="2B2318"/>
                </a:solidFill>
                <a:latin typeface="Calibri" pitchFamily="34" charset="0"/>
                <a:ea typeface="Calibri" pitchFamily="34" charset="-122"/>
                <a:cs typeface="Calibri" pitchFamily="34" charset="-120"/>
              </a:rPr>
              <a:t>Tagelöhner (Thete)</a:t>
            </a:r>
            <a:endParaRPr lang="en-US" sz="1200" dirty="0"/>
          </a:p>
        </p:txBody>
      </p:sp>
      <p:sp>
        <p:nvSpPr>
          <p:cNvPr id="19" name="Text 17"/>
          <p:cNvSpPr txBox="1"/>
          <p:nvPr/>
        </p:nvSpPr>
        <p:spPr>
          <a:xfrm>
            <a:off x="3328416" y="2423160"/>
            <a:ext cx="1161288" cy="1371600"/>
          </a:xfrm>
          <a:prstGeom prst="rect">
            <a:avLst/>
          </a:prstGeom>
          <a:noFill/>
          <a:ln/>
        </p:spPr>
        <p:txBody>
          <a:bodyPr wrap="square" lIns="0" tIns="0" rIns="0" bIns="0" rtlCol="0" anchor="t"/>
          <a:lstStyle/>
          <a:p>
            <a:pPr algn="ctr" indent="0" marL="0">
              <a:buNone/>
            </a:pPr>
            <a:r>
              <a:rPr lang="en-US" sz="1050" dirty="0">
                <a:solidFill>
                  <a:srgbClr val="5A5044"/>
                </a:solidFill>
                <a:latin typeface="Calibri" pitchFamily="34" charset="0"/>
                <a:ea typeface="Calibri" pitchFamily="34" charset="-122"/>
                <a:cs typeface="Calibri" pitchFamily="34" charset="-120"/>
              </a:rPr>
              <a:t>darf abstimmen, aber nicht gewählt werden</a:t>
            </a:r>
            <a:endParaRPr lang="en-US" sz="1050" dirty="0"/>
          </a:p>
        </p:txBody>
      </p:sp>
      <p:sp>
        <p:nvSpPr>
          <p:cNvPr id="20" name="Shape 18"/>
          <p:cNvSpPr/>
          <p:nvPr/>
        </p:nvSpPr>
        <p:spPr>
          <a:xfrm>
            <a:off x="5308092" y="1481328"/>
            <a:ext cx="0" cy="256032"/>
          </a:xfrm>
          <a:prstGeom prst="line">
            <a:avLst/>
          </a:prstGeom>
          <a:noFill/>
          <a:ln w="12700">
            <a:solidFill>
              <a:srgbClr val="998C77"/>
            </a:solidFill>
            <a:prstDash val="solid"/>
          </a:ln>
        </p:spPr>
      </p:sp>
      <p:sp>
        <p:nvSpPr>
          <p:cNvPr id="21" name="Shape 19"/>
          <p:cNvSpPr/>
          <p:nvPr/>
        </p:nvSpPr>
        <p:spPr>
          <a:xfrm>
            <a:off x="4654296" y="1755648"/>
            <a:ext cx="1307592" cy="2103120"/>
          </a:xfrm>
          <a:prstGeom prst="roundRect">
            <a:avLst>
              <a:gd name="adj" fmla="val 5594"/>
            </a:avLst>
          </a:prstGeom>
          <a:solidFill>
            <a:srgbClr val="F4ECDE"/>
          </a:solidFill>
          <a:ln w="12700">
            <a:solidFill>
              <a:srgbClr val="F4ECDE"/>
            </a:solidFill>
            <a:prstDash val="solid"/>
          </a:ln>
        </p:spPr>
      </p:sp>
      <p:sp>
        <p:nvSpPr>
          <p:cNvPr id="22" name="Text 20"/>
          <p:cNvSpPr txBox="1"/>
          <p:nvPr/>
        </p:nvSpPr>
        <p:spPr>
          <a:xfrm>
            <a:off x="4727448" y="1828800"/>
            <a:ext cx="1161288" cy="566928"/>
          </a:xfrm>
          <a:prstGeom prst="rect">
            <a:avLst/>
          </a:prstGeom>
          <a:noFill/>
          <a:ln/>
        </p:spPr>
        <p:txBody>
          <a:bodyPr wrap="square" lIns="0" tIns="0" rIns="0" bIns="0" rtlCol="0" anchor="ctr"/>
          <a:lstStyle/>
          <a:p>
            <a:pPr algn="ctr" indent="0" marL="0">
              <a:buNone/>
            </a:pPr>
            <a:r>
              <a:rPr lang="en-US" sz="1200" b="1" dirty="0">
                <a:solidFill>
                  <a:srgbClr val="2B2318"/>
                </a:solidFill>
                <a:latin typeface="Calibri" pitchFamily="34" charset="0"/>
                <a:ea typeface="Calibri" pitchFamily="34" charset="-122"/>
                <a:cs typeface="Calibri" pitchFamily="34" charset="-120"/>
              </a:rPr>
              <a:t>Kleinbauer</a:t>
            </a:r>
            <a:endParaRPr lang="en-US" sz="1200" dirty="0"/>
          </a:p>
        </p:txBody>
      </p:sp>
      <p:sp>
        <p:nvSpPr>
          <p:cNvPr id="23" name="Text 21"/>
          <p:cNvSpPr txBox="1"/>
          <p:nvPr/>
        </p:nvSpPr>
        <p:spPr>
          <a:xfrm>
            <a:off x="4727448" y="2423160"/>
            <a:ext cx="1161288" cy="1371600"/>
          </a:xfrm>
          <a:prstGeom prst="rect">
            <a:avLst/>
          </a:prstGeom>
          <a:noFill/>
          <a:ln/>
        </p:spPr>
        <p:txBody>
          <a:bodyPr wrap="square" lIns="0" tIns="0" rIns="0" bIns="0" rtlCol="0" anchor="t"/>
          <a:lstStyle/>
          <a:p>
            <a:pPr algn="ctr" indent="0" marL="0">
              <a:buNone/>
            </a:pPr>
            <a:r>
              <a:rPr lang="en-US" sz="1050" dirty="0">
                <a:solidFill>
                  <a:srgbClr val="5A5044"/>
                </a:solidFill>
                <a:latin typeface="Calibri" pitchFamily="34" charset="0"/>
                <a:ea typeface="Calibri" pitchFamily="34" charset="-122"/>
                <a:cs typeface="Calibri" pitchFamily="34" charset="-120"/>
              </a:rPr>
              <a:t>schuldenfrei, aber ohne neues Land</a:t>
            </a:r>
            <a:endParaRPr lang="en-US" sz="1050" dirty="0"/>
          </a:p>
        </p:txBody>
      </p:sp>
      <p:sp>
        <p:nvSpPr>
          <p:cNvPr id="24" name="Shape 22"/>
          <p:cNvSpPr/>
          <p:nvPr/>
        </p:nvSpPr>
        <p:spPr>
          <a:xfrm>
            <a:off x="6707124" y="1481328"/>
            <a:ext cx="0" cy="256032"/>
          </a:xfrm>
          <a:prstGeom prst="line">
            <a:avLst/>
          </a:prstGeom>
          <a:noFill/>
          <a:ln w="12700">
            <a:solidFill>
              <a:srgbClr val="998C77"/>
            </a:solidFill>
            <a:prstDash val="solid"/>
          </a:ln>
        </p:spPr>
      </p:sp>
      <p:sp>
        <p:nvSpPr>
          <p:cNvPr id="25" name="Shape 23"/>
          <p:cNvSpPr/>
          <p:nvPr/>
        </p:nvSpPr>
        <p:spPr>
          <a:xfrm>
            <a:off x="6053328" y="1755648"/>
            <a:ext cx="1307592" cy="2103120"/>
          </a:xfrm>
          <a:prstGeom prst="roundRect">
            <a:avLst>
              <a:gd name="adj" fmla="val 5594"/>
            </a:avLst>
          </a:prstGeom>
          <a:solidFill>
            <a:srgbClr val="F4ECDE"/>
          </a:solidFill>
          <a:ln w="12700">
            <a:solidFill>
              <a:srgbClr val="F4ECDE"/>
            </a:solidFill>
            <a:prstDash val="solid"/>
          </a:ln>
        </p:spPr>
      </p:sp>
      <p:sp>
        <p:nvSpPr>
          <p:cNvPr id="26" name="Text 24"/>
          <p:cNvSpPr txBox="1"/>
          <p:nvPr/>
        </p:nvSpPr>
        <p:spPr>
          <a:xfrm>
            <a:off x="6126480" y="1828800"/>
            <a:ext cx="1161288" cy="566928"/>
          </a:xfrm>
          <a:prstGeom prst="rect">
            <a:avLst/>
          </a:prstGeom>
          <a:noFill/>
          <a:ln/>
        </p:spPr>
        <p:txBody>
          <a:bodyPr wrap="square" lIns="0" tIns="0" rIns="0" bIns="0" rtlCol="0" anchor="ctr"/>
          <a:lstStyle/>
          <a:p>
            <a:pPr algn="ctr" indent="0" marL="0">
              <a:buNone/>
            </a:pPr>
            <a:r>
              <a:rPr lang="en-US" sz="1200" b="1" dirty="0">
                <a:solidFill>
                  <a:srgbClr val="2B2318"/>
                </a:solidFill>
                <a:latin typeface="Calibri" pitchFamily="34" charset="0"/>
                <a:ea typeface="Calibri" pitchFamily="34" charset="-122"/>
                <a:cs typeface="Calibri" pitchFamily="34" charset="-120"/>
              </a:rPr>
              <a:t>Reicher Händler</a:t>
            </a:r>
            <a:endParaRPr lang="en-US" sz="1200" dirty="0"/>
          </a:p>
        </p:txBody>
      </p:sp>
      <p:sp>
        <p:nvSpPr>
          <p:cNvPr id="27" name="Text 25"/>
          <p:cNvSpPr txBox="1"/>
          <p:nvPr/>
        </p:nvSpPr>
        <p:spPr>
          <a:xfrm>
            <a:off x="6126480" y="2423160"/>
            <a:ext cx="1161288" cy="1371600"/>
          </a:xfrm>
          <a:prstGeom prst="rect">
            <a:avLst/>
          </a:prstGeom>
          <a:noFill/>
          <a:ln/>
        </p:spPr>
        <p:txBody>
          <a:bodyPr wrap="square" lIns="0" tIns="0" rIns="0" bIns="0" rtlCol="0" anchor="t"/>
          <a:lstStyle/>
          <a:p>
            <a:pPr algn="ctr" indent="0" marL="0">
              <a:buNone/>
            </a:pPr>
            <a:r>
              <a:rPr lang="en-US" sz="1050" dirty="0">
                <a:solidFill>
                  <a:srgbClr val="5A5044"/>
                </a:solidFill>
                <a:latin typeface="Calibri" pitchFamily="34" charset="0"/>
                <a:ea typeface="Calibri" pitchFamily="34" charset="-122"/>
                <a:cs typeface="Calibri" pitchFamily="34" charset="-120"/>
              </a:rPr>
              <a:t>kann durch seinen Besitz Ämter übernehmen</a:t>
            </a:r>
            <a:endParaRPr lang="en-US" sz="1050" dirty="0"/>
          </a:p>
        </p:txBody>
      </p:sp>
      <p:sp>
        <p:nvSpPr>
          <p:cNvPr id="28" name="Shape 26"/>
          <p:cNvSpPr/>
          <p:nvPr/>
        </p:nvSpPr>
        <p:spPr>
          <a:xfrm>
            <a:off x="8106156" y="1481328"/>
            <a:ext cx="0" cy="256032"/>
          </a:xfrm>
          <a:prstGeom prst="line">
            <a:avLst/>
          </a:prstGeom>
          <a:noFill/>
          <a:ln w="12700">
            <a:solidFill>
              <a:srgbClr val="998C77"/>
            </a:solidFill>
            <a:prstDash val="solid"/>
          </a:ln>
        </p:spPr>
      </p:sp>
      <p:sp>
        <p:nvSpPr>
          <p:cNvPr id="29" name="Shape 27"/>
          <p:cNvSpPr/>
          <p:nvPr/>
        </p:nvSpPr>
        <p:spPr>
          <a:xfrm>
            <a:off x="7452360" y="1755648"/>
            <a:ext cx="1307592" cy="2103120"/>
          </a:xfrm>
          <a:prstGeom prst="roundRect">
            <a:avLst>
              <a:gd name="adj" fmla="val 5594"/>
            </a:avLst>
          </a:prstGeom>
          <a:solidFill>
            <a:srgbClr val="F4ECDE"/>
          </a:solidFill>
          <a:ln w="12700">
            <a:solidFill>
              <a:srgbClr val="F4ECDE"/>
            </a:solidFill>
            <a:prstDash val="solid"/>
          </a:ln>
        </p:spPr>
      </p:sp>
      <p:sp>
        <p:nvSpPr>
          <p:cNvPr id="30" name="Text 28"/>
          <p:cNvSpPr txBox="1"/>
          <p:nvPr/>
        </p:nvSpPr>
        <p:spPr>
          <a:xfrm>
            <a:off x="7525512" y="1828800"/>
            <a:ext cx="1161288" cy="566928"/>
          </a:xfrm>
          <a:prstGeom prst="rect">
            <a:avLst/>
          </a:prstGeom>
          <a:noFill/>
          <a:ln/>
        </p:spPr>
        <p:txBody>
          <a:bodyPr wrap="square" lIns="0" tIns="0" rIns="0" bIns="0" rtlCol="0" anchor="ctr"/>
          <a:lstStyle/>
          <a:p>
            <a:pPr algn="ctr" indent="0" marL="0">
              <a:buNone/>
            </a:pPr>
            <a:r>
              <a:rPr lang="en-US" sz="1200" b="1" dirty="0">
                <a:solidFill>
                  <a:srgbClr val="2B2318"/>
                </a:solidFill>
                <a:latin typeface="Calibri" pitchFamily="34" charset="0"/>
                <a:ea typeface="Calibri" pitchFamily="34" charset="-122"/>
                <a:cs typeface="Calibri" pitchFamily="34" charset="-120"/>
              </a:rPr>
              <a:t>Zurück­gekaufter Schuldsklave</a:t>
            </a:r>
            <a:endParaRPr lang="en-US" sz="1200" dirty="0"/>
          </a:p>
        </p:txBody>
      </p:sp>
      <p:sp>
        <p:nvSpPr>
          <p:cNvPr id="31" name="Text 29"/>
          <p:cNvSpPr txBox="1"/>
          <p:nvPr/>
        </p:nvSpPr>
        <p:spPr>
          <a:xfrm>
            <a:off x="7525512" y="2423160"/>
            <a:ext cx="1161288" cy="1371600"/>
          </a:xfrm>
          <a:prstGeom prst="rect">
            <a:avLst/>
          </a:prstGeom>
          <a:noFill/>
          <a:ln/>
        </p:spPr>
        <p:txBody>
          <a:bodyPr wrap="square" lIns="0" tIns="0" rIns="0" bIns="0" rtlCol="0" anchor="t"/>
          <a:lstStyle/>
          <a:p>
            <a:pPr algn="ctr" indent="0" marL="0">
              <a:buNone/>
            </a:pPr>
            <a:r>
              <a:rPr lang="en-US" sz="1050" dirty="0">
                <a:solidFill>
                  <a:srgbClr val="5A5044"/>
                </a:solidFill>
                <a:latin typeface="Calibri" pitchFamily="34" charset="0"/>
                <a:ea typeface="Calibri" pitchFamily="34" charset="-122"/>
                <a:cs typeface="Calibri" pitchFamily="34" charset="-120"/>
              </a:rPr>
              <a:t>wieder frei und Bürger</a:t>
            </a:r>
            <a:endParaRPr lang="en-US" sz="1050" dirty="0"/>
          </a:p>
        </p:txBody>
      </p:sp>
      <p:sp>
        <p:nvSpPr>
          <p:cNvPr id="32" name="Shape 30"/>
          <p:cNvSpPr/>
          <p:nvPr/>
        </p:nvSpPr>
        <p:spPr>
          <a:xfrm>
            <a:off x="457200" y="4023360"/>
            <a:ext cx="8229600" cy="457200"/>
          </a:xfrm>
          <a:prstGeom prst="roundRect">
            <a:avLst>
              <a:gd name="adj" fmla="val 16000"/>
            </a:avLst>
          </a:prstGeom>
          <a:solidFill>
            <a:srgbClr val="2B2318"/>
          </a:solidFill>
          <a:ln w="12700">
            <a:solidFill>
              <a:srgbClr val="2B2318"/>
            </a:solidFill>
            <a:prstDash val="solid"/>
          </a:ln>
        </p:spPr>
      </p:sp>
      <p:sp>
        <p:nvSpPr>
          <p:cNvPr id="33" name="Text 31"/>
          <p:cNvSpPr txBox="1"/>
          <p:nvPr/>
        </p:nvSpPr>
        <p:spPr>
          <a:xfrm>
            <a:off x="640080" y="4023360"/>
            <a:ext cx="78638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Frau eines Bürgers: steht nicht auf der Linie. Sie kommt in Solons Reform gar nicht vor.</a:t>
            </a:r>
            <a:endParaRPr lang="en-US" sz="1200" dirty="0"/>
          </a:p>
        </p:txBody>
      </p:sp>
      <p:sp>
        <p:nvSpPr>
          <p:cNvPr id="34" name="Text 32"/>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35" name="Text 33"/>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AUSBLICK · LB S. 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Und dann?</a:t>
            </a:r>
            <a:endParaRPr lang="en-US" sz="2800" dirty="0"/>
          </a:p>
        </p:txBody>
      </p:sp>
      <p:sp>
        <p:nvSpPr>
          <p:cNvPr id="4" name="Shape 2"/>
          <p:cNvSpPr/>
          <p:nvPr/>
        </p:nvSpPr>
        <p:spPr>
          <a:xfrm>
            <a:off x="457200" y="1371600"/>
            <a:ext cx="8229600" cy="1554480"/>
          </a:xfrm>
          <a:prstGeom prst="roundRect">
            <a:avLst>
              <a:gd name="adj" fmla="val 4706"/>
            </a:avLst>
          </a:prstGeom>
          <a:solidFill>
            <a:srgbClr val="3A3024"/>
          </a:solidFill>
          <a:ln w="12700">
            <a:solidFill>
              <a:srgbClr val="3A3024"/>
            </a:solidFill>
            <a:prstDash val="solid"/>
          </a:ln>
        </p:spPr>
      </p:sp>
      <p:sp>
        <p:nvSpPr>
          <p:cNvPr id="5" name="Text 3"/>
          <p:cNvSpPr txBox="1"/>
          <p:nvPr/>
        </p:nvSpPr>
        <p:spPr>
          <a:xfrm>
            <a:off x="731520" y="1481328"/>
            <a:ext cx="7680960" cy="1325880"/>
          </a:xfrm>
          <a:prstGeom prst="rect">
            <a:avLst/>
          </a:prstGeom>
          <a:noFill/>
          <a:ln/>
        </p:spPr>
        <p:txBody>
          <a:bodyPr wrap="square" lIns="0" tIns="0" rIns="0" bIns="0" rtlCol="0" anchor="ctr"/>
          <a:lstStyle/>
          <a:p>
            <a:pPr indent="0" marL="0">
              <a:buNone/>
            </a:pPr>
            <a:r>
              <a:rPr lang="en-US" sz="1700" i="1" dirty="0">
                <a:solidFill>
                  <a:srgbClr val="FFFFFF"/>
                </a:solidFill>
                <a:latin typeface="Cambria" pitchFamily="34" charset="0"/>
                <a:ea typeface="Cambria" pitchFamily="34" charset="-122"/>
                <a:cs typeface="Cambria" pitchFamily="34" charset="-120"/>
              </a:rPr>
              <a:t>„Obwohl Solon sich bemüht hatte, durch Augenmaß und Ausgleich nach allen Seiten seinem Werk Dauerhaftigkeit zu verleihen, fühlten sich doch viele aus unterschiedlichen Motiven von seiner Reform enttäuscht.“</a:t>
            </a:r>
            <a:endParaRPr lang="en-US" sz="1700" dirty="0"/>
          </a:p>
        </p:txBody>
      </p:sp>
      <p:sp>
        <p:nvSpPr>
          <p:cNvPr id="6" name="Text 4"/>
          <p:cNvSpPr txBox="1"/>
          <p:nvPr/>
        </p:nvSpPr>
        <p:spPr>
          <a:xfrm>
            <a:off x="457200" y="3246120"/>
            <a:ext cx="548640" cy="548640"/>
          </a:xfrm>
          <a:prstGeom prst="ellipse">
            <a:avLst/>
          </a:prstGeom>
          <a:solidFill>
            <a:srgbClr val="D9A441"/>
          </a:solidFill>
          <a:ln/>
        </p:spPr>
        <p:txBody>
          <a:bodyPr wrap="square" lIns="0" tIns="0" rIns="0" bIns="0" rtlCol="0" anchor="ctr"/>
          <a:lstStyle/>
          <a:p>
            <a:pPr algn="ctr" indent="0" marL="0">
              <a:buNone/>
            </a:pPr>
            <a:r>
              <a:rPr lang="en-US" sz="2200" b="1" dirty="0">
                <a:solidFill>
                  <a:srgbClr val="2B2318"/>
                </a:solidFill>
                <a:latin typeface="Cambria" pitchFamily="34" charset="0"/>
                <a:ea typeface="Cambria" pitchFamily="34" charset="-122"/>
                <a:cs typeface="Cambria" pitchFamily="34" charset="-120"/>
              </a:rPr>
              <a:t>?</a:t>
            </a:r>
            <a:endParaRPr lang="en-US" sz="2200" dirty="0"/>
          </a:p>
        </p:txBody>
      </p:sp>
      <p:sp>
        <p:nvSpPr>
          <p:cNvPr id="7" name="Text 5"/>
          <p:cNvSpPr txBox="1"/>
          <p:nvPr/>
        </p:nvSpPr>
        <p:spPr>
          <a:xfrm>
            <a:off x="1188720" y="3246120"/>
            <a:ext cx="740664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Wer war enttäuscht, und was könnte jetzt passieren?</a:t>
            </a:r>
            <a:endParaRPr lang="en-US" sz="2000" dirty="0"/>
          </a:p>
        </p:txBody>
      </p:sp>
      <p:sp>
        <p:nvSpPr>
          <p:cNvPr id="8" name="Text 6"/>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Von der Polis zur Krise</dc:title>
  <dc:subject>PptxGenJS Presentation</dc:subject>
  <dc:creator>PptxGenJS</dc:creator>
  <cp:lastModifiedBy>PptxGenJS</cp:lastModifiedBy>
  <cp:revision>1</cp:revision>
  <dcterms:created xsi:type="dcterms:W3CDTF">2026-09-30T07:12:41Z</dcterms:created>
  <dcterms:modified xsi:type="dcterms:W3CDTF">2026-09-30T07:12:41Z</dcterms:modified>
</cp:coreProperties>
</file>