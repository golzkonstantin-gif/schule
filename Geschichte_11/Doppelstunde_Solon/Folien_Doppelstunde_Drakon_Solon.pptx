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3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Direkt zur Urteilsampel weitergehen.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0–7 Min. Pro Aussage ca. 40 Sekunden. Nur bei Uneinigkeit zwei Schüler kurz begründen lassen. Lösungen stehen in den Notizen der folgenden Folien.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= Beschreibung. Beschreibung: überprüfbare Tatsache.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= Beschreibung. Beschreibung: überprüfbare Tatsache.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2 = Sachurteil. Sachurteil: erklärt Ursache und Folge aus den Bedingungen der Zeit.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= Sachurteil. Sachurteil: erklärt Ursache und Folge aus den Bedingungen der Zeit.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3 = Werturteil. Werturteil, aber pauschal: kein Maßstab, keine Begründung. Nachfragen: Was müsste ergänzt werden?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= Werturteil. Werturteil, aber pauschal: kein Maßstab, keine Begründung. Nachfragen: Was müsste ergänzt werden?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= Beschreibung. Beschreibung (LB S. 20).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= Beschreibung. Beschreibung (LB S. 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2 = Sachurteil. Sachurteil: begründet, aus der Zeit heraus.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= Sachurteil. Sachurteil: begründet, aus der Zeit heraus.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3 = Werturteil. Gutes Werturteil: Maßstab offengelegt, begründet. Vergleich mit Aussage 3.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= Werturteil. Gutes Werturteil: Maßstab offengelegt, begründet. Vergleich mit Aussage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= Beschreibung. Beschreibung (LB S. 20).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= Beschreibung. Beschreibung (LB S. 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2 = Sachurteil. Sachurteil aus einer Perspektive. Leitet zur Krise über: Wie sahen das die Bauern?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= Sachurteil. Sachurteil aus einer Perspektive. Leitet zur Krise über: Wie sahen das die Bauern?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7–17 Min. Einzelarbeit, dann Vergleich mit dem Nachbarn. Die Schüler schreiben die Nummern mit Lösungswort ins Heft oder füllen das ausgedruckte Blatt aus. Neue Begriffe: Chora (Umland; kam schon auf der Folie zum Aufbau der Polis vor) und Synoikismos (Zusammenschluss Attikas, LB S. 20). Distraktoren: Demokratie, Monarchie.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Bewusst offen lassen: Was passiert, wenn die Bauern ihre Schulden nicht zurückzahlen können? Die Frage führt zur Hörprobe und zur Krise.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17–18 Min. Lösung zeigen, Paare korrigieren selbst. Übrig bleiben Demokratie und Monarchie. Zwei Schüler nennen kurz ihre Vermutung zur Schlussfrage – an der Tafel festhalten, sie wird durch die Hörprobe bestätigt.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18–25 Min. 5 Min. schreiben, 2 Min. Partnercheck. Holt nach, was in der letzten Stunde nicht mehr geschafft wurde. Jede begründete Wahl ist zulässig (Geographie, Landmangel, Schutzbedürfnis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25–30 Min. Auftrag vor dem Abspielen geben. Danach die Problemtabelle an die Tafel (nächste Folie). Falls die Hörprobe überarbeitet wird: Audio auf dieser Folie ersetzen (Rechtsklick &gt; Audio ändern).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Tabelle an die Tafel schreiben oder diese Folie zeigen. Die Schüler übernehmen sie ins Heft und füllen die Spalten in den nächsten Phasen 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30–38 Min. Erwartung: P1 ✘ (Schuldknechtschaft bleibt), P2 ✘, P3 ~ (geschriebenes, verbindliches Recht, 51 Richter, Blutrache aufgehoben; Vollzug bleibt bei der Sippe), P4 ✘, P5 ✘. Das Beispiel P3 bewusst stehen lassen – es zeigt, wie ein Beleg aussieht.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38–53 Min. Wichtig: Jeder liest nur seinen Teil – der Partner braucht die Erklärung, um die Spalte ausfüllen zu können.
A findet: Schulden getilgt, Schuldknechtschaft aufgehoben, Versklavte zurückgekauft, keine Zwangsenteignung der Grundherren, Förderung des Mittelstands.
B findet: vier Klassen nach Besitz, Theten nur aktives Wahlrecht, Archonten nur aus der 1. Klasse, Volksversammlung stimmt ab, wählt Beamte, Rat der 400 bereitet vor, Klagerecht jedes Bürgers, Areopag als Aufsicht.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53–57 Min. Video läuft ca. 1 Minute. Die Schlussfrage im Video („Ist das schon Demokratie?“) kann kurz stehen bleiben – sie wird in der Beurteilung wieder aufgegriffen.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57–63 Min. Erst NACH der Besprechung zeigen. Begründungen:
P1: Drakon ✘ / Solon ✔ Schulden getilgt, Verbot der Schuldknechtschaft, Rückkauf.
P2: beide ✘ – Solon lehnt die Zwangsenteignung ab.
P3: Drakon ~ geschriebenes Recht, Ende der Blutrache, aber strenge Strafen / Solon ✔ Klagerecht jedes Bürgers.
P4: Solon ~ Rechte nach Besitz statt Herkunft, Volksversammlung gestärkt – aber Theten nicht wählbar, Archonten nur 1. Klasse.
P5: Solon ~ zunächst Beruhigung, bald neue bürgerkriegsähnliche Kämpfe (LB S. 22).
Abweichende, gut begründete Einschätzungen sind zulässig.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63–80 Min. 12 Min. schreiben, 5 Min. Partnercheck. „Beurteile, inwieweit …“ ist ein Abitur-Operator – ggf. kurz darauf hinweisen. Zeit knapp? Werturteil als Hausaufgabe.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80–88 Min. Figurenkarten ausgedruckt an die Tafel. Mögliche Einordnung: Schuldsklave und Kleinbauer gewinnen (Freiheit, Schuldenerlass), aber ohne Land; reicher Händler gewinnt politisch; Großgrundbesitzer verliert Forderungen, behält Land; verarmter Adliger verliert Einfluss; Thete gewinnt Stimmrecht, aber nicht wählbar. Frauen: kommen in der Reform gar nicht vor.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88–90 Min. Überleitung zu Peisistratos. Die Figurenkarten an der Tafel liefern die Antwort: die, die links auf der Linie hängen.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audio" Target="../media/media-23-1.mp3"/><Relationship Id="rId2" Type="http://schemas.microsoft.com/office/2007/relationships/media" Target="../media/media-23-1.mp3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7-1.mp4"/><Relationship Id="rId2" Type="http://schemas.microsoft.com/office/2007/relationships/media" Target="../media/media-27-1.mp4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GESCHICHTE · KLASSE 11 · DOPPELSTUNDE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Von der Polis zur Krise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Athen um 600 v. Chr.: Wer löst die Krise? Drakon und Solon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0040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5A504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Wiederholen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320040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Untersuchen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320040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AD4426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Beurteilen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· PLENUM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Urteilsampel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zeige euch Aussagen zur griechischen Polis. Zeigt gleichzeitig mit den Fingern, um welche Art von Aussage es sich handelt.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5A5044"/>
          </a:solidFill>
          <a:ln w="12700">
            <a:solidFill>
              <a:srgbClr val="5A50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0632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429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246120" y="21031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21945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30632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3429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035040" y="21031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AD4426"/>
          </a:solidFill>
          <a:ln w="12700">
            <a:solidFill>
              <a:srgbClr val="AD44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0" y="21945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0632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429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überlegen, dann auf mein Zeichen alle gleichzeitig zeigen.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1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„Das griechische Festland ist von Gebirgen durchzogen.“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1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„Das griechische Festland ist von Gebirgen durchzogen.“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5A5044"/>
          </a:solidFill>
          <a:ln w="12700">
            <a:solidFill>
              <a:srgbClr val="5A50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50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Beschreibung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überprüfbare Tatsache. Hier wird nichts bewertet.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2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„Weil Gebirge die Siedlungen trennten, entstanden viele kleine, unabhängige Poleis statt eines großen Reiches.“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2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„Weil Gebirge die Siedlungen trennten, entstanden viele kleine, unabhängige Poleis statt eines großen Reiches.“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Sachurteil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Erklärt Ursache und Folge aus den Bedingungen der damaligen Zeit („Weil …“).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3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„Dass sich die Griechen nie zu einem Staat zusammenschlossen, war ein Fehler.“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3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„Dass sich die Griechen nie zu einem Staat zusammenschlossen, war ein Fehler.“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AD4426"/>
          </a:solidFill>
          <a:ln w="12700">
            <a:solidFill>
              <a:srgbClr val="AD44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4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Werturteil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Wertet („ein Fehler“), aber pauschal: Maßstab und Begründung fehlen.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4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„Um 700 v. Chr. schlossen sich die Gemeinden Attikas zur Polis Athen zusammen.“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4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„Um 700 v. Chr. schlossen sich die Gemeinden Attikas zur Polis Athen zusammen.“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5A5044"/>
          </a:solidFill>
          <a:ln w="12700">
            <a:solidFill>
              <a:srgbClr val="5A50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50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Beschreibung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überprüfbare Tatsache (LB S. 20).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5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„Die Kolonisation entlastete die Poleis, weil sie Landmangel und Bevölkerungsdruck verringerte.“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5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„Die Kolonisation entlastete die Poleis, weil sie Landmangel und Bevölkerungsdruck verringerte.“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Sachurteil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Beurteilt die Wirkung im Zusammenhang der damaligen Zeit und begründet („weil …“).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6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„Gemessen am Recht aller Völker auf ihr Land war die Verdrängung Einheimischer durch griechische Siedler Unrecht.“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6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„Gemessen am Recht aller Völker auf ihr Land war die Verdrängung Einheimischer durch griechische Siedler Unrecht.“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AD4426"/>
          </a:solidFill>
          <a:ln w="12700">
            <a:solidFill>
              <a:srgbClr val="AD44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4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Werturteil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Wertet aus heutiger Sicht, nennt den Maßstab und begründet: ein gutes Werturteil.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7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„Die Akropolis war Götter- und Herrschersitz.“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7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„Die Akropolis war Götter- und Herrschersitz.“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5A5044"/>
          </a:solidFill>
          <a:ln w="12700">
            <a:solidFill>
              <a:srgbClr val="5A50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50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Beschreibung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überprüfbare Tatsache (LB S. 20).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8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„Aus Sicht der Adligen war es selbstverständlich, dass nur sie Recht sprachen.“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8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„Aus Sicht der Adligen war es selbstverständlich, dass nur sie Recht sprachen.“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Sachurteil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Beurteilt aus der Sicht einer Gruppe von damals. Ob das richtig war, sagt der Satz nicht.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· EINZELARBEIT · LÜCKENTEXT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entstanden die Poleis?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Ergänzt die Lücken 1–10. Zwei Wörter bleiben übrig. Fett gedruckt: neue Begriffe.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BF8F2"/>
          </a:solidFill>
          <a:ln w="12700">
            <a:solidFill>
              <a:srgbClr val="E6E0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72768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griechische Festland ist von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__________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durchzogen. Fruchtbares Ackerland gibt es nur in kleinen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__________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den Küsten und in den Tälern. Weil die Berge die Siedlungen voneinander trennten, entstand kein großes Reich, sondern viele kleine, unabhängige Stadtstaaten: die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__________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Zu jeder Polis gehörten die Stadt mit dem Burgberg, der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__________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und dem Marktplatz, der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__________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sowie das Umland mit Feldern und Weiden, die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Athen entstand durch den Zusammenschluss vieler Dörfer und Gemeinden der Halbinsel Attika. Dieser Vorgang, der um 700 v. Chr. abgeschlossen war, heißt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Synoikismos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(griechisch: „Zusammensiedlung“).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490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WORTSPEICHER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4023360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4023360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Akropolis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4023360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Aristokratie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4023360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Demokratie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4023360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Ebenen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07408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Gebirgen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4407408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knapper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4407408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Kolonisation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4407408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Monarchie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4407408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Poleis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4407408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Schulden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· EINZELARBEIT · LÜCKENTEXT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entstanden die Poleis?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Ergänzt die Lücken 6–10.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BF8F2"/>
          </a:solidFill>
          <a:ln w="12700">
            <a:solidFill>
              <a:srgbClr val="E6E0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72768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die Bevölkerung wuchs, wurde das Ackerland immer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(6) __________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Viele Poleis schickten deshalb Bürger aus, die an den Küsten des Mittelmeers und des Schwarzen Meeres neue Siedlungen gründeten. Diesen Vorgang nennt man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(7) __________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meiste Land gehörte wenigen reichen Familien, dem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(8) __________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Sie hatten auch die politische Macht. Diese Herrschaft der „Besten“ nennt man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(9) __________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Viele Kleinbauern dagegen konnten von ihrem Land kaum leben. Sie liehen sich Saatgut und Getreide bei den Adligen und gerieten so in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(10) __________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490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WORTSPEICHER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4023360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4023360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Akropolis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4023360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Aristokratie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4023360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Demokratie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4023360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Ebenen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07408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Gebirgen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4407408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knapper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4407408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Kolonisation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4407408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Monarchie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4407408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Poleis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4407408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Schulden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LÜCKENTEXT · LÖSUNG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entstanden die Poleis?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griechische Festland ist von </a:t>
            </a:r>
            <a:pPr indent="0" marL="0">
              <a:buNone/>
            </a:pPr>
            <a:r>
              <a:rPr lang="en-US" sz="115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Gebirgen</a:t>
            </a:r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durchzogen. Fruchtbares Ackerland gibt es nur in kleinen </a:t>
            </a:r>
            <a:pPr indent="0" marL="0">
              <a:buNone/>
            </a:pPr>
            <a:r>
              <a:rPr lang="en-US" sz="115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Ebenen</a:t>
            </a:r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den Küsten und in den Tälern. Weil die Berge die Siedlungen voneinander trennten, entstand kein großes Reich, sondern viele kleine, unabhängige Stadtstaaten: die </a:t>
            </a:r>
            <a:pPr indent="0" marL="0">
              <a:buNone/>
            </a:pPr>
            <a:r>
              <a:rPr lang="en-US" sz="115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Poleis</a:t>
            </a:r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Zu jeder Polis gehörten die Stadt mit dem Burgberg, der </a:t>
            </a:r>
            <a:pPr indent="0" marL="0">
              <a:buNone/>
            </a:pPr>
            <a:r>
              <a:rPr lang="en-US" sz="115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Akropolis</a:t>
            </a:r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und dem Marktplatz, der </a:t>
            </a:r>
            <a:pPr indent="0" marL="0">
              <a:buNone/>
            </a:pPr>
            <a:r>
              <a:rPr lang="en-US" sz="115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Agora</a:t>
            </a:r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sowie das Umland mit Feldern und Weiden, die </a:t>
            </a:r>
            <a:pPr indent="0" marL="0">
              <a:buNone/>
            </a:pPr>
            <a:r>
              <a:rPr lang="en-US" sz="115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</a:t>
            </a:r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Athen entstand durch den Zusammenschluss vieler Dörfer und Gemeinden der Halbinsel Attika. Dieser Vorgang, der um 700 v. Chr. abgeschlossen war, heißt </a:t>
            </a:r>
            <a:pPr indent="0" marL="0">
              <a:buNone/>
            </a:pPr>
            <a:r>
              <a:rPr lang="en-US" sz="115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Synoikismos</a:t>
            </a:r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(griechisch: „Zusammensiedlung“).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die Bevölkerung wuchs, wurde das Ackerland immer </a:t>
            </a:r>
            <a:pPr indent="0" marL="0">
              <a:buNone/>
            </a:pPr>
            <a:r>
              <a:rPr lang="en-US" sz="115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knapper</a:t>
            </a:r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Viele Poleis schickten deshalb Bürger aus, die an den Küsten des Mittelmeers und des Schwarzen Meeres neue Siedlungen gründeten. Diesen Vorgang nennt man </a:t>
            </a:r>
            <a:pPr indent="0" marL="0">
              <a:buNone/>
            </a:pPr>
            <a:r>
              <a:rPr lang="en-US" sz="115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Kolonisation</a:t>
            </a:r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meiste Land gehörte wenigen reichen Familien, dem </a:t>
            </a:r>
            <a:pPr indent="0" marL="0">
              <a:buNone/>
            </a:pPr>
            <a:r>
              <a:rPr lang="en-US" sz="115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Adel</a:t>
            </a:r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Sie hatten auch die politische Macht. Diese Herrschaft der „Besten“ nennt man </a:t>
            </a:r>
            <a:pPr indent="0" marL="0">
              <a:buNone/>
            </a:pPr>
            <a:r>
              <a:rPr lang="en-US" sz="115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Aristokratie</a:t>
            </a:r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Viele Kleinbauern dagegen konnten von ihrem Land kaum leben. Sie liehen sich Saatgut und Getreide bei den Adligen und gerieten so in </a:t>
            </a:r>
            <a:pPr indent="0" marL="0">
              <a:buNone/>
            </a:pPr>
            <a:r>
              <a:rPr lang="en-US" sz="115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Schulden</a:t>
            </a:r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4297680"/>
            <a:ext cx="8229600" cy="384048"/>
          </a:xfrm>
          <a:prstGeom prst="roundRect">
            <a:avLst>
              <a:gd name="adj" fmla="val 19048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9768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jetzt? Was passiert, wenn die Bauern ihre Schulden nicht zurückzahlen können?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· EINZELARBEIT · HEFT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Sachurteil formulieren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173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Welcher Faktor war für die Entstehung der Poleis am wichtigsten?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4754880" cy="1691640"/>
          </a:xfrm>
          <a:prstGeom prst="roundRect">
            <a:avLst>
              <a:gd name="adj" fmla="val 4324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974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Schreibt 2–3 Sätze. Nutzt den Lückentext.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3375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„Im Kontext der damaligen Zeit war … am wichtigsten, da … Dies führte zu …“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40680" y="2560320"/>
            <a:ext cx="3246120" cy="1691640"/>
          </a:xfrm>
          <a:prstGeom prst="roundRect">
            <a:avLst>
              <a:gd name="adj" fmla="val 4324"/>
            </a:avLst>
          </a:prstGeom>
          <a:solidFill>
            <a:srgbClr val="FBF8F2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0" y="2697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D4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Partnercheck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0" y="3154680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89320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Maßstäbe der damaligen Zeit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0" y="3611880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35661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begründet (weil, da, führte zu)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· HÖRTEXT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Athen um 600 v. Chr.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Sek.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937760" cy="2377440"/>
          </a:xfrm>
          <a:prstGeom prst="roundRect">
            <a:avLst>
              <a:gd name="adj" fmla="val 3077"/>
            </a:avLst>
          </a:prstGeom>
          <a:solidFill>
            <a:srgbClr val="3A3024"/>
          </a:solidFill>
          <a:ln w="12700">
            <a:solidFill>
              <a:srgbClr val="3A30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54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Hörauftrag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6596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Notiert beim Hören: Welche Probleme hat Athen?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154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eure Vermutung vom Ende des Lückentextes?</a:t>
            </a:r>
            <a:endParaRPr lang="en-US" sz="14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217920" y="1920240"/>
            <a:ext cx="1280160" cy="12801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0" y="3291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Abspielen auf das Symbol klicken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TAFELBILD · INS HEFT ÜBERNEHMEN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löst die Krise?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297680"/>
                <a:gridCol w="1645920"/>
                <a:gridCol w="1645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Drakon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Schuldknechtschaft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P2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in den Händen weniger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P3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Recht nur beim Adel, Blutrache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P4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Politische Macht nur beim Adel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P5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Gefahr eines Bürgerkriegs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gelöst     ~ teilweise     ✘ nicht gelöst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PARTNERARBEIT · LB S. 20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Drakon: Was ändert er?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5120640" cy="2926080"/>
          </a:xfrm>
          <a:prstGeom prst="roundRect">
            <a:avLst>
              <a:gd name="adj" fmla="val 2500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5544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 im LB S. 20 den Abschnitt „Die Gesetzgebung des Drakon“.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77440"/>
            <a:ext cx="457200" cy="45720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Füllt die Spalte „Drakon“ aus: ✔, ~ oder ✘.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108960"/>
            <a:ext cx="457200" cy="45720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1089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Notiert zu jedem Feld ein Stichwort als Beleg aus dem Text.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06440" y="1325880"/>
            <a:ext cx="2880360" cy="2926080"/>
          </a:xfrm>
          <a:prstGeom prst="roundRect">
            <a:avLst>
              <a:gd name="adj" fmla="val 2540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508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P3  ~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6888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„geschriebenes Recht für alle Bürger, Blutrache aufgehoben, aber strenge Strafen“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PARTNERARBEIT · LESETANDEM · LB S. 20–22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Solon: Zwei Reformen, zwei Experten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08760"/>
            <a:ext cx="548640" cy="54864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4813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737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Sozialreform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2402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20 ab „Die Reform Solons“ bis S. 21 „… fremde Handwerker ins Land“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92040" y="1508760"/>
            <a:ext cx="548640" cy="548640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14813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B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1737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Verfassungsreform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2402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21 ab „Bei der Reform des Verfassungslebens …“ bis S. 22 „… M4, M5)“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015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03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lesen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081528" y="3767328"/>
            <a:ext cx="146304" cy="0"/>
          </a:xfrm>
          <a:prstGeom prst="line">
            <a:avLst/>
          </a:prstGeom>
          <a:noFill/>
          <a:ln w="28575">
            <a:solidFill>
              <a:srgbClr val="998C7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246120" y="329184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29000" y="34015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+ 3 Min.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703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 Partner erklären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870448" y="3767328"/>
            <a:ext cx="146304" cy="0"/>
          </a:xfrm>
          <a:prstGeom prst="line">
            <a:avLst/>
          </a:prstGeom>
          <a:noFill/>
          <a:ln w="28575">
            <a:solidFill>
              <a:srgbClr val="998C7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035040" y="329184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17920" y="34015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3703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Spalte „Solon“ ausfüllen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ERKLÄRVIDEO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Solons Verfassung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Min.</a:t>
            </a:r>
            <a:endParaRPr lang="en-US" sz="11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57200" y="1280160"/>
            <a:ext cx="5394960" cy="30358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80760" y="1280160"/>
            <a:ext cx="2606040" cy="3035808"/>
          </a:xfrm>
          <a:prstGeom prst="roundRect">
            <a:avLst>
              <a:gd name="adj" fmla="val 2807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0936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Sehauftrag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1874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Prüft eure Einschätzung zu P4: Politische Macht nur beim Adel.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383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Bleibt ihr bei eurem Zeichen?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ABGLEICH · NUR STRITTIGE FELDER BESPRECHEN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Mögliche Lösung</a:t>
            </a:r>
            <a:endParaRPr 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297680"/>
                <a:gridCol w="1645920"/>
                <a:gridCol w="1645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Drakon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Schuldknechtschaft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P2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in den Händen weniger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P3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Recht nur beim Adel, Blutrache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P4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Politische Macht nur beim Adel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P5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Gefahr eines Bürgerkriegs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gelöst     ~ teilweise     ✘ nicht gelöst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EINZELARBEIT · HEFT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Schriftliche Beurteilung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Min.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3258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Beurteile, inwieweit es Drakon und Solon gelang, die Krise Athens zu lösen.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31720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03120" y="2331720"/>
            <a:ext cx="3383280" cy="822960"/>
          </a:xfrm>
          <a:prstGeom prst="roundRect">
            <a:avLst>
              <a:gd name="adj" fmla="val 888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0280" y="2404872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Sätze, gestützt auf eure Tabelle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262432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„Aus Sicht der damaligen Zeit gelang es Solon weitgehend / nur teilweise …, da …“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319272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103120" y="3319272"/>
            <a:ext cx="3383280" cy="822960"/>
          </a:xfrm>
          <a:prstGeom prst="roundRect">
            <a:avLst>
              <a:gd name="adj" fmla="val 888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339242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Sätze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61188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„Gemessen an … halte ich …, weil …“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2331720"/>
            <a:ext cx="3017520" cy="1810512"/>
          </a:xfrm>
          <a:prstGeom prst="roundRect">
            <a:avLst>
              <a:gd name="adj" fmla="val 4040"/>
            </a:avLst>
          </a:prstGeom>
          <a:solidFill>
            <a:srgbClr val="FBF8F2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52160" y="24048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D4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Partnercheck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277977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44768" y="2743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Sachurteil: Maßstäbe der Zeit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52160" y="3118104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44768" y="30815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Sachurteil: mit Belegen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852160" y="3456432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44768" y="34198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Werturteil: Maßstab genannt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52160" y="379476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44768" y="37581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Werturteil: begründet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 · TAFEL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gewinnt, wer verliert?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Hängt eine Figur an die passende Stelle der Linie und begründet in einem Satz.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240280"/>
            <a:ext cx="7680960" cy="0"/>
          </a:xfrm>
          <a:prstGeom prst="line">
            <a:avLst/>
          </a:prstGeom>
          <a:noFill/>
          <a:ln w="38100">
            <a:solidFill>
              <a:srgbClr val="2B2318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457200" y="2377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verliert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2377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C7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926080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Kleinbauer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926080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Großgrundbesitzer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926080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Reicher Händler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008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Verarmter Adliger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3493008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Zurückgekaufter Schuldsklave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3493008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Tagelöhner (Thete)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wo steht eine Frau?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 · LB S. 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 dann?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3A3024"/>
          </a:solidFill>
          <a:ln w="12700">
            <a:solidFill>
              <a:srgbClr val="3A30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81328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„Obwohl Solon sich bemüht hatte, durch Augenmaß und Ausgleich nach allen Seiten seinem Werk Dauerhaftigkeit zu verleihen, fühlten sich doch viele aus unterschiedlichen Motiven von seiner Reform enttäuscht.“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246120"/>
            <a:ext cx="548640" cy="548640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324612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war enttäuscht, und was könnte jetzt passieren?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Von der Polis zur Krise</dc:title>
  <dc:subject>PptxGenJS Presentation</dc:subject>
  <dc:creator>PptxGenJS</dc:creator>
  <cp:lastModifiedBy>PptxGenJS</cp:lastModifiedBy>
  <cp:revision>1</cp:revision>
  <dcterms:created xsi:type="dcterms:W3CDTF">2026-09-29T16:03:07Z</dcterms:created>
  <dcterms:modified xsi:type="dcterms:W3CDTF">2026-09-29T16:03:07Z</dcterms:modified>
</cp:coreProperties>
</file>