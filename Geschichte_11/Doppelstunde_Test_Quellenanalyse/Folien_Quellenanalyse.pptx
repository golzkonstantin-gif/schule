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Teil 1 (0–45 Min.). Tests verdeckt austeilen, gemeinsam starten. Uhrzeit für das Ende an die Tafel. 5 Minuten vor Schluss ansagen. Erwartungshorizont und Notenschlüssel: Test_Erwartungshorizont_Notenschluessel.pdf.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einsammeln. Austeilen: Übersicht „So interpretierst du eine Textquelle“ (für den Hefter) und Arbeitsblatt „Quelle und Schreibplan“ (A4, doppelseitig).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Min. (nach dem Test). Ziel vorlesen, es steht auch an der Seitentafel. „Heute lernt ihr, wie man in der Klausur mit einer Quelle umgeht – Schritt für Schritt.“ * = nur bei Zeit.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Min. Allein ins Heft: R oder F, falsche Aussagen berichtigen (2). Partnercheck (1). Stichproben bei 4–6 Schülern unterschiedlichen Niveaus (1). Quelle = Material aus der Vergangenheit; Darstellung = später darüber geschrieben oder gezeichnet.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 Min. Vergleichen. Gelenkstelle: „Das Schaubild ist eine Darstellung. Heute arbeiten wir mit einer Quelle – mit dem, was ein Grieche selbst über Kleisthenes geschrieben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 Min. Bedeutung erklären (direkt). Die Arbeitsschritte sind die der Fachschaft (Übersicht im Hefter). Operatoren: analysieren (Schritt 2), einordnen/erläutern (3), beurteilen = Sachurteil, bewerten/Stellung nehmen = Werturteil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Min. Erklärportion 1 (ca. 2 Min.) mit der Übersicht im Hefter: Die Schritte sind wie ein Trichter – erst die Frage, dann die Quelle selbst, dann der Zusammenhang, zuletzt das Urteil. Die Glaubwürdigkeit gehört ins Sachurteil, die eigene Meinung mit Maßstab ins Werturteil. Prüffragen an 4–6 Schüler: „Was kommt nach der Themenfrage?“ – „In welchem Schritt darf ich sagen, was ich davon halte?“ (4b) – „Wohin gehört: Ist die Quelle glaubwürdig?“ (Sachurteil).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Heute geben wir die Themenfrage vor. In der Klausur steht sie oft in der Aufgabe; sonst stellen die Schüler sie nach dem ersten Lesen selbst auf (Beispiel M11: „Ein Leben in katastrophalen Verhältnissen?“).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 Min. Erklärportion 2: fünf Fragen, alle Antworten stehen im Kasten zum Autor oder unter der Quelle (Nachweis).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 Min. Vormachen an einer anderen Quelle (Solon kennen sie): laut denken. „Wer hat das geschrieben? Solon selbst – also war er dabei. Was für ein Text? Ein Gedicht. Wann? Um 590, kurz nach seinen Reformen. Für wen? Für die Athener. Worüber? Er verteidigt seine Reformen.“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12–13 Min. Satz vorlesen, Bausteine zeigen. Warnung vor dem Fehler: Viele schreiben „Augenzeuge“, obwohl der Autor viel später lebte. Prüffragen an 3–4 Schüler: „Woran erkennst du, ob der Autor dabei war?“ (Lebensdaten/Entstehungszeit mit dem Ereignis vergleichen).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13–17 Min. Erste Anwendung, allein (leicht, alle schaffen sie). Durch die Reihen gehen und mitlesen: Steht „Augenzeuge“ da? Steht die Zeit drin? Folie 12 (Kasten) groß stehen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Arbeitsgrundlage an die Wand (gekürzt; vollständig auf dem 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 Min. Zwei Schüler lesen ihren Satz vor (unterschiedliches Niveau), dann aufdecken. Vergleichen, im Blatt ergänzen. Gelenkstelle: „Jetzt wissen wir, wer spricht. Als Nächstes: Was sagt er eigentlich?“ Ist etwas unklar, hier nachsteuern, nicht weitergehen.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 Min. Erklärportion 3: Indirekte Rede zeigt, dass ich wiedergebe, was der Autor sagt – nicht, was stimmt. Prüffragen an 4–6 Schüler: „Mach daraus indirekte Rede: Er teilte die Bürger ein.“ (Er habe die Bürger eingeteilt.) – „Darf ich schreiben: Das war klug von ihm?“ (Nein, erst in Schritt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21–23 Min. Vormachen, laut denkend: „Zeile 1 bis 4 gehören zusammen: Es geht um den Machtkampf. Wo endet der Abschnitt? Ab Zeile 5 kommt etwas Neues – die Phylen. Was ist der Kern? Kleisthenes gewinnt das Volk. Ich schreibe es in indirekter Rede und setze die Zeilen dahinter.“ Das Beispiel steht schon im Schreibplan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23–33 Min. Angeleitet → selbstständig (Teillösungen im Schreibplan werden weniger). Partnerarbeit, beide schreiben. Umhergehen, mitlesen; Stolpersteine und Hilfsimpulse in der Handreichung. Die Quelle steht auf den nächsten Folien groß an der 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Arbeitsgrundlage an die Wand. Gleicher Wortlaut wie auf dem 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Arbeitsgrundlage an die Wand. Gleicher Wortlaut wie auf dem 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Arbeitsgrundlage an die Wand. Gleicher Wortlaut wie auf dem 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33–36 Min. Je Abschnitt ein Paar vom Platz vorlesen lassen, dann aufdecken. Andere Formulierungen sind richtig, wenn Kern, indirekte Rede und Zeilen stimmen.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Vergleichen, im Blatt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Vergleichen, im Blatt ergänzen.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vergleichen. Gelenkstelle: „Aristoteles erklärt, was Kleisthenes wollte – aber konnte er das wissen? Das prüfen wir im Urteil.“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*36–38 Min. Nur bei Zeit, sonst direkt zur Abschlussaufgabe. Kurz direkt erklären, zwei Prüffragen: „Woher wusste Aristoteles das?“ (aus älteren Schriften) – „Ist die Quelle deshalb wertlos?“ (nein, aber kein Augenzeugenbericht; er deutet die Reform aus seiner Zeit). Kontext, Sach- und Werturteil werden in der nächsten Doppelstunde vertieft.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38/40–43 Min. Prüft genau das Ziel (formale und inhaltliche Aspekte). Allein ins Heft, dann gezielt 3 Schüler unterschiedlichen Niveaus je einen Ratschlag vorlesen lassen. Diese Phase nie kürzen. Mögliche Ratschläge in der Handreichung.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 Min. Weitere gute Antworten: TATTEA-Angaben fehlen (Titel, Textsorte, Entstehung, Adressat); „Demokratie eingeführt“ steht so nicht in der Quelle.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 Min. Rückbezug aufs Ziel. Übersicht und Schreibplan im Hefter aufbewahren – sie sind die Vorlage für die Klausur.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40080" y="640080"/>
            <a:ext cx="7863840" cy="457200"/>
          </a:xfrm>
          <a:prstGeom prst="rect">
            <a:avLst/>
          </a:prstGeom>
          <a:noFill/>
          <a:ln/>
        </p:spPr>
        <p:txBody>
          <a:bodyPr wrap="square" lIns="0" tIns="0" rIns="0" bIns="0" rtlCol="0" anchor="t"/>
          <a:lstStyle/>
          <a:p>
            <a:pPr indent="0" marL="0">
              <a:buNone/>
            </a:pPr>
            <a:r>
              <a:rPr lang="en-US" sz="2700" b="1" spc="300" kern="0" dirty="0">
                <a:solidFill>
                  <a:srgbClr val="D9A441"/>
                </a:solidFill>
                <a:latin typeface="Calibri" pitchFamily="34" charset="0"/>
                <a:ea typeface="Calibri" pitchFamily="34" charset="-122"/>
                <a:cs typeface="Calibri" pitchFamily="34" charset="-120"/>
              </a:rPr>
              <a:t>TEIL 1</a:t>
            </a:r>
            <a:endParaRPr lang="en-US" sz="2700" dirty="0"/>
          </a:p>
        </p:txBody>
      </p:sp>
      <p:sp>
        <p:nvSpPr>
          <p:cNvPr id="3" name="Text 1"/>
          <p:cNvSpPr txBox="1"/>
          <p:nvPr/>
        </p:nvSpPr>
        <p:spPr>
          <a:xfrm>
            <a:off x="640080" y="1097280"/>
            <a:ext cx="786384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Test · 45 Minuten</a:t>
            </a:r>
            <a:endParaRPr lang="en-US" sz="4000" dirty="0"/>
          </a:p>
        </p:txBody>
      </p:sp>
      <p:sp>
        <p:nvSpPr>
          <p:cNvPr id="4" name="Text 2"/>
          <p:cNvSpPr txBox="1"/>
          <p:nvPr/>
        </p:nvSpPr>
        <p:spPr>
          <a:xfrm>
            <a:off x="640080" y="2148840"/>
            <a:ext cx="8046720" cy="502920"/>
          </a:xfrm>
          <a:prstGeom prst="rect">
            <a:avLst/>
          </a:prstGeom>
          <a:noFill/>
          <a:ln/>
        </p:spPr>
        <p:txBody>
          <a:bodyPr wrap="square" lIns="0" tIns="0" rIns="0" bIns="0" rtlCol="0" anchor="ctr"/>
          <a:lstStyle/>
          <a:p>
            <a:pPr indent="0" marL="0">
              <a:buNone/>
            </a:pPr>
            <a:r>
              <a:rPr lang="en-US" sz="2700" dirty="0">
                <a:solidFill>
                  <a:srgbClr val="E8DFD0"/>
                </a:solidFill>
                <a:latin typeface="Calibri" pitchFamily="34" charset="0"/>
                <a:ea typeface="Calibri" pitchFamily="34" charset="-122"/>
                <a:cs typeface="Calibri" pitchFamily="34" charset="-120"/>
              </a:rPr>
              <a:t>•  Tische auseinander, nur Stift auf dem Tisch.</a:t>
            </a:r>
            <a:endParaRPr lang="en-US" sz="2700" dirty="0"/>
          </a:p>
        </p:txBody>
      </p:sp>
      <p:sp>
        <p:nvSpPr>
          <p:cNvPr id="5" name="Text 3"/>
          <p:cNvSpPr txBox="1"/>
          <p:nvPr/>
        </p:nvSpPr>
        <p:spPr>
          <a:xfrm>
            <a:off x="640080" y="2697480"/>
            <a:ext cx="8046720" cy="502920"/>
          </a:xfrm>
          <a:prstGeom prst="rect">
            <a:avLst/>
          </a:prstGeom>
          <a:noFill/>
          <a:ln/>
        </p:spPr>
        <p:txBody>
          <a:bodyPr wrap="square" lIns="0" tIns="0" rIns="0" bIns="0" rtlCol="0" anchor="ctr"/>
          <a:lstStyle/>
          <a:p>
            <a:pPr indent="0" marL="0">
              <a:buNone/>
            </a:pPr>
            <a:r>
              <a:rPr lang="en-US" sz="2700" dirty="0">
                <a:solidFill>
                  <a:srgbClr val="E8DFD0"/>
                </a:solidFill>
                <a:latin typeface="Calibri" pitchFamily="34" charset="0"/>
                <a:ea typeface="Calibri" pitchFamily="34" charset="-122"/>
                <a:cs typeface="Calibri" pitchFamily="34" charset="-120"/>
              </a:rPr>
              <a:t>•  Name auf das Blatt.</a:t>
            </a:r>
            <a:endParaRPr lang="en-US" sz="2700" dirty="0"/>
          </a:p>
        </p:txBody>
      </p:sp>
      <p:sp>
        <p:nvSpPr>
          <p:cNvPr id="6" name="Text 4"/>
          <p:cNvSpPr txBox="1"/>
          <p:nvPr/>
        </p:nvSpPr>
        <p:spPr>
          <a:xfrm>
            <a:off x="640080" y="3246120"/>
            <a:ext cx="8046720" cy="502920"/>
          </a:xfrm>
          <a:prstGeom prst="rect">
            <a:avLst/>
          </a:prstGeom>
          <a:noFill/>
          <a:ln/>
        </p:spPr>
        <p:txBody>
          <a:bodyPr wrap="square" lIns="0" tIns="0" rIns="0" bIns="0" rtlCol="0" anchor="ctr"/>
          <a:lstStyle/>
          <a:p>
            <a:pPr indent="0" marL="0">
              <a:buNone/>
            </a:pPr>
            <a:r>
              <a:rPr lang="en-US" sz="2700" dirty="0">
                <a:solidFill>
                  <a:srgbClr val="E8DFD0"/>
                </a:solidFill>
                <a:latin typeface="Calibri" pitchFamily="34" charset="0"/>
                <a:ea typeface="Calibri" pitchFamily="34" charset="-122"/>
                <a:cs typeface="Calibri" pitchFamily="34" charset="-120"/>
              </a:rPr>
              <a:t>•  Zusatzaufgabe am Ende: +1 Punkt.</a:t>
            </a:r>
            <a:endParaRPr lang="en-US" sz="2700" dirty="0"/>
          </a:p>
        </p:txBody>
      </p:sp>
      <p:sp>
        <p:nvSpPr>
          <p:cNvPr id="7" name="Text 5"/>
          <p:cNvSpPr txBox="1"/>
          <p:nvPr/>
        </p:nvSpPr>
        <p:spPr>
          <a:xfrm>
            <a:off x="640080" y="3794760"/>
            <a:ext cx="8046720" cy="502920"/>
          </a:xfrm>
          <a:prstGeom prst="rect">
            <a:avLst/>
          </a:prstGeom>
          <a:noFill/>
          <a:ln/>
        </p:spPr>
        <p:txBody>
          <a:bodyPr wrap="square" lIns="0" tIns="0" rIns="0" bIns="0" rtlCol="0" anchor="ctr"/>
          <a:lstStyle/>
          <a:p>
            <a:pPr indent="0" marL="0">
              <a:buNone/>
            </a:pPr>
            <a:r>
              <a:rPr lang="en-US" sz="2700" dirty="0">
                <a:solidFill>
                  <a:srgbClr val="E8DFD0"/>
                </a:solidFill>
                <a:latin typeface="Calibri" pitchFamily="34" charset="0"/>
                <a:ea typeface="Calibri" pitchFamily="34" charset="-122"/>
                <a:cs typeface="Calibri" pitchFamily="34" charset="-120"/>
              </a:rPr>
              <a:t>•  Fertig? Blatt umdrehen, still sitzen bleiben.</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40080" y="914400"/>
            <a:ext cx="7863840" cy="457200"/>
          </a:xfrm>
          <a:prstGeom prst="rect">
            <a:avLst/>
          </a:prstGeom>
          <a:noFill/>
          <a:ln/>
        </p:spPr>
        <p:txBody>
          <a:bodyPr wrap="square" lIns="0" tIns="0" rIns="0" bIns="0" rtlCol="0" anchor="t"/>
          <a:lstStyle/>
          <a:p>
            <a:pPr indent="0" marL="0">
              <a:buNone/>
            </a:pPr>
            <a:r>
              <a:rPr lang="en-US" sz="2700" b="1" spc="300" kern="0" dirty="0">
                <a:solidFill>
                  <a:srgbClr val="D9A441"/>
                </a:solidFill>
                <a:latin typeface="Calibri" pitchFamily="34" charset="0"/>
                <a:ea typeface="Calibri" pitchFamily="34" charset="-122"/>
                <a:cs typeface="Calibri" pitchFamily="34" charset="-120"/>
              </a:rPr>
              <a:t>TEIL 2 · GESCHICHTE · KLASSE 11</a:t>
            </a:r>
            <a:endParaRPr lang="en-US" sz="2700" dirty="0"/>
          </a:p>
        </p:txBody>
      </p:sp>
      <p:sp>
        <p:nvSpPr>
          <p:cNvPr id="3" name="Text 1"/>
          <p:cNvSpPr txBox="1"/>
          <p:nvPr/>
        </p:nvSpPr>
        <p:spPr>
          <a:xfrm>
            <a:off x="640080" y="1417320"/>
            <a:ext cx="786384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Wie interpretiert man eine Quelle?</a:t>
            </a:r>
            <a:endParaRPr lang="en-US" sz="4000" dirty="0"/>
          </a:p>
        </p:txBody>
      </p:sp>
      <p:sp>
        <p:nvSpPr>
          <p:cNvPr id="4" name="Text 2"/>
          <p:cNvSpPr txBox="1"/>
          <p:nvPr/>
        </p:nvSpPr>
        <p:spPr>
          <a:xfrm>
            <a:off x="640080" y="2880360"/>
            <a:ext cx="7863840" cy="548640"/>
          </a:xfrm>
          <a:prstGeom prst="rect">
            <a:avLst/>
          </a:prstGeom>
          <a:noFill/>
          <a:ln/>
        </p:spPr>
        <p:txBody>
          <a:bodyPr wrap="square" lIns="0" tIns="0" rIns="0" bIns="0" rtlCol="0" anchor="t"/>
          <a:lstStyle/>
          <a:p>
            <a:pPr indent="0" marL="0">
              <a:buNone/>
            </a:pPr>
            <a:r>
              <a:rPr lang="en-US" sz="2700" dirty="0">
                <a:solidFill>
                  <a:srgbClr val="E8DFD0"/>
                </a:solidFill>
                <a:latin typeface="Calibri" pitchFamily="34" charset="0"/>
                <a:ea typeface="Calibri" pitchFamily="34" charset="-122"/>
                <a:cs typeface="Calibri" pitchFamily="34" charset="-120"/>
              </a:rPr>
              <a:t>Aristoteles über die Reformen des Kleisthenes</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Ziel und Ablauf</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2 Min.</a:t>
            </a:r>
            <a:endParaRPr lang="en-US" sz="2700" dirty="0"/>
          </a:p>
        </p:txBody>
      </p:sp>
      <p:sp>
        <p:nvSpPr>
          <p:cNvPr id="9" name="Shape 7"/>
          <p:cNvSpPr/>
          <p:nvPr/>
        </p:nvSpPr>
        <p:spPr>
          <a:xfrm>
            <a:off x="411480" y="1188720"/>
            <a:ext cx="8321040" cy="1463040"/>
          </a:xfrm>
          <a:prstGeom prst="roundRect">
            <a:avLst>
              <a:gd name="adj" fmla="val 5000"/>
            </a:avLst>
          </a:prstGeom>
          <a:solidFill>
            <a:srgbClr val="2B2318"/>
          </a:solidFill>
          <a:ln w="12700">
            <a:solidFill>
              <a:srgbClr val="2B2318"/>
            </a:solidFill>
            <a:prstDash val="solid"/>
          </a:ln>
        </p:spPr>
      </p:sp>
      <p:sp>
        <p:nvSpPr>
          <p:cNvPr id="10" name="Text 8"/>
          <p:cNvSpPr txBox="1"/>
          <p:nvPr/>
        </p:nvSpPr>
        <p:spPr>
          <a:xfrm>
            <a:off x="594360" y="1188720"/>
            <a:ext cx="7955280" cy="146304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Ich kann eine Textquelle nach den Arbeitsschritten analysieren: formale und inhaltliche Aspekte.</a:t>
            </a:r>
            <a:endParaRPr lang="en-US" sz="2700" dirty="0"/>
          </a:p>
        </p:txBody>
      </p:sp>
      <p:sp>
        <p:nvSpPr>
          <p:cNvPr id="11" name="Text 9"/>
          <p:cNvSpPr txBox="1"/>
          <p:nvPr/>
        </p:nvSpPr>
        <p:spPr>
          <a:xfrm>
            <a:off x="548640" y="2743200"/>
            <a:ext cx="8229600" cy="429768"/>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1  Richtig oder falsch? Kleisthenes</a:t>
            </a:r>
            <a:endParaRPr lang="en-US" sz="2700" dirty="0"/>
          </a:p>
        </p:txBody>
      </p:sp>
      <p:sp>
        <p:nvSpPr>
          <p:cNvPr id="12" name="Text 10"/>
          <p:cNvSpPr txBox="1"/>
          <p:nvPr/>
        </p:nvSpPr>
        <p:spPr>
          <a:xfrm>
            <a:off x="548640" y="3172968"/>
            <a:ext cx="8229600" cy="429768"/>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2  Die Arbeitsschritte im Überblick</a:t>
            </a:r>
            <a:endParaRPr lang="en-US" sz="2700" dirty="0"/>
          </a:p>
        </p:txBody>
      </p:sp>
      <p:sp>
        <p:nvSpPr>
          <p:cNvPr id="13" name="Text 11"/>
          <p:cNvSpPr txBox="1"/>
          <p:nvPr/>
        </p:nvSpPr>
        <p:spPr>
          <a:xfrm>
            <a:off x="548640" y="3602736"/>
            <a:ext cx="8229600" cy="429768"/>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3  Analyse: formale Aspekte</a:t>
            </a:r>
            <a:endParaRPr lang="en-US" sz="2700" dirty="0"/>
          </a:p>
        </p:txBody>
      </p:sp>
      <p:sp>
        <p:nvSpPr>
          <p:cNvPr id="14" name="Text 12"/>
          <p:cNvSpPr txBox="1"/>
          <p:nvPr/>
        </p:nvSpPr>
        <p:spPr>
          <a:xfrm>
            <a:off x="548640" y="4032504"/>
            <a:ext cx="8229600" cy="429768"/>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4  Analyse: Inhalt · Kontext und Urteil*</a:t>
            </a:r>
            <a:endParaRPr lang="en-US" sz="2700" dirty="0"/>
          </a:p>
        </p:txBody>
      </p:sp>
      <p:sp>
        <p:nvSpPr>
          <p:cNvPr id="15" name="Text 13"/>
          <p:cNvSpPr txBox="1"/>
          <p:nvPr/>
        </p:nvSpPr>
        <p:spPr>
          <a:xfrm>
            <a:off x="548640" y="4462272"/>
            <a:ext cx="8229600" cy="429768"/>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5  Abschlussaufgabe</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Richtig oder falsch?</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4 Min.</a:t>
            </a:r>
            <a:endParaRPr lang="en-US" sz="2700" dirty="0"/>
          </a:p>
        </p:txBody>
      </p:sp>
      <p:sp>
        <p:nvSpPr>
          <p:cNvPr id="9" name="Shape 7"/>
          <p:cNvSpPr/>
          <p:nvPr/>
        </p:nvSpPr>
        <p:spPr>
          <a:xfrm>
            <a:off x="411480" y="1188720"/>
            <a:ext cx="8321040" cy="822960"/>
          </a:xfrm>
          <a:prstGeom prst="roundRect">
            <a:avLst>
              <a:gd name="adj" fmla="val 8889"/>
            </a:avLst>
          </a:prstGeom>
          <a:solidFill>
            <a:srgbClr val="FBF8F2"/>
          </a:solidFill>
          <a:ln w="12700">
            <a:solidFill>
              <a:srgbClr val="FBF8F2"/>
            </a:solidFill>
            <a:prstDash val="solid"/>
          </a:ln>
        </p:spPr>
      </p:sp>
      <p:sp>
        <p:nvSpPr>
          <p:cNvPr id="10" name="Text 8"/>
          <p:cNvSpPr txBox="1"/>
          <p:nvPr/>
        </p:nvSpPr>
        <p:spPr>
          <a:xfrm>
            <a:off x="594360" y="1188720"/>
            <a:ext cx="8046720" cy="8229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1  Das Verfassungsschaubild im Lehrbuch ist eine Quelle.</a:t>
            </a:r>
            <a:endParaRPr lang="en-US" sz="2700" dirty="0"/>
          </a:p>
        </p:txBody>
      </p:sp>
      <p:sp>
        <p:nvSpPr>
          <p:cNvPr id="11" name="Shape 9"/>
          <p:cNvSpPr/>
          <p:nvPr/>
        </p:nvSpPr>
        <p:spPr>
          <a:xfrm>
            <a:off x="411480" y="2103120"/>
            <a:ext cx="8321040" cy="822960"/>
          </a:xfrm>
          <a:prstGeom prst="roundRect">
            <a:avLst>
              <a:gd name="adj" fmla="val 8889"/>
            </a:avLst>
          </a:prstGeom>
          <a:solidFill>
            <a:srgbClr val="FFFFFF"/>
          </a:solidFill>
          <a:ln w="12700">
            <a:solidFill>
              <a:srgbClr val="FFFFFF"/>
            </a:solidFill>
            <a:prstDash val="solid"/>
          </a:ln>
        </p:spPr>
      </p:sp>
      <p:sp>
        <p:nvSpPr>
          <p:cNvPr id="12" name="Text 10"/>
          <p:cNvSpPr txBox="1"/>
          <p:nvPr/>
        </p:nvSpPr>
        <p:spPr>
          <a:xfrm>
            <a:off x="594360" y="2103120"/>
            <a:ext cx="8046720" cy="8229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2  Kleisthenes teilte die Bürger in zehn neue Phylen ein.</a:t>
            </a:r>
            <a:endParaRPr lang="en-US" sz="2700" dirty="0"/>
          </a:p>
        </p:txBody>
      </p:sp>
      <p:sp>
        <p:nvSpPr>
          <p:cNvPr id="13" name="Shape 11"/>
          <p:cNvSpPr/>
          <p:nvPr/>
        </p:nvSpPr>
        <p:spPr>
          <a:xfrm>
            <a:off x="411480" y="3017520"/>
            <a:ext cx="8321040" cy="822960"/>
          </a:xfrm>
          <a:prstGeom prst="roundRect">
            <a:avLst>
              <a:gd name="adj" fmla="val 8889"/>
            </a:avLst>
          </a:prstGeom>
          <a:solidFill>
            <a:srgbClr val="FBF8F2"/>
          </a:solidFill>
          <a:ln w="12700">
            <a:solidFill>
              <a:srgbClr val="FBF8F2"/>
            </a:solidFill>
            <a:prstDash val="solid"/>
          </a:ln>
        </p:spPr>
      </p:sp>
      <p:sp>
        <p:nvSpPr>
          <p:cNvPr id="14" name="Text 12"/>
          <p:cNvSpPr txBox="1"/>
          <p:nvPr/>
        </p:nvSpPr>
        <p:spPr>
          <a:xfrm>
            <a:off x="594360" y="3017520"/>
            <a:ext cx="8046720" cy="8229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3  Kleisthenes nahm den Adligen ihr Land weg.</a:t>
            </a:r>
            <a:endParaRPr lang="en-US" sz="2700" dirty="0"/>
          </a:p>
        </p:txBody>
      </p:sp>
      <p:sp>
        <p:nvSpPr>
          <p:cNvPr id="15" name="Shape 13"/>
          <p:cNvSpPr/>
          <p:nvPr/>
        </p:nvSpPr>
        <p:spPr>
          <a:xfrm>
            <a:off x="411480" y="3931920"/>
            <a:ext cx="8321040" cy="822960"/>
          </a:xfrm>
          <a:prstGeom prst="roundRect">
            <a:avLst>
              <a:gd name="adj" fmla="val 8889"/>
            </a:avLst>
          </a:prstGeom>
          <a:solidFill>
            <a:srgbClr val="FFFFFF"/>
          </a:solidFill>
          <a:ln w="12700">
            <a:solidFill>
              <a:srgbClr val="FFFFFF"/>
            </a:solidFill>
            <a:prstDash val="solid"/>
          </a:ln>
        </p:spPr>
      </p:sp>
      <p:sp>
        <p:nvSpPr>
          <p:cNvPr id="16" name="Text 14"/>
          <p:cNvSpPr txBox="1"/>
          <p:nvPr/>
        </p:nvSpPr>
        <p:spPr>
          <a:xfrm>
            <a:off x="594360" y="3931920"/>
            <a:ext cx="8046720" cy="8229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4  Jede Phyle hatte Gebiete in Stadt, Küste und Binnenland.</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Lösung</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Shape 7"/>
          <p:cNvSpPr/>
          <p:nvPr/>
        </p:nvSpPr>
        <p:spPr>
          <a:xfrm>
            <a:off x="411480" y="1188720"/>
            <a:ext cx="8321040" cy="822960"/>
          </a:xfrm>
          <a:prstGeom prst="roundRect">
            <a:avLst>
              <a:gd name="adj" fmla="val 8889"/>
            </a:avLst>
          </a:prstGeom>
          <a:solidFill>
            <a:srgbClr val="FBF8F2"/>
          </a:solidFill>
          <a:ln w="12700">
            <a:solidFill>
              <a:srgbClr val="FBF8F2"/>
            </a:solidFill>
            <a:prstDash val="solid"/>
          </a:ln>
        </p:spPr>
      </p:sp>
      <p:sp>
        <p:nvSpPr>
          <p:cNvPr id="10" name="Text 8"/>
          <p:cNvSpPr txBox="1"/>
          <p:nvPr/>
        </p:nvSpPr>
        <p:spPr>
          <a:xfrm>
            <a:off x="594360" y="1188720"/>
            <a:ext cx="8046720" cy="822960"/>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 Es ist eine Darstellung: heute gezeichnet.</a:t>
            </a:r>
            <a:endParaRPr lang="en-US" sz="2700" dirty="0"/>
          </a:p>
        </p:txBody>
      </p:sp>
      <p:sp>
        <p:nvSpPr>
          <p:cNvPr id="11" name="Shape 9"/>
          <p:cNvSpPr/>
          <p:nvPr/>
        </p:nvSpPr>
        <p:spPr>
          <a:xfrm>
            <a:off x="411480" y="2103120"/>
            <a:ext cx="8321040" cy="822960"/>
          </a:xfrm>
          <a:prstGeom prst="roundRect">
            <a:avLst>
              <a:gd name="adj" fmla="val 8889"/>
            </a:avLst>
          </a:prstGeom>
          <a:solidFill>
            <a:srgbClr val="FFFFFF"/>
          </a:solidFill>
          <a:ln w="12700">
            <a:solidFill>
              <a:srgbClr val="FFFFFF"/>
            </a:solidFill>
            <a:prstDash val="solid"/>
          </a:ln>
        </p:spPr>
      </p:sp>
      <p:sp>
        <p:nvSpPr>
          <p:cNvPr id="12" name="Text 10"/>
          <p:cNvSpPr txBox="1"/>
          <p:nvPr/>
        </p:nvSpPr>
        <p:spPr>
          <a:xfrm>
            <a:off x="594360" y="2103120"/>
            <a:ext cx="8046720" cy="822960"/>
          </a:xfrm>
          <a:prstGeom prst="rect">
            <a:avLst/>
          </a:prstGeom>
          <a:noFill/>
          <a:ln/>
        </p:spPr>
        <p:txBody>
          <a:bodyPr wrap="square" lIns="0" tIns="0" rIns="0" bIns="0" rtlCol="0" anchor="ctr"/>
          <a:lstStyle/>
          <a:p>
            <a:pPr indent="0" marL="0">
              <a:buNone/>
            </a:pPr>
            <a:r>
              <a:rPr lang="en-US" sz="2700" dirty="0">
                <a:solidFill>
                  <a:srgbClr val="3C783C"/>
                </a:solidFill>
                <a:latin typeface="Calibri" pitchFamily="34" charset="0"/>
                <a:ea typeface="Calibri" pitchFamily="34" charset="-122"/>
                <a:cs typeface="Calibri" pitchFamily="34" charset="-120"/>
              </a:rPr>
              <a:t>✓ Kleisthenes teilte die Bürger in zehn neue Phylen ein.</a:t>
            </a:r>
            <a:endParaRPr lang="en-US" sz="2700" dirty="0"/>
          </a:p>
        </p:txBody>
      </p:sp>
      <p:sp>
        <p:nvSpPr>
          <p:cNvPr id="13" name="Shape 11"/>
          <p:cNvSpPr/>
          <p:nvPr/>
        </p:nvSpPr>
        <p:spPr>
          <a:xfrm>
            <a:off x="411480" y="3017520"/>
            <a:ext cx="8321040" cy="822960"/>
          </a:xfrm>
          <a:prstGeom prst="roundRect">
            <a:avLst>
              <a:gd name="adj" fmla="val 8889"/>
            </a:avLst>
          </a:prstGeom>
          <a:solidFill>
            <a:srgbClr val="FBF8F2"/>
          </a:solidFill>
          <a:ln w="12700">
            <a:solidFill>
              <a:srgbClr val="FBF8F2"/>
            </a:solidFill>
            <a:prstDash val="solid"/>
          </a:ln>
        </p:spPr>
      </p:sp>
      <p:sp>
        <p:nvSpPr>
          <p:cNvPr id="14" name="Text 12"/>
          <p:cNvSpPr txBox="1"/>
          <p:nvPr/>
        </p:nvSpPr>
        <p:spPr>
          <a:xfrm>
            <a:off x="594360" y="3017520"/>
            <a:ext cx="8046720" cy="822960"/>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 Er mischte die Bürger – das Land blieb.</a:t>
            </a:r>
            <a:endParaRPr lang="en-US" sz="2700" dirty="0"/>
          </a:p>
        </p:txBody>
      </p:sp>
      <p:sp>
        <p:nvSpPr>
          <p:cNvPr id="15" name="Shape 13"/>
          <p:cNvSpPr/>
          <p:nvPr/>
        </p:nvSpPr>
        <p:spPr>
          <a:xfrm>
            <a:off x="411480" y="3931920"/>
            <a:ext cx="8321040" cy="822960"/>
          </a:xfrm>
          <a:prstGeom prst="roundRect">
            <a:avLst>
              <a:gd name="adj" fmla="val 8889"/>
            </a:avLst>
          </a:prstGeom>
          <a:solidFill>
            <a:srgbClr val="FFFFFF"/>
          </a:solidFill>
          <a:ln w="12700">
            <a:solidFill>
              <a:srgbClr val="FFFFFF"/>
            </a:solidFill>
            <a:prstDash val="solid"/>
          </a:ln>
        </p:spPr>
      </p:sp>
      <p:sp>
        <p:nvSpPr>
          <p:cNvPr id="16" name="Text 14"/>
          <p:cNvSpPr txBox="1"/>
          <p:nvPr/>
        </p:nvSpPr>
        <p:spPr>
          <a:xfrm>
            <a:off x="594360" y="3931920"/>
            <a:ext cx="8046720" cy="822960"/>
          </a:xfrm>
          <a:prstGeom prst="rect">
            <a:avLst/>
          </a:prstGeom>
          <a:noFill/>
          <a:ln/>
        </p:spPr>
        <p:txBody>
          <a:bodyPr wrap="square" lIns="0" tIns="0" rIns="0" bIns="0" rtlCol="0" anchor="ctr"/>
          <a:lstStyle/>
          <a:p>
            <a:pPr indent="0" marL="0">
              <a:buNone/>
            </a:pPr>
            <a:r>
              <a:rPr lang="en-US" sz="2700" dirty="0">
                <a:solidFill>
                  <a:srgbClr val="3C783C"/>
                </a:solidFill>
                <a:latin typeface="Calibri" pitchFamily="34" charset="0"/>
                <a:ea typeface="Calibri" pitchFamily="34" charset="-122"/>
                <a:cs typeface="Calibri" pitchFamily="34" charset="-120"/>
              </a:rPr>
              <a:t>✓ Jede Phyle hatte Gebiete in Stadt, Küste und Binnenland.</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Warum das wichtig ist</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Klausur 25.11.</a:t>
            </a:r>
            <a:endParaRPr lang="en-US" sz="2700" dirty="0"/>
          </a:p>
        </p:txBody>
      </p:sp>
      <p:sp>
        <p:nvSpPr>
          <p:cNvPr id="9" name="Shape 7"/>
          <p:cNvSpPr/>
          <p:nvPr/>
        </p:nvSpPr>
        <p:spPr>
          <a:xfrm>
            <a:off x="411480" y="1188720"/>
            <a:ext cx="8321040" cy="1463040"/>
          </a:xfrm>
          <a:prstGeom prst="roundRect">
            <a:avLst>
              <a:gd name="adj" fmla="val 5000"/>
            </a:avLst>
          </a:prstGeom>
          <a:solidFill>
            <a:srgbClr val="F4ECDE"/>
          </a:solidFill>
          <a:ln w="12700">
            <a:solidFill>
              <a:srgbClr val="F4ECDE"/>
            </a:solidFill>
            <a:prstDash val="solid"/>
          </a:ln>
        </p:spPr>
      </p:sp>
      <p:sp>
        <p:nvSpPr>
          <p:cNvPr id="10" name="Text 8"/>
          <p:cNvSpPr txBox="1"/>
          <p:nvPr/>
        </p:nvSpPr>
        <p:spPr>
          <a:xfrm>
            <a:off x="594360" y="1188720"/>
            <a:ext cx="7955280" cy="146304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In der Klausur bekommst du eine Quelle. Die Aufgabe heißt oft: „Interpretieren Sie die Quelle.“</a:t>
            </a:r>
            <a:endParaRPr lang="en-US" sz="2700" dirty="0"/>
          </a:p>
        </p:txBody>
      </p:sp>
      <p:sp>
        <p:nvSpPr>
          <p:cNvPr id="11" name="Shape 9"/>
          <p:cNvSpPr/>
          <p:nvPr/>
        </p:nvSpPr>
        <p:spPr>
          <a:xfrm>
            <a:off x="411480" y="2880360"/>
            <a:ext cx="8321040" cy="1188720"/>
          </a:xfrm>
          <a:prstGeom prst="roundRect">
            <a:avLst>
              <a:gd name="adj" fmla="val 6154"/>
            </a:avLst>
          </a:prstGeom>
          <a:solidFill>
            <a:srgbClr val="2B2318"/>
          </a:solidFill>
          <a:ln w="12700">
            <a:solidFill>
              <a:srgbClr val="2B2318"/>
            </a:solidFill>
            <a:prstDash val="solid"/>
          </a:ln>
        </p:spPr>
      </p:sp>
      <p:sp>
        <p:nvSpPr>
          <p:cNvPr id="12" name="Text 10"/>
          <p:cNvSpPr txBox="1"/>
          <p:nvPr/>
        </p:nvSpPr>
        <p:spPr>
          <a:xfrm>
            <a:off x="594360" y="2880360"/>
            <a:ext cx="7955280" cy="1188720"/>
          </a:xfrm>
          <a:prstGeom prst="rect">
            <a:avLst/>
          </a:prstGeom>
          <a:noFill/>
          <a:ln/>
        </p:spPr>
        <p:txBody>
          <a:bodyPr wrap="square" lIns="0" tIns="0" rIns="0" bIns="0" rtlCol="0" anchor="ctr"/>
          <a:lstStyle/>
          <a:p>
            <a:pPr indent="0" marL="0">
              <a:buNone/>
            </a:pPr>
            <a:r>
              <a:rPr lang="en-US" sz="2700" b="1" dirty="0">
                <a:solidFill>
                  <a:srgbClr val="D9A441"/>
                </a:solidFill>
                <a:latin typeface="Calibri" pitchFamily="34" charset="0"/>
                <a:ea typeface="Calibri" pitchFamily="34" charset="-122"/>
                <a:cs typeface="Calibri" pitchFamily="34" charset="-120"/>
              </a:rPr>
              <a:t>Mit den Arbeitsschritten weißt du immer, was als Nächstes kommt.</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Die Arbeitsschritte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Portion 1</a:t>
            </a:r>
            <a:endParaRPr lang="en-US" sz="2700" dirty="0"/>
          </a:p>
        </p:txBody>
      </p:sp>
      <p:sp>
        <p:nvSpPr>
          <p:cNvPr id="9" name="Text 7"/>
          <p:cNvSpPr txBox="1"/>
          <p:nvPr/>
        </p:nvSpPr>
        <p:spPr>
          <a:xfrm>
            <a:off x="411480" y="12344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10" name="Text 8"/>
          <p:cNvSpPr txBox="1"/>
          <p:nvPr/>
        </p:nvSpPr>
        <p:spPr>
          <a:xfrm>
            <a:off x="1005840" y="12161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Themenfrage – Was will ich herausfinden?</a:t>
            </a:r>
            <a:endParaRPr lang="en-US" sz="2700" dirty="0"/>
          </a:p>
        </p:txBody>
      </p:sp>
      <p:sp>
        <p:nvSpPr>
          <p:cNvPr id="11" name="Text 9"/>
          <p:cNvSpPr txBox="1"/>
          <p:nvPr/>
        </p:nvSpPr>
        <p:spPr>
          <a:xfrm>
            <a:off x="411480" y="1892808"/>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2" name="Text 10"/>
          <p:cNvSpPr txBox="1"/>
          <p:nvPr/>
        </p:nvSpPr>
        <p:spPr>
          <a:xfrm>
            <a:off x="1005840" y="1874520"/>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Analyse – Wer schreibt? Was steht drin?</a:t>
            </a:r>
            <a:endParaRPr lang="en-US" sz="2700" dirty="0"/>
          </a:p>
        </p:txBody>
      </p:sp>
      <p:sp>
        <p:nvSpPr>
          <p:cNvPr id="13" name="Text 11"/>
          <p:cNvSpPr txBox="1"/>
          <p:nvPr/>
        </p:nvSpPr>
        <p:spPr>
          <a:xfrm>
            <a:off x="411480" y="2551176"/>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4" name="Text 12"/>
          <p:cNvSpPr txBox="1"/>
          <p:nvPr/>
        </p:nvSpPr>
        <p:spPr>
          <a:xfrm>
            <a:off x="1005840" y="2532888"/>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Kontext – Was geschah damals?</a:t>
            </a:r>
            <a:endParaRPr lang="en-US" sz="2700" dirty="0"/>
          </a:p>
        </p:txBody>
      </p:sp>
      <p:sp>
        <p:nvSpPr>
          <p:cNvPr id="15" name="Text 13"/>
          <p:cNvSpPr txBox="1"/>
          <p:nvPr/>
        </p:nvSpPr>
        <p:spPr>
          <a:xfrm>
            <a:off x="411480" y="3209544"/>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4</a:t>
            </a:r>
            <a:endParaRPr lang="en-US" sz="2700" dirty="0"/>
          </a:p>
        </p:txBody>
      </p:sp>
      <p:sp>
        <p:nvSpPr>
          <p:cNvPr id="16" name="Text 14"/>
          <p:cNvSpPr txBox="1"/>
          <p:nvPr/>
        </p:nvSpPr>
        <p:spPr>
          <a:xfrm>
            <a:off x="1005840" y="3191256"/>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Urteilen – erst Sach-, dann Werturteil</a:t>
            </a:r>
            <a:endParaRPr lang="en-US" sz="2700" dirty="0"/>
          </a:p>
        </p:txBody>
      </p:sp>
      <p:sp>
        <p:nvSpPr>
          <p:cNvPr id="17" name="Shape 15"/>
          <p:cNvSpPr/>
          <p:nvPr/>
        </p:nvSpPr>
        <p:spPr>
          <a:xfrm>
            <a:off x="411480" y="3931920"/>
            <a:ext cx="8321040" cy="777240"/>
          </a:xfrm>
          <a:prstGeom prst="roundRect">
            <a:avLst>
              <a:gd name="adj" fmla="val 9412"/>
            </a:avLst>
          </a:prstGeom>
          <a:solidFill>
            <a:srgbClr val="2B2318"/>
          </a:solidFill>
          <a:ln w="12700">
            <a:solidFill>
              <a:srgbClr val="2B2318"/>
            </a:solidFill>
            <a:prstDash val="solid"/>
          </a:ln>
        </p:spPr>
      </p:sp>
      <p:sp>
        <p:nvSpPr>
          <p:cNvPr id="18" name="Text 16"/>
          <p:cNvSpPr txBox="1"/>
          <p:nvPr/>
        </p:nvSpPr>
        <p:spPr>
          <a:xfrm>
            <a:off x="594360" y="3931920"/>
            <a:ext cx="7955280" cy="777240"/>
          </a:xfrm>
          <a:prstGeom prst="rect">
            <a:avLst/>
          </a:prstGeom>
          <a:noFill/>
          <a:ln/>
        </p:spPr>
        <p:txBody>
          <a:bodyPr wrap="square" lIns="0" tIns="0" rIns="0" bIns="0" rtlCol="0" anchor="ctr"/>
          <a:lstStyle/>
          <a:p>
            <a:pPr indent="0" marL="0">
              <a:buNone/>
            </a:pPr>
            <a:r>
              <a:rPr lang="en-US" sz="2700" b="1" dirty="0">
                <a:solidFill>
                  <a:srgbClr val="D9A441"/>
                </a:solidFill>
                <a:latin typeface="Calibri" pitchFamily="34" charset="0"/>
                <a:ea typeface="Calibri" pitchFamily="34" charset="-122"/>
                <a:cs typeface="Calibri" pitchFamily="34" charset="-120"/>
              </a:rPr>
              <a:t>⚠ Erst untersuchen, dann urteilen!</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1 Unsere Themenfrage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F4ECDE"/>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vorgegeben</a:t>
            </a:r>
            <a:endParaRPr lang="en-US" sz="2700" dirty="0"/>
          </a:p>
        </p:txBody>
      </p:sp>
      <p:sp>
        <p:nvSpPr>
          <p:cNvPr id="9" name="Shape 7"/>
          <p:cNvSpPr/>
          <p:nvPr/>
        </p:nvSpPr>
        <p:spPr>
          <a:xfrm>
            <a:off x="411480" y="1234440"/>
            <a:ext cx="8321040" cy="1554480"/>
          </a:xfrm>
          <a:prstGeom prst="roundRect">
            <a:avLst>
              <a:gd name="adj" fmla="val 4706"/>
            </a:avLst>
          </a:prstGeom>
          <a:solidFill>
            <a:srgbClr val="2B2318"/>
          </a:solidFill>
          <a:ln w="12700">
            <a:solidFill>
              <a:srgbClr val="2B2318"/>
            </a:solidFill>
            <a:prstDash val="solid"/>
          </a:ln>
        </p:spPr>
      </p:sp>
      <p:sp>
        <p:nvSpPr>
          <p:cNvPr id="10" name="Text 8"/>
          <p:cNvSpPr txBox="1"/>
          <p:nvPr/>
        </p:nvSpPr>
        <p:spPr>
          <a:xfrm>
            <a:off x="594360" y="1234440"/>
            <a:ext cx="7955280" cy="15544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Wie veränderte Kleisthenes laut Aristoteles die Ordnung Athens – und mit welchem Ziel?</a:t>
            </a:r>
            <a:endParaRPr lang="en-US" sz="2700" dirty="0"/>
          </a:p>
        </p:txBody>
      </p:sp>
      <p:sp>
        <p:nvSpPr>
          <p:cNvPr id="11" name="Text 9"/>
          <p:cNvSpPr txBox="1"/>
          <p:nvPr/>
        </p:nvSpPr>
        <p:spPr>
          <a:xfrm>
            <a:off x="411480" y="3063240"/>
            <a:ext cx="8321040" cy="8229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Sie steht über allem – am Ende beantworten wir sie.</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2a TATTEA</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Portion 2</a:t>
            </a:r>
            <a:endParaRPr lang="en-US" sz="2700" dirty="0"/>
          </a:p>
        </p:txBody>
      </p:sp>
      <p:sp>
        <p:nvSpPr>
          <p:cNvPr id="9" name="Text 7"/>
          <p:cNvSpPr txBox="1"/>
          <p:nvPr/>
        </p:nvSpPr>
        <p:spPr>
          <a:xfrm>
            <a:off x="411480" y="1170432"/>
            <a:ext cx="3017520" cy="530352"/>
          </a:xfrm>
          <a:prstGeom prst="roundRect">
            <a:avLst>
              <a:gd name="adj" fmla="val 13793"/>
            </a:avLst>
          </a:prstGeom>
          <a:solidFill>
            <a:srgbClr val="AD4426"/>
          </a:solidFill>
          <a:ln/>
        </p:spPr>
        <p:txBody>
          <a:bodyPr wrap="square" lIns="0" tIns="10160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T  Titel</a:t>
            </a:r>
            <a:endParaRPr lang="en-US" sz="2700" dirty="0"/>
          </a:p>
        </p:txBody>
      </p:sp>
      <p:sp>
        <p:nvSpPr>
          <p:cNvPr id="10" name="Text 8"/>
          <p:cNvSpPr txBox="1"/>
          <p:nvPr/>
        </p:nvSpPr>
        <p:spPr>
          <a:xfrm>
            <a:off x="3611880" y="1170432"/>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Wie heißt der Text?</a:t>
            </a:r>
            <a:endParaRPr lang="en-US" sz="2700" dirty="0"/>
          </a:p>
        </p:txBody>
      </p:sp>
      <p:sp>
        <p:nvSpPr>
          <p:cNvPr id="11" name="Text 9"/>
          <p:cNvSpPr txBox="1"/>
          <p:nvPr/>
        </p:nvSpPr>
        <p:spPr>
          <a:xfrm>
            <a:off x="411480" y="1773936"/>
            <a:ext cx="3017520" cy="530352"/>
          </a:xfrm>
          <a:prstGeom prst="roundRect">
            <a:avLst>
              <a:gd name="adj" fmla="val 13793"/>
            </a:avLst>
          </a:prstGeom>
          <a:solidFill>
            <a:srgbClr val="AD4426"/>
          </a:solidFill>
          <a:ln/>
        </p:spPr>
        <p:txBody>
          <a:bodyPr wrap="square" lIns="0" tIns="10160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A  Autor</a:t>
            </a:r>
            <a:endParaRPr lang="en-US" sz="2700" dirty="0"/>
          </a:p>
        </p:txBody>
      </p:sp>
      <p:sp>
        <p:nvSpPr>
          <p:cNvPr id="12" name="Text 10"/>
          <p:cNvSpPr txBox="1"/>
          <p:nvPr/>
        </p:nvSpPr>
        <p:spPr>
          <a:xfrm>
            <a:off x="3611880" y="1773936"/>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Wer? Amt, Stellung?</a:t>
            </a:r>
            <a:endParaRPr lang="en-US" sz="2700" dirty="0"/>
          </a:p>
        </p:txBody>
      </p:sp>
      <p:sp>
        <p:nvSpPr>
          <p:cNvPr id="13" name="Text 11"/>
          <p:cNvSpPr txBox="1"/>
          <p:nvPr/>
        </p:nvSpPr>
        <p:spPr>
          <a:xfrm>
            <a:off x="411480" y="2377440"/>
            <a:ext cx="3017520" cy="530352"/>
          </a:xfrm>
          <a:prstGeom prst="roundRect">
            <a:avLst>
              <a:gd name="adj" fmla="val 13793"/>
            </a:avLst>
          </a:prstGeom>
          <a:solidFill>
            <a:srgbClr val="AD4426"/>
          </a:solidFill>
          <a:ln/>
        </p:spPr>
        <p:txBody>
          <a:bodyPr wrap="square" lIns="0" tIns="10160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T  Textsorte</a:t>
            </a:r>
            <a:endParaRPr lang="en-US" sz="2700" dirty="0"/>
          </a:p>
        </p:txBody>
      </p:sp>
      <p:sp>
        <p:nvSpPr>
          <p:cNvPr id="14" name="Text 12"/>
          <p:cNvSpPr txBox="1"/>
          <p:nvPr/>
        </p:nvSpPr>
        <p:spPr>
          <a:xfrm>
            <a:off x="3611880" y="2377440"/>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Brief, Rede, Bericht …</a:t>
            </a:r>
            <a:endParaRPr lang="en-US" sz="2700" dirty="0"/>
          </a:p>
        </p:txBody>
      </p:sp>
      <p:sp>
        <p:nvSpPr>
          <p:cNvPr id="15" name="Text 13"/>
          <p:cNvSpPr txBox="1"/>
          <p:nvPr/>
        </p:nvSpPr>
        <p:spPr>
          <a:xfrm>
            <a:off x="411480" y="2980944"/>
            <a:ext cx="3017520" cy="530352"/>
          </a:xfrm>
          <a:prstGeom prst="roundRect">
            <a:avLst>
              <a:gd name="adj" fmla="val 13793"/>
            </a:avLst>
          </a:prstGeom>
          <a:solidFill>
            <a:srgbClr val="AD4426"/>
          </a:solidFill>
          <a:ln/>
        </p:spPr>
        <p:txBody>
          <a:bodyPr wrap="square" lIns="0" tIns="10160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T  Thema</a:t>
            </a:r>
            <a:endParaRPr lang="en-US" sz="2700" dirty="0"/>
          </a:p>
        </p:txBody>
      </p:sp>
      <p:sp>
        <p:nvSpPr>
          <p:cNvPr id="16" name="Text 14"/>
          <p:cNvSpPr txBox="1"/>
          <p:nvPr/>
        </p:nvSpPr>
        <p:spPr>
          <a:xfrm>
            <a:off x="3611880" y="2980944"/>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Worum geht es?</a:t>
            </a:r>
            <a:endParaRPr lang="en-US" sz="2700" dirty="0"/>
          </a:p>
        </p:txBody>
      </p:sp>
      <p:sp>
        <p:nvSpPr>
          <p:cNvPr id="17" name="Text 15"/>
          <p:cNvSpPr txBox="1"/>
          <p:nvPr/>
        </p:nvSpPr>
        <p:spPr>
          <a:xfrm>
            <a:off x="411480" y="3584448"/>
            <a:ext cx="3017520" cy="530352"/>
          </a:xfrm>
          <a:prstGeom prst="roundRect">
            <a:avLst>
              <a:gd name="adj" fmla="val 13793"/>
            </a:avLst>
          </a:prstGeom>
          <a:solidFill>
            <a:srgbClr val="AD4426"/>
          </a:solidFill>
          <a:ln/>
        </p:spPr>
        <p:txBody>
          <a:bodyPr wrap="square" lIns="0" tIns="10160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E  Entstehung</a:t>
            </a:r>
            <a:endParaRPr lang="en-US" sz="2700" dirty="0"/>
          </a:p>
        </p:txBody>
      </p:sp>
      <p:sp>
        <p:nvSpPr>
          <p:cNvPr id="18" name="Text 16"/>
          <p:cNvSpPr txBox="1"/>
          <p:nvPr/>
        </p:nvSpPr>
        <p:spPr>
          <a:xfrm>
            <a:off x="3611880" y="3584448"/>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Wann und wo?</a:t>
            </a:r>
            <a:endParaRPr lang="en-US" sz="2700" dirty="0"/>
          </a:p>
        </p:txBody>
      </p:sp>
      <p:sp>
        <p:nvSpPr>
          <p:cNvPr id="19" name="Text 17"/>
          <p:cNvSpPr txBox="1"/>
          <p:nvPr/>
        </p:nvSpPr>
        <p:spPr>
          <a:xfrm>
            <a:off x="411480" y="4187952"/>
            <a:ext cx="3017520" cy="530352"/>
          </a:xfrm>
          <a:prstGeom prst="roundRect">
            <a:avLst>
              <a:gd name="adj" fmla="val 13793"/>
            </a:avLst>
          </a:prstGeom>
          <a:solidFill>
            <a:srgbClr val="AD4426"/>
          </a:solidFill>
          <a:ln/>
        </p:spPr>
        <p:txBody>
          <a:bodyPr wrap="square" lIns="0" tIns="101600" rIns="0" bIns="0"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A  Adressat</a:t>
            </a:r>
            <a:endParaRPr lang="en-US" sz="2700" dirty="0"/>
          </a:p>
        </p:txBody>
      </p:sp>
      <p:sp>
        <p:nvSpPr>
          <p:cNvPr id="20" name="Text 18"/>
          <p:cNvSpPr txBox="1"/>
          <p:nvPr/>
        </p:nvSpPr>
        <p:spPr>
          <a:xfrm>
            <a:off x="3611880" y="4187952"/>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Für wen gedacht?</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So geht's – ein Beispiel</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Lehrkraft</a:t>
            </a:r>
            <a:endParaRPr lang="en-US" sz="2700" dirty="0"/>
          </a:p>
        </p:txBody>
      </p:sp>
      <p:sp>
        <p:nvSpPr>
          <p:cNvPr id="9" name="Text 7"/>
          <p:cNvSpPr txBox="1"/>
          <p:nvPr/>
        </p:nvSpPr>
        <p:spPr>
          <a:xfrm>
            <a:off x="411480" y="1170432"/>
            <a:ext cx="3017520" cy="530352"/>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Titel</a:t>
            </a:r>
            <a:endParaRPr lang="en-US" sz="2700" dirty="0"/>
          </a:p>
        </p:txBody>
      </p:sp>
      <p:sp>
        <p:nvSpPr>
          <p:cNvPr id="10" name="Text 8"/>
          <p:cNvSpPr txBox="1"/>
          <p:nvPr/>
        </p:nvSpPr>
        <p:spPr>
          <a:xfrm>
            <a:off x="3611880" y="1170432"/>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ohne Titel (Fragment)</a:t>
            </a:r>
            <a:endParaRPr lang="en-US" sz="2700" dirty="0"/>
          </a:p>
        </p:txBody>
      </p:sp>
      <p:sp>
        <p:nvSpPr>
          <p:cNvPr id="11" name="Text 9"/>
          <p:cNvSpPr txBox="1"/>
          <p:nvPr/>
        </p:nvSpPr>
        <p:spPr>
          <a:xfrm>
            <a:off x="411480" y="1773936"/>
            <a:ext cx="3017520" cy="530352"/>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Autor</a:t>
            </a:r>
            <a:endParaRPr lang="en-US" sz="2700" dirty="0"/>
          </a:p>
        </p:txBody>
      </p:sp>
      <p:sp>
        <p:nvSpPr>
          <p:cNvPr id="12" name="Text 10"/>
          <p:cNvSpPr txBox="1"/>
          <p:nvPr/>
        </p:nvSpPr>
        <p:spPr>
          <a:xfrm>
            <a:off x="3611880" y="1773936"/>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Solon, Gesetzgeber Athens</a:t>
            </a:r>
            <a:endParaRPr lang="en-US" sz="2700" dirty="0"/>
          </a:p>
        </p:txBody>
      </p:sp>
      <p:sp>
        <p:nvSpPr>
          <p:cNvPr id="13" name="Text 11"/>
          <p:cNvSpPr txBox="1"/>
          <p:nvPr/>
        </p:nvSpPr>
        <p:spPr>
          <a:xfrm>
            <a:off x="411480" y="2377440"/>
            <a:ext cx="3017520" cy="530352"/>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Textsorte</a:t>
            </a:r>
            <a:endParaRPr lang="en-US" sz="2700" dirty="0"/>
          </a:p>
        </p:txBody>
      </p:sp>
      <p:sp>
        <p:nvSpPr>
          <p:cNvPr id="14" name="Text 12"/>
          <p:cNvSpPr txBox="1"/>
          <p:nvPr/>
        </p:nvSpPr>
        <p:spPr>
          <a:xfrm>
            <a:off x="3611880" y="2377440"/>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Gedicht</a:t>
            </a:r>
            <a:endParaRPr lang="en-US" sz="2700" dirty="0"/>
          </a:p>
        </p:txBody>
      </p:sp>
      <p:sp>
        <p:nvSpPr>
          <p:cNvPr id="15" name="Text 13"/>
          <p:cNvSpPr txBox="1"/>
          <p:nvPr/>
        </p:nvSpPr>
        <p:spPr>
          <a:xfrm>
            <a:off x="411480" y="2980944"/>
            <a:ext cx="3017520" cy="530352"/>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Thema</a:t>
            </a:r>
            <a:endParaRPr lang="en-US" sz="2700" dirty="0"/>
          </a:p>
        </p:txBody>
      </p:sp>
      <p:sp>
        <p:nvSpPr>
          <p:cNvPr id="16" name="Text 14"/>
          <p:cNvSpPr txBox="1"/>
          <p:nvPr/>
        </p:nvSpPr>
        <p:spPr>
          <a:xfrm>
            <a:off x="3611880" y="2980944"/>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Rechtfertigung seiner Reformen</a:t>
            </a:r>
            <a:endParaRPr lang="en-US" sz="2700" dirty="0"/>
          </a:p>
        </p:txBody>
      </p:sp>
      <p:sp>
        <p:nvSpPr>
          <p:cNvPr id="17" name="Text 15"/>
          <p:cNvSpPr txBox="1"/>
          <p:nvPr/>
        </p:nvSpPr>
        <p:spPr>
          <a:xfrm>
            <a:off x="411480" y="3584448"/>
            <a:ext cx="3017520" cy="530352"/>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Entstehung</a:t>
            </a:r>
            <a:endParaRPr lang="en-US" sz="2700" dirty="0"/>
          </a:p>
        </p:txBody>
      </p:sp>
      <p:sp>
        <p:nvSpPr>
          <p:cNvPr id="18" name="Text 16"/>
          <p:cNvSpPr txBox="1"/>
          <p:nvPr/>
        </p:nvSpPr>
        <p:spPr>
          <a:xfrm>
            <a:off x="3611880" y="3584448"/>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um 590 v. Chr. in Athen</a:t>
            </a:r>
            <a:endParaRPr lang="en-US" sz="2700" dirty="0"/>
          </a:p>
        </p:txBody>
      </p:sp>
      <p:sp>
        <p:nvSpPr>
          <p:cNvPr id="19" name="Text 17"/>
          <p:cNvSpPr txBox="1"/>
          <p:nvPr/>
        </p:nvSpPr>
        <p:spPr>
          <a:xfrm>
            <a:off x="411480" y="4187952"/>
            <a:ext cx="3017520" cy="530352"/>
          </a:xfrm>
          <a:prstGeom prst="rect">
            <a:avLst/>
          </a:prstGeom>
          <a:noFill/>
          <a:ln/>
        </p:spPr>
        <p:txBody>
          <a:bodyPr wrap="square" lIns="0" tIns="0" rIns="0" bIns="0" rtlCol="0" anchor="ctr"/>
          <a:lstStyle/>
          <a:p>
            <a:pPr indent="0" marL="0">
              <a:buNone/>
            </a:pPr>
            <a:r>
              <a:rPr lang="en-US" sz="2700" b="1" dirty="0">
                <a:solidFill>
                  <a:srgbClr val="AD4426"/>
                </a:solidFill>
                <a:latin typeface="Calibri" pitchFamily="34" charset="0"/>
                <a:ea typeface="Calibri" pitchFamily="34" charset="-122"/>
                <a:cs typeface="Calibri" pitchFamily="34" charset="-120"/>
              </a:rPr>
              <a:t>Adressat</a:t>
            </a:r>
            <a:endParaRPr lang="en-US" sz="2700" dirty="0"/>
          </a:p>
        </p:txBody>
      </p:sp>
      <p:sp>
        <p:nvSpPr>
          <p:cNvPr id="20" name="Text 18"/>
          <p:cNvSpPr txBox="1"/>
          <p:nvPr/>
        </p:nvSpPr>
        <p:spPr>
          <a:xfrm>
            <a:off x="3611880" y="4187952"/>
            <a:ext cx="5120640" cy="530352"/>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die Athener</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Daraus wird ein Satz</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Lehrkraft</a:t>
            </a:r>
            <a:endParaRPr lang="en-US" sz="2700" dirty="0"/>
          </a:p>
        </p:txBody>
      </p:sp>
      <p:sp>
        <p:nvSpPr>
          <p:cNvPr id="9" name="Shape 7"/>
          <p:cNvSpPr/>
          <p:nvPr/>
        </p:nvSpPr>
        <p:spPr>
          <a:xfrm>
            <a:off x="411480" y="1188720"/>
            <a:ext cx="8321040" cy="2377440"/>
          </a:xfrm>
          <a:prstGeom prst="roundRect">
            <a:avLst>
              <a:gd name="adj" fmla="val 3077"/>
            </a:avLst>
          </a:prstGeom>
          <a:solidFill>
            <a:srgbClr val="F4ECDE"/>
          </a:solidFill>
          <a:ln w="12700">
            <a:solidFill>
              <a:srgbClr val="F4ECDE"/>
            </a:solidFill>
            <a:prstDash val="solid"/>
          </a:ln>
        </p:spPr>
      </p:sp>
      <p:sp>
        <p:nvSpPr>
          <p:cNvPr id="10" name="Text 8"/>
          <p:cNvSpPr txBox="1"/>
          <p:nvPr/>
        </p:nvSpPr>
        <p:spPr>
          <a:xfrm>
            <a:off x="594360" y="1188720"/>
            <a:ext cx="7955280" cy="2377440"/>
          </a:xfrm>
          <a:prstGeom prst="rect">
            <a:avLst/>
          </a:prstGeom>
          <a:noFill/>
          <a:ln/>
        </p:spPr>
        <p:txBody>
          <a:bodyPr wrap="square" lIns="0" tIns="0" rIns="0" bIns="0" rtlCol="0" anchor="ctr"/>
          <a:lstStyle/>
          <a:p>
            <a:pPr indent="0" marL="0">
              <a:buNone/>
            </a:pPr>
            <a:r>
              <a:rPr lang="en-US" sz="2700" i="1" dirty="0">
                <a:solidFill>
                  <a:srgbClr val="2B2318"/>
                </a:solidFill>
                <a:latin typeface="Calibri" pitchFamily="34" charset="0"/>
                <a:ea typeface="Calibri" pitchFamily="34" charset="-122"/>
                <a:cs typeface="Calibri" pitchFamily="34" charset="-120"/>
              </a:rPr>
              <a:t>„Bei der Quelle handelt es sich um ein Gedicht ohne Titel des athenischen Gesetzgebers Solon, das um 590 v. Chr. in Athen entstand. Er wendet sich an die Athener und rechtfertigt seine Reformen.“</a:t>
            </a:r>
            <a:endParaRPr lang="en-US" sz="2700" dirty="0"/>
          </a:p>
        </p:txBody>
      </p:sp>
      <p:sp>
        <p:nvSpPr>
          <p:cNvPr id="11" name="Shape 9"/>
          <p:cNvSpPr/>
          <p:nvPr/>
        </p:nvSpPr>
        <p:spPr>
          <a:xfrm>
            <a:off x="411480" y="3794760"/>
            <a:ext cx="8321040" cy="822960"/>
          </a:xfrm>
          <a:prstGeom prst="roundRect">
            <a:avLst>
              <a:gd name="adj" fmla="val 8889"/>
            </a:avLst>
          </a:prstGeom>
          <a:solidFill>
            <a:srgbClr val="2B2318"/>
          </a:solidFill>
          <a:ln w="12700">
            <a:solidFill>
              <a:srgbClr val="2B2318"/>
            </a:solidFill>
            <a:prstDash val="solid"/>
          </a:ln>
        </p:spPr>
      </p:sp>
      <p:sp>
        <p:nvSpPr>
          <p:cNvPr id="12" name="Text 10"/>
          <p:cNvSpPr txBox="1"/>
          <p:nvPr/>
        </p:nvSpPr>
        <p:spPr>
          <a:xfrm>
            <a:off x="594360" y="3794760"/>
            <a:ext cx="7955280" cy="822960"/>
          </a:xfrm>
          <a:prstGeom prst="rect">
            <a:avLst/>
          </a:prstGeom>
          <a:noFill/>
          <a:ln/>
        </p:spPr>
        <p:txBody>
          <a:bodyPr wrap="square" lIns="0" tIns="0" rIns="0" bIns="0" rtlCol="0" anchor="ctr"/>
          <a:lstStyle/>
          <a:p>
            <a:pPr indent="0" marL="0">
              <a:buNone/>
            </a:pPr>
            <a:r>
              <a:rPr lang="en-US" sz="2700" b="1" dirty="0">
                <a:solidFill>
                  <a:srgbClr val="D9A441"/>
                </a:solidFill>
                <a:latin typeface="Calibri" pitchFamily="34" charset="0"/>
                <a:ea typeface="Calibri" pitchFamily="34" charset="-122"/>
                <a:cs typeface="Calibri" pitchFamily="34" charset="-120"/>
              </a:rPr>
              <a:t>⚠ Lebensdaten prüfen: War der Autor dabei?</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Jetzt du: formale Aspekte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4 Min.</a:t>
            </a:r>
            <a:endParaRPr lang="en-US" sz="2700" dirty="0"/>
          </a:p>
        </p:txBody>
      </p:sp>
      <p:sp>
        <p:nvSpPr>
          <p:cNvPr id="9" name="Text 7"/>
          <p:cNvSpPr txBox="1"/>
          <p:nvPr/>
        </p:nvSpPr>
        <p:spPr>
          <a:xfrm>
            <a:off x="411480" y="12344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10" name="Text 8"/>
          <p:cNvSpPr txBox="1"/>
          <p:nvPr/>
        </p:nvSpPr>
        <p:spPr>
          <a:xfrm>
            <a:off x="1005840" y="12161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Lies den Kasten „Zum Autor“ auf dem Blatt.</a:t>
            </a:r>
            <a:endParaRPr lang="en-US" sz="2700" dirty="0"/>
          </a:p>
        </p:txBody>
      </p:sp>
      <p:sp>
        <p:nvSpPr>
          <p:cNvPr id="11" name="Text 9"/>
          <p:cNvSpPr txBox="1"/>
          <p:nvPr/>
        </p:nvSpPr>
        <p:spPr>
          <a:xfrm>
            <a:off x="411480" y="201168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2" name="Text 10"/>
          <p:cNvSpPr txBox="1"/>
          <p:nvPr/>
        </p:nvSpPr>
        <p:spPr>
          <a:xfrm>
            <a:off x="1005840" y="199339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Fülle die sechs TATTEA-Felder in 2a aus.</a:t>
            </a:r>
            <a:endParaRPr lang="en-US" sz="2700" dirty="0"/>
          </a:p>
        </p:txBody>
      </p:sp>
      <p:sp>
        <p:nvSpPr>
          <p:cNvPr id="13" name="Text 11"/>
          <p:cNvSpPr txBox="1"/>
          <p:nvPr/>
        </p:nvSpPr>
        <p:spPr>
          <a:xfrm>
            <a:off x="411480" y="278892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4" name="Text 12"/>
          <p:cNvSpPr txBox="1"/>
          <p:nvPr/>
        </p:nvSpPr>
        <p:spPr>
          <a:xfrm>
            <a:off x="1005840" y="277063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Schreibe einen Einleitungssatz.</a:t>
            </a:r>
            <a:endParaRPr lang="en-US" sz="2700" dirty="0"/>
          </a:p>
        </p:txBody>
      </p:sp>
      <p:sp>
        <p:nvSpPr>
          <p:cNvPr id="15" name="Text 13"/>
          <p:cNvSpPr txBox="1"/>
          <p:nvPr/>
        </p:nvSpPr>
        <p:spPr>
          <a:xfrm>
            <a:off x="411480" y="356616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4</a:t>
            </a:r>
            <a:endParaRPr lang="en-US" sz="2700" dirty="0"/>
          </a:p>
        </p:txBody>
      </p:sp>
      <p:sp>
        <p:nvSpPr>
          <p:cNvPr id="16" name="Text 14"/>
          <p:cNvSpPr txBox="1"/>
          <p:nvPr/>
        </p:nvSpPr>
        <p:spPr>
          <a:xfrm>
            <a:off x="1005840" y="354787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Fertig? Lies die Quelle schon einmal.</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Zum Autor und zur Schrift</a:t>
            </a:r>
            <a:endParaRPr lang="en-US" sz="3600" dirty="0"/>
          </a:p>
        </p:txBody>
      </p:sp>
      <p:sp>
        <p:nvSpPr>
          <p:cNvPr id="8" name="Shape 6"/>
          <p:cNvSpPr/>
          <p:nvPr/>
        </p:nvSpPr>
        <p:spPr>
          <a:xfrm>
            <a:off x="411480" y="1188720"/>
            <a:ext cx="8321040" cy="1051560"/>
          </a:xfrm>
          <a:prstGeom prst="roundRect">
            <a:avLst>
              <a:gd name="adj" fmla="val 6957"/>
            </a:avLst>
          </a:prstGeom>
          <a:solidFill>
            <a:srgbClr val="F4ECDE"/>
          </a:solidFill>
          <a:ln w="12700">
            <a:solidFill>
              <a:srgbClr val="F4ECDE"/>
            </a:solidFill>
            <a:prstDash val="solid"/>
          </a:ln>
        </p:spPr>
      </p:sp>
      <p:sp>
        <p:nvSpPr>
          <p:cNvPr id="9" name="Text 7"/>
          <p:cNvSpPr txBox="1"/>
          <p:nvPr/>
        </p:nvSpPr>
        <p:spPr>
          <a:xfrm>
            <a:off x="594360" y="1188720"/>
            <a:ext cx="7955280" cy="10515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Aristoteles (384–322 v. Chr.): Philosoph, lebte in Athen, kein Bürger.</a:t>
            </a:r>
            <a:endParaRPr lang="en-US" sz="2700" dirty="0"/>
          </a:p>
        </p:txBody>
      </p:sp>
      <p:sp>
        <p:nvSpPr>
          <p:cNvPr id="10" name="Shape 8"/>
          <p:cNvSpPr/>
          <p:nvPr/>
        </p:nvSpPr>
        <p:spPr>
          <a:xfrm>
            <a:off x="411480" y="2377440"/>
            <a:ext cx="8321040" cy="1051560"/>
          </a:xfrm>
          <a:prstGeom prst="roundRect">
            <a:avLst>
              <a:gd name="adj" fmla="val 6957"/>
            </a:avLst>
          </a:prstGeom>
          <a:solidFill>
            <a:srgbClr val="FFFFFF"/>
          </a:solidFill>
          <a:ln w="12700">
            <a:solidFill>
              <a:srgbClr val="FFFFFF"/>
            </a:solidFill>
            <a:prstDash val="solid"/>
          </a:ln>
        </p:spPr>
      </p:sp>
      <p:sp>
        <p:nvSpPr>
          <p:cNvPr id="11" name="Text 9"/>
          <p:cNvSpPr txBox="1"/>
          <p:nvPr/>
        </p:nvSpPr>
        <p:spPr>
          <a:xfrm>
            <a:off x="594360" y="2377440"/>
            <a:ext cx="7955280" cy="10515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„Der Staat der Athener“, um 330 v. Chr., für seine Schüler und gebildete Leser.</a:t>
            </a:r>
            <a:endParaRPr lang="en-US" sz="2700" dirty="0"/>
          </a:p>
        </p:txBody>
      </p:sp>
      <p:sp>
        <p:nvSpPr>
          <p:cNvPr id="12" name="Shape 10"/>
          <p:cNvSpPr/>
          <p:nvPr/>
        </p:nvSpPr>
        <p:spPr>
          <a:xfrm>
            <a:off x="411480" y="3566160"/>
            <a:ext cx="8321040" cy="1051560"/>
          </a:xfrm>
          <a:prstGeom prst="roundRect">
            <a:avLst>
              <a:gd name="adj" fmla="val 6957"/>
            </a:avLst>
          </a:prstGeom>
          <a:solidFill>
            <a:srgbClr val="F4ECDE"/>
          </a:solidFill>
          <a:ln w="12700">
            <a:solidFill>
              <a:srgbClr val="F4ECDE"/>
            </a:solidFill>
            <a:prstDash val="solid"/>
          </a:ln>
        </p:spPr>
      </p:sp>
      <p:sp>
        <p:nvSpPr>
          <p:cNvPr id="13" name="Text 11"/>
          <p:cNvSpPr txBox="1"/>
          <p:nvPr/>
        </p:nvSpPr>
        <p:spPr>
          <a:xfrm>
            <a:off x="594360" y="3566160"/>
            <a:ext cx="7955280" cy="10515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Kleisthenes’ Reform war damals rund 180 Jahre her.</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Lösung: formale Aspekte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Text 7"/>
          <p:cNvSpPr txBox="1"/>
          <p:nvPr/>
        </p:nvSpPr>
        <p:spPr>
          <a:xfrm>
            <a:off x="411480" y="1188720"/>
            <a:ext cx="8321040" cy="3566160"/>
          </a:xfrm>
          <a:prstGeom prst="rect">
            <a:avLst/>
          </a:prstGeom>
          <a:noFill/>
          <a:ln/>
        </p:spPr>
        <p:txBody>
          <a:bodyPr wrap="square" lIns="0" tIns="0" rIns="0" bIns="0" rtlCol="0" anchor="t"/>
          <a:lstStyle/>
          <a:p>
            <a:pPr indent="0" marL="0">
              <a:buNone/>
            </a:pPr>
            <a:r>
              <a:rPr lang="en-US" sz="2700" i="1" dirty="0">
                <a:solidFill>
                  <a:srgbClr val="2B2318"/>
                </a:solidFill>
                <a:latin typeface="Calibri" pitchFamily="34" charset="0"/>
                <a:ea typeface="Calibri" pitchFamily="34" charset="-122"/>
                <a:cs typeface="Calibri" pitchFamily="34" charset="-120"/>
              </a:rPr>
              <a:t>„Bei der Quelle handelt es sich um einen Auszug aus der Schrift „Der Staat der Athener“ des griechischen Philosophen Aristoteles, die um 330 v. Chr. in Athen entstand. Sie richtet sich an seine Schüler und gebildete Leser und behandelt die Reformen des Kleisthenes 508/07 v. Chr.“</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2b Inhaltliche Aspekte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Portion 3</a:t>
            </a:r>
            <a:endParaRPr lang="en-US" sz="2700" dirty="0"/>
          </a:p>
        </p:txBody>
      </p:sp>
      <p:sp>
        <p:nvSpPr>
          <p:cNvPr id="9" name="Text 7"/>
          <p:cNvSpPr txBox="1"/>
          <p:nvPr/>
        </p:nvSpPr>
        <p:spPr>
          <a:xfrm>
            <a:off x="411480" y="12344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10" name="Text 8"/>
          <p:cNvSpPr txBox="1"/>
          <p:nvPr/>
        </p:nvSpPr>
        <p:spPr>
          <a:xfrm>
            <a:off x="1005840" y="12161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Wesentliche Aussage je Abschnitt.</a:t>
            </a:r>
            <a:endParaRPr lang="en-US" sz="2700" dirty="0"/>
          </a:p>
        </p:txBody>
      </p:sp>
      <p:sp>
        <p:nvSpPr>
          <p:cNvPr id="11" name="Text 9"/>
          <p:cNvSpPr txBox="1"/>
          <p:nvPr/>
        </p:nvSpPr>
        <p:spPr>
          <a:xfrm>
            <a:off x="411480" y="1892808"/>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2" name="Text 10"/>
          <p:cNvSpPr txBox="1"/>
          <p:nvPr/>
        </p:nvSpPr>
        <p:spPr>
          <a:xfrm>
            <a:off x="1005840" y="1874520"/>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Eigene Worte, indirekte Rede: „er habe …“</a:t>
            </a:r>
            <a:endParaRPr lang="en-US" sz="2700" dirty="0"/>
          </a:p>
        </p:txBody>
      </p:sp>
      <p:sp>
        <p:nvSpPr>
          <p:cNvPr id="13" name="Text 11"/>
          <p:cNvSpPr txBox="1"/>
          <p:nvPr/>
        </p:nvSpPr>
        <p:spPr>
          <a:xfrm>
            <a:off x="411480" y="2551176"/>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4" name="Text 12"/>
          <p:cNvSpPr txBox="1"/>
          <p:nvPr/>
        </p:nvSpPr>
        <p:spPr>
          <a:xfrm>
            <a:off x="1005840" y="2532888"/>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Zeilen angeben: (Z. 6)</a:t>
            </a:r>
            <a:endParaRPr lang="en-US" sz="2700" dirty="0"/>
          </a:p>
        </p:txBody>
      </p:sp>
      <p:sp>
        <p:nvSpPr>
          <p:cNvPr id="15" name="Text 13"/>
          <p:cNvSpPr txBox="1"/>
          <p:nvPr/>
        </p:nvSpPr>
        <p:spPr>
          <a:xfrm>
            <a:off x="411480" y="3209544"/>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4</a:t>
            </a:r>
            <a:endParaRPr lang="en-US" sz="2700" dirty="0"/>
          </a:p>
        </p:txBody>
      </p:sp>
      <p:sp>
        <p:nvSpPr>
          <p:cNvPr id="16" name="Text 14"/>
          <p:cNvSpPr txBox="1"/>
          <p:nvPr/>
        </p:nvSpPr>
        <p:spPr>
          <a:xfrm>
            <a:off x="1005840" y="3191256"/>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Schlüsselbegriffe und Textsprache</a:t>
            </a:r>
            <a:endParaRPr lang="en-US" sz="2700" dirty="0"/>
          </a:p>
        </p:txBody>
      </p:sp>
      <p:sp>
        <p:nvSpPr>
          <p:cNvPr id="17" name="Shape 15"/>
          <p:cNvSpPr/>
          <p:nvPr/>
        </p:nvSpPr>
        <p:spPr>
          <a:xfrm>
            <a:off x="411480" y="3931920"/>
            <a:ext cx="8321040" cy="777240"/>
          </a:xfrm>
          <a:prstGeom prst="roundRect">
            <a:avLst>
              <a:gd name="adj" fmla="val 9412"/>
            </a:avLst>
          </a:prstGeom>
          <a:solidFill>
            <a:srgbClr val="2B2318"/>
          </a:solidFill>
          <a:ln w="12700">
            <a:solidFill>
              <a:srgbClr val="2B2318"/>
            </a:solidFill>
            <a:prstDash val="solid"/>
          </a:ln>
        </p:spPr>
      </p:sp>
      <p:sp>
        <p:nvSpPr>
          <p:cNvPr id="18" name="Text 16"/>
          <p:cNvSpPr txBox="1"/>
          <p:nvPr/>
        </p:nvSpPr>
        <p:spPr>
          <a:xfrm>
            <a:off x="594360" y="3931920"/>
            <a:ext cx="7955280" cy="777240"/>
          </a:xfrm>
          <a:prstGeom prst="rect">
            <a:avLst/>
          </a:prstGeom>
          <a:noFill/>
          <a:ln/>
        </p:spPr>
        <p:txBody>
          <a:bodyPr wrap="square" lIns="0" tIns="0" rIns="0" bIns="0" rtlCol="0" anchor="ctr"/>
          <a:lstStyle/>
          <a:p>
            <a:pPr indent="0" marL="0">
              <a:buNone/>
            </a:pPr>
            <a:r>
              <a:rPr lang="en-US" sz="2700" b="1" dirty="0">
                <a:solidFill>
                  <a:srgbClr val="D9A441"/>
                </a:solidFill>
                <a:latin typeface="Calibri" pitchFamily="34" charset="0"/>
                <a:ea typeface="Calibri" pitchFamily="34" charset="-122"/>
                <a:cs typeface="Calibri" pitchFamily="34" charset="-120"/>
              </a:rPr>
              <a:t>⚠ Noch keine Meinung – die kommt erst in Schritt 4.</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So geht's: Z. 1–4</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Lehrkraft</a:t>
            </a:r>
            <a:endParaRPr lang="en-US" sz="2700" dirty="0"/>
          </a:p>
        </p:txBody>
      </p:sp>
      <p:sp>
        <p:nvSpPr>
          <p:cNvPr id="9" name="Text 7"/>
          <p:cNvSpPr txBox="1"/>
          <p:nvPr/>
        </p:nvSpPr>
        <p:spPr>
          <a:xfrm>
            <a:off x="411480" y="1188720"/>
            <a:ext cx="8321040" cy="3566160"/>
          </a:xfrm>
          <a:prstGeom prst="rect">
            <a:avLst/>
          </a:prstGeom>
          <a:noFill/>
          <a:ln/>
        </p:spPr>
        <p:txBody>
          <a:bodyPr wrap="square" lIns="0" tIns="0" rIns="0" bIns="0" rtlCol="0" anchor="t"/>
          <a:lstStyle/>
          <a:p>
            <a:pPr indent="0" marL="0">
              <a:buNone/>
            </a:pPr>
            <a:r>
              <a:rPr lang="en-US" sz="2700" i="1" dirty="0">
                <a:solidFill>
                  <a:srgbClr val="2B2318"/>
                </a:solidFill>
                <a:latin typeface="Calibri" pitchFamily="34" charset="0"/>
                <a:ea typeface="Calibri" pitchFamily="34" charset="-122"/>
                <a:cs typeface="Calibri" pitchFamily="34" charset="-120"/>
              </a:rPr>
              <a:t>„Zunächst berichtet Aristoteles, nach dem Sturz der Tyrannen hätten Isagoras und Kleisthenes um die Macht gekämpft (Z. 1). Kleisthenes habe das Volk für sich gewonnen, indem er ihm die Macht im Staat übergeben habe (Z. 2–4).“</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Jetzt ihr: Inhalt</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10 Min.</a:t>
            </a:r>
            <a:endParaRPr lang="en-US" sz="2700" dirty="0"/>
          </a:p>
        </p:txBody>
      </p:sp>
      <p:sp>
        <p:nvSpPr>
          <p:cNvPr id="9" name="Text 7"/>
          <p:cNvSpPr txBox="1"/>
          <p:nvPr/>
        </p:nvSpPr>
        <p:spPr>
          <a:xfrm>
            <a:off x="411480" y="12344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10" name="Text 8"/>
          <p:cNvSpPr txBox="1"/>
          <p:nvPr/>
        </p:nvSpPr>
        <p:spPr>
          <a:xfrm>
            <a:off x="1005840" y="12161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Lest Z. 5–14 zu zweit.</a:t>
            </a:r>
            <a:endParaRPr lang="en-US" sz="2700" dirty="0"/>
          </a:p>
        </p:txBody>
      </p:sp>
      <p:sp>
        <p:nvSpPr>
          <p:cNvPr id="11" name="Text 9"/>
          <p:cNvSpPr txBox="1"/>
          <p:nvPr/>
        </p:nvSpPr>
        <p:spPr>
          <a:xfrm>
            <a:off x="411480" y="19202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2" name="Text 10"/>
          <p:cNvSpPr txBox="1"/>
          <p:nvPr/>
        </p:nvSpPr>
        <p:spPr>
          <a:xfrm>
            <a:off x="1005840" y="19019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Schreibt Z. 5–8 mit dem Satzanfang.</a:t>
            </a:r>
            <a:endParaRPr lang="en-US" sz="2700" dirty="0"/>
          </a:p>
        </p:txBody>
      </p:sp>
      <p:sp>
        <p:nvSpPr>
          <p:cNvPr id="13" name="Text 11"/>
          <p:cNvSpPr txBox="1"/>
          <p:nvPr/>
        </p:nvSpPr>
        <p:spPr>
          <a:xfrm>
            <a:off x="411480" y="26060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4" name="Text 12"/>
          <p:cNvSpPr txBox="1"/>
          <p:nvPr/>
        </p:nvSpPr>
        <p:spPr>
          <a:xfrm>
            <a:off x="1005840" y="25877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Schreibt Z. 9–12 mit dem Satzanfang.</a:t>
            </a:r>
            <a:endParaRPr lang="en-US" sz="2700" dirty="0"/>
          </a:p>
        </p:txBody>
      </p:sp>
      <p:sp>
        <p:nvSpPr>
          <p:cNvPr id="15" name="Text 13"/>
          <p:cNvSpPr txBox="1"/>
          <p:nvPr/>
        </p:nvSpPr>
        <p:spPr>
          <a:xfrm>
            <a:off x="411480" y="32918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4</a:t>
            </a:r>
            <a:endParaRPr lang="en-US" sz="2700" dirty="0"/>
          </a:p>
        </p:txBody>
      </p:sp>
      <p:sp>
        <p:nvSpPr>
          <p:cNvPr id="16" name="Text 14"/>
          <p:cNvSpPr txBox="1"/>
          <p:nvPr/>
        </p:nvSpPr>
        <p:spPr>
          <a:xfrm>
            <a:off x="1005840" y="32735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Schreibt Z. 12–14 ganz allein.</a:t>
            </a:r>
            <a:endParaRPr lang="en-US" sz="2700" dirty="0"/>
          </a:p>
        </p:txBody>
      </p:sp>
      <p:sp>
        <p:nvSpPr>
          <p:cNvPr id="17" name="Text 15"/>
          <p:cNvSpPr txBox="1"/>
          <p:nvPr/>
        </p:nvSpPr>
        <p:spPr>
          <a:xfrm>
            <a:off x="411480" y="3977640"/>
            <a:ext cx="457200" cy="457200"/>
          </a:xfrm>
          <a:prstGeom prst="ellipse">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5</a:t>
            </a:r>
            <a:endParaRPr lang="en-US" sz="2700" dirty="0"/>
          </a:p>
        </p:txBody>
      </p:sp>
      <p:sp>
        <p:nvSpPr>
          <p:cNvPr id="18" name="Text 16"/>
          <p:cNvSpPr txBox="1"/>
          <p:nvPr/>
        </p:nvSpPr>
        <p:spPr>
          <a:xfrm>
            <a:off x="1005840" y="3959352"/>
            <a:ext cx="7772400" cy="50292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Notiert Begriffe, kreuzt die Sprache an.</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Aristoteles</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F4ECDE"/>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Z. 1–4</a:t>
            </a:r>
            <a:endParaRPr lang="en-US" sz="2700" dirty="0"/>
          </a:p>
        </p:txBody>
      </p:sp>
      <p:sp>
        <p:nvSpPr>
          <p:cNvPr id="9" name="Text 7"/>
          <p:cNvSpPr txBox="1"/>
          <p:nvPr/>
        </p:nvSpPr>
        <p:spPr>
          <a:xfrm>
            <a:off x="411480" y="1188720"/>
            <a:ext cx="8321040" cy="3657600"/>
          </a:xfrm>
          <a:prstGeom prst="rect">
            <a:avLst/>
          </a:prstGeom>
          <a:noFill/>
          <a:ln/>
        </p:spPr>
        <p:txBody>
          <a:bodyPr wrap="square" lIns="0" tIns="0" rIns="0" bIns="0" rtlCol="0" anchor="t"/>
          <a:lstStyle/>
          <a:p>
            <a:pPr indent="0" marL="0">
              <a:buNone/>
            </a:pPr>
            <a:r>
              <a:rPr lang="en-US" sz="2700" dirty="0">
                <a:solidFill>
                  <a:srgbClr val="2B2318"/>
                </a:solidFill>
                <a:latin typeface="Calibri" pitchFamily="34" charset="0"/>
                <a:ea typeface="Calibri" pitchFamily="34" charset="-122"/>
                <a:cs typeface="Calibri" pitchFamily="34" charset="-120"/>
              </a:rPr>
              <a:t>Nach dem Sturz der Tyrannen kämpften Isagoras und Kleisthenes um die Macht. Kleisthenes stammte aus der Familie der Alkmeoniden. Weil er in den Bünden der Adligen unterlag, gewann er das Volk für sich, indem er der Menge die Macht im Staat übergab. […] Da das Volk ihm vertraute, wurde er sein Anführer.</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Aristoteles</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F4ECDE"/>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Z. 5–8</a:t>
            </a:r>
            <a:endParaRPr lang="en-US" sz="2700" dirty="0"/>
          </a:p>
        </p:txBody>
      </p:sp>
      <p:sp>
        <p:nvSpPr>
          <p:cNvPr id="9" name="Text 7"/>
          <p:cNvSpPr txBox="1"/>
          <p:nvPr/>
        </p:nvSpPr>
        <p:spPr>
          <a:xfrm>
            <a:off x="411480" y="1188720"/>
            <a:ext cx="8321040" cy="3657600"/>
          </a:xfrm>
          <a:prstGeom prst="rect">
            <a:avLst/>
          </a:prstGeom>
          <a:noFill/>
          <a:ln/>
        </p:spPr>
        <p:txBody>
          <a:bodyPr wrap="square" lIns="0" tIns="0" rIns="0" bIns="0" rtlCol="0" anchor="t"/>
          <a:lstStyle/>
          <a:p>
            <a:pPr indent="0" marL="0">
              <a:buNone/>
            </a:pPr>
            <a:r>
              <a:rPr lang="en-US" sz="2700" dirty="0">
                <a:solidFill>
                  <a:srgbClr val="2B2318"/>
                </a:solidFill>
                <a:latin typeface="Calibri" pitchFamily="34" charset="0"/>
                <a:ea typeface="Calibri" pitchFamily="34" charset="-122"/>
                <a:cs typeface="Calibri" pitchFamily="34" charset="-120"/>
              </a:rPr>
              <a:t>Im vierten Jahr nach dem Sturz der Tyrannen teilte er zuerst alle Bürger in zehn Phylen statt in vier ein. Er wollte sie miteinander vermischen, damit mehr Menschen an der Leitung des Staates teilhätten. Dann richtete er einen Rat der 500 statt der 400 ein, fünfzig Männer aus jeder Phyle.</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Aristoteles</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F4ECDE"/>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Z. 9–14</a:t>
            </a:r>
            <a:endParaRPr lang="en-US" sz="2700" dirty="0"/>
          </a:p>
        </p:txBody>
      </p:sp>
      <p:sp>
        <p:nvSpPr>
          <p:cNvPr id="9" name="Text 7"/>
          <p:cNvSpPr txBox="1"/>
          <p:nvPr/>
        </p:nvSpPr>
        <p:spPr>
          <a:xfrm>
            <a:off x="411480" y="1188720"/>
            <a:ext cx="8321040" cy="3657600"/>
          </a:xfrm>
          <a:prstGeom prst="rect">
            <a:avLst/>
          </a:prstGeom>
          <a:noFill/>
          <a:ln/>
        </p:spPr>
        <p:txBody>
          <a:bodyPr wrap="square" lIns="0" tIns="0" rIns="0" bIns="0" rtlCol="0" anchor="t"/>
          <a:lstStyle/>
          <a:p>
            <a:pPr indent="0" marL="0">
              <a:buNone/>
            </a:pPr>
            <a:r>
              <a:rPr lang="en-US" sz="2700" dirty="0">
                <a:solidFill>
                  <a:srgbClr val="2B2318"/>
                </a:solidFill>
                <a:latin typeface="Calibri" pitchFamily="34" charset="0"/>
                <a:ea typeface="Calibri" pitchFamily="34" charset="-122"/>
                <a:cs typeface="Calibri" pitchFamily="34" charset="-120"/>
              </a:rPr>
              <a:t>Das Land teilte er nach den Demen in dreißig Teile: zehn um die Stadt, zehn an der Küste und zehn im Binnenland. Diese Teile nannte er Trittyen. Durch das Los teilte er jeder Phyle drei Trittyen zu, damit jede Phyle an allen Gebieten Anteil hatte. Die Bewohner eines Demos ließ er nach ihrem Demos benennen und nicht mehr nach ihrem Vater, damit man die neuen Bürger nicht an ihrem Namen erkennen konnte.</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Lösung: Z. 5–8</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Text 7"/>
          <p:cNvSpPr txBox="1"/>
          <p:nvPr/>
        </p:nvSpPr>
        <p:spPr>
          <a:xfrm>
            <a:off x="411480" y="1188720"/>
            <a:ext cx="8321040" cy="3566160"/>
          </a:xfrm>
          <a:prstGeom prst="rect">
            <a:avLst/>
          </a:prstGeom>
          <a:noFill/>
          <a:ln/>
        </p:spPr>
        <p:txBody>
          <a:bodyPr wrap="square" lIns="0" tIns="0" rIns="0" bIns="0" rtlCol="0" anchor="t"/>
          <a:lstStyle/>
          <a:p>
            <a:pPr indent="0" marL="0">
              <a:buNone/>
            </a:pPr>
            <a:r>
              <a:rPr lang="en-US" sz="2700" i="1" dirty="0">
                <a:solidFill>
                  <a:srgbClr val="2B2318"/>
                </a:solidFill>
                <a:latin typeface="Calibri" pitchFamily="34" charset="0"/>
                <a:ea typeface="Calibri" pitchFamily="34" charset="-122"/>
                <a:cs typeface="Calibri" pitchFamily="34" charset="-120"/>
              </a:rPr>
              <a:t>„Anschließend erklärt er, Kleisthenes habe die Bürger in zehn statt vier Phylen eingeteilt, um sie zu vermischen und mehr Menschen an der Politik zu beteiligen (Z. 5–7). Außerdem habe er einen Rat der 500 mit fünfzig Männern aus jeder Phyle geschaffen (Z. 7f.).“</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Lösung: Z. 9–12</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Text 7"/>
          <p:cNvSpPr txBox="1"/>
          <p:nvPr/>
        </p:nvSpPr>
        <p:spPr>
          <a:xfrm>
            <a:off x="411480" y="1188720"/>
            <a:ext cx="8321040" cy="3566160"/>
          </a:xfrm>
          <a:prstGeom prst="rect">
            <a:avLst/>
          </a:prstGeom>
          <a:noFill/>
          <a:ln/>
        </p:spPr>
        <p:txBody>
          <a:bodyPr wrap="square" lIns="0" tIns="0" rIns="0" bIns="0" rtlCol="0" anchor="t"/>
          <a:lstStyle/>
          <a:p>
            <a:pPr indent="0" marL="0">
              <a:buNone/>
            </a:pPr>
            <a:r>
              <a:rPr lang="en-US" sz="2700" i="1" dirty="0">
                <a:solidFill>
                  <a:srgbClr val="2B2318"/>
                </a:solidFill>
                <a:latin typeface="Calibri" pitchFamily="34" charset="0"/>
                <a:ea typeface="Calibri" pitchFamily="34" charset="-122"/>
                <a:cs typeface="Calibri" pitchFamily="34" charset="-120"/>
              </a:rPr>
              <a:t>„Außerdem habe Kleisthenes das Land in dreißig Trittyen geteilt, je zehn um die Stadt, an der Küste und im Binnenland (Z. 9f.). Jeder Phyle seien durch das Los drei Trittyen zugeteilt worden, damit sie an allen Gebieten Anteil habe (Z. 11f.).“</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Lösung: Z. 12–14</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Text 7"/>
          <p:cNvSpPr txBox="1"/>
          <p:nvPr/>
        </p:nvSpPr>
        <p:spPr>
          <a:xfrm>
            <a:off x="411480" y="1188720"/>
            <a:ext cx="8321040" cy="3566160"/>
          </a:xfrm>
          <a:prstGeom prst="rect">
            <a:avLst/>
          </a:prstGeom>
          <a:noFill/>
          <a:ln/>
        </p:spPr>
        <p:txBody>
          <a:bodyPr wrap="square" lIns="0" tIns="0" rIns="0" bIns="0" rtlCol="0" anchor="t"/>
          <a:lstStyle/>
          <a:p>
            <a:pPr indent="0" marL="0">
              <a:buNone/>
            </a:pPr>
            <a:r>
              <a:rPr lang="en-US" sz="2700" i="1" dirty="0">
                <a:solidFill>
                  <a:srgbClr val="2B2318"/>
                </a:solidFill>
                <a:latin typeface="Calibri" pitchFamily="34" charset="0"/>
                <a:ea typeface="Calibri" pitchFamily="34" charset="-122"/>
                <a:cs typeface="Calibri" pitchFamily="34" charset="-120"/>
              </a:rPr>
              <a:t>„Schließlich habe er bestimmt, dass man sich nach seinem Demos und nicht mehr nach dem Vater benennt, damit man die neuen Bürger nicht erkennen konnte (Z. 12–14).“</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Lösung: Begriffe, Sprache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Shape 7"/>
          <p:cNvSpPr/>
          <p:nvPr/>
        </p:nvSpPr>
        <p:spPr>
          <a:xfrm>
            <a:off x="411480" y="1188720"/>
            <a:ext cx="8321040" cy="1097280"/>
          </a:xfrm>
          <a:prstGeom prst="roundRect">
            <a:avLst>
              <a:gd name="adj" fmla="val 6667"/>
            </a:avLst>
          </a:prstGeom>
          <a:solidFill>
            <a:srgbClr val="F4ECDE"/>
          </a:solidFill>
          <a:ln w="12700">
            <a:solidFill>
              <a:srgbClr val="F4ECDE"/>
            </a:solidFill>
            <a:prstDash val="solid"/>
          </a:ln>
        </p:spPr>
      </p:sp>
      <p:sp>
        <p:nvSpPr>
          <p:cNvPr id="10" name="Text 8"/>
          <p:cNvSpPr txBox="1"/>
          <p:nvPr/>
        </p:nvSpPr>
        <p:spPr>
          <a:xfrm>
            <a:off x="594360" y="1188720"/>
            <a:ext cx="7955280" cy="1097280"/>
          </a:xfrm>
          <a:prstGeom prst="rect">
            <a:avLst/>
          </a:prstGeom>
          <a:noFill/>
          <a:ln/>
        </p:spPr>
        <p:txBody>
          <a:bodyPr wrap="square" lIns="0" tIns="0" rIns="0" bIns="0" rtlCol="0" anchor="ctr"/>
          <a:lstStyle/>
          <a:p>
            <a:pPr indent="0" marL="0">
              <a:buNone/>
            </a:pPr>
            <a:r>
              <a:rPr lang="en-US" sz="2700" b="1" dirty="0">
                <a:solidFill>
                  <a:srgbClr val="2B2318"/>
                </a:solidFill>
                <a:latin typeface="Calibri" pitchFamily="34" charset="0"/>
                <a:ea typeface="Calibri" pitchFamily="34" charset="-122"/>
                <a:cs typeface="Calibri" pitchFamily="34" charset="-120"/>
              </a:rPr>
              <a:t>Phylen – vermischen – Rat der 500 – Trittyen – Demos</a:t>
            </a:r>
            <a:endParaRPr lang="en-US" sz="2700" dirty="0"/>
          </a:p>
        </p:txBody>
      </p:sp>
      <p:sp>
        <p:nvSpPr>
          <p:cNvPr id="11" name="Text 9"/>
          <p:cNvSpPr txBox="1"/>
          <p:nvPr/>
        </p:nvSpPr>
        <p:spPr>
          <a:xfrm>
            <a:off x="411480" y="2514600"/>
            <a:ext cx="8321040" cy="1463040"/>
          </a:xfrm>
          <a:prstGeom prst="rect">
            <a:avLst/>
          </a:prstGeom>
          <a:noFill/>
          <a:ln/>
        </p:spPr>
        <p:txBody>
          <a:bodyPr wrap="square" lIns="0" tIns="0" rIns="0" bIns="0" rtlCol="0" anchor="t"/>
          <a:lstStyle/>
          <a:p>
            <a:pPr indent="0" marL="0">
              <a:buNone/>
            </a:pPr>
            <a:r>
              <a:rPr lang="en-US" sz="2700" dirty="0">
                <a:solidFill>
                  <a:srgbClr val="2B2318"/>
                </a:solidFill>
                <a:latin typeface="Calibri" pitchFamily="34" charset="0"/>
                <a:ea typeface="Calibri" pitchFamily="34" charset="-122"/>
                <a:cs typeface="Calibri" pitchFamily="34" charset="-120"/>
              </a:rPr>
              <a:t>Sprache: sachlich und erklärend – er nennt mit „damit …“ den Zweck (Z. 7, 11, 13).</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Kontext und Urteil*</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F4ECDE"/>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nur bei Zeit</a:t>
            </a:r>
            <a:endParaRPr lang="en-US" sz="2700" dirty="0"/>
          </a:p>
        </p:txBody>
      </p:sp>
      <p:sp>
        <p:nvSpPr>
          <p:cNvPr id="9" name="Shape 7"/>
          <p:cNvSpPr/>
          <p:nvPr/>
        </p:nvSpPr>
        <p:spPr>
          <a:xfrm>
            <a:off x="411480" y="1188720"/>
            <a:ext cx="8321040" cy="1508760"/>
          </a:xfrm>
          <a:prstGeom prst="roundRect">
            <a:avLst>
              <a:gd name="adj" fmla="val 4848"/>
            </a:avLst>
          </a:prstGeom>
          <a:solidFill>
            <a:srgbClr val="F4ECDE"/>
          </a:solidFill>
          <a:ln w="12700">
            <a:solidFill>
              <a:srgbClr val="F4ECDE"/>
            </a:solidFill>
            <a:prstDash val="solid"/>
          </a:ln>
        </p:spPr>
      </p:sp>
      <p:sp>
        <p:nvSpPr>
          <p:cNvPr id="10" name="Text 8"/>
          <p:cNvSpPr txBox="1"/>
          <p:nvPr/>
        </p:nvSpPr>
        <p:spPr>
          <a:xfrm>
            <a:off x="594360" y="1188720"/>
            <a:ext cx="7955280" cy="15087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Kontext: Nach dem Sturz der Tyrannis (510) kämpfte der Adel wieder um die Macht.</a:t>
            </a:r>
            <a:endParaRPr lang="en-US" sz="2700" dirty="0"/>
          </a:p>
        </p:txBody>
      </p:sp>
      <p:sp>
        <p:nvSpPr>
          <p:cNvPr id="11" name="Shape 9"/>
          <p:cNvSpPr/>
          <p:nvPr/>
        </p:nvSpPr>
        <p:spPr>
          <a:xfrm>
            <a:off x="411480" y="2880360"/>
            <a:ext cx="8321040" cy="1280160"/>
          </a:xfrm>
          <a:prstGeom prst="roundRect">
            <a:avLst>
              <a:gd name="adj" fmla="val 5714"/>
            </a:avLst>
          </a:prstGeom>
          <a:solidFill>
            <a:srgbClr val="2B2318"/>
          </a:solidFill>
          <a:ln w="12700">
            <a:solidFill>
              <a:srgbClr val="2B2318"/>
            </a:solidFill>
            <a:prstDash val="solid"/>
          </a:ln>
        </p:spPr>
      </p:sp>
      <p:sp>
        <p:nvSpPr>
          <p:cNvPr id="12" name="Text 10"/>
          <p:cNvSpPr txBox="1"/>
          <p:nvPr/>
        </p:nvSpPr>
        <p:spPr>
          <a:xfrm>
            <a:off x="594360" y="2880360"/>
            <a:ext cx="7955280" cy="1280160"/>
          </a:xfrm>
          <a:prstGeom prst="rect">
            <a:avLst/>
          </a:prstGeom>
          <a:noFill/>
          <a:ln/>
        </p:spPr>
        <p:txBody>
          <a:bodyPr wrap="square" lIns="0" tIns="0" rIns="0" bIns="0" rtlCol="0" anchor="ctr"/>
          <a:lstStyle/>
          <a:p>
            <a:pPr indent="0" marL="0">
              <a:buNone/>
            </a:pPr>
            <a:r>
              <a:rPr lang="en-US" sz="2700" b="1" dirty="0">
                <a:solidFill>
                  <a:srgbClr val="D9A441"/>
                </a:solidFill>
                <a:latin typeface="Calibri" pitchFamily="34" charset="0"/>
                <a:ea typeface="Calibri" pitchFamily="34" charset="-122"/>
                <a:cs typeface="Calibri" pitchFamily="34" charset="-120"/>
              </a:rPr>
              <a:t>Sachurteil: Aristoteles schrieb 180 Jahre später – er war nicht dabei.</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Abschlussaufgabe</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2B2318"/>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4 Min.</a:t>
            </a:r>
            <a:endParaRPr lang="en-US" sz="2700" dirty="0"/>
          </a:p>
        </p:txBody>
      </p:sp>
      <p:sp>
        <p:nvSpPr>
          <p:cNvPr id="9" name="Text 7"/>
          <p:cNvSpPr txBox="1"/>
          <p:nvPr/>
        </p:nvSpPr>
        <p:spPr>
          <a:xfrm>
            <a:off x="411480" y="1143000"/>
            <a:ext cx="8321040" cy="45720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Ein Mitschüler zeigt dir seinen Klausur-Anfang:</a:t>
            </a:r>
            <a:endParaRPr lang="en-US" sz="2700" dirty="0"/>
          </a:p>
        </p:txBody>
      </p:sp>
      <p:sp>
        <p:nvSpPr>
          <p:cNvPr id="10" name="Shape 8"/>
          <p:cNvSpPr/>
          <p:nvPr/>
        </p:nvSpPr>
        <p:spPr>
          <a:xfrm>
            <a:off x="411480" y="1645920"/>
            <a:ext cx="8321040" cy="1920240"/>
          </a:xfrm>
          <a:prstGeom prst="roundRect">
            <a:avLst>
              <a:gd name="adj" fmla="val 3810"/>
            </a:avLst>
          </a:prstGeom>
          <a:solidFill>
            <a:srgbClr val="F4ECDE"/>
          </a:solidFill>
          <a:ln w="12700">
            <a:solidFill>
              <a:srgbClr val="F4ECDE"/>
            </a:solidFill>
            <a:prstDash val="solid"/>
          </a:ln>
        </p:spPr>
      </p:sp>
      <p:sp>
        <p:nvSpPr>
          <p:cNvPr id="11" name="Text 9"/>
          <p:cNvSpPr txBox="1"/>
          <p:nvPr/>
        </p:nvSpPr>
        <p:spPr>
          <a:xfrm>
            <a:off x="594360" y="1645920"/>
            <a:ext cx="7955280" cy="1920240"/>
          </a:xfrm>
          <a:prstGeom prst="rect">
            <a:avLst/>
          </a:prstGeom>
          <a:noFill/>
          <a:ln/>
        </p:spPr>
        <p:txBody>
          <a:bodyPr wrap="square" lIns="0" tIns="0" rIns="0" bIns="0" rtlCol="0" anchor="ctr"/>
          <a:lstStyle/>
          <a:p>
            <a:pPr indent="0" marL="0">
              <a:buNone/>
            </a:pPr>
            <a:r>
              <a:rPr lang="en-US" sz="2700" i="1" dirty="0">
                <a:solidFill>
                  <a:srgbClr val="2B2318"/>
                </a:solidFill>
                <a:latin typeface="Calibri" pitchFamily="34" charset="0"/>
                <a:ea typeface="Calibri" pitchFamily="34" charset="-122"/>
                <a:cs typeface="Calibri" pitchFamily="34" charset="-120"/>
              </a:rPr>
              <a:t>„Aristoteles war dabei, als Kleisthenes die Demokratie einführte. Kleisthenes teilte die Bürger in zehn Phylen ein. Das war eine sehr gute Idee.“</a:t>
            </a:r>
            <a:endParaRPr lang="en-US" sz="2700" dirty="0"/>
          </a:p>
        </p:txBody>
      </p:sp>
      <p:sp>
        <p:nvSpPr>
          <p:cNvPr id="12" name="Shape 10"/>
          <p:cNvSpPr/>
          <p:nvPr/>
        </p:nvSpPr>
        <p:spPr>
          <a:xfrm>
            <a:off x="411480" y="3749040"/>
            <a:ext cx="8321040" cy="822960"/>
          </a:xfrm>
          <a:prstGeom prst="roundRect">
            <a:avLst>
              <a:gd name="adj" fmla="val 8889"/>
            </a:avLst>
          </a:prstGeom>
          <a:solidFill>
            <a:srgbClr val="2B2318"/>
          </a:solidFill>
          <a:ln w="12700">
            <a:solidFill>
              <a:srgbClr val="2B2318"/>
            </a:solidFill>
            <a:prstDash val="solid"/>
          </a:ln>
        </p:spPr>
      </p:sp>
      <p:sp>
        <p:nvSpPr>
          <p:cNvPr id="13" name="Text 11"/>
          <p:cNvSpPr txBox="1"/>
          <p:nvPr/>
        </p:nvSpPr>
        <p:spPr>
          <a:xfrm>
            <a:off x="594360" y="3749040"/>
            <a:ext cx="7955280" cy="82296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Gib ihm drei Ratschläge: „Ich rate dir …, weil …“</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F4ECDE"/>
          </a:solidFill>
          <a:ln/>
        </p:spPr>
        <p:txBody>
          <a:bodyPr wrap="square" lIns="0" tIns="0" rIns="0" bIns="0" rtlCol="0" anchor="ctr"/>
          <a:lstStyle/>
          <a:p>
            <a:pPr algn="ctr" indent="0" marL="0">
              <a:buNone/>
            </a:pPr>
            <a:r>
              <a:rPr lang="en-US" sz="2700" b="1" dirty="0">
                <a:solidFill>
                  <a:srgbClr val="998C77"/>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2B2318"/>
                </a:solidFill>
                <a:latin typeface="Cambria" pitchFamily="34" charset="0"/>
                <a:ea typeface="Cambria" pitchFamily="34" charset="-122"/>
                <a:cs typeface="Cambria" pitchFamily="34" charset="-120"/>
              </a:rPr>
              <a:t>So könnte es lauten</a:t>
            </a:r>
            <a:endParaRPr lang="en-US" sz="3600" dirty="0"/>
          </a:p>
        </p:txBody>
      </p:sp>
      <p:sp>
        <p:nvSpPr>
          <p:cNvPr id="8" name="Text 6"/>
          <p:cNvSpPr txBox="1"/>
          <p:nvPr/>
        </p:nvSpPr>
        <p:spPr>
          <a:xfrm>
            <a:off x="6537960" y="603504"/>
            <a:ext cx="21945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2700" b="1" dirty="0">
                <a:solidFill>
                  <a:srgbClr val="2B2318"/>
                </a:solidFill>
                <a:latin typeface="Calibri" pitchFamily="34" charset="0"/>
                <a:ea typeface="Calibri" pitchFamily="34" charset="-122"/>
                <a:cs typeface="Calibri" pitchFamily="34" charset="-120"/>
              </a:rPr>
              <a:t>Lösung</a:t>
            </a:r>
            <a:endParaRPr lang="en-US" sz="2700" dirty="0"/>
          </a:p>
        </p:txBody>
      </p:sp>
      <p:sp>
        <p:nvSpPr>
          <p:cNvPr id="9" name="Shape 7"/>
          <p:cNvSpPr/>
          <p:nvPr/>
        </p:nvSpPr>
        <p:spPr>
          <a:xfrm>
            <a:off x="411480" y="1188720"/>
            <a:ext cx="8321040" cy="1051560"/>
          </a:xfrm>
          <a:prstGeom prst="roundRect">
            <a:avLst>
              <a:gd name="adj" fmla="val 6957"/>
            </a:avLst>
          </a:prstGeom>
          <a:solidFill>
            <a:srgbClr val="F4ECDE"/>
          </a:solidFill>
          <a:ln w="12700">
            <a:solidFill>
              <a:srgbClr val="F4ECDE"/>
            </a:solidFill>
            <a:prstDash val="solid"/>
          </a:ln>
        </p:spPr>
      </p:sp>
      <p:sp>
        <p:nvSpPr>
          <p:cNvPr id="10" name="Text 8"/>
          <p:cNvSpPr txBox="1"/>
          <p:nvPr/>
        </p:nvSpPr>
        <p:spPr>
          <a:xfrm>
            <a:off x="594360" y="1188720"/>
            <a:ext cx="7955280" cy="10515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Ich rate dir, die Lebensdaten zu prüfen, weil Aristoteles 180 Jahre später schrieb.</a:t>
            </a:r>
            <a:endParaRPr lang="en-US" sz="2700" dirty="0"/>
          </a:p>
        </p:txBody>
      </p:sp>
      <p:sp>
        <p:nvSpPr>
          <p:cNvPr id="11" name="Shape 9"/>
          <p:cNvSpPr/>
          <p:nvPr/>
        </p:nvSpPr>
        <p:spPr>
          <a:xfrm>
            <a:off x="411480" y="2377440"/>
            <a:ext cx="8321040" cy="1051560"/>
          </a:xfrm>
          <a:prstGeom prst="roundRect">
            <a:avLst>
              <a:gd name="adj" fmla="val 6957"/>
            </a:avLst>
          </a:prstGeom>
          <a:solidFill>
            <a:srgbClr val="FFFFFF"/>
          </a:solidFill>
          <a:ln w="12700">
            <a:solidFill>
              <a:srgbClr val="FFFFFF"/>
            </a:solidFill>
            <a:prstDash val="solid"/>
          </a:ln>
        </p:spPr>
      </p:sp>
      <p:sp>
        <p:nvSpPr>
          <p:cNvPr id="12" name="Text 10"/>
          <p:cNvSpPr txBox="1"/>
          <p:nvPr/>
        </p:nvSpPr>
        <p:spPr>
          <a:xfrm>
            <a:off x="594360" y="2377440"/>
            <a:ext cx="7955280" cy="10515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Ich rate dir, indirekte Rede und Zeilen zu nutzen, weil du wiedergibst, was er sagt.</a:t>
            </a:r>
            <a:endParaRPr lang="en-US" sz="2700" dirty="0"/>
          </a:p>
        </p:txBody>
      </p:sp>
      <p:sp>
        <p:nvSpPr>
          <p:cNvPr id="13" name="Shape 11"/>
          <p:cNvSpPr/>
          <p:nvPr/>
        </p:nvSpPr>
        <p:spPr>
          <a:xfrm>
            <a:off x="411480" y="3566160"/>
            <a:ext cx="8321040" cy="1051560"/>
          </a:xfrm>
          <a:prstGeom prst="roundRect">
            <a:avLst>
              <a:gd name="adj" fmla="val 6957"/>
            </a:avLst>
          </a:prstGeom>
          <a:solidFill>
            <a:srgbClr val="F4ECDE"/>
          </a:solidFill>
          <a:ln w="12700">
            <a:solidFill>
              <a:srgbClr val="F4ECDE"/>
            </a:solidFill>
            <a:prstDash val="solid"/>
          </a:ln>
        </p:spPr>
      </p:sp>
      <p:sp>
        <p:nvSpPr>
          <p:cNvPr id="14" name="Text 12"/>
          <p:cNvSpPr txBox="1"/>
          <p:nvPr/>
        </p:nvSpPr>
        <p:spPr>
          <a:xfrm>
            <a:off x="594360" y="3566160"/>
            <a:ext cx="7955280" cy="1051560"/>
          </a:xfrm>
          <a:prstGeom prst="rect">
            <a:avLst/>
          </a:prstGeom>
          <a:noFill/>
          <a:ln/>
        </p:spPr>
        <p:txBody>
          <a:bodyPr wrap="square" lIns="0" tIns="0" rIns="0" bIns="0" rtlCol="0" anchor="ctr"/>
          <a:lstStyle/>
          <a:p>
            <a:pPr indent="0" marL="0">
              <a:buNone/>
            </a:pPr>
            <a:r>
              <a:rPr lang="en-US" sz="2700" dirty="0">
                <a:solidFill>
                  <a:srgbClr val="2B2318"/>
                </a:solidFill>
                <a:latin typeface="Calibri" pitchFamily="34" charset="0"/>
                <a:ea typeface="Calibri" pitchFamily="34" charset="-122"/>
                <a:cs typeface="Calibri" pitchFamily="34" charset="-120"/>
              </a:rPr>
              <a:t>Ich rate dir, die Meinung wegzulassen, weil sie erst in Schritt 4 gehört.</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537960" y="109728"/>
            <a:ext cx="402336" cy="402336"/>
          </a:xfrm>
          <a:prstGeom prst="roundRect">
            <a:avLst>
              <a:gd name="adj" fmla="val 13636"/>
            </a:avLst>
          </a:prstGeom>
          <a:solidFill>
            <a:srgbClr val="3A3024"/>
          </a:solidFill>
          <a:ln/>
        </p:spPr>
        <p:txBody>
          <a:bodyPr wrap="square" lIns="0" tIns="0" rIns="0" bIns="0" rtlCol="0" anchor="ctr"/>
          <a:lstStyle/>
          <a:p>
            <a:pPr algn="ctr" indent="0" marL="0">
              <a:buNone/>
            </a:pPr>
            <a:r>
              <a:rPr lang="en-US" sz="2700" b="1" dirty="0">
                <a:solidFill>
                  <a:srgbClr val="8C8170"/>
                </a:solidFill>
                <a:latin typeface="Calibri" pitchFamily="34" charset="0"/>
                <a:ea typeface="Calibri" pitchFamily="34" charset="-122"/>
                <a:cs typeface="Calibri" pitchFamily="34" charset="-120"/>
              </a:rPr>
              <a:t>A</a:t>
            </a:r>
            <a:endParaRPr lang="en-US" sz="2700" dirty="0"/>
          </a:p>
        </p:txBody>
      </p:sp>
      <p:sp>
        <p:nvSpPr>
          <p:cNvPr id="3" name="Text 1"/>
          <p:cNvSpPr txBox="1"/>
          <p:nvPr/>
        </p:nvSpPr>
        <p:spPr>
          <a:xfrm>
            <a:off x="6995160" y="109728"/>
            <a:ext cx="402336" cy="402336"/>
          </a:xfrm>
          <a:prstGeom prst="roundRect">
            <a:avLst>
              <a:gd name="adj" fmla="val 13636"/>
            </a:avLst>
          </a:prstGeom>
          <a:solidFill>
            <a:srgbClr val="3A3024"/>
          </a:solidFill>
          <a:ln/>
        </p:spPr>
        <p:txBody>
          <a:bodyPr wrap="square" lIns="0" tIns="0" rIns="0" bIns="0" rtlCol="0" anchor="ctr"/>
          <a:lstStyle/>
          <a:p>
            <a:pPr algn="ctr" indent="0" marL="0">
              <a:buNone/>
            </a:pPr>
            <a:r>
              <a:rPr lang="en-US" sz="2700" b="1" dirty="0">
                <a:solidFill>
                  <a:srgbClr val="8C8170"/>
                </a:solidFill>
                <a:latin typeface="Calibri" pitchFamily="34" charset="0"/>
                <a:ea typeface="Calibri" pitchFamily="34" charset="-122"/>
                <a:cs typeface="Calibri" pitchFamily="34" charset="-120"/>
              </a:rPr>
              <a:t>V</a:t>
            </a:r>
            <a:endParaRPr lang="en-US" sz="2700" dirty="0"/>
          </a:p>
        </p:txBody>
      </p:sp>
      <p:sp>
        <p:nvSpPr>
          <p:cNvPr id="4" name="Text 2"/>
          <p:cNvSpPr txBox="1"/>
          <p:nvPr/>
        </p:nvSpPr>
        <p:spPr>
          <a:xfrm>
            <a:off x="7452360" y="109728"/>
            <a:ext cx="402336" cy="402336"/>
          </a:xfrm>
          <a:prstGeom prst="roundRect">
            <a:avLst>
              <a:gd name="adj" fmla="val 13636"/>
            </a:avLst>
          </a:prstGeom>
          <a:solidFill>
            <a:srgbClr val="3A3024"/>
          </a:solidFill>
          <a:ln/>
        </p:spPr>
        <p:txBody>
          <a:bodyPr wrap="square" lIns="0" tIns="0" rIns="0" bIns="0" rtlCol="0" anchor="ctr"/>
          <a:lstStyle/>
          <a:p>
            <a:pPr algn="ctr" indent="0" marL="0">
              <a:buNone/>
            </a:pPr>
            <a:r>
              <a:rPr lang="en-US" sz="2700" b="1" dirty="0">
                <a:solidFill>
                  <a:srgbClr val="8C8170"/>
                </a:solidFill>
                <a:latin typeface="Calibri" pitchFamily="34" charset="0"/>
                <a:ea typeface="Calibri" pitchFamily="34" charset="-122"/>
                <a:cs typeface="Calibri" pitchFamily="34" charset="-120"/>
              </a:rPr>
              <a:t>I</a:t>
            </a:r>
            <a:endParaRPr lang="en-US" sz="2700" dirty="0"/>
          </a:p>
        </p:txBody>
      </p:sp>
      <p:sp>
        <p:nvSpPr>
          <p:cNvPr id="5" name="Text 3"/>
          <p:cNvSpPr txBox="1"/>
          <p:nvPr/>
        </p:nvSpPr>
        <p:spPr>
          <a:xfrm>
            <a:off x="7909560" y="109728"/>
            <a:ext cx="402336" cy="402336"/>
          </a:xfrm>
          <a:prstGeom prst="roundRect">
            <a:avLst>
              <a:gd name="adj" fmla="val 13636"/>
            </a:avLst>
          </a:prstGeom>
          <a:solidFill>
            <a:srgbClr val="3A3024"/>
          </a:solidFill>
          <a:ln/>
        </p:spPr>
        <p:txBody>
          <a:bodyPr wrap="square" lIns="0" tIns="0" rIns="0" bIns="0" rtlCol="0" anchor="ctr"/>
          <a:lstStyle/>
          <a:p>
            <a:pPr algn="ctr" indent="0" marL="0">
              <a:buNone/>
            </a:pPr>
            <a:r>
              <a:rPr lang="en-US" sz="2700" b="1" dirty="0">
                <a:solidFill>
                  <a:srgbClr val="8C8170"/>
                </a:solidFill>
                <a:latin typeface="Calibri" pitchFamily="34" charset="0"/>
                <a:ea typeface="Calibri" pitchFamily="34" charset="-122"/>
                <a:cs typeface="Calibri" pitchFamily="34" charset="-120"/>
              </a:rPr>
              <a:t>V</a:t>
            </a:r>
            <a:endParaRPr lang="en-US" sz="2700" dirty="0"/>
          </a:p>
        </p:txBody>
      </p:sp>
      <p:sp>
        <p:nvSpPr>
          <p:cNvPr id="6" name="Text 4"/>
          <p:cNvSpPr txBox="1"/>
          <p:nvPr/>
        </p:nvSpPr>
        <p:spPr>
          <a:xfrm>
            <a:off x="8366760" y="109728"/>
            <a:ext cx="402336" cy="402336"/>
          </a:xfrm>
          <a:prstGeom prst="roundRect">
            <a:avLst>
              <a:gd name="adj" fmla="val 13636"/>
            </a:avLst>
          </a:prstGeom>
          <a:solidFill>
            <a:srgbClr val="AD4426"/>
          </a:solid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a:t>
            </a:r>
            <a:endParaRPr lang="en-US" sz="2700" dirty="0"/>
          </a:p>
        </p:txBody>
      </p:sp>
      <p:sp>
        <p:nvSpPr>
          <p:cNvPr id="7" name="Text 5"/>
          <p:cNvSpPr txBox="1"/>
          <p:nvPr/>
        </p:nvSpPr>
        <p:spPr>
          <a:xfrm>
            <a:off x="411480" y="137160"/>
            <a:ext cx="6035040" cy="9601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Haben wir das Ziel erreicht?</a:t>
            </a:r>
            <a:endParaRPr lang="en-US" sz="3600" dirty="0"/>
          </a:p>
        </p:txBody>
      </p:sp>
      <p:sp>
        <p:nvSpPr>
          <p:cNvPr id="8" name="Text 6"/>
          <p:cNvSpPr txBox="1"/>
          <p:nvPr/>
        </p:nvSpPr>
        <p:spPr>
          <a:xfrm>
            <a:off x="411480" y="1371600"/>
            <a:ext cx="8321040" cy="1463040"/>
          </a:xfrm>
          <a:prstGeom prst="rect">
            <a:avLst/>
          </a:prstGeom>
          <a:noFill/>
          <a:ln/>
        </p:spPr>
        <p:txBody>
          <a:bodyPr wrap="square" lIns="0" tIns="0" rIns="0" bIns="0" rtlCol="0" anchor="t"/>
          <a:lstStyle/>
          <a:p>
            <a:pPr indent="0" marL="0">
              <a:buNone/>
            </a:pPr>
            <a:r>
              <a:rPr lang="en-US" sz="2700" b="1" dirty="0">
                <a:solidFill>
                  <a:srgbClr val="D9A441"/>
                </a:solidFill>
                <a:latin typeface="Calibri" pitchFamily="34" charset="0"/>
                <a:ea typeface="Calibri" pitchFamily="34" charset="-122"/>
                <a:cs typeface="Calibri" pitchFamily="34" charset="-120"/>
              </a:rPr>
              <a:t>Ich kann eine Textquelle nach den Arbeitsschritten analysieren: formale und inhaltliche Aspekte.</a:t>
            </a:r>
            <a:endParaRPr lang="en-US" sz="2700" dirty="0"/>
          </a:p>
        </p:txBody>
      </p:sp>
      <p:sp>
        <p:nvSpPr>
          <p:cNvPr id="9" name="Text 7"/>
          <p:cNvSpPr txBox="1"/>
          <p:nvPr/>
        </p:nvSpPr>
        <p:spPr>
          <a:xfrm>
            <a:off x="411480" y="3291840"/>
            <a:ext cx="8321040" cy="822960"/>
          </a:xfrm>
          <a:prstGeom prst="rect">
            <a:avLst/>
          </a:prstGeom>
          <a:noFill/>
          <a:ln/>
        </p:spPr>
        <p:txBody>
          <a:bodyPr wrap="square" lIns="0" tIns="0" rIns="0" bIns="0" rtlCol="0" anchor="t"/>
          <a:lstStyle/>
          <a:p>
            <a:pPr indent="0" marL="0">
              <a:buNone/>
            </a:pPr>
            <a:r>
              <a:rPr lang="en-US" sz="2700" dirty="0">
                <a:solidFill>
                  <a:srgbClr val="E8DFD0"/>
                </a:solidFill>
                <a:latin typeface="Calibri" pitchFamily="34" charset="0"/>
                <a:ea typeface="Calibri" pitchFamily="34" charset="-122"/>
                <a:cs typeface="Calibri" pitchFamily="34" charset="-120"/>
              </a:rPr>
              <a:t>Nächstes Mal: Kontext, Sach- und Werturteil.</a:t>
            </a:r>
            <a:endParaRPr lang="en-US" sz="2700" dirty="0"/>
          </a:p>
        </p:txBody>
      </p:sp>
      <p:sp>
        <p:nvSpPr>
          <p:cNvPr id="25" name="Slide Number Placeholder 0"/>
          <p:cNvSpPr>
            <a:spLocks noGrp="1"/>
          </p:cNvSpPr>
          <p:nvPr>
            <p:ph type="sldNum" sz="quarter" idx="4294967295"/>
          </p:nvPr>
        </p:nvSpPr>
        <p:spPr>
          <a:xfrm>
            <a:off x="8503920" y="4846320"/>
            <a:ext cx="36576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998C77"/>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und Quelleninterpretation – Aristoteles über Kleisthenes</dc:title>
  <dc:subject>PptxGenJS Presentation</dc:subject>
  <dc:creator>PptxGenJS</dc:creator>
  <cp:lastModifiedBy>PptxGenJS</cp:lastModifiedBy>
  <cp:revision>1</cp:revision>
  <dcterms:created xsi:type="dcterms:W3CDTF">2026-10-29T16:22:38Z</dcterms:created>
  <dcterms:modified xsi:type="dcterms:W3CDTF">2026-10-29T16:22:38Z</dcterms:modified>
</cp:coreProperties>
</file>