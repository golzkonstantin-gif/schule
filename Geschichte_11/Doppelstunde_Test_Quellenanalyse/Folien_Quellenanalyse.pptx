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 1 (0–45 Min.). Tests verdeckt austeilen, gemeinsam starten. Uhrzeit für das Ende an die Tafel. 5 Minuten vor Schluss ansagen. Erwartungshorizont und Notenschlüssel: Test_Erwartungshorizont_Notenschluessel.pdf.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einsammeln. Arbeitsblatt „Quelle und Schreibplan“ austeilen (A4, doppelseitig).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(nach dem Test). Ziel vorlesen, es steht auch an der Seitentafel. „Heute lernt ihr, wie man in der Klausur mit einer Quelle umgeht – Schritt für Schritt.“ * = nur bei Zeit.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Min. Allein ins Heft: R oder F, falsche Aussagen berichtigen (2). Partnercheck (1). Stichproben bei 4–6 Schülern unterschiedlichen Niveaus (1). Quelle = Material aus der Vergangenheit; Darstellung = später darüber geschrieben oder gezeichnet.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 Min. Vergleichen. Gelenkstelle: „Das Schaubild ist eine Darstellung. Heute arbeiten wir mit einer Quelle – mit dem, was ein Grieche selbst über Kleisthenes geschrieben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 Min. Bedeutung erklären (direkt). Falls die Schule/Fachschaft eigene Operatorenlisten oder Aufgabenformate nutzt, hier einsetzen. „Analysieren“ heißt: Quelle beschreiben, Inhalt wiedergeben, einordnen – noch ohne eigenes Urteil; das Urteil folgt meist in einer eigenen 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 Min. Erklärportion 1 (ca. 2 Min.): Die vier Schritte sind wie ein Trichter – erst die Rahmendaten, dann der Inhalt, dann der Zusammenhang, erst zuletzt die eigene Meinung. Prüffragen an 4–6 Schüler: „Welcher Schritt kommt zuerst?“ – „In welchem Schritt darf ich sagen, was ich davon halte?“ (4) – „Was gehört in Schritt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Erklärportion 2: fünf Fragen, alle Antworten stehen im Kasten zum Autor oder unter der Quelle (Nachweis).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 Min. Vormachen an einer anderen Quelle (Solon kennen sie): laut denken. „Wer hat das geschrieben? Solon selbst – also war er dabei. Was für ein Text? Ein Gedicht. Wann? Um 590, kurz nach seinen Reformen. Für wen? Für die Athener. Worüber? Er verteidigt seine Reformen.“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 Min. Satz vorlesen, Bausteine zeigen. Warnung vor dem Fehler: Viele schreiben „Augenzeuge“, obwohl der Autor viel später lebte. Prüffragen an 3–4 Schüler: „Woran erkennst du, ob der Autor dabei war?“ (Lebensdaten/Entstehungszeit mit dem Ereignis vergleichen).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13–17 Min. Erste Anwendung, allein (leicht, alle schaffen sie). Durch die Reihen gehen und mitlesen: Steht „Augenzeuge“ da? Steht die Zeit drin? Folie 12 (Kasten) groß stehen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(gekürzt; vollständig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17–19 Min. Zwei Schüler lesen ihren Satz vor (unterschiedliches Niveau), dann aufdecken. Vergleichen, im Blatt ergänzen. Gelenkstelle: „Jetzt wissen wir, wer spricht. Als Nächstes: Was sagt er eigentlich?“ Ist etwas unklar, hier nachsteuern, nicht weitergehen.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19–21 Min. Erklärportion 3: Indirekte Rede zeigt, dass ich wiedergebe, was der Autor sagt – nicht, was stimmt. Prüffragen an 4–6 Schüler: „Mach daraus indirekte Rede: Er teilte die Bürger ein.“ (Er habe die Bürger eingeteilt.) – „Darf ich schreiben: Das war klug von ihm?“ (Nein, erst in Schritt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21–23 Min. Vormachen, laut denkend: „Zeile 1 bis 4 gehören zusammen: Es geht um den Machtkampf. Wo endet der Abschnitt? Ab Zeile 5 kommt etwas Neues – die Phylen. Was ist der Kern? Kleisthenes gewinnt das Volk. Ich schreibe es in indirekter Rede und setze die Zeilen dahinter.“ Das Beispiel steht schon im Schreibplan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23–33 Min. Angeleitet → selbstständig (Teillösungen im Schreibplan werden weniger). Partnerarbeit, beide schreiben. Umhergehen, mitlesen; Stolpersteine und Hilfsimpulse in der Handreichung. Die Quelle steht auf den nächsten Folien groß an der 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Gleicher Wortlaut wie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Gleicher Wortlaut wie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Gleicher Wortlaut wie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33–36 Min. Je Abschnitt ein Paar vom Platz vorlesen lassen, dann aufdecken. Andere Formulierungen sind richtig, wenn Kern, indirekte Rede und Zeilen stimmen.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Vergleichen, im Blatt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Vergleichen, im Blatt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*36–38 Min. Nur bei Zeit, sonst direkt zu Folie 24. Kurz direkt erklären, zwei Prüffragen: „Woher wusste Aristoteles das?“ (aus älteren Schriften) – „Ist die Quelle deshalb wertlos?“ (nein, aber kein Augenzeugenbericht; er deutet die Reform aus seiner Zeit). Schritte 3 und 4 werden in der nächsten Doppelstunde vertieft.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38/40–43 Min. Prüft genau das Ziel (Einleitung, Inhalt). Allein ins Heft, dann gezielt 3 Schüler unterschiedlichen Niveaus je einen Ratschlag vorlesen lassen. Diese Phase nie kürzen. Mögliche Ratschläge in der Handreichung.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43–44 Min. Weitere gute Antworten: Quellenart, Zeit und Adressat fehlen; „Demokratie eingeführt“ steht so nicht in der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44–45 Min. Rückbezug aufs Ziel. Schreibplan im Hefter aufbewahren – er ist die Vorlage für die Klausur.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640080"/>
            <a:ext cx="7863840" cy="457200"/>
          </a:xfrm>
          <a:prstGeom prst="rect">
            <a:avLst/>
          </a:prstGeom>
          <a:noFill/>
          <a:ln/>
        </p:spPr>
        <p:txBody>
          <a:bodyPr wrap="square" lIns="0" tIns="0" rIns="0" bIns="0" rtlCol="0" anchor="t"/>
          <a:lstStyle/>
          <a:p>
            <a:pPr indent="0" marL="0">
              <a:buNone/>
            </a:pPr>
            <a:r>
              <a:rPr lang="en-US" sz="2700" b="1" spc="300" kern="0" dirty="0">
                <a:solidFill>
                  <a:srgbClr val="D9A441"/>
                </a:solidFill>
                <a:latin typeface="Calibri" pitchFamily="34" charset="0"/>
                <a:ea typeface="Calibri" pitchFamily="34" charset="-122"/>
                <a:cs typeface="Calibri" pitchFamily="34" charset="-120"/>
              </a:rPr>
              <a:t>TEIL 1</a:t>
            </a:r>
            <a:endParaRPr lang="en-US" sz="2700" dirty="0"/>
          </a:p>
        </p:txBody>
      </p:sp>
      <p:sp>
        <p:nvSpPr>
          <p:cNvPr id="3" name="Text 1"/>
          <p:cNvSpPr txBox="1"/>
          <p:nvPr/>
        </p:nvSpPr>
        <p:spPr>
          <a:xfrm>
            <a:off x="640080" y="1097280"/>
            <a:ext cx="786384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Test · 45 Minuten</a:t>
            </a:r>
            <a:endParaRPr lang="en-US" sz="4000" dirty="0"/>
          </a:p>
        </p:txBody>
      </p:sp>
      <p:sp>
        <p:nvSpPr>
          <p:cNvPr id="4" name="Text 2"/>
          <p:cNvSpPr txBox="1"/>
          <p:nvPr/>
        </p:nvSpPr>
        <p:spPr>
          <a:xfrm>
            <a:off x="640080" y="214884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Tische auseinander, nur Stift auf dem Tisch.</a:t>
            </a:r>
            <a:endParaRPr lang="en-US" sz="2700" dirty="0"/>
          </a:p>
        </p:txBody>
      </p:sp>
      <p:sp>
        <p:nvSpPr>
          <p:cNvPr id="5" name="Text 3"/>
          <p:cNvSpPr txBox="1"/>
          <p:nvPr/>
        </p:nvSpPr>
        <p:spPr>
          <a:xfrm>
            <a:off x="640080" y="269748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Name auf das Blatt.</a:t>
            </a:r>
            <a:endParaRPr lang="en-US" sz="2700" dirty="0"/>
          </a:p>
        </p:txBody>
      </p:sp>
      <p:sp>
        <p:nvSpPr>
          <p:cNvPr id="6" name="Text 4"/>
          <p:cNvSpPr txBox="1"/>
          <p:nvPr/>
        </p:nvSpPr>
        <p:spPr>
          <a:xfrm>
            <a:off x="640080" y="324612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Zusatzaufgabe am Ende: +1 Punkt.</a:t>
            </a:r>
            <a:endParaRPr lang="en-US" sz="2700" dirty="0"/>
          </a:p>
        </p:txBody>
      </p:sp>
      <p:sp>
        <p:nvSpPr>
          <p:cNvPr id="7" name="Text 5"/>
          <p:cNvSpPr txBox="1"/>
          <p:nvPr/>
        </p:nvSpPr>
        <p:spPr>
          <a:xfrm>
            <a:off x="640080" y="379476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Fertig? Blatt umdrehen, still sitzen bleiben.</a:t>
            </a: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914400"/>
            <a:ext cx="7863840" cy="457200"/>
          </a:xfrm>
          <a:prstGeom prst="rect">
            <a:avLst/>
          </a:prstGeom>
          <a:noFill/>
          <a:ln/>
        </p:spPr>
        <p:txBody>
          <a:bodyPr wrap="square" lIns="0" tIns="0" rIns="0" bIns="0" rtlCol="0" anchor="t"/>
          <a:lstStyle/>
          <a:p>
            <a:pPr indent="0" marL="0">
              <a:buNone/>
            </a:pPr>
            <a:r>
              <a:rPr lang="en-US" sz="2700" b="1" spc="300" kern="0" dirty="0">
                <a:solidFill>
                  <a:srgbClr val="D9A441"/>
                </a:solidFill>
                <a:latin typeface="Calibri" pitchFamily="34" charset="0"/>
                <a:ea typeface="Calibri" pitchFamily="34" charset="-122"/>
                <a:cs typeface="Calibri" pitchFamily="34" charset="-120"/>
              </a:rPr>
              <a:t>TEIL 2 · GESCHICHTE · KLASSE 11</a:t>
            </a:r>
            <a:endParaRPr lang="en-US" sz="2700" dirty="0"/>
          </a:p>
        </p:txBody>
      </p:sp>
      <p:sp>
        <p:nvSpPr>
          <p:cNvPr id="3" name="Text 1"/>
          <p:cNvSpPr txBox="1"/>
          <p:nvPr/>
        </p:nvSpPr>
        <p:spPr>
          <a:xfrm>
            <a:off x="640080" y="1417320"/>
            <a:ext cx="786384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Wie analysiert man eine Quelle?</a:t>
            </a:r>
            <a:endParaRPr lang="en-US" sz="4000" dirty="0"/>
          </a:p>
        </p:txBody>
      </p:sp>
      <p:sp>
        <p:nvSpPr>
          <p:cNvPr id="4" name="Text 2"/>
          <p:cNvSpPr txBox="1"/>
          <p:nvPr/>
        </p:nvSpPr>
        <p:spPr>
          <a:xfrm>
            <a:off x="640080" y="2377440"/>
            <a:ext cx="7863840" cy="548640"/>
          </a:xfrm>
          <a:prstGeom prst="rect">
            <a:avLst/>
          </a:prstGeom>
          <a:noFill/>
          <a:ln/>
        </p:spPr>
        <p:txBody>
          <a:bodyPr wrap="square" lIns="0" tIns="0" rIns="0" bIns="0" rtlCol="0" anchor="t"/>
          <a:lstStyle/>
          <a:p>
            <a:pPr indent="0" marL="0">
              <a:buNone/>
            </a:pPr>
            <a:r>
              <a:rPr lang="en-US" sz="2700" dirty="0">
                <a:solidFill>
                  <a:srgbClr val="E8DFD0"/>
                </a:solidFill>
                <a:latin typeface="Calibri" pitchFamily="34" charset="0"/>
                <a:ea typeface="Calibri" pitchFamily="34" charset="-122"/>
                <a:cs typeface="Calibri" pitchFamily="34" charset="-120"/>
              </a:rPr>
              <a:t>Aristoteles über die Reformen des Kleisthenes</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Ziel und Ablauf</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2 Min.</a:t>
            </a:r>
            <a:endParaRPr lang="en-US" sz="2700" dirty="0"/>
          </a:p>
        </p:txBody>
      </p:sp>
      <p:sp>
        <p:nvSpPr>
          <p:cNvPr id="9" name="Shape 7"/>
          <p:cNvSpPr/>
          <p:nvPr/>
        </p:nvSpPr>
        <p:spPr>
          <a:xfrm>
            <a:off x="411480" y="1188720"/>
            <a:ext cx="8321040" cy="1463040"/>
          </a:xfrm>
          <a:prstGeom prst="roundRect">
            <a:avLst>
              <a:gd name="adj" fmla="val 5000"/>
            </a:avLst>
          </a:prstGeom>
          <a:solidFill>
            <a:srgbClr val="2B2318"/>
          </a:solidFill>
          <a:ln w="12700">
            <a:solidFill>
              <a:srgbClr val="2B2318"/>
            </a:solidFill>
            <a:prstDash val="solid"/>
          </a:ln>
        </p:spPr>
      </p:sp>
      <p:sp>
        <p:nvSpPr>
          <p:cNvPr id="10" name="Text 8"/>
          <p:cNvSpPr txBox="1"/>
          <p:nvPr/>
        </p:nvSpPr>
        <p:spPr>
          <a:xfrm>
            <a:off x="594360" y="1188720"/>
            <a:ext cx="7955280" cy="14630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Ich kann eine Textquelle mit dem Schreibplan analysieren: Einleitung schreiben und Inhalt wiedergeben.</a:t>
            </a:r>
            <a:endParaRPr lang="en-US" sz="2700" dirty="0"/>
          </a:p>
        </p:txBody>
      </p:sp>
      <p:sp>
        <p:nvSpPr>
          <p:cNvPr id="11" name="Text 9"/>
          <p:cNvSpPr txBox="1"/>
          <p:nvPr/>
        </p:nvSpPr>
        <p:spPr>
          <a:xfrm>
            <a:off x="548640" y="2743200"/>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1  Richtig oder falsch? Kleisthenes</a:t>
            </a:r>
            <a:endParaRPr lang="en-US" sz="2700" dirty="0"/>
          </a:p>
        </p:txBody>
      </p:sp>
      <p:sp>
        <p:nvSpPr>
          <p:cNvPr id="12" name="Text 10"/>
          <p:cNvSpPr txBox="1"/>
          <p:nvPr/>
        </p:nvSpPr>
        <p:spPr>
          <a:xfrm>
            <a:off x="548640" y="3172968"/>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2  Der Schreibplan in vier Schritten</a:t>
            </a:r>
            <a:endParaRPr lang="en-US" sz="2700" dirty="0"/>
          </a:p>
        </p:txBody>
      </p:sp>
      <p:sp>
        <p:nvSpPr>
          <p:cNvPr id="13" name="Text 11"/>
          <p:cNvSpPr txBox="1"/>
          <p:nvPr/>
        </p:nvSpPr>
        <p:spPr>
          <a:xfrm>
            <a:off x="548640" y="3602736"/>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3  Schritt 1: Einleitung</a:t>
            </a:r>
            <a:endParaRPr lang="en-US" sz="2700" dirty="0"/>
          </a:p>
        </p:txBody>
      </p:sp>
      <p:sp>
        <p:nvSpPr>
          <p:cNvPr id="14" name="Text 12"/>
          <p:cNvSpPr txBox="1"/>
          <p:nvPr/>
        </p:nvSpPr>
        <p:spPr>
          <a:xfrm>
            <a:off x="548640" y="4032504"/>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4  Schritt 2: Inhalt · Schritte 3 und 4*</a:t>
            </a:r>
            <a:endParaRPr lang="en-US" sz="2700" dirty="0"/>
          </a:p>
        </p:txBody>
      </p:sp>
      <p:sp>
        <p:nvSpPr>
          <p:cNvPr id="15" name="Text 13"/>
          <p:cNvSpPr txBox="1"/>
          <p:nvPr/>
        </p:nvSpPr>
        <p:spPr>
          <a:xfrm>
            <a:off x="548640" y="4462272"/>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5  Abschlussaufgabe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Richtig oder falsch?</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Shape 7"/>
          <p:cNvSpPr/>
          <p:nvPr/>
        </p:nvSpPr>
        <p:spPr>
          <a:xfrm>
            <a:off x="411480" y="1188720"/>
            <a:ext cx="8321040" cy="822960"/>
          </a:xfrm>
          <a:prstGeom prst="roundRect">
            <a:avLst>
              <a:gd name="adj" fmla="val 8889"/>
            </a:avLst>
          </a:prstGeom>
          <a:solidFill>
            <a:srgbClr val="FBF8F2"/>
          </a:solidFill>
          <a:ln w="12700">
            <a:solidFill>
              <a:srgbClr val="FBF8F2"/>
            </a:solidFill>
            <a:prstDash val="solid"/>
          </a:ln>
        </p:spPr>
      </p:sp>
      <p:sp>
        <p:nvSpPr>
          <p:cNvPr id="10" name="Text 8"/>
          <p:cNvSpPr txBox="1"/>
          <p:nvPr/>
        </p:nvSpPr>
        <p:spPr>
          <a:xfrm>
            <a:off x="594360" y="11887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1  Das Verfassungsschaubild im Lehrbuch ist eine Quelle.</a:t>
            </a:r>
            <a:endParaRPr lang="en-US" sz="2700" dirty="0"/>
          </a:p>
        </p:txBody>
      </p:sp>
      <p:sp>
        <p:nvSpPr>
          <p:cNvPr id="11" name="Shape 9"/>
          <p:cNvSpPr/>
          <p:nvPr/>
        </p:nvSpPr>
        <p:spPr>
          <a:xfrm>
            <a:off x="411480" y="2103120"/>
            <a:ext cx="8321040" cy="822960"/>
          </a:xfrm>
          <a:prstGeom prst="roundRect">
            <a:avLst>
              <a:gd name="adj" fmla="val 8889"/>
            </a:avLst>
          </a:prstGeom>
          <a:solidFill>
            <a:srgbClr val="FFFFFF"/>
          </a:solidFill>
          <a:ln w="12700">
            <a:solidFill>
              <a:srgbClr val="FFFFFF"/>
            </a:solidFill>
            <a:prstDash val="solid"/>
          </a:ln>
        </p:spPr>
      </p:sp>
      <p:sp>
        <p:nvSpPr>
          <p:cNvPr id="12" name="Text 10"/>
          <p:cNvSpPr txBox="1"/>
          <p:nvPr/>
        </p:nvSpPr>
        <p:spPr>
          <a:xfrm>
            <a:off x="594360" y="21031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2  Kleisthenes teilte die Bürger in zehn neue Phylen ein.</a:t>
            </a:r>
            <a:endParaRPr lang="en-US" sz="2700" dirty="0"/>
          </a:p>
        </p:txBody>
      </p:sp>
      <p:sp>
        <p:nvSpPr>
          <p:cNvPr id="13" name="Shape 11"/>
          <p:cNvSpPr/>
          <p:nvPr/>
        </p:nvSpPr>
        <p:spPr>
          <a:xfrm>
            <a:off x="411480" y="3017520"/>
            <a:ext cx="8321040" cy="822960"/>
          </a:xfrm>
          <a:prstGeom prst="roundRect">
            <a:avLst>
              <a:gd name="adj" fmla="val 8889"/>
            </a:avLst>
          </a:prstGeom>
          <a:solidFill>
            <a:srgbClr val="FBF8F2"/>
          </a:solidFill>
          <a:ln w="12700">
            <a:solidFill>
              <a:srgbClr val="FBF8F2"/>
            </a:solidFill>
            <a:prstDash val="solid"/>
          </a:ln>
        </p:spPr>
      </p:sp>
      <p:sp>
        <p:nvSpPr>
          <p:cNvPr id="14" name="Text 12"/>
          <p:cNvSpPr txBox="1"/>
          <p:nvPr/>
        </p:nvSpPr>
        <p:spPr>
          <a:xfrm>
            <a:off x="594360" y="30175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3  Kleisthenes nahm den Adligen ihr Land weg.</a:t>
            </a:r>
            <a:endParaRPr lang="en-US" sz="2700" dirty="0"/>
          </a:p>
        </p:txBody>
      </p:sp>
      <p:sp>
        <p:nvSpPr>
          <p:cNvPr id="15" name="Shape 13"/>
          <p:cNvSpPr/>
          <p:nvPr/>
        </p:nvSpPr>
        <p:spPr>
          <a:xfrm>
            <a:off x="411480" y="3931920"/>
            <a:ext cx="8321040" cy="822960"/>
          </a:xfrm>
          <a:prstGeom prst="roundRect">
            <a:avLst>
              <a:gd name="adj" fmla="val 8889"/>
            </a:avLst>
          </a:prstGeom>
          <a:solidFill>
            <a:srgbClr val="FFFFFF"/>
          </a:solidFill>
          <a:ln w="12700">
            <a:solidFill>
              <a:srgbClr val="FFFFFF"/>
            </a:solidFill>
            <a:prstDash val="solid"/>
          </a:ln>
        </p:spPr>
      </p:sp>
      <p:sp>
        <p:nvSpPr>
          <p:cNvPr id="16" name="Text 14"/>
          <p:cNvSpPr txBox="1"/>
          <p:nvPr/>
        </p:nvSpPr>
        <p:spPr>
          <a:xfrm>
            <a:off x="594360" y="39319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4  Jede Phyle hatte Gebiete in Stadt, Küste und Binnenland.</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188720"/>
            <a:ext cx="8321040" cy="822960"/>
          </a:xfrm>
          <a:prstGeom prst="roundRect">
            <a:avLst>
              <a:gd name="adj" fmla="val 8889"/>
            </a:avLst>
          </a:prstGeom>
          <a:solidFill>
            <a:srgbClr val="FBF8F2"/>
          </a:solidFill>
          <a:ln w="12700">
            <a:solidFill>
              <a:srgbClr val="FBF8F2"/>
            </a:solidFill>
            <a:prstDash val="solid"/>
          </a:ln>
        </p:spPr>
      </p:sp>
      <p:sp>
        <p:nvSpPr>
          <p:cNvPr id="10" name="Text 8"/>
          <p:cNvSpPr txBox="1"/>
          <p:nvPr/>
        </p:nvSpPr>
        <p:spPr>
          <a:xfrm>
            <a:off x="594360" y="1188720"/>
            <a:ext cx="8046720" cy="82296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Es ist eine Darstellung: heute gezeichnet.</a:t>
            </a:r>
            <a:endParaRPr lang="en-US" sz="2700" dirty="0"/>
          </a:p>
        </p:txBody>
      </p:sp>
      <p:sp>
        <p:nvSpPr>
          <p:cNvPr id="11" name="Shape 9"/>
          <p:cNvSpPr/>
          <p:nvPr/>
        </p:nvSpPr>
        <p:spPr>
          <a:xfrm>
            <a:off x="411480" y="2103120"/>
            <a:ext cx="8321040" cy="822960"/>
          </a:xfrm>
          <a:prstGeom prst="roundRect">
            <a:avLst>
              <a:gd name="adj" fmla="val 8889"/>
            </a:avLst>
          </a:prstGeom>
          <a:solidFill>
            <a:srgbClr val="FFFFFF"/>
          </a:solidFill>
          <a:ln w="12700">
            <a:solidFill>
              <a:srgbClr val="FFFFFF"/>
            </a:solidFill>
            <a:prstDash val="solid"/>
          </a:ln>
        </p:spPr>
      </p:sp>
      <p:sp>
        <p:nvSpPr>
          <p:cNvPr id="12" name="Text 10"/>
          <p:cNvSpPr txBox="1"/>
          <p:nvPr/>
        </p:nvSpPr>
        <p:spPr>
          <a:xfrm>
            <a:off x="594360" y="2103120"/>
            <a:ext cx="8046720" cy="822960"/>
          </a:xfrm>
          <a:prstGeom prst="rect">
            <a:avLst/>
          </a:prstGeom>
          <a:noFill/>
          <a:ln/>
        </p:spPr>
        <p:txBody>
          <a:bodyPr wrap="square" lIns="0" tIns="0" rIns="0" bIns="0" rtlCol="0" anchor="ctr"/>
          <a:lstStyle/>
          <a:p>
            <a:pPr indent="0" marL="0">
              <a:buNone/>
            </a:pPr>
            <a:r>
              <a:rPr lang="en-US" sz="2700" dirty="0">
                <a:solidFill>
                  <a:srgbClr val="3C783C"/>
                </a:solidFill>
                <a:latin typeface="Calibri" pitchFamily="34" charset="0"/>
                <a:ea typeface="Calibri" pitchFamily="34" charset="-122"/>
                <a:cs typeface="Calibri" pitchFamily="34" charset="-120"/>
              </a:rPr>
              <a:t>✓ Kleisthenes teilte die Bürger in zehn neue Phylen ein.</a:t>
            </a:r>
            <a:endParaRPr lang="en-US" sz="2700" dirty="0"/>
          </a:p>
        </p:txBody>
      </p:sp>
      <p:sp>
        <p:nvSpPr>
          <p:cNvPr id="13" name="Shape 11"/>
          <p:cNvSpPr/>
          <p:nvPr/>
        </p:nvSpPr>
        <p:spPr>
          <a:xfrm>
            <a:off x="411480" y="3017520"/>
            <a:ext cx="8321040" cy="822960"/>
          </a:xfrm>
          <a:prstGeom prst="roundRect">
            <a:avLst>
              <a:gd name="adj" fmla="val 8889"/>
            </a:avLst>
          </a:prstGeom>
          <a:solidFill>
            <a:srgbClr val="FBF8F2"/>
          </a:solidFill>
          <a:ln w="12700">
            <a:solidFill>
              <a:srgbClr val="FBF8F2"/>
            </a:solidFill>
            <a:prstDash val="solid"/>
          </a:ln>
        </p:spPr>
      </p:sp>
      <p:sp>
        <p:nvSpPr>
          <p:cNvPr id="14" name="Text 12"/>
          <p:cNvSpPr txBox="1"/>
          <p:nvPr/>
        </p:nvSpPr>
        <p:spPr>
          <a:xfrm>
            <a:off x="594360" y="3017520"/>
            <a:ext cx="8046720" cy="82296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Er mischte die Bürger – das Land blieb.</a:t>
            </a:r>
            <a:endParaRPr lang="en-US" sz="2700" dirty="0"/>
          </a:p>
        </p:txBody>
      </p:sp>
      <p:sp>
        <p:nvSpPr>
          <p:cNvPr id="15" name="Shape 13"/>
          <p:cNvSpPr/>
          <p:nvPr/>
        </p:nvSpPr>
        <p:spPr>
          <a:xfrm>
            <a:off x="411480" y="3931920"/>
            <a:ext cx="8321040" cy="822960"/>
          </a:xfrm>
          <a:prstGeom prst="roundRect">
            <a:avLst>
              <a:gd name="adj" fmla="val 8889"/>
            </a:avLst>
          </a:prstGeom>
          <a:solidFill>
            <a:srgbClr val="FFFFFF"/>
          </a:solidFill>
          <a:ln w="12700">
            <a:solidFill>
              <a:srgbClr val="FFFFFF"/>
            </a:solidFill>
            <a:prstDash val="solid"/>
          </a:ln>
        </p:spPr>
      </p:sp>
      <p:sp>
        <p:nvSpPr>
          <p:cNvPr id="16" name="Text 14"/>
          <p:cNvSpPr txBox="1"/>
          <p:nvPr/>
        </p:nvSpPr>
        <p:spPr>
          <a:xfrm>
            <a:off x="594360" y="3931920"/>
            <a:ext cx="8046720" cy="822960"/>
          </a:xfrm>
          <a:prstGeom prst="rect">
            <a:avLst/>
          </a:prstGeom>
          <a:noFill/>
          <a:ln/>
        </p:spPr>
        <p:txBody>
          <a:bodyPr wrap="square" lIns="0" tIns="0" rIns="0" bIns="0" rtlCol="0" anchor="ctr"/>
          <a:lstStyle/>
          <a:p>
            <a:pPr indent="0" marL="0">
              <a:buNone/>
            </a:pPr>
            <a:r>
              <a:rPr lang="en-US" sz="2700" dirty="0">
                <a:solidFill>
                  <a:srgbClr val="3C783C"/>
                </a:solidFill>
                <a:latin typeface="Calibri" pitchFamily="34" charset="0"/>
                <a:ea typeface="Calibri" pitchFamily="34" charset="-122"/>
                <a:cs typeface="Calibri" pitchFamily="34" charset="-120"/>
              </a:rPr>
              <a:t>✓ Jede Phyle hatte Gebiete in Stadt, Küste und Binnenland.</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Warum das wichtig ist</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Klausur 25.11.</a:t>
            </a:r>
            <a:endParaRPr lang="en-US" sz="2700" dirty="0"/>
          </a:p>
        </p:txBody>
      </p:sp>
      <p:sp>
        <p:nvSpPr>
          <p:cNvPr id="9" name="Shape 7"/>
          <p:cNvSpPr/>
          <p:nvPr/>
        </p:nvSpPr>
        <p:spPr>
          <a:xfrm>
            <a:off x="411480" y="1188720"/>
            <a:ext cx="8321040" cy="1463040"/>
          </a:xfrm>
          <a:prstGeom prst="roundRect">
            <a:avLst>
              <a:gd name="adj" fmla="val 5000"/>
            </a:avLst>
          </a:prstGeom>
          <a:solidFill>
            <a:srgbClr val="F4ECDE"/>
          </a:solidFill>
          <a:ln w="12700">
            <a:solidFill>
              <a:srgbClr val="F4ECDE"/>
            </a:solidFill>
            <a:prstDash val="solid"/>
          </a:ln>
        </p:spPr>
      </p:sp>
      <p:sp>
        <p:nvSpPr>
          <p:cNvPr id="10" name="Text 8"/>
          <p:cNvSpPr txBox="1"/>
          <p:nvPr/>
        </p:nvSpPr>
        <p:spPr>
          <a:xfrm>
            <a:off x="594360" y="1188720"/>
            <a:ext cx="7955280" cy="146304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In der Klausur bekommst du eine Quelle. Die erste Aufgabe heißt meist: „Analysiere die Quelle.“</a:t>
            </a:r>
            <a:endParaRPr lang="en-US" sz="2700" dirty="0"/>
          </a:p>
        </p:txBody>
      </p:sp>
      <p:sp>
        <p:nvSpPr>
          <p:cNvPr id="11" name="Shape 9"/>
          <p:cNvSpPr/>
          <p:nvPr/>
        </p:nvSpPr>
        <p:spPr>
          <a:xfrm>
            <a:off x="411480" y="2880360"/>
            <a:ext cx="8321040" cy="1188720"/>
          </a:xfrm>
          <a:prstGeom prst="roundRect">
            <a:avLst>
              <a:gd name="adj" fmla="val 6154"/>
            </a:avLst>
          </a:prstGeom>
          <a:solidFill>
            <a:srgbClr val="2B2318"/>
          </a:solidFill>
          <a:ln w="12700">
            <a:solidFill>
              <a:srgbClr val="2B2318"/>
            </a:solidFill>
            <a:prstDash val="solid"/>
          </a:ln>
        </p:spPr>
      </p:sp>
      <p:sp>
        <p:nvSpPr>
          <p:cNvPr id="12" name="Text 10"/>
          <p:cNvSpPr txBox="1"/>
          <p:nvPr/>
        </p:nvSpPr>
        <p:spPr>
          <a:xfrm>
            <a:off x="594360" y="2880360"/>
            <a:ext cx="7955280" cy="118872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Mit einem Schreibplan weißt du immer, was als Nächstes kommt.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Der Schreibplan</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Portion 1</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Einleitung – Wer? Was? Wann? Für wen?</a:t>
            </a:r>
            <a:endParaRPr lang="en-US" sz="2700" dirty="0"/>
          </a:p>
        </p:txBody>
      </p:sp>
      <p:sp>
        <p:nvSpPr>
          <p:cNvPr id="11" name="Text 9"/>
          <p:cNvSpPr txBox="1"/>
          <p:nvPr/>
        </p:nvSpPr>
        <p:spPr>
          <a:xfrm>
            <a:off x="411480" y="1892808"/>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874520"/>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Inhalt – Was steht in der Quelle?</a:t>
            </a:r>
            <a:endParaRPr lang="en-US" sz="2700" dirty="0"/>
          </a:p>
        </p:txBody>
      </p:sp>
      <p:sp>
        <p:nvSpPr>
          <p:cNvPr id="13" name="Text 11"/>
          <p:cNvSpPr txBox="1"/>
          <p:nvPr/>
        </p:nvSpPr>
        <p:spPr>
          <a:xfrm>
            <a:off x="411480" y="2551176"/>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532888"/>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Einordnen – Was geschah damals?</a:t>
            </a:r>
            <a:endParaRPr lang="en-US" sz="2700" dirty="0"/>
          </a:p>
        </p:txBody>
      </p:sp>
      <p:sp>
        <p:nvSpPr>
          <p:cNvPr id="15" name="Text 13"/>
          <p:cNvSpPr txBox="1"/>
          <p:nvPr/>
        </p:nvSpPr>
        <p:spPr>
          <a:xfrm>
            <a:off x="411480" y="3209544"/>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191256"/>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Urteilen – Wie glaubwürdig ist sie?</a:t>
            </a:r>
            <a:endParaRPr lang="en-US" sz="2700" dirty="0"/>
          </a:p>
        </p:txBody>
      </p:sp>
      <p:sp>
        <p:nvSpPr>
          <p:cNvPr id="17" name="Shape 15"/>
          <p:cNvSpPr/>
          <p:nvPr/>
        </p:nvSpPr>
        <p:spPr>
          <a:xfrm>
            <a:off x="411480" y="3931920"/>
            <a:ext cx="8321040" cy="777240"/>
          </a:xfrm>
          <a:prstGeom prst="roundRect">
            <a:avLst>
              <a:gd name="adj" fmla="val 9412"/>
            </a:avLst>
          </a:prstGeom>
          <a:solidFill>
            <a:srgbClr val="2B2318"/>
          </a:solidFill>
          <a:ln w="12700">
            <a:solidFill>
              <a:srgbClr val="2B2318"/>
            </a:solidFill>
            <a:prstDash val="solid"/>
          </a:ln>
        </p:spPr>
      </p:sp>
      <p:sp>
        <p:nvSpPr>
          <p:cNvPr id="18" name="Text 16"/>
          <p:cNvSpPr txBox="1"/>
          <p:nvPr/>
        </p:nvSpPr>
        <p:spPr>
          <a:xfrm>
            <a:off x="594360" y="3931920"/>
            <a:ext cx="7955280" cy="77724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 Nicht einfach nacherzählen: Schritt für Schritt!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Schritt 1: Einleitung</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Portion 2</a:t>
            </a:r>
            <a:endParaRPr lang="en-US" sz="2700" dirty="0"/>
          </a:p>
        </p:txBody>
      </p:sp>
      <p:sp>
        <p:nvSpPr>
          <p:cNvPr id="9" name="Text 7"/>
          <p:cNvSpPr txBox="1"/>
          <p:nvPr/>
        </p:nvSpPr>
        <p:spPr>
          <a:xfrm>
            <a:off x="411480" y="1188720"/>
            <a:ext cx="30175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Autor</a:t>
            </a:r>
            <a:endParaRPr lang="en-US" sz="2700" dirty="0"/>
          </a:p>
        </p:txBody>
      </p:sp>
      <p:sp>
        <p:nvSpPr>
          <p:cNvPr id="10" name="Text 8"/>
          <p:cNvSpPr txBox="1"/>
          <p:nvPr/>
        </p:nvSpPr>
        <p:spPr>
          <a:xfrm>
            <a:off x="3611880" y="11887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Wer hat sie verfasst?</a:t>
            </a:r>
            <a:endParaRPr lang="en-US" sz="2700" dirty="0"/>
          </a:p>
        </p:txBody>
      </p:sp>
      <p:sp>
        <p:nvSpPr>
          <p:cNvPr id="11" name="Text 9"/>
          <p:cNvSpPr txBox="1"/>
          <p:nvPr/>
        </p:nvSpPr>
        <p:spPr>
          <a:xfrm>
            <a:off x="411480" y="1874520"/>
            <a:ext cx="30175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Quellenart</a:t>
            </a:r>
            <a:endParaRPr lang="en-US" sz="2700" dirty="0"/>
          </a:p>
        </p:txBody>
      </p:sp>
      <p:sp>
        <p:nvSpPr>
          <p:cNvPr id="12" name="Text 10"/>
          <p:cNvSpPr txBox="1"/>
          <p:nvPr/>
        </p:nvSpPr>
        <p:spPr>
          <a:xfrm>
            <a:off x="3611880" y="18745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Brief, Gedicht, Rede, Sachtext …</a:t>
            </a:r>
            <a:endParaRPr lang="en-US" sz="2700" dirty="0"/>
          </a:p>
        </p:txBody>
      </p:sp>
      <p:sp>
        <p:nvSpPr>
          <p:cNvPr id="13" name="Text 11"/>
          <p:cNvSpPr txBox="1"/>
          <p:nvPr/>
        </p:nvSpPr>
        <p:spPr>
          <a:xfrm>
            <a:off x="411480" y="2560320"/>
            <a:ext cx="30175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Entstehungszeit</a:t>
            </a:r>
            <a:endParaRPr lang="en-US" sz="2700" dirty="0"/>
          </a:p>
        </p:txBody>
      </p:sp>
      <p:sp>
        <p:nvSpPr>
          <p:cNvPr id="14" name="Text 12"/>
          <p:cNvSpPr txBox="1"/>
          <p:nvPr/>
        </p:nvSpPr>
        <p:spPr>
          <a:xfrm>
            <a:off x="3611880" y="25603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Wann ist sie entstanden?</a:t>
            </a:r>
            <a:endParaRPr lang="en-US" sz="2700" dirty="0"/>
          </a:p>
        </p:txBody>
      </p:sp>
      <p:sp>
        <p:nvSpPr>
          <p:cNvPr id="15" name="Text 13"/>
          <p:cNvSpPr txBox="1"/>
          <p:nvPr/>
        </p:nvSpPr>
        <p:spPr>
          <a:xfrm>
            <a:off x="411480" y="3246120"/>
            <a:ext cx="30175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Adressat</a:t>
            </a:r>
            <a:endParaRPr lang="en-US" sz="2700" dirty="0"/>
          </a:p>
        </p:txBody>
      </p:sp>
      <p:sp>
        <p:nvSpPr>
          <p:cNvPr id="16" name="Text 14"/>
          <p:cNvSpPr txBox="1"/>
          <p:nvPr/>
        </p:nvSpPr>
        <p:spPr>
          <a:xfrm>
            <a:off x="3611880" y="32461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Für wen ist sie gedacht?</a:t>
            </a:r>
            <a:endParaRPr lang="en-US" sz="2700" dirty="0"/>
          </a:p>
        </p:txBody>
      </p:sp>
      <p:sp>
        <p:nvSpPr>
          <p:cNvPr id="17" name="Text 15"/>
          <p:cNvSpPr txBox="1"/>
          <p:nvPr/>
        </p:nvSpPr>
        <p:spPr>
          <a:xfrm>
            <a:off x="411480" y="3931920"/>
            <a:ext cx="30175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Thema</a:t>
            </a:r>
            <a:endParaRPr lang="en-US" sz="2700" dirty="0"/>
          </a:p>
        </p:txBody>
      </p:sp>
      <p:sp>
        <p:nvSpPr>
          <p:cNvPr id="18" name="Text 16"/>
          <p:cNvSpPr txBox="1"/>
          <p:nvPr/>
        </p:nvSpPr>
        <p:spPr>
          <a:xfrm>
            <a:off x="3611880" y="39319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Worum geht es?</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geht's – ein Beispiel</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Lehrkraft</a:t>
            </a:r>
            <a:endParaRPr lang="en-US" sz="2700" dirty="0"/>
          </a:p>
        </p:txBody>
      </p:sp>
      <p:sp>
        <p:nvSpPr>
          <p:cNvPr id="9" name="Text 7"/>
          <p:cNvSpPr txBox="1"/>
          <p:nvPr/>
        </p:nvSpPr>
        <p:spPr>
          <a:xfrm>
            <a:off x="411480" y="1188720"/>
            <a:ext cx="3017520" cy="566928"/>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Autor</a:t>
            </a:r>
            <a:endParaRPr lang="en-US" sz="2700" dirty="0"/>
          </a:p>
        </p:txBody>
      </p:sp>
      <p:sp>
        <p:nvSpPr>
          <p:cNvPr id="10" name="Text 8"/>
          <p:cNvSpPr txBox="1"/>
          <p:nvPr/>
        </p:nvSpPr>
        <p:spPr>
          <a:xfrm>
            <a:off x="3611880" y="11887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Solon, Archon und Gesetzgeber Athens</a:t>
            </a:r>
            <a:endParaRPr lang="en-US" sz="2700" dirty="0"/>
          </a:p>
        </p:txBody>
      </p:sp>
      <p:sp>
        <p:nvSpPr>
          <p:cNvPr id="11" name="Text 9"/>
          <p:cNvSpPr txBox="1"/>
          <p:nvPr/>
        </p:nvSpPr>
        <p:spPr>
          <a:xfrm>
            <a:off x="411480" y="1874520"/>
            <a:ext cx="3017520" cy="566928"/>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Quellenart</a:t>
            </a:r>
            <a:endParaRPr lang="en-US" sz="2700" dirty="0"/>
          </a:p>
        </p:txBody>
      </p:sp>
      <p:sp>
        <p:nvSpPr>
          <p:cNvPr id="12" name="Text 10"/>
          <p:cNvSpPr txBox="1"/>
          <p:nvPr/>
        </p:nvSpPr>
        <p:spPr>
          <a:xfrm>
            <a:off x="3611880" y="18745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Gedicht</a:t>
            </a:r>
            <a:endParaRPr lang="en-US" sz="2700" dirty="0"/>
          </a:p>
        </p:txBody>
      </p:sp>
      <p:sp>
        <p:nvSpPr>
          <p:cNvPr id="13" name="Text 11"/>
          <p:cNvSpPr txBox="1"/>
          <p:nvPr/>
        </p:nvSpPr>
        <p:spPr>
          <a:xfrm>
            <a:off x="411480" y="2560320"/>
            <a:ext cx="3017520" cy="566928"/>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Entstehungszeit</a:t>
            </a:r>
            <a:endParaRPr lang="en-US" sz="2700" dirty="0"/>
          </a:p>
        </p:txBody>
      </p:sp>
      <p:sp>
        <p:nvSpPr>
          <p:cNvPr id="14" name="Text 12"/>
          <p:cNvSpPr txBox="1"/>
          <p:nvPr/>
        </p:nvSpPr>
        <p:spPr>
          <a:xfrm>
            <a:off x="3611880" y="25603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um 590 v. Chr.</a:t>
            </a:r>
            <a:endParaRPr lang="en-US" sz="2700" dirty="0"/>
          </a:p>
        </p:txBody>
      </p:sp>
      <p:sp>
        <p:nvSpPr>
          <p:cNvPr id="15" name="Text 13"/>
          <p:cNvSpPr txBox="1"/>
          <p:nvPr/>
        </p:nvSpPr>
        <p:spPr>
          <a:xfrm>
            <a:off x="411480" y="3246120"/>
            <a:ext cx="3017520" cy="566928"/>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Adressat</a:t>
            </a:r>
            <a:endParaRPr lang="en-US" sz="2700" dirty="0"/>
          </a:p>
        </p:txBody>
      </p:sp>
      <p:sp>
        <p:nvSpPr>
          <p:cNvPr id="16" name="Text 14"/>
          <p:cNvSpPr txBox="1"/>
          <p:nvPr/>
        </p:nvSpPr>
        <p:spPr>
          <a:xfrm>
            <a:off x="3611880" y="32461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die Athener</a:t>
            </a:r>
            <a:endParaRPr lang="en-US" sz="2700" dirty="0"/>
          </a:p>
        </p:txBody>
      </p:sp>
      <p:sp>
        <p:nvSpPr>
          <p:cNvPr id="17" name="Text 15"/>
          <p:cNvSpPr txBox="1"/>
          <p:nvPr/>
        </p:nvSpPr>
        <p:spPr>
          <a:xfrm>
            <a:off x="411480" y="3931920"/>
            <a:ext cx="3017520" cy="566928"/>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Thema</a:t>
            </a:r>
            <a:endParaRPr lang="en-US" sz="2700" dirty="0"/>
          </a:p>
        </p:txBody>
      </p:sp>
      <p:sp>
        <p:nvSpPr>
          <p:cNvPr id="18" name="Text 16"/>
          <p:cNvSpPr txBox="1"/>
          <p:nvPr/>
        </p:nvSpPr>
        <p:spPr>
          <a:xfrm>
            <a:off x="3611880" y="39319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Rechtfertigung seiner Reformen</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Daraus wird ein Satz</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Lehrkraft</a:t>
            </a:r>
            <a:endParaRPr lang="en-US" sz="2700" dirty="0"/>
          </a:p>
        </p:txBody>
      </p:sp>
      <p:sp>
        <p:nvSpPr>
          <p:cNvPr id="9" name="Shape 7"/>
          <p:cNvSpPr/>
          <p:nvPr/>
        </p:nvSpPr>
        <p:spPr>
          <a:xfrm>
            <a:off x="411480" y="1188720"/>
            <a:ext cx="8321040" cy="2377440"/>
          </a:xfrm>
          <a:prstGeom prst="roundRect">
            <a:avLst>
              <a:gd name="adj" fmla="val 3077"/>
            </a:avLst>
          </a:prstGeom>
          <a:solidFill>
            <a:srgbClr val="F4ECDE"/>
          </a:solidFill>
          <a:ln w="12700">
            <a:solidFill>
              <a:srgbClr val="F4ECDE"/>
            </a:solidFill>
            <a:prstDash val="solid"/>
          </a:ln>
        </p:spPr>
      </p:sp>
      <p:sp>
        <p:nvSpPr>
          <p:cNvPr id="10" name="Text 8"/>
          <p:cNvSpPr txBox="1"/>
          <p:nvPr/>
        </p:nvSpPr>
        <p:spPr>
          <a:xfrm>
            <a:off x="594360" y="1188720"/>
            <a:ext cx="7955280" cy="237744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„Bei der Quelle handelt es sich um ein Gedicht des athenischen Gesetzgebers Solon, das um 590 v. Chr. entstand. Er wendet sich an die Athener und rechtfertigt seine Reformen.“</a:t>
            </a:r>
            <a:endParaRPr lang="en-US" sz="2700" dirty="0"/>
          </a:p>
        </p:txBody>
      </p:sp>
      <p:sp>
        <p:nvSpPr>
          <p:cNvPr id="11" name="Shape 9"/>
          <p:cNvSpPr/>
          <p:nvPr/>
        </p:nvSpPr>
        <p:spPr>
          <a:xfrm>
            <a:off x="411480" y="3794760"/>
            <a:ext cx="8321040" cy="822960"/>
          </a:xfrm>
          <a:prstGeom prst="roundRect">
            <a:avLst>
              <a:gd name="adj" fmla="val 8889"/>
            </a:avLst>
          </a:prstGeom>
          <a:solidFill>
            <a:srgbClr val="2B2318"/>
          </a:solidFill>
          <a:ln w="12700">
            <a:solidFill>
              <a:srgbClr val="2B2318"/>
            </a:solidFill>
            <a:prstDash val="solid"/>
          </a:ln>
        </p:spPr>
      </p:sp>
      <p:sp>
        <p:nvSpPr>
          <p:cNvPr id="12" name="Text 10"/>
          <p:cNvSpPr txBox="1"/>
          <p:nvPr/>
        </p:nvSpPr>
        <p:spPr>
          <a:xfrm>
            <a:off x="594360" y="3794760"/>
            <a:ext cx="7955280" cy="82296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 Lebensdaten prüfen: War der Autor dabei?</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Jetzt du: Einleitung</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Lies den Kasten „Zum Autor“ auf dem Blatt.</a:t>
            </a:r>
            <a:endParaRPr lang="en-US" sz="2700" dirty="0"/>
          </a:p>
        </p:txBody>
      </p:sp>
      <p:sp>
        <p:nvSpPr>
          <p:cNvPr id="11" name="Text 9"/>
          <p:cNvSpPr txBox="1"/>
          <p:nvPr/>
        </p:nvSpPr>
        <p:spPr>
          <a:xfrm>
            <a:off x="411480" y="201168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99339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Fülle die fünf Felder in Schritt 1 aus.</a:t>
            </a:r>
            <a:endParaRPr lang="en-US" sz="2700" dirty="0"/>
          </a:p>
        </p:txBody>
      </p:sp>
      <p:sp>
        <p:nvSpPr>
          <p:cNvPr id="13" name="Text 11"/>
          <p:cNvSpPr txBox="1"/>
          <p:nvPr/>
        </p:nvSpPr>
        <p:spPr>
          <a:xfrm>
            <a:off x="411480" y="278892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77063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Schreibe einen Einleitungssatz.</a:t>
            </a:r>
            <a:endParaRPr lang="en-US" sz="2700" dirty="0"/>
          </a:p>
        </p:txBody>
      </p:sp>
      <p:sp>
        <p:nvSpPr>
          <p:cNvPr id="15" name="Text 13"/>
          <p:cNvSpPr txBox="1"/>
          <p:nvPr/>
        </p:nvSpPr>
        <p:spPr>
          <a:xfrm>
            <a:off x="411480" y="356616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54787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Fertig? Lies die Quelle schon einmal.</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Zum Autor und zur Schrift</a:t>
            </a:r>
            <a:endParaRPr lang="en-US" sz="3600" dirty="0"/>
          </a:p>
        </p:txBody>
      </p:sp>
      <p:sp>
        <p:nvSpPr>
          <p:cNvPr id="8" name="Shape 6"/>
          <p:cNvSpPr/>
          <p:nvPr/>
        </p:nvSpPr>
        <p:spPr>
          <a:xfrm>
            <a:off x="411480" y="1188720"/>
            <a:ext cx="8321040" cy="1051560"/>
          </a:xfrm>
          <a:prstGeom prst="roundRect">
            <a:avLst>
              <a:gd name="adj" fmla="val 6957"/>
            </a:avLst>
          </a:prstGeom>
          <a:solidFill>
            <a:srgbClr val="F4ECDE"/>
          </a:solidFill>
          <a:ln w="12700">
            <a:solidFill>
              <a:srgbClr val="F4ECDE"/>
            </a:solidFill>
            <a:prstDash val="solid"/>
          </a:ln>
        </p:spPr>
      </p:sp>
      <p:sp>
        <p:nvSpPr>
          <p:cNvPr id="9" name="Text 7"/>
          <p:cNvSpPr txBox="1"/>
          <p:nvPr/>
        </p:nvSpPr>
        <p:spPr>
          <a:xfrm>
            <a:off x="594360" y="118872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Aristoteles (384–322 v. Chr.): Philosoph, lebte in Athen, kein Bürger.</a:t>
            </a:r>
            <a:endParaRPr lang="en-US" sz="2700" dirty="0"/>
          </a:p>
        </p:txBody>
      </p:sp>
      <p:sp>
        <p:nvSpPr>
          <p:cNvPr id="10" name="Shape 8"/>
          <p:cNvSpPr/>
          <p:nvPr/>
        </p:nvSpPr>
        <p:spPr>
          <a:xfrm>
            <a:off x="411480" y="2377440"/>
            <a:ext cx="8321040" cy="1051560"/>
          </a:xfrm>
          <a:prstGeom prst="roundRect">
            <a:avLst>
              <a:gd name="adj" fmla="val 6957"/>
            </a:avLst>
          </a:prstGeom>
          <a:solidFill>
            <a:srgbClr val="FFFFFF"/>
          </a:solidFill>
          <a:ln w="12700">
            <a:solidFill>
              <a:srgbClr val="FFFFFF"/>
            </a:solidFill>
            <a:prstDash val="solid"/>
          </a:ln>
        </p:spPr>
      </p:sp>
      <p:sp>
        <p:nvSpPr>
          <p:cNvPr id="11" name="Text 9"/>
          <p:cNvSpPr txBox="1"/>
          <p:nvPr/>
        </p:nvSpPr>
        <p:spPr>
          <a:xfrm>
            <a:off x="594360" y="237744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„Der Staat der Athener“, um 330 v. Chr., für seine Schüler und gebildete Leser.</a:t>
            </a:r>
            <a:endParaRPr lang="en-US" sz="2700" dirty="0"/>
          </a:p>
        </p:txBody>
      </p:sp>
      <p:sp>
        <p:nvSpPr>
          <p:cNvPr id="12" name="Shape 10"/>
          <p:cNvSpPr/>
          <p:nvPr/>
        </p:nvSpPr>
        <p:spPr>
          <a:xfrm>
            <a:off x="411480" y="3566160"/>
            <a:ext cx="8321040" cy="1051560"/>
          </a:xfrm>
          <a:prstGeom prst="roundRect">
            <a:avLst>
              <a:gd name="adj" fmla="val 6957"/>
            </a:avLst>
          </a:prstGeom>
          <a:solidFill>
            <a:srgbClr val="F4ECDE"/>
          </a:solidFill>
          <a:ln w="12700">
            <a:solidFill>
              <a:srgbClr val="F4ECDE"/>
            </a:solidFill>
            <a:prstDash val="solid"/>
          </a:ln>
        </p:spPr>
      </p:sp>
      <p:sp>
        <p:nvSpPr>
          <p:cNvPr id="13" name="Text 11"/>
          <p:cNvSpPr txBox="1"/>
          <p:nvPr/>
        </p:nvSpPr>
        <p:spPr>
          <a:xfrm>
            <a:off x="594360" y="356616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Kleisthenes’ Reform war damals rund 180 Jahre her.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Einleitung</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„Bei der Quelle handelt es sich um einen Auszug aus der Schrift „Der Staat der Athener“ des griechischen Philosophen Aristoteles, die um 330 v. Chr. entstand. Sie richtet sich an seine Schüler und gebildete Leser und behandelt die Reformen des Kleisthenes 508/07 v. Chr.“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Schritt 2: Inhalt</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Portion 3</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In Sinnabschnitte teilen.</a:t>
            </a:r>
            <a:endParaRPr lang="en-US" sz="2700" dirty="0"/>
          </a:p>
        </p:txBody>
      </p:sp>
      <p:sp>
        <p:nvSpPr>
          <p:cNvPr id="11" name="Text 9"/>
          <p:cNvSpPr txBox="1"/>
          <p:nvPr/>
        </p:nvSpPr>
        <p:spPr>
          <a:xfrm>
            <a:off x="411480" y="1892808"/>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874520"/>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Kern in eigenen Worten.</a:t>
            </a:r>
            <a:endParaRPr lang="en-US" sz="2700" dirty="0"/>
          </a:p>
        </p:txBody>
      </p:sp>
      <p:sp>
        <p:nvSpPr>
          <p:cNvPr id="13" name="Text 11"/>
          <p:cNvSpPr txBox="1"/>
          <p:nvPr/>
        </p:nvSpPr>
        <p:spPr>
          <a:xfrm>
            <a:off x="411480" y="2551176"/>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532888"/>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Indirekte Rede: „er habe …“</a:t>
            </a:r>
            <a:endParaRPr lang="en-US" sz="2700" dirty="0"/>
          </a:p>
        </p:txBody>
      </p:sp>
      <p:sp>
        <p:nvSpPr>
          <p:cNvPr id="15" name="Text 13"/>
          <p:cNvSpPr txBox="1"/>
          <p:nvPr/>
        </p:nvSpPr>
        <p:spPr>
          <a:xfrm>
            <a:off x="411480" y="3209544"/>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191256"/>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Zeilen angeben: (Z. 6)</a:t>
            </a:r>
            <a:endParaRPr lang="en-US" sz="2700" dirty="0"/>
          </a:p>
        </p:txBody>
      </p:sp>
      <p:sp>
        <p:nvSpPr>
          <p:cNvPr id="17" name="Shape 15"/>
          <p:cNvSpPr/>
          <p:nvPr/>
        </p:nvSpPr>
        <p:spPr>
          <a:xfrm>
            <a:off x="411480" y="3931920"/>
            <a:ext cx="8321040" cy="777240"/>
          </a:xfrm>
          <a:prstGeom prst="roundRect">
            <a:avLst>
              <a:gd name="adj" fmla="val 9412"/>
            </a:avLst>
          </a:prstGeom>
          <a:solidFill>
            <a:srgbClr val="2B2318"/>
          </a:solidFill>
          <a:ln w="12700">
            <a:solidFill>
              <a:srgbClr val="2B2318"/>
            </a:solidFill>
            <a:prstDash val="solid"/>
          </a:ln>
        </p:spPr>
      </p:sp>
      <p:sp>
        <p:nvSpPr>
          <p:cNvPr id="18" name="Text 16"/>
          <p:cNvSpPr txBox="1"/>
          <p:nvPr/>
        </p:nvSpPr>
        <p:spPr>
          <a:xfrm>
            <a:off x="594360" y="3931920"/>
            <a:ext cx="7955280" cy="77724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 Noch keine Meinung – die kommt erst in Schritt 4.</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geht's: Z. 1–4</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Lehrkraft</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„Zunächst berichtet Aristoteles, nach dem Sturz der Tyrannen hätten Isagoras und Kleisthenes um die Macht gekämpft (Z. 1). Kleisthenes habe das Volk für sich gewonnen, indem er ihm die Macht im Staat übergeben habe (Z. 2–4).“</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Jetzt ihr: Inhalt</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10 Min.</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Lest Z. 5–14 zu zweit.</a:t>
            </a:r>
            <a:endParaRPr lang="en-US" sz="2700" dirty="0"/>
          </a:p>
        </p:txBody>
      </p:sp>
      <p:sp>
        <p:nvSpPr>
          <p:cNvPr id="11" name="Text 9"/>
          <p:cNvSpPr txBox="1"/>
          <p:nvPr/>
        </p:nvSpPr>
        <p:spPr>
          <a:xfrm>
            <a:off x="411480" y="201168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99339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Schreibt Z. 5–8 mit dem Satzanfang.</a:t>
            </a:r>
            <a:endParaRPr lang="en-US" sz="2700" dirty="0"/>
          </a:p>
        </p:txBody>
      </p:sp>
      <p:sp>
        <p:nvSpPr>
          <p:cNvPr id="13" name="Text 11"/>
          <p:cNvSpPr txBox="1"/>
          <p:nvPr/>
        </p:nvSpPr>
        <p:spPr>
          <a:xfrm>
            <a:off x="411480" y="278892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77063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Schreibt Z. 9–12 mit dem Satzanfang.</a:t>
            </a:r>
            <a:endParaRPr lang="en-US" sz="2700" dirty="0"/>
          </a:p>
        </p:txBody>
      </p:sp>
      <p:sp>
        <p:nvSpPr>
          <p:cNvPr id="15" name="Text 13"/>
          <p:cNvSpPr txBox="1"/>
          <p:nvPr/>
        </p:nvSpPr>
        <p:spPr>
          <a:xfrm>
            <a:off x="411480" y="356616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54787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Schreibt Z. 12–14 ganz allein.</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Aristoteles</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Z. 1–4</a:t>
            </a:r>
            <a:endParaRPr lang="en-US" sz="2700" dirty="0"/>
          </a:p>
        </p:txBody>
      </p:sp>
      <p:sp>
        <p:nvSpPr>
          <p:cNvPr id="9" name="Text 7"/>
          <p:cNvSpPr txBox="1"/>
          <p:nvPr/>
        </p:nvSpPr>
        <p:spPr>
          <a:xfrm>
            <a:off x="411480" y="1188720"/>
            <a:ext cx="8321040" cy="365760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Nach dem Sturz der Tyrannen kämpften Isagoras und Kleisthenes um die Macht. Kleisthenes stammte aus der Familie der Alkmeoniden. Weil er in den Bünden der Adligen unterlag, gewann er das Volk für sich, indem er der Menge die Macht im Staat übergab. […] Da das Volk ihm vertraute, wurde er sein Anführer.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Aristoteles</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Z. 5–8</a:t>
            </a:r>
            <a:endParaRPr lang="en-US" sz="2700" dirty="0"/>
          </a:p>
        </p:txBody>
      </p:sp>
      <p:sp>
        <p:nvSpPr>
          <p:cNvPr id="9" name="Text 7"/>
          <p:cNvSpPr txBox="1"/>
          <p:nvPr/>
        </p:nvSpPr>
        <p:spPr>
          <a:xfrm>
            <a:off x="411480" y="1188720"/>
            <a:ext cx="8321040" cy="365760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Im vierten Jahr nach dem Sturz der Tyrannen teilte er zuerst alle Bürger in zehn Phylen statt in vier ein. Er wollte sie miteinander vermischen, damit mehr Menschen an der Leitung des Staates teilhätten. Dann richtete er einen Rat der 500 statt der 400 ein, fünfzig Männer aus jeder Phyle.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Aristoteles</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Z. 9–14</a:t>
            </a:r>
            <a:endParaRPr lang="en-US" sz="2700" dirty="0"/>
          </a:p>
        </p:txBody>
      </p:sp>
      <p:sp>
        <p:nvSpPr>
          <p:cNvPr id="9" name="Text 7"/>
          <p:cNvSpPr txBox="1"/>
          <p:nvPr/>
        </p:nvSpPr>
        <p:spPr>
          <a:xfrm>
            <a:off x="411480" y="1188720"/>
            <a:ext cx="8321040" cy="365760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Das Land teilte er nach den Demen in dreißig Teile: zehn um die Stadt, zehn an der Küste und zehn im Binnenland. Diese Teile nannte er Trittyen. Durch das Los teilte er jeder Phyle drei Trittyen zu, damit jede Phyle an allen Gebieten Anteil hatte. Die Bewohner eines Demos ließ er nach ihrem Demos benennen und nicht mehr nach ihrem Vater, damit man die neuen Bürger nicht an ihrem Namen erkennen konnte.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Z. 5–8</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„Anschließend erklärt er, Kleisthenes habe die Bürger in zehn statt vier Phylen eingeteilt, um sie zu vermischen und mehr Menschen an der Politik zu beteiligen (Z. 5–7). Außerdem habe er einen Rat der 500 mit fünfzig Männern aus jeder Phyle geschaffen (Z. 7f.).“</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Z. 9–12</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„Außerdem habe Kleisthenes das Land in dreißig Trittyen geteilt, je zehn um die Stadt, an der Küste und im Binnenland (Z. 9f.). Jeder Phyle seien durch das Los drei Trittyen zugeteilt worden, damit sie an allen Gebieten Anteil habe (Z. 11f.).“</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Z. 12–14</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„Schließlich habe er bestimmt, dass man sich nach seinem Demos und nicht mehr nach dem Vater benennt, damit man die neuen Bürger nicht erkennen konnte (Z. 12–14).“</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Schritte 3 und 4*</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nur bei Zeit</a:t>
            </a:r>
            <a:endParaRPr lang="en-US" sz="2700" dirty="0"/>
          </a:p>
        </p:txBody>
      </p:sp>
      <p:sp>
        <p:nvSpPr>
          <p:cNvPr id="9" name="Shape 7"/>
          <p:cNvSpPr/>
          <p:nvPr/>
        </p:nvSpPr>
        <p:spPr>
          <a:xfrm>
            <a:off x="411480" y="1188720"/>
            <a:ext cx="8321040" cy="1508760"/>
          </a:xfrm>
          <a:prstGeom prst="roundRect">
            <a:avLst>
              <a:gd name="adj" fmla="val 4848"/>
            </a:avLst>
          </a:prstGeom>
          <a:solidFill>
            <a:srgbClr val="F4ECDE"/>
          </a:solidFill>
          <a:ln w="12700">
            <a:solidFill>
              <a:srgbClr val="F4ECDE"/>
            </a:solidFill>
            <a:prstDash val="solid"/>
          </a:ln>
        </p:spPr>
      </p:sp>
      <p:sp>
        <p:nvSpPr>
          <p:cNvPr id="10" name="Text 8"/>
          <p:cNvSpPr txBox="1"/>
          <p:nvPr/>
        </p:nvSpPr>
        <p:spPr>
          <a:xfrm>
            <a:off x="594360" y="1188720"/>
            <a:ext cx="7955280" cy="15087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Einordnen: Nach dem Sturz der Tyrannis (510) wollte Kleisthenes das Volk beteiligen (Z. 6f.).</a:t>
            </a:r>
            <a:endParaRPr lang="en-US" sz="2700" dirty="0"/>
          </a:p>
        </p:txBody>
      </p:sp>
      <p:sp>
        <p:nvSpPr>
          <p:cNvPr id="11" name="Shape 9"/>
          <p:cNvSpPr/>
          <p:nvPr/>
        </p:nvSpPr>
        <p:spPr>
          <a:xfrm>
            <a:off x="411480" y="2880360"/>
            <a:ext cx="8321040" cy="1280160"/>
          </a:xfrm>
          <a:prstGeom prst="roundRect">
            <a:avLst>
              <a:gd name="adj" fmla="val 5714"/>
            </a:avLst>
          </a:prstGeom>
          <a:solidFill>
            <a:srgbClr val="2B2318"/>
          </a:solidFill>
          <a:ln w="12700">
            <a:solidFill>
              <a:srgbClr val="2B2318"/>
            </a:solidFill>
            <a:prstDash val="solid"/>
          </a:ln>
        </p:spPr>
      </p:sp>
      <p:sp>
        <p:nvSpPr>
          <p:cNvPr id="12" name="Text 10"/>
          <p:cNvSpPr txBox="1"/>
          <p:nvPr/>
        </p:nvSpPr>
        <p:spPr>
          <a:xfrm>
            <a:off x="594360" y="2880360"/>
            <a:ext cx="7955280" cy="128016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Urteilen: Aristoteles schrieb 180 Jahre später – er war nicht dabei.</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Abschlussaufgabe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Text 7"/>
          <p:cNvSpPr txBox="1"/>
          <p:nvPr/>
        </p:nvSpPr>
        <p:spPr>
          <a:xfrm>
            <a:off x="411480" y="1143000"/>
            <a:ext cx="8321040" cy="45720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Ein Mitschüler zeigt dir seinen Klausur-Anfang:</a:t>
            </a:r>
            <a:endParaRPr lang="en-US" sz="2700" dirty="0"/>
          </a:p>
        </p:txBody>
      </p:sp>
      <p:sp>
        <p:nvSpPr>
          <p:cNvPr id="10" name="Shape 8"/>
          <p:cNvSpPr/>
          <p:nvPr/>
        </p:nvSpPr>
        <p:spPr>
          <a:xfrm>
            <a:off x="411480" y="1645920"/>
            <a:ext cx="8321040" cy="1920240"/>
          </a:xfrm>
          <a:prstGeom prst="roundRect">
            <a:avLst>
              <a:gd name="adj" fmla="val 3810"/>
            </a:avLst>
          </a:prstGeom>
          <a:solidFill>
            <a:srgbClr val="F4ECDE"/>
          </a:solidFill>
          <a:ln w="12700">
            <a:solidFill>
              <a:srgbClr val="F4ECDE"/>
            </a:solidFill>
            <a:prstDash val="solid"/>
          </a:ln>
        </p:spPr>
      </p:sp>
      <p:sp>
        <p:nvSpPr>
          <p:cNvPr id="11" name="Text 9"/>
          <p:cNvSpPr txBox="1"/>
          <p:nvPr/>
        </p:nvSpPr>
        <p:spPr>
          <a:xfrm>
            <a:off x="594360" y="1645920"/>
            <a:ext cx="7955280" cy="192024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„Aristoteles war dabei, als Kleisthenes die Demokratie einführte. Kleisthenes teilte die Bürger in zehn Phylen ein. Das war eine sehr gute Idee.“</a:t>
            </a:r>
            <a:endParaRPr lang="en-US" sz="2700" dirty="0"/>
          </a:p>
        </p:txBody>
      </p:sp>
      <p:sp>
        <p:nvSpPr>
          <p:cNvPr id="12" name="Shape 10"/>
          <p:cNvSpPr/>
          <p:nvPr/>
        </p:nvSpPr>
        <p:spPr>
          <a:xfrm>
            <a:off x="411480" y="3749040"/>
            <a:ext cx="8321040" cy="822960"/>
          </a:xfrm>
          <a:prstGeom prst="roundRect">
            <a:avLst>
              <a:gd name="adj" fmla="val 8889"/>
            </a:avLst>
          </a:prstGeom>
          <a:solidFill>
            <a:srgbClr val="2B2318"/>
          </a:solidFill>
          <a:ln w="12700">
            <a:solidFill>
              <a:srgbClr val="2B2318"/>
            </a:solidFill>
            <a:prstDash val="solid"/>
          </a:ln>
        </p:spPr>
      </p:sp>
      <p:sp>
        <p:nvSpPr>
          <p:cNvPr id="13" name="Text 11"/>
          <p:cNvSpPr txBox="1"/>
          <p:nvPr/>
        </p:nvSpPr>
        <p:spPr>
          <a:xfrm>
            <a:off x="594360" y="3749040"/>
            <a:ext cx="7955280" cy="82296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Gib ihm drei Ratschläge: „Ich rate dir …, weil …“</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könnte es lauten</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188720"/>
            <a:ext cx="8321040" cy="1051560"/>
          </a:xfrm>
          <a:prstGeom prst="roundRect">
            <a:avLst>
              <a:gd name="adj" fmla="val 6957"/>
            </a:avLst>
          </a:prstGeom>
          <a:solidFill>
            <a:srgbClr val="F4ECDE"/>
          </a:solidFill>
          <a:ln w="12700">
            <a:solidFill>
              <a:srgbClr val="F4ECDE"/>
            </a:solidFill>
            <a:prstDash val="solid"/>
          </a:ln>
        </p:spPr>
      </p:sp>
      <p:sp>
        <p:nvSpPr>
          <p:cNvPr id="10" name="Text 8"/>
          <p:cNvSpPr txBox="1"/>
          <p:nvPr/>
        </p:nvSpPr>
        <p:spPr>
          <a:xfrm>
            <a:off x="594360" y="118872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Ich rate dir, die Lebensdaten zu prüfen, weil Aristoteles 180 Jahre später schrieb.</a:t>
            </a:r>
            <a:endParaRPr lang="en-US" sz="2700" dirty="0"/>
          </a:p>
        </p:txBody>
      </p:sp>
      <p:sp>
        <p:nvSpPr>
          <p:cNvPr id="11" name="Shape 9"/>
          <p:cNvSpPr/>
          <p:nvPr/>
        </p:nvSpPr>
        <p:spPr>
          <a:xfrm>
            <a:off x="411480" y="2377440"/>
            <a:ext cx="8321040" cy="1051560"/>
          </a:xfrm>
          <a:prstGeom prst="roundRect">
            <a:avLst>
              <a:gd name="adj" fmla="val 6957"/>
            </a:avLst>
          </a:prstGeom>
          <a:solidFill>
            <a:srgbClr val="FFFFFF"/>
          </a:solidFill>
          <a:ln w="12700">
            <a:solidFill>
              <a:srgbClr val="FFFFFF"/>
            </a:solidFill>
            <a:prstDash val="solid"/>
          </a:ln>
        </p:spPr>
      </p:sp>
      <p:sp>
        <p:nvSpPr>
          <p:cNvPr id="12" name="Text 10"/>
          <p:cNvSpPr txBox="1"/>
          <p:nvPr/>
        </p:nvSpPr>
        <p:spPr>
          <a:xfrm>
            <a:off x="594360" y="237744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Ich rate dir, indirekte Rede und Zeilen zu nutzen, weil du wiedergibst, was er sagt.</a:t>
            </a:r>
            <a:endParaRPr lang="en-US" sz="2700" dirty="0"/>
          </a:p>
        </p:txBody>
      </p:sp>
      <p:sp>
        <p:nvSpPr>
          <p:cNvPr id="13" name="Shape 11"/>
          <p:cNvSpPr/>
          <p:nvPr/>
        </p:nvSpPr>
        <p:spPr>
          <a:xfrm>
            <a:off x="411480" y="3566160"/>
            <a:ext cx="8321040" cy="1051560"/>
          </a:xfrm>
          <a:prstGeom prst="roundRect">
            <a:avLst>
              <a:gd name="adj" fmla="val 6957"/>
            </a:avLst>
          </a:prstGeom>
          <a:solidFill>
            <a:srgbClr val="F4ECDE"/>
          </a:solidFill>
          <a:ln w="12700">
            <a:solidFill>
              <a:srgbClr val="F4ECDE"/>
            </a:solidFill>
            <a:prstDash val="solid"/>
          </a:ln>
        </p:spPr>
      </p:sp>
      <p:sp>
        <p:nvSpPr>
          <p:cNvPr id="14" name="Text 12"/>
          <p:cNvSpPr txBox="1"/>
          <p:nvPr/>
        </p:nvSpPr>
        <p:spPr>
          <a:xfrm>
            <a:off x="594360" y="356616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Ich rate dir, die Meinung wegzulassen, weil sie erst in Schritt 4 gehört.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Haben wir das Ziel erreicht?</a:t>
            </a:r>
            <a:endParaRPr lang="en-US" sz="3600" dirty="0"/>
          </a:p>
        </p:txBody>
      </p:sp>
      <p:sp>
        <p:nvSpPr>
          <p:cNvPr id="8" name="Text 6"/>
          <p:cNvSpPr txBox="1"/>
          <p:nvPr/>
        </p:nvSpPr>
        <p:spPr>
          <a:xfrm>
            <a:off x="411480" y="1371600"/>
            <a:ext cx="8321040" cy="1463040"/>
          </a:xfrm>
          <a:prstGeom prst="rect">
            <a:avLst/>
          </a:prstGeom>
          <a:noFill/>
          <a:ln/>
        </p:spPr>
        <p:txBody>
          <a:bodyPr wrap="square" lIns="0" tIns="0" rIns="0" bIns="0" rtlCol="0" anchor="t"/>
          <a:lstStyle/>
          <a:p>
            <a:pPr indent="0" marL="0">
              <a:buNone/>
            </a:pPr>
            <a:r>
              <a:rPr lang="en-US" sz="2700" b="1" dirty="0">
                <a:solidFill>
                  <a:srgbClr val="D9A441"/>
                </a:solidFill>
                <a:latin typeface="Calibri" pitchFamily="34" charset="0"/>
                <a:ea typeface="Calibri" pitchFamily="34" charset="-122"/>
                <a:cs typeface="Calibri" pitchFamily="34" charset="-120"/>
              </a:rPr>
              <a:t>Ich kann eine Textquelle mit dem Schreibplan analysieren: Einleitung schreiben und Inhalt wiedergeben.</a:t>
            </a:r>
            <a:endParaRPr lang="en-US" sz="2700" dirty="0"/>
          </a:p>
        </p:txBody>
      </p:sp>
      <p:sp>
        <p:nvSpPr>
          <p:cNvPr id="9" name="Text 7"/>
          <p:cNvSpPr txBox="1"/>
          <p:nvPr/>
        </p:nvSpPr>
        <p:spPr>
          <a:xfrm>
            <a:off x="411480" y="3291840"/>
            <a:ext cx="8321040" cy="822960"/>
          </a:xfrm>
          <a:prstGeom prst="rect">
            <a:avLst/>
          </a:prstGeom>
          <a:noFill/>
          <a:ln/>
        </p:spPr>
        <p:txBody>
          <a:bodyPr wrap="square" lIns="0" tIns="0" rIns="0" bIns="0" rtlCol="0" anchor="t"/>
          <a:lstStyle/>
          <a:p>
            <a:pPr indent="0" marL="0">
              <a:buNone/>
            </a:pPr>
            <a:r>
              <a:rPr lang="en-US" sz="2700" dirty="0">
                <a:solidFill>
                  <a:srgbClr val="E8DFD0"/>
                </a:solidFill>
                <a:latin typeface="Calibri" pitchFamily="34" charset="0"/>
                <a:ea typeface="Calibri" pitchFamily="34" charset="-122"/>
                <a:cs typeface="Calibri" pitchFamily="34" charset="-120"/>
              </a:rPr>
              <a:t>Nächstes Mal: Schritte 3 und 4 – einordnen und urteilen.</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und Quellenanalyse – Aristoteles über Kleisthenes</dc:title>
  <dc:subject>PptxGenJS Presentation</dc:subject>
  <dc:creator>PptxGenJS</dc:creator>
  <cp:lastModifiedBy>PptxGenJS</cp:lastModifiedBy>
  <cp:revision>1</cp:revision>
  <dcterms:created xsi:type="dcterms:W3CDTF">2026-10-29T15:38:57Z</dcterms:created>
  <dcterms:modified xsi:type="dcterms:W3CDTF">2026-10-29T15:38:57Z</dcterms:modified>
</cp:coreProperties>
</file>