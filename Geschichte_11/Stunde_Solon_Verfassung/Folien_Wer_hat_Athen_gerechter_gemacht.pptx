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direkt weiter zum Impuls.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Min. Kurz nachdenken lassen, dann alle gleichzeitig zeigen. Die Klasse wird sich vermutlich aufteilen. Nicht auflösen, welche Antwort richtig ist – genau das ist der Punkt (nächste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Nummern 1–4 bleiben die ganze Stunde stehen; die Schüler verweisen beim Urteilen darauf („gemessen an Maßstab 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Min. 2 Min. allein, dann Daumenabfrage. Je einen Schüler aus zwei Lagern begründen lassen. Ziel: Wer mit Maßstab 4 urteilt, stimmt eher zu; wer mit 1 oder 3 urteilt, eher nicht. Beide haben recht – mit ihrem Maßstab.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Beleg: LB S. 20, Abschnitt „Die Gesetzgebung des Drakon“.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10–14 Min. Das ist eine echte Quelle (anders als Drakons Satz) – kurz den Unterschied Quelle/Darstellung ansprechen. Erst lesen lassen, dann die zwei Fragen im Plenum. Der Schild: Rundschild der Hopliten.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Bezug zur Sozialreform: Schuldenerlass schützt das Volk, der Verzicht auf Landverteilung schützt die Reichen.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14–23 Min. Hinweis bei Nachfragen: „Passives Wahlrecht“ = gewählt werden dürfen. Die Theten haben nur das aktive Wahlrecht.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23–25 Min. Paare vergleichen und korrigieren. Die Ergänzung in der Problemtabelle schließt an die letzte Stunde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25–32 Min. Das Erklärschema gilt auch für spätere Verfassungsschaubilder (Kleisthenes, Perikles). Das Raster liefert die Inhalte für die Schritte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Schüler wird ausgelost und erklärt das Schaubild der Klasse (ca. 2 Min.). Die Klasse achtet darauf, ob alle fünf Schritte vorkommen. Eigenes Schaubild nach LB S. 21, mit Geschworenengericht.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Mustererklärung in fünf Sätzen, ein Satz pro Schritt.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32–38 Min. Figurenkarten (ausgedruckt) und die Schilder „verliert“/„gewinnt“ an die Tafel. Leitfrage für das spätere Urteil: Haben beide Seiten etwas gewonnen und etwas verloren?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Mögliche Lösung – andere begründete Positionen sind möglich, besonders in der Mitte. Wichtig für das Urteil: Fast jede Gruppe hat etwas gewonnen und etwas verloren.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38–44 Min. Zeit knapp? Nur das Sachurteil in der Stunde, das Werturteil als Hausaufgabe. Zwei Schüler lesen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Beispiel, keine Musterantwort. Ein Schüler kann auch zum Ergebnis kommen, Solon habe die Reichen stärker geschützt (Land, Ämter) – mit Beleg ist das ebenso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Nur zeigen, wenn Zeit ist – sonst als Einstieg in die nächste Stunde.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 Min. Überleitung zu Peisistratos.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640080" y="1005840"/>
            <a:ext cx="7863840" cy="274320"/>
          </a:xfrm>
          <a:prstGeom prst="rect">
            <a:avLst/>
          </a:prstGeom>
          <a:noFill/>
          <a:ln/>
        </p:spPr>
        <p:txBody>
          <a:bodyPr wrap="square" lIns="0" tIns="0" rIns="0" bIns="0" rtlCol="0" anchor="t"/>
          <a:lstStyle/>
          <a:p>
            <a:pPr indent="0" marL="0">
              <a:buNone/>
            </a:pPr>
            <a:r>
              <a:rPr lang="en-US" sz="1200" b="1" spc="300" kern="0" dirty="0">
                <a:solidFill>
                  <a:srgbClr val="D9A441"/>
                </a:solidFill>
                <a:latin typeface="Calibri" pitchFamily="34" charset="0"/>
                <a:ea typeface="Calibri" pitchFamily="34" charset="-122"/>
                <a:cs typeface="Calibri" pitchFamily="34" charset="-120"/>
              </a:rPr>
              <a:t>GESCHICHTE · KLASSE 11</a:t>
            </a:r>
            <a:endParaRPr lang="en-US" sz="1200" dirty="0"/>
          </a:p>
        </p:txBody>
      </p:sp>
      <p:sp>
        <p:nvSpPr>
          <p:cNvPr id="3" name="Text 1"/>
          <p:cNvSpPr txBox="1"/>
          <p:nvPr/>
        </p:nvSpPr>
        <p:spPr>
          <a:xfrm>
            <a:off x="640080" y="1325880"/>
            <a:ext cx="786384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Wer hat Athen gerechter gemacht?</a:t>
            </a:r>
            <a:endParaRPr lang="en-US" sz="3000" dirty="0"/>
          </a:p>
        </p:txBody>
      </p:sp>
      <p:sp>
        <p:nvSpPr>
          <p:cNvPr id="4" name="Text 2"/>
          <p:cNvSpPr txBox="1"/>
          <p:nvPr/>
        </p:nvSpPr>
        <p:spPr>
          <a:xfrm>
            <a:off x="640080" y="2240280"/>
            <a:ext cx="7863840" cy="457200"/>
          </a:xfrm>
          <a:prstGeom prst="rect">
            <a:avLst/>
          </a:prstGeom>
          <a:noFill/>
          <a:ln/>
        </p:spPr>
        <p:txBody>
          <a:bodyPr wrap="square" lIns="0" tIns="0" rIns="0" bIns="0" rtlCol="0" anchor="t"/>
          <a:lstStyle/>
          <a:p>
            <a:pPr indent="0" marL="0">
              <a:buNone/>
            </a:pPr>
            <a:r>
              <a:rPr lang="en-US" sz="1800" dirty="0">
                <a:solidFill>
                  <a:srgbClr val="E8DFD0"/>
                </a:solidFill>
                <a:latin typeface="Calibri" pitchFamily="34" charset="0"/>
                <a:ea typeface="Calibri" pitchFamily="34" charset="-122"/>
                <a:cs typeface="Calibri" pitchFamily="34" charset="-120"/>
              </a:rPr>
              <a:t>Drakon, Solon und die Verfassungsreform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IMPULS · ALLE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Was ist gerecht?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Min.</a:t>
            </a:r>
            <a:endParaRPr lang="en-US" sz="1100" dirty="0"/>
          </a:p>
        </p:txBody>
      </p:sp>
      <p:sp>
        <p:nvSpPr>
          <p:cNvPr id="5" name="Text 3"/>
          <p:cNvSpPr txBox="1"/>
          <p:nvPr/>
        </p:nvSpPr>
        <p:spPr>
          <a:xfrm>
            <a:off x="457200" y="1143000"/>
            <a:ext cx="8229600" cy="365760"/>
          </a:xfrm>
          <a:prstGeom prst="rect">
            <a:avLst/>
          </a:prstGeom>
          <a:noFill/>
          <a:ln/>
        </p:spPr>
        <p:txBody>
          <a:bodyPr wrap="square" lIns="0" tIns="0" rIns="0" bIns="0" rtlCol="0" anchor="t"/>
          <a:lstStyle/>
          <a:p>
            <a:pPr indent="0" marL="0">
              <a:buNone/>
            </a:pPr>
            <a:r>
              <a:rPr lang="en-US" sz="1400" b="1" dirty="0">
                <a:solidFill>
                  <a:srgbClr val="5A5044"/>
                </a:solidFill>
                <a:latin typeface="Calibri" pitchFamily="34" charset="0"/>
                <a:ea typeface="Calibri" pitchFamily="34" charset="-122"/>
                <a:cs typeface="Calibri" pitchFamily="34" charset="-120"/>
              </a:rPr>
              <a:t>Lies die vier Aussagen. Welche überzeugt dich am meisten? Zeige auf mein Zeichen 1, 2, 3 oder 4 Finger.</a:t>
            </a:r>
            <a:endParaRPr lang="en-US" sz="1400" dirty="0"/>
          </a:p>
        </p:txBody>
      </p:sp>
      <p:sp>
        <p:nvSpPr>
          <p:cNvPr id="6" name="Text 4"/>
          <p:cNvSpPr txBox="1"/>
          <p:nvPr/>
        </p:nvSpPr>
        <p:spPr>
          <a:xfrm>
            <a:off x="457200" y="1691640"/>
            <a:ext cx="8229600" cy="365760"/>
          </a:xfrm>
          <a:prstGeom prst="rect">
            <a:avLst/>
          </a:prstGeom>
          <a:noFill/>
          <a:ln/>
        </p:spPr>
        <p:txBody>
          <a:bodyPr wrap="square" lIns="0" tIns="0" rIns="0" bIns="0" rtlCol="0" anchor="t"/>
          <a:lstStyle/>
          <a:p>
            <a:pPr indent="0" marL="0">
              <a:buNone/>
            </a:pPr>
            <a:r>
              <a:rPr lang="en-US" sz="1800" b="1" dirty="0">
                <a:solidFill>
                  <a:srgbClr val="2B2318"/>
                </a:solidFill>
                <a:latin typeface="Cambria" pitchFamily="34" charset="0"/>
                <a:ea typeface="Cambria" pitchFamily="34" charset="-122"/>
                <a:cs typeface="Cambria" pitchFamily="34" charset="-120"/>
              </a:rPr>
              <a:t>Gerecht ist es, wenn …</a:t>
            </a:r>
            <a:endParaRPr lang="en-US" sz="1800" dirty="0"/>
          </a:p>
        </p:txBody>
      </p:sp>
      <p:sp>
        <p:nvSpPr>
          <p:cNvPr id="7" name="Shape 5"/>
          <p:cNvSpPr/>
          <p:nvPr/>
        </p:nvSpPr>
        <p:spPr>
          <a:xfrm>
            <a:off x="457200" y="2148840"/>
            <a:ext cx="4023360" cy="1051560"/>
          </a:xfrm>
          <a:prstGeom prst="roundRect">
            <a:avLst>
              <a:gd name="adj" fmla="val 6957"/>
            </a:avLst>
          </a:prstGeom>
          <a:solidFill>
            <a:srgbClr val="F4ECDE"/>
          </a:solidFill>
          <a:ln w="12700">
            <a:solidFill>
              <a:srgbClr val="F4ECDE"/>
            </a:solidFill>
            <a:prstDash val="solid"/>
          </a:ln>
        </p:spPr>
      </p:sp>
      <p:sp>
        <p:nvSpPr>
          <p:cNvPr id="8" name="Text 6"/>
          <p:cNvSpPr txBox="1"/>
          <p:nvPr/>
        </p:nvSpPr>
        <p:spPr>
          <a:xfrm>
            <a:off x="640080" y="242316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txBox="1"/>
          <p:nvPr/>
        </p:nvSpPr>
        <p:spPr>
          <a:xfrm>
            <a:off x="1325880" y="2221992"/>
            <a:ext cx="3017520" cy="914400"/>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 alle das Gleiche bekommen.</a:t>
            </a:r>
            <a:endParaRPr lang="en-US" sz="1500" dirty="0"/>
          </a:p>
        </p:txBody>
      </p:sp>
      <p:sp>
        <p:nvSpPr>
          <p:cNvPr id="10" name="Shape 8"/>
          <p:cNvSpPr/>
          <p:nvPr/>
        </p:nvSpPr>
        <p:spPr>
          <a:xfrm>
            <a:off x="4663440" y="2148840"/>
            <a:ext cx="4023360" cy="1051560"/>
          </a:xfrm>
          <a:prstGeom prst="roundRect">
            <a:avLst>
              <a:gd name="adj" fmla="val 6957"/>
            </a:avLst>
          </a:prstGeom>
          <a:solidFill>
            <a:srgbClr val="F4ECDE"/>
          </a:solidFill>
          <a:ln w="12700">
            <a:solidFill>
              <a:srgbClr val="F4ECDE"/>
            </a:solidFill>
            <a:prstDash val="solid"/>
          </a:ln>
        </p:spPr>
      </p:sp>
      <p:sp>
        <p:nvSpPr>
          <p:cNvPr id="11" name="Text 9"/>
          <p:cNvSpPr txBox="1"/>
          <p:nvPr/>
        </p:nvSpPr>
        <p:spPr>
          <a:xfrm>
            <a:off x="4846320" y="242316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5532120" y="2221992"/>
            <a:ext cx="3017520" cy="914400"/>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 jeder nach seinem Beitrag bekommt: Wer mehr leistet oder trägt, bekommt mehr.</a:t>
            </a:r>
            <a:endParaRPr lang="en-US" sz="1500" dirty="0"/>
          </a:p>
        </p:txBody>
      </p:sp>
      <p:sp>
        <p:nvSpPr>
          <p:cNvPr id="13" name="Shape 11"/>
          <p:cNvSpPr/>
          <p:nvPr/>
        </p:nvSpPr>
        <p:spPr>
          <a:xfrm>
            <a:off x="457200" y="3337560"/>
            <a:ext cx="4023360" cy="1051560"/>
          </a:xfrm>
          <a:prstGeom prst="roundRect">
            <a:avLst>
              <a:gd name="adj" fmla="val 6957"/>
            </a:avLst>
          </a:prstGeom>
          <a:solidFill>
            <a:srgbClr val="F4ECDE"/>
          </a:solidFill>
          <a:ln w="12700">
            <a:solidFill>
              <a:srgbClr val="F4ECDE"/>
            </a:solidFill>
            <a:prstDash val="solid"/>
          </a:ln>
        </p:spPr>
      </p:sp>
      <p:sp>
        <p:nvSpPr>
          <p:cNvPr id="14" name="Text 12"/>
          <p:cNvSpPr txBox="1"/>
          <p:nvPr/>
        </p:nvSpPr>
        <p:spPr>
          <a:xfrm>
            <a:off x="640080" y="361188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1325880" y="3410712"/>
            <a:ext cx="3017520" cy="914400"/>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 die Schwachen geschützt werden.</a:t>
            </a:r>
            <a:endParaRPr lang="en-US" sz="1500" dirty="0"/>
          </a:p>
        </p:txBody>
      </p:sp>
      <p:sp>
        <p:nvSpPr>
          <p:cNvPr id="16" name="Shape 14"/>
          <p:cNvSpPr/>
          <p:nvPr/>
        </p:nvSpPr>
        <p:spPr>
          <a:xfrm>
            <a:off x="4663440" y="3337560"/>
            <a:ext cx="4023360" cy="1051560"/>
          </a:xfrm>
          <a:prstGeom prst="roundRect">
            <a:avLst>
              <a:gd name="adj" fmla="val 6957"/>
            </a:avLst>
          </a:prstGeom>
          <a:solidFill>
            <a:srgbClr val="F4ECDE"/>
          </a:solidFill>
          <a:ln w="12700">
            <a:solidFill>
              <a:srgbClr val="F4ECDE"/>
            </a:solidFill>
            <a:prstDash val="solid"/>
          </a:ln>
        </p:spPr>
      </p:sp>
      <p:sp>
        <p:nvSpPr>
          <p:cNvPr id="17" name="Text 15"/>
          <p:cNvSpPr txBox="1"/>
          <p:nvPr/>
        </p:nvSpPr>
        <p:spPr>
          <a:xfrm>
            <a:off x="4846320" y="361188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txBox="1"/>
          <p:nvPr/>
        </p:nvSpPr>
        <p:spPr>
          <a:xfrm>
            <a:off x="5532120" y="3410712"/>
            <a:ext cx="3017520" cy="914400"/>
          </a:xfrm>
          <a:prstGeom prst="rect">
            <a:avLst/>
          </a:prstGeom>
          <a:noFill/>
          <a:ln/>
        </p:spPr>
        <p:txBody>
          <a:bodyPr wrap="square" lIns="0" tIns="0" rIns="0" bIns="0" rtlCol="0" anchor="ctr"/>
          <a:lstStyle/>
          <a:p>
            <a:pPr indent="0" marL="0">
              <a:buNone/>
            </a:pPr>
            <a:r>
              <a:rPr lang="en-US" sz="1500" dirty="0">
                <a:solidFill>
                  <a:srgbClr val="2B2318"/>
                </a:solidFill>
                <a:latin typeface="Calibri" pitchFamily="34" charset="0"/>
                <a:ea typeface="Calibri" pitchFamily="34" charset="-122"/>
                <a:cs typeface="Calibri" pitchFamily="34" charset="-120"/>
              </a:rPr>
              <a:t>… für alle dieselben Regeln gelten.</a:t>
            </a:r>
            <a:endParaRPr lang="en-US" sz="1500" dirty="0"/>
          </a:p>
        </p:txBody>
      </p:sp>
      <p:sp>
        <p:nvSpPr>
          <p:cNvPr id="19" name="Text 17"/>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20" name="Text 18"/>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IMPULS · AUSWERTUNG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Vier Maßstäbe für „gerecht“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Auswertung</a:t>
            </a:r>
            <a:endParaRPr lang="en-US" sz="1100" dirty="0"/>
          </a:p>
        </p:txBody>
      </p:sp>
      <p:sp>
        <p:nvSpPr>
          <p:cNvPr id="5" name="Shape 3"/>
          <p:cNvSpPr/>
          <p:nvPr/>
        </p:nvSpPr>
        <p:spPr>
          <a:xfrm>
            <a:off x="457200" y="1280160"/>
            <a:ext cx="1947672" cy="1828800"/>
          </a:xfrm>
          <a:prstGeom prst="roundRect">
            <a:avLst>
              <a:gd name="adj" fmla="val 4000"/>
            </a:avLst>
          </a:prstGeom>
          <a:solidFill>
            <a:srgbClr val="F4ECDE"/>
          </a:solidFill>
          <a:ln w="12700">
            <a:solidFill>
              <a:srgbClr val="F4ECDE"/>
            </a:solidFill>
            <a:prstDash val="solid"/>
          </a:ln>
        </p:spPr>
      </p:sp>
      <p:sp>
        <p:nvSpPr>
          <p:cNvPr id="6" name="Text 4"/>
          <p:cNvSpPr txBox="1"/>
          <p:nvPr/>
        </p:nvSpPr>
        <p:spPr>
          <a:xfrm>
            <a:off x="1179576" y="141732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548640" y="2011680"/>
            <a:ext cx="1764792" cy="365760"/>
          </a:xfrm>
          <a:prstGeom prst="rect">
            <a:avLst/>
          </a:prstGeom>
          <a:noFill/>
          <a:ln/>
        </p:spPr>
        <p:txBody>
          <a:bodyPr wrap="square" lIns="0" tIns="0" rIns="0" bIns="0" rtlCol="0" anchor="t"/>
          <a:lstStyle/>
          <a:p>
            <a:pPr algn="ctr" indent="0" marL="0">
              <a:buNone/>
            </a:pPr>
            <a:r>
              <a:rPr lang="en-US" sz="1500" b="1" dirty="0">
                <a:solidFill>
                  <a:srgbClr val="2B2318"/>
                </a:solidFill>
                <a:latin typeface="Cambria" pitchFamily="34" charset="0"/>
                <a:ea typeface="Cambria" pitchFamily="34" charset="-122"/>
                <a:cs typeface="Cambria" pitchFamily="34" charset="-120"/>
              </a:rPr>
              <a:t>Gleichheit</a:t>
            </a:r>
            <a:endParaRPr lang="en-US" sz="1500" dirty="0"/>
          </a:p>
        </p:txBody>
      </p:sp>
      <p:sp>
        <p:nvSpPr>
          <p:cNvPr id="8" name="Text 6"/>
          <p:cNvSpPr txBox="1"/>
          <p:nvPr/>
        </p:nvSpPr>
        <p:spPr>
          <a:xfrm>
            <a:off x="566928" y="2395728"/>
            <a:ext cx="1728216" cy="6858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 alle das Gleiche bekommen.</a:t>
            </a:r>
            <a:endParaRPr lang="en-US" sz="1050" dirty="0"/>
          </a:p>
        </p:txBody>
      </p:sp>
      <p:sp>
        <p:nvSpPr>
          <p:cNvPr id="9" name="Shape 7"/>
          <p:cNvSpPr/>
          <p:nvPr/>
        </p:nvSpPr>
        <p:spPr>
          <a:xfrm>
            <a:off x="2551176" y="1280160"/>
            <a:ext cx="1947672" cy="1828800"/>
          </a:xfrm>
          <a:prstGeom prst="roundRect">
            <a:avLst>
              <a:gd name="adj" fmla="val 4000"/>
            </a:avLst>
          </a:prstGeom>
          <a:solidFill>
            <a:srgbClr val="F4ECDE"/>
          </a:solidFill>
          <a:ln w="12700">
            <a:solidFill>
              <a:srgbClr val="F4ECDE"/>
            </a:solidFill>
            <a:prstDash val="solid"/>
          </a:ln>
        </p:spPr>
      </p:sp>
      <p:sp>
        <p:nvSpPr>
          <p:cNvPr id="10" name="Text 8"/>
          <p:cNvSpPr txBox="1"/>
          <p:nvPr/>
        </p:nvSpPr>
        <p:spPr>
          <a:xfrm>
            <a:off x="3273552" y="141732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2642616" y="2011680"/>
            <a:ext cx="1764792" cy="365760"/>
          </a:xfrm>
          <a:prstGeom prst="rect">
            <a:avLst/>
          </a:prstGeom>
          <a:noFill/>
          <a:ln/>
        </p:spPr>
        <p:txBody>
          <a:bodyPr wrap="square" lIns="0" tIns="0" rIns="0" bIns="0" rtlCol="0" anchor="t"/>
          <a:lstStyle/>
          <a:p>
            <a:pPr algn="ctr" indent="0" marL="0">
              <a:buNone/>
            </a:pPr>
            <a:r>
              <a:rPr lang="en-US" sz="1500" b="1" dirty="0">
                <a:solidFill>
                  <a:srgbClr val="2B2318"/>
                </a:solidFill>
                <a:latin typeface="Cambria" pitchFamily="34" charset="0"/>
                <a:ea typeface="Cambria" pitchFamily="34" charset="-122"/>
                <a:cs typeface="Cambria" pitchFamily="34" charset="-120"/>
              </a:rPr>
              <a:t>Leistung</a:t>
            </a:r>
            <a:endParaRPr lang="en-US" sz="1500" dirty="0"/>
          </a:p>
        </p:txBody>
      </p:sp>
      <p:sp>
        <p:nvSpPr>
          <p:cNvPr id="12" name="Text 10"/>
          <p:cNvSpPr txBox="1"/>
          <p:nvPr/>
        </p:nvSpPr>
        <p:spPr>
          <a:xfrm>
            <a:off x="2660904" y="2395728"/>
            <a:ext cx="1728216" cy="6858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 jeder nach seinem Beitrag bekommt: Wer mehr leistet oder trägt, bekommt mehr.</a:t>
            </a:r>
            <a:endParaRPr lang="en-US" sz="1050" dirty="0"/>
          </a:p>
        </p:txBody>
      </p:sp>
      <p:sp>
        <p:nvSpPr>
          <p:cNvPr id="13" name="Shape 11"/>
          <p:cNvSpPr/>
          <p:nvPr/>
        </p:nvSpPr>
        <p:spPr>
          <a:xfrm>
            <a:off x="4645152" y="1280160"/>
            <a:ext cx="1947672" cy="1828800"/>
          </a:xfrm>
          <a:prstGeom prst="roundRect">
            <a:avLst>
              <a:gd name="adj" fmla="val 4000"/>
            </a:avLst>
          </a:prstGeom>
          <a:solidFill>
            <a:srgbClr val="F4ECDE"/>
          </a:solidFill>
          <a:ln w="12700">
            <a:solidFill>
              <a:srgbClr val="F4ECDE"/>
            </a:solidFill>
            <a:prstDash val="solid"/>
          </a:ln>
        </p:spPr>
      </p:sp>
      <p:sp>
        <p:nvSpPr>
          <p:cNvPr id="14" name="Text 12"/>
          <p:cNvSpPr txBox="1"/>
          <p:nvPr/>
        </p:nvSpPr>
        <p:spPr>
          <a:xfrm>
            <a:off x="5367528" y="141732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5" name="Text 13"/>
          <p:cNvSpPr txBox="1"/>
          <p:nvPr/>
        </p:nvSpPr>
        <p:spPr>
          <a:xfrm>
            <a:off x="4736592" y="2011680"/>
            <a:ext cx="1764792" cy="365760"/>
          </a:xfrm>
          <a:prstGeom prst="rect">
            <a:avLst/>
          </a:prstGeom>
          <a:noFill/>
          <a:ln/>
        </p:spPr>
        <p:txBody>
          <a:bodyPr wrap="square" lIns="0" tIns="0" rIns="0" bIns="0" rtlCol="0" anchor="t"/>
          <a:lstStyle/>
          <a:p>
            <a:pPr algn="ctr" indent="0" marL="0">
              <a:buNone/>
            </a:pPr>
            <a:r>
              <a:rPr lang="en-US" sz="1250" b="1" dirty="0">
                <a:solidFill>
                  <a:srgbClr val="2B2318"/>
                </a:solidFill>
                <a:latin typeface="Cambria" pitchFamily="34" charset="0"/>
                <a:ea typeface="Cambria" pitchFamily="34" charset="-122"/>
                <a:cs typeface="Cambria" pitchFamily="34" charset="-120"/>
              </a:rPr>
              <a:t>Schutz der Schwachen</a:t>
            </a:r>
            <a:endParaRPr lang="en-US" sz="1250" dirty="0"/>
          </a:p>
        </p:txBody>
      </p:sp>
      <p:sp>
        <p:nvSpPr>
          <p:cNvPr id="16" name="Text 14"/>
          <p:cNvSpPr txBox="1"/>
          <p:nvPr/>
        </p:nvSpPr>
        <p:spPr>
          <a:xfrm>
            <a:off x="4754880" y="2395728"/>
            <a:ext cx="1728216" cy="6858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 die Schwachen geschützt werden.</a:t>
            </a:r>
            <a:endParaRPr lang="en-US" sz="1050" dirty="0"/>
          </a:p>
        </p:txBody>
      </p:sp>
      <p:sp>
        <p:nvSpPr>
          <p:cNvPr id="17" name="Shape 15"/>
          <p:cNvSpPr/>
          <p:nvPr/>
        </p:nvSpPr>
        <p:spPr>
          <a:xfrm>
            <a:off x="6739128" y="1280160"/>
            <a:ext cx="1947672" cy="1828800"/>
          </a:xfrm>
          <a:prstGeom prst="roundRect">
            <a:avLst>
              <a:gd name="adj" fmla="val 4000"/>
            </a:avLst>
          </a:prstGeom>
          <a:solidFill>
            <a:srgbClr val="F4ECDE"/>
          </a:solidFill>
          <a:ln w="12700">
            <a:solidFill>
              <a:srgbClr val="F4ECDE"/>
            </a:solidFill>
            <a:prstDash val="solid"/>
          </a:ln>
        </p:spPr>
      </p:sp>
      <p:sp>
        <p:nvSpPr>
          <p:cNvPr id="18" name="Text 16"/>
          <p:cNvSpPr txBox="1"/>
          <p:nvPr/>
        </p:nvSpPr>
        <p:spPr>
          <a:xfrm>
            <a:off x="7461504" y="1417320"/>
            <a:ext cx="502920" cy="502920"/>
          </a:xfrm>
          <a:prstGeom prst="ellipse">
            <a:avLst/>
          </a:prstGeom>
          <a:solidFill>
            <a:srgbClr val="AD4426"/>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9" name="Text 17"/>
          <p:cNvSpPr txBox="1"/>
          <p:nvPr/>
        </p:nvSpPr>
        <p:spPr>
          <a:xfrm>
            <a:off x="6830568" y="2011680"/>
            <a:ext cx="1764792" cy="365760"/>
          </a:xfrm>
          <a:prstGeom prst="rect">
            <a:avLst/>
          </a:prstGeom>
          <a:noFill/>
          <a:ln/>
        </p:spPr>
        <p:txBody>
          <a:bodyPr wrap="square" lIns="0" tIns="0" rIns="0" bIns="0" rtlCol="0" anchor="t"/>
          <a:lstStyle/>
          <a:p>
            <a:pPr algn="ctr" indent="0" marL="0">
              <a:buNone/>
            </a:pPr>
            <a:r>
              <a:rPr lang="en-US" sz="1250" b="1" dirty="0">
                <a:solidFill>
                  <a:srgbClr val="2B2318"/>
                </a:solidFill>
                <a:latin typeface="Cambria" pitchFamily="34" charset="0"/>
                <a:ea typeface="Cambria" pitchFamily="34" charset="-122"/>
                <a:cs typeface="Cambria" pitchFamily="34" charset="-120"/>
              </a:rPr>
              <a:t>Gleiche Regeln</a:t>
            </a:r>
            <a:endParaRPr lang="en-US" sz="1250" dirty="0"/>
          </a:p>
        </p:txBody>
      </p:sp>
      <p:sp>
        <p:nvSpPr>
          <p:cNvPr id="20" name="Text 18"/>
          <p:cNvSpPr txBox="1"/>
          <p:nvPr/>
        </p:nvSpPr>
        <p:spPr>
          <a:xfrm>
            <a:off x="6848856" y="2395728"/>
            <a:ext cx="1728216" cy="6858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 für alle dieselben Regeln gelten.</a:t>
            </a:r>
            <a:endParaRPr lang="en-US" sz="1050" dirty="0"/>
          </a:p>
        </p:txBody>
      </p:sp>
      <p:sp>
        <p:nvSpPr>
          <p:cNvPr id="21" name="Shape 19"/>
          <p:cNvSpPr/>
          <p:nvPr/>
        </p:nvSpPr>
        <p:spPr>
          <a:xfrm>
            <a:off x="457200" y="3337560"/>
            <a:ext cx="8229600" cy="1051560"/>
          </a:xfrm>
          <a:prstGeom prst="roundRect">
            <a:avLst>
              <a:gd name="adj" fmla="val 6957"/>
            </a:avLst>
          </a:prstGeom>
          <a:solidFill>
            <a:srgbClr val="2B2318"/>
          </a:solidFill>
          <a:ln w="12700">
            <a:solidFill>
              <a:srgbClr val="2B2318"/>
            </a:solidFill>
            <a:prstDash val="solid"/>
          </a:ln>
        </p:spPr>
      </p:sp>
      <p:sp>
        <p:nvSpPr>
          <p:cNvPr id="22" name="Text 20"/>
          <p:cNvSpPr txBox="1"/>
          <p:nvPr/>
        </p:nvSpPr>
        <p:spPr>
          <a:xfrm>
            <a:off x="731520" y="3429000"/>
            <a:ext cx="7680960" cy="365760"/>
          </a:xfrm>
          <a:prstGeom prst="rect">
            <a:avLst/>
          </a:prstGeom>
          <a:noFill/>
          <a:ln/>
        </p:spPr>
        <p:txBody>
          <a:bodyPr wrap="square" lIns="0" tIns="0" rIns="0" bIns="0" rtlCol="0" anchor="t"/>
          <a:lstStyle/>
          <a:p>
            <a:pPr indent="0" marL="0">
              <a:buNone/>
            </a:pPr>
            <a:r>
              <a:rPr lang="en-US" sz="1600" b="1" dirty="0">
                <a:solidFill>
                  <a:srgbClr val="D9A441"/>
                </a:solidFill>
                <a:latin typeface="Calibri" pitchFamily="34" charset="0"/>
                <a:ea typeface="Calibri" pitchFamily="34" charset="-122"/>
                <a:cs typeface="Calibri" pitchFamily="34" charset="-120"/>
              </a:rPr>
              <a:t>Ihr seid euch nicht einig – und alle Maßstäbe sind vertretbar.</a:t>
            </a:r>
            <a:endParaRPr lang="en-US" sz="1600" dirty="0"/>
          </a:p>
        </p:txBody>
      </p:sp>
      <p:sp>
        <p:nvSpPr>
          <p:cNvPr id="23" name="Text 21"/>
          <p:cNvSpPr txBox="1"/>
          <p:nvPr/>
        </p:nvSpPr>
        <p:spPr>
          <a:xfrm>
            <a:off x="731520" y="3794760"/>
            <a:ext cx="7680960" cy="5486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Deshalb gilt: Wer urteilt, muss sagen, welchen Maßstab er anlegt. Diese vier Maßstäbe nutzen wir heute für Drakon und Solon.</a:t>
            </a:r>
            <a:endParaRPr lang="en-US" sz="1400" dirty="0"/>
          </a:p>
        </p:txBody>
      </p:sp>
      <p:sp>
        <p:nvSpPr>
          <p:cNvPr id="24" name="Text 22"/>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25" name="Text 23"/>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EINZELARBEIT · TABELLE AUS DER LETZTEN STUNDE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Hat Drakon recht?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Min.</a:t>
            </a:r>
            <a:endParaRPr lang="en-US" sz="1100" dirty="0"/>
          </a:p>
        </p:txBody>
      </p:sp>
      <p:sp>
        <p:nvSpPr>
          <p:cNvPr id="5" name="Shape 3"/>
          <p:cNvSpPr/>
          <p:nvPr/>
        </p:nvSpPr>
        <p:spPr>
          <a:xfrm>
            <a:off x="457200" y="1234440"/>
            <a:ext cx="8229600" cy="1188720"/>
          </a:xfrm>
          <a:prstGeom prst="roundRect">
            <a:avLst>
              <a:gd name="adj" fmla="val 6154"/>
            </a:avLst>
          </a:prstGeom>
          <a:solidFill>
            <a:srgbClr val="2B2318"/>
          </a:solidFill>
          <a:ln w="12700">
            <a:solidFill>
              <a:srgbClr val="2B2318"/>
            </a:solidFill>
            <a:prstDash val="solid"/>
          </a:ln>
        </p:spPr>
      </p:sp>
      <p:sp>
        <p:nvSpPr>
          <p:cNvPr id="6" name="Text 4"/>
          <p:cNvSpPr txBox="1"/>
          <p:nvPr/>
        </p:nvSpPr>
        <p:spPr>
          <a:xfrm>
            <a:off x="731520" y="1325880"/>
            <a:ext cx="7680960" cy="685800"/>
          </a:xfrm>
          <a:prstGeom prst="rect">
            <a:avLst/>
          </a:prstGeom>
          <a:noFill/>
          <a:ln/>
        </p:spPr>
        <p:txBody>
          <a:bodyPr wrap="square" lIns="0" tIns="0" rIns="0" bIns="0" rtlCol="0" anchor="ctr"/>
          <a:lstStyle/>
          <a:p>
            <a:pPr indent="0" marL="0">
              <a:buNone/>
            </a:pPr>
            <a:r>
              <a:rPr lang="en-US" sz="3000" i="1" dirty="0">
                <a:solidFill>
                  <a:srgbClr val="FFFFFF"/>
                </a:solidFill>
                <a:latin typeface="Cambria" pitchFamily="34" charset="0"/>
                <a:ea typeface="Cambria" pitchFamily="34" charset="-122"/>
                <a:cs typeface="Cambria" pitchFamily="34" charset="-120"/>
              </a:rPr>
              <a:t>„Ich habe Athen gerechter gemacht.“</a:t>
            </a:r>
            <a:endParaRPr lang="en-US" sz="3000" dirty="0"/>
          </a:p>
        </p:txBody>
      </p:sp>
      <p:sp>
        <p:nvSpPr>
          <p:cNvPr id="7" name="Text 5"/>
          <p:cNvSpPr txBox="1"/>
          <p:nvPr/>
        </p:nvSpPr>
        <p:spPr>
          <a:xfrm>
            <a:off x="731520" y="2011680"/>
            <a:ext cx="7680960" cy="274320"/>
          </a:xfrm>
          <a:prstGeom prst="rect">
            <a:avLst/>
          </a:prstGeom>
          <a:noFill/>
          <a:ln/>
        </p:spPr>
        <p:txBody>
          <a:bodyPr wrap="square" lIns="0" tIns="0" rIns="0" bIns="0" rtlCol="0" anchor="t"/>
          <a:lstStyle/>
          <a:p>
            <a:pPr indent="0" marL="0">
              <a:buNone/>
            </a:pPr>
            <a:r>
              <a:rPr lang="en-US" sz="1200" dirty="0">
                <a:solidFill>
                  <a:srgbClr val="D9A441"/>
                </a:solidFill>
                <a:latin typeface="Calibri" pitchFamily="34" charset="0"/>
                <a:ea typeface="Calibri" pitchFamily="34" charset="-122"/>
                <a:cs typeface="Calibri" pitchFamily="34" charset="-120"/>
              </a:rPr>
              <a:t>Drakon, um 620 v. Chr. – erfundene Aussage</a:t>
            </a:r>
            <a:endParaRPr lang="en-US" sz="1200" dirty="0"/>
          </a:p>
        </p:txBody>
      </p:sp>
      <p:sp>
        <p:nvSpPr>
          <p:cNvPr id="8" name="Text 6"/>
          <p:cNvSpPr txBox="1"/>
          <p:nvPr/>
        </p:nvSpPr>
        <p:spPr>
          <a:xfrm>
            <a:off x="457200" y="265176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960120" y="2615184"/>
            <a:ext cx="7726680" cy="46634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Entscheide: Stimmt die Aussage, stimmt sie teilweise oder stimmt sie nicht?</a:t>
            </a:r>
            <a:endParaRPr lang="en-US" sz="1350" dirty="0"/>
          </a:p>
        </p:txBody>
      </p:sp>
      <p:sp>
        <p:nvSpPr>
          <p:cNvPr id="10" name="Text 8"/>
          <p:cNvSpPr txBox="1"/>
          <p:nvPr/>
        </p:nvSpPr>
        <p:spPr>
          <a:xfrm>
            <a:off x="457200" y="315468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960120" y="3118104"/>
            <a:ext cx="7726680" cy="46634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Begründe mit deiner Tabelle (Spalte „Drakon“). Schreibe einen Satz ins Heft.</a:t>
            </a:r>
            <a:endParaRPr lang="en-US" sz="1350" dirty="0"/>
          </a:p>
        </p:txBody>
      </p:sp>
      <p:sp>
        <p:nvSpPr>
          <p:cNvPr id="12" name="Text 10"/>
          <p:cNvSpPr txBox="1"/>
          <p:nvPr/>
        </p:nvSpPr>
        <p:spPr>
          <a:xfrm>
            <a:off x="457200" y="365760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3" name="Text 11"/>
          <p:cNvSpPr txBox="1"/>
          <p:nvPr/>
        </p:nvSpPr>
        <p:spPr>
          <a:xfrm>
            <a:off x="960120" y="3621024"/>
            <a:ext cx="7726680" cy="46634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Welchen Maßstab (1–4) hast du angelegt? Notiere die Nummer dazu.</a:t>
            </a:r>
            <a:endParaRPr lang="en-US" sz="1350" dirty="0"/>
          </a:p>
        </p:txBody>
      </p:sp>
      <p:sp>
        <p:nvSpPr>
          <p:cNvPr id="14" name="Text 12"/>
          <p:cNvSpPr txBox="1"/>
          <p:nvPr/>
        </p:nvSpPr>
        <p:spPr>
          <a:xfrm>
            <a:off x="457200" y="416052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txBox="1"/>
          <p:nvPr/>
        </p:nvSpPr>
        <p:spPr>
          <a:xfrm>
            <a:off x="960120" y="4123944"/>
            <a:ext cx="7726680" cy="466344"/>
          </a:xfrm>
          <a:prstGeom prst="rect">
            <a:avLst/>
          </a:prstGeom>
          <a:noFill/>
          <a:ln/>
        </p:spPr>
        <p:txBody>
          <a:bodyPr wrap="square" lIns="0" tIns="0" rIns="0" bIns="0" rtlCol="0" anchor="ctr"/>
          <a:lstStyle/>
          <a:p>
            <a:pPr indent="0" marL="0">
              <a:buNone/>
            </a:pPr>
            <a:r>
              <a:rPr lang="en-US" sz="1350" dirty="0">
                <a:solidFill>
                  <a:srgbClr val="2B2318"/>
                </a:solidFill>
                <a:latin typeface="Calibri" pitchFamily="34" charset="0"/>
                <a:ea typeface="Calibri" pitchFamily="34" charset="-122"/>
                <a:cs typeface="Calibri" pitchFamily="34" charset="-120"/>
              </a:rPr>
              <a:t>Auf mein Zeichen: Daumen hoch, waagerecht oder runter.</a:t>
            </a:r>
            <a:endParaRPr lang="en-US" sz="1350" dirty="0"/>
          </a:p>
        </p:txBody>
      </p:sp>
      <p:sp>
        <p:nvSpPr>
          <p:cNvPr id="16" name="Text 14"/>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17" name="Text 15"/>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DRAKON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Es kommt auf den Maßstab an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Shape 3"/>
          <p:cNvSpPr/>
          <p:nvPr/>
        </p:nvSpPr>
        <p:spPr>
          <a:xfrm>
            <a:off x="457200" y="1234440"/>
            <a:ext cx="4023360" cy="2240280"/>
          </a:xfrm>
          <a:prstGeom prst="roundRect">
            <a:avLst>
              <a:gd name="adj" fmla="val 3265"/>
            </a:avLst>
          </a:prstGeom>
          <a:solidFill>
            <a:srgbClr val="F4ECDE"/>
          </a:solidFill>
          <a:ln w="12700">
            <a:solidFill>
              <a:srgbClr val="F4ECDE"/>
            </a:solidFill>
            <a:prstDash val="solid"/>
          </a:ln>
        </p:spPr>
      </p:sp>
      <p:sp>
        <p:nvSpPr>
          <p:cNvPr id="6" name="Text 4"/>
          <p:cNvSpPr txBox="1"/>
          <p:nvPr/>
        </p:nvSpPr>
        <p:spPr>
          <a:xfrm>
            <a:off x="685800" y="1325880"/>
            <a:ext cx="3611880" cy="548640"/>
          </a:xfrm>
          <a:prstGeom prst="rect">
            <a:avLst/>
          </a:prstGeom>
          <a:noFill/>
          <a:ln/>
        </p:spPr>
        <p:txBody>
          <a:bodyPr wrap="square" lIns="0" tIns="0" rIns="0" bIns="0" rtlCol="0" anchor="t"/>
          <a:lstStyle/>
          <a:p>
            <a:pPr indent="0" marL="0">
              <a:buNone/>
            </a:pPr>
            <a:r>
              <a:rPr lang="en-US" sz="1400" b="1" dirty="0">
                <a:solidFill>
                  <a:srgbClr val="3C783C"/>
                </a:solidFill>
                <a:latin typeface="Cambria" pitchFamily="34" charset="0"/>
                <a:ea typeface="Cambria" pitchFamily="34" charset="-122"/>
                <a:cs typeface="Cambria" pitchFamily="34" charset="-120"/>
              </a:rPr>
              <a:t>Stimmt – gemessen an Maßstab 4 (gleiche Regeln)</a:t>
            </a:r>
            <a:endParaRPr lang="en-US" sz="1400" dirty="0"/>
          </a:p>
        </p:txBody>
      </p:sp>
      <p:sp>
        <p:nvSpPr>
          <p:cNvPr id="7" name="Text 5"/>
          <p:cNvSpPr txBox="1"/>
          <p:nvPr/>
        </p:nvSpPr>
        <p:spPr>
          <a:xfrm>
            <a:off x="685800" y="1920240"/>
            <a:ext cx="3611880" cy="14630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318"/>
                </a:solidFill>
                <a:latin typeface="Calibri" pitchFamily="34" charset="0"/>
                <a:ea typeface="Calibri" pitchFamily="34" charset="-122"/>
                <a:cs typeface="Calibri" pitchFamily="34" charset="-120"/>
              </a:rPr>
              <a:t>Erstmals geschriebenes Recht, das für alle Bürger gilt</a:t>
            </a:r>
            <a:endParaRPr lang="en-US" sz="1300" dirty="0"/>
          </a:p>
          <a:p>
            <a:pPr marL="342900" indent="-342900">
              <a:spcAft>
                <a:spcPts val="500"/>
              </a:spcAft>
              <a:buSzPct val="100000"/>
              <a:buChar char="•"/>
            </a:pPr>
            <a:r>
              <a:rPr lang="en-US" sz="1300" dirty="0">
                <a:solidFill>
                  <a:srgbClr val="2B2318"/>
                </a:solidFill>
                <a:latin typeface="Calibri" pitchFamily="34" charset="0"/>
                <a:ea typeface="Calibri" pitchFamily="34" charset="-122"/>
                <a:cs typeface="Calibri" pitchFamily="34" charset="-120"/>
              </a:rPr>
              <a:t>Staatliche Richter statt Blutrache und Adelsfehde</a:t>
            </a:r>
            <a:endParaRPr lang="en-US" sz="1300" dirty="0"/>
          </a:p>
        </p:txBody>
      </p:sp>
      <p:sp>
        <p:nvSpPr>
          <p:cNvPr id="8" name="Shape 6"/>
          <p:cNvSpPr/>
          <p:nvPr/>
        </p:nvSpPr>
        <p:spPr>
          <a:xfrm>
            <a:off x="4663440" y="1234440"/>
            <a:ext cx="4023360" cy="2240280"/>
          </a:xfrm>
          <a:prstGeom prst="roundRect">
            <a:avLst>
              <a:gd name="adj" fmla="val 3265"/>
            </a:avLst>
          </a:prstGeom>
          <a:solidFill>
            <a:srgbClr val="F4ECDE"/>
          </a:solidFill>
          <a:ln w="12700">
            <a:solidFill>
              <a:srgbClr val="F4ECDE"/>
            </a:solidFill>
            <a:prstDash val="solid"/>
          </a:ln>
        </p:spPr>
      </p:sp>
      <p:sp>
        <p:nvSpPr>
          <p:cNvPr id="9" name="Text 7"/>
          <p:cNvSpPr txBox="1"/>
          <p:nvPr/>
        </p:nvSpPr>
        <p:spPr>
          <a:xfrm>
            <a:off x="4892040" y="1325880"/>
            <a:ext cx="3611880" cy="548640"/>
          </a:xfrm>
          <a:prstGeom prst="rect">
            <a:avLst/>
          </a:prstGeom>
          <a:noFill/>
          <a:ln/>
        </p:spPr>
        <p:txBody>
          <a:bodyPr wrap="square" lIns="0" tIns="0" rIns="0" bIns="0" rtlCol="0" anchor="t"/>
          <a:lstStyle/>
          <a:p>
            <a:pPr indent="0" marL="0">
              <a:buNone/>
            </a:pPr>
            <a:r>
              <a:rPr lang="en-US" sz="1400" b="1" dirty="0">
                <a:solidFill>
                  <a:srgbClr val="AD4426"/>
                </a:solidFill>
                <a:latin typeface="Cambria" pitchFamily="34" charset="0"/>
                <a:ea typeface="Cambria" pitchFamily="34" charset="-122"/>
                <a:cs typeface="Cambria" pitchFamily="34" charset="-120"/>
              </a:rPr>
              <a:t>Stimmt nicht – gemessen an Maßstab 3 und 1</a:t>
            </a:r>
            <a:endParaRPr lang="en-US" sz="1400" dirty="0"/>
          </a:p>
        </p:txBody>
      </p:sp>
      <p:sp>
        <p:nvSpPr>
          <p:cNvPr id="10" name="Text 8"/>
          <p:cNvSpPr txBox="1"/>
          <p:nvPr/>
        </p:nvSpPr>
        <p:spPr>
          <a:xfrm>
            <a:off x="4892040" y="1920240"/>
            <a:ext cx="3611880" cy="14630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318"/>
                </a:solidFill>
                <a:latin typeface="Calibri" pitchFamily="34" charset="0"/>
                <a:ea typeface="Calibri" pitchFamily="34" charset="-122"/>
                <a:cs typeface="Calibri" pitchFamily="34" charset="-120"/>
              </a:rPr>
              <a:t>Die Schuldknechtschaft bleibt (kein Schutz der Schwachen)</a:t>
            </a:r>
            <a:endParaRPr lang="en-US" sz="1300" dirty="0"/>
          </a:p>
          <a:p>
            <a:pPr marL="342900" indent="-342900">
              <a:spcAft>
                <a:spcPts val="500"/>
              </a:spcAft>
              <a:buSzPct val="100000"/>
              <a:buChar char="•"/>
            </a:pPr>
            <a:r>
              <a:rPr lang="en-US" sz="1300" dirty="0">
                <a:solidFill>
                  <a:srgbClr val="2B2318"/>
                </a:solidFill>
                <a:latin typeface="Calibri" pitchFamily="34" charset="0"/>
                <a:ea typeface="Calibri" pitchFamily="34" charset="-122"/>
                <a:cs typeface="Calibri" pitchFamily="34" charset="-120"/>
              </a:rPr>
              <a:t>Sehr strenge Strafen</a:t>
            </a:r>
            <a:endParaRPr lang="en-US" sz="1300" dirty="0"/>
          </a:p>
          <a:p>
            <a:pPr marL="342900" indent="-342900">
              <a:spcAft>
                <a:spcPts val="500"/>
              </a:spcAft>
              <a:buSzPct val="100000"/>
              <a:buChar char="•"/>
            </a:pPr>
            <a:r>
              <a:rPr lang="en-US" sz="1300" dirty="0">
                <a:solidFill>
                  <a:srgbClr val="2B2318"/>
                </a:solidFill>
                <a:latin typeface="Calibri" pitchFamily="34" charset="0"/>
                <a:ea typeface="Calibri" pitchFamily="34" charset="-122"/>
                <a:cs typeface="Calibri" pitchFamily="34" charset="-120"/>
              </a:rPr>
              <a:t>Land und Macht bleiben beim Adel (keine Gleichheit)</a:t>
            </a:r>
            <a:endParaRPr lang="en-US" sz="1300" dirty="0"/>
          </a:p>
        </p:txBody>
      </p:sp>
      <p:sp>
        <p:nvSpPr>
          <p:cNvPr id="11" name="Shape 9"/>
          <p:cNvSpPr/>
          <p:nvPr/>
        </p:nvSpPr>
        <p:spPr>
          <a:xfrm>
            <a:off x="457200" y="3657600"/>
            <a:ext cx="8229600" cy="777240"/>
          </a:xfrm>
          <a:prstGeom prst="roundRect">
            <a:avLst>
              <a:gd name="adj" fmla="val 9412"/>
            </a:avLst>
          </a:prstGeom>
          <a:solidFill>
            <a:srgbClr val="2B2318"/>
          </a:solidFill>
          <a:ln w="12700">
            <a:solidFill>
              <a:srgbClr val="2B2318"/>
            </a:solidFill>
            <a:prstDash val="solid"/>
          </a:ln>
        </p:spPr>
      </p:sp>
      <p:sp>
        <p:nvSpPr>
          <p:cNvPr id="12" name="Text 10"/>
          <p:cNvSpPr txBox="1"/>
          <p:nvPr/>
        </p:nvSpPr>
        <p:spPr>
          <a:xfrm>
            <a:off x="685800" y="3703320"/>
            <a:ext cx="7772400" cy="685800"/>
          </a:xfrm>
          <a:prstGeom prst="rect">
            <a:avLst/>
          </a:prstGeom>
          <a:noFill/>
          <a:ln/>
        </p:spPr>
        <p:txBody>
          <a:bodyPr wrap="square" lIns="0" tIns="0" rIns="0" bIns="0" rtlCol="0" anchor="ctr"/>
          <a:lstStyle/>
          <a:p>
            <a:pPr indent="0" marL="0">
              <a:buNone/>
            </a:pPr>
            <a:r>
              <a:rPr lang="en-US" sz="1300" b="1" dirty="0">
                <a:solidFill>
                  <a:srgbClr val="D9A441"/>
                </a:solidFill>
                <a:latin typeface="Calibri" pitchFamily="34" charset="0"/>
                <a:ea typeface="Calibri" pitchFamily="34" charset="-122"/>
                <a:cs typeface="Calibri" pitchFamily="34" charset="-120"/>
              </a:rPr>
              <a:t>Sachurteil: </a:t>
            </a:r>
            <a:pPr indent="0" marL="0">
              <a:buNone/>
            </a:pPr>
            <a:r>
              <a:rPr lang="en-US" sz="1300" dirty="0">
                <a:solidFill>
                  <a:srgbClr val="FFFFFF"/>
                </a:solidFill>
                <a:latin typeface="Calibri" pitchFamily="34" charset="0"/>
                <a:ea typeface="Calibri" pitchFamily="34" charset="-122"/>
                <a:cs typeface="Calibri" pitchFamily="34" charset="-120"/>
              </a:rPr>
              <a:t>Für seine Zeit war Drakons Gesetzgebung ein Fortschritt.  </a:t>
            </a:r>
            <a:pPr indent="0" marL="0">
              <a:buNone/>
            </a:pPr>
            <a:r>
              <a:rPr lang="en-US" sz="1300" b="1" dirty="0">
                <a:solidFill>
                  <a:srgbClr val="D9A441"/>
                </a:solidFill>
                <a:latin typeface="Calibri" pitchFamily="34" charset="0"/>
                <a:ea typeface="Calibri" pitchFamily="34" charset="-122"/>
                <a:cs typeface="Calibri" pitchFamily="34" charset="-120"/>
              </a:rPr>
              <a:t>Werturteil: </a:t>
            </a:r>
            <a:pPr indent="0" marL="0">
              <a:buNone/>
            </a:pPr>
            <a:r>
              <a:rPr lang="en-US" sz="1300" dirty="0">
                <a:solidFill>
                  <a:srgbClr val="FFFFFF"/>
                </a:solidFill>
                <a:latin typeface="Calibri" pitchFamily="34" charset="0"/>
                <a:ea typeface="Calibri" pitchFamily="34" charset="-122"/>
                <a:cs typeface="Calibri" pitchFamily="34" charset="-120"/>
              </a:rPr>
              <a:t>Gemessen an Gleichheit und Schutz der Schwachen war Athen danach noch nicht gerecht.</a:t>
            </a:r>
            <a:endParaRPr lang="en-US" sz="1300" dirty="0"/>
          </a:p>
        </p:txBody>
      </p:sp>
      <p:sp>
        <p:nvSpPr>
          <p:cNvPr id="13" name="Text 11"/>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14" name="Text 12"/>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PLENUM · QUELLE</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Solon über seine Reform</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Min.</a:t>
            </a:r>
            <a:endParaRPr lang="en-US" sz="1100" dirty="0"/>
          </a:p>
        </p:txBody>
      </p:sp>
      <p:sp>
        <p:nvSpPr>
          <p:cNvPr id="5" name="Shape 3"/>
          <p:cNvSpPr/>
          <p:nvPr/>
        </p:nvSpPr>
        <p:spPr>
          <a:xfrm>
            <a:off x="457200" y="1234440"/>
            <a:ext cx="5394960" cy="2514600"/>
          </a:xfrm>
          <a:prstGeom prst="roundRect">
            <a:avLst>
              <a:gd name="adj" fmla="val 2909"/>
            </a:avLst>
          </a:prstGeom>
          <a:solidFill>
            <a:srgbClr val="F4ECDE"/>
          </a:solidFill>
          <a:ln w="12700">
            <a:solidFill>
              <a:srgbClr val="F4ECDE"/>
            </a:solidFill>
            <a:prstDash val="solid"/>
          </a:ln>
        </p:spPr>
      </p:sp>
      <p:sp>
        <p:nvSpPr>
          <p:cNvPr id="6" name="Text 4"/>
          <p:cNvSpPr txBox="1"/>
          <p:nvPr/>
        </p:nvSpPr>
        <p:spPr>
          <a:xfrm>
            <a:off x="658368" y="1325880"/>
            <a:ext cx="5029200" cy="1965960"/>
          </a:xfrm>
          <a:prstGeom prst="rect">
            <a:avLst/>
          </a:prstGeom>
          <a:noFill/>
          <a:ln/>
        </p:spPr>
        <p:txBody>
          <a:bodyPr wrap="square" lIns="0" tIns="0" rIns="0" bIns="0" rtlCol="0" anchor="ctr"/>
          <a:lstStyle/>
          <a:p>
            <a:pPr indent="0" marL="0">
              <a:buNone/>
            </a:pPr>
            <a:r>
              <a:rPr lang="en-US" sz="1300" i="1" dirty="0">
                <a:solidFill>
                  <a:srgbClr val="2B2318"/>
                </a:solidFill>
                <a:latin typeface="Cambria" pitchFamily="34" charset="0"/>
                <a:ea typeface="Cambria" pitchFamily="34" charset="-122"/>
                <a:cs typeface="Cambria" pitchFamily="34" charset="-120"/>
              </a:rPr>
              <a:t>„Dem Volk gab ich so viel Ansehen, wie ihm genügt, ohne ihm etwas zu nehmen oder zu viel zu geben. Und die, die Macht hatten und durch Reichtum angesehen waren, auch für die sorgte ich, dass sie kein Unrecht erlitten. Ich stand da und hielt über beide einen starken Schild und ließ keine Seite zu Unrecht siegen.“</a:t>
            </a:r>
            <a:endParaRPr lang="en-US" sz="1300" dirty="0"/>
          </a:p>
        </p:txBody>
      </p:sp>
      <p:sp>
        <p:nvSpPr>
          <p:cNvPr id="7" name="Text 5"/>
          <p:cNvSpPr txBox="1"/>
          <p:nvPr/>
        </p:nvSpPr>
        <p:spPr>
          <a:xfrm>
            <a:off x="658368" y="3291840"/>
            <a:ext cx="5029200" cy="411480"/>
          </a:xfrm>
          <a:prstGeom prst="rect">
            <a:avLst/>
          </a:prstGeom>
          <a:noFill/>
          <a:ln/>
        </p:spPr>
        <p:txBody>
          <a:bodyPr wrap="square" lIns="0" tIns="0" rIns="0" bIns="0" rtlCol="0" anchor="t"/>
          <a:lstStyle/>
          <a:p>
            <a:pPr indent="0" marL="0">
              <a:buNone/>
            </a:pPr>
            <a:r>
              <a:rPr lang="en-US" sz="950" dirty="0">
                <a:solidFill>
                  <a:srgbClr val="5A5044"/>
                </a:solidFill>
                <a:latin typeface="Calibri" pitchFamily="34" charset="0"/>
                <a:ea typeface="Calibri" pitchFamily="34" charset="-122"/>
                <a:cs typeface="Calibri" pitchFamily="34" charset="-120"/>
              </a:rPr>
              <a:t>Solon, Fragment 5, überliefert bei Aristoteles, Der Staat der Athener 12 (sinngemäße Übersetzung)</a:t>
            </a:r>
            <a:endParaRPr lang="en-US" sz="950" dirty="0"/>
          </a:p>
        </p:txBody>
      </p:sp>
      <p:sp>
        <p:nvSpPr>
          <p:cNvPr id="8" name="Text 6"/>
          <p:cNvSpPr txBox="1"/>
          <p:nvPr/>
        </p:nvSpPr>
        <p:spPr>
          <a:xfrm>
            <a:off x="6080760" y="1508760"/>
            <a:ext cx="640080" cy="548640"/>
          </a:xfrm>
          <a:prstGeom prst="roundRect">
            <a:avLst>
              <a:gd name="adj" fmla="val 13333"/>
            </a:avLst>
          </a:prstGeom>
          <a:solidFill>
            <a:srgbClr val="FBF8F2"/>
          </a:solidFill>
          <a:ln w="19050">
            <a:solidFill>
              <a:srgbClr val="AD4426"/>
            </a:solidFill>
            <a:prstDash val="dash"/>
          </a:ln>
        </p:spPr>
        <p:txBody>
          <a:bodyPr wrap="square" lIns="0" tIns="0" rIns="0" bIns="0" rtlCol="0" anchor="ctr"/>
          <a:lstStyle/>
          <a:p>
            <a:pPr algn="ctr" indent="0" marL="0">
              <a:buNone/>
            </a:pPr>
            <a:r>
              <a:rPr lang="en-US" sz="2200" b="1" dirty="0">
                <a:solidFill>
                  <a:srgbClr val="AD4426"/>
                </a:solidFill>
                <a:latin typeface="Cambria" pitchFamily="34" charset="0"/>
                <a:ea typeface="Cambria" pitchFamily="34" charset="-122"/>
                <a:cs typeface="Cambria" pitchFamily="34" charset="-120"/>
              </a:rPr>
              <a:t>?</a:t>
            </a:r>
            <a:endParaRPr lang="en-US" sz="2200" dirty="0"/>
          </a:p>
        </p:txBody>
      </p:sp>
      <p:sp>
        <p:nvSpPr>
          <p:cNvPr id="9" name="Text 7"/>
          <p:cNvSpPr txBox="1"/>
          <p:nvPr/>
        </p:nvSpPr>
        <p:spPr>
          <a:xfrm>
            <a:off x="8046720" y="1508760"/>
            <a:ext cx="640080" cy="548640"/>
          </a:xfrm>
          <a:prstGeom prst="roundRect">
            <a:avLst>
              <a:gd name="adj" fmla="val 13333"/>
            </a:avLst>
          </a:prstGeom>
          <a:solidFill>
            <a:srgbClr val="FBF8F2"/>
          </a:solidFill>
          <a:ln w="19050">
            <a:solidFill>
              <a:srgbClr val="AD4426"/>
            </a:solidFill>
            <a:prstDash val="dash"/>
          </a:ln>
        </p:spPr>
        <p:txBody>
          <a:bodyPr wrap="square" lIns="0" tIns="0" rIns="0" bIns="0" rtlCol="0" anchor="ctr"/>
          <a:lstStyle/>
          <a:p>
            <a:pPr algn="ctr" indent="0" marL="0">
              <a:buNone/>
            </a:pPr>
            <a:r>
              <a:rPr lang="en-US" sz="2200" b="1" dirty="0">
                <a:solidFill>
                  <a:srgbClr val="AD4426"/>
                </a:solidFill>
                <a:latin typeface="Cambria" pitchFamily="34" charset="0"/>
                <a:ea typeface="Cambria" pitchFamily="34" charset="-122"/>
                <a:cs typeface="Cambria" pitchFamily="34" charset="-120"/>
              </a:rPr>
              <a:t>?</a:t>
            </a:r>
            <a:endParaRPr lang="en-US" sz="2200" dirty="0"/>
          </a:p>
        </p:txBody>
      </p:sp>
      <p:sp>
        <p:nvSpPr>
          <p:cNvPr id="10" name="Text 8"/>
          <p:cNvSpPr txBox="1"/>
          <p:nvPr/>
        </p:nvSpPr>
        <p:spPr>
          <a:xfrm>
            <a:off x="6903720" y="1280160"/>
            <a:ext cx="1005840" cy="1005840"/>
          </a:xfrm>
          <a:prstGeom prst="ellipse">
            <a:avLst/>
          </a:prstGeom>
          <a:solidFill>
            <a:srgbClr val="D9A441"/>
          </a:solidFill>
          <a:ln/>
        </p:spPr>
        <p:txBody>
          <a:bodyPr wrap="square" lIns="0" tIns="0" rIns="0" bIns="0" rtlCol="0" anchor="ctr"/>
          <a:lstStyle/>
          <a:p>
            <a:pPr algn="ctr" indent="0" marL="0">
              <a:buNone/>
            </a:pPr>
            <a:r>
              <a:rPr lang="en-US" sz="1400" b="1" dirty="0">
                <a:solidFill>
                  <a:srgbClr val="2B2318"/>
                </a:solidFill>
                <a:latin typeface="Cambria" pitchFamily="34" charset="0"/>
                <a:ea typeface="Cambria" pitchFamily="34" charset="-122"/>
                <a:cs typeface="Cambria" pitchFamily="34" charset="-120"/>
              </a:rPr>
              <a:t>Schild</a:t>
            </a:r>
            <a:endParaRPr lang="en-US" sz="1400" dirty="0"/>
          </a:p>
        </p:txBody>
      </p:sp>
      <p:sp>
        <p:nvSpPr>
          <p:cNvPr id="11" name="Text 9"/>
          <p:cNvSpPr txBox="1"/>
          <p:nvPr/>
        </p:nvSpPr>
        <p:spPr>
          <a:xfrm>
            <a:off x="6080760" y="2331720"/>
            <a:ext cx="2606040" cy="274320"/>
          </a:xfrm>
          <a:prstGeom prst="rect">
            <a:avLst/>
          </a:prstGeom>
          <a:noFill/>
          <a:ln/>
        </p:spPr>
        <p:txBody>
          <a:bodyPr wrap="square" lIns="0" tIns="0" rIns="0" bIns="0" rtlCol="0" anchor="t"/>
          <a:lstStyle/>
          <a:p>
            <a:pPr algn="ctr" indent="0" marL="0">
              <a:buNone/>
            </a:pPr>
            <a:r>
              <a:rPr lang="en-US" sz="1200" b="1" dirty="0">
                <a:solidFill>
                  <a:srgbClr val="AD4426"/>
                </a:solidFill>
                <a:latin typeface="Calibri" pitchFamily="34" charset="0"/>
                <a:ea typeface="Calibri" pitchFamily="34" charset="-122"/>
                <a:cs typeface="Calibri" pitchFamily="34" charset="-120"/>
              </a:rPr>
              <a:t>Wer steht links und rechts?</a:t>
            </a:r>
            <a:endParaRPr lang="en-US" sz="1200" dirty="0"/>
          </a:p>
        </p:txBody>
      </p:sp>
      <p:sp>
        <p:nvSpPr>
          <p:cNvPr id="12" name="Text 10"/>
          <p:cNvSpPr txBox="1"/>
          <p:nvPr/>
        </p:nvSpPr>
        <p:spPr>
          <a:xfrm>
            <a:off x="6080760" y="278892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3" name="Text 11"/>
          <p:cNvSpPr txBox="1"/>
          <p:nvPr/>
        </p:nvSpPr>
        <p:spPr>
          <a:xfrm>
            <a:off x="6583680" y="2752344"/>
            <a:ext cx="2103120" cy="46634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Wer sind „beide“?</a:t>
            </a:r>
            <a:endParaRPr lang="en-US" sz="1300" dirty="0"/>
          </a:p>
        </p:txBody>
      </p:sp>
      <p:sp>
        <p:nvSpPr>
          <p:cNvPr id="14" name="Text 12"/>
          <p:cNvSpPr txBox="1"/>
          <p:nvPr/>
        </p:nvSpPr>
        <p:spPr>
          <a:xfrm>
            <a:off x="6080760" y="329184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6583680" y="3255264"/>
            <a:ext cx="2103120" cy="46634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Wovor schützt der Schild?</a:t>
            </a:r>
            <a:endParaRPr lang="en-US" sz="1300" dirty="0"/>
          </a:p>
        </p:txBody>
      </p:sp>
      <p:sp>
        <p:nvSpPr>
          <p:cNvPr id="16" name="Text 14"/>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17" name="Text 15"/>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SOLON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Ein Schild über beide Seiten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Shape 3"/>
          <p:cNvSpPr/>
          <p:nvPr/>
        </p:nvSpPr>
        <p:spPr>
          <a:xfrm>
            <a:off x="457200" y="1280160"/>
            <a:ext cx="2651760" cy="1371600"/>
          </a:xfrm>
          <a:prstGeom prst="roundRect">
            <a:avLst>
              <a:gd name="adj" fmla="val 5333"/>
            </a:avLst>
          </a:prstGeom>
          <a:solidFill>
            <a:srgbClr val="F4ECDE"/>
          </a:solidFill>
          <a:ln w="12700">
            <a:solidFill>
              <a:srgbClr val="F4ECDE"/>
            </a:solidFill>
            <a:prstDash val="solid"/>
          </a:ln>
        </p:spPr>
      </p:sp>
      <p:sp>
        <p:nvSpPr>
          <p:cNvPr id="6" name="Text 4"/>
          <p:cNvSpPr txBox="1"/>
          <p:nvPr/>
        </p:nvSpPr>
        <p:spPr>
          <a:xfrm>
            <a:off x="548640" y="1371600"/>
            <a:ext cx="2468880" cy="365760"/>
          </a:xfrm>
          <a:prstGeom prst="rect">
            <a:avLst/>
          </a:prstGeom>
          <a:noFill/>
          <a:ln/>
        </p:spPr>
        <p:txBody>
          <a:bodyPr wrap="square" lIns="0" tIns="0" rIns="0" bIns="0" rtlCol="0" anchor="t"/>
          <a:lstStyle/>
          <a:p>
            <a:pPr algn="ctr" indent="0" marL="0">
              <a:buNone/>
            </a:pPr>
            <a:r>
              <a:rPr lang="en-US" sz="1700" b="1" dirty="0">
                <a:solidFill>
                  <a:srgbClr val="2B2318"/>
                </a:solidFill>
                <a:latin typeface="Cambria" pitchFamily="34" charset="0"/>
                <a:ea typeface="Cambria" pitchFamily="34" charset="-122"/>
                <a:cs typeface="Cambria" pitchFamily="34" charset="-120"/>
              </a:rPr>
              <a:t>Das Volk</a:t>
            </a:r>
            <a:endParaRPr lang="en-US" sz="1700" dirty="0"/>
          </a:p>
        </p:txBody>
      </p:sp>
      <p:sp>
        <p:nvSpPr>
          <p:cNvPr id="7" name="Text 5"/>
          <p:cNvSpPr txBox="1"/>
          <p:nvPr/>
        </p:nvSpPr>
        <p:spPr>
          <a:xfrm>
            <a:off x="594360" y="1783080"/>
            <a:ext cx="2377440" cy="731520"/>
          </a:xfrm>
          <a:prstGeom prst="rect">
            <a:avLst/>
          </a:prstGeom>
          <a:noFill/>
          <a:ln/>
        </p:spPr>
        <p:txBody>
          <a:bodyPr wrap="square" lIns="0" tIns="0" rIns="0" bIns="0" rtlCol="0" anchor="t"/>
          <a:lstStyle/>
          <a:p>
            <a:pPr algn="ctr" indent="0" marL="0">
              <a:buNone/>
            </a:pPr>
            <a:r>
              <a:rPr lang="en-US" sz="1200" dirty="0">
                <a:solidFill>
                  <a:srgbClr val="5A5044"/>
                </a:solidFill>
                <a:latin typeface="Calibri" pitchFamily="34" charset="0"/>
                <a:ea typeface="Calibri" pitchFamily="34" charset="-122"/>
                <a:cs typeface="Calibri" pitchFamily="34" charset="-120"/>
              </a:rPr>
              <a:t>arme Bauern, Tagelöhner, Verschuldete</a:t>
            </a:r>
            <a:endParaRPr lang="en-US" sz="1200" dirty="0"/>
          </a:p>
        </p:txBody>
      </p:sp>
      <p:sp>
        <p:nvSpPr>
          <p:cNvPr id="8" name="Text 6"/>
          <p:cNvSpPr txBox="1"/>
          <p:nvPr/>
        </p:nvSpPr>
        <p:spPr>
          <a:xfrm>
            <a:off x="3931920" y="1234440"/>
            <a:ext cx="1280160" cy="1280160"/>
          </a:xfrm>
          <a:prstGeom prst="ellipse">
            <a:avLst/>
          </a:prstGeom>
          <a:solidFill>
            <a:srgbClr val="D9A441"/>
          </a:solidFill>
          <a:ln/>
        </p:spPr>
        <p:txBody>
          <a:bodyPr wrap="square" lIns="0" tIns="0" rIns="0" bIns="0" rtlCol="0" anchor="ctr"/>
          <a:lstStyle/>
          <a:p>
            <a:pPr algn="ctr" indent="0" marL="0">
              <a:buNone/>
            </a:pPr>
            <a:r>
              <a:rPr lang="en-US" sz="1600" b="1" dirty="0">
                <a:solidFill>
                  <a:srgbClr val="2B2318"/>
                </a:solidFill>
                <a:latin typeface="Cambria" pitchFamily="34" charset="0"/>
                <a:ea typeface="Cambria" pitchFamily="34" charset="-122"/>
                <a:cs typeface="Cambria" pitchFamily="34" charset="-120"/>
              </a:rPr>
              <a:t>Solon</a:t>
            </a:r>
            <a:endParaRPr lang="en-US" sz="1600" dirty="0"/>
          </a:p>
        </p:txBody>
      </p:sp>
      <p:sp>
        <p:nvSpPr>
          <p:cNvPr id="9" name="Text 7"/>
          <p:cNvSpPr txBox="1"/>
          <p:nvPr/>
        </p:nvSpPr>
        <p:spPr>
          <a:xfrm>
            <a:off x="3383280" y="2560320"/>
            <a:ext cx="2377440" cy="274320"/>
          </a:xfrm>
          <a:prstGeom prst="rect">
            <a:avLst/>
          </a:prstGeom>
          <a:noFill/>
          <a:ln/>
        </p:spPr>
        <p:txBody>
          <a:bodyPr wrap="square" lIns="0" tIns="0" rIns="0" bIns="0" rtlCol="0" anchor="t"/>
          <a:lstStyle/>
          <a:p>
            <a:pPr algn="ctr" indent="0" marL="0">
              <a:buNone/>
            </a:pPr>
            <a:r>
              <a:rPr lang="en-US" sz="1100" i="1" dirty="0">
                <a:solidFill>
                  <a:srgbClr val="5A5044"/>
                </a:solidFill>
                <a:latin typeface="Calibri" pitchFamily="34" charset="0"/>
                <a:ea typeface="Calibri" pitchFamily="34" charset="-122"/>
                <a:cs typeface="Calibri" pitchFamily="34" charset="-120"/>
              </a:rPr>
              <a:t>der Schlichter in der Mitte</a:t>
            </a:r>
            <a:endParaRPr lang="en-US" sz="1100" dirty="0"/>
          </a:p>
        </p:txBody>
      </p:sp>
      <p:sp>
        <p:nvSpPr>
          <p:cNvPr id="10" name="Shape 8"/>
          <p:cNvSpPr/>
          <p:nvPr/>
        </p:nvSpPr>
        <p:spPr>
          <a:xfrm>
            <a:off x="6035040" y="1280160"/>
            <a:ext cx="2651760" cy="1371600"/>
          </a:xfrm>
          <a:prstGeom prst="roundRect">
            <a:avLst>
              <a:gd name="adj" fmla="val 5333"/>
            </a:avLst>
          </a:prstGeom>
          <a:solidFill>
            <a:srgbClr val="F4ECDE"/>
          </a:solidFill>
          <a:ln w="12700">
            <a:solidFill>
              <a:srgbClr val="F4ECDE"/>
            </a:solidFill>
            <a:prstDash val="solid"/>
          </a:ln>
        </p:spPr>
      </p:sp>
      <p:sp>
        <p:nvSpPr>
          <p:cNvPr id="11" name="Text 9"/>
          <p:cNvSpPr txBox="1"/>
          <p:nvPr/>
        </p:nvSpPr>
        <p:spPr>
          <a:xfrm>
            <a:off x="6126480" y="1371600"/>
            <a:ext cx="2468880" cy="365760"/>
          </a:xfrm>
          <a:prstGeom prst="rect">
            <a:avLst/>
          </a:prstGeom>
          <a:noFill/>
          <a:ln/>
        </p:spPr>
        <p:txBody>
          <a:bodyPr wrap="square" lIns="0" tIns="0" rIns="0" bIns="0" rtlCol="0" anchor="t"/>
          <a:lstStyle/>
          <a:p>
            <a:pPr algn="ctr" indent="0" marL="0">
              <a:buNone/>
            </a:pPr>
            <a:r>
              <a:rPr lang="en-US" sz="1350" b="1" dirty="0">
                <a:solidFill>
                  <a:srgbClr val="2B2318"/>
                </a:solidFill>
                <a:latin typeface="Cambria" pitchFamily="34" charset="0"/>
                <a:ea typeface="Cambria" pitchFamily="34" charset="-122"/>
                <a:cs typeface="Cambria" pitchFamily="34" charset="-120"/>
              </a:rPr>
              <a:t>Die Reichen und Mächtigen</a:t>
            </a:r>
            <a:endParaRPr lang="en-US" sz="1350" dirty="0"/>
          </a:p>
        </p:txBody>
      </p:sp>
      <p:sp>
        <p:nvSpPr>
          <p:cNvPr id="12" name="Text 10"/>
          <p:cNvSpPr txBox="1"/>
          <p:nvPr/>
        </p:nvSpPr>
        <p:spPr>
          <a:xfrm>
            <a:off x="6172200" y="1783080"/>
            <a:ext cx="2377440" cy="731520"/>
          </a:xfrm>
          <a:prstGeom prst="rect">
            <a:avLst/>
          </a:prstGeom>
          <a:noFill/>
          <a:ln/>
        </p:spPr>
        <p:txBody>
          <a:bodyPr wrap="square" lIns="0" tIns="0" rIns="0" bIns="0" rtlCol="0" anchor="t"/>
          <a:lstStyle/>
          <a:p>
            <a:pPr algn="ctr" indent="0" marL="0">
              <a:buNone/>
            </a:pPr>
            <a:r>
              <a:rPr lang="en-US" sz="1200" dirty="0">
                <a:solidFill>
                  <a:srgbClr val="5A5044"/>
                </a:solidFill>
                <a:latin typeface="Calibri" pitchFamily="34" charset="0"/>
                <a:ea typeface="Calibri" pitchFamily="34" charset="-122"/>
                <a:cs typeface="Calibri" pitchFamily="34" charset="-120"/>
              </a:rPr>
              <a:t>Adel, Großgrundbesitzer</a:t>
            </a:r>
            <a:endParaRPr lang="en-US" sz="1200" dirty="0"/>
          </a:p>
        </p:txBody>
      </p:sp>
      <p:sp>
        <p:nvSpPr>
          <p:cNvPr id="13" name="Shape 11"/>
          <p:cNvSpPr/>
          <p:nvPr/>
        </p:nvSpPr>
        <p:spPr>
          <a:xfrm flipH="1">
            <a:off x="3154680" y="1874520"/>
            <a:ext cx="731520" cy="914"/>
          </a:xfrm>
          <a:prstGeom prst="line">
            <a:avLst/>
          </a:prstGeom>
          <a:noFill/>
          <a:ln w="31750">
            <a:solidFill>
              <a:srgbClr val="D9A441"/>
            </a:solidFill>
            <a:prstDash val="solid"/>
            <a:tailEnd type="triangle"/>
          </a:ln>
        </p:spPr>
      </p:sp>
      <p:sp>
        <p:nvSpPr>
          <p:cNvPr id="14" name="Shape 12"/>
          <p:cNvSpPr/>
          <p:nvPr/>
        </p:nvSpPr>
        <p:spPr>
          <a:xfrm>
            <a:off x="5257800" y="1874520"/>
            <a:ext cx="731520" cy="914"/>
          </a:xfrm>
          <a:prstGeom prst="line">
            <a:avLst/>
          </a:prstGeom>
          <a:noFill/>
          <a:ln w="31750">
            <a:solidFill>
              <a:srgbClr val="D9A441"/>
            </a:solidFill>
            <a:prstDash val="solid"/>
            <a:tailEnd type="triangle"/>
          </a:ln>
        </p:spPr>
      </p:sp>
      <p:sp>
        <p:nvSpPr>
          <p:cNvPr id="15" name="Shape 13"/>
          <p:cNvSpPr/>
          <p:nvPr/>
        </p:nvSpPr>
        <p:spPr>
          <a:xfrm>
            <a:off x="457200" y="3017520"/>
            <a:ext cx="8229600" cy="1417320"/>
          </a:xfrm>
          <a:prstGeom prst="roundRect">
            <a:avLst>
              <a:gd name="adj" fmla="val 5161"/>
            </a:avLst>
          </a:prstGeom>
          <a:solidFill>
            <a:srgbClr val="2B2318"/>
          </a:solidFill>
          <a:ln w="12700">
            <a:solidFill>
              <a:srgbClr val="2B2318"/>
            </a:solidFill>
            <a:prstDash val="solid"/>
          </a:ln>
        </p:spPr>
      </p:sp>
      <p:sp>
        <p:nvSpPr>
          <p:cNvPr id="16" name="Text 14"/>
          <p:cNvSpPr txBox="1"/>
          <p:nvPr/>
        </p:nvSpPr>
        <p:spPr>
          <a:xfrm>
            <a:off x="731520" y="3127248"/>
            <a:ext cx="7680960" cy="12344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Der Schild schützt jede Seite vor der anderen: Das Volk soll nicht versklavt, die Reichen sollen nicht enteignet werden.</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„Keine Seite zu Unrecht siegen“ heißt: Keine Gruppe soll die andere beherrschen, kein Bürgerkrieg.</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Unsere Frage für heute: Hat Solon wirklich beide Seiten geschützt – oder eine mehr als die andere?</a:t>
            </a:r>
            <a:endParaRPr lang="en-US" sz="1300" dirty="0"/>
          </a:p>
        </p:txBody>
      </p:sp>
      <p:sp>
        <p:nvSpPr>
          <p:cNvPr id="17" name="Text 15"/>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18" name="Text 16"/>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PARTNERARBEIT · LB S. 21–22</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Wer darf was?</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 Min.</a:t>
            </a:r>
            <a:endParaRPr lang="en-US" sz="1100" dirty="0"/>
          </a:p>
        </p:txBody>
      </p:sp>
      <p:sp>
        <p:nvSpPr>
          <p:cNvPr id="5" name="Text 3"/>
          <p:cNvSpPr txBox="1"/>
          <p:nvPr/>
        </p:nvSpPr>
        <p:spPr>
          <a:xfrm>
            <a:off x="457200" y="1097280"/>
            <a:ext cx="8229600" cy="548640"/>
          </a:xfrm>
          <a:prstGeom prst="rect">
            <a:avLst/>
          </a:prstGeom>
          <a:noFill/>
          <a:ln/>
        </p:spPr>
        <p:txBody>
          <a:bodyPr wrap="square" lIns="0" tIns="0" rIns="0" bIns="0" rtlCol="0" anchor="t"/>
          <a:lstStyle/>
          <a:p>
            <a:pPr indent="0" marL="0">
              <a:buNone/>
            </a:pPr>
            <a:r>
              <a:rPr lang="en-US" sz="1300" b="1" dirty="0">
                <a:solidFill>
                  <a:srgbClr val="5A5044"/>
                </a:solidFill>
                <a:latin typeface="Calibri" pitchFamily="34" charset="0"/>
                <a:ea typeface="Calibri" pitchFamily="34" charset="-122"/>
                <a:cs typeface="Calibri" pitchFamily="34" charset="-120"/>
              </a:rPr>
              <a:t>1. Lest im LB S. 21–22 den Abschnitt „Bei der Reform des Verfassungslebens …“ bis „… M4, M5)“ und schaut euch das Schaubild an.   2. Übertragt das Raster ins Heft und tragt ein: ✔ darf, ✘ darf nicht.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914400"/>
        </p:xfrm>
        <a:graphic>
          <a:graphicData uri="http://schemas.openxmlformats.org/drawingml/2006/table">
            <a:tbl>
              <a:tblPr/>
              <a:tblGrid>
                <a:gridCol w="2743200"/>
                <a:gridCol w="1371600"/>
                <a:gridCol w="1371600"/>
                <a:gridCol w="1371600"/>
                <a:gridCol w="137160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Klasse</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 der Volksversammlung abstimmen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Klage erheben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 den Rat der 400 gewählt werden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Archont werden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1. Fünfhundertscheffler (ab 500 Scheffel)</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2. Ritter (ab 300 Scheffel)</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3. Hopliten (ab 200 Scheffel)</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4. Theten (Tagelöhner)</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bl>
          </a:graphicData>
        </a:graphic>
      </p:graphicFrame>
      <p:sp>
        <p:nvSpPr>
          <p:cNvPr id="7" name="Text 4"/>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8" name="Text 5"/>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RASTER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Wer darf was?</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1371600"/>
                <a:gridCol w="1371600"/>
                <a:gridCol w="1371600"/>
                <a:gridCol w="137160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Klasse</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 der Volksversammlung abstimmen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Klage erheben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 den Rat der 400 gewählt werden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Archont werden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1. Fünfhundertscheffler (ab 500 Scheffel)</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2. Ritter (ab 300 Scheffel)</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AD44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3. Hopliten (ab 200 Scheffel)</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AD44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57200">
                <a:tc>
                  <a:txBody>
                    <a:bodyPr/>
                    <a:lstStyle/>
                    <a:p>
                      <a:pPr indent="0" marL="0">
                        <a:buNone/>
                      </a:pPr>
                      <a:r>
                        <a:rPr lang="en-US" sz="1200" b="1" dirty="0">
                          <a:solidFill>
                            <a:srgbClr val="2B2318"/>
                          </a:solidFill>
                          <a:latin typeface="Calibri" pitchFamily="34" charset="0"/>
                          <a:ea typeface="Calibri" pitchFamily="34" charset="-122"/>
                          <a:cs typeface="Calibri" pitchFamily="34" charset="-120"/>
                        </a:rPr>
                        <a:t>4. Theten (Tagelöhner)</a:t>
                      </a:r>
                      <a:endParaRPr lang="en-US" sz="12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3C783C"/>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AD44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2000" b="1" dirty="0">
                          <a:solidFill>
                            <a:srgbClr val="AD44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bl>
          </a:graphicData>
        </a:graphic>
      </p:graphicFrame>
      <p:sp>
        <p:nvSpPr>
          <p:cNvPr id="6" name="Shape 3"/>
          <p:cNvSpPr/>
          <p:nvPr/>
        </p:nvSpPr>
        <p:spPr>
          <a:xfrm>
            <a:off x="457200" y="3703320"/>
            <a:ext cx="4023360" cy="777240"/>
          </a:xfrm>
          <a:prstGeom prst="roundRect">
            <a:avLst>
              <a:gd name="adj" fmla="val 9412"/>
            </a:avLst>
          </a:prstGeom>
          <a:solidFill>
            <a:srgbClr val="F4ECDE"/>
          </a:solidFill>
          <a:ln w="12700">
            <a:solidFill>
              <a:srgbClr val="F4ECDE"/>
            </a:solidFill>
            <a:prstDash val="solid"/>
          </a:ln>
        </p:spPr>
      </p:sp>
      <p:sp>
        <p:nvSpPr>
          <p:cNvPr id="7" name="Text 4"/>
          <p:cNvSpPr txBox="1"/>
          <p:nvPr/>
        </p:nvSpPr>
        <p:spPr>
          <a:xfrm>
            <a:off x="594360" y="3749040"/>
            <a:ext cx="3794760" cy="685800"/>
          </a:xfrm>
          <a:prstGeom prst="rect">
            <a:avLst/>
          </a:prstGeom>
          <a:noFill/>
          <a:ln/>
        </p:spPr>
        <p:txBody>
          <a:bodyPr wrap="square" lIns="0" tIns="0" rIns="0" bIns="0" rtlCol="0" anchor="ctr"/>
          <a:lstStyle/>
          <a:p>
            <a:pPr indent="0" marL="0">
              <a:buNone/>
            </a:pPr>
            <a:r>
              <a:rPr lang="en-US" sz="1150" dirty="0">
                <a:solidFill>
                  <a:srgbClr val="2B2318"/>
                </a:solidFill>
                <a:latin typeface="Calibri" pitchFamily="34" charset="0"/>
                <a:ea typeface="Calibri" pitchFamily="34" charset="-122"/>
                <a:cs typeface="Calibri" pitchFamily="34" charset="-120"/>
              </a:rPr>
              <a:t>Ehemalige Archonten bilden den Areopag – er kommt also nur aus der 1. Klasse. Frauen, Sklaven und Fremde: keine Rechte.</a:t>
            </a:r>
            <a:endParaRPr lang="en-US" sz="1150" dirty="0"/>
          </a:p>
        </p:txBody>
      </p:sp>
      <p:sp>
        <p:nvSpPr>
          <p:cNvPr id="8" name="Shape 5"/>
          <p:cNvSpPr/>
          <p:nvPr/>
        </p:nvSpPr>
        <p:spPr>
          <a:xfrm>
            <a:off x="4663440" y="3703320"/>
            <a:ext cx="4023360" cy="777240"/>
          </a:xfrm>
          <a:prstGeom prst="roundRect">
            <a:avLst>
              <a:gd name="adj" fmla="val 9412"/>
            </a:avLst>
          </a:prstGeom>
          <a:solidFill>
            <a:srgbClr val="2B2318"/>
          </a:solidFill>
          <a:ln w="12700">
            <a:solidFill>
              <a:srgbClr val="2B2318"/>
            </a:solidFill>
            <a:prstDash val="solid"/>
          </a:ln>
        </p:spPr>
      </p:sp>
      <p:sp>
        <p:nvSpPr>
          <p:cNvPr id="9" name="Text 6"/>
          <p:cNvSpPr txBox="1"/>
          <p:nvPr/>
        </p:nvSpPr>
        <p:spPr>
          <a:xfrm>
            <a:off x="4800600" y="3749040"/>
            <a:ext cx="3794760" cy="6858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Ergänzt in eurer Problemtabelle: „Politische Macht nur beim Adel“ → Solon: ~ (Besitz statt Herkunft, aber Theten nicht wählbar)</a:t>
            </a:r>
            <a:endParaRPr lang="en-US" sz="1150" dirty="0"/>
          </a:p>
        </p:txBody>
      </p:sp>
      <p:sp>
        <p:nvSpPr>
          <p:cNvPr id="10" name="Text 7"/>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11" name="Text 8"/>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PARTNERARBEIT · LB S. 21</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Ein Schaubild erklären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 Min.</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577840" cy="914400"/>
        </p:xfrm>
        <a:graphic>
          <a:graphicData uri="http://schemas.openxmlformats.org/drawingml/2006/table">
            <a:tbl>
              <a:tblPr/>
              <a:tblGrid>
                <a:gridCol w="1143000"/>
                <a:gridCol w="2103120"/>
                <a:gridCol w="2331720"/>
              </a:tblGrid>
              <a:tr h="4389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Schritt</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Leitfrage</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Satzbaustein</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r>
              <a:tr h="438912">
                <a:tc>
                  <a:txBody>
                    <a:bodyPr/>
                    <a:lstStyle/>
                    <a:p>
                      <a:pPr indent="0" marL="0">
                        <a:buNone/>
                      </a:pPr>
                      <a:r>
                        <a:rPr lang="en-US" sz="1050" b="1" dirty="0">
                          <a:solidFill>
                            <a:srgbClr val="AD4426"/>
                          </a:solidFill>
                          <a:latin typeface="Calibri" pitchFamily="34" charset="0"/>
                          <a:ea typeface="Calibri" pitchFamily="34" charset="-122"/>
                          <a:cs typeface="Calibri" pitchFamily="34" charset="-120"/>
                        </a:rPr>
                        <a:t>1. Thema</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dirty="0">
                          <a:solidFill>
                            <a:srgbClr val="2B2318"/>
                          </a:solidFill>
                          <a:latin typeface="Calibri" pitchFamily="34" charset="0"/>
                          <a:ea typeface="Calibri" pitchFamily="34" charset="-122"/>
                          <a:cs typeface="Calibri" pitchFamily="34" charset="-120"/>
                        </a:rPr>
                        <a:t>Was zeigt das Schaubild?</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i="1" dirty="0">
                          <a:solidFill>
                            <a:srgbClr val="5A5044"/>
                          </a:solidFill>
                          <a:latin typeface="Calibri" pitchFamily="34" charset="0"/>
                          <a:ea typeface="Calibri" pitchFamily="34" charset="-122"/>
                          <a:cs typeface="Calibri" pitchFamily="34" charset="-120"/>
                        </a:rPr>
                        <a:t>„Das Schaubild zeigt …“</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38912">
                <a:tc>
                  <a:txBody>
                    <a:bodyPr/>
                    <a:lstStyle/>
                    <a:p>
                      <a:pPr indent="0" marL="0">
                        <a:buNone/>
                      </a:pPr>
                      <a:r>
                        <a:rPr lang="en-US" sz="1050" b="1" dirty="0">
                          <a:solidFill>
                            <a:srgbClr val="AD4426"/>
                          </a:solidFill>
                          <a:latin typeface="Calibri" pitchFamily="34" charset="0"/>
                          <a:ea typeface="Calibri" pitchFamily="34" charset="-122"/>
                          <a:cs typeface="Calibri" pitchFamily="34" charset="-120"/>
                        </a:rPr>
                        <a:t>2. Grundlage</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dirty="0">
                          <a:solidFill>
                            <a:srgbClr val="2B2318"/>
                          </a:solidFill>
                          <a:latin typeface="Calibri" pitchFamily="34" charset="0"/>
                          <a:ea typeface="Calibri" pitchFamily="34" charset="-122"/>
                          <a:cs typeface="Calibri" pitchFamily="34" charset="-120"/>
                        </a:rPr>
                        <a:t>Wer gehört dazu, wie ist die Bevölkerung eingeteilt?</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i="1" dirty="0">
                          <a:solidFill>
                            <a:srgbClr val="5A5044"/>
                          </a:solidFill>
                          <a:latin typeface="Calibri" pitchFamily="34" charset="0"/>
                          <a:ea typeface="Calibri" pitchFamily="34" charset="-122"/>
                          <a:cs typeface="Calibri" pitchFamily="34" charset="-120"/>
                        </a:rPr>
                        <a:t>„Unten stehen die Bürger, eingeteilt in …“</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38912">
                <a:tc>
                  <a:txBody>
                    <a:bodyPr/>
                    <a:lstStyle/>
                    <a:p>
                      <a:pPr indent="0" marL="0">
                        <a:buNone/>
                      </a:pPr>
                      <a:r>
                        <a:rPr lang="en-US" sz="1050" b="1" dirty="0">
                          <a:solidFill>
                            <a:srgbClr val="AD4426"/>
                          </a:solidFill>
                          <a:latin typeface="Calibri" pitchFamily="34" charset="0"/>
                          <a:ea typeface="Calibri" pitchFamily="34" charset="-122"/>
                          <a:cs typeface="Calibri" pitchFamily="34" charset="-120"/>
                        </a:rPr>
                        <a:t>3. Organe</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dirty="0">
                          <a:solidFill>
                            <a:srgbClr val="2B2318"/>
                          </a:solidFill>
                          <a:latin typeface="Calibri" pitchFamily="34" charset="0"/>
                          <a:ea typeface="Calibri" pitchFamily="34" charset="-122"/>
                          <a:cs typeface="Calibri" pitchFamily="34" charset="-120"/>
                        </a:rPr>
                        <a:t>Welche Organe gibt es, was tun sie?</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i="1" dirty="0">
                          <a:solidFill>
                            <a:srgbClr val="5A5044"/>
                          </a:solidFill>
                          <a:latin typeface="Calibri" pitchFamily="34" charset="0"/>
                          <a:ea typeface="Calibri" pitchFamily="34" charset="-122"/>
                          <a:cs typeface="Calibri" pitchFamily="34" charset="-120"/>
                        </a:rPr>
                        <a:t>„Die Volksversammlung … Der Rat der 400 …“</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38912">
                <a:tc>
                  <a:txBody>
                    <a:bodyPr/>
                    <a:lstStyle/>
                    <a:p>
                      <a:pPr indent="0" marL="0">
                        <a:buNone/>
                      </a:pPr>
                      <a:r>
                        <a:rPr lang="en-US" sz="1050" b="1" dirty="0">
                          <a:solidFill>
                            <a:srgbClr val="AD4426"/>
                          </a:solidFill>
                          <a:latin typeface="Calibri" pitchFamily="34" charset="0"/>
                          <a:ea typeface="Calibri" pitchFamily="34" charset="-122"/>
                          <a:cs typeface="Calibri" pitchFamily="34" charset="-120"/>
                        </a:rPr>
                        <a:t>4. Pfeile</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dirty="0">
                          <a:solidFill>
                            <a:srgbClr val="2B2318"/>
                          </a:solidFill>
                          <a:latin typeface="Calibri" pitchFamily="34" charset="0"/>
                          <a:ea typeface="Calibri" pitchFamily="34" charset="-122"/>
                          <a:cs typeface="Calibri" pitchFamily="34" charset="-120"/>
                        </a:rPr>
                        <a:t>Wer darf wählen, wer gewählt werden?</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i="1" dirty="0">
                          <a:solidFill>
                            <a:srgbClr val="5A5044"/>
                          </a:solidFill>
                          <a:latin typeface="Calibri" pitchFamily="34" charset="0"/>
                          <a:ea typeface="Calibri" pitchFamily="34" charset="-122"/>
                          <a:cs typeface="Calibri" pitchFamily="34" charset="-120"/>
                        </a:rPr>
                        <a:t>„Die Pfeile zeigen, dass …“</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438912">
                <a:tc>
                  <a:txBody>
                    <a:bodyPr/>
                    <a:lstStyle/>
                    <a:p>
                      <a:pPr indent="0" marL="0">
                        <a:buNone/>
                      </a:pPr>
                      <a:r>
                        <a:rPr lang="en-US" sz="1050" b="1" dirty="0">
                          <a:solidFill>
                            <a:srgbClr val="AD4426"/>
                          </a:solidFill>
                          <a:latin typeface="Calibri" pitchFamily="34" charset="0"/>
                          <a:ea typeface="Calibri" pitchFamily="34" charset="-122"/>
                          <a:cs typeface="Calibri" pitchFamily="34" charset="-120"/>
                        </a:rPr>
                        <a:t>5. Fazit</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dirty="0">
                          <a:solidFill>
                            <a:srgbClr val="2B2318"/>
                          </a:solidFill>
                          <a:latin typeface="Calibri" pitchFamily="34" charset="0"/>
                          <a:ea typeface="Calibri" pitchFamily="34" charset="-122"/>
                          <a:cs typeface="Calibri" pitchFamily="34" charset="-120"/>
                        </a:rPr>
                        <a:t>Wo liegt die Macht, wer ist ausgeschlossen?</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050" i="1" dirty="0">
                          <a:solidFill>
                            <a:srgbClr val="5A5044"/>
                          </a:solidFill>
                          <a:latin typeface="Calibri" pitchFamily="34" charset="0"/>
                          <a:ea typeface="Calibri" pitchFamily="34" charset="-122"/>
                          <a:cs typeface="Calibri" pitchFamily="34" charset="-120"/>
                        </a:rPr>
                        <a:t>„Insgesamt liegt die Macht bei …, ausgeschlossen sind …“</a:t>
                      </a:r>
                      <a:endParaRPr lang="en-US" sz="1050" dirty="0">
                        <a:latin typeface="Calibri" charset="0"/>
                        <a:ea typeface="Calibri" charset="0"/>
                        <a:cs typeface="Calibri" charset="0"/>
                      </a:endParaRPr>
                    </a:p>
                  </a:txBody>
                  <a:tcPr marL="45720" marR="45720" marT="45720" marB="45720"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bl>
          </a:graphicData>
        </a:graphic>
      </p:graphicFrame>
      <p:sp>
        <p:nvSpPr>
          <p:cNvPr id="6" name="Shape 3"/>
          <p:cNvSpPr/>
          <p:nvPr/>
        </p:nvSpPr>
        <p:spPr>
          <a:xfrm>
            <a:off x="6217920" y="1188720"/>
            <a:ext cx="2468880" cy="3246120"/>
          </a:xfrm>
          <a:prstGeom prst="roundRect">
            <a:avLst>
              <a:gd name="adj" fmla="val 2963"/>
            </a:avLst>
          </a:prstGeom>
          <a:solidFill>
            <a:srgbClr val="2B2318"/>
          </a:solidFill>
          <a:ln w="12700">
            <a:solidFill>
              <a:srgbClr val="2B2318"/>
            </a:solidFill>
            <a:prstDash val="solid"/>
          </a:ln>
        </p:spPr>
      </p:sp>
      <p:sp>
        <p:nvSpPr>
          <p:cNvPr id="7" name="Text 4"/>
          <p:cNvSpPr txBox="1"/>
          <p:nvPr/>
        </p:nvSpPr>
        <p:spPr>
          <a:xfrm>
            <a:off x="6400800" y="1298448"/>
            <a:ext cx="2103120" cy="320040"/>
          </a:xfrm>
          <a:prstGeom prst="rect">
            <a:avLst/>
          </a:prstGeom>
          <a:noFill/>
          <a:ln/>
        </p:spPr>
        <p:txBody>
          <a:bodyPr wrap="square" lIns="0" tIns="0" rIns="0" bIns="0" rtlCol="0" anchor="t"/>
          <a:lstStyle/>
          <a:p>
            <a:pPr indent="0" marL="0">
              <a:buNone/>
            </a:pPr>
            <a:r>
              <a:rPr lang="en-US" sz="1500" b="1" dirty="0">
                <a:solidFill>
                  <a:srgbClr val="D9A441"/>
                </a:solidFill>
                <a:latin typeface="Cambria" pitchFamily="34" charset="0"/>
                <a:ea typeface="Cambria" pitchFamily="34" charset="-122"/>
                <a:cs typeface="Cambria" pitchFamily="34" charset="-120"/>
              </a:rPr>
              <a:t>So geht's</a:t>
            </a:r>
            <a:endParaRPr lang="en-US" sz="1500" dirty="0"/>
          </a:p>
        </p:txBody>
      </p:sp>
      <p:sp>
        <p:nvSpPr>
          <p:cNvPr id="8" name="Text 5"/>
          <p:cNvSpPr txBox="1"/>
          <p:nvPr/>
        </p:nvSpPr>
        <p:spPr>
          <a:xfrm>
            <a:off x="6400800" y="1691640"/>
            <a:ext cx="2148840" cy="2651760"/>
          </a:xfrm>
          <a:prstGeom prst="rect">
            <a:avLst/>
          </a:prstGeom>
          <a:noFill/>
          <a:ln/>
        </p:spPr>
        <p:txBody>
          <a:bodyPr wrap="square" lIns="0" tIns="0" rIns="0" bIns="0" rtlCol="0" anchor="t"/>
          <a:lstStyle/>
          <a:p>
            <a:pPr indent="0" marL="0">
              <a:spcAft>
                <a:spcPts val="600"/>
              </a:spcAft>
              <a:buNone/>
            </a:pPr>
            <a:r>
              <a:rPr lang="en-US" sz="1150" dirty="0">
                <a:solidFill>
                  <a:srgbClr val="FFFFFF"/>
                </a:solidFill>
                <a:latin typeface="Calibri" pitchFamily="34" charset="0"/>
                <a:ea typeface="Calibri" pitchFamily="34" charset="-122"/>
                <a:cs typeface="Calibri" pitchFamily="34" charset="-120"/>
              </a:rPr>
              <a:t>A erklärt das Schaubild im LB nach den 5 Schritten (2½ Min.).</a:t>
            </a:r>
            <a:endParaRPr lang="en-US" sz="1150" dirty="0"/>
          </a:p>
          <a:p>
            <a:pPr indent="0" marL="0">
              <a:spcAft>
                <a:spcPts val="600"/>
              </a:spcAft>
              <a:buNone/>
            </a:pPr>
            <a:r>
              <a:rPr lang="en-US" sz="1150" dirty="0">
                <a:solidFill>
                  <a:srgbClr val="FFFFFF"/>
                </a:solidFill>
                <a:latin typeface="Calibri" pitchFamily="34" charset="0"/>
                <a:ea typeface="Calibri" pitchFamily="34" charset="-122"/>
                <a:cs typeface="Calibri" pitchFamily="34" charset="-120"/>
              </a:rPr>
              <a:t>B hört zu und hakt im Heft ab: Welche Schritte hat A genannt?</a:t>
            </a:r>
            <a:endParaRPr lang="en-US" sz="1150" dirty="0"/>
          </a:p>
          <a:p>
            <a:pPr indent="0" marL="0">
              <a:spcAft>
                <a:spcPts val="600"/>
              </a:spcAft>
              <a:buNone/>
            </a:pPr>
            <a:r>
              <a:rPr lang="en-US" sz="1150" dirty="0">
                <a:solidFill>
                  <a:srgbClr val="FFFFFF"/>
                </a:solidFill>
                <a:latin typeface="Calibri" pitchFamily="34" charset="0"/>
                <a:ea typeface="Calibri" pitchFamily="34" charset="-122"/>
                <a:cs typeface="Calibri" pitchFamily="34" charset="-120"/>
              </a:rPr>
              <a:t>Dann wechseln: B erklärt, A hakt ab.</a:t>
            </a:r>
            <a:endParaRPr lang="en-US" sz="1150" dirty="0"/>
          </a:p>
          <a:p>
            <a:pPr indent="0" marL="0">
              <a:spcAft>
                <a:spcPts val="600"/>
              </a:spcAft>
              <a:buNone/>
            </a:pPr>
            <a:r>
              <a:rPr lang="en-US" sz="1150" dirty="0">
                <a:solidFill>
                  <a:srgbClr val="FFFFFF"/>
                </a:solidFill>
                <a:latin typeface="Calibri" pitchFamily="34" charset="0"/>
                <a:ea typeface="Calibri" pitchFamily="34" charset="-122"/>
                <a:cs typeface="Calibri" pitchFamily="34" charset="-120"/>
              </a:rPr>
              <a:t>Danach erklärt ein ausgeloster Schüler das Schaubild auf der nächsten Folie.</a:t>
            </a:r>
            <a:endParaRPr lang="en-US" sz="1150" dirty="0"/>
          </a:p>
        </p:txBody>
      </p:sp>
      <p:sp>
        <p:nvSpPr>
          <p:cNvPr id="9" name="Text 6"/>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10" name="Text 7"/>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PLENUM · EIN SCHÜLER ERKLÄRT</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Die Verfassung Solons (594 v. Chr.)</a:t>
            </a:r>
            <a:endParaRPr lang="en-US" sz="2800" dirty="0"/>
          </a:p>
        </p:txBody>
      </p:sp>
      <p:sp>
        <p:nvSpPr>
          <p:cNvPr id="4" name="Shape 2"/>
          <p:cNvSpPr/>
          <p:nvPr/>
        </p:nvSpPr>
        <p:spPr>
          <a:xfrm>
            <a:off x="457200" y="3017520"/>
            <a:ext cx="5486400" cy="1463040"/>
          </a:xfrm>
          <a:prstGeom prst="roundRect">
            <a:avLst>
              <a:gd name="adj" fmla="val 5000"/>
            </a:avLst>
          </a:prstGeom>
          <a:solidFill>
            <a:srgbClr val="F4ECDE"/>
          </a:solidFill>
          <a:ln w="12700">
            <a:solidFill>
              <a:srgbClr val="D9CDB8"/>
            </a:solidFill>
            <a:prstDash val="solid"/>
          </a:ln>
        </p:spPr>
      </p:sp>
      <p:sp>
        <p:nvSpPr>
          <p:cNvPr id="5" name="Text 3"/>
          <p:cNvSpPr txBox="1"/>
          <p:nvPr/>
        </p:nvSpPr>
        <p:spPr>
          <a:xfrm>
            <a:off x="457200" y="3867912"/>
            <a:ext cx="5486400" cy="274320"/>
          </a:xfrm>
          <a:prstGeom prst="rect">
            <a:avLst/>
          </a:prstGeom>
          <a:noFill/>
          <a:ln/>
        </p:spPr>
        <p:txBody>
          <a:bodyPr wrap="square" lIns="0" tIns="0" rIns="0" bIns="0" rtlCol="0" anchor="t"/>
          <a:lstStyle/>
          <a:p>
            <a:pPr algn="ctr" indent="0" marL="0">
              <a:buNone/>
            </a:pPr>
            <a:r>
              <a:rPr lang="en-US" sz="1300" b="1" dirty="0">
                <a:solidFill>
                  <a:srgbClr val="2B2318"/>
                </a:solidFill>
                <a:latin typeface="Cambria" pitchFamily="34" charset="0"/>
                <a:ea typeface="Cambria" pitchFamily="34" charset="-122"/>
                <a:cs typeface="Cambria" pitchFamily="34" charset="-120"/>
              </a:rPr>
              <a:t>Volksversammlung</a:t>
            </a:r>
            <a:endParaRPr lang="en-US" sz="1300" dirty="0"/>
          </a:p>
        </p:txBody>
      </p:sp>
      <p:sp>
        <p:nvSpPr>
          <p:cNvPr id="6" name="Text 4"/>
          <p:cNvSpPr txBox="1"/>
          <p:nvPr/>
        </p:nvSpPr>
        <p:spPr>
          <a:xfrm>
            <a:off x="548640" y="4133088"/>
            <a:ext cx="5303520" cy="274320"/>
          </a:xfrm>
          <a:prstGeom prst="rect">
            <a:avLst/>
          </a:prstGeom>
          <a:noFill/>
          <a:ln/>
        </p:spPr>
        <p:txBody>
          <a:bodyPr wrap="square" lIns="0" tIns="0" rIns="0" bIns="0" rtlCol="0" anchor="t"/>
          <a:lstStyle/>
          <a:p>
            <a:pPr algn="ctr" indent="0" marL="0">
              <a:buNone/>
            </a:pPr>
            <a:r>
              <a:rPr lang="en-US" sz="850" dirty="0">
                <a:solidFill>
                  <a:srgbClr val="5A5044"/>
                </a:solidFill>
                <a:latin typeface="Calibri" pitchFamily="34" charset="0"/>
                <a:ea typeface="Calibri" pitchFamily="34" charset="-122"/>
                <a:cs typeface="Calibri" pitchFamily="34" charset="-120"/>
              </a:rPr>
              <a:t>alle Bürger über 20 Jahre · beschließt Gesetze · entscheidet über Krieg und Frieden · wählt die Beamten</a:t>
            </a:r>
            <a:endParaRPr lang="en-US" sz="850" dirty="0"/>
          </a:p>
        </p:txBody>
      </p:sp>
      <p:sp>
        <p:nvSpPr>
          <p:cNvPr id="7" name="Shape 5"/>
          <p:cNvSpPr/>
          <p:nvPr/>
        </p:nvSpPr>
        <p:spPr>
          <a:xfrm>
            <a:off x="566928" y="3127248"/>
            <a:ext cx="1243584" cy="658368"/>
          </a:xfrm>
          <a:prstGeom prst="roundRect">
            <a:avLst>
              <a:gd name="adj" fmla="val 6944"/>
            </a:avLst>
          </a:prstGeom>
          <a:solidFill>
            <a:srgbClr val="2B2318"/>
          </a:solidFill>
          <a:ln w="12700">
            <a:solidFill>
              <a:srgbClr val="2B2318"/>
            </a:solidFill>
            <a:prstDash val="solid"/>
          </a:ln>
        </p:spPr>
      </p:sp>
      <p:sp>
        <p:nvSpPr>
          <p:cNvPr id="8" name="Text 6"/>
          <p:cNvSpPr txBox="1"/>
          <p:nvPr/>
        </p:nvSpPr>
        <p:spPr>
          <a:xfrm>
            <a:off x="566928" y="3172968"/>
            <a:ext cx="1243584" cy="182880"/>
          </a:xfrm>
          <a:prstGeom prst="rect">
            <a:avLst/>
          </a:prstGeom>
          <a:noFill/>
          <a:ln/>
        </p:spPr>
        <p:txBody>
          <a:bodyPr wrap="square" lIns="0" tIns="0" rIns="0" bIns="0" rtlCol="0" anchor="t"/>
          <a:lstStyle/>
          <a:p>
            <a:pPr algn="ctr" indent="0" marL="0">
              <a:buNone/>
            </a:pPr>
            <a:r>
              <a:rPr lang="en-US" sz="700" b="1" dirty="0">
                <a:solidFill>
                  <a:srgbClr val="FFFFFF"/>
                </a:solidFill>
                <a:latin typeface="Calibri" pitchFamily="34" charset="0"/>
                <a:ea typeface="Calibri" pitchFamily="34" charset="-122"/>
                <a:cs typeface="Calibri" pitchFamily="34" charset="-120"/>
              </a:rPr>
              <a:t>1. KLASSE</a:t>
            </a:r>
            <a:endParaRPr lang="en-US" sz="700" dirty="0"/>
          </a:p>
        </p:txBody>
      </p:sp>
      <p:sp>
        <p:nvSpPr>
          <p:cNvPr id="9" name="Text 7"/>
          <p:cNvSpPr txBox="1"/>
          <p:nvPr/>
        </p:nvSpPr>
        <p:spPr>
          <a:xfrm>
            <a:off x="566928" y="3364992"/>
            <a:ext cx="124358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mbria" pitchFamily="34" charset="0"/>
                <a:ea typeface="Cambria" pitchFamily="34" charset="-122"/>
                <a:cs typeface="Cambria" pitchFamily="34" charset="-120"/>
              </a:rPr>
              <a:t>Fünfhundert­scheffler</a:t>
            </a:r>
            <a:endParaRPr lang="en-US" sz="900" dirty="0"/>
          </a:p>
        </p:txBody>
      </p:sp>
      <p:sp>
        <p:nvSpPr>
          <p:cNvPr id="10" name="Shape 8"/>
          <p:cNvSpPr/>
          <p:nvPr/>
        </p:nvSpPr>
        <p:spPr>
          <a:xfrm>
            <a:off x="1901952" y="3127248"/>
            <a:ext cx="1243584" cy="658368"/>
          </a:xfrm>
          <a:prstGeom prst="roundRect">
            <a:avLst>
              <a:gd name="adj" fmla="val 6944"/>
            </a:avLst>
          </a:prstGeom>
          <a:solidFill>
            <a:srgbClr val="5A5044"/>
          </a:solidFill>
          <a:ln w="12700">
            <a:solidFill>
              <a:srgbClr val="5A5044"/>
            </a:solidFill>
            <a:prstDash val="solid"/>
          </a:ln>
        </p:spPr>
      </p:sp>
      <p:sp>
        <p:nvSpPr>
          <p:cNvPr id="11" name="Text 9"/>
          <p:cNvSpPr txBox="1"/>
          <p:nvPr/>
        </p:nvSpPr>
        <p:spPr>
          <a:xfrm>
            <a:off x="1901952" y="3172968"/>
            <a:ext cx="1243584" cy="182880"/>
          </a:xfrm>
          <a:prstGeom prst="rect">
            <a:avLst/>
          </a:prstGeom>
          <a:noFill/>
          <a:ln/>
        </p:spPr>
        <p:txBody>
          <a:bodyPr wrap="square" lIns="0" tIns="0" rIns="0" bIns="0" rtlCol="0" anchor="t"/>
          <a:lstStyle/>
          <a:p>
            <a:pPr algn="ctr" indent="0" marL="0">
              <a:buNone/>
            </a:pPr>
            <a:r>
              <a:rPr lang="en-US" sz="700" b="1" dirty="0">
                <a:solidFill>
                  <a:srgbClr val="FFFFFF"/>
                </a:solidFill>
                <a:latin typeface="Calibri" pitchFamily="34" charset="0"/>
                <a:ea typeface="Calibri" pitchFamily="34" charset="-122"/>
                <a:cs typeface="Calibri" pitchFamily="34" charset="-120"/>
              </a:rPr>
              <a:t>2. KLASSE</a:t>
            </a:r>
            <a:endParaRPr lang="en-US" sz="700" dirty="0"/>
          </a:p>
        </p:txBody>
      </p:sp>
      <p:sp>
        <p:nvSpPr>
          <p:cNvPr id="12" name="Text 10"/>
          <p:cNvSpPr txBox="1"/>
          <p:nvPr/>
        </p:nvSpPr>
        <p:spPr>
          <a:xfrm>
            <a:off x="1901952" y="3364992"/>
            <a:ext cx="124358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Ritter</a:t>
            </a:r>
            <a:endParaRPr lang="en-US" sz="1100" dirty="0"/>
          </a:p>
        </p:txBody>
      </p:sp>
      <p:sp>
        <p:nvSpPr>
          <p:cNvPr id="13" name="Shape 11"/>
          <p:cNvSpPr/>
          <p:nvPr/>
        </p:nvSpPr>
        <p:spPr>
          <a:xfrm>
            <a:off x="3236976" y="3127248"/>
            <a:ext cx="1243584" cy="658368"/>
          </a:xfrm>
          <a:prstGeom prst="roundRect">
            <a:avLst>
              <a:gd name="adj" fmla="val 6944"/>
            </a:avLst>
          </a:prstGeom>
          <a:solidFill>
            <a:srgbClr val="998C77"/>
          </a:solidFill>
          <a:ln w="12700">
            <a:solidFill>
              <a:srgbClr val="998C77"/>
            </a:solidFill>
            <a:prstDash val="solid"/>
          </a:ln>
        </p:spPr>
      </p:sp>
      <p:sp>
        <p:nvSpPr>
          <p:cNvPr id="14" name="Text 12"/>
          <p:cNvSpPr txBox="1"/>
          <p:nvPr/>
        </p:nvSpPr>
        <p:spPr>
          <a:xfrm>
            <a:off x="3236976" y="3172968"/>
            <a:ext cx="1243584" cy="182880"/>
          </a:xfrm>
          <a:prstGeom prst="rect">
            <a:avLst/>
          </a:prstGeom>
          <a:noFill/>
          <a:ln/>
        </p:spPr>
        <p:txBody>
          <a:bodyPr wrap="square" lIns="0" tIns="0" rIns="0" bIns="0" rtlCol="0" anchor="t"/>
          <a:lstStyle/>
          <a:p>
            <a:pPr algn="ctr" indent="0" marL="0">
              <a:buNone/>
            </a:pPr>
            <a:r>
              <a:rPr lang="en-US" sz="700" b="1" dirty="0">
                <a:solidFill>
                  <a:srgbClr val="FFFFFF"/>
                </a:solidFill>
                <a:latin typeface="Calibri" pitchFamily="34" charset="0"/>
                <a:ea typeface="Calibri" pitchFamily="34" charset="-122"/>
                <a:cs typeface="Calibri" pitchFamily="34" charset="-120"/>
              </a:rPr>
              <a:t>3. KLASSE</a:t>
            </a:r>
            <a:endParaRPr lang="en-US" sz="700" dirty="0"/>
          </a:p>
        </p:txBody>
      </p:sp>
      <p:sp>
        <p:nvSpPr>
          <p:cNvPr id="15" name="Text 13"/>
          <p:cNvSpPr txBox="1"/>
          <p:nvPr/>
        </p:nvSpPr>
        <p:spPr>
          <a:xfrm>
            <a:off x="3236976" y="3364992"/>
            <a:ext cx="1243584"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Hopliten</a:t>
            </a:r>
            <a:endParaRPr lang="en-US" sz="1100" dirty="0"/>
          </a:p>
        </p:txBody>
      </p:sp>
      <p:sp>
        <p:nvSpPr>
          <p:cNvPr id="16" name="Shape 14"/>
          <p:cNvSpPr/>
          <p:nvPr/>
        </p:nvSpPr>
        <p:spPr>
          <a:xfrm>
            <a:off x="4572000" y="3127248"/>
            <a:ext cx="1243584" cy="658368"/>
          </a:xfrm>
          <a:prstGeom prst="roundRect">
            <a:avLst>
              <a:gd name="adj" fmla="val 6944"/>
            </a:avLst>
          </a:prstGeom>
          <a:solidFill>
            <a:srgbClr val="D9CDB8"/>
          </a:solidFill>
          <a:ln w="12700">
            <a:solidFill>
              <a:srgbClr val="D9CDB8"/>
            </a:solidFill>
            <a:prstDash val="solid"/>
          </a:ln>
        </p:spPr>
      </p:sp>
      <p:sp>
        <p:nvSpPr>
          <p:cNvPr id="17" name="Text 15"/>
          <p:cNvSpPr txBox="1"/>
          <p:nvPr/>
        </p:nvSpPr>
        <p:spPr>
          <a:xfrm>
            <a:off x="4572000" y="3172968"/>
            <a:ext cx="1243584" cy="182880"/>
          </a:xfrm>
          <a:prstGeom prst="rect">
            <a:avLst/>
          </a:prstGeom>
          <a:noFill/>
          <a:ln/>
        </p:spPr>
        <p:txBody>
          <a:bodyPr wrap="square" lIns="0" tIns="0" rIns="0" bIns="0" rtlCol="0" anchor="t"/>
          <a:lstStyle/>
          <a:p>
            <a:pPr algn="ctr" indent="0" marL="0">
              <a:buNone/>
            </a:pPr>
            <a:r>
              <a:rPr lang="en-US" sz="700" b="1" dirty="0">
                <a:solidFill>
                  <a:srgbClr val="2B2318"/>
                </a:solidFill>
                <a:latin typeface="Calibri" pitchFamily="34" charset="0"/>
                <a:ea typeface="Calibri" pitchFamily="34" charset="-122"/>
                <a:cs typeface="Calibri" pitchFamily="34" charset="-120"/>
              </a:rPr>
              <a:t>4. KLASSE</a:t>
            </a:r>
            <a:endParaRPr lang="en-US" sz="700" dirty="0"/>
          </a:p>
        </p:txBody>
      </p:sp>
      <p:sp>
        <p:nvSpPr>
          <p:cNvPr id="18" name="Text 16"/>
          <p:cNvSpPr txBox="1"/>
          <p:nvPr/>
        </p:nvSpPr>
        <p:spPr>
          <a:xfrm>
            <a:off x="4572000" y="3364992"/>
            <a:ext cx="1243584" cy="365760"/>
          </a:xfrm>
          <a:prstGeom prst="rect">
            <a:avLst/>
          </a:prstGeom>
          <a:noFill/>
          <a:ln/>
        </p:spPr>
        <p:txBody>
          <a:bodyPr wrap="square" lIns="0" tIns="0" rIns="0" bIns="0" rtlCol="0" anchor="ctr"/>
          <a:lstStyle/>
          <a:p>
            <a:pPr algn="ctr" indent="0" marL="0">
              <a:buNone/>
            </a:pPr>
            <a:r>
              <a:rPr lang="en-US" sz="1100" b="1" dirty="0">
                <a:solidFill>
                  <a:srgbClr val="2B2318"/>
                </a:solidFill>
                <a:latin typeface="Cambria" pitchFamily="34" charset="0"/>
                <a:ea typeface="Cambria" pitchFamily="34" charset="-122"/>
                <a:cs typeface="Cambria" pitchFamily="34" charset="-120"/>
              </a:rPr>
              <a:t>Theten</a:t>
            </a:r>
            <a:endParaRPr lang="en-US" sz="1100" dirty="0"/>
          </a:p>
        </p:txBody>
      </p:sp>
      <p:sp>
        <p:nvSpPr>
          <p:cNvPr id="19" name="Shape 17"/>
          <p:cNvSpPr/>
          <p:nvPr/>
        </p:nvSpPr>
        <p:spPr>
          <a:xfrm>
            <a:off x="566928" y="1234440"/>
            <a:ext cx="1371600" cy="566928"/>
          </a:xfrm>
          <a:prstGeom prst="roundRect">
            <a:avLst>
              <a:gd name="adj" fmla="val 9677"/>
            </a:avLst>
          </a:prstGeom>
          <a:solidFill>
            <a:srgbClr val="2B2318"/>
          </a:solidFill>
          <a:ln w="12700">
            <a:solidFill>
              <a:srgbClr val="2B2318"/>
            </a:solidFill>
            <a:prstDash val="solid"/>
          </a:ln>
        </p:spPr>
      </p:sp>
      <p:sp>
        <p:nvSpPr>
          <p:cNvPr id="20" name="Text 18"/>
          <p:cNvSpPr txBox="1"/>
          <p:nvPr/>
        </p:nvSpPr>
        <p:spPr>
          <a:xfrm>
            <a:off x="566928" y="1289304"/>
            <a:ext cx="137160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Areopag</a:t>
            </a:r>
            <a:endParaRPr lang="en-US" sz="1200" dirty="0"/>
          </a:p>
        </p:txBody>
      </p:sp>
      <p:sp>
        <p:nvSpPr>
          <p:cNvPr id="21" name="Text 19"/>
          <p:cNvSpPr txBox="1"/>
          <p:nvPr/>
        </p:nvSpPr>
        <p:spPr>
          <a:xfrm>
            <a:off x="612648" y="1545336"/>
            <a:ext cx="1280160" cy="219456"/>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Aufsicht über Verfassung und Ämter</a:t>
            </a:r>
            <a:endParaRPr lang="en-US" sz="850" dirty="0"/>
          </a:p>
        </p:txBody>
      </p:sp>
      <p:sp>
        <p:nvSpPr>
          <p:cNvPr id="22" name="Shape 20"/>
          <p:cNvSpPr/>
          <p:nvPr/>
        </p:nvSpPr>
        <p:spPr>
          <a:xfrm>
            <a:off x="566928" y="2148840"/>
            <a:ext cx="1371600" cy="566928"/>
          </a:xfrm>
          <a:prstGeom prst="roundRect">
            <a:avLst>
              <a:gd name="adj" fmla="val 9677"/>
            </a:avLst>
          </a:prstGeom>
          <a:solidFill>
            <a:srgbClr val="AD4426"/>
          </a:solidFill>
          <a:ln w="12700">
            <a:solidFill>
              <a:srgbClr val="AD4426"/>
            </a:solidFill>
            <a:prstDash val="solid"/>
          </a:ln>
        </p:spPr>
      </p:sp>
      <p:sp>
        <p:nvSpPr>
          <p:cNvPr id="23" name="Text 21"/>
          <p:cNvSpPr txBox="1"/>
          <p:nvPr/>
        </p:nvSpPr>
        <p:spPr>
          <a:xfrm>
            <a:off x="566928" y="2203704"/>
            <a:ext cx="1371600" cy="256032"/>
          </a:xfrm>
          <a:prstGeom prst="rect">
            <a:avLst/>
          </a:prstGeom>
          <a:noFill/>
          <a:ln/>
        </p:spPr>
        <p:txBody>
          <a:bodyPr wrap="square" lIns="0" tIns="0" rIns="0" bIns="0" rtlCol="0" anchor="t"/>
          <a:lstStyle/>
          <a:p>
            <a:pPr algn="ctr" indent="0" marL="0">
              <a:buNone/>
            </a:pPr>
            <a:r>
              <a:rPr lang="en-US" sz="1200" b="1" dirty="0">
                <a:solidFill>
                  <a:srgbClr val="FFFFFF"/>
                </a:solidFill>
                <a:latin typeface="Cambria" pitchFamily="34" charset="0"/>
                <a:ea typeface="Cambria" pitchFamily="34" charset="-122"/>
                <a:cs typeface="Cambria" pitchFamily="34" charset="-120"/>
              </a:rPr>
              <a:t>9 Archonten</a:t>
            </a:r>
            <a:endParaRPr lang="en-US" sz="1200" dirty="0"/>
          </a:p>
        </p:txBody>
      </p:sp>
      <p:sp>
        <p:nvSpPr>
          <p:cNvPr id="24" name="Text 22"/>
          <p:cNvSpPr txBox="1"/>
          <p:nvPr/>
        </p:nvSpPr>
        <p:spPr>
          <a:xfrm>
            <a:off x="612648" y="2459736"/>
            <a:ext cx="1280160" cy="219456"/>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leiten die Staatsgeschäfte</a:t>
            </a:r>
            <a:endParaRPr lang="en-US" sz="850" dirty="0"/>
          </a:p>
        </p:txBody>
      </p:sp>
      <p:sp>
        <p:nvSpPr>
          <p:cNvPr id="25" name="Shape 23"/>
          <p:cNvSpPr/>
          <p:nvPr/>
        </p:nvSpPr>
        <p:spPr>
          <a:xfrm>
            <a:off x="2286000" y="2148840"/>
            <a:ext cx="1920240" cy="566928"/>
          </a:xfrm>
          <a:prstGeom prst="roundRect">
            <a:avLst>
              <a:gd name="adj" fmla="val 9677"/>
            </a:avLst>
          </a:prstGeom>
          <a:solidFill>
            <a:srgbClr val="D9A441"/>
          </a:solidFill>
          <a:ln w="12700">
            <a:solidFill>
              <a:srgbClr val="D9A441"/>
            </a:solidFill>
            <a:prstDash val="solid"/>
          </a:ln>
        </p:spPr>
      </p:sp>
      <p:sp>
        <p:nvSpPr>
          <p:cNvPr id="26" name="Text 24"/>
          <p:cNvSpPr txBox="1"/>
          <p:nvPr/>
        </p:nvSpPr>
        <p:spPr>
          <a:xfrm>
            <a:off x="2286000" y="2203704"/>
            <a:ext cx="1920240" cy="256032"/>
          </a:xfrm>
          <a:prstGeom prst="rect">
            <a:avLst/>
          </a:prstGeom>
          <a:noFill/>
          <a:ln/>
        </p:spPr>
        <p:txBody>
          <a:bodyPr wrap="square" lIns="0" tIns="0" rIns="0" bIns="0" rtlCol="0" anchor="t"/>
          <a:lstStyle/>
          <a:p>
            <a:pPr algn="ctr" indent="0" marL="0">
              <a:buNone/>
            </a:pPr>
            <a:r>
              <a:rPr lang="en-US" sz="1200" b="1" dirty="0">
                <a:solidFill>
                  <a:srgbClr val="2B2318"/>
                </a:solidFill>
                <a:latin typeface="Cambria" pitchFamily="34" charset="0"/>
                <a:ea typeface="Cambria" pitchFamily="34" charset="-122"/>
                <a:cs typeface="Cambria" pitchFamily="34" charset="-120"/>
              </a:rPr>
              <a:t>Rat der 400</a:t>
            </a:r>
            <a:endParaRPr lang="en-US" sz="1200" dirty="0"/>
          </a:p>
        </p:txBody>
      </p:sp>
      <p:sp>
        <p:nvSpPr>
          <p:cNvPr id="27" name="Text 25"/>
          <p:cNvSpPr txBox="1"/>
          <p:nvPr/>
        </p:nvSpPr>
        <p:spPr>
          <a:xfrm>
            <a:off x="2331720" y="2459736"/>
            <a:ext cx="1828800" cy="219456"/>
          </a:xfrm>
          <a:prstGeom prst="rect">
            <a:avLst/>
          </a:prstGeom>
          <a:noFill/>
          <a:ln/>
        </p:spPr>
        <p:txBody>
          <a:bodyPr wrap="square" lIns="0" tIns="0" rIns="0" bIns="0" rtlCol="0" anchor="t"/>
          <a:lstStyle/>
          <a:p>
            <a:pPr algn="ctr" indent="0" marL="0">
              <a:buNone/>
            </a:pPr>
            <a:r>
              <a:rPr lang="en-US" sz="850" dirty="0">
                <a:solidFill>
                  <a:srgbClr val="2B2318"/>
                </a:solidFill>
                <a:latin typeface="Calibri" pitchFamily="34" charset="0"/>
                <a:ea typeface="Calibri" pitchFamily="34" charset="-122"/>
                <a:cs typeface="Calibri" pitchFamily="34" charset="-120"/>
              </a:rPr>
              <a:t>bereitet die Gesetze vor</a:t>
            </a:r>
            <a:endParaRPr lang="en-US" sz="850" dirty="0"/>
          </a:p>
        </p:txBody>
      </p:sp>
      <p:sp>
        <p:nvSpPr>
          <p:cNvPr id="28" name="Shape 26"/>
          <p:cNvSpPr/>
          <p:nvPr/>
        </p:nvSpPr>
        <p:spPr>
          <a:xfrm>
            <a:off x="4434840" y="2148840"/>
            <a:ext cx="1463040" cy="566928"/>
          </a:xfrm>
          <a:prstGeom prst="roundRect">
            <a:avLst>
              <a:gd name="adj" fmla="val 9677"/>
            </a:avLst>
          </a:prstGeom>
          <a:solidFill>
            <a:srgbClr val="5A5044"/>
          </a:solidFill>
          <a:ln w="12700">
            <a:solidFill>
              <a:srgbClr val="5A5044"/>
            </a:solidFill>
            <a:prstDash val="solid"/>
          </a:ln>
        </p:spPr>
      </p:sp>
      <p:sp>
        <p:nvSpPr>
          <p:cNvPr id="29" name="Text 27"/>
          <p:cNvSpPr txBox="1"/>
          <p:nvPr/>
        </p:nvSpPr>
        <p:spPr>
          <a:xfrm>
            <a:off x="4434840" y="2203704"/>
            <a:ext cx="1463040" cy="256032"/>
          </a:xfrm>
          <a:prstGeom prst="rect">
            <a:avLst/>
          </a:prstGeom>
          <a:noFill/>
          <a:ln/>
        </p:spPr>
        <p:txBody>
          <a:bodyPr wrap="square" lIns="0" tIns="0" rIns="0" bIns="0" rtlCol="0" anchor="t"/>
          <a:lstStyle/>
          <a:p>
            <a:pPr algn="ctr" indent="0" marL="0">
              <a:buNone/>
            </a:pPr>
            <a:r>
              <a:rPr lang="en-US" sz="900" b="1" dirty="0">
                <a:solidFill>
                  <a:srgbClr val="FFFFFF"/>
                </a:solidFill>
                <a:latin typeface="Cambria" pitchFamily="34" charset="0"/>
                <a:ea typeface="Cambria" pitchFamily="34" charset="-122"/>
                <a:cs typeface="Cambria" pitchFamily="34" charset="-120"/>
              </a:rPr>
              <a:t>Geschworenengericht</a:t>
            </a:r>
            <a:endParaRPr lang="en-US" sz="900" dirty="0"/>
          </a:p>
        </p:txBody>
      </p:sp>
      <p:sp>
        <p:nvSpPr>
          <p:cNvPr id="30" name="Text 28"/>
          <p:cNvSpPr txBox="1"/>
          <p:nvPr/>
        </p:nvSpPr>
        <p:spPr>
          <a:xfrm>
            <a:off x="4480560" y="2459736"/>
            <a:ext cx="1371600" cy="219456"/>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jeder Bürger darf klagen</a:t>
            </a:r>
            <a:endParaRPr lang="en-US" sz="850" dirty="0"/>
          </a:p>
        </p:txBody>
      </p:sp>
      <p:sp>
        <p:nvSpPr>
          <p:cNvPr id="31" name="Shape 29"/>
          <p:cNvSpPr/>
          <p:nvPr/>
        </p:nvSpPr>
        <p:spPr>
          <a:xfrm flipV="1">
            <a:off x="1252728" y="2734056"/>
            <a:ext cx="914" cy="374904"/>
          </a:xfrm>
          <a:prstGeom prst="line">
            <a:avLst/>
          </a:prstGeom>
          <a:noFill/>
          <a:ln w="25400">
            <a:solidFill>
              <a:srgbClr val="AD4426"/>
            </a:solidFill>
            <a:prstDash val="solid"/>
            <a:tailEnd type="triangle"/>
          </a:ln>
        </p:spPr>
      </p:sp>
      <p:sp>
        <p:nvSpPr>
          <p:cNvPr id="32" name="Shape 30"/>
          <p:cNvSpPr/>
          <p:nvPr/>
        </p:nvSpPr>
        <p:spPr>
          <a:xfrm flipV="1">
            <a:off x="1645920" y="2734056"/>
            <a:ext cx="914400" cy="374904"/>
          </a:xfrm>
          <a:prstGeom prst="line">
            <a:avLst/>
          </a:prstGeom>
          <a:noFill/>
          <a:ln w="25400">
            <a:solidFill>
              <a:srgbClr val="D9A441"/>
            </a:solidFill>
            <a:prstDash val="solid"/>
            <a:tailEnd type="triangle"/>
          </a:ln>
        </p:spPr>
      </p:sp>
      <p:sp>
        <p:nvSpPr>
          <p:cNvPr id="33" name="Shape 31"/>
          <p:cNvSpPr/>
          <p:nvPr/>
        </p:nvSpPr>
        <p:spPr>
          <a:xfrm flipV="1">
            <a:off x="2523744" y="2734056"/>
            <a:ext cx="585216" cy="374904"/>
          </a:xfrm>
          <a:prstGeom prst="line">
            <a:avLst/>
          </a:prstGeom>
          <a:noFill/>
          <a:ln w="25400">
            <a:solidFill>
              <a:srgbClr val="D9A441"/>
            </a:solidFill>
            <a:prstDash val="solid"/>
            <a:tailEnd type="triangle"/>
          </a:ln>
        </p:spPr>
      </p:sp>
      <p:sp>
        <p:nvSpPr>
          <p:cNvPr id="34" name="Shape 32"/>
          <p:cNvSpPr/>
          <p:nvPr/>
        </p:nvSpPr>
        <p:spPr>
          <a:xfrm flipH="1" flipV="1">
            <a:off x="3749040" y="2734056"/>
            <a:ext cx="109728" cy="374904"/>
          </a:xfrm>
          <a:prstGeom prst="line">
            <a:avLst/>
          </a:prstGeom>
          <a:noFill/>
          <a:ln w="25400">
            <a:solidFill>
              <a:srgbClr val="D9A441"/>
            </a:solidFill>
            <a:prstDash val="solid"/>
            <a:tailEnd type="triangle"/>
          </a:ln>
        </p:spPr>
      </p:sp>
      <p:sp>
        <p:nvSpPr>
          <p:cNvPr id="35" name="Shape 33"/>
          <p:cNvSpPr/>
          <p:nvPr/>
        </p:nvSpPr>
        <p:spPr>
          <a:xfrm flipV="1">
            <a:off x="1005840" y="1819656"/>
            <a:ext cx="914" cy="310896"/>
          </a:xfrm>
          <a:prstGeom prst="line">
            <a:avLst/>
          </a:prstGeom>
          <a:noFill/>
          <a:ln w="22225">
            <a:solidFill>
              <a:srgbClr val="2B2318"/>
            </a:solidFill>
            <a:prstDash val="solid"/>
            <a:tailEnd type="triangle"/>
          </a:ln>
        </p:spPr>
      </p:sp>
      <p:sp>
        <p:nvSpPr>
          <p:cNvPr id="36" name="Text 34"/>
          <p:cNvSpPr txBox="1"/>
          <p:nvPr/>
        </p:nvSpPr>
        <p:spPr>
          <a:xfrm>
            <a:off x="1078992" y="1874520"/>
            <a:ext cx="1280160" cy="201168"/>
          </a:xfrm>
          <a:prstGeom prst="rect">
            <a:avLst/>
          </a:prstGeom>
          <a:noFill/>
          <a:ln/>
        </p:spPr>
        <p:txBody>
          <a:bodyPr wrap="square" lIns="0" tIns="0" rIns="0" bIns="0" rtlCol="0" anchor="t"/>
          <a:lstStyle/>
          <a:p>
            <a:pPr indent="0" marL="0">
              <a:buNone/>
            </a:pPr>
            <a:r>
              <a:rPr lang="en-US" sz="800" dirty="0">
                <a:solidFill>
                  <a:srgbClr val="5A5044"/>
                </a:solidFill>
                <a:latin typeface="Calibri" pitchFamily="34" charset="0"/>
                <a:ea typeface="Calibri" pitchFamily="34" charset="-122"/>
                <a:cs typeface="Calibri" pitchFamily="34" charset="-120"/>
              </a:rPr>
              <a:t>ehemalige Archonten</a:t>
            </a:r>
            <a:endParaRPr lang="en-US" sz="800" dirty="0"/>
          </a:p>
        </p:txBody>
      </p:sp>
      <p:sp>
        <p:nvSpPr>
          <p:cNvPr id="37" name="Shape 35"/>
          <p:cNvSpPr/>
          <p:nvPr/>
        </p:nvSpPr>
        <p:spPr>
          <a:xfrm flipV="1">
            <a:off x="5212080" y="2734056"/>
            <a:ext cx="914" cy="265176"/>
          </a:xfrm>
          <a:prstGeom prst="line">
            <a:avLst/>
          </a:prstGeom>
          <a:noFill/>
          <a:ln w="22225">
            <a:solidFill>
              <a:srgbClr val="5A5044"/>
            </a:solidFill>
            <a:prstDash val="solid"/>
            <a:tailEnd type="triangle"/>
          </a:ln>
        </p:spPr>
      </p:sp>
      <p:sp>
        <p:nvSpPr>
          <p:cNvPr id="38" name="Text 36"/>
          <p:cNvSpPr txBox="1"/>
          <p:nvPr/>
        </p:nvSpPr>
        <p:spPr>
          <a:xfrm>
            <a:off x="5257800" y="2788920"/>
            <a:ext cx="731520" cy="182880"/>
          </a:xfrm>
          <a:prstGeom prst="rect">
            <a:avLst/>
          </a:prstGeom>
          <a:noFill/>
          <a:ln/>
        </p:spPr>
        <p:txBody>
          <a:bodyPr wrap="square" lIns="0" tIns="0" rIns="0" bIns="0" rtlCol="0" anchor="t"/>
          <a:lstStyle/>
          <a:p>
            <a:pPr indent="0" marL="0">
              <a:buNone/>
            </a:pPr>
            <a:r>
              <a:rPr lang="en-US" sz="750" dirty="0">
                <a:solidFill>
                  <a:srgbClr val="5A5044"/>
                </a:solidFill>
                <a:latin typeface="Calibri" pitchFamily="34" charset="0"/>
                <a:ea typeface="Calibri" pitchFamily="34" charset="-122"/>
                <a:cs typeface="Calibri" pitchFamily="34" charset="-120"/>
              </a:rPr>
              <a:t>alle Bürger</a:t>
            </a:r>
            <a:endParaRPr lang="en-US" sz="750" dirty="0"/>
          </a:p>
        </p:txBody>
      </p:sp>
      <p:sp>
        <p:nvSpPr>
          <p:cNvPr id="39" name="Text 37"/>
          <p:cNvSpPr txBox="1"/>
          <p:nvPr/>
        </p:nvSpPr>
        <p:spPr>
          <a:xfrm>
            <a:off x="2057400" y="1325880"/>
            <a:ext cx="2377440" cy="457200"/>
          </a:xfrm>
          <a:prstGeom prst="rect">
            <a:avLst/>
          </a:prstGeom>
          <a:noFill/>
          <a:ln/>
        </p:spPr>
        <p:txBody>
          <a:bodyPr wrap="square" lIns="0" tIns="0" rIns="0" bIns="0" rtlCol="0" anchor="t"/>
          <a:lstStyle/>
          <a:p>
            <a:pPr indent="0" marL="0">
              <a:buNone/>
            </a:pPr>
            <a:r>
              <a:rPr lang="en-US" sz="850" i="1" dirty="0">
                <a:solidFill>
                  <a:srgbClr val="5A5044"/>
                </a:solidFill>
                <a:latin typeface="Calibri" pitchFamily="34" charset="0"/>
                <a:ea typeface="Calibri" pitchFamily="34" charset="-122"/>
                <a:cs typeface="Calibri" pitchFamily="34" charset="-120"/>
              </a:rPr>
              <a:t>Pfeile in die Ämter: Wer darf gewählt werden? Theten: nur wählen.</a:t>
            </a:r>
            <a:endParaRPr lang="en-US" sz="850" dirty="0"/>
          </a:p>
        </p:txBody>
      </p:sp>
      <p:sp>
        <p:nvSpPr>
          <p:cNvPr id="40" name="Shape 38"/>
          <p:cNvSpPr/>
          <p:nvPr/>
        </p:nvSpPr>
        <p:spPr>
          <a:xfrm>
            <a:off x="6172200" y="1234440"/>
            <a:ext cx="2514600" cy="3246120"/>
          </a:xfrm>
          <a:prstGeom prst="roundRect">
            <a:avLst>
              <a:gd name="adj" fmla="val 2909"/>
            </a:avLst>
          </a:prstGeom>
          <a:solidFill>
            <a:srgbClr val="F4ECDE"/>
          </a:solidFill>
          <a:ln w="12700">
            <a:solidFill>
              <a:srgbClr val="F4ECDE"/>
            </a:solidFill>
            <a:prstDash val="solid"/>
          </a:ln>
        </p:spPr>
      </p:sp>
      <p:sp>
        <p:nvSpPr>
          <p:cNvPr id="41" name="Text 39"/>
          <p:cNvSpPr txBox="1"/>
          <p:nvPr/>
        </p:nvSpPr>
        <p:spPr>
          <a:xfrm>
            <a:off x="6355080" y="1325880"/>
            <a:ext cx="2194560" cy="320040"/>
          </a:xfrm>
          <a:prstGeom prst="rect">
            <a:avLst/>
          </a:prstGeom>
          <a:noFill/>
          <a:ln/>
        </p:spPr>
        <p:txBody>
          <a:bodyPr wrap="square" lIns="0" tIns="0" rIns="0" bIns="0" rtlCol="0" anchor="t"/>
          <a:lstStyle/>
          <a:p>
            <a:pPr indent="0" marL="0">
              <a:buNone/>
            </a:pPr>
            <a:r>
              <a:rPr lang="en-US" sz="1400" b="1" dirty="0">
                <a:solidFill>
                  <a:srgbClr val="AD4426"/>
                </a:solidFill>
                <a:latin typeface="Cambria" pitchFamily="34" charset="0"/>
                <a:ea typeface="Cambria" pitchFamily="34" charset="-122"/>
                <a:cs typeface="Cambria" pitchFamily="34" charset="-120"/>
              </a:rPr>
              <a:t>Erklärschema</a:t>
            </a:r>
            <a:endParaRPr lang="en-US" sz="1400" dirty="0"/>
          </a:p>
        </p:txBody>
      </p:sp>
      <p:sp>
        <p:nvSpPr>
          <p:cNvPr id="42" name="Text 40"/>
          <p:cNvSpPr txBox="1"/>
          <p:nvPr/>
        </p:nvSpPr>
        <p:spPr>
          <a:xfrm>
            <a:off x="6355080" y="1783080"/>
            <a:ext cx="347472" cy="347472"/>
          </a:xfrm>
          <a:prstGeom prst="ellipse">
            <a:avLst/>
          </a:prstGeom>
          <a:solidFill>
            <a:srgbClr val="AD4426"/>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43" name="Text 41"/>
          <p:cNvSpPr txBox="1"/>
          <p:nvPr/>
        </p:nvSpPr>
        <p:spPr>
          <a:xfrm>
            <a:off x="6812280" y="1783080"/>
            <a:ext cx="1737360" cy="347472"/>
          </a:xfrm>
          <a:prstGeom prst="rect">
            <a:avLst/>
          </a:prstGeom>
          <a:noFill/>
          <a:ln/>
        </p:spPr>
        <p:txBody>
          <a:bodyPr wrap="square" lIns="0" tIns="0" rIns="0" bIns="0" rtlCol="0" anchor="ctr"/>
          <a:lstStyle/>
          <a:p>
            <a:pPr indent="0" marL="0">
              <a:buNone/>
            </a:pPr>
            <a:r>
              <a:rPr lang="en-US" sz="1300" b="1" dirty="0">
                <a:solidFill>
                  <a:srgbClr val="2B2318"/>
                </a:solidFill>
                <a:latin typeface="Calibri" pitchFamily="34" charset="0"/>
                <a:ea typeface="Calibri" pitchFamily="34" charset="-122"/>
                <a:cs typeface="Calibri" pitchFamily="34" charset="-120"/>
              </a:rPr>
              <a:t>Thema</a:t>
            </a:r>
            <a:endParaRPr lang="en-US" sz="1300" dirty="0"/>
          </a:p>
        </p:txBody>
      </p:sp>
      <p:sp>
        <p:nvSpPr>
          <p:cNvPr id="44" name="Text 42"/>
          <p:cNvSpPr txBox="1"/>
          <p:nvPr/>
        </p:nvSpPr>
        <p:spPr>
          <a:xfrm>
            <a:off x="6355080" y="2286000"/>
            <a:ext cx="347472" cy="347472"/>
          </a:xfrm>
          <a:prstGeom prst="ellipse">
            <a:avLst/>
          </a:prstGeom>
          <a:solidFill>
            <a:srgbClr val="AD4426"/>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45" name="Text 43"/>
          <p:cNvSpPr txBox="1"/>
          <p:nvPr/>
        </p:nvSpPr>
        <p:spPr>
          <a:xfrm>
            <a:off x="6812280" y="2286000"/>
            <a:ext cx="1737360" cy="347472"/>
          </a:xfrm>
          <a:prstGeom prst="rect">
            <a:avLst/>
          </a:prstGeom>
          <a:noFill/>
          <a:ln/>
        </p:spPr>
        <p:txBody>
          <a:bodyPr wrap="square" lIns="0" tIns="0" rIns="0" bIns="0" rtlCol="0" anchor="ctr"/>
          <a:lstStyle/>
          <a:p>
            <a:pPr indent="0" marL="0">
              <a:buNone/>
            </a:pPr>
            <a:r>
              <a:rPr lang="en-US" sz="1300" b="1" dirty="0">
                <a:solidFill>
                  <a:srgbClr val="2B2318"/>
                </a:solidFill>
                <a:latin typeface="Calibri" pitchFamily="34" charset="0"/>
                <a:ea typeface="Calibri" pitchFamily="34" charset="-122"/>
                <a:cs typeface="Calibri" pitchFamily="34" charset="-120"/>
              </a:rPr>
              <a:t>Grundlage</a:t>
            </a:r>
            <a:endParaRPr lang="en-US" sz="1300" dirty="0"/>
          </a:p>
        </p:txBody>
      </p:sp>
      <p:sp>
        <p:nvSpPr>
          <p:cNvPr id="46" name="Text 44"/>
          <p:cNvSpPr txBox="1"/>
          <p:nvPr/>
        </p:nvSpPr>
        <p:spPr>
          <a:xfrm>
            <a:off x="6355080" y="2788920"/>
            <a:ext cx="347472" cy="347472"/>
          </a:xfrm>
          <a:prstGeom prst="ellipse">
            <a:avLst/>
          </a:prstGeom>
          <a:solidFill>
            <a:srgbClr val="AD4426"/>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47" name="Text 45"/>
          <p:cNvSpPr txBox="1"/>
          <p:nvPr/>
        </p:nvSpPr>
        <p:spPr>
          <a:xfrm>
            <a:off x="6812280" y="2788920"/>
            <a:ext cx="1737360" cy="347472"/>
          </a:xfrm>
          <a:prstGeom prst="rect">
            <a:avLst/>
          </a:prstGeom>
          <a:noFill/>
          <a:ln/>
        </p:spPr>
        <p:txBody>
          <a:bodyPr wrap="square" lIns="0" tIns="0" rIns="0" bIns="0" rtlCol="0" anchor="ctr"/>
          <a:lstStyle/>
          <a:p>
            <a:pPr indent="0" marL="0">
              <a:buNone/>
            </a:pPr>
            <a:r>
              <a:rPr lang="en-US" sz="1300" b="1" dirty="0">
                <a:solidFill>
                  <a:srgbClr val="2B2318"/>
                </a:solidFill>
                <a:latin typeface="Calibri" pitchFamily="34" charset="0"/>
                <a:ea typeface="Calibri" pitchFamily="34" charset="-122"/>
                <a:cs typeface="Calibri" pitchFamily="34" charset="-120"/>
              </a:rPr>
              <a:t>Organe</a:t>
            </a:r>
            <a:endParaRPr lang="en-US" sz="1300" dirty="0"/>
          </a:p>
        </p:txBody>
      </p:sp>
      <p:sp>
        <p:nvSpPr>
          <p:cNvPr id="48" name="Text 46"/>
          <p:cNvSpPr txBox="1"/>
          <p:nvPr/>
        </p:nvSpPr>
        <p:spPr>
          <a:xfrm>
            <a:off x="6355080" y="3291840"/>
            <a:ext cx="347472" cy="347472"/>
          </a:xfrm>
          <a:prstGeom prst="ellipse">
            <a:avLst/>
          </a:prstGeom>
          <a:solidFill>
            <a:srgbClr val="AD4426"/>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49" name="Text 47"/>
          <p:cNvSpPr txBox="1"/>
          <p:nvPr/>
        </p:nvSpPr>
        <p:spPr>
          <a:xfrm>
            <a:off x="6812280" y="3291840"/>
            <a:ext cx="1737360" cy="347472"/>
          </a:xfrm>
          <a:prstGeom prst="rect">
            <a:avLst/>
          </a:prstGeom>
          <a:noFill/>
          <a:ln/>
        </p:spPr>
        <p:txBody>
          <a:bodyPr wrap="square" lIns="0" tIns="0" rIns="0" bIns="0" rtlCol="0" anchor="ctr"/>
          <a:lstStyle/>
          <a:p>
            <a:pPr indent="0" marL="0">
              <a:buNone/>
            </a:pPr>
            <a:r>
              <a:rPr lang="en-US" sz="1300" b="1" dirty="0">
                <a:solidFill>
                  <a:srgbClr val="2B2318"/>
                </a:solidFill>
                <a:latin typeface="Calibri" pitchFamily="34" charset="0"/>
                <a:ea typeface="Calibri" pitchFamily="34" charset="-122"/>
                <a:cs typeface="Calibri" pitchFamily="34" charset="-120"/>
              </a:rPr>
              <a:t>Pfeile</a:t>
            </a:r>
            <a:endParaRPr lang="en-US" sz="1300" dirty="0"/>
          </a:p>
        </p:txBody>
      </p:sp>
      <p:sp>
        <p:nvSpPr>
          <p:cNvPr id="50" name="Text 48"/>
          <p:cNvSpPr txBox="1"/>
          <p:nvPr/>
        </p:nvSpPr>
        <p:spPr>
          <a:xfrm>
            <a:off x="6355080" y="3794760"/>
            <a:ext cx="347472" cy="347472"/>
          </a:xfrm>
          <a:prstGeom prst="ellipse">
            <a:avLst/>
          </a:prstGeom>
          <a:solidFill>
            <a:srgbClr val="AD4426"/>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51" name="Text 49"/>
          <p:cNvSpPr txBox="1"/>
          <p:nvPr/>
        </p:nvSpPr>
        <p:spPr>
          <a:xfrm>
            <a:off x="6812280" y="3794760"/>
            <a:ext cx="1737360" cy="347472"/>
          </a:xfrm>
          <a:prstGeom prst="rect">
            <a:avLst/>
          </a:prstGeom>
          <a:noFill/>
          <a:ln/>
        </p:spPr>
        <p:txBody>
          <a:bodyPr wrap="square" lIns="0" tIns="0" rIns="0" bIns="0" rtlCol="0" anchor="ctr"/>
          <a:lstStyle/>
          <a:p>
            <a:pPr indent="0" marL="0">
              <a:buNone/>
            </a:pPr>
            <a:r>
              <a:rPr lang="en-US" sz="1300" b="1" dirty="0">
                <a:solidFill>
                  <a:srgbClr val="2B2318"/>
                </a:solidFill>
                <a:latin typeface="Calibri" pitchFamily="34" charset="0"/>
                <a:ea typeface="Calibri" pitchFamily="34" charset="-122"/>
                <a:cs typeface="Calibri" pitchFamily="34" charset="-120"/>
              </a:rPr>
              <a:t>Fazit</a:t>
            </a:r>
            <a:endParaRPr lang="en-US" sz="1300" dirty="0"/>
          </a:p>
        </p:txBody>
      </p:sp>
      <p:sp>
        <p:nvSpPr>
          <p:cNvPr id="52" name="Text 50"/>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53" name="Text 51"/>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SCHAUBILD ·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So könnte die Erklärung lauten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Shape 3"/>
          <p:cNvSpPr/>
          <p:nvPr/>
        </p:nvSpPr>
        <p:spPr>
          <a:xfrm>
            <a:off x="457200" y="2431390"/>
            <a:ext cx="3401568" cy="907085"/>
          </a:xfrm>
          <a:prstGeom prst="roundRect">
            <a:avLst>
              <a:gd name="adj" fmla="val 8065"/>
            </a:avLst>
          </a:prstGeom>
          <a:solidFill>
            <a:srgbClr val="F4ECDE"/>
          </a:solidFill>
          <a:ln w="12700">
            <a:solidFill>
              <a:srgbClr val="D9CDB8"/>
            </a:solidFill>
            <a:prstDash val="solid"/>
          </a:ln>
        </p:spPr>
      </p:sp>
      <p:sp>
        <p:nvSpPr>
          <p:cNvPr id="6" name="Text 4"/>
          <p:cNvSpPr txBox="1"/>
          <p:nvPr/>
        </p:nvSpPr>
        <p:spPr>
          <a:xfrm>
            <a:off x="457200" y="2958633"/>
            <a:ext cx="3401568" cy="170078"/>
          </a:xfrm>
          <a:prstGeom prst="rect">
            <a:avLst/>
          </a:prstGeom>
          <a:noFill/>
          <a:ln/>
        </p:spPr>
        <p:txBody>
          <a:bodyPr wrap="square" lIns="0" tIns="0" rIns="0" bIns="0" rtlCol="0" anchor="t"/>
          <a:lstStyle/>
          <a:p>
            <a:pPr algn="ctr" indent="0" marL="0">
              <a:buNone/>
            </a:pPr>
            <a:r>
              <a:rPr lang="en-US" sz="806" b="1" dirty="0">
                <a:solidFill>
                  <a:srgbClr val="2B2318"/>
                </a:solidFill>
                <a:latin typeface="Cambria" pitchFamily="34" charset="0"/>
                <a:ea typeface="Cambria" pitchFamily="34" charset="-122"/>
                <a:cs typeface="Cambria" pitchFamily="34" charset="-120"/>
              </a:rPr>
              <a:t>Volksversammlung</a:t>
            </a:r>
            <a:endParaRPr lang="en-US" sz="806" dirty="0"/>
          </a:p>
        </p:txBody>
      </p:sp>
      <p:sp>
        <p:nvSpPr>
          <p:cNvPr id="7" name="Text 5"/>
          <p:cNvSpPr txBox="1"/>
          <p:nvPr/>
        </p:nvSpPr>
        <p:spPr>
          <a:xfrm>
            <a:off x="513893" y="3123042"/>
            <a:ext cx="3288182" cy="170078"/>
          </a:xfrm>
          <a:prstGeom prst="rect">
            <a:avLst/>
          </a:prstGeom>
          <a:noFill/>
          <a:ln/>
        </p:spPr>
        <p:txBody>
          <a:bodyPr wrap="square" lIns="0" tIns="0" rIns="0" bIns="0" rtlCol="0" anchor="t"/>
          <a:lstStyle/>
          <a:p>
            <a:pPr algn="ctr" indent="0" marL="0">
              <a:buNone/>
            </a:pPr>
            <a:r>
              <a:rPr lang="en-US" sz="527" dirty="0">
                <a:solidFill>
                  <a:srgbClr val="5A5044"/>
                </a:solidFill>
                <a:latin typeface="Calibri" pitchFamily="34" charset="0"/>
                <a:ea typeface="Calibri" pitchFamily="34" charset="-122"/>
                <a:cs typeface="Calibri" pitchFamily="34" charset="-120"/>
              </a:rPr>
              <a:t>alle Bürger über 20 Jahre · beschließt Gesetze · entscheidet über Krieg und Frieden · wählt die Beamten</a:t>
            </a:r>
            <a:endParaRPr lang="en-US" sz="527" dirty="0"/>
          </a:p>
        </p:txBody>
      </p:sp>
      <p:sp>
        <p:nvSpPr>
          <p:cNvPr id="8" name="Shape 6"/>
          <p:cNvSpPr/>
          <p:nvPr/>
        </p:nvSpPr>
        <p:spPr>
          <a:xfrm>
            <a:off x="525231" y="2499421"/>
            <a:ext cx="771022" cy="408188"/>
          </a:xfrm>
          <a:prstGeom prst="roundRect">
            <a:avLst>
              <a:gd name="adj" fmla="val 11201"/>
            </a:avLst>
          </a:prstGeom>
          <a:solidFill>
            <a:srgbClr val="2B2318"/>
          </a:solidFill>
          <a:ln w="12700">
            <a:solidFill>
              <a:srgbClr val="2B2318"/>
            </a:solidFill>
            <a:prstDash val="solid"/>
          </a:ln>
        </p:spPr>
      </p:sp>
      <p:sp>
        <p:nvSpPr>
          <p:cNvPr id="9" name="Text 7"/>
          <p:cNvSpPr txBox="1"/>
          <p:nvPr/>
        </p:nvSpPr>
        <p:spPr>
          <a:xfrm>
            <a:off x="525231" y="2527767"/>
            <a:ext cx="771022" cy="113386"/>
          </a:xfrm>
          <a:prstGeom prst="rect">
            <a:avLst/>
          </a:prstGeom>
          <a:noFill/>
          <a:ln/>
        </p:spPr>
        <p:txBody>
          <a:bodyPr wrap="square" lIns="0" tIns="0" rIns="0" bIns="0" rtlCol="0" anchor="t"/>
          <a:lstStyle/>
          <a:p>
            <a:pPr algn="ctr" indent="0" marL="0">
              <a:buNone/>
            </a:pPr>
            <a:r>
              <a:rPr lang="en-US" sz="434" b="1" dirty="0">
                <a:solidFill>
                  <a:srgbClr val="FFFFFF"/>
                </a:solidFill>
                <a:latin typeface="Calibri" pitchFamily="34" charset="0"/>
                <a:ea typeface="Calibri" pitchFamily="34" charset="-122"/>
                <a:cs typeface="Calibri" pitchFamily="34" charset="-120"/>
              </a:rPr>
              <a:t>1. KLASSE</a:t>
            </a:r>
            <a:endParaRPr lang="en-US" sz="434" dirty="0"/>
          </a:p>
        </p:txBody>
      </p:sp>
      <p:sp>
        <p:nvSpPr>
          <p:cNvPr id="10" name="Text 8"/>
          <p:cNvSpPr txBox="1"/>
          <p:nvPr/>
        </p:nvSpPr>
        <p:spPr>
          <a:xfrm>
            <a:off x="525231" y="2646822"/>
            <a:ext cx="771022" cy="226771"/>
          </a:xfrm>
          <a:prstGeom prst="rect">
            <a:avLst/>
          </a:prstGeom>
          <a:noFill/>
          <a:ln/>
        </p:spPr>
        <p:txBody>
          <a:bodyPr wrap="square" lIns="0" tIns="0" rIns="0" bIns="0" rtlCol="0" anchor="ctr"/>
          <a:lstStyle/>
          <a:p>
            <a:pPr algn="ctr" indent="0" marL="0">
              <a:buNone/>
            </a:pPr>
            <a:r>
              <a:rPr lang="en-US" sz="558" b="1" dirty="0">
                <a:solidFill>
                  <a:srgbClr val="FFFFFF"/>
                </a:solidFill>
                <a:latin typeface="Cambria" pitchFamily="34" charset="0"/>
                <a:ea typeface="Cambria" pitchFamily="34" charset="-122"/>
                <a:cs typeface="Cambria" pitchFamily="34" charset="-120"/>
              </a:rPr>
              <a:t>Fünfhundert­scheffler</a:t>
            </a:r>
            <a:endParaRPr lang="en-US" sz="558" dirty="0"/>
          </a:p>
        </p:txBody>
      </p:sp>
      <p:sp>
        <p:nvSpPr>
          <p:cNvPr id="11" name="Shape 9"/>
          <p:cNvSpPr/>
          <p:nvPr/>
        </p:nvSpPr>
        <p:spPr>
          <a:xfrm>
            <a:off x="1352946" y="2499421"/>
            <a:ext cx="771022" cy="408188"/>
          </a:xfrm>
          <a:prstGeom prst="roundRect">
            <a:avLst>
              <a:gd name="adj" fmla="val 11201"/>
            </a:avLst>
          </a:prstGeom>
          <a:solidFill>
            <a:srgbClr val="5A5044"/>
          </a:solidFill>
          <a:ln w="12700">
            <a:solidFill>
              <a:srgbClr val="5A5044"/>
            </a:solidFill>
            <a:prstDash val="solid"/>
          </a:ln>
        </p:spPr>
      </p:sp>
      <p:sp>
        <p:nvSpPr>
          <p:cNvPr id="12" name="Text 10"/>
          <p:cNvSpPr txBox="1"/>
          <p:nvPr/>
        </p:nvSpPr>
        <p:spPr>
          <a:xfrm>
            <a:off x="1352946" y="2527767"/>
            <a:ext cx="771022" cy="113386"/>
          </a:xfrm>
          <a:prstGeom prst="rect">
            <a:avLst/>
          </a:prstGeom>
          <a:noFill/>
          <a:ln/>
        </p:spPr>
        <p:txBody>
          <a:bodyPr wrap="square" lIns="0" tIns="0" rIns="0" bIns="0" rtlCol="0" anchor="t"/>
          <a:lstStyle/>
          <a:p>
            <a:pPr algn="ctr" indent="0" marL="0">
              <a:buNone/>
            </a:pPr>
            <a:r>
              <a:rPr lang="en-US" sz="434" b="1" dirty="0">
                <a:solidFill>
                  <a:srgbClr val="FFFFFF"/>
                </a:solidFill>
                <a:latin typeface="Calibri" pitchFamily="34" charset="0"/>
                <a:ea typeface="Calibri" pitchFamily="34" charset="-122"/>
                <a:cs typeface="Calibri" pitchFamily="34" charset="-120"/>
              </a:rPr>
              <a:t>2. KLASSE</a:t>
            </a:r>
            <a:endParaRPr lang="en-US" sz="434" dirty="0"/>
          </a:p>
        </p:txBody>
      </p:sp>
      <p:sp>
        <p:nvSpPr>
          <p:cNvPr id="13" name="Text 11"/>
          <p:cNvSpPr txBox="1"/>
          <p:nvPr/>
        </p:nvSpPr>
        <p:spPr>
          <a:xfrm>
            <a:off x="1352946" y="2646822"/>
            <a:ext cx="771022" cy="226771"/>
          </a:xfrm>
          <a:prstGeom prst="rect">
            <a:avLst/>
          </a:prstGeom>
          <a:noFill/>
          <a:ln/>
        </p:spPr>
        <p:txBody>
          <a:bodyPr wrap="square" lIns="0" tIns="0" rIns="0" bIns="0" rtlCol="0" anchor="ctr"/>
          <a:lstStyle/>
          <a:p>
            <a:pPr algn="ctr" indent="0" marL="0">
              <a:buNone/>
            </a:pPr>
            <a:r>
              <a:rPr lang="en-US" sz="682" b="1" dirty="0">
                <a:solidFill>
                  <a:srgbClr val="FFFFFF"/>
                </a:solidFill>
                <a:latin typeface="Cambria" pitchFamily="34" charset="0"/>
                <a:ea typeface="Cambria" pitchFamily="34" charset="-122"/>
                <a:cs typeface="Cambria" pitchFamily="34" charset="-120"/>
              </a:rPr>
              <a:t>Ritter</a:t>
            </a:r>
            <a:endParaRPr lang="en-US" sz="682" dirty="0"/>
          </a:p>
        </p:txBody>
      </p:sp>
      <p:sp>
        <p:nvSpPr>
          <p:cNvPr id="14" name="Shape 12"/>
          <p:cNvSpPr/>
          <p:nvPr/>
        </p:nvSpPr>
        <p:spPr>
          <a:xfrm>
            <a:off x="2180661" y="2499421"/>
            <a:ext cx="771022" cy="408188"/>
          </a:xfrm>
          <a:prstGeom prst="roundRect">
            <a:avLst>
              <a:gd name="adj" fmla="val 11201"/>
            </a:avLst>
          </a:prstGeom>
          <a:solidFill>
            <a:srgbClr val="998C77"/>
          </a:solidFill>
          <a:ln w="12700">
            <a:solidFill>
              <a:srgbClr val="998C77"/>
            </a:solidFill>
            <a:prstDash val="solid"/>
          </a:ln>
        </p:spPr>
      </p:sp>
      <p:sp>
        <p:nvSpPr>
          <p:cNvPr id="15" name="Text 13"/>
          <p:cNvSpPr txBox="1"/>
          <p:nvPr/>
        </p:nvSpPr>
        <p:spPr>
          <a:xfrm>
            <a:off x="2180661" y="2527767"/>
            <a:ext cx="771022" cy="113386"/>
          </a:xfrm>
          <a:prstGeom prst="rect">
            <a:avLst/>
          </a:prstGeom>
          <a:noFill/>
          <a:ln/>
        </p:spPr>
        <p:txBody>
          <a:bodyPr wrap="square" lIns="0" tIns="0" rIns="0" bIns="0" rtlCol="0" anchor="t"/>
          <a:lstStyle/>
          <a:p>
            <a:pPr algn="ctr" indent="0" marL="0">
              <a:buNone/>
            </a:pPr>
            <a:r>
              <a:rPr lang="en-US" sz="434" b="1" dirty="0">
                <a:solidFill>
                  <a:srgbClr val="FFFFFF"/>
                </a:solidFill>
                <a:latin typeface="Calibri" pitchFamily="34" charset="0"/>
                <a:ea typeface="Calibri" pitchFamily="34" charset="-122"/>
                <a:cs typeface="Calibri" pitchFamily="34" charset="-120"/>
              </a:rPr>
              <a:t>3. KLASSE</a:t>
            </a:r>
            <a:endParaRPr lang="en-US" sz="434" dirty="0"/>
          </a:p>
        </p:txBody>
      </p:sp>
      <p:sp>
        <p:nvSpPr>
          <p:cNvPr id="16" name="Text 14"/>
          <p:cNvSpPr txBox="1"/>
          <p:nvPr/>
        </p:nvSpPr>
        <p:spPr>
          <a:xfrm>
            <a:off x="2180661" y="2646822"/>
            <a:ext cx="771022" cy="226771"/>
          </a:xfrm>
          <a:prstGeom prst="rect">
            <a:avLst/>
          </a:prstGeom>
          <a:noFill/>
          <a:ln/>
        </p:spPr>
        <p:txBody>
          <a:bodyPr wrap="square" lIns="0" tIns="0" rIns="0" bIns="0" rtlCol="0" anchor="ctr"/>
          <a:lstStyle/>
          <a:p>
            <a:pPr algn="ctr" indent="0" marL="0">
              <a:buNone/>
            </a:pPr>
            <a:r>
              <a:rPr lang="en-US" sz="682" b="1" dirty="0">
                <a:solidFill>
                  <a:srgbClr val="FFFFFF"/>
                </a:solidFill>
                <a:latin typeface="Cambria" pitchFamily="34" charset="0"/>
                <a:ea typeface="Cambria" pitchFamily="34" charset="-122"/>
                <a:cs typeface="Cambria" pitchFamily="34" charset="-120"/>
              </a:rPr>
              <a:t>Hopliten</a:t>
            </a:r>
            <a:endParaRPr lang="en-US" sz="682" dirty="0"/>
          </a:p>
        </p:txBody>
      </p:sp>
      <p:sp>
        <p:nvSpPr>
          <p:cNvPr id="17" name="Shape 15"/>
          <p:cNvSpPr/>
          <p:nvPr/>
        </p:nvSpPr>
        <p:spPr>
          <a:xfrm>
            <a:off x="3008376" y="2499421"/>
            <a:ext cx="771022" cy="408188"/>
          </a:xfrm>
          <a:prstGeom prst="roundRect">
            <a:avLst>
              <a:gd name="adj" fmla="val 11201"/>
            </a:avLst>
          </a:prstGeom>
          <a:solidFill>
            <a:srgbClr val="D9CDB8"/>
          </a:solidFill>
          <a:ln w="12700">
            <a:solidFill>
              <a:srgbClr val="D9CDB8"/>
            </a:solidFill>
            <a:prstDash val="solid"/>
          </a:ln>
        </p:spPr>
      </p:sp>
      <p:sp>
        <p:nvSpPr>
          <p:cNvPr id="18" name="Text 16"/>
          <p:cNvSpPr txBox="1"/>
          <p:nvPr/>
        </p:nvSpPr>
        <p:spPr>
          <a:xfrm>
            <a:off x="3008376" y="2527767"/>
            <a:ext cx="771022" cy="113386"/>
          </a:xfrm>
          <a:prstGeom prst="rect">
            <a:avLst/>
          </a:prstGeom>
          <a:noFill/>
          <a:ln/>
        </p:spPr>
        <p:txBody>
          <a:bodyPr wrap="square" lIns="0" tIns="0" rIns="0" bIns="0" rtlCol="0" anchor="t"/>
          <a:lstStyle/>
          <a:p>
            <a:pPr algn="ctr" indent="0" marL="0">
              <a:buNone/>
            </a:pPr>
            <a:r>
              <a:rPr lang="en-US" sz="434" b="1" dirty="0">
                <a:solidFill>
                  <a:srgbClr val="2B2318"/>
                </a:solidFill>
                <a:latin typeface="Calibri" pitchFamily="34" charset="0"/>
                <a:ea typeface="Calibri" pitchFamily="34" charset="-122"/>
                <a:cs typeface="Calibri" pitchFamily="34" charset="-120"/>
              </a:rPr>
              <a:t>4. KLASSE</a:t>
            </a:r>
            <a:endParaRPr lang="en-US" sz="434" dirty="0"/>
          </a:p>
        </p:txBody>
      </p:sp>
      <p:sp>
        <p:nvSpPr>
          <p:cNvPr id="19" name="Text 17"/>
          <p:cNvSpPr txBox="1"/>
          <p:nvPr/>
        </p:nvSpPr>
        <p:spPr>
          <a:xfrm>
            <a:off x="3008376" y="2646822"/>
            <a:ext cx="771022" cy="226771"/>
          </a:xfrm>
          <a:prstGeom prst="rect">
            <a:avLst/>
          </a:prstGeom>
          <a:noFill/>
          <a:ln/>
        </p:spPr>
        <p:txBody>
          <a:bodyPr wrap="square" lIns="0" tIns="0" rIns="0" bIns="0" rtlCol="0" anchor="ctr"/>
          <a:lstStyle/>
          <a:p>
            <a:pPr algn="ctr" indent="0" marL="0">
              <a:buNone/>
            </a:pPr>
            <a:r>
              <a:rPr lang="en-US" sz="682" b="1" dirty="0">
                <a:solidFill>
                  <a:srgbClr val="2B2318"/>
                </a:solidFill>
                <a:latin typeface="Cambria" pitchFamily="34" charset="0"/>
                <a:ea typeface="Cambria" pitchFamily="34" charset="-122"/>
                <a:cs typeface="Cambria" pitchFamily="34" charset="-120"/>
              </a:rPr>
              <a:t>Theten</a:t>
            </a:r>
            <a:endParaRPr lang="en-US" sz="682" dirty="0"/>
          </a:p>
        </p:txBody>
      </p:sp>
      <p:sp>
        <p:nvSpPr>
          <p:cNvPr id="20" name="Shape 18"/>
          <p:cNvSpPr/>
          <p:nvPr/>
        </p:nvSpPr>
        <p:spPr>
          <a:xfrm>
            <a:off x="525231" y="1325880"/>
            <a:ext cx="850392" cy="351495"/>
          </a:xfrm>
          <a:prstGeom prst="roundRect">
            <a:avLst>
              <a:gd name="adj" fmla="val 15609"/>
            </a:avLst>
          </a:prstGeom>
          <a:solidFill>
            <a:srgbClr val="2B2318"/>
          </a:solidFill>
          <a:ln w="12700">
            <a:solidFill>
              <a:srgbClr val="2B2318"/>
            </a:solidFill>
            <a:prstDash val="solid"/>
          </a:ln>
        </p:spPr>
      </p:sp>
      <p:sp>
        <p:nvSpPr>
          <p:cNvPr id="21" name="Text 19"/>
          <p:cNvSpPr txBox="1"/>
          <p:nvPr/>
        </p:nvSpPr>
        <p:spPr>
          <a:xfrm>
            <a:off x="525231" y="1359896"/>
            <a:ext cx="850392" cy="158740"/>
          </a:xfrm>
          <a:prstGeom prst="rect">
            <a:avLst/>
          </a:prstGeom>
          <a:noFill/>
          <a:ln/>
        </p:spPr>
        <p:txBody>
          <a:bodyPr wrap="square" lIns="0" tIns="0" rIns="0" bIns="0" rtlCol="0" anchor="t"/>
          <a:lstStyle/>
          <a:p>
            <a:pPr algn="ctr" indent="0" marL="0">
              <a:buNone/>
            </a:pPr>
            <a:r>
              <a:rPr lang="en-US" sz="744" b="1" dirty="0">
                <a:solidFill>
                  <a:srgbClr val="FFFFFF"/>
                </a:solidFill>
                <a:latin typeface="Cambria" pitchFamily="34" charset="0"/>
                <a:ea typeface="Cambria" pitchFamily="34" charset="-122"/>
                <a:cs typeface="Cambria" pitchFamily="34" charset="-120"/>
              </a:rPr>
              <a:t>Areopag</a:t>
            </a:r>
            <a:endParaRPr lang="en-US" sz="744" dirty="0"/>
          </a:p>
        </p:txBody>
      </p:sp>
      <p:sp>
        <p:nvSpPr>
          <p:cNvPr id="22" name="Text 20"/>
          <p:cNvSpPr txBox="1"/>
          <p:nvPr/>
        </p:nvSpPr>
        <p:spPr>
          <a:xfrm>
            <a:off x="553578" y="1518636"/>
            <a:ext cx="793699" cy="136063"/>
          </a:xfrm>
          <a:prstGeom prst="rect">
            <a:avLst/>
          </a:prstGeom>
          <a:noFill/>
          <a:ln/>
        </p:spPr>
        <p:txBody>
          <a:bodyPr wrap="square" lIns="0" tIns="0" rIns="0" bIns="0" rtlCol="0" anchor="t"/>
          <a:lstStyle/>
          <a:p>
            <a:pPr algn="ctr" indent="0" marL="0">
              <a:buNone/>
            </a:pPr>
            <a:r>
              <a:rPr lang="en-US" sz="527" dirty="0">
                <a:solidFill>
                  <a:srgbClr val="FFFFFF"/>
                </a:solidFill>
                <a:latin typeface="Calibri" pitchFamily="34" charset="0"/>
                <a:ea typeface="Calibri" pitchFamily="34" charset="-122"/>
                <a:cs typeface="Calibri" pitchFamily="34" charset="-120"/>
              </a:rPr>
              <a:t>Aufsicht über Verfassung und Ämter</a:t>
            </a:r>
            <a:endParaRPr lang="en-US" sz="527" dirty="0"/>
          </a:p>
        </p:txBody>
      </p:sp>
      <p:sp>
        <p:nvSpPr>
          <p:cNvPr id="23" name="Shape 21"/>
          <p:cNvSpPr/>
          <p:nvPr/>
        </p:nvSpPr>
        <p:spPr>
          <a:xfrm>
            <a:off x="525231" y="1892808"/>
            <a:ext cx="850392" cy="351495"/>
          </a:xfrm>
          <a:prstGeom prst="roundRect">
            <a:avLst>
              <a:gd name="adj" fmla="val 15609"/>
            </a:avLst>
          </a:prstGeom>
          <a:solidFill>
            <a:srgbClr val="AD4426"/>
          </a:solidFill>
          <a:ln w="12700">
            <a:solidFill>
              <a:srgbClr val="AD4426"/>
            </a:solidFill>
            <a:prstDash val="solid"/>
          </a:ln>
        </p:spPr>
      </p:sp>
      <p:sp>
        <p:nvSpPr>
          <p:cNvPr id="24" name="Text 22"/>
          <p:cNvSpPr txBox="1"/>
          <p:nvPr/>
        </p:nvSpPr>
        <p:spPr>
          <a:xfrm>
            <a:off x="525231" y="1926824"/>
            <a:ext cx="850392" cy="158740"/>
          </a:xfrm>
          <a:prstGeom prst="rect">
            <a:avLst/>
          </a:prstGeom>
          <a:noFill/>
          <a:ln/>
        </p:spPr>
        <p:txBody>
          <a:bodyPr wrap="square" lIns="0" tIns="0" rIns="0" bIns="0" rtlCol="0" anchor="t"/>
          <a:lstStyle/>
          <a:p>
            <a:pPr algn="ctr" indent="0" marL="0">
              <a:buNone/>
            </a:pPr>
            <a:r>
              <a:rPr lang="en-US" sz="744" b="1" dirty="0">
                <a:solidFill>
                  <a:srgbClr val="FFFFFF"/>
                </a:solidFill>
                <a:latin typeface="Cambria" pitchFamily="34" charset="0"/>
                <a:ea typeface="Cambria" pitchFamily="34" charset="-122"/>
                <a:cs typeface="Cambria" pitchFamily="34" charset="-120"/>
              </a:rPr>
              <a:t>9 Archonten</a:t>
            </a:r>
            <a:endParaRPr lang="en-US" sz="744" dirty="0"/>
          </a:p>
        </p:txBody>
      </p:sp>
      <p:sp>
        <p:nvSpPr>
          <p:cNvPr id="25" name="Text 23"/>
          <p:cNvSpPr txBox="1"/>
          <p:nvPr/>
        </p:nvSpPr>
        <p:spPr>
          <a:xfrm>
            <a:off x="553578" y="2085564"/>
            <a:ext cx="793699" cy="136063"/>
          </a:xfrm>
          <a:prstGeom prst="rect">
            <a:avLst/>
          </a:prstGeom>
          <a:noFill/>
          <a:ln/>
        </p:spPr>
        <p:txBody>
          <a:bodyPr wrap="square" lIns="0" tIns="0" rIns="0" bIns="0" rtlCol="0" anchor="t"/>
          <a:lstStyle/>
          <a:p>
            <a:pPr algn="ctr" indent="0" marL="0">
              <a:buNone/>
            </a:pPr>
            <a:r>
              <a:rPr lang="en-US" sz="527" dirty="0">
                <a:solidFill>
                  <a:srgbClr val="FFFFFF"/>
                </a:solidFill>
                <a:latin typeface="Calibri" pitchFamily="34" charset="0"/>
                <a:ea typeface="Calibri" pitchFamily="34" charset="-122"/>
                <a:cs typeface="Calibri" pitchFamily="34" charset="-120"/>
              </a:rPr>
              <a:t>leiten die Staatsgeschäfte</a:t>
            </a:r>
            <a:endParaRPr lang="en-US" sz="527" dirty="0"/>
          </a:p>
        </p:txBody>
      </p:sp>
      <p:sp>
        <p:nvSpPr>
          <p:cNvPr id="26" name="Shape 24"/>
          <p:cNvSpPr/>
          <p:nvPr/>
        </p:nvSpPr>
        <p:spPr>
          <a:xfrm>
            <a:off x="1591056" y="1892808"/>
            <a:ext cx="1190549" cy="351495"/>
          </a:xfrm>
          <a:prstGeom prst="roundRect">
            <a:avLst>
              <a:gd name="adj" fmla="val 15609"/>
            </a:avLst>
          </a:prstGeom>
          <a:solidFill>
            <a:srgbClr val="D9A441"/>
          </a:solidFill>
          <a:ln w="12700">
            <a:solidFill>
              <a:srgbClr val="D9A441"/>
            </a:solidFill>
            <a:prstDash val="solid"/>
          </a:ln>
        </p:spPr>
      </p:sp>
      <p:sp>
        <p:nvSpPr>
          <p:cNvPr id="27" name="Text 25"/>
          <p:cNvSpPr txBox="1"/>
          <p:nvPr/>
        </p:nvSpPr>
        <p:spPr>
          <a:xfrm>
            <a:off x="1591056" y="1926824"/>
            <a:ext cx="1190549" cy="158740"/>
          </a:xfrm>
          <a:prstGeom prst="rect">
            <a:avLst/>
          </a:prstGeom>
          <a:noFill/>
          <a:ln/>
        </p:spPr>
        <p:txBody>
          <a:bodyPr wrap="square" lIns="0" tIns="0" rIns="0" bIns="0" rtlCol="0" anchor="t"/>
          <a:lstStyle/>
          <a:p>
            <a:pPr algn="ctr" indent="0" marL="0">
              <a:buNone/>
            </a:pPr>
            <a:r>
              <a:rPr lang="en-US" sz="744" b="1" dirty="0">
                <a:solidFill>
                  <a:srgbClr val="2B2318"/>
                </a:solidFill>
                <a:latin typeface="Cambria" pitchFamily="34" charset="0"/>
                <a:ea typeface="Cambria" pitchFamily="34" charset="-122"/>
                <a:cs typeface="Cambria" pitchFamily="34" charset="-120"/>
              </a:rPr>
              <a:t>Rat der 400</a:t>
            </a:r>
            <a:endParaRPr lang="en-US" sz="744" dirty="0"/>
          </a:p>
        </p:txBody>
      </p:sp>
      <p:sp>
        <p:nvSpPr>
          <p:cNvPr id="28" name="Text 26"/>
          <p:cNvSpPr txBox="1"/>
          <p:nvPr/>
        </p:nvSpPr>
        <p:spPr>
          <a:xfrm>
            <a:off x="1619402" y="2085564"/>
            <a:ext cx="1133856" cy="136063"/>
          </a:xfrm>
          <a:prstGeom prst="rect">
            <a:avLst/>
          </a:prstGeom>
          <a:noFill/>
          <a:ln/>
        </p:spPr>
        <p:txBody>
          <a:bodyPr wrap="square" lIns="0" tIns="0" rIns="0" bIns="0" rtlCol="0" anchor="t"/>
          <a:lstStyle/>
          <a:p>
            <a:pPr algn="ctr" indent="0" marL="0">
              <a:buNone/>
            </a:pPr>
            <a:r>
              <a:rPr lang="en-US" sz="527" dirty="0">
                <a:solidFill>
                  <a:srgbClr val="2B2318"/>
                </a:solidFill>
                <a:latin typeface="Calibri" pitchFamily="34" charset="0"/>
                <a:ea typeface="Calibri" pitchFamily="34" charset="-122"/>
                <a:cs typeface="Calibri" pitchFamily="34" charset="-120"/>
              </a:rPr>
              <a:t>bereitet die Gesetze vor</a:t>
            </a:r>
            <a:endParaRPr lang="en-US" sz="527" dirty="0"/>
          </a:p>
        </p:txBody>
      </p:sp>
      <p:sp>
        <p:nvSpPr>
          <p:cNvPr id="29" name="Shape 27"/>
          <p:cNvSpPr/>
          <p:nvPr/>
        </p:nvSpPr>
        <p:spPr>
          <a:xfrm>
            <a:off x="2923337" y="1892808"/>
            <a:ext cx="907085" cy="351495"/>
          </a:xfrm>
          <a:prstGeom prst="roundRect">
            <a:avLst>
              <a:gd name="adj" fmla="val 15609"/>
            </a:avLst>
          </a:prstGeom>
          <a:solidFill>
            <a:srgbClr val="5A5044"/>
          </a:solidFill>
          <a:ln w="12700">
            <a:solidFill>
              <a:srgbClr val="5A5044"/>
            </a:solidFill>
            <a:prstDash val="solid"/>
          </a:ln>
        </p:spPr>
      </p:sp>
      <p:sp>
        <p:nvSpPr>
          <p:cNvPr id="30" name="Text 28"/>
          <p:cNvSpPr txBox="1"/>
          <p:nvPr/>
        </p:nvSpPr>
        <p:spPr>
          <a:xfrm>
            <a:off x="2923337" y="1926824"/>
            <a:ext cx="907085" cy="158740"/>
          </a:xfrm>
          <a:prstGeom prst="rect">
            <a:avLst/>
          </a:prstGeom>
          <a:noFill/>
          <a:ln/>
        </p:spPr>
        <p:txBody>
          <a:bodyPr wrap="square" lIns="0" tIns="0" rIns="0" bIns="0" rtlCol="0" anchor="t"/>
          <a:lstStyle/>
          <a:p>
            <a:pPr algn="ctr" indent="0" marL="0">
              <a:buNone/>
            </a:pPr>
            <a:r>
              <a:rPr lang="en-US" sz="558" b="1" dirty="0">
                <a:solidFill>
                  <a:srgbClr val="FFFFFF"/>
                </a:solidFill>
                <a:latin typeface="Cambria" pitchFamily="34" charset="0"/>
                <a:ea typeface="Cambria" pitchFamily="34" charset="-122"/>
                <a:cs typeface="Cambria" pitchFamily="34" charset="-120"/>
              </a:rPr>
              <a:t>Geschworenengericht</a:t>
            </a:r>
            <a:endParaRPr lang="en-US" sz="558" dirty="0"/>
          </a:p>
        </p:txBody>
      </p:sp>
      <p:sp>
        <p:nvSpPr>
          <p:cNvPr id="31" name="Text 29"/>
          <p:cNvSpPr txBox="1"/>
          <p:nvPr/>
        </p:nvSpPr>
        <p:spPr>
          <a:xfrm>
            <a:off x="2951683" y="2085564"/>
            <a:ext cx="850392" cy="136063"/>
          </a:xfrm>
          <a:prstGeom prst="rect">
            <a:avLst/>
          </a:prstGeom>
          <a:noFill/>
          <a:ln/>
        </p:spPr>
        <p:txBody>
          <a:bodyPr wrap="square" lIns="0" tIns="0" rIns="0" bIns="0" rtlCol="0" anchor="t"/>
          <a:lstStyle/>
          <a:p>
            <a:pPr algn="ctr" indent="0" marL="0">
              <a:buNone/>
            </a:pPr>
            <a:r>
              <a:rPr lang="en-US" sz="527" dirty="0">
                <a:solidFill>
                  <a:srgbClr val="FFFFFF"/>
                </a:solidFill>
                <a:latin typeface="Calibri" pitchFamily="34" charset="0"/>
                <a:ea typeface="Calibri" pitchFamily="34" charset="-122"/>
                <a:cs typeface="Calibri" pitchFamily="34" charset="-120"/>
              </a:rPr>
              <a:t>jeder Bürger darf klagen</a:t>
            </a:r>
            <a:endParaRPr lang="en-US" sz="527" dirty="0"/>
          </a:p>
        </p:txBody>
      </p:sp>
      <p:sp>
        <p:nvSpPr>
          <p:cNvPr id="32" name="Shape 30"/>
          <p:cNvSpPr/>
          <p:nvPr/>
        </p:nvSpPr>
        <p:spPr>
          <a:xfrm flipV="1">
            <a:off x="950427" y="2255642"/>
            <a:ext cx="914" cy="232440"/>
          </a:xfrm>
          <a:prstGeom prst="line">
            <a:avLst/>
          </a:prstGeom>
          <a:noFill/>
          <a:ln w="15748">
            <a:solidFill>
              <a:srgbClr val="AD4426"/>
            </a:solidFill>
            <a:prstDash val="solid"/>
            <a:tailEnd type="triangle"/>
          </a:ln>
        </p:spPr>
      </p:sp>
      <p:sp>
        <p:nvSpPr>
          <p:cNvPr id="33" name="Shape 31"/>
          <p:cNvSpPr/>
          <p:nvPr/>
        </p:nvSpPr>
        <p:spPr>
          <a:xfrm flipV="1">
            <a:off x="1194206" y="2255642"/>
            <a:ext cx="566928" cy="232440"/>
          </a:xfrm>
          <a:prstGeom prst="line">
            <a:avLst/>
          </a:prstGeom>
          <a:noFill/>
          <a:ln w="15748">
            <a:solidFill>
              <a:srgbClr val="D9A441"/>
            </a:solidFill>
            <a:prstDash val="solid"/>
            <a:tailEnd type="triangle"/>
          </a:ln>
        </p:spPr>
      </p:sp>
      <p:sp>
        <p:nvSpPr>
          <p:cNvPr id="34" name="Shape 32"/>
          <p:cNvSpPr/>
          <p:nvPr/>
        </p:nvSpPr>
        <p:spPr>
          <a:xfrm flipV="1">
            <a:off x="1738457" y="2255642"/>
            <a:ext cx="362834" cy="232440"/>
          </a:xfrm>
          <a:prstGeom prst="line">
            <a:avLst/>
          </a:prstGeom>
          <a:noFill/>
          <a:ln w="15748">
            <a:solidFill>
              <a:srgbClr val="D9A441"/>
            </a:solidFill>
            <a:prstDash val="solid"/>
            <a:tailEnd type="triangle"/>
          </a:ln>
        </p:spPr>
      </p:sp>
      <p:sp>
        <p:nvSpPr>
          <p:cNvPr id="35" name="Shape 33"/>
          <p:cNvSpPr/>
          <p:nvPr/>
        </p:nvSpPr>
        <p:spPr>
          <a:xfrm flipH="1" flipV="1">
            <a:off x="2498141" y="2255642"/>
            <a:ext cx="68031" cy="232440"/>
          </a:xfrm>
          <a:prstGeom prst="line">
            <a:avLst/>
          </a:prstGeom>
          <a:noFill/>
          <a:ln w="15748">
            <a:solidFill>
              <a:srgbClr val="D9A441"/>
            </a:solidFill>
            <a:prstDash val="solid"/>
            <a:tailEnd type="triangle"/>
          </a:ln>
        </p:spPr>
      </p:sp>
      <p:sp>
        <p:nvSpPr>
          <p:cNvPr id="36" name="Shape 34"/>
          <p:cNvSpPr/>
          <p:nvPr/>
        </p:nvSpPr>
        <p:spPr>
          <a:xfrm flipV="1">
            <a:off x="797357" y="1688714"/>
            <a:ext cx="914" cy="192756"/>
          </a:xfrm>
          <a:prstGeom prst="line">
            <a:avLst/>
          </a:prstGeom>
          <a:noFill/>
          <a:ln w="13780">
            <a:solidFill>
              <a:srgbClr val="2B2318"/>
            </a:solidFill>
            <a:prstDash val="solid"/>
            <a:tailEnd type="triangle"/>
          </a:ln>
        </p:spPr>
      </p:sp>
      <p:sp>
        <p:nvSpPr>
          <p:cNvPr id="37" name="Text 35"/>
          <p:cNvSpPr txBox="1"/>
          <p:nvPr/>
        </p:nvSpPr>
        <p:spPr>
          <a:xfrm>
            <a:off x="842711" y="1722730"/>
            <a:ext cx="793699" cy="124724"/>
          </a:xfrm>
          <a:prstGeom prst="rect">
            <a:avLst/>
          </a:prstGeom>
          <a:noFill/>
          <a:ln/>
        </p:spPr>
        <p:txBody>
          <a:bodyPr wrap="square" lIns="0" tIns="0" rIns="0" bIns="0" rtlCol="0" anchor="t"/>
          <a:lstStyle/>
          <a:p>
            <a:pPr indent="0" marL="0">
              <a:buNone/>
            </a:pPr>
            <a:r>
              <a:rPr lang="en-US" sz="496" dirty="0">
                <a:solidFill>
                  <a:srgbClr val="5A5044"/>
                </a:solidFill>
                <a:latin typeface="Calibri" pitchFamily="34" charset="0"/>
                <a:ea typeface="Calibri" pitchFamily="34" charset="-122"/>
                <a:cs typeface="Calibri" pitchFamily="34" charset="-120"/>
              </a:rPr>
              <a:t>ehemalige Archonten</a:t>
            </a:r>
            <a:endParaRPr lang="en-US" sz="496" dirty="0"/>
          </a:p>
        </p:txBody>
      </p:sp>
      <p:sp>
        <p:nvSpPr>
          <p:cNvPr id="38" name="Shape 36"/>
          <p:cNvSpPr/>
          <p:nvPr/>
        </p:nvSpPr>
        <p:spPr>
          <a:xfrm flipV="1">
            <a:off x="3405226" y="2255642"/>
            <a:ext cx="914" cy="164409"/>
          </a:xfrm>
          <a:prstGeom prst="line">
            <a:avLst/>
          </a:prstGeom>
          <a:noFill/>
          <a:ln w="13780">
            <a:solidFill>
              <a:srgbClr val="5A5044"/>
            </a:solidFill>
            <a:prstDash val="solid"/>
            <a:tailEnd type="triangle"/>
          </a:ln>
        </p:spPr>
      </p:sp>
      <p:sp>
        <p:nvSpPr>
          <p:cNvPr id="39" name="Text 37"/>
          <p:cNvSpPr txBox="1"/>
          <p:nvPr/>
        </p:nvSpPr>
        <p:spPr>
          <a:xfrm>
            <a:off x="3433572" y="2289658"/>
            <a:ext cx="453542" cy="113386"/>
          </a:xfrm>
          <a:prstGeom prst="rect">
            <a:avLst/>
          </a:prstGeom>
          <a:noFill/>
          <a:ln/>
        </p:spPr>
        <p:txBody>
          <a:bodyPr wrap="square" lIns="0" tIns="0" rIns="0" bIns="0" rtlCol="0" anchor="t"/>
          <a:lstStyle/>
          <a:p>
            <a:pPr indent="0" marL="0">
              <a:buNone/>
            </a:pPr>
            <a:r>
              <a:rPr lang="en-US" sz="465" dirty="0">
                <a:solidFill>
                  <a:srgbClr val="5A5044"/>
                </a:solidFill>
                <a:latin typeface="Calibri" pitchFamily="34" charset="0"/>
                <a:ea typeface="Calibri" pitchFamily="34" charset="-122"/>
                <a:cs typeface="Calibri" pitchFamily="34" charset="-120"/>
              </a:rPr>
              <a:t>alle Bürger</a:t>
            </a:r>
            <a:endParaRPr lang="en-US" sz="465" dirty="0"/>
          </a:p>
        </p:txBody>
      </p:sp>
      <p:sp>
        <p:nvSpPr>
          <p:cNvPr id="40" name="Text 38"/>
          <p:cNvSpPr txBox="1"/>
          <p:nvPr/>
        </p:nvSpPr>
        <p:spPr>
          <a:xfrm>
            <a:off x="1449324" y="1382573"/>
            <a:ext cx="1474013" cy="283464"/>
          </a:xfrm>
          <a:prstGeom prst="rect">
            <a:avLst/>
          </a:prstGeom>
          <a:noFill/>
          <a:ln/>
        </p:spPr>
        <p:txBody>
          <a:bodyPr wrap="square" lIns="0" tIns="0" rIns="0" bIns="0" rtlCol="0" anchor="t"/>
          <a:lstStyle/>
          <a:p>
            <a:pPr indent="0" marL="0">
              <a:buNone/>
            </a:pPr>
            <a:r>
              <a:rPr lang="en-US" sz="527" i="1" dirty="0">
                <a:solidFill>
                  <a:srgbClr val="5A5044"/>
                </a:solidFill>
                <a:latin typeface="Calibri" pitchFamily="34" charset="0"/>
                <a:ea typeface="Calibri" pitchFamily="34" charset="-122"/>
                <a:cs typeface="Calibri" pitchFamily="34" charset="-120"/>
              </a:rPr>
              <a:t>Pfeile in die Ämter: Wer darf gewählt werden? Theten: nur wählen.</a:t>
            </a:r>
            <a:endParaRPr lang="en-US" sz="527" dirty="0"/>
          </a:p>
        </p:txBody>
      </p:sp>
      <p:sp>
        <p:nvSpPr>
          <p:cNvPr id="41" name="Text 39"/>
          <p:cNvSpPr txBox="1"/>
          <p:nvPr/>
        </p:nvSpPr>
        <p:spPr>
          <a:xfrm>
            <a:off x="4114800" y="1280160"/>
            <a:ext cx="310896" cy="310896"/>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42" name="Text 40"/>
          <p:cNvSpPr txBox="1"/>
          <p:nvPr/>
        </p:nvSpPr>
        <p:spPr>
          <a:xfrm>
            <a:off x="4526280" y="1234440"/>
            <a:ext cx="4160520" cy="640080"/>
          </a:xfrm>
          <a:prstGeom prst="rect">
            <a:avLst/>
          </a:prstGeom>
          <a:noFill/>
          <a:ln/>
        </p:spPr>
        <p:txBody>
          <a:bodyPr wrap="square" lIns="0" tIns="0" rIns="0" bIns="0" rtlCol="0" anchor="ctr"/>
          <a:lstStyle/>
          <a:p>
            <a:pPr indent="0" marL="0">
              <a:buNone/>
            </a:pPr>
            <a:r>
              <a:rPr lang="en-US" sz="1050" dirty="0">
                <a:solidFill>
                  <a:srgbClr val="2B2318"/>
                </a:solidFill>
                <a:latin typeface="Calibri" pitchFamily="34" charset="0"/>
                <a:ea typeface="Calibri" pitchFamily="34" charset="-122"/>
                <a:cs typeface="Calibri" pitchFamily="34" charset="-120"/>
              </a:rPr>
              <a:t>Das Schaubild zeigt die Verfassung Athens nach Solons Reform von 594 v. Chr.</a:t>
            </a:r>
            <a:endParaRPr lang="en-US" sz="1050" dirty="0"/>
          </a:p>
        </p:txBody>
      </p:sp>
      <p:sp>
        <p:nvSpPr>
          <p:cNvPr id="43" name="Text 41"/>
          <p:cNvSpPr txBox="1"/>
          <p:nvPr/>
        </p:nvSpPr>
        <p:spPr>
          <a:xfrm>
            <a:off x="4114800" y="1947672"/>
            <a:ext cx="310896" cy="310896"/>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44" name="Text 42"/>
          <p:cNvSpPr txBox="1"/>
          <p:nvPr/>
        </p:nvSpPr>
        <p:spPr>
          <a:xfrm>
            <a:off x="4526280" y="1901952"/>
            <a:ext cx="4160520" cy="640080"/>
          </a:xfrm>
          <a:prstGeom prst="rect">
            <a:avLst/>
          </a:prstGeom>
          <a:noFill/>
          <a:ln/>
        </p:spPr>
        <p:txBody>
          <a:bodyPr wrap="square" lIns="0" tIns="0" rIns="0" bIns="0" rtlCol="0" anchor="ctr"/>
          <a:lstStyle/>
          <a:p>
            <a:pPr indent="0" marL="0">
              <a:buNone/>
            </a:pPr>
            <a:r>
              <a:rPr lang="en-US" sz="1050" dirty="0">
                <a:solidFill>
                  <a:srgbClr val="2B2318"/>
                </a:solidFill>
                <a:latin typeface="Calibri" pitchFamily="34" charset="0"/>
                <a:ea typeface="Calibri" pitchFamily="34" charset="-122"/>
                <a:cs typeface="Calibri" pitchFamily="34" charset="-120"/>
              </a:rPr>
              <a:t>Grundlage sind die Bürger über 20 Jahre, eingeteilt nach ihrem Besitz in vier Klassen.</a:t>
            </a:r>
            <a:endParaRPr lang="en-US" sz="1050" dirty="0"/>
          </a:p>
        </p:txBody>
      </p:sp>
      <p:sp>
        <p:nvSpPr>
          <p:cNvPr id="45" name="Text 43"/>
          <p:cNvSpPr txBox="1"/>
          <p:nvPr/>
        </p:nvSpPr>
        <p:spPr>
          <a:xfrm>
            <a:off x="4114800" y="2615184"/>
            <a:ext cx="310896" cy="310896"/>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46" name="Text 44"/>
          <p:cNvSpPr txBox="1"/>
          <p:nvPr/>
        </p:nvSpPr>
        <p:spPr>
          <a:xfrm>
            <a:off x="4526280" y="2569464"/>
            <a:ext cx="4160520" cy="640080"/>
          </a:xfrm>
          <a:prstGeom prst="rect">
            <a:avLst/>
          </a:prstGeom>
          <a:noFill/>
          <a:ln/>
        </p:spPr>
        <p:txBody>
          <a:bodyPr wrap="square" lIns="0" tIns="0" rIns="0" bIns="0" rtlCol="0" anchor="ctr"/>
          <a:lstStyle/>
          <a:p>
            <a:pPr indent="0" marL="0">
              <a:buNone/>
            </a:pPr>
            <a:r>
              <a:rPr lang="en-US" sz="1050" dirty="0">
                <a:solidFill>
                  <a:srgbClr val="2B2318"/>
                </a:solidFill>
                <a:latin typeface="Calibri" pitchFamily="34" charset="0"/>
                <a:ea typeface="Calibri" pitchFamily="34" charset="-122"/>
                <a:cs typeface="Calibri" pitchFamily="34" charset="-120"/>
              </a:rPr>
              <a:t>Alle bilden die Volksversammlung, die Gesetze beschließt. Der Rat der 400 bereitet sie vor, neun Archonten leiten den Staat, der Areopag führt die Aufsicht. Jeder Bürger darf vor dem Geschworenengericht klagen.</a:t>
            </a:r>
            <a:endParaRPr lang="en-US" sz="1050" dirty="0"/>
          </a:p>
        </p:txBody>
      </p:sp>
      <p:sp>
        <p:nvSpPr>
          <p:cNvPr id="47" name="Text 45"/>
          <p:cNvSpPr txBox="1"/>
          <p:nvPr/>
        </p:nvSpPr>
        <p:spPr>
          <a:xfrm>
            <a:off x="4114800" y="3282696"/>
            <a:ext cx="310896" cy="310896"/>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48" name="Text 46"/>
          <p:cNvSpPr txBox="1"/>
          <p:nvPr/>
        </p:nvSpPr>
        <p:spPr>
          <a:xfrm>
            <a:off x="4526280" y="3236976"/>
            <a:ext cx="4160520" cy="640080"/>
          </a:xfrm>
          <a:prstGeom prst="rect">
            <a:avLst/>
          </a:prstGeom>
          <a:noFill/>
          <a:ln/>
        </p:spPr>
        <p:txBody>
          <a:bodyPr wrap="square" lIns="0" tIns="0" rIns="0" bIns="0" rtlCol="0" anchor="ctr"/>
          <a:lstStyle/>
          <a:p>
            <a:pPr indent="0" marL="0">
              <a:buNone/>
            </a:pPr>
            <a:r>
              <a:rPr lang="en-US" sz="1050" dirty="0">
                <a:solidFill>
                  <a:srgbClr val="2B2318"/>
                </a:solidFill>
                <a:latin typeface="Calibri" pitchFamily="34" charset="0"/>
                <a:ea typeface="Calibri" pitchFamily="34" charset="-122"/>
                <a:cs typeface="Calibri" pitchFamily="34" charset="-120"/>
              </a:rPr>
              <a:t>Die Pfeile zeigen: Archont kann nur die 1. Klasse werden, in den Rat die Klassen 1–3. Die Theten dürfen nur wählen.</a:t>
            </a:r>
            <a:endParaRPr lang="en-US" sz="1050" dirty="0"/>
          </a:p>
        </p:txBody>
      </p:sp>
      <p:sp>
        <p:nvSpPr>
          <p:cNvPr id="49" name="Text 47"/>
          <p:cNvSpPr txBox="1"/>
          <p:nvPr/>
        </p:nvSpPr>
        <p:spPr>
          <a:xfrm>
            <a:off x="4114800" y="3950208"/>
            <a:ext cx="310896" cy="310896"/>
          </a:xfrm>
          <a:prstGeom prst="ellipse">
            <a:avLst/>
          </a:prstGeom>
          <a:solidFill>
            <a:srgbClr val="AD4426"/>
          </a:solid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50" name="Text 48"/>
          <p:cNvSpPr txBox="1"/>
          <p:nvPr/>
        </p:nvSpPr>
        <p:spPr>
          <a:xfrm>
            <a:off x="4526280" y="3904488"/>
            <a:ext cx="4160520" cy="640080"/>
          </a:xfrm>
          <a:prstGeom prst="rect">
            <a:avLst/>
          </a:prstGeom>
          <a:noFill/>
          <a:ln/>
        </p:spPr>
        <p:txBody>
          <a:bodyPr wrap="square" lIns="0" tIns="0" rIns="0" bIns="0" rtlCol="0" anchor="ctr"/>
          <a:lstStyle/>
          <a:p>
            <a:pPr indent="0" marL="0">
              <a:buNone/>
            </a:pPr>
            <a:r>
              <a:rPr lang="en-US" sz="1050" dirty="0">
                <a:solidFill>
                  <a:srgbClr val="2B2318"/>
                </a:solidFill>
                <a:latin typeface="Calibri" pitchFamily="34" charset="0"/>
                <a:ea typeface="Calibri" pitchFamily="34" charset="-122"/>
                <a:cs typeface="Calibri" pitchFamily="34" charset="-120"/>
              </a:rPr>
              <a:t>Insgesamt liegt die Macht bei den Reichen. Ausgeschlossen sind Frauen, Sklaven und Fremde.</a:t>
            </a:r>
            <a:endParaRPr lang="en-US" sz="1050" dirty="0"/>
          </a:p>
        </p:txBody>
      </p:sp>
      <p:sp>
        <p:nvSpPr>
          <p:cNvPr id="51" name="Text 49"/>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52" name="Text 50"/>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PLENUM · TAFEL</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Wer gewinnt, wer verliert?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Min.</a:t>
            </a:r>
            <a:endParaRPr lang="en-US" sz="1100" dirty="0"/>
          </a:p>
        </p:txBody>
      </p:sp>
      <p:sp>
        <p:nvSpPr>
          <p:cNvPr id="5" name="Text 3"/>
          <p:cNvSpPr txBox="1"/>
          <p:nvPr/>
        </p:nvSpPr>
        <p:spPr>
          <a:xfrm>
            <a:off x="457200" y="118872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960120" y="1152144"/>
            <a:ext cx="7726680" cy="51206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Nimm eine Figurenkarte und überlege: Was hat diese Person durch Solon gewonnen, was hat sie verloren?</a:t>
            </a:r>
            <a:endParaRPr lang="en-US" sz="1300" dirty="0"/>
          </a:p>
        </p:txBody>
      </p:sp>
      <p:sp>
        <p:nvSpPr>
          <p:cNvPr id="7" name="Text 5"/>
          <p:cNvSpPr txBox="1"/>
          <p:nvPr/>
        </p:nvSpPr>
        <p:spPr>
          <a:xfrm>
            <a:off x="457200" y="1737360"/>
            <a:ext cx="365760" cy="365760"/>
          </a:xfrm>
          <a:prstGeom prst="ellipse">
            <a:avLst/>
          </a:prstGeom>
          <a:solidFill>
            <a:srgbClr val="AD4426"/>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8" name="Text 6"/>
          <p:cNvSpPr txBox="1"/>
          <p:nvPr/>
        </p:nvSpPr>
        <p:spPr>
          <a:xfrm>
            <a:off x="960120" y="1700784"/>
            <a:ext cx="7726680" cy="512064"/>
          </a:xfrm>
          <a:prstGeom prst="rect">
            <a:avLst/>
          </a:prstGeom>
          <a:noFill/>
          <a:ln/>
        </p:spPr>
        <p:txBody>
          <a:bodyPr wrap="square" lIns="0" tIns="0" rIns="0" bIns="0" rtlCol="0" anchor="ctr"/>
          <a:lstStyle/>
          <a:p>
            <a:pPr indent="0" marL="0">
              <a:buNone/>
            </a:pPr>
            <a:r>
              <a:rPr lang="en-US" sz="1300" dirty="0">
                <a:solidFill>
                  <a:srgbClr val="2B2318"/>
                </a:solidFill>
                <a:latin typeface="Calibri" pitchFamily="34" charset="0"/>
                <a:ea typeface="Calibri" pitchFamily="34" charset="-122"/>
                <a:cs typeface="Calibri" pitchFamily="34" charset="-120"/>
              </a:rPr>
              <a:t>Hänge die Karte an die passende Stelle der Linie an der Tafel und begründe in einem Satz.</a:t>
            </a:r>
            <a:endParaRPr lang="en-US" sz="1300" dirty="0"/>
          </a:p>
        </p:txBody>
      </p:sp>
      <p:sp>
        <p:nvSpPr>
          <p:cNvPr id="9" name="Shape 7"/>
          <p:cNvSpPr/>
          <p:nvPr/>
        </p:nvSpPr>
        <p:spPr>
          <a:xfrm>
            <a:off x="731520" y="2606040"/>
            <a:ext cx="7680960" cy="0"/>
          </a:xfrm>
          <a:prstGeom prst="line">
            <a:avLst/>
          </a:prstGeom>
          <a:noFill/>
          <a:ln w="38100">
            <a:solidFill>
              <a:srgbClr val="2B2318"/>
            </a:solidFill>
            <a:prstDash val="solid"/>
            <a:headEnd type="triangle"/>
            <a:tailEnd type="triangle"/>
          </a:ln>
        </p:spPr>
      </p:sp>
      <p:sp>
        <p:nvSpPr>
          <p:cNvPr id="10" name="Text 8"/>
          <p:cNvSpPr txBox="1"/>
          <p:nvPr/>
        </p:nvSpPr>
        <p:spPr>
          <a:xfrm>
            <a:off x="457200" y="2697480"/>
            <a:ext cx="1371600" cy="274320"/>
          </a:xfrm>
          <a:prstGeom prst="rect">
            <a:avLst/>
          </a:prstGeom>
          <a:noFill/>
          <a:ln/>
        </p:spPr>
        <p:txBody>
          <a:bodyPr wrap="square" lIns="0" tIns="0" rIns="0" bIns="0" rtlCol="0" anchor="t"/>
          <a:lstStyle/>
          <a:p>
            <a:pPr indent="0" marL="0">
              <a:buNone/>
            </a:pPr>
            <a:r>
              <a:rPr lang="en-US" sz="1400" b="1" dirty="0">
                <a:solidFill>
                  <a:srgbClr val="AD4426"/>
                </a:solidFill>
                <a:latin typeface="Calibri" pitchFamily="34" charset="0"/>
                <a:ea typeface="Calibri" pitchFamily="34" charset="-122"/>
                <a:cs typeface="Calibri" pitchFamily="34" charset="-120"/>
              </a:rPr>
              <a:t>verliert</a:t>
            </a:r>
            <a:endParaRPr lang="en-US" sz="1400" dirty="0"/>
          </a:p>
        </p:txBody>
      </p:sp>
      <p:sp>
        <p:nvSpPr>
          <p:cNvPr id="11" name="Text 9"/>
          <p:cNvSpPr txBox="1"/>
          <p:nvPr/>
        </p:nvSpPr>
        <p:spPr>
          <a:xfrm>
            <a:off x="7315200" y="2697480"/>
            <a:ext cx="1371600" cy="274320"/>
          </a:xfrm>
          <a:prstGeom prst="rect">
            <a:avLst/>
          </a:prstGeom>
          <a:noFill/>
          <a:ln/>
        </p:spPr>
        <p:txBody>
          <a:bodyPr wrap="square" lIns="0" tIns="0" rIns="0" bIns="0" rtlCol="0" anchor="t"/>
          <a:lstStyle/>
          <a:p>
            <a:pPr algn="r" indent="0" marL="0">
              <a:buNone/>
            </a:pPr>
            <a:r>
              <a:rPr lang="en-US" sz="1400" b="1" dirty="0">
                <a:solidFill>
                  <a:srgbClr val="3C783C"/>
                </a:solidFill>
                <a:latin typeface="Calibri" pitchFamily="34" charset="0"/>
                <a:ea typeface="Calibri" pitchFamily="34" charset="-122"/>
                <a:cs typeface="Calibri" pitchFamily="34" charset="-120"/>
              </a:rPr>
              <a:t>gewinnt</a:t>
            </a:r>
            <a:endParaRPr lang="en-US" sz="1400" dirty="0"/>
          </a:p>
        </p:txBody>
      </p:sp>
      <p:sp>
        <p:nvSpPr>
          <p:cNvPr id="12" name="Text 10"/>
          <p:cNvSpPr txBox="1"/>
          <p:nvPr/>
        </p:nvSpPr>
        <p:spPr>
          <a:xfrm>
            <a:off x="457200" y="3154680"/>
            <a:ext cx="2606040" cy="411480"/>
          </a:xfrm>
          <a:prstGeom prst="roundRect">
            <a:avLst>
              <a:gd name="adj" fmla="val 22222"/>
            </a:avLst>
          </a:prstGeom>
          <a:solidFill>
            <a:srgbClr val="F4ECDE"/>
          </a:solidFill>
          <a:ln/>
        </p:spPr>
        <p:txBody>
          <a:bodyPr wrap="square" lIns="25400" tIns="25400" rIns="25400" bIns="25400" rtlCol="0" anchor="ctr"/>
          <a:lstStyle/>
          <a:p>
            <a:pPr algn="ctr" indent="0" marL="0">
              <a:buNone/>
            </a:pPr>
            <a:r>
              <a:rPr lang="en-US" sz="1250" b="1" dirty="0">
                <a:solidFill>
                  <a:srgbClr val="2B2318"/>
                </a:solidFill>
                <a:latin typeface="Calibri" pitchFamily="34" charset="0"/>
                <a:ea typeface="Calibri" pitchFamily="34" charset="-122"/>
                <a:cs typeface="Calibri" pitchFamily="34" charset="-120"/>
              </a:rPr>
              <a:t>Kleinbauer</a:t>
            </a:r>
            <a:endParaRPr lang="en-US" sz="1250" dirty="0"/>
          </a:p>
        </p:txBody>
      </p:sp>
      <p:sp>
        <p:nvSpPr>
          <p:cNvPr id="13" name="Text 11"/>
          <p:cNvSpPr txBox="1"/>
          <p:nvPr/>
        </p:nvSpPr>
        <p:spPr>
          <a:xfrm>
            <a:off x="3246120" y="3154680"/>
            <a:ext cx="2606040" cy="411480"/>
          </a:xfrm>
          <a:prstGeom prst="roundRect">
            <a:avLst>
              <a:gd name="adj" fmla="val 22222"/>
            </a:avLst>
          </a:prstGeom>
          <a:solidFill>
            <a:srgbClr val="F4ECDE"/>
          </a:solidFill>
          <a:ln/>
        </p:spPr>
        <p:txBody>
          <a:bodyPr wrap="square" lIns="25400" tIns="25400" rIns="25400" bIns="25400" rtlCol="0" anchor="ctr"/>
          <a:lstStyle/>
          <a:p>
            <a:pPr algn="ctr" indent="0" marL="0">
              <a:buNone/>
            </a:pPr>
            <a:r>
              <a:rPr lang="en-US" sz="1250" b="1" dirty="0">
                <a:solidFill>
                  <a:srgbClr val="2B2318"/>
                </a:solidFill>
                <a:latin typeface="Calibri" pitchFamily="34" charset="0"/>
                <a:ea typeface="Calibri" pitchFamily="34" charset="-122"/>
                <a:cs typeface="Calibri" pitchFamily="34" charset="-120"/>
              </a:rPr>
              <a:t>Großgrundbesitzer</a:t>
            </a:r>
            <a:endParaRPr lang="en-US" sz="1250" dirty="0"/>
          </a:p>
        </p:txBody>
      </p:sp>
      <p:sp>
        <p:nvSpPr>
          <p:cNvPr id="14" name="Text 12"/>
          <p:cNvSpPr txBox="1"/>
          <p:nvPr/>
        </p:nvSpPr>
        <p:spPr>
          <a:xfrm>
            <a:off x="6035040" y="3154680"/>
            <a:ext cx="2606040" cy="411480"/>
          </a:xfrm>
          <a:prstGeom prst="roundRect">
            <a:avLst>
              <a:gd name="adj" fmla="val 22222"/>
            </a:avLst>
          </a:prstGeom>
          <a:solidFill>
            <a:srgbClr val="F4ECDE"/>
          </a:solidFill>
          <a:ln/>
        </p:spPr>
        <p:txBody>
          <a:bodyPr wrap="square" lIns="25400" tIns="25400" rIns="25400" bIns="25400" rtlCol="0" anchor="ctr"/>
          <a:lstStyle/>
          <a:p>
            <a:pPr algn="ctr" indent="0" marL="0">
              <a:buNone/>
            </a:pPr>
            <a:r>
              <a:rPr lang="en-US" sz="1250" b="1" dirty="0">
                <a:solidFill>
                  <a:srgbClr val="2B2318"/>
                </a:solidFill>
                <a:latin typeface="Calibri" pitchFamily="34" charset="0"/>
                <a:ea typeface="Calibri" pitchFamily="34" charset="-122"/>
                <a:cs typeface="Calibri" pitchFamily="34" charset="-120"/>
              </a:rPr>
              <a:t>Reicher Händler</a:t>
            </a:r>
            <a:endParaRPr lang="en-US" sz="1250" dirty="0"/>
          </a:p>
        </p:txBody>
      </p:sp>
      <p:sp>
        <p:nvSpPr>
          <p:cNvPr id="15" name="Text 13"/>
          <p:cNvSpPr txBox="1"/>
          <p:nvPr/>
        </p:nvSpPr>
        <p:spPr>
          <a:xfrm>
            <a:off x="457200" y="3657600"/>
            <a:ext cx="2606040" cy="411480"/>
          </a:xfrm>
          <a:prstGeom prst="roundRect">
            <a:avLst>
              <a:gd name="adj" fmla="val 22222"/>
            </a:avLst>
          </a:prstGeom>
          <a:solidFill>
            <a:srgbClr val="F4ECDE"/>
          </a:solidFill>
          <a:ln/>
        </p:spPr>
        <p:txBody>
          <a:bodyPr wrap="square" lIns="25400" tIns="25400" rIns="25400" bIns="25400" rtlCol="0" anchor="ctr"/>
          <a:lstStyle/>
          <a:p>
            <a:pPr algn="ctr" indent="0" marL="0">
              <a:buNone/>
            </a:pPr>
            <a:r>
              <a:rPr lang="en-US" sz="1250" b="1" dirty="0">
                <a:solidFill>
                  <a:srgbClr val="2B2318"/>
                </a:solidFill>
                <a:latin typeface="Calibri" pitchFamily="34" charset="0"/>
                <a:ea typeface="Calibri" pitchFamily="34" charset="-122"/>
                <a:cs typeface="Calibri" pitchFamily="34" charset="-120"/>
              </a:rPr>
              <a:t>Verarmter Adliger</a:t>
            </a:r>
            <a:endParaRPr lang="en-US" sz="1250" dirty="0"/>
          </a:p>
        </p:txBody>
      </p:sp>
      <p:sp>
        <p:nvSpPr>
          <p:cNvPr id="16" name="Text 14"/>
          <p:cNvSpPr txBox="1"/>
          <p:nvPr/>
        </p:nvSpPr>
        <p:spPr>
          <a:xfrm>
            <a:off x="3246120" y="3657600"/>
            <a:ext cx="2606040" cy="411480"/>
          </a:xfrm>
          <a:prstGeom prst="roundRect">
            <a:avLst>
              <a:gd name="adj" fmla="val 22222"/>
            </a:avLst>
          </a:prstGeom>
          <a:solidFill>
            <a:srgbClr val="F4ECDE"/>
          </a:solidFill>
          <a:ln/>
        </p:spPr>
        <p:txBody>
          <a:bodyPr wrap="square" lIns="25400" tIns="25400" rIns="25400" bIns="25400" rtlCol="0" anchor="ctr"/>
          <a:lstStyle/>
          <a:p>
            <a:pPr algn="ctr" indent="0" marL="0">
              <a:buNone/>
            </a:pPr>
            <a:r>
              <a:rPr lang="en-US" sz="1250" b="1" dirty="0">
                <a:solidFill>
                  <a:srgbClr val="2B2318"/>
                </a:solidFill>
                <a:latin typeface="Calibri" pitchFamily="34" charset="0"/>
                <a:ea typeface="Calibri" pitchFamily="34" charset="-122"/>
                <a:cs typeface="Calibri" pitchFamily="34" charset="-120"/>
              </a:rPr>
              <a:t>Zurückgekaufter Schuldsklave</a:t>
            </a:r>
            <a:endParaRPr lang="en-US" sz="1250" dirty="0"/>
          </a:p>
        </p:txBody>
      </p:sp>
      <p:sp>
        <p:nvSpPr>
          <p:cNvPr id="17" name="Text 15"/>
          <p:cNvSpPr txBox="1"/>
          <p:nvPr/>
        </p:nvSpPr>
        <p:spPr>
          <a:xfrm>
            <a:off x="6035040" y="3657600"/>
            <a:ext cx="2606040" cy="411480"/>
          </a:xfrm>
          <a:prstGeom prst="roundRect">
            <a:avLst>
              <a:gd name="adj" fmla="val 22222"/>
            </a:avLst>
          </a:prstGeom>
          <a:solidFill>
            <a:srgbClr val="F4ECDE"/>
          </a:solidFill>
          <a:ln/>
        </p:spPr>
        <p:txBody>
          <a:bodyPr wrap="square" lIns="25400" tIns="25400" rIns="25400" bIns="25400" rtlCol="0" anchor="ctr"/>
          <a:lstStyle/>
          <a:p>
            <a:pPr algn="ctr" indent="0" marL="0">
              <a:buNone/>
            </a:pPr>
            <a:r>
              <a:rPr lang="en-US" sz="1250" b="1" dirty="0">
                <a:solidFill>
                  <a:srgbClr val="2B2318"/>
                </a:solidFill>
                <a:latin typeface="Calibri" pitchFamily="34" charset="0"/>
                <a:ea typeface="Calibri" pitchFamily="34" charset="-122"/>
                <a:cs typeface="Calibri" pitchFamily="34" charset="-120"/>
              </a:rPr>
              <a:t>Tagelöhner (Thete)</a:t>
            </a:r>
            <a:endParaRPr lang="en-US" sz="1250" dirty="0"/>
          </a:p>
        </p:txBody>
      </p:sp>
      <p:sp>
        <p:nvSpPr>
          <p:cNvPr id="18" name="Text 1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400" b="1" i="1" dirty="0">
                <a:solidFill>
                  <a:srgbClr val="AD4426"/>
                </a:solidFill>
                <a:latin typeface="Calibri" pitchFamily="34" charset="0"/>
                <a:ea typeface="Calibri" pitchFamily="34" charset="-122"/>
                <a:cs typeface="Calibri" pitchFamily="34" charset="-120"/>
              </a:rPr>
              <a:t>Und wo steht eine Frau?</a:t>
            </a:r>
            <a:endParaRPr lang="en-US" sz="1400" dirty="0"/>
          </a:p>
        </p:txBody>
      </p:sp>
      <p:sp>
        <p:nvSpPr>
          <p:cNvPr id="19" name="Text 17"/>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20" name="Text 18"/>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GEWINNER UND VERLIERER · MÖGLICHE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Wer gewinnt, wer verliert?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Shape 3"/>
          <p:cNvSpPr/>
          <p:nvPr/>
        </p:nvSpPr>
        <p:spPr>
          <a:xfrm>
            <a:off x="731520" y="1481328"/>
            <a:ext cx="7680960" cy="0"/>
          </a:xfrm>
          <a:prstGeom prst="line">
            <a:avLst/>
          </a:prstGeom>
          <a:noFill/>
          <a:ln w="38100">
            <a:solidFill>
              <a:srgbClr val="2B2318"/>
            </a:solidFill>
            <a:prstDash val="solid"/>
            <a:headEnd type="triangle"/>
            <a:tailEnd type="triangle"/>
          </a:ln>
        </p:spPr>
      </p:sp>
      <p:sp>
        <p:nvSpPr>
          <p:cNvPr id="6" name="Text 4"/>
          <p:cNvSpPr txBox="1"/>
          <p:nvPr/>
        </p:nvSpPr>
        <p:spPr>
          <a:xfrm>
            <a:off x="457200" y="1188720"/>
            <a:ext cx="1371600" cy="228600"/>
          </a:xfrm>
          <a:prstGeom prst="rect">
            <a:avLst/>
          </a:prstGeom>
          <a:noFill/>
          <a:ln/>
        </p:spPr>
        <p:txBody>
          <a:bodyPr wrap="square" lIns="0" tIns="0" rIns="0" bIns="0" rtlCol="0" anchor="t"/>
          <a:lstStyle/>
          <a:p>
            <a:pPr indent="0" marL="0">
              <a:buNone/>
            </a:pPr>
            <a:r>
              <a:rPr lang="en-US" sz="1200" b="1" dirty="0">
                <a:solidFill>
                  <a:srgbClr val="AD4426"/>
                </a:solidFill>
                <a:latin typeface="Calibri" pitchFamily="34" charset="0"/>
                <a:ea typeface="Calibri" pitchFamily="34" charset="-122"/>
                <a:cs typeface="Calibri" pitchFamily="34" charset="-120"/>
              </a:rPr>
              <a:t>verliert</a:t>
            </a:r>
            <a:endParaRPr lang="en-US" sz="1200" dirty="0"/>
          </a:p>
        </p:txBody>
      </p:sp>
      <p:sp>
        <p:nvSpPr>
          <p:cNvPr id="7" name="Text 5"/>
          <p:cNvSpPr txBox="1"/>
          <p:nvPr/>
        </p:nvSpPr>
        <p:spPr>
          <a:xfrm>
            <a:off x="7315200" y="1188720"/>
            <a:ext cx="1371600" cy="228600"/>
          </a:xfrm>
          <a:prstGeom prst="rect">
            <a:avLst/>
          </a:prstGeom>
          <a:noFill/>
          <a:ln/>
        </p:spPr>
        <p:txBody>
          <a:bodyPr wrap="square" lIns="0" tIns="0" rIns="0" bIns="0" rtlCol="0" anchor="t"/>
          <a:lstStyle/>
          <a:p>
            <a:pPr algn="r" indent="0" marL="0">
              <a:buNone/>
            </a:pPr>
            <a:r>
              <a:rPr lang="en-US" sz="1200" b="1" dirty="0">
                <a:solidFill>
                  <a:srgbClr val="3C783C"/>
                </a:solidFill>
                <a:latin typeface="Calibri" pitchFamily="34" charset="0"/>
                <a:ea typeface="Calibri" pitchFamily="34" charset="-122"/>
                <a:cs typeface="Calibri" pitchFamily="34" charset="-120"/>
              </a:rPr>
              <a:t>gewinnt</a:t>
            </a:r>
            <a:endParaRPr lang="en-US" sz="1200" dirty="0"/>
          </a:p>
        </p:txBody>
      </p:sp>
      <p:sp>
        <p:nvSpPr>
          <p:cNvPr id="8" name="Shape 6"/>
          <p:cNvSpPr/>
          <p:nvPr/>
        </p:nvSpPr>
        <p:spPr>
          <a:xfrm>
            <a:off x="1110996" y="1481328"/>
            <a:ext cx="0" cy="256032"/>
          </a:xfrm>
          <a:prstGeom prst="line">
            <a:avLst/>
          </a:prstGeom>
          <a:noFill/>
          <a:ln w="12700">
            <a:solidFill>
              <a:srgbClr val="998C77"/>
            </a:solidFill>
            <a:prstDash val="solid"/>
          </a:ln>
        </p:spPr>
      </p:sp>
      <p:sp>
        <p:nvSpPr>
          <p:cNvPr id="9" name="Shape 7"/>
          <p:cNvSpPr/>
          <p:nvPr/>
        </p:nvSpPr>
        <p:spPr>
          <a:xfrm>
            <a:off x="457200" y="1755648"/>
            <a:ext cx="1307592" cy="2103120"/>
          </a:xfrm>
          <a:prstGeom prst="roundRect">
            <a:avLst>
              <a:gd name="adj" fmla="val 5594"/>
            </a:avLst>
          </a:prstGeom>
          <a:solidFill>
            <a:srgbClr val="F4ECDE"/>
          </a:solidFill>
          <a:ln w="12700">
            <a:solidFill>
              <a:srgbClr val="F4ECDE"/>
            </a:solidFill>
            <a:prstDash val="solid"/>
          </a:ln>
        </p:spPr>
      </p:sp>
      <p:sp>
        <p:nvSpPr>
          <p:cNvPr id="10" name="Text 8"/>
          <p:cNvSpPr txBox="1"/>
          <p:nvPr/>
        </p:nvSpPr>
        <p:spPr>
          <a:xfrm>
            <a:off x="530352" y="1828800"/>
            <a:ext cx="1161288" cy="566928"/>
          </a:xfrm>
          <a:prstGeom prst="rect">
            <a:avLst/>
          </a:prstGeom>
          <a:noFill/>
          <a:ln/>
        </p:spPr>
        <p:txBody>
          <a:bodyPr wrap="square" lIns="0" tIns="0" rIns="0" bIns="0" rtlCol="0" anchor="ctr"/>
          <a:lstStyle/>
          <a:p>
            <a:pPr algn="ctr" indent="0" marL="0">
              <a:buNone/>
            </a:pPr>
            <a:r>
              <a:rPr lang="en-US" sz="1200" b="1" dirty="0">
                <a:solidFill>
                  <a:srgbClr val="2B2318"/>
                </a:solidFill>
                <a:latin typeface="Calibri" pitchFamily="34" charset="0"/>
                <a:ea typeface="Calibri" pitchFamily="34" charset="-122"/>
                <a:cs typeface="Calibri" pitchFamily="34" charset="-120"/>
              </a:rPr>
              <a:t>Verarmter Adliger</a:t>
            </a:r>
            <a:endParaRPr lang="en-US" sz="1200" dirty="0"/>
          </a:p>
        </p:txBody>
      </p:sp>
      <p:sp>
        <p:nvSpPr>
          <p:cNvPr id="11" name="Text 9"/>
          <p:cNvSpPr txBox="1"/>
          <p:nvPr/>
        </p:nvSpPr>
        <p:spPr>
          <a:xfrm>
            <a:off x="530352" y="2423160"/>
            <a:ext cx="1161288" cy="13716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verliert Einfluss: Herkunft zählt nicht mehr</a:t>
            </a:r>
            <a:endParaRPr lang="en-US" sz="1050" dirty="0"/>
          </a:p>
        </p:txBody>
      </p:sp>
      <p:sp>
        <p:nvSpPr>
          <p:cNvPr id="12" name="Shape 10"/>
          <p:cNvSpPr/>
          <p:nvPr/>
        </p:nvSpPr>
        <p:spPr>
          <a:xfrm>
            <a:off x="2510028" y="1481328"/>
            <a:ext cx="0" cy="256032"/>
          </a:xfrm>
          <a:prstGeom prst="line">
            <a:avLst/>
          </a:prstGeom>
          <a:noFill/>
          <a:ln w="12700">
            <a:solidFill>
              <a:srgbClr val="998C77"/>
            </a:solidFill>
            <a:prstDash val="solid"/>
          </a:ln>
        </p:spPr>
      </p:sp>
      <p:sp>
        <p:nvSpPr>
          <p:cNvPr id="13" name="Shape 11"/>
          <p:cNvSpPr/>
          <p:nvPr/>
        </p:nvSpPr>
        <p:spPr>
          <a:xfrm>
            <a:off x="1856232" y="1755648"/>
            <a:ext cx="1307592" cy="2103120"/>
          </a:xfrm>
          <a:prstGeom prst="roundRect">
            <a:avLst>
              <a:gd name="adj" fmla="val 5594"/>
            </a:avLst>
          </a:prstGeom>
          <a:solidFill>
            <a:srgbClr val="F4ECDE"/>
          </a:solidFill>
          <a:ln w="12700">
            <a:solidFill>
              <a:srgbClr val="F4ECDE"/>
            </a:solidFill>
            <a:prstDash val="solid"/>
          </a:ln>
        </p:spPr>
      </p:sp>
      <p:sp>
        <p:nvSpPr>
          <p:cNvPr id="14" name="Text 12"/>
          <p:cNvSpPr txBox="1"/>
          <p:nvPr/>
        </p:nvSpPr>
        <p:spPr>
          <a:xfrm>
            <a:off x="1929384" y="1828800"/>
            <a:ext cx="1161288" cy="566928"/>
          </a:xfrm>
          <a:prstGeom prst="rect">
            <a:avLst/>
          </a:prstGeom>
          <a:noFill/>
          <a:ln/>
        </p:spPr>
        <p:txBody>
          <a:bodyPr wrap="square" lIns="0" tIns="0" rIns="0" bIns="0" rtlCol="0" anchor="ctr"/>
          <a:lstStyle/>
          <a:p>
            <a:pPr algn="ctr" indent="0" marL="0">
              <a:buNone/>
            </a:pPr>
            <a:r>
              <a:rPr lang="en-US" sz="1200" b="1" dirty="0">
                <a:solidFill>
                  <a:srgbClr val="2B2318"/>
                </a:solidFill>
                <a:latin typeface="Calibri" pitchFamily="34" charset="0"/>
                <a:ea typeface="Calibri" pitchFamily="34" charset="-122"/>
                <a:cs typeface="Calibri" pitchFamily="34" charset="-120"/>
              </a:rPr>
              <a:t>Großgrund­besitzer</a:t>
            </a:r>
            <a:endParaRPr lang="en-US" sz="1200" dirty="0"/>
          </a:p>
        </p:txBody>
      </p:sp>
      <p:sp>
        <p:nvSpPr>
          <p:cNvPr id="15" name="Text 13"/>
          <p:cNvSpPr txBox="1"/>
          <p:nvPr/>
        </p:nvSpPr>
        <p:spPr>
          <a:xfrm>
            <a:off x="1929384" y="2423160"/>
            <a:ext cx="1161288" cy="13716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verliert Forderungen, behält aber Land und Ämter</a:t>
            </a:r>
            <a:endParaRPr lang="en-US" sz="1050" dirty="0"/>
          </a:p>
        </p:txBody>
      </p:sp>
      <p:sp>
        <p:nvSpPr>
          <p:cNvPr id="16" name="Shape 14"/>
          <p:cNvSpPr/>
          <p:nvPr/>
        </p:nvSpPr>
        <p:spPr>
          <a:xfrm>
            <a:off x="3909060" y="1481328"/>
            <a:ext cx="0" cy="256032"/>
          </a:xfrm>
          <a:prstGeom prst="line">
            <a:avLst/>
          </a:prstGeom>
          <a:noFill/>
          <a:ln w="12700">
            <a:solidFill>
              <a:srgbClr val="998C77"/>
            </a:solidFill>
            <a:prstDash val="solid"/>
          </a:ln>
        </p:spPr>
      </p:sp>
      <p:sp>
        <p:nvSpPr>
          <p:cNvPr id="17" name="Shape 15"/>
          <p:cNvSpPr/>
          <p:nvPr/>
        </p:nvSpPr>
        <p:spPr>
          <a:xfrm>
            <a:off x="3255264" y="1755648"/>
            <a:ext cx="1307592" cy="2103120"/>
          </a:xfrm>
          <a:prstGeom prst="roundRect">
            <a:avLst>
              <a:gd name="adj" fmla="val 5594"/>
            </a:avLst>
          </a:prstGeom>
          <a:solidFill>
            <a:srgbClr val="F4ECDE"/>
          </a:solidFill>
          <a:ln w="12700">
            <a:solidFill>
              <a:srgbClr val="F4ECDE"/>
            </a:solidFill>
            <a:prstDash val="solid"/>
          </a:ln>
        </p:spPr>
      </p:sp>
      <p:sp>
        <p:nvSpPr>
          <p:cNvPr id="18" name="Text 16"/>
          <p:cNvSpPr txBox="1"/>
          <p:nvPr/>
        </p:nvSpPr>
        <p:spPr>
          <a:xfrm>
            <a:off x="3328416" y="1828800"/>
            <a:ext cx="1161288" cy="566928"/>
          </a:xfrm>
          <a:prstGeom prst="rect">
            <a:avLst/>
          </a:prstGeom>
          <a:noFill/>
          <a:ln/>
        </p:spPr>
        <p:txBody>
          <a:bodyPr wrap="square" lIns="0" tIns="0" rIns="0" bIns="0" rtlCol="0" anchor="ctr"/>
          <a:lstStyle/>
          <a:p>
            <a:pPr algn="ctr" indent="0" marL="0">
              <a:buNone/>
            </a:pPr>
            <a:r>
              <a:rPr lang="en-US" sz="1200" b="1" dirty="0">
                <a:solidFill>
                  <a:srgbClr val="2B2318"/>
                </a:solidFill>
                <a:latin typeface="Calibri" pitchFamily="34" charset="0"/>
                <a:ea typeface="Calibri" pitchFamily="34" charset="-122"/>
                <a:cs typeface="Calibri" pitchFamily="34" charset="-120"/>
              </a:rPr>
              <a:t>Tagelöhner (Thete)</a:t>
            </a:r>
            <a:endParaRPr lang="en-US" sz="1200" dirty="0"/>
          </a:p>
        </p:txBody>
      </p:sp>
      <p:sp>
        <p:nvSpPr>
          <p:cNvPr id="19" name="Text 17"/>
          <p:cNvSpPr txBox="1"/>
          <p:nvPr/>
        </p:nvSpPr>
        <p:spPr>
          <a:xfrm>
            <a:off x="3328416" y="2423160"/>
            <a:ext cx="1161288" cy="13716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darf abstimmen, aber nicht gewählt werden</a:t>
            </a:r>
            <a:endParaRPr lang="en-US" sz="1050" dirty="0"/>
          </a:p>
        </p:txBody>
      </p:sp>
      <p:sp>
        <p:nvSpPr>
          <p:cNvPr id="20" name="Shape 18"/>
          <p:cNvSpPr/>
          <p:nvPr/>
        </p:nvSpPr>
        <p:spPr>
          <a:xfrm>
            <a:off x="5308092" y="1481328"/>
            <a:ext cx="0" cy="256032"/>
          </a:xfrm>
          <a:prstGeom prst="line">
            <a:avLst/>
          </a:prstGeom>
          <a:noFill/>
          <a:ln w="12700">
            <a:solidFill>
              <a:srgbClr val="998C77"/>
            </a:solidFill>
            <a:prstDash val="solid"/>
          </a:ln>
        </p:spPr>
      </p:sp>
      <p:sp>
        <p:nvSpPr>
          <p:cNvPr id="21" name="Shape 19"/>
          <p:cNvSpPr/>
          <p:nvPr/>
        </p:nvSpPr>
        <p:spPr>
          <a:xfrm>
            <a:off x="4654296" y="1755648"/>
            <a:ext cx="1307592" cy="2103120"/>
          </a:xfrm>
          <a:prstGeom prst="roundRect">
            <a:avLst>
              <a:gd name="adj" fmla="val 5594"/>
            </a:avLst>
          </a:prstGeom>
          <a:solidFill>
            <a:srgbClr val="F4ECDE"/>
          </a:solidFill>
          <a:ln w="12700">
            <a:solidFill>
              <a:srgbClr val="F4ECDE"/>
            </a:solidFill>
            <a:prstDash val="solid"/>
          </a:ln>
        </p:spPr>
      </p:sp>
      <p:sp>
        <p:nvSpPr>
          <p:cNvPr id="22" name="Text 20"/>
          <p:cNvSpPr txBox="1"/>
          <p:nvPr/>
        </p:nvSpPr>
        <p:spPr>
          <a:xfrm>
            <a:off x="4727448" y="1828800"/>
            <a:ext cx="1161288" cy="566928"/>
          </a:xfrm>
          <a:prstGeom prst="rect">
            <a:avLst/>
          </a:prstGeom>
          <a:noFill/>
          <a:ln/>
        </p:spPr>
        <p:txBody>
          <a:bodyPr wrap="square" lIns="0" tIns="0" rIns="0" bIns="0" rtlCol="0" anchor="ctr"/>
          <a:lstStyle/>
          <a:p>
            <a:pPr algn="ctr" indent="0" marL="0">
              <a:buNone/>
            </a:pPr>
            <a:r>
              <a:rPr lang="en-US" sz="1200" b="1" dirty="0">
                <a:solidFill>
                  <a:srgbClr val="2B2318"/>
                </a:solidFill>
                <a:latin typeface="Calibri" pitchFamily="34" charset="0"/>
                <a:ea typeface="Calibri" pitchFamily="34" charset="-122"/>
                <a:cs typeface="Calibri" pitchFamily="34" charset="-120"/>
              </a:rPr>
              <a:t>Kleinbauer</a:t>
            </a:r>
            <a:endParaRPr lang="en-US" sz="1200" dirty="0"/>
          </a:p>
        </p:txBody>
      </p:sp>
      <p:sp>
        <p:nvSpPr>
          <p:cNvPr id="23" name="Text 21"/>
          <p:cNvSpPr txBox="1"/>
          <p:nvPr/>
        </p:nvSpPr>
        <p:spPr>
          <a:xfrm>
            <a:off x="4727448" y="2423160"/>
            <a:ext cx="1161288" cy="13716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schuldenfrei, aber ohne neues Land</a:t>
            </a:r>
            <a:endParaRPr lang="en-US" sz="1050" dirty="0"/>
          </a:p>
        </p:txBody>
      </p:sp>
      <p:sp>
        <p:nvSpPr>
          <p:cNvPr id="24" name="Shape 22"/>
          <p:cNvSpPr/>
          <p:nvPr/>
        </p:nvSpPr>
        <p:spPr>
          <a:xfrm>
            <a:off x="6707124" y="1481328"/>
            <a:ext cx="0" cy="256032"/>
          </a:xfrm>
          <a:prstGeom prst="line">
            <a:avLst/>
          </a:prstGeom>
          <a:noFill/>
          <a:ln w="12700">
            <a:solidFill>
              <a:srgbClr val="998C77"/>
            </a:solidFill>
            <a:prstDash val="solid"/>
          </a:ln>
        </p:spPr>
      </p:sp>
      <p:sp>
        <p:nvSpPr>
          <p:cNvPr id="25" name="Shape 23"/>
          <p:cNvSpPr/>
          <p:nvPr/>
        </p:nvSpPr>
        <p:spPr>
          <a:xfrm>
            <a:off x="6053328" y="1755648"/>
            <a:ext cx="1307592" cy="2103120"/>
          </a:xfrm>
          <a:prstGeom prst="roundRect">
            <a:avLst>
              <a:gd name="adj" fmla="val 5594"/>
            </a:avLst>
          </a:prstGeom>
          <a:solidFill>
            <a:srgbClr val="F4ECDE"/>
          </a:solidFill>
          <a:ln w="12700">
            <a:solidFill>
              <a:srgbClr val="F4ECDE"/>
            </a:solidFill>
            <a:prstDash val="solid"/>
          </a:ln>
        </p:spPr>
      </p:sp>
      <p:sp>
        <p:nvSpPr>
          <p:cNvPr id="26" name="Text 24"/>
          <p:cNvSpPr txBox="1"/>
          <p:nvPr/>
        </p:nvSpPr>
        <p:spPr>
          <a:xfrm>
            <a:off x="6126480" y="1828800"/>
            <a:ext cx="1161288" cy="566928"/>
          </a:xfrm>
          <a:prstGeom prst="rect">
            <a:avLst/>
          </a:prstGeom>
          <a:noFill/>
          <a:ln/>
        </p:spPr>
        <p:txBody>
          <a:bodyPr wrap="square" lIns="0" tIns="0" rIns="0" bIns="0" rtlCol="0" anchor="ctr"/>
          <a:lstStyle/>
          <a:p>
            <a:pPr algn="ctr" indent="0" marL="0">
              <a:buNone/>
            </a:pPr>
            <a:r>
              <a:rPr lang="en-US" sz="1200" b="1" dirty="0">
                <a:solidFill>
                  <a:srgbClr val="2B2318"/>
                </a:solidFill>
                <a:latin typeface="Calibri" pitchFamily="34" charset="0"/>
                <a:ea typeface="Calibri" pitchFamily="34" charset="-122"/>
                <a:cs typeface="Calibri" pitchFamily="34" charset="-120"/>
              </a:rPr>
              <a:t>Reicher Händler</a:t>
            </a:r>
            <a:endParaRPr lang="en-US" sz="1200" dirty="0"/>
          </a:p>
        </p:txBody>
      </p:sp>
      <p:sp>
        <p:nvSpPr>
          <p:cNvPr id="27" name="Text 25"/>
          <p:cNvSpPr txBox="1"/>
          <p:nvPr/>
        </p:nvSpPr>
        <p:spPr>
          <a:xfrm>
            <a:off x="6126480" y="2423160"/>
            <a:ext cx="1161288" cy="13716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kann durch seinen Besitz Ämter übernehmen</a:t>
            </a:r>
            <a:endParaRPr lang="en-US" sz="1050" dirty="0"/>
          </a:p>
        </p:txBody>
      </p:sp>
      <p:sp>
        <p:nvSpPr>
          <p:cNvPr id="28" name="Shape 26"/>
          <p:cNvSpPr/>
          <p:nvPr/>
        </p:nvSpPr>
        <p:spPr>
          <a:xfrm>
            <a:off x="8106156" y="1481328"/>
            <a:ext cx="0" cy="256032"/>
          </a:xfrm>
          <a:prstGeom prst="line">
            <a:avLst/>
          </a:prstGeom>
          <a:noFill/>
          <a:ln w="12700">
            <a:solidFill>
              <a:srgbClr val="998C77"/>
            </a:solidFill>
            <a:prstDash val="solid"/>
          </a:ln>
        </p:spPr>
      </p:sp>
      <p:sp>
        <p:nvSpPr>
          <p:cNvPr id="29" name="Shape 27"/>
          <p:cNvSpPr/>
          <p:nvPr/>
        </p:nvSpPr>
        <p:spPr>
          <a:xfrm>
            <a:off x="7452360" y="1755648"/>
            <a:ext cx="1307592" cy="2103120"/>
          </a:xfrm>
          <a:prstGeom prst="roundRect">
            <a:avLst>
              <a:gd name="adj" fmla="val 5594"/>
            </a:avLst>
          </a:prstGeom>
          <a:solidFill>
            <a:srgbClr val="F4ECDE"/>
          </a:solidFill>
          <a:ln w="12700">
            <a:solidFill>
              <a:srgbClr val="F4ECDE"/>
            </a:solidFill>
            <a:prstDash val="solid"/>
          </a:ln>
        </p:spPr>
      </p:sp>
      <p:sp>
        <p:nvSpPr>
          <p:cNvPr id="30" name="Text 28"/>
          <p:cNvSpPr txBox="1"/>
          <p:nvPr/>
        </p:nvSpPr>
        <p:spPr>
          <a:xfrm>
            <a:off x="7525512" y="1828800"/>
            <a:ext cx="1161288" cy="566928"/>
          </a:xfrm>
          <a:prstGeom prst="rect">
            <a:avLst/>
          </a:prstGeom>
          <a:noFill/>
          <a:ln/>
        </p:spPr>
        <p:txBody>
          <a:bodyPr wrap="square" lIns="0" tIns="0" rIns="0" bIns="0" rtlCol="0" anchor="ctr"/>
          <a:lstStyle/>
          <a:p>
            <a:pPr algn="ctr" indent="0" marL="0">
              <a:buNone/>
            </a:pPr>
            <a:r>
              <a:rPr lang="en-US" sz="1200" b="1" dirty="0">
                <a:solidFill>
                  <a:srgbClr val="2B2318"/>
                </a:solidFill>
                <a:latin typeface="Calibri" pitchFamily="34" charset="0"/>
                <a:ea typeface="Calibri" pitchFamily="34" charset="-122"/>
                <a:cs typeface="Calibri" pitchFamily="34" charset="-120"/>
              </a:rPr>
              <a:t>Zurück­gekaufter Schuldsklave</a:t>
            </a:r>
            <a:endParaRPr lang="en-US" sz="1200" dirty="0"/>
          </a:p>
        </p:txBody>
      </p:sp>
      <p:sp>
        <p:nvSpPr>
          <p:cNvPr id="31" name="Text 29"/>
          <p:cNvSpPr txBox="1"/>
          <p:nvPr/>
        </p:nvSpPr>
        <p:spPr>
          <a:xfrm>
            <a:off x="7525512" y="2423160"/>
            <a:ext cx="1161288" cy="1371600"/>
          </a:xfrm>
          <a:prstGeom prst="rect">
            <a:avLst/>
          </a:prstGeom>
          <a:noFill/>
          <a:ln/>
        </p:spPr>
        <p:txBody>
          <a:bodyPr wrap="square" lIns="0" tIns="0" rIns="0" bIns="0" rtlCol="0" anchor="t"/>
          <a:lstStyle/>
          <a:p>
            <a:pPr algn="ctr" indent="0" marL="0">
              <a:buNone/>
            </a:pPr>
            <a:r>
              <a:rPr lang="en-US" sz="1050" dirty="0">
                <a:solidFill>
                  <a:srgbClr val="5A5044"/>
                </a:solidFill>
                <a:latin typeface="Calibri" pitchFamily="34" charset="0"/>
                <a:ea typeface="Calibri" pitchFamily="34" charset="-122"/>
                <a:cs typeface="Calibri" pitchFamily="34" charset="-120"/>
              </a:rPr>
              <a:t>wieder frei und Bürger</a:t>
            </a:r>
            <a:endParaRPr lang="en-US" sz="1050" dirty="0"/>
          </a:p>
        </p:txBody>
      </p:sp>
      <p:sp>
        <p:nvSpPr>
          <p:cNvPr id="32" name="Shape 30"/>
          <p:cNvSpPr/>
          <p:nvPr/>
        </p:nvSpPr>
        <p:spPr>
          <a:xfrm>
            <a:off x="457200" y="4023360"/>
            <a:ext cx="8229600" cy="457200"/>
          </a:xfrm>
          <a:prstGeom prst="roundRect">
            <a:avLst>
              <a:gd name="adj" fmla="val 16000"/>
            </a:avLst>
          </a:prstGeom>
          <a:solidFill>
            <a:srgbClr val="2B2318"/>
          </a:solidFill>
          <a:ln w="12700">
            <a:solidFill>
              <a:srgbClr val="2B2318"/>
            </a:solidFill>
            <a:prstDash val="solid"/>
          </a:ln>
        </p:spPr>
      </p:sp>
      <p:sp>
        <p:nvSpPr>
          <p:cNvPr id="33" name="Text 31"/>
          <p:cNvSpPr txBox="1"/>
          <p:nvPr/>
        </p:nvSpPr>
        <p:spPr>
          <a:xfrm>
            <a:off x="640080" y="4023360"/>
            <a:ext cx="786384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Frau eines Bürgers: steht nicht auf der Linie. Sie kommt in Solons Reform gar nicht vor.</a:t>
            </a:r>
            <a:endParaRPr lang="en-US" sz="1200" dirty="0"/>
          </a:p>
        </p:txBody>
      </p:sp>
      <p:sp>
        <p:nvSpPr>
          <p:cNvPr id="34" name="Text 32"/>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35" name="Text 33"/>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EINZELARBEIT · HEFT</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Hielt Solon den Schild über beide?</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2B2318"/>
          </a:solidFill>
          <a:ln/>
        </p:spPr>
        <p:txBody>
          <a:bodyPr wrap="square" lIns="25400" tIns="25400" rIns="25400" bIns="2540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Min.</a:t>
            </a:r>
            <a:endParaRPr lang="en-US" sz="1100" dirty="0"/>
          </a:p>
        </p:txBody>
      </p:sp>
      <p:sp>
        <p:nvSpPr>
          <p:cNvPr id="5" name="Text 3"/>
          <p:cNvSpPr txBox="1"/>
          <p:nvPr/>
        </p:nvSpPr>
        <p:spPr>
          <a:xfrm>
            <a:off x="457200" y="1280160"/>
            <a:ext cx="1554480" cy="868680"/>
          </a:xfrm>
          <a:prstGeom prst="roundRect">
            <a:avLst>
              <a:gd name="adj" fmla="val 8421"/>
            </a:avLst>
          </a:prstGeom>
          <a:solidFill>
            <a:srgbClr val="D9A441"/>
          </a:solidFill>
          <a:ln/>
        </p:spPr>
        <p:txBody>
          <a:bodyPr wrap="square" lIns="0" tIns="0" rIns="0" bIns="0" rtlCol="0" anchor="ctr"/>
          <a:lstStyle/>
          <a:p>
            <a:pPr algn="ctr" indent="0" marL="0">
              <a:buNone/>
            </a:pPr>
            <a:r>
              <a:rPr lang="en-US" sz="1500" b="1" dirty="0">
                <a:solidFill>
                  <a:srgbClr val="2B2318"/>
                </a:solidFill>
                <a:latin typeface="Calibri" pitchFamily="34" charset="0"/>
                <a:ea typeface="Calibri" pitchFamily="34" charset="-122"/>
                <a:cs typeface="Calibri" pitchFamily="34" charset="-120"/>
              </a:rPr>
              <a:t>Sachurteil</a:t>
            </a:r>
            <a:endParaRPr lang="en-US" sz="1500" dirty="0"/>
          </a:p>
        </p:txBody>
      </p:sp>
      <p:sp>
        <p:nvSpPr>
          <p:cNvPr id="6" name="Shape 4"/>
          <p:cNvSpPr/>
          <p:nvPr/>
        </p:nvSpPr>
        <p:spPr>
          <a:xfrm>
            <a:off x="2103120" y="1280160"/>
            <a:ext cx="3566160" cy="868680"/>
          </a:xfrm>
          <a:prstGeom prst="roundRect">
            <a:avLst>
              <a:gd name="adj" fmla="val 8421"/>
            </a:avLst>
          </a:prstGeom>
          <a:solidFill>
            <a:srgbClr val="F4ECDE"/>
          </a:solidFill>
          <a:ln w="12700">
            <a:solidFill>
              <a:srgbClr val="F4ECDE"/>
            </a:solidFill>
            <a:prstDash val="solid"/>
          </a:ln>
        </p:spPr>
      </p:sp>
      <p:sp>
        <p:nvSpPr>
          <p:cNvPr id="7" name="Text 5"/>
          <p:cNvSpPr txBox="1"/>
          <p:nvPr/>
        </p:nvSpPr>
        <p:spPr>
          <a:xfrm>
            <a:off x="2240280" y="1353312"/>
            <a:ext cx="3337560" cy="228600"/>
          </a:xfrm>
          <a:prstGeom prst="rect">
            <a:avLst/>
          </a:prstGeom>
          <a:noFill/>
          <a:ln/>
        </p:spPr>
        <p:txBody>
          <a:bodyPr wrap="square" lIns="0" tIns="0" rIns="0" bIns="0" rtlCol="0" anchor="t"/>
          <a:lstStyle/>
          <a:p>
            <a:pPr indent="0" marL="0">
              <a:buNone/>
            </a:pPr>
            <a:r>
              <a:rPr lang="en-US" sz="1100" b="1" dirty="0">
                <a:solidFill>
                  <a:srgbClr val="5A5044"/>
                </a:solidFill>
                <a:latin typeface="Calibri" pitchFamily="34" charset="0"/>
                <a:ea typeface="Calibri" pitchFamily="34" charset="-122"/>
                <a:cs typeface="Calibri" pitchFamily="34" charset="-120"/>
              </a:rPr>
              <a:t>2–3 Sätze · nutze das Raster und die Linie</a:t>
            </a:r>
            <a:endParaRPr lang="en-US" sz="1100" dirty="0"/>
          </a:p>
        </p:txBody>
      </p:sp>
      <p:sp>
        <p:nvSpPr>
          <p:cNvPr id="8" name="Text 6"/>
          <p:cNvSpPr txBox="1"/>
          <p:nvPr/>
        </p:nvSpPr>
        <p:spPr>
          <a:xfrm>
            <a:off x="2240280" y="1609344"/>
            <a:ext cx="3337560" cy="502920"/>
          </a:xfrm>
          <a:prstGeom prst="rect">
            <a:avLst/>
          </a:prstGeom>
          <a:noFill/>
          <a:ln/>
        </p:spPr>
        <p:txBody>
          <a:bodyPr wrap="square" lIns="0" tIns="0" rIns="0" bIns="0" rtlCol="0" anchor="t"/>
          <a:lstStyle/>
          <a:p>
            <a:pPr indent="0" marL="0">
              <a:buNone/>
            </a:pPr>
            <a:r>
              <a:rPr lang="en-US" sz="1150" i="1" dirty="0">
                <a:solidFill>
                  <a:srgbClr val="2B2318"/>
                </a:solidFill>
                <a:latin typeface="Calibri" pitchFamily="34" charset="0"/>
                <a:ea typeface="Calibri" pitchFamily="34" charset="-122"/>
                <a:cs typeface="Calibri" pitchFamily="34" charset="-120"/>
              </a:rPr>
              <a:t>„Aus Sicht der damaligen Zeit hielt Solon den Schild (nicht) über beide Seiten, denn …“</a:t>
            </a:r>
            <a:endParaRPr lang="en-US" sz="1150" dirty="0"/>
          </a:p>
        </p:txBody>
      </p:sp>
      <p:sp>
        <p:nvSpPr>
          <p:cNvPr id="9" name="Text 7"/>
          <p:cNvSpPr txBox="1"/>
          <p:nvPr/>
        </p:nvSpPr>
        <p:spPr>
          <a:xfrm>
            <a:off x="457200" y="2304288"/>
            <a:ext cx="1554480" cy="868680"/>
          </a:xfrm>
          <a:prstGeom prst="roundRect">
            <a:avLst>
              <a:gd name="adj" fmla="val 8421"/>
            </a:avLst>
          </a:prstGeom>
          <a:solidFill>
            <a:srgbClr val="AD442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Werturteil</a:t>
            </a:r>
            <a:endParaRPr lang="en-US" sz="1500" dirty="0"/>
          </a:p>
        </p:txBody>
      </p:sp>
      <p:sp>
        <p:nvSpPr>
          <p:cNvPr id="10" name="Shape 8"/>
          <p:cNvSpPr/>
          <p:nvPr/>
        </p:nvSpPr>
        <p:spPr>
          <a:xfrm>
            <a:off x="2103120" y="2304288"/>
            <a:ext cx="3566160" cy="868680"/>
          </a:xfrm>
          <a:prstGeom prst="roundRect">
            <a:avLst>
              <a:gd name="adj" fmla="val 8421"/>
            </a:avLst>
          </a:prstGeom>
          <a:solidFill>
            <a:srgbClr val="F4ECDE"/>
          </a:solidFill>
          <a:ln w="12700">
            <a:solidFill>
              <a:srgbClr val="F4ECDE"/>
            </a:solidFill>
            <a:prstDash val="solid"/>
          </a:ln>
        </p:spPr>
      </p:sp>
      <p:sp>
        <p:nvSpPr>
          <p:cNvPr id="11" name="Text 9"/>
          <p:cNvSpPr txBox="1"/>
          <p:nvPr/>
        </p:nvSpPr>
        <p:spPr>
          <a:xfrm>
            <a:off x="2240280" y="2377440"/>
            <a:ext cx="3337560" cy="228600"/>
          </a:xfrm>
          <a:prstGeom prst="rect">
            <a:avLst/>
          </a:prstGeom>
          <a:noFill/>
          <a:ln/>
        </p:spPr>
        <p:txBody>
          <a:bodyPr wrap="square" lIns="0" tIns="0" rIns="0" bIns="0" rtlCol="0" anchor="t"/>
          <a:lstStyle/>
          <a:p>
            <a:pPr indent="0" marL="0">
              <a:buNone/>
            </a:pPr>
            <a:r>
              <a:rPr lang="en-US" sz="1100" b="1" dirty="0">
                <a:solidFill>
                  <a:srgbClr val="5A5044"/>
                </a:solidFill>
                <a:latin typeface="Calibri" pitchFamily="34" charset="0"/>
                <a:ea typeface="Calibri" pitchFamily="34" charset="-122"/>
                <a:cs typeface="Calibri" pitchFamily="34" charset="-120"/>
              </a:rPr>
              <a:t>1–2 Sätze · nenne deinen Maßstab (1–4)</a:t>
            </a:r>
            <a:endParaRPr lang="en-US" sz="1100" dirty="0"/>
          </a:p>
        </p:txBody>
      </p:sp>
      <p:sp>
        <p:nvSpPr>
          <p:cNvPr id="12" name="Text 10"/>
          <p:cNvSpPr txBox="1"/>
          <p:nvPr/>
        </p:nvSpPr>
        <p:spPr>
          <a:xfrm>
            <a:off x="2240280" y="2633472"/>
            <a:ext cx="3337560" cy="502920"/>
          </a:xfrm>
          <a:prstGeom prst="rect">
            <a:avLst/>
          </a:prstGeom>
          <a:noFill/>
          <a:ln/>
        </p:spPr>
        <p:txBody>
          <a:bodyPr wrap="square" lIns="0" tIns="0" rIns="0" bIns="0" rtlCol="0" anchor="t"/>
          <a:lstStyle/>
          <a:p>
            <a:pPr indent="0" marL="0">
              <a:buNone/>
            </a:pPr>
            <a:r>
              <a:rPr lang="en-US" sz="1150" i="1" dirty="0">
                <a:solidFill>
                  <a:srgbClr val="2B2318"/>
                </a:solidFill>
                <a:latin typeface="Calibri" pitchFamily="34" charset="0"/>
                <a:ea typeface="Calibri" pitchFamily="34" charset="-122"/>
                <a:cs typeface="Calibri" pitchFamily="34" charset="-120"/>
              </a:rPr>
              <a:t>„Gemessen an Maßstab … halte ich Solons Ordnung für …, weil …“</a:t>
            </a:r>
            <a:endParaRPr lang="en-US" sz="1150" dirty="0"/>
          </a:p>
        </p:txBody>
      </p:sp>
      <p:sp>
        <p:nvSpPr>
          <p:cNvPr id="13" name="Shape 11"/>
          <p:cNvSpPr/>
          <p:nvPr/>
        </p:nvSpPr>
        <p:spPr>
          <a:xfrm>
            <a:off x="5852160" y="1280160"/>
            <a:ext cx="2834640" cy="1892808"/>
          </a:xfrm>
          <a:prstGeom prst="roundRect">
            <a:avLst>
              <a:gd name="adj" fmla="val 3865"/>
            </a:avLst>
          </a:prstGeom>
          <a:solidFill>
            <a:srgbClr val="FBF8F2"/>
          </a:solidFill>
          <a:ln w="19050">
            <a:solidFill>
              <a:srgbClr val="D9A441"/>
            </a:solidFill>
            <a:prstDash val="solid"/>
          </a:ln>
        </p:spPr>
      </p:sp>
      <p:sp>
        <p:nvSpPr>
          <p:cNvPr id="14" name="Text 12"/>
          <p:cNvSpPr txBox="1"/>
          <p:nvPr/>
        </p:nvSpPr>
        <p:spPr>
          <a:xfrm>
            <a:off x="6035040" y="1371600"/>
            <a:ext cx="2468880" cy="274320"/>
          </a:xfrm>
          <a:prstGeom prst="rect">
            <a:avLst/>
          </a:prstGeom>
          <a:noFill/>
          <a:ln/>
        </p:spPr>
        <p:txBody>
          <a:bodyPr wrap="square" lIns="0" tIns="0" rIns="0" bIns="0" rtlCol="0" anchor="t"/>
          <a:lstStyle/>
          <a:p>
            <a:pPr indent="0" marL="0">
              <a:buNone/>
            </a:pPr>
            <a:r>
              <a:rPr lang="en-US" sz="1400" b="1" dirty="0">
                <a:solidFill>
                  <a:srgbClr val="AD4426"/>
                </a:solidFill>
                <a:latin typeface="Cambria" pitchFamily="34" charset="0"/>
                <a:ea typeface="Cambria" pitchFamily="34" charset="-122"/>
                <a:cs typeface="Cambria" pitchFamily="34" charset="-120"/>
              </a:rPr>
              <a:t>Checkliste</a:t>
            </a:r>
            <a:endParaRPr lang="en-US" sz="1400" dirty="0"/>
          </a:p>
        </p:txBody>
      </p:sp>
      <p:sp>
        <p:nvSpPr>
          <p:cNvPr id="15" name="Shape 13"/>
          <p:cNvSpPr/>
          <p:nvPr/>
        </p:nvSpPr>
        <p:spPr>
          <a:xfrm>
            <a:off x="6035040" y="1773936"/>
            <a:ext cx="201168" cy="201168"/>
          </a:xfrm>
          <a:prstGeom prst="roundRect">
            <a:avLst>
              <a:gd name="adj" fmla="val 18182"/>
            </a:avLst>
          </a:prstGeom>
          <a:solidFill>
            <a:srgbClr val="FFFFFF"/>
          </a:solidFill>
          <a:ln w="19050">
            <a:solidFill>
              <a:srgbClr val="D9A441"/>
            </a:solidFill>
            <a:prstDash val="solid"/>
          </a:ln>
        </p:spPr>
      </p:sp>
      <p:sp>
        <p:nvSpPr>
          <p:cNvPr id="16" name="Text 14"/>
          <p:cNvSpPr txBox="1"/>
          <p:nvPr/>
        </p:nvSpPr>
        <p:spPr>
          <a:xfrm>
            <a:off x="6327648" y="1737360"/>
            <a:ext cx="2286000" cy="274320"/>
          </a:xfrm>
          <a:prstGeom prst="rect">
            <a:avLst/>
          </a:prstGeom>
          <a:noFill/>
          <a:ln/>
        </p:spPr>
        <p:txBody>
          <a:bodyPr wrap="square" lIns="0" tIns="0" rIns="0" bIns="0" rtlCol="0" anchor="ctr"/>
          <a:lstStyle/>
          <a:p>
            <a:pPr indent="0" marL="0">
              <a:buNone/>
            </a:pPr>
            <a:r>
              <a:rPr lang="en-US" sz="1200" dirty="0">
                <a:solidFill>
                  <a:srgbClr val="2B2318"/>
                </a:solidFill>
                <a:latin typeface="Calibri" pitchFamily="34" charset="0"/>
                <a:ea typeface="Calibri" pitchFamily="34" charset="-122"/>
                <a:cs typeface="Calibri" pitchFamily="34" charset="-120"/>
              </a:rPr>
              <a:t>Sachurteil: Maßstäbe der Zeit</a:t>
            </a:r>
            <a:endParaRPr lang="en-US" sz="1200" dirty="0"/>
          </a:p>
        </p:txBody>
      </p:sp>
      <p:sp>
        <p:nvSpPr>
          <p:cNvPr id="17" name="Shape 15"/>
          <p:cNvSpPr/>
          <p:nvPr/>
        </p:nvSpPr>
        <p:spPr>
          <a:xfrm>
            <a:off x="6035040" y="2112264"/>
            <a:ext cx="201168" cy="201168"/>
          </a:xfrm>
          <a:prstGeom prst="roundRect">
            <a:avLst>
              <a:gd name="adj" fmla="val 18182"/>
            </a:avLst>
          </a:prstGeom>
          <a:solidFill>
            <a:srgbClr val="FFFFFF"/>
          </a:solidFill>
          <a:ln w="19050">
            <a:solidFill>
              <a:srgbClr val="D9A441"/>
            </a:solidFill>
            <a:prstDash val="solid"/>
          </a:ln>
        </p:spPr>
      </p:sp>
      <p:sp>
        <p:nvSpPr>
          <p:cNvPr id="18" name="Text 16"/>
          <p:cNvSpPr txBox="1"/>
          <p:nvPr/>
        </p:nvSpPr>
        <p:spPr>
          <a:xfrm>
            <a:off x="6327648" y="2075688"/>
            <a:ext cx="2286000" cy="274320"/>
          </a:xfrm>
          <a:prstGeom prst="rect">
            <a:avLst/>
          </a:prstGeom>
          <a:noFill/>
          <a:ln/>
        </p:spPr>
        <p:txBody>
          <a:bodyPr wrap="square" lIns="0" tIns="0" rIns="0" bIns="0" rtlCol="0" anchor="ctr"/>
          <a:lstStyle/>
          <a:p>
            <a:pPr indent="0" marL="0">
              <a:buNone/>
            </a:pPr>
            <a:r>
              <a:rPr lang="en-US" sz="1200" dirty="0">
                <a:solidFill>
                  <a:srgbClr val="2B2318"/>
                </a:solidFill>
                <a:latin typeface="Calibri" pitchFamily="34" charset="0"/>
                <a:ea typeface="Calibri" pitchFamily="34" charset="-122"/>
                <a:cs typeface="Calibri" pitchFamily="34" charset="-120"/>
              </a:rPr>
              <a:t>Sachurteil: mit Belegen</a:t>
            </a:r>
            <a:endParaRPr lang="en-US" sz="1200" dirty="0"/>
          </a:p>
        </p:txBody>
      </p:sp>
      <p:sp>
        <p:nvSpPr>
          <p:cNvPr id="19" name="Shape 17"/>
          <p:cNvSpPr/>
          <p:nvPr/>
        </p:nvSpPr>
        <p:spPr>
          <a:xfrm>
            <a:off x="6035040" y="2450592"/>
            <a:ext cx="201168" cy="201168"/>
          </a:xfrm>
          <a:prstGeom prst="roundRect">
            <a:avLst>
              <a:gd name="adj" fmla="val 18182"/>
            </a:avLst>
          </a:prstGeom>
          <a:solidFill>
            <a:srgbClr val="FFFFFF"/>
          </a:solidFill>
          <a:ln w="19050">
            <a:solidFill>
              <a:srgbClr val="D9A441"/>
            </a:solidFill>
            <a:prstDash val="solid"/>
          </a:ln>
        </p:spPr>
      </p:sp>
      <p:sp>
        <p:nvSpPr>
          <p:cNvPr id="20" name="Text 18"/>
          <p:cNvSpPr txBox="1"/>
          <p:nvPr/>
        </p:nvSpPr>
        <p:spPr>
          <a:xfrm>
            <a:off x="6327648" y="2414016"/>
            <a:ext cx="2286000" cy="274320"/>
          </a:xfrm>
          <a:prstGeom prst="rect">
            <a:avLst/>
          </a:prstGeom>
          <a:noFill/>
          <a:ln/>
        </p:spPr>
        <p:txBody>
          <a:bodyPr wrap="square" lIns="0" tIns="0" rIns="0" bIns="0" rtlCol="0" anchor="ctr"/>
          <a:lstStyle/>
          <a:p>
            <a:pPr indent="0" marL="0">
              <a:buNone/>
            </a:pPr>
            <a:r>
              <a:rPr lang="en-US" sz="1200" dirty="0">
                <a:solidFill>
                  <a:srgbClr val="2B2318"/>
                </a:solidFill>
                <a:latin typeface="Calibri" pitchFamily="34" charset="0"/>
                <a:ea typeface="Calibri" pitchFamily="34" charset="-122"/>
                <a:cs typeface="Calibri" pitchFamily="34" charset="-120"/>
              </a:rPr>
              <a:t>Werturteil: Maßstab genannt</a:t>
            </a:r>
            <a:endParaRPr lang="en-US" sz="1200" dirty="0"/>
          </a:p>
        </p:txBody>
      </p:sp>
      <p:sp>
        <p:nvSpPr>
          <p:cNvPr id="21" name="Shape 19"/>
          <p:cNvSpPr/>
          <p:nvPr/>
        </p:nvSpPr>
        <p:spPr>
          <a:xfrm>
            <a:off x="6035040" y="2788920"/>
            <a:ext cx="201168" cy="201168"/>
          </a:xfrm>
          <a:prstGeom prst="roundRect">
            <a:avLst>
              <a:gd name="adj" fmla="val 18182"/>
            </a:avLst>
          </a:prstGeom>
          <a:solidFill>
            <a:srgbClr val="FFFFFF"/>
          </a:solidFill>
          <a:ln w="19050">
            <a:solidFill>
              <a:srgbClr val="D9A441"/>
            </a:solidFill>
            <a:prstDash val="solid"/>
          </a:ln>
        </p:spPr>
      </p:sp>
      <p:sp>
        <p:nvSpPr>
          <p:cNvPr id="22" name="Text 20"/>
          <p:cNvSpPr txBox="1"/>
          <p:nvPr/>
        </p:nvSpPr>
        <p:spPr>
          <a:xfrm>
            <a:off x="6327648" y="2752344"/>
            <a:ext cx="2286000" cy="274320"/>
          </a:xfrm>
          <a:prstGeom prst="rect">
            <a:avLst/>
          </a:prstGeom>
          <a:noFill/>
          <a:ln/>
        </p:spPr>
        <p:txBody>
          <a:bodyPr wrap="square" lIns="0" tIns="0" rIns="0" bIns="0" rtlCol="0" anchor="ctr"/>
          <a:lstStyle/>
          <a:p>
            <a:pPr indent="0" marL="0">
              <a:buNone/>
            </a:pPr>
            <a:r>
              <a:rPr lang="en-US" sz="1200" dirty="0">
                <a:solidFill>
                  <a:srgbClr val="2B2318"/>
                </a:solidFill>
                <a:latin typeface="Calibri" pitchFamily="34" charset="0"/>
                <a:ea typeface="Calibri" pitchFamily="34" charset="-122"/>
                <a:cs typeface="Calibri" pitchFamily="34" charset="-120"/>
              </a:rPr>
              <a:t>Werturteil: begründet</a:t>
            </a:r>
            <a:endParaRPr lang="en-US" sz="1200" dirty="0"/>
          </a:p>
        </p:txBody>
      </p:sp>
      <p:sp>
        <p:nvSpPr>
          <p:cNvPr id="23" name="Shape 21"/>
          <p:cNvSpPr/>
          <p:nvPr/>
        </p:nvSpPr>
        <p:spPr>
          <a:xfrm>
            <a:off x="457200" y="3474720"/>
            <a:ext cx="8229600" cy="914400"/>
          </a:xfrm>
          <a:prstGeom prst="roundRect">
            <a:avLst>
              <a:gd name="adj" fmla="val 8000"/>
            </a:avLst>
          </a:prstGeom>
          <a:solidFill>
            <a:srgbClr val="2B2318"/>
          </a:solidFill>
          <a:ln w="12700">
            <a:solidFill>
              <a:srgbClr val="2B2318"/>
            </a:solidFill>
            <a:prstDash val="solid"/>
          </a:ln>
        </p:spPr>
      </p:sp>
      <p:sp>
        <p:nvSpPr>
          <p:cNvPr id="24" name="Text 22"/>
          <p:cNvSpPr txBox="1"/>
          <p:nvPr/>
        </p:nvSpPr>
        <p:spPr>
          <a:xfrm>
            <a:off x="731520" y="3520440"/>
            <a:ext cx="768096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Zum Schluss: Wer hat Athen gerechter gemacht – Drakon oder Solon? Und nach welchem Maßstab?</a:t>
            </a:r>
            <a:endParaRPr lang="en-US" sz="1600" dirty="0"/>
          </a:p>
        </p:txBody>
      </p:sp>
      <p:sp>
        <p:nvSpPr>
          <p:cNvPr id="25" name="Text 23"/>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26" name="Text 24"/>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URTEIL · BEISPIEL</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So könnte das Urteil aussehen</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sp>
        <p:nvSpPr>
          <p:cNvPr id="5" name="Text 3"/>
          <p:cNvSpPr txBox="1"/>
          <p:nvPr/>
        </p:nvSpPr>
        <p:spPr>
          <a:xfrm>
            <a:off x="457200" y="1234440"/>
            <a:ext cx="1554480" cy="1508760"/>
          </a:xfrm>
          <a:prstGeom prst="roundRect">
            <a:avLst>
              <a:gd name="adj" fmla="val 4848"/>
            </a:avLst>
          </a:prstGeom>
          <a:solidFill>
            <a:srgbClr val="D9A441"/>
          </a:solidFill>
          <a:ln/>
        </p:spPr>
        <p:txBody>
          <a:bodyPr wrap="square" lIns="0" tIns="0" rIns="0" bIns="0" rtlCol="0" anchor="ctr"/>
          <a:lstStyle/>
          <a:p>
            <a:pPr algn="ctr" indent="0" marL="0">
              <a:buNone/>
            </a:pPr>
            <a:r>
              <a:rPr lang="en-US" sz="1500" b="1" dirty="0">
                <a:solidFill>
                  <a:srgbClr val="2B2318"/>
                </a:solidFill>
                <a:latin typeface="Calibri" pitchFamily="34" charset="0"/>
                <a:ea typeface="Calibri" pitchFamily="34" charset="-122"/>
                <a:cs typeface="Calibri" pitchFamily="34" charset="-120"/>
              </a:rPr>
              <a:t>Sachurteil</a:t>
            </a:r>
            <a:endParaRPr lang="en-US" sz="1500" dirty="0"/>
          </a:p>
        </p:txBody>
      </p:sp>
      <p:sp>
        <p:nvSpPr>
          <p:cNvPr id="6" name="Shape 4"/>
          <p:cNvSpPr/>
          <p:nvPr/>
        </p:nvSpPr>
        <p:spPr>
          <a:xfrm>
            <a:off x="2103120" y="1234440"/>
            <a:ext cx="6583680" cy="1508760"/>
          </a:xfrm>
          <a:prstGeom prst="roundRect">
            <a:avLst>
              <a:gd name="adj" fmla="val 4848"/>
            </a:avLst>
          </a:prstGeom>
          <a:solidFill>
            <a:srgbClr val="F4ECDE"/>
          </a:solidFill>
          <a:ln w="12700">
            <a:solidFill>
              <a:srgbClr val="F4ECDE"/>
            </a:solidFill>
            <a:prstDash val="solid"/>
          </a:ln>
        </p:spPr>
      </p:sp>
      <p:sp>
        <p:nvSpPr>
          <p:cNvPr id="7" name="Text 5"/>
          <p:cNvSpPr txBox="1"/>
          <p:nvPr/>
        </p:nvSpPr>
        <p:spPr>
          <a:xfrm>
            <a:off x="2286000" y="1307592"/>
            <a:ext cx="6263640" cy="1362456"/>
          </a:xfrm>
          <a:prstGeom prst="rect">
            <a:avLst/>
          </a:prstGeom>
          <a:noFill/>
          <a:ln/>
        </p:spPr>
        <p:txBody>
          <a:bodyPr wrap="square" lIns="0" tIns="0" rIns="0" bIns="0" rtlCol="0" anchor="ctr"/>
          <a:lstStyle/>
          <a:p>
            <a:pPr indent="0" marL="0">
              <a:buNone/>
            </a:pPr>
            <a:r>
              <a:rPr lang="en-US" sz="1300" i="1" dirty="0">
                <a:solidFill>
                  <a:srgbClr val="2B2318"/>
                </a:solidFill>
                <a:latin typeface="Calibri" pitchFamily="34" charset="0"/>
                <a:ea typeface="Calibri" pitchFamily="34" charset="-122"/>
                <a:cs typeface="Calibri" pitchFamily="34" charset="-120"/>
              </a:rPr>
              <a:t>„Aus Sicht der damaligen Zeit hielt Solon den Schild tatsächlich über beide Seiten: Die Bauern wurden von ihren Schulden befreit und durften nicht mehr versklavt werden, die Reichen behielten ihr Land und die wichtigsten Ämter. Keine Seite bekam alles, und ein Bürgerkrieg wurde zunächst verhindert.“</a:t>
            </a:r>
            <a:endParaRPr lang="en-US" sz="1300" dirty="0"/>
          </a:p>
        </p:txBody>
      </p:sp>
      <p:sp>
        <p:nvSpPr>
          <p:cNvPr id="8" name="Text 6"/>
          <p:cNvSpPr txBox="1"/>
          <p:nvPr/>
        </p:nvSpPr>
        <p:spPr>
          <a:xfrm>
            <a:off x="457200" y="2880360"/>
            <a:ext cx="1554480" cy="1554480"/>
          </a:xfrm>
          <a:prstGeom prst="roundRect">
            <a:avLst>
              <a:gd name="adj" fmla="val 4706"/>
            </a:avLst>
          </a:prstGeom>
          <a:solidFill>
            <a:srgbClr val="AD442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Werturteil</a:t>
            </a:r>
            <a:endParaRPr lang="en-US" sz="1500" dirty="0"/>
          </a:p>
        </p:txBody>
      </p:sp>
      <p:sp>
        <p:nvSpPr>
          <p:cNvPr id="9" name="Shape 7"/>
          <p:cNvSpPr/>
          <p:nvPr/>
        </p:nvSpPr>
        <p:spPr>
          <a:xfrm>
            <a:off x="2103120" y="2880360"/>
            <a:ext cx="6583680" cy="1554480"/>
          </a:xfrm>
          <a:prstGeom prst="roundRect">
            <a:avLst>
              <a:gd name="adj" fmla="val 4706"/>
            </a:avLst>
          </a:prstGeom>
          <a:solidFill>
            <a:srgbClr val="F4ECDE"/>
          </a:solidFill>
          <a:ln w="12700">
            <a:solidFill>
              <a:srgbClr val="F4ECDE"/>
            </a:solidFill>
            <a:prstDash val="solid"/>
          </a:ln>
        </p:spPr>
      </p:sp>
      <p:sp>
        <p:nvSpPr>
          <p:cNvPr id="10" name="Text 8"/>
          <p:cNvSpPr txBox="1"/>
          <p:nvPr/>
        </p:nvSpPr>
        <p:spPr>
          <a:xfrm>
            <a:off x="2286000" y="2953512"/>
            <a:ext cx="6263640" cy="1408176"/>
          </a:xfrm>
          <a:prstGeom prst="rect">
            <a:avLst/>
          </a:prstGeom>
          <a:noFill/>
          <a:ln/>
        </p:spPr>
        <p:txBody>
          <a:bodyPr wrap="square" lIns="0" tIns="0" rIns="0" bIns="0" rtlCol="0" anchor="ctr"/>
          <a:lstStyle/>
          <a:p>
            <a:pPr indent="0" marL="0">
              <a:buNone/>
            </a:pPr>
            <a:r>
              <a:rPr lang="en-US" sz="1300" i="1" dirty="0">
                <a:solidFill>
                  <a:srgbClr val="2B2318"/>
                </a:solidFill>
                <a:latin typeface="Calibri" pitchFamily="34" charset="0"/>
                <a:ea typeface="Calibri" pitchFamily="34" charset="-122"/>
                <a:cs typeface="Calibri" pitchFamily="34" charset="-120"/>
              </a:rPr>
              <a:t>„Gemessen an Maßstab 1 (Gleichheit) halte ich Solons Ordnung nicht für gerecht, weil die Rechte vom Besitz abhingen und die Theten nicht gewählt werden durften. Gemessen an Maßstab 3 (Schutz der Schwachen) war sie aber ein großer Fortschritt.“</a:t>
            </a:r>
            <a:endParaRPr lang="en-US" sz="1300" dirty="0"/>
          </a:p>
        </p:txBody>
      </p:sp>
      <p:sp>
        <p:nvSpPr>
          <p:cNvPr id="11" name="Text 9"/>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12" name="Text 10"/>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AD4426"/>
                </a:solidFill>
                <a:latin typeface="Calibri" pitchFamily="34" charset="0"/>
                <a:ea typeface="Calibri" pitchFamily="34" charset="-122"/>
                <a:cs typeface="Calibri" pitchFamily="34" charset="-120"/>
              </a:rPr>
              <a:t>ABSCHLUSS · MÖGLICHE LÖSUNG</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2B2318"/>
                </a:solidFill>
                <a:latin typeface="Cambria" pitchFamily="34" charset="0"/>
                <a:ea typeface="Cambria" pitchFamily="34" charset="-122"/>
                <a:cs typeface="Cambria" pitchFamily="34" charset="-120"/>
              </a:rPr>
              <a:t>Wer hat Athen gerechter gemacht?</a:t>
            </a:r>
            <a:endParaRPr lang="en-US" sz="2800" dirty="0"/>
          </a:p>
        </p:txBody>
      </p:sp>
      <p:sp>
        <p:nvSpPr>
          <p:cNvPr id="4" name="Text 2"/>
          <p:cNvSpPr txBox="1"/>
          <p:nvPr/>
        </p:nvSpPr>
        <p:spPr>
          <a:xfrm>
            <a:off x="7315200" y="347472"/>
            <a:ext cx="1371600" cy="292608"/>
          </a:xfrm>
          <a:prstGeom prst="roundRect">
            <a:avLst>
              <a:gd name="adj" fmla="val 31250"/>
            </a:avLst>
          </a:prstGeom>
          <a:solidFill>
            <a:srgbClr val="D9A441"/>
          </a:solidFill>
          <a:ln/>
        </p:spPr>
        <p:txBody>
          <a:bodyPr wrap="square" lIns="25400" tIns="25400" rIns="25400" bIns="25400" rtlCol="0" anchor="ctr"/>
          <a:lstStyle/>
          <a:p>
            <a:pPr algn="ctr" indent="0" marL="0">
              <a:buNone/>
            </a:pPr>
            <a:r>
              <a:rPr lang="en-US" sz="1100" b="1" dirty="0">
                <a:solidFill>
                  <a:srgbClr val="2B2318"/>
                </a:solidFill>
                <a:latin typeface="Calibri" pitchFamily="34" charset="0"/>
                <a:ea typeface="Calibri" pitchFamily="34" charset="-122"/>
                <a:cs typeface="Calibri" pitchFamily="34" charset="-120"/>
              </a:rPr>
              <a:t>Lösung</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502920"/>
                <a:gridCol w="2240280"/>
                <a:gridCol w="502920"/>
                <a:gridCol w="29718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Maßstab</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indent="0" marL="0">
                        <a:buNone/>
                      </a:pP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Drakon</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indent="0" marL="0">
                        <a:buNone/>
                      </a:pP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Solon</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2B2318"/>
                    </a:solidFill>
                  </a:tcPr>
                </a:tc>
              </a:tr>
              <a:tr h="502920">
                <a:tc>
                  <a:txBody>
                    <a:bodyPr/>
                    <a:lstStyle/>
                    <a:p>
                      <a:pPr indent="0" marL="0">
                        <a:buNone/>
                      </a:pPr>
                      <a:r>
                        <a:rPr lang="en-US" sz="1300" b="1" dirty="0">
                          <a:solidFill>
                            <a:srgbClr val="2B2318"/>
                          </a:solidFill>
                          <a:latin typeface="Calibri" pitchFamily="34" charset="0"/>
                          <a:ea typeface="Calibri" pitchFamily="34" charset="-122"/>
                          <a:cs typeface="Calibri" pitchFamily="34" charset="-120"/>
                        </a:rPr>
                        <a:t>1  Gleichheit</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AD4426"/>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Rechte bleiben ungleich</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AD4426"/>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Rechte nach Besitz, Theten nicht wählbar</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502920">
                <a:tc>
                  <a:txBody>
                    <a:bodyPr/>
                    <a:lstStyle/>
                    <a:p>
                      <a:pPr indent="0" marL="0">
                        <a:buNone/>
                      </a:pPr>
                      <a:r>
                        <a:rPr lang="en-US" sz="1300" b="1" dirty="0">
                          <a:solidFill>
                            <a:srgbClr val="2B2318"/>
                          </a:solidFill>
                          <a:latin typeface="Calibri" pitchFamily="34" charset="0"/>
                          <a:ea typeface="Calibri" pitchFamily="34" charset="-122"/>
                          <a:cs typeface="Calibri" pitchFamily="34" charset="-120"/>
                        </a:rPr>
                        <a:t>2  Leistung</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998C77"/>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kein Thema</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3C783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wer mehr hat und trägt, darf mehr</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502920">
                <a:tc>
                  <a:txBody>
                    <a:bodyPr/>
                    <a:lstStyle/>
                    <a:p>
                      <a:pPr indent="0" marL="0">
                        <a:buNone/>
                      </a:pPr>
                      <a:r>
                        <a:rPr lang="en-US" sz="1300" b="1" dirty="0">
                          <a:solidFill>
                            <a:srgbClr val="2B2318"/>
                          </a:solidFill>
                          <a:latin typeface="Calibri" pitchFamily="34" charset="0"/>
                          <a:ea typeface="Calibri" pitchFamily="34" charset="-122"/>
                          <a:cs typeface="Calibri" pitchFamily="34" charset="-120"/>
                        </a:rPr>
                        <a:t>3  Schutz der Schwachen</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AD4426"/>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Schuldknechtschaft bleibt</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3C783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Schuldenerlass, Verbot der Schuldknechtschaft</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r h="502920">
                <a:tc>
                  <a:txBody>
                    <a:bodyPr/>
                    <a:lstStyle/>
                    <a:p>
                      <a:pPr indent="0" marL="0">
                        <a:buNone/>
                      </a:pPr>
                      <a:r>
                        <a:rPr lang="en-US" sz="1300" b="1" dirty="0">
                          <a:solidFill>
                            <a:srgbClr val="2B2318"/>
                          </a:solidFill>
                          <a:latin typeface="Calibri" pitchFamily="34" charset="0"/>
                          <a:ea typeface="Calibri" pitchFamily="34" charset="-122"/>
                          <a:cs typeface="Calibri" pitchFamily="34" charset="-120"/>
                        </a:rPr>
                        <a:t>4  Gleiche Regeln</a:t>
                      </a:r>
                      <a:endParaRPr lang="en-US" sz="13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3C783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geschriebenes Recht für alle</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algn="ctr" indent="0" marL="0">
                        <a:buNone/>
                      </a:pPr>
                      <a:r>
                        <a:rPr lang="en-US" sz="1800" b="1" dirty="0">
                          <a:solidFill>
                            <a:srgbClr val="3C783C"/>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c>
                  <a:txBody>
                    <a:bodyPr/>
                    <a:lstStyle/>
                    <a:p>
                      <a:pPr indent="0" marL="0">
                        <a:buNone/>
                      </a:pPr>
                      <a:r>
                        <a:rPr lang="en-US" sz="1100" dirty="0">
                          <a:solidFill>
                            <a:srgbClr val="2B2318"/>
                          </a:solidFill>
                          <a:latin typeface="Calibri" pitchFamily="34" charset="0"/>
                          <a:ea typeface="Calibri" pitchFamily="34" charset="-122"/>
                          <a:cs typeface="Calibri" pitchFamily="34" charset="-120"/>
                        </a:rPr>
                        <a:t>jeder Bürger darf klagen</a:t>
                      </a:r>
                      <a:endParaRPr lang="en-US" sz="1100" dirty="0">
                        <a:latin typeface="Calibri" charset="0"/>
                        <a:ea typeface="Calibri" charset="0"/>
                        <a:cs typeface="Calibri" charset="0"/>
                      </a:endParaRPr>
                    </a:p>
                  </a:txBody>
                  <a:tcPr marL="64008" marR="64008" marT="64008" marB="64008" anchor="ctr">
                    <a:lnL w="9525" cap="flat" cmpd="sng" algn="ctr">
                      <a:solidFill>
                        <a:srgbClr val="D9CDB8"/>
                      </a:solidFill>
                      <a:prstDash val="solid"/>
                      <a:round/>
                      <a:headEnd type="none" w="med" len="med"/>
                      <a:tailEnd type="none" w="med" len="med"/>
                    </a:lnL>
                    <a:lnR w="9525" cap="flat" cmpd="sng" algn="ctr">
                      <a:solidFill>
                        <a:srgbClr val="D9CDB8"/>
                      </a:solidFill>
                      <a:prstDash val="solid"/>
                      <a:round/>
                      <a:headEnd type="none" w="med" len="med"/>
                      <a:tailEnd type="none" w="med" len="med"/>
                    </a:lnR>
                    <a:lnT w="9525" cap="flat" cmpd="sng" algn="ctr">
                      <a:solidFill>
                        <a:srgbClr val="D9CDB8"/>
                      </a:solidFill>
                      <a:prstDash val="solid"/>
                      <a:round/>
                      <a:headEnd type="none" w="med" len="med"/>
                      <a:tailEnd type="none" w="med" len="med"/>
                    </a:lnT>
                    <a:lnB w="9525" cap="flat" cmpd="sng" algn="ctr">
                      <a:solidFill>
                        <a:srgbClr val="D9CDB8"/>
                      </a:solidFill>
                      <a:prstDash val="solid"/>
                      <a:round/>
                      <a:headEnd type="none" w="med" len="med"/>
                      <a:tailEnd type="none" w="med" len="med"/>
                    </a:lnB>
                    <a:solidFill>
                      <a:srgbClr val="FBF8F2"/>
                    </a:solidFill>
                  </a:tcPr>
                </a:tc>
              </a:tr>
            </a:tbl>
          </a:graphicData>
        </a:graphic>
      </p:graphicFrame>
      <p:sp>
        <p:nvSpPr>
          <p:cNvPr id="6" name="Shape 3"/>
          <p:cNvSpPr/>
          <p:nvPr/>
        </p:nvSpPr>
        <p:spPr>
          <a:xfrm>
            <a:off x="457200" y="3840480"/>
            <a:ext cx="8229600" cy="640080"/>
          </a:xfrm>
          <a:prstGeom prst="roundRect">
            <a:avLst>
              <a:gd name="adj" fmla="val 11429"/>
            </a:avLst>
          </a:prstGeom>
          <a:solidFill>
            <a:srgbClr val="2B2318"/>
          </a:solidFill>
          <a:ln w="12700">
            <a:solidFill>
              <a:srgbClr val="2B2318"/>
            </a:solidFill>
            <a:prstDash val="solid"/>
          </a:ln>
        </p:spPr>
      </p:sp>
      <p:sp>
        <p:nvSpPr>
          <p:cNvPr id="7" name="Text 4"/>
          <p:cNvSpPr txBox="1"/>
          <p:nvPr/>
        </p:nvSpPr>
        <p:spPr>
          <a:xfrm>
            <a:off x="685800" y="3840480"/>
            <a:ext cx="777240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Solon hat Athen nach mehr Maßstäben gerechter gemacht als Drakon – gleich waren die Bürger aber auch nach Solon nicht.</a:t>
            </a:r>
            <a:endParaRPr lang="en-US" sz="1300" dirty="0"/>
          </a:p>
        </p:txBody>
      </p:sp>
      <p:sp>
        <p:nvSpPr>
          <p:cNvPr id="8" name="Text 5"/>
          <p:cNvSpPr txBox="1"/>
          <p:nvPr/>
        </p:nvSpPr>
        <p:spPr>
          <a:xfrm>
            <a:off x="457200" y="4754880"/>
            <a:ext cx="4572000" cy="182880"/>
          </a:xfrm>
          <a:prstGeom prst="rect">
            <a:avLst/>
          </a:prstGeom>
          <a:noFill/>
          <a:ln/>
        </p:spPr>
        <p:txBody>
          <a:bodyPr wrap="square" lIns="0" tIns="0" rIns="0" bIns="0" rtlCol="0" anchor="t"/>
          <a:lstStyle/>
          <a:p>
            <a:pPr indent="0" marL="0">
              <a:buNone/>
            </a:pPr>
            <a:r>
              <a:rPr lang="en-US" sz="900" dirty="0">
                <a:solidFill>
                  <a:srgbClr val="998C77"/>
                </a:solidFill>
                <a:latin typeface="Calibri" pitchFamily="34" charset="0"/>
                <a:ea typeface="Calibri" pitchFamily="34" charset="-122"/>
                <a:cs typeface="Calibri" pitchFamily="34" charset="-120"/>
              </a:rPr>
              <a:t>Wer hat Athen gerechter gemacht?</a:t>
            </a:r>
            <a:endParaRPr lang="en-US" sz="900" dirty="0"/>
          </a:p>
        </p:txBody>
      </p:sp>
      <p:sp>
        <p:nvSpPr>
          <p:cNvPr id="9" name="Text 6"/>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B2318"/>
        </a:solidFill>
      </p:bgPr>
    </p:bg>
    <p:spTree>
      <p:nvGrpSpPr>
        <p:cNvPr id="1" name=""/>
        <p:cNvGrpSpPr/>
        <p:nvPr/>
      </p:nvGrpSpPr>
      <p:grpSpPr>
        <a:xfrm>
          <a:off x="0" y="0"/>
          <a:ext cx="0" cy="0"/>
          <a:chOff x="0" y="0"/>
          <a:chExt cx="0" cy="0"/>
        </a:xfrm>
      </p:grpSpPr>
      <p:sp>
        <p:nvSpPr>
          <p:cNvPr id="2" name="Text 0"/>
          <p:cNvSpPr txBox="1"/>
          <p:nvPr/>
        </p:nvSpPr>
        <p:spPr>
          <a:xfrm>
            <a:off x="457200" y="320040"/>
            <a:ext cx="6766560" cy="228600"/>
          </a:xfrm>
          <a:prstGeom prst="rect">
            <a:avLst/>
          </a:prstGeom>
          <a:noFill/>
          <a:ln/>
        </p:spPr>
        <p:txBody>
          <a:bodyPr wrap="square" lIns="0" tIns="0" rIns="0" bIns="0" rtlCol="0" anchor="t"/>
          <a:lstStyle/>
          <a:p>
            <a:pPr indent="0" marL="0">
              <a:buNone/>
            </a:pPr>
            <a:r>
              <a:rPr lang="en-US" sz="1100" b="1" spc="200" kern="0" dirty="0">
                <a:solidFill>
                  <a:srgbClr val="D9A441"/>
                </a:solidFill>
                <a:latin typeface="Calibri" pitchFamily="34" charset="0"/>
                <a:ea typeface="Calibri" pitchFamily="34" charset="-122"/>
                <a:cs typeface="Calibri" pitchFamily="34" charset="-120"/>
              </a:rPr>
              <a:t>AUSBLICK · LB S. 22</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Und dann?</a:t>
            </a:r>
            <a:endParaRPr lang="en-US" sz="2800" dirty="0"/>
          </a:p>
        </p:txBody>
      </p:sp>
      <p:sp>
        <p:nvSpPr>
          <p:cNvPr id="4" name="Shape 2"/>
          <p:cNvSpPr/>
          <p:nvPr/>
        </p:nvSpPr>
        <p:spPr>
          <a:xfrm>
            <a:off x="457200" y="1371600"/>
            <a:ext cx="8229600" cy="1554480"/>
          </a:xfrm>
          <a:prstGeom prst="roundRect">
            <a:avLst>
              <a:gd name="adj" fmla="val 4706"/>
            </a:avLst>
          </a:prstGeom>
          <a:solidFill>
            <a:srgbClr val="3A3024"/>
          </a:solidFill>
          <a:ln w="12700">
            <a:solidFill>
              <a:srgbClr val="3A3024"/>
            </a:solidFill>
            <a:prstDash val="solid"/>
          </a:ln>
        </p:spPr>
      </p:sp>
      <p:sp>
        <p:nvSpPr>
          <p:cNvPr id="5" name="Text 3"/>
          <p:cNvSpPr txBox="1"/>
          <p:nvPr/>
        </p:nvSpPr>
        <p:spPr>
          <a:xfrm>
            <a:off x="731520" y="1481328"/>
            <a:ext cx="7680960" cy="132588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„Obwohl Solon sich bemüht hatte, durch Augenmaß und Ausgleich nach allen Seiten seinem Werk Dauerhaftigkeit zu verleihen, fühlten sich doch viele aus unterschiedlichen Motiven von seiner Reform enttäuscht.“</a:t>
            </a:r>
            <a:endParaRPr lang="en-US" sz="1700" dirty="0"/>
          </a:p>
        </p:txBody>
      </p:sp>
      <p:sp>
        <p:nvSpPr>
          <p:cNvPr id="6" name="Text 4"/>
          <p:cNvSpPr txBox="1"/>
          <p:nvPr/>
        </p:nvSpPr>
        <p:spPr>
          <a:xfrm>
            <a:off x="457200" y="3246120"/>
            <a:ext cx="548640" cy="548640"/>
          </a:xfrm>
          <a:prstGeom prst="ellipse">
            <a:avLst/>
          </a:prstGeom>
          <a:solidFill>
            <a:srgbClr val="D9A441"/>
          </a:solidFill>
          <a:ln/>
        </p:spPr>
        <p:txBody>
          <a:bodyPr wrap="square" lIns="0" tIns="0" rIns="0" bIns="0" rtlCol="0" anchor="ctr"/>
          <a:lstStyle/>
          <a:p>
            <a:pPr algn="ctr" indent="0" marL="0">
              <a:buNone/>
            </a:pPr>
            <a:r>
              <a:rPr lang="en-US" sz="2200" b="1" dirty="0">
                <a:solidFill>
                  <a:srgbClr val="2B2318"/>
                </a:solidFill>
                <a:latin typeface="Cambria" pitchFamily="34" charset="0"/>
                <a:ea typeface="Cambria" pitchFamily="34" charset="-122"/>
                <a:cs typeface="Cambria" pitchFamily="34" charset="-120"/>
              </a:rPr>
              <a:t>?</a:t>
            </a:r>
            <a:endParaRPr lang="en-US" sz="2200" dirty="0"/>
          </a:p>
        </p:txBody>
      </p:sp>
      <p:sp>
        <p:nvSpPr>
          <p:cNvPr id="7" name="Text 5"/>
          <p:cNvSpPr txBox="1"/>
          <p:nvPr/>
        </p:nvSpPr>
        <p:spPr>
          <a:xfrm>
            <a:off x="1188720" y="3246120"/>
            <a:ext cx="740664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Wer war enttäuscht? Schaut auf die linke Seite der Linie.</a:t>
            </a:r>
            <a:endParaRPr lang="en-US" sz="2000" dirty="0"/>
          </a:p>
        </p:txBody>
      </p:sp>
      <p:sp>
        <p:nvSpPr>
          <p:cNvPr id="8" name="Text 6"/>
          <p:cNvSpPr txBox="1"/>
          <p:nvPr/>
        </p:nvSpPr>
        <p:spPr>
          <a:xfrm>
            <a:off x="8229600" y="4754880"/>
            <a:ext cx="457200" cy="182880"/>
          </a:xfrm>
          <a:prstGeom prst="rect">
            <a:avLst/>
          </a:prstGeom>
          <a:noFill/>
          <a:ln/>
        </p:spPr>
        <p:txBody>
          <a:bodyPr wrap="square" lIns="0" tIns="0" rIns="0" bIns="0" rtlCol="0" anchor="t"/>
          <a:lstStyle/>
          <a:p>
            <a:pPr algn="r" indent="0" marL="0">
              <a:buNone/>
            </a:pPr>
            <a:r>
              <a:rPr lang="en-US" sz="900" dirty="0">
                <a:solidFill>
                  <a:srgbClr val="998C77"/>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Wer hat Athen gerechter gemacht?</dc:title>
  <dc:subject>PptxGenJS Presentation</dc:subject>
  <dc:creator>PptxGenJS</dc:creator>
  <cp:lastModifiedBy>PptxGenJS</cp:lastModifiedBy>
  <cp:revision>1</cp:revision>
  <dcterms:created xsi:type="dcterms:W3CDTF">2026-10-05T09:50:18Z</dcterms:created>
  <dcterms:modified xsi:type="dcterms:W3CDTF">2026-10-05T09:50:18Z</dcterms:modified>
</cp:coreProperties>
</file>