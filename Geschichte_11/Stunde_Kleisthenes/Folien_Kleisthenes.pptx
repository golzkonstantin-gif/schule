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Seitentafel: Ziel und Ablauf (Folie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Ziel vorlesen (steht auch an der Seitentafel). * = bei Zeitnot nur kurz. Im Auswerten auf das Ziel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Min. Buch und Hefter zu, nur das Heft. Ansage: „Auf zwei Folien stehen 6 Fehler. Schreibt jede Berichtigung ins Heft.“ Allein (2), Partnercheck (1), Stichproben bei 4–6 Schülern unterschiedlichen Niveaus (2). Zwischen Folie 3 und 4 nach Bedarf wechseln.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Weiter allein bzw. im Partnercheck.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 Min. Vergleichen, Fehler im Heft grün verbessern.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 Min. Vergleichen, Fehler im Heft grün verbessern.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 Min. Offene Leitfrage der letzten Stunde: zwei Schüler antworten in einem Satz, dann aufdecken. Das „Aber“ ist die Gelenkstelle zu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 Min. Kurz selbst erzählen (direkt). Quelle: Lehrbuch 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Jeder legt sich fest (Aha vorbereiten). Nicht besprechen – die Vermutung wird am Ende mit der Lösung verglichen. Lysias ist erfunden, Paiania und die Phyle Pandionis gab es wirklich.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Direkt: Begriffe vor dem Mystery klären.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Prüffrage an zwei Schüler: „Was ist größer – Demos oder Trittys?“ (Trittys).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Direkt: laut denken. „Abschnitt 4 sagt: Er hat das Recht. Abschnitt 6 sagt: Die Adelsfamilien bestimmen, wie man stimmt. Das ist ein Gegensatz – also passt ‚Aber‘ in die Lücke: ‚Aber die großen Adelsfamilien geben … den Ton an.‘ Der Satz stimmt, ich streiche ‚aber‘ unten auf dem Blatt ab.“ Dann die Warnung vorlesen. Gruppen zu dritt bilden, Sets liegen bereit.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15–29 Min. Indirekt: Die Gruppen erschließen die neuen Informationen selbst. Umhergehen, zuhören; Stolpersteine und Hilfen in der Handreichung. Nach 10 Min. Folie 14 zeigen: „Noch 4 Minuten – jetzt schreibt jeder die Antwort.“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25–29 Min. Während die Gruppen schreiben, stehen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 Min. Zwei Gruppen lesen vom Platz vor, du trägst die Kette an der Tafel ein. Abschnitte: Vorher 4+6, Wende 2+8, Reform 5+1, Folge 7; Zusatz 3 (Ostrakismos). Verbindungswörter: aber – doch dann – daraufhin – danach – daraus – dadurch – (deshalb) – außerdem. Vergleich mit der Vermutung: Wie nah wart ihr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33–38 Min. Links: Stadt, Küste, Binnenland mit je 10 Trittyen. Rechts: 10 neue Phylen, jede mit einem Stück aus jedem Gebiet (durch das Los). Prüffragen an 3–4 Schüler: „Warum gerade drei Gebiete mischen?“ (damit keine Familie eine Phyle beherrscht) – „Was verliert der Adlige, was behält er?“ (verliert die geschlossene Gefolgschaft, behält Land und Vermögensklasse). *Ostrakismos nur bei 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38–42 Min. Prüfaufgabe zum Ziel, allein ins Heft. Danach gezielt zwei Schüler unterschiedlichen Niveaus vorlesen lassen. Diese Phase nie kürzen.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42–44 Min.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 Min. Rückbezug aufs Ziel, Ausblick auf Mittwoch (Quellenanalyse).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914400"/>
            <a:ext cx="7863840" cy="457200"/>
          </a:xfrm>
          <a:prstGeom prst="rect">
            <a:avLst/>
          </a:prstGeom>
          <a:noFill/>
          <a:ln/>
        </p:spPr>
        <p:txBody>
          <a:bodyPr wrap="square" lIns="0" tIns="0" rIns="0" bIns="0" rtlCol="0" anchor="t"/>
          <a:lstStyle/>
          <a:p>
            <a:pPr indent="0" marL="0">
              <a:buNone/>
            </a:pPr>
            <a:r>
              <a:rPr lang="en-US" sz="2700" b="1" spc="300" kern="0" dirty="0">
                <a:solidFill>
                  <a:srgbClr val="D9A441"/>
                </a:solidFill>
                <a:latin typeface="Calibri" pitchFamily="34" charset="0"/>
                <a:ea typeface="Calibri" pitchFamily="34" charset="-122"/>
                <a:cs typeface="Calibri" pitchFamily="34" charset="-120"/>
              </a:rPr>
              <a:t>GESCHICHTE · KLASSE 11</a:t>
            </a:r>
            <a:endParaRPr lang="en-US" sz="2700" dirty="0"/>
          </a:p>
        </p:txBody>
      </p:sp>
      <p:sp>
        <p:nvSpPr>
          <p:cNvPr id="3" name="Text 1"/>
          <p:cNvSpPr txBox="1"/>
          <p:nvPr/>
        </p:nvSpPr>
        <p:spPr>
          <a:xfrm>
            <a:off x="640080" y="1417320"/>
            <a:ext cx="786384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Warum stimmt Lysias anders?</a:t>
            </a:r>
            <a:endParaRPr lang="en-US" sz="4000" dirty="0"/>
          </a:p>
        </p:txBody>
      </p:sp>
      <p:sp>
        <p:nvSpPr>
          <p:cNvPr id="4" name="Text 2"/>
          <p:cNvSpPr txBox="1"/>
          <p:nvPr/>
        </p:nvSpPr>
        <p:spPr>
          <a:xfrm>
            <a:off x="640080" y="2331720"/>
            <a:ext cx="7863840" cy="54864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Die Reformen des Kleisthenes (508/07 v. Chr.)</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Ziel und Ablauf</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 Min.</a:t>
            </a:r>
            <a:endParaRPr lang="en-US" sz="2700" dirty="0"/>
          </a:p>
        </p:txBody>
      </p:sp>
      <p:sp>
        <p:nvSpPr>
          <p:cNvPr id="9" name="Shape 7"/>
          <p:cNvSpPr/>
          <p:nvPr/>
        </p:nvSpPr>
        <p:spPr>
          <a:xfrm>
            <a:off x="411480" y="1188720"/>
            <a:ext cx="8321040" cy="1143000"/>
          </a:xfrm>
          <a:prstGeom prst="roundRect">
            <a:avLst>
              <a:gd name="adj" fmla="val 6400"/>
            </a:avLst>
          </a:prstGeom>
          <a:solidFill>
            <a:srgbClr val="2B2318"/>
          </a:solidFill>
          <a:ln w="12700">
            <a:solidFill>
              <a:srgbClr val="2B2318"/>
            </a:solidFill>
            <a:prstDash val="solid"/>
          </a:ln>
        </p:spPr>
      </p:sp>
      <p:sp>
        <p:nvSpPr>
          <p:cNvPr id="10" name="Text 8"/>
          <p:cNvSpPr txBox="1"/>
          <p:nvPr/>
        </p:nvSpPr>
        <p:spPr>
          <a:xfrm>
            <a:off x="594360" y="1188720"/>
            <a:ext cx="7955280" cy="114300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Ich kann erklären, wie Kleisthenes mit den neuen Phylen die Macht der Adelsfamilien brach.</a:t>
            </a:r>
            <a:endParaRPr lang="en-US" sz="2700" dirty="0"/>
          </a:p>
        </p:txBody>
      </p:sp>
      <p:sp>
        <p:nvSpPr>
          <p:cNvPr id="11" name="Text 9"/>
          <p:cNvSpPr txBox="1"/>
          <p:nvPr/>
        </p:nvSpPr>
        <p:spPr>
          <a:xfrm>
            <a:off x="548640" y="2468880"/>
            <a:ext cx="822960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  Fehler finden: Wer regierte Athen?</a:t>
            </a:r>
            <a:endParaRPr lang="en-US" sz="2700" dirty="0"/>
          </a:p>
        </p:txBody>
      </p:sp>
      <p:sp>
        <p:nvSpPr>
          <p:cNvPr id="12" name="Text 10"/>
          <p:cNvSpPr txBox="1"/>
          <p:nvPr/>
        </p:nvSpPr>
        <p:spPr>
          <a:xfrm>
            <a:off x="548640" y="2926080"/>
            <a:ext cx="822960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2  Rätsel und zwei neue Begriffe</a:t>
            </a:r>
            <a:endParaRPr lang="en-US" sz="2700" dirty="0"/>
          </a:p>
        </p:txBody>
      </p:sp>
      <p:sp>
        <p:nvSpPr>
          <p:cNvPr id="13" name="Text 11"/>
          <p:cNvSpPr txBox="1"/>
          <p:nvPr/>
        </p:nvSpPr>
        <p:spPr>
          <a:xfrm>
            <a:off x="548640" y="3383280"/>
            <a:ext cx="822960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3  Mystery: Warum stimmt Lysias anders?</a:t>
            </a:r>
            <a:endParaRPr lang="en-US" sz="2700" dirty="0"/>
          </a:p>
        </p:txBody>
      </p:sp>
      <p:sp>
        <p:nvSpPr>
          <p:cNvPr id="14" name="Text 12"/>
          <p:cNvSpPr txBox="1"/>
          <p:nvPr/>
        </p:nvSpPr>
        <p:spPr>
          <a:xfrm>
            <a:off x="548640" y="3840480"/>
            <a:ext cx="822960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Lösung und neue Ordnung*</a:t>
            </a:r>
            <a:endParaRPr lang="en-US" sz="2700" dirty="0"/>
          </a:p>
        </p:txBody>
      </p:sp>
      <p:sp>
        <p:nvSpPr>
          <p:cNvPr id="15" name="Text 13"/>
          <p:cNvSpPr txBox="1"/>
          <p:nvPr/>
        </p:nvSpPr>
        <p:spPr>
          <a:xfrm>
            <a:off x="548640" y="4297680"/>
            <a:ext cx="822960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5  Abschlussaufgabe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Finde die Fehler (1/2)</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 Min.</a:t>
            </a:r>
            <a:endParaRPr lang="en-US" sz="2700" dirty="0"/>
          </a:p>
        </p:txBody>
      </p:sp>
      <p:sp>
        <p:nvSpPr>
          <p:cNvPr id="9" name="Shape 7"/>
          <p:cNvSpPr/>
          <p:nvPr/>
        </p:nvSpPr>
        <p:spPr>
          <a:xfrm>
            <a:off x="411480" y="1143000"/>
            <a:ext cx="8321040" cy="1783080"/>
          </a:xfrm>
          <a:prstGeom prst="roundRect">
            <a:avLst>
              <a:gd name="adj" fmla="val 4103"/>
            </a:avLst>
          </a:prstGeom>
          <a:solidFill>
            <a:srgbClr val="FBF8F2"/>
          </a:solidFill>
          <a:ln w="12700">
            <a:solidFill>
              <a:srgbClr val="FBF8F2"/>
            </a:solidFill>
            <a:prstDash val="solid"/>
          </a:ln>
        </p:spPr>
      </p:sp>
      <p:sp>
        <p:nvSpPr>
          <p:cNvPr id="10" name="Text 8"/>
          <p:cNvSpPr txBox="1"/>
          <p:nvPr/>
        </p:nvSpPr>
        <p:spPr>
          <a:xfrm>
            <a:off x="594360" y="117043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Adelsfamilien  </a:t>
            </a:r>
            <a:pPr indent="0" marL="0">
              <a:buNone/>
            </a:pPr>
            <a:r>
              <a:rPr lang="en-US" sz="2700" dirty="0">
                <a:solidFill>
                  <a:srgbClr val="5A5044"/>
                </a:solidFill>
                <a:latin typeface="Calibri" pitchFamily="34" charset="0"/>
                <a:ea typeface="Calibri" pitchFamily="34" charset="-122"/>
                <a:cs typeface="Calibri" pitchFamily="34" charset="-120"/>
              </a:rPr>
              <a:t>vor 600</a:t>
            </a:r>
            <a:endParaRPr lang="en-US" sz="2700" dirty="0"/>
          </a:p>
        </p:txBody>
      </p:sp>
      <p:sp>
        <p:nvSpPr>
          <p:cNvPr id="11" name="Text 9"/>
          <p:cNvSpPr txBox="1"/>
          <p:nvPr/>
        </p:nvSpPr>
        <p:spPr>
          <a:xfrm>
            <a:off x="594360" y="158191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Aristokratie = Herrschaft der Besten</a:t>
            </a:r>
            <a:endParaRPr lang="en-US" sz="2700" dirty="0"/>
          </a:p>
        </p:txBody>
      </p:sp>
      <p:sp>
        <p:nvSpPr>
          <p:cNvPr id="12" name="Text 10"/>
          <p:cNvSpPr txBox="1"/>
          <p:nvPr/>
        </p:nvSpPr>
        <p:spPr>
          <a:xfrm>
            <a:off x="594360" y="2011680"/>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Wenige Adelsfamilien haben die Macht.</a:t>
            </a:r>
            <a:endParaRPr lang="en-US" sz="2700" dirty="0"/>
          </a:p>
        </p:txBody>
      </p:sp>
      <p:sp>
        <p:nvSpPr>
          <p:cNvPr id="13" name="Text 11"/>
          <p:cNvSpPr txBox="1"/>
          <p:nvPr/>
        </p:nvSpPr>
        <p:spPr>
          <a:xfrm>
            <a:off x="594360" y="2450592"/>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Recht sprechen gewählte Richter aus dem Volk.</a:t>
            </a:r>
            <a:endParaRPr lang="en-US" sz="2700" dirty="0"/>
          </a:p>
        </p:txBody>
      </p:sp>
      <p:sp>
        <p:nvSpPr>
          <p:cNvPr id="14" name="Shape 12"/>
          <p:cNvSpPr/>
          <p:nvPr/>
        </p:nvSpPr>
        <p:spPr>
          <a:xfrm>
            <a:off x="411480" y="3017520"/>
            <a:ext cx="8321040" cy="1783080"/>
          </a:xfrm>
          <a:prstGeom prst="roundRect">
            <a:avLst>
              <a:gd name="adj" fmla="val 4103"/>
            </a:avLst>
          </a:prstGeom>
          <a:solidFill>
            <a:srgbClr val="FFFFFF"/>
          </a:solidFill>
          <a:ln w="12700">
            <a:solidFill>
              <a:srgbClr val="FFFFFF"/>
            </a:solidFill>
            <a:prstDash val="solid"/>
          </a:ln>
        </p:spPr>
      </p:sp>
      <p:sp>
        <p:nvSpPr>
          <p:cNvPr id="15" name="Text 13"/>
          <p:cNvSpPr txBox="1"/>
          <p:nvPr/>
        </p:nvSpPr>
        <p:spPr>
          <a:xfrm>
            <a:off x="594360" y="304495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Drakon  </a:t>
            </a:r>
            <a:pPr indent="0" marL="0">
              <a:buNone/>
            </a:pPr>
            <a:r>
              <a:rPr lang="en-US" sz="2700" dirty="0">
                <a:solidFill>
                  <a:srgbClr val="5A5044"/>
                </a:solidFill>
                <a:latin typeface="Calibri" pitchFamily="34" charset="0"/>
                <a:ea typeface="Calibri" pitchFamily="34" charset="-122"/>
                <a:cs typeface="Calibri" pitchFamily="34" charset="-120"/>
              </a:rPr>
              <a:t>624/621</a:t>
            </a:r>
            <a:endParaRPr lang="en-US" sz="2700" dirty="0"/>
          </a:p>
        </p:txBody>
      </p:sp>
      <p:sp>
        <p:nvSpPr>
          <p:cNvPr id="16" name="Text 14"/>
          <p:cNvSpPr txBox="1"/>
          <p:nvPr/>
        </p:nvSpPr>
        <p:spPr>
          <a:xfrm>
            <a:off x="594360" y="345643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Aristokratie</a:t>
            </a:r>
            <a:endParaRPr lang="en-US" sz="2700" dirty="0"/>
          </a:p>
        </p:txBody>
      </p:sp>
      <p:sp>
        <p:nvSpPr>
          <p:cNvPr id="17" name="Text 15"/>
          <p:cNvSpPr txBox="1"/>
          <p:nvPr/>
        </p:nvSpPr>
        <p:spPr>
          <a:xfrm>
            <a:off x="594360" y="3886200"/>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Er schreibt das Recht erstmals auf.</a:t>
            </a:r>
            <a:endParaRPr lang="en-US" sz="2700" dirty="0"/>
          </a:p>
        </p:txBody>
      </p:sp>
      <p:sp>
        <p:nvSpPr>
          <p:cNvPr id="18" name="Text 16"/>
          <p:cNvSpPr txBox="1"/>
          <p:nvPr/>
        </p:nvSpPr>
        <p:spPr>
          <a:xfrm>
            <a:off x="594360" y="4325112"/>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Er schafft die Schuldknechtschaft ab.</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Finde die Fehler (2/2)</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6 Fehler</a:t>
            </a:r>
            <a:endParaRPr lang="en-US" sz="2700" dirty="0"/>
          </a:p>
        </p:txBody>
      </p:sp>
      <p:sp>
        <p:nvSpPr>
          <p:cNvPr id="9" name="Shape 7"/>
          <p:cNvSpPr/>
          <p:nvPr/>
        </p:nvSpPr>
        <p:spPr>
          <a:xfrm>
            <a:off x="411480" y="1143000"/>
            <a:ext cx="8321040" cy="1783080"/>
          </a:xfrm>
          <a:prstGeom prst="roundRect">
            <a:avLst>
              <a:gd name="adj" fmla="val 4103"/>
            </a:avLst>
          </a:prstGeom>
          <a:solidFill>
            <a:srgbClr val="FBF8F2"/>
          </a:solidFill>
          <a:ln w="12700">
            <a:solidFill>
              <a:srgbClr val="FBF8F2"/>
            </a:solidFill>
            <a:prstDash val="solid"/>
          </a:ln>
        </p:spPr>
      </p:sp>
      <p:sp>
        <p:nvSpPr>
          <p:cNvPr id="10" name="Text 8"/>
          <p:cNvSpPr txBox="1"/>
          <p:nvPr/>
        </p:nvSpPr>
        <p:spPr>
          <a:xfrm>
            <a:off x="594360" y="117043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Solon  </a:t>
            </a:r>
            <a:pPr indent="0" marL="0">
              <a:buNone/>
            </a:pPr>
            <a:r>
              <a:rPr lang="en-US" sz="2700" dirty="0">
                <a:solidFill>
                  <a:srgbClr val="5A5044"/>
                </a:solidFill>
                <a:latin typeface="Calibri" pitchFamily="34" charset="0"/>
                <a:ea typeface="Calibri" pitchFamily="34" charset="-122"/>
                <a:cs typeface="Calibri" pitchFamily="34" charset="-120"/>
              </a:rPr>
              <a:t>594/93</a:t>
            </a:r>
            <a:endParaRPr lang="en-US" sz="2700" dirty="0"/>
          </a:p>
        </p:txBody>
      </p:sp>
      <p:sp>
        <p:nvSpPr>
          <p:cNvPr id="11" name="Text 9"/>
          <p:cNvSpPr txBox="1"/>
          <p:nvPr/>
        </p:nvSpPr>
        <p:spPr>
          <a:xfrm>
            <a:off x="594360" y="158191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Timokratie = Herrschaft nach dem Wert (Besitz)</a:t>
            </a:r>
            <a:endParaRPr lang="en-US" sz="2700" dirty="0"/>
          </a:p>
        </p:txBody>
      </p:sp>
      <p:sp>
        <p:nvSpPr>
          <p:cNvPr id="12" name="Text 10"/>
          <p:cNvSpPr txBox="1"/>
          <p:nvPr/>
        </p:nvSpPr>
        <p:spPr>
          <a:xfrm>
            <a:off x="594360" y="2011680"/>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Er streicht die Schulden und verteilt das Land neu.</a:t>
            </a:r>
            <a:endParaRPr lang="en-US" sz="2700" dirty="0"/>
          </a:p>
        </p:txBody>
      </p:sp>
      <p:sp>
        <p:nvSpPr>
          <p:cNvPr id="13" name="Text 11"/>
          <p:cNvSpPr txBox="1"/>
          <p:nvPr/>
        </p:nvSpPr>
        <p:spPr>
          <a:xfrm>
            <a:off x="594360" y="2450592"/>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Die Rechte richten sich nach der Herkunft.</a:t>
            </a:r>
            <a:endParaRPr lang="en-US" sz="2700" dirty="0"/>
          </a:p>
        </p:txBody>
      </p:sp>
      <p:sp>
        <p:nvSpPr>
          <p:cNvPr id="14" name="Shape 12"/>
          <p:cNvSpPr/>
          <p:nvPr/>
        </p:nvSpPr>
        <p:spPr>
          <a:xfrm>
            <a:off x="411480" y="3017520"/>
            <a:ext cx="8321040" cy="1783080"/>
          </a:xfrm>
          <a:prstGeom prst="roundRect">
            <a:avLst>
              <a:gd name="adj" fmla="val 4103"/>
            </a:avLst>
          </a:prstGeom>
          <a:solidFill>
            <a:srgbClr val="FFFFFF"/>
          </a:solidFill>
          <a:ln w="12700">
            <a:solidFill>
              <a:srgbClr val="FFFFFF"/>
            </a:solidFill>
            <a:prstDash val="solid"/>
          </a:ln>
        </p:spPr>
      </p:sp>
      <p:sp>
        <p:nvSpPr>
          <p:cNvPr id="15" name="Text 13"/>
          <p:cNvSpPr txBox="1"/>
          <p:nvPr/>
        </p:nvSpPr>
        <p:spPr>
          <a:xfrm>
            <a:off x="594360" y="304495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Peisistratos  </a:t>
            </a:r>
            <a:pPr indent="0" marL="0">
              <a:buNone/>
            </a:pPr>
            <a:r>
              <a:rPr lang="en-US" sz="2700" dirty="0">
                <a:solidFill>
                  <a:srgbClr val="5A5044"/>
                </a:solidFill>
                <a:latin typeface="Calibri" pitchFamily="34" charset="0"/>
                <a:ea typeface="Calibri" pitchFamily="34" charset="-122"/>
                <a:cs typeface="Calibri" pitchFamily="34" charset="-120"/>
              </a:rPr>
              <a:t>546</a:t>
            </a:r>
            <a:endParaRPr lang="en-US" sz="2700" dirty="0"/>
          </a:p>
        </p:txBody>
      </p:sp>
      <p:sp>
        <p:nvSpPr>
          <p:cNvPr id="16" name="Text 14"/>
          <p:cNvSpPr txBox="1"/>
          <p:nvPr/>
        </p:nvSpPr>
        <p:spPr>
          <a:xfrm>
            <a:off x="594360" y="345643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Tyrannis = Herrschaft eines Alleinherrschers</a:t>
            </a:r>
            <a:endParaRPr lang="en-US" sz="2700" dirty="0"/>
          </a:p>
        </p:txBody>
      </p:sp>
      <p:sp>
        <p:nvSpPr>
          <p:cNvPr id="17" name="Text 15"/>
          <p:cNvSpPr txBox="1"/>
          <p:nvPr/>
        </p:nvSpPr>
        <p:spPr>
          <a:xfrm>
            <a:off x="594360" y="3886200"/>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Die Volksversammlung wählt ihn.</a:t>
            </a:r>
            <a:endParaRPr lang="en-US" sz="2700" dirty="0"/>
          </a:p>
        </p:txBody>
      </p:sp>
      <p:sp>
        <p:nvSpPr>
          <p:cNvPr id="18" name="Text 16"/>
          <p:cNvSpPr txBox="1"/>
          <p:nvPr/>
        </p:nvSpPr>
        <p:spPr>
          <a:xfrm>
            <a:off x="594360" y="4325112"/>
            <a:ext cx="8046720" cy="420624"/>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 Er schafft Solons Verfassung ab.</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(1/2)</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43000"/>
            <a:ext cx="8321040" cy="1783080"/>
          </a:xfrm>
          <a:prstGeom prst="roundRect">
            <a:avLst>
              <a:gd name="adj" fmla="val 4103"/>
            </a:avLst>
          </a:prstGeom>
          <a:solidFill>
            <a:srgbClr val="FBF8F2"/>
          </a:solidFill>
          <a:ln w="12700">
            <a:solidFill>
              <a:srgbClr val="FBF8F2"/>
            </a:solidFill>
            <a:prstDash val="solid"/>
          </a:ln>
        </p:spPr>
      </p:sp>
      <p:sp>
        <p:nvSpPr>
          <p:cNvPr id="10" name="Text 8"/>
          <p:cNvSpPr txBox="1"/>
          <p:nvPr/>
        </p:nvSpPr>
        <p:spPr>
          <a:xfrm>
            <a:off x="594360" y="117043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Adelsfamilien  </a:t>
            </a:r>
            <a:pPr indent="0" marL="0">
              <a:buNone/>
            </a:pPr>
            <a:r>
              <a:rPr lang="en-US" sz="2700" dirty="0">
                <a:solidFill>
                  <a:srgbClr val="5A5044"/>
                </a:solidFill>
                <a:latin typeface="Calibri" pitchFamily="34" charset="0"/>
                <a:ea typeface="Calibri" pitchFamily="34" charset="-122"/>
                <a:cs typeface="Calibri" pitchFamily="34" charset="-120"/>
              </a:rPr>
              <a:t>vor 600</a:t>
            </a:r>
            <a:endParaRPr lang="en-US" sz="2700" dirty="0"/>
          </a:p>
        </p:txBody>
      </p:sp>
      <p:sp>
        <p:nvSpPr>
          <p:cNvPr id="11" name="Text 9"/>
          <p:cNvSpPr txBox="1"/>
          <p:nvPr/>
        </p:nvSpPr>
        <p:spPr>
          <a:xfrm>
            <a:off x="594360" y="158191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Aristokratie = Herrschaft der Besten</a:t>
            </a:r>
            <a:endParaRPr lang="en-US" sz="2700" dirty="0"/>
          </a:p>
        </p:txBody>
      </p:sp>
      <p:sp>
        <p:nvSpPr>
          <p:cNvPr id="12" name="Text 10"/>
          <p:cNvSpPr txBox="1"/>
          <p:nvPr/>
        </p:nvSpPr>
        <p:spPr>
          <a:xfrm>
            <a:off x="594360" y="2011680"/>
            <a:ext cx="8046720" cy="420624"/>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Wenige Adelsfamilien haben die Macht.</a:t>
            </a:r>
            <a:endParaRPr lang="en-US" sz="2700" dirty="0"/>
          </a:p>
        </p:txBody>
      </p:sp>
      <p:sp>
        <p:nvSpPr>
          <p:cNvPr id="13" name="Text 11"/>
          <p:cNvSpPr txBox="1"/>
          <p:nvPr/>
        </p:nvSpPr>
        <p:spPr>
          <a:xfrm>
            <a:off x="594360" y="2450592"/>
            <a:ext cx="8046720" cy="420624"/>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Recht spricht der Adel.</a:t>
            </a:r>
            <a:endParaRPr lang="en-US" sz="2700" dirty="0"/>
          </a:p>
        </p:txBody>
      </p:sp>
      <p:sp>
        <p:nvSpPr>
          <p:cNvPr id="14" name="Shape 12"/>
          <p:cNvSpPr/>
          <p:nvPr/>
        </p:nvSpPr>
        <p:spPr>
          <a:xfrm>
            <a:off x="411480" y="3017520"/>
            <a:ext cx="8321040" cy="1783080"/>
          </a:xfrm>
          <a:prstGeom prst="roundRect">
            <a:avLst>
              <a:gd name="adj" fmla="val 4103"/>
            </a:avLst>
          </a:prstGeom>
          <a:solidFill>
            <a:srgbClr val="FFFFFF"/>
          </a:solidFill>
          <a:ln w="12700">
            <a:solidFill>
              <a:srgbClr val="FFFFFF"/>
            </a:solidFill>
            <a:prstDash val="solid"/>
          </a:ln>
        </p:spPr>
      </p:sp>
      <p:sp>
        <p:nvSpPr>
          <p:cNvPr id="15" name="Text 13"/>
          <p:cNvSpPr txBox="1"/>
          <p:nvPr/>
        </p:nvSpPr>
        <p:spPr>
          <a:xfrm>
            <a:off x="594360" y="304495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Drakon  </a:t>
            </a:r>
            <a:pPr indent="0" marL="0">
              <a:buNone/>
            </a:pPr>
            <a:r>
              <a:rPr lang="en-US" sz="2700" dirty="0">
                <a:solidFill>
                  <a:srgbClr val="5A5044"/>
                </a:solidFill>
                <a:latin typeface="Calibri" pitchFamily="34" charset="0"/>
                <a:ea typeface="Calibri" pitchFamily="34" charset="-122"/>
                <a:cs typeface="Calibri" pitchFamily="34" charset="-120"/>
              </a:rPr>
              <a:t>624/621</a:t>
            </a:r>
            <a:endParaRPr lang="en-US" sz="2700" dirty="0"/>
          </a:p>
        </p:txBody>
      </p:sp>
      <p:sp>
        <p:nvSpPr>
          <p:cNvPr id="16" name="Text 14"/>
          <p:cNvSpPr txBox="1"/>
          <p:nvPr/>
        </p:nvSpPr>
        <p:spPr>
          <a:xfrm>
            <a:off x="594360" y="345643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Aristokratie</a:t>
            </a:r>
            <a:endParaRPr lang="en-US" sz="2700" dirty="0"/>
          </a:p>
        </p:txBody>
      </p:sp>
      <p:sp>
        <p:nvSpPr>
          <p:cNvPr id="17" name="Text 15"/>
          <p:cNvSpPr txBox="1"/>
          <p:nvPr/>
        </p:nvSpPr>
        <p:spPr>
          <a:xfrm>
            <a:off x="594360" y="3886200"/>
            <a:ext cx="8046720" cy="420624"/>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Er schreibt das Recht erstmals auf.</a:t>
            </a:r>
            <a:endParaRPr lang="en-US" sz="2700" dirty="0"/>
          </a:p>
        </p:txBody>
      </p:sp>
      <p:sp>
        <p:nvSpPr>
          <p:cNvPr id="18" name="Text 16"/>
          <p:cNvSpPr txBox="1"/>
          <p:nvPr/>
        </p:nvSpPr>
        <p:spPr>
          <a:xfrm>
            <a:off x="594360" y="4325112"/>
            <a:ext cx="8046720" cy="420624"/>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Die Schuldknechtschaft bleibt.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(2/2)</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43000"/>
            <a:ext cx="8321040" cy="1783080"/>
          </a:xfrm>
          <a:prstGeom prst="roundRect">
            <a:avLst>
              <a:gd name="adj" fmla="val 4103"/>
            </a:avLst>
          </a:prstGeom>
          <a:solidFill>
            <a:srgbClr val="FBF8F2"/>
          </a:solidFill>
          <a:ln w="12700">
            <a:solidFill>
              <a:srgbClr val="FBF8F2"/>
            </a:solidFill>
            <a:prstDash val="solid"/>
          </a:ln>
        </p:spPr>
      </p:sp>
      <p:sp>
        <p:nvSpPr>
          <p:cNvPr id="10" name="Text 8"/>
          <p:cNvSpPr txBox="1"/>
          <p:nvPr/>
        </p:nvSpPr>
        <p:spPr>
          <a:xfrm>
            <a:off x="594360" y="117043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Solon  </a:t>
            </a:r>
            <a:pPr indent="0" marL="0">
              <a:buNone/>
            </a:pPr>
            <a:r>
              <a:rPr lang="en-US" sz="2700" dirty="0">
                <a:solidFill>
                  <a:srgbClr val="5A5044"/>
                </a:solidFill>
                <a:latin typeface="Calibri" pitchFamily="34" charset="0"/>
                <a:ea typeface="Calibri" pitchFamily="34" charset="-122"/>
                <a:cs typeface="Calibri" pitchFamily="34" charset="-120"/>
              </a:rPr>
              <a:t>594/93</a:t>
            </a:r>
            <a:endParaRPr lang="en-US" sz="2700" dirty="0"/>
          </a:p>
        </p:txBody>
      </p:sp>
      <p:sp>
        <p:nvSpPr>
          <p:cNvPr id="11" name="Text 9"/>
          <p:cNvSpPr txBox="1"/>
          <p:nvPr/>
        </p:nvSpPr>
        <p:spPr>
          <a:xfrm>
            <a:off x="594360" y="158191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Timokratie = Herrschaft nach dem Wert (Besitz)</a:t>
            </a:r>
            <a:endParaRPr lang="en-US" sz="2700" dirty="0"/>
          </a:p>
        </p:txBody>
      </p:sp>
      <p:sp>
        <p:nvSpPr>
          <p:cNvPr id="12" name="Text 10"/>
          <p:cNvSpPr txBox="1"/>
          <p:nvPr/>
        </p:nvSpPr>
        <p:spPr>
          <a:xfrm>
            <a:off x="594360" y="2011680"/>
            <a:ext cx="8046720" cy="420624"/>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Schulden ja – kein neues Land.</a:t>
            </a:r>
            <a:endParaRPr lang="en-US" sz="2700" dirty="0"/>
          </a:p>
        </p:txBody>
      </p:sp>
      <p:sp>
        <p:nvSpPr>
          <p:cNvPr id="13" name="Text 11"/>
          <p:cNvSpPr txBox="1"/>
          <p:nvPr/>
        </p:nvSpPr>
        <p:spPr>
          <a:xfrm>
            <a:off x="594360" y="2450592"/>
            <a:ext cx="8046720" cy="420624"/>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Die Rechte richten sich nach dem Besitz.</a:t>
            </a:r>
            <a:endParaRPr lang="en-US" sz="2700" dirty="0"/>
          </a:p>
        </p:txBody>
      </p:sp>
      <p:sp>
        <p:nvSpPr>
          <p:cNvPr id="14" name="Shape 12"/>
          <p:cNvSpPr/>
          <p:nvPr/>
        </p:nvSpPr>
        <p:spPr>
          <a:xfrm>
            <a:off x="411480" y="3017520"/>
            <a:ext cx="8321040" cy="1783080"/>
          </a:xfrm>
          <a:prstGeom prst="roundRect">
            <a:avLst>
              <a:gd name="adj" fmla="val 4103"/>
            </a:avLst>
          </a:prstGeom>
          <a:solidFill>
            <a:srgbClr val="FFFFFF"/>
          </a:solidFill>
          <a:ln w="12700">
            <a:solidFill>
              <a:srgbClr val="FFFFFF"/>
            </a:solidFill>
            <a:prstDash val="solid"/>
          </a:ln>
        </p:spPr>
      </p:sp>
      <p:sp>
        <p:nvSpPr>
          <p:cNvPr id="15" name="Text 13"/>
          <p:cNvSpPr txBox="1"/>
          <p:nvPr/>
        </p:nvSpPr>
        <p:spPr>
          <a:xfrm>
            <a:off x="594360" y="3044952"/>
            <a:ext cx="8046720" cy="411480"/>
          </a:xfrm>
          <a:prstGeom prst="rect">
            <a:avLst/>
          </a:prstGeom>
          <a:noFill/>
          <a:ln/>
        </p:spPr>
        <p:txBody>
          <a:bodyPr wrap="square" lIns="0" tIns="0" rIns="0" bIns="0" rtlCol="0" anchor="ctr"/>
          <a:lstStyle/>
          <a:p>
            <a:pPr indent="0" marL="0">
              <a:buNone/>
            </a:pPr>
            <a:r>
              <a:rPr lang="en-US" sz="2700" b="1" dirty="0">
                <a:solidFill>
                  <a:srgbClr val="2B2318"/>
                </a:solidFill>
                <a:latin typeface="Cambria" pitchFamily="34" charset="0"/>
                <a:ea typeface="Cambria" pitchFamily="34" charset="-122"/>
                <a:cs typeface="Cambria" pitchFamily="34" charset="-120"/>
              </a:rPr>
              <a:t>Peisistratos  </a:t>
            </a:r>
            <a:pPr indent="0" marL="0">
              <a:buNone/>
            </a:pPr>
            <a:r>
              <a:rPr lang="en-US" sz="2700" dirty="0">
                <a:solidFill>
                  <a:srgbClr val="5A5044"/>
                </a:solidFill>
                <a:latin typeface="Calibri" pitchFamily="34" charset="0"/>
                <a:ea typeface="Calibri" pitchFamily="34" charset="-122"/>
                <a:cs typeface="Calibri" pitchFamily="34" charset="-120"/>
              </a:rPr>
              <a:t>546</a:t>
            </a:r>
            <a:endParaRPr lang="en-US" sz="2700" dirty="0"/>
          </a:p>
        </p:txBody>
      </p:sp>
      <p:sp>
        <p:nvSpPr>
          <p:cNvPr id="16" name="Text 14"/>
          <p:cNvSpPr txBox="1"/>
          <p:nvPr/>
        </p:nvSpPr>
        <p:spPr>
          <a:xfrm>
            <a:off x="594360" y="3456432"/>
            <a:ext cx="8046720" cy="41148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Tyrannis = Herrschaft eines Alleinherrschers</a:t>
            </a:r>
            <a:endParaRPr lang="en-US" sz="2700" dirty="0"/>
          </a:p>
        </p:txBody>
      </p:sp>
      <p:sp>
        <p:nvSpPr>
          <p:cNvPr id="17" name="Text 15"/>
          <p:cNvSpPr txBox="1"/>
          <p:nvPr/>
        </p:nvSpPr>
        <p:spPr>
          <a:xfrm>
            <a:off x="594360" y="3886200"/>
            <a:ext cx="8046720" cy="420624"/>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Er erobert die Macht mit Söldnern.</a:t>
            </a:r>
            <a:endParaRPr lang="en-US" sz="2700" dirty="0"/>
          </a:p>
        </p:txBody>
      </p:sp>
      <p:sp>
        <p:nvSpPr>
          <p:cNvPr id="18" name="Text 16"/>
          <p:cNvSpPr txBox="1"/>
          <p:nvPr/>
        </p:nvSpPr>
        <p:spPr>
          <a:xfrm>
            <a:off x="594360" y="4325112"/>
            <a:ext cx="8046720" cy="420624"/>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Die Verfassung bleibt.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Peisistratos – Wegbereiter der Demokratie?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234440"/>
            <a:ext cx="8321040" cy="1463040"/>
          </a:xfrm>
          <a:prstGeom prst="roundRect">
            <a:avLst>
              <a:gd name="adj" fmla="val 5000"/>
            </a:avLst>
          </a:prstGeom>
          <a:solidFill>
            <a:srgbClr val="F4ECDE"/>
          </a:solidFill>
          <a:ln w="12700">
            <a:solidFill>
              <a:srgbClr val="F4ECDE"/>
            </a:solidFill>
            <a:prstDash val="solid"/>
          </a:ln>
        </p:spPr>
      </p:sp>
      <p:sp>
        <p:nvSpPr>
          <p:cNvPr id="10" name="Text 8"/>
          <p:cNvSpPr txBox="1"/>
          <p:nvPr/>
        </p:nvSpPr>
        <p:spPr>
          <a:xfrm>
            <a:off x="594360" y="1234440"/>
            <a:ext cx="7955280" cy="146304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Ja – ungewollt: Bauern und Mittelstand werden unabhängiger, der mächtigste Adel verliert.</a:t>
            </a:r>
            <a:endParaRPr lang="en-US" sz="2700" dirty="0"/>
          </a:p>
        </p:txBody>
      </p:sp>
      <p:sp>
        <p:nvSpPr>
          <p:cNvPr id="11" name="Shape 9"/>
          <p:cNvSpPr/>
          <p:nvPr/>
        </p:nvSpPr>
        <p:spPr>
          <a:xfrm>
            <a:off x="411480" y="2880360"/>
            <a:ext cx="8321040" cy="1188720"/>
          </a:xfrm>
          <a:prstGeom prst="roundRect">
            <a:avLst>
              <a:gd name="adj" fmla="val 6154"/>
            </a:avLst>
          </a:prstGeom>
          <a:solidFill>
            <a:srgbClr val="2B2318"/>
          </a:solidFill>
          <a:ln w="12700">
            <a:solidFill>
              <a:srgbClr val="2B2318"/>
            </a:solidFill>
            <a:prstDash val="solid"/>
          </a:ln>
        </p:spPr>
      </p:sp>
      <p:sp>
        <p:nvSpPr>
          <p:cNvPr id="12" name="Text 10"/>
          <p:cNvSpPr txBox="1"/>
          <p:nvPr/>
        </p:nvSpPr>
        <p:spPr>
          <a:xfrm>
            <a:off x="594360" y="2880360"/>
            <a:ext cx="7955280" cy="118872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Aber: Die Adelsfamilien bestimmen weiter über ihre Anhänger.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Das Ende der Tyrannis</a:t>
            </a:r>
            <a:endParaRPr lang="en-US" sz="3600" dirty="0"/>
          </a:p>
        </p:txBody>
      </p:sp>
      <p:sp>
        <p:nvSpPr>
          <p:cNvPr id="8" name="Text 6"/>
          <p:cNvSpPr txBox="1"/>
          <p:nvPr/>
        </p:nvSpPr>
        <p:spPr>
          <a:xfrm>
            <a:off x="548640" y="1234440"/>
            <a:ext cx="8229600" cy="502920"/>
          </a:xfrm>
          <a:prstGeom prst="rect">
            <a:avLst/>
          </a:prstGeom>
          <a:noFill/>
          <a:ln/>
        </p:spPr>
        <p:txBody>
          <a:bodyPr wrap="square" lIns="0" tIns="0" rIns="0" bIns="0" rtlCol="0" anchor="ctr"/>
          <a:lstStyle/>
          <a:p>
            <a:pPr indent="0" marL="0">
              <a:buNone/>
            </a:pPr>
            <a:r>
              <a:rPr lang="en-US" sz="2700" b="1" dirty="0">
                <a:solidFill>
                  <a:srgbClr val="AD4426"/>
                </a:solidFill>
                <a:latin typeface="Cambria" pitchFamily="34" charset="0"/>
                <a:ea typeface="Cambria" pitchFamily="34" charset="-122"/>
                <a:cs typeface="Cambria" pitchFamily="34" charset="-120"/>
              </a:rPr>
              <a:t>528/27 v. Chr.   </a:t>
            </a:r>
            <a:pPr indent="0" marL="0">
              <a:buNone/>
            </a:pPr>
            <a:r>
              <a:rPr lang="en-US" sz="2700" dirty="0">
                <a:solidFill>
                  <a:srgbClr val="2B2318"/>
                </a:solidFill>
                <a:latin typeface="Calibri" pitchFamily="34" charset="0"/>
                <a:ea typeface="Calibri" pitchFamily="34" charset="-122"/>
                <a:cs typeface="Calibri" pitchFamily="34" charset="-120"/>
              </a:rPr>
              <a:t>Peisistratos stirbt, seine Söhne herrschen.</a:t>
            </a:r>
            <a:endParaRPr lang="en-US" sz="2700" dirty="0"/>
          </a:p>
        </p:txBody>
      </p:sp>
      <p:sp>
        <p:nvSpPr>
          <p:cNvPr id="9" name="Text 7"/>
          <p:cNvSpPr txBox="1"/>
          <p:nvPr/>
        </p:nvSpPr>
        <p:spPr>
          <a:xfrm>
            <a:off x="548640" y="1783080"/>
            <a:ext cx="8229600" cy="502920"/>
          </a:xfrm>
          <a:prstGeom prst="rect">
            <a:avLst/>
          </a:prstGeom>
          <a:noFill/>
          <a:ln/>
        </p:spPr>
        <p:txBody>
          <a:bodyPr wrap="square" lIns="0" tIns="0" rIns="0" bIns="0" rtlCol="0" anchor="ctr"/>
          <a:lstStyle/>
          <a:p>
            <a:pPr indent="0" marL="0">
              <a:buNone/>
            </a:pPr>
            <a:r>
              <a:rPr lang="en-US" sz="2700" b="1" dirty="0">
                <a:solidFill>
                  <a:srgbClr val="AD4426"/>
                </a:solidFill>
                <a:latin typeface="Cambria" pitchFamily="34" charset="0"/>
                <a:ea typeface="Cambria" pitchFamily="34" charset="-122"/>
                <a:cs typeface="Cambria" pitchFamily="34" charset="-120"/>
              </a:rPr>
              <a:t>514 v. Chr.   </a:t>
            </a:r>
            <a:pPr indent="0" marL="0">
              <a:buNone/>
            </a:pPr>
            <a:r>
              <a:rPr lang="en-US" sz="2700" dirty="0">
                <a:solidFill>
                  <a:srgbClr val="2B2318"/>
                </a:solidFill>
                <a:latin typeface="Calibri" pitchFamily="34" charset="0"/>
                <a:ea typeface="Calibri" pitchFamily="34" charset="-122"/>
                <a:cs typeface="Calibri" pitchFamily="34" charset="-120"/>
              </a:rPr>
              <a:t>Sein Sohn Hipparchos wird ermordet.</a:t>
            </a:r>
            <a:endParaRPr lang="en-US" sz="2700" dirty="0"/>
          </a:p>
        </p:txBody>
      </p:sp>
      <p:sp>
        <p:nvSpPr>
          <p:cNvPr id="10" name="Text 8"/>
          <p:cNvSpPr txBox="1"/>
          <p:nvPr/>
        </p:nvSpPr>
        <p:spPr>
          <a:xfrm>
            <a:off x="548640" y="2331720"/>
            <a:ext cx="8229600" cy="502920"/>
          </a:xfrm>
          <a:prstGeom prst="rect">
            <a:avLst/>
          </a:prstGeom>
          <a:noFill/>
          <a:ln/>
        </p:spPr>
        <p:txBody>
          <a:bodyPr wrap="square" lIns="0" tIns="0" rIns="0" bIns="0" rtlCol="0" anchor="ctr"/>
          <a:lstStyle/>
          <a:p>
            <a:pPr indent="0" marL="0">
              <a:buNone/>
            </a:pPr>
            <a:r>
              <a:rPr lang="en-US" sz="2700" b="1" dirty="0">
                <a:solidFill>
                  <a:srgbClr val="AD4426"/>
                </a:solidFill>
                <a:latin typeface="Cambria" pitchFamily="34" charset="0"/>
                <a:ea typeface="Cambria" pitchFamily="34" charset="-122"/>
                <a:cs typeface="Cambria" pitchFamily="34" charset="-120"/>
              </a:rPr>
              <a:t>510 v. Chr.   </a:t>
            </a:r>
            <a:pPr indent="0" marL="0">
              <a:buNone/>
            </a:pPr>
            <a:r>
              <a:rPr lang="en-US" sz="2700" dirty="0">
                <a:solidFill>
                  <a:srgbClr val="2B2318"/>
                </a:solidFill>
                <a:latin typeface="Calibri" pitchFamily="34" charset="0"/>
                <a:ea typeface="Calibri" pitchFamily="34" charset="-122"/>
                <a:cs typeface="Calibri" pitchFamily="34" charset="-120"/>
              </a:rPr>
              <a:t>Sein Sohn Hippias wird verbannt.</a:t>
            </a:r>
            <a:endParaRPr lang="en-US" sz="2700" dirty="0"/>
          </a:p>
        </p:txBody>
      </p:sp>
      <p:sp>
        <p:nvSpPr>
          <p:cNvPr id="11" name="Shape 9"/>
          <p:cNvSpPr/>
          <p:nvPr/>
        </p:nvSpPr>
        <p:spPr>
          <a:xfrm>
            <a:off x="411480" y="3063240"/>
            <a:ext cx="8321040" cy="1463040"/>
          </a:xfrm>
          <a:prstGeom prst="roundRect">
            <a:avLst>
              <a:gd name="adj" fmla="val 5000"/>
            </a:avLst>
          </a:prstGeom>
          <a:solidFill>
            <a:srgbClr val="2B2318"/>
          </a:solidFill>
          <a:ln w="12700">
            <a:solidFill>
              <a:srgbClr val="2B2318"/>
            </a:solidFill>
            <a:prstDash val="solid"/>
          </a:ln>
        </p:spPr>
      </p:sp>
      <p:sp>
        <p:nvSpPr>
          <p:cNvPr id="12" name="Text 10"/>
          <p:cNvSpPr txBox="1"/>
          <p:nvPr/>
        </p:nvSpPr>
        <p:spPr>
          <a:xfrm>
            <a:off x="594360" y="3063240"/>
            <a:ext cx="7955280" cy="146304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Jetzt kämpfen wieder die Adelsfamilien. Wie bricht man ihre Macht – ohne Land wegzunehmen?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1 Min.</a:t>
            </a:r>
            <a:endParaRPr lang="en-US" sz="2700" dirty="0"/>
          </a:p>
        </p:txBody>
      </p:sp>
      <p:sp>
        <p:nvSpPr>
          <p:cNvPr id="8" name="Text 6"/>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Das Rätsel</a:t>
            </a:r>
            <a:endParaRPr lang="en-US" sz="3600" dirty="0"/>
          </a:p>
        </p:txBody>
      </p:sp>
      <p:sp>
        <p:nvSpPr>
          <p:cNvPr id="9" name="Text 7"/>
          <p:cNvSpPr txBox="1"/>
          <p:nvPr/>
        </p:nvSpPr>
        <p:spPr>
          <a:xfrm>
            <a:off x="411480" y="1188720"/>
            <a:ext cx="8321040" cy="2651760"/>
          </a:xfrm>
          <a:prstGeom prst="rect">
            <a:avLst/>
          </a:prstGeom>
          <a:noFill/>
          <a:ln/>
        </p:spPr>
        <p:txBody>
          <a:bodyPr wrap="square" lIns="0" tIns="0" rIns="0" bIns="0" rtlCol="0" anchor="t"/>
          <a:lstStyle/>
          <a:p>
            <a:pPr indent="0" marL="0">
              <a:buNone/>
            </a:pPr>
            <a:r>
              <a:rPr lang="en-US" sz="2700" i="1" dirty="0">
                <a:solidFill>
                  <a:srgbClr val="E8DFD0"/>
                </a:solidFill>
                <a:latin typeface="Calibri" pitchFamily="34" charset="0"/>
                <a:ea typeface="Calibri" pitchFamily="34" charset="-122"/>
                <a:cs typeface="Calibri" pitchFamily="34" charset="-120"/>
              </a:rPr>
              <a:t>Lysias, ein Bauer aus Paiania im Binnenland, darf seit Solon in der Volksversammlung abstimmen. Trotzdem hebt er jahrzehntelang immer dann die Hand, wenn es sein adliger Nachbar will. 507 v. Chr. stimmt er zum ersten Mal anders. Warum?</a:t>
            </a:r>
            <a:endParaRPr lang="en-US" sz="2700" dirty="0"/>
          </a:p>
        </p:txBody>
      </p:sp>
      <p:sp>
        <p:nvSpPr>
          <p:cNvPr id="10" name="Shape 8"/>
          <p:cNvSpPr/>
          <p:nvPr/>
        </p:nvSpPr>
        <p:spPr>
          <a:xfrm>
            <a:off x="411480" y="3931920"/>
            <a:ext cx="8321040" cy="868680"/>
          </a:xfrm>
          <a:prstGeom prst="roundRect">
            <a:avLst>
              <a:gd name="adj" fmla="val 8421"/>
            </a:avLst>
          </a:prstGeom>
          <a:solidFill>
            <a:srgbClr val="AD4426"/>
          </a:solidFill>
          <a:ln w="12700">
            <a:solidFill>
              <a:srgbClr val="AD4426"/>
            </a:solidFill>
            <a:prstDash val="solid"/>
          </a:ln>
        </p:spPr>
      </p:sp>
      <p:sp>
        <p:nvSpPr>
          <p:cNvPr id="11" name="Text 9"/>
          <p:cNvSpPr txBox="1"/>
          <p:nvPr/>
        </p:nvSpPr>
        <p:spPr>
          <a:xfrm>
            <a:off x="594360" y="3931920"/>
            <a:ext cx="7955280" cy="86868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Schreib ins Heft: „Ich vermute, Lysias stimmt anders, weil …“</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4400" b="1" dirty="0">
                <a:solidFill>
                  <a:srgbClr val="2B2318"/>
                </a:solidFill>
                <a:latin typeface="Cambria" pitchFamily="34" charset="0"/>
                <a:ea typeface="Cambria" pitchFamily="34" charset="-122"/>
                <a:cs typeface="Cambria" pitchFamily="34" charset="-120"/>
              </a:rPr>
              <a:t>Demos</a:t>
            </a:r>
            <a:endParaRPr lang="en-US" sz="4400" dirty="0"/>
          </a:p>
        </p:txBody>
      </p:sp>
      <p:sp>
        <p:nvSpPr>
          <p:cNvPr id="8" name="Text 6"/>
          <p:cNvSpPr txBox="1"/>
          <p:nvPr/>
        </p:nvSpPr>
        <p:spPr>
          <a:xfrm>
            <a:off x="411480" y="1097280"/>
            <a:ext cx="8229600" cy="457200"/>
          </a:xfrm>
          <a:prstGeom prst="rect">
            <a:avLst/>
          </a:prstGeom>
          <a:noFill/>
          <a:ln/>
        </p:spPr>
        <p:txBody>
          <a:bodyPr wrap="square" lIns="0" tIns="0" rIns="0" bIns="0" rtlCol="0" anchor="t"/>
          <a:lstStyle/>
          <a:p>
            <a:pPr indent="0" marL="0">
              <a:buNone/>
            </a:pPr>
            <a:r>
              <a:rPr lang="en-US" sz="2700" i="1" dirty="0">
                <a:solidFill>
                  <a:srgbClr val="5A5044"/>
                </a:solidFill>
                <a:latin typeface="Calibri" pitchFamily="34" charset="0"/>
                <a:ea typeface="Calibri" pitchFamily="34" charset="-122"/>
                <a:cs typeface="Calibri" pitchFamily="34" charset="-120"/>
              </a:rPr>
              <a:t>griech. dēmos = Volk, Dorfgemeinde</a:t>
            </a:r>
            <a:endParaRPr lang="en-US" sz="2700" dirty="0"/>
          </a:p>
        </p:txBody>
      </p:sp>
      <p:sp>
        <p:nvSpPr>
          <p:cNvPr id="9" name="Shape 7"/>
          <p:cNvSpPr/>
          <p:nvPr/>
        </p:nvSpPr>
        <p:spPr>
          <a:xfrm>
            <a:off x="411480" y="1691640"/>
            <a:ext cx="73152" cy="1554480"/>
          </a:xfrm>
          <a:prstGeom prst="rect">
            <a:avLst/>
          </a:prstGeom>
          <a:solidFill>
            <a:srgbClr val="AD4426"/>
          </a:solidFill>
          <a:ln w="12700">
            <a:solidFill>
              <a:srgbClr val="AD4426"/>
            </a:solidFill>
            <a:prstDash val="solid"/>
          </a:ln>
        </p:spPr>
      </p:sp>
      <p:sp>
        <p:nvSpPr>
          <p:cNvPr id="10" name="Text 8"/>
          <p:cNvSpPr txBox="1"/>
          <p:nvPr/>
        </p:nvSpPr>
        <p:spPr>
          <a:xfrm>
            <a:off x="685800" y="1691640"/>
            <a:ext cx="8046720" cy="1554480"/>
          </a:xfrm>
          <a:prstGeom prst="rect">
            <a:avLst/>
          </a:prstGeom>
          <a:noFill/>
          <a:ln/>
        </p:spPr>
        <p:txBody>
          <a:bodyPr wrap="square" lIns="0" tIns="0" rIns="0" bIns="0" rtlCol="0" anchor="t"/>
          <a:lstStyle/>
          <a:p>
            <a:pPr indent="0" marL="0">
              <a:buNone/>
            </a:pPr>
            <a:r>
              <a:rPr lang="en-US" sz="3000" dirty="0">
                <a:solidFill>
                  <a:srgbClr val="2B2318"/>
                </a:solidFill>
                <a:latin typeface="Calibri" pitchFamily="34" charset="0"/>
                <a:ea typeface="Calibri" pitchFamily="34" charset="-122"/>
                <a:cs typeface="Calibri" pitchFamily="34" charset="-120"/>
              </a:rPr>
              <a:t>Eine Dorfgemeinde in Attika. Wer in der Liste seines Demos steht, ist Bürger.</a:t>
            </a:r>
            <a:endParaRPr lang="en-US" sz="3000" dirty="0"/>
          </a:p>
        </p:txBody>
      </p:sp>
      <p:sp>
        <p:nvSpPr>
          <p:cNvPr id="11" name="Shape 9"/>
          <p:cNvSpPr/>
          <p:nvPr/>
        </p:nvSpPr>
        <p:spPr>
          <a:xfrm>
            <a:off x="411480" y="3566160"/>
            <a:ext cx="8321040" cy="822960"/>
          </a:xfrm>
          <a:prstGeom prst="roundRect">
            <a:avLst>
              <a:gd name="adj" fmla="val 8889"/>
            </a:avLst>
          </a:prstGeom>
          <a:solidFill>
            <a:srgbClr val="2B2318"/>
          </a:solidFill>
          <a:ln w="12700">
            <a:solidFill>
              <a:srgbClr val="2B2318"/>
            </a:solidFill>
            <a:prstDash val="solid"/>
          </a:ln>
        </p:spPr>
      </p:sp>
      <p:sp>
        <p:nvSpPr>
          <p:cNvPr id="12" name="Text 10"/>
          <p:cNvSpPr txBox="1"/>
          <p:nvPr/>
        </p:nvSpPr>
        <p:spPr>
          <a:xfrm>
            <a:off x="594360" y="3566160"/>
            <a:ext cx="7955280" cy="8229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Mehrzahl: Demen (rund 139)</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4400" b="1" dirty="0">
                <a:solidFill>
                  <a:srgbClr val="2B2318"/>
                </a:solidFill>
                <a:latin typeface="Cambria" pitchFamily="34" charset="0"/>
                <a:ea typeface="Cambria" pitchFamily="34" charset="-122"/>
                <a:cs typeface="Cambria" pitchFamily="34" charset="-120"/>
              </a:rPr>
              <a:t>Trittys</a:t>
            </a:r>
            <a:endParaRPr lang="en-US" sz="4400" dirty="0"/>
          </a:p>
        </p:txBody>
      </p:sp>
      <p:sp>
        <p:nvSpPr>
          <p:cNvPr id="8" name="Text 6"/>
          <p:cNvSpPr txBox="1"/>
          <p:nvPr/>
        </p:nvSpPr>
        <p:spPr>
          <a:xfrm>
            <a:off x="411480" y="1097280"/>
            <a:ext cx="8229600" cy="457200"/>
          </a:xfrm>
          <a:prstGeom prst="rect">
            <a:avLst/>
          </a:prstGeom>
          <a:noFill/>
          <a:ln/>
        </p:spPr>
        <p:txBody>
          <a:bodyPr wrap="square" lIns="0" tIns="0" rIns="0" bIns="0" rtlCol="0" anchor="t"/>
          <a:lstStyle/>
          <a:p>
            <a:pPr indent="0" marL="0">
              <a:buNone/>
            </a:pPr>
            <a:r>
              <a:rPr lang="en-US" sz="2700" i="1" dirty="0">
                <a:solidFill>
                  <a:srgbClr val="5A5044"/>
                </a:solidFill>
                <a:latin typeface="Calibri" pitchFamily="34" charset="0"/>
                <a:ea typeface="Calibri" pitchFamily="34" charset="-122"/>
                <a:cs typeface="Calibri" pitchFamily="34" charset="-120"/>
              </a:rPr>
              <a:t>griech. „Drittel“</a:t>
            </a:r>
            <a:endParaRPr lang="en-US" sz="2700" dirty="0"/>
          </a:p>
        </p:txBody>
      </p:sp>
      <p:sp>
        <p:nvSpPr>
          <p:cNvPr id="9" name="Shape 7"/>
          <p:cNvSpPr/>
          <p:nvPr/>
        </p:nvSpPr>
        <p:spPr>
          <a:xfrm>
            <a:off x="411480" y="1691640"/>
            <a:ext cx="73152" cy="1554480"/>
          </a:xfrm>
          <a:prstGeom prst="rect">
            <a:avLst/>
          </a:prstGeom>
          <a:solidFill>
            <a:srgbClr val="AD4426"/>
          </a:solidFill>
          <a:ln w="12700">
            <a:solidFill>
              <a:srgbClr val="AD4426"/>
            </a:solidFill>
            <a:prstDash val="solid"/>
          </a:ln>
        </p:spPr>
      </p:sp>
      <p:sp>
        <p:nvSpPr>
          <p:cNvPr id="10" name="Text 8"/>
          <p:cNvSpPr txBox="1"/>
          <p:nvPr/>
        </p:nvSpPr>
        <p:spPr>
          <a:xfrm>
            <a:off x="685800" y="1691640"/>
            <a:ext cx="8046720" cy="1554480"/>
          </a:xfrm>
          <a:prstGeom prst="rect">
            <a:avLst/>
          </a:prstGeom>
          <a:noFill/>
          <a:ln/>
        </p:spPr>
        <p:txBody>
          <a:bodyPr wrap="square" lIns="0" tIns="0" rIns="0" bIns="0" rtlCol="0" anchor="t"/>
          <a:lstStyle/>
          <a:p>
            <a:pPr indent="0" marL="0">
              <a:buNone/>
            </a:pPr>
            <a:r>
              <a:rPr lang="en-US" sz="3000" dirty="0">
                <a:solidFill>
                  <a:srgbClr val="2B2318"/>
                </a:solidFill>
                <a:latin typeface="Calibri" pitchFamily="34" charset="0"/>
                <a:ea typeface="Calibri" pitchFamily="34" charset="-122"/>
                <a:cs typeface="Calibri" pitchFamily="34" charset="-120"/>
              </a:rPr>
              <a:t>Ein Bezirk aus mehreren Demen. Jede neue Phyle besteht aus drei Trittyen.</a:t>
            </a:r>
            <a:endParaRPr lang="en-US" sz="3000" dirty="0"/>
          </a:p>
        </p:txBody>
      </p:sp>
      <p:sp>
        <p:nvSpPr>
          <p:cNvPr id="11" name="Shape 9"/>
          <p:cNvSpPr/>
          <p:nvPr/>
        </p:nvSpPr>
        <p:spPr>
          <a:xfrm>
            <a:off x="411480" y="3566160"/>
            <a:ext cx="8321040" cy="822960"/>
          </a:xfrm>
          <a:prstGeom prst="roundRect">
            <a:avLst>
              <a:gd name="adj" fmla="val 8889"/>
            </a:avLst>
          </a:prstGeom>
          <a:solidFill>
            <a:srgbClr val="2B2318"/>
          </a:solidFill>
          <a:ln w="12700">
            <a:solidFill>
              <a:srgbClr val="2B2318"/>
            </a:solidFill>
            <a:prstDash val="solid"/>
          </a:ln>
        </p:spPr>
      </p:sp>
      <p:sp>
        <p:nvSpPr>
          <p:cNvPr id="12" name="Text 10"/>
          <p:cNvSpPr txBox="1"/>
          <p:nvPr/>
        </p:nvSpPr>
        <p:spPr>
          <a:xfrm>
            <a:off x="594360" y="3566160"/>
            <a:ext cx="7955280" cy="8229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Mehrzahl: Trittyen. Bekannt: Phyle = Stammesverband</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geht's – ein Beispiel</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Shape 7"/>
          <p:cNvSpPr/>
          <p:nvPr/>
        </p:nvSpPr>
        <p:spPr>
          <a:xfrm>
            <a:off x="411480" y="1188720"/>
            <a:ext cx="3703320" cy="1371600"/>
          </a:xfrm>
          <a:prstGeom prst="roundRect">
            <a:avLst>
              <a:gd name="adj" fmla="val 5333"/>
            </a:avLst>
          </a:prstGeom>
          <a:solidFill>
            <a:srgbClr val="FBF8F2"/>
          </a:solidFill>
          <a:ln w="12700">
            <a:solidFill>
              <a:srgbClr val="FBF8F2"/>
            </a:solidFill>
            <a:prstDash val="solid"/>
          </a:ln>
        </p:spPr>
      </p:sp>
      <p:sp>
        <p:nvSpPr>
          <p:cNvPr id="10" name="Text 8"/>
          <p:cNvSpPr txBox="1"/>
          <p:nvPr/>
        </p:nvSpPr>
        <p:spPr>
          <a:xfrm>
            <a:off x="594360" y="1188720"/>
            <a:ext cx="3337560" cy="13716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 darf abstimmen – auch ein armer Bauer wie er …</a:t>
            </a:r>
            <a:endParaRPr lang="en-US" sz="2700" dirty="0"/>
          </a:p>
        </p:txBody>
      </p:sp>
      <p:sp>
        <p:nvSpPr>
          <p:cNvPr id="11" name="Shape 9"/>
          <p:cNvSpPr/>
          <p:nvPr/>
        </p:nvSpPr>
        <p:spPr>
          <a:xfrm>
            <a:off x="5029200" y="1188720"/>
            <a:ext cx="3703320" cy="1371600"/>
          </a:xfrm>
          <a:prstGeom prst="roundRect">
            <a:avLst>
              <a:gd name="adj" fmla="val 5333"/>
            </a:avLst>
          </a:prstGeom>
          <a:solidFill>
            <a:srgbClr val="FBF8F2"/>
          </a:solidFill>
          <a:ln w="12700">
            <a:solidFill>
              <a:srgbClr val="FBF8F2"/>
            </a:solidFill>
            <a:prstDash val="solid"/>
          </a:ln>
        </p:spPr>
      </p:sp>
      <p:sp>
        <p:nvSpPr>
          <p:cNvPr id="12" name="Text 10"/>
          <p:cNvSpPr txBox="1"/>
          <p:nvPr/>
        </p:nvSpPr>
        <p:spPr>
          <a:xfrm>
            <a:off x="5212080" y="1188720"/>
            <a:ext cx="3337560" cy="13716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6  ______ die großen Adelsfamilien geben den Ton an …</a:t>
            </a:r>
            <a:endParaRPr lang="en-US" sz="2700" dirty="0"/>
          </a:p>
        </p:txBody>
      </p:sp>
      <p:sp>
        <p:nvSpPr>
          <p:cNvPr id="13" name="Text 11"/>
          <p:cNvSpPr txBox="1"/>
          <p:nvPr/>
        </p:nvSpPr>
        <p:spPr>
          <a:xfrm>
            <a:off x="4114800" y="1645920"/>
            <a:ext cx="914400" cy="457200"/>
          </a:xfrm>
          <a:prstGeom prst="roundRect">
            <a:avLst>
              <a:gd name="adj" fmla="val 16000"/>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Aber</a:t>
            </a:r>
            <a:endParaRPr lang="en-US" sz="2700" dirty="0"/>
          </a:p>
        </p:txBody>
      </p:sp>
      <p:sp>
        <p:nvSpPr>
          <p:cNvPr id="14" name="Shape 12"/>
          <p:cNvSpPr/>
          <p:nvPr/>
        </p:nvSpPr>
        <p:spPr>
          <a:xfrm>
            <a:off x="411480" y="2834640"/>
            <a:ext cx="8321040" cy="1280160"/>
          </a:xfrm>
          <a:prstGeom prst="roundRect">
            <a:avLst>
              <a:gd name="adj" fmla="val 5714"/>
            </a:avLst>
          </a:prstGeom>
          <a:solidFill>
            <a:srgbClr val="2B2318"/>
          </a:solidFill>
          <a:ln w="12700">
            <a:solidFill>
              <a:srgbClr val="2B2318"/>
            </a:solidFill>
            <a:prstDash val="solid"/>
          </a:ln>
        </p:spPr>
      </p:sp>
      <p:sp>
        <p:nvSpPr>
          <p:cNvPr id="15" name="Text 13"/>
          <p:cNvSpPr txBox="1"/>
          <p:nvPr/>
        </p:nvSpPr>
        <p:spPr>
          <a:xfrm>
            <a:off x="594360" y="2834640"/>
            <a:ext cx="7955280" cy="12801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Achtung: Kleisthenes nimmt niemandem Land weg und ändert Solons Klassen nicht.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Mystery · zu dritt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14 Min.</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Ausschneiden – jeder liest seine Abschnitte vor.</a:t>
            </a:r>
            <a:endParaRPr lang="en-US" sz="2700" dirty="0"/>
          </a:p>
        </p:txBody>
      </p:sp>
      <p:sp>
        <p:nvSpPr>
          <p:cNvPr id="11" name="Text 9"/>
          <p:cNvSpPr txBox="1"/>
          <p:nvPr/>
        </p:nvSpPr>
        <p:spPr>
          <a:xfrm>
            <a:off x="411480" y="1892808"/>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874520"/>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Kette legen: Was gehört zusammen?</a:t>
            </a:r>
            <a:endParaRPr lang="en-US" sz="2700" dirty="0"/>
          </a:p>
        </p:txBody>
      </p:sp>
      <p:sp>
        <p:nvSpPr>
          <p:cNvPr id="13" name="Text 11"/>
          <p:cNvSpPr txBox="1"/>
          <p:nvPr/>
        </p:nvSpPr>
        <p:spPr>
          <a:xfrm>
            <a:off x="411480" y="2551176"/>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32888"/>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Wörter von unten in die Lücken, abstreichen.</a:t>
            </a:r>
            <a:endParaRPr lang="en-US" sz="2700" dirty="0"/>
          </a:p>
        </p:txBody>
      </p:sp>
      <p:sp>
        <p:nvSpPr>
          <p:cNvPr id="15" name="Text 13"/>
          <p:cNvSpPr txBox="1"/>
          <p:nvPr/>
        </p:nvSpPr>
        <p:spPr>
          <a:xfrm>
            <a:off x="411480" y="3209544"/>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191256"/>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Jeder schreibt die Antwort ins Heft.</a:t>
            </a:r>
            <a:endParaRPr lang="en-US" sz="2700" dirty="0"/>
          </a:p>
        </p:txBody>
      </p:sp>
      <p:sp>
        <p:nvSpPr>
          <p:cNvPr id="17" name="Text 15"/>
          <p:cNvSpPr txBox="1"/>
          <p:nvPr/>
        </p:nvSpPr>
        <p:spPr>
          <a:xfrm>
            <a:off x="411480" y="3867912"/>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5</a:t>
            </a:r>
            <a:endParaRPr lang="en-US" sz="2700" dirty="0"/>
          </a:p>
        </p:txBody>
      </p:sp>
      <p:sp>
        <p:nvSpPr>
          <p:cNvPr id="18" name="Text 16"/>
          <p:cNvSpPr txBox="1"/>
          <p:nvPr/>
        </p:nvSpPr>
        <p:spPr>
          <a:xfrm>
            <a:off x="1005840" y="3849624"/>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Fest? Hilfe 1, 2, 3 vom Pult holen.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Eure Antwort ins Heft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Shape 7"/>
          <p:cNvSpPr/>
          <p:nvPr/>
        </p:nvSpPr>
        <p:spPr>
          <a:xfrm>
            <a:off x="411480" y="1234440"/>
            <a:ext cx="8321040" cy="731520"/>
          </a:xfrm>
          <a:prstGeom prst="roundRect">
            <a:avLst>
              <a:gd name="adj" fmla="val 10000"/>
            </a:avLst>
          </a:prstGeom>
          <a:solidFill>
            <a:srgbClr val="F4ECDE"/>
          </a:solidFill>
          <a:ln w="12700">
            <a:solidFill>
              <a:srgbClr val="F4ECDE"/>
            </a:solidFill>
            <a:prstDash val="solid"/>
          </a:ln>
        </p:spPr>
      </p:sp>
      <p:sp>
        <p:nvSpPr>
          <p:cNvPr id="10" name="Text 8"/>
          <p:cNvSpPr txBox="1"/>
          <p:nvPr/>
        </p:nvSpPr>
        <p:spPr>
          <a:xfrm>
            <a:off x="594360" y="1234440"/>
            <a:ext cx="7955280" cy="73152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„Vorher war Lysias …, aber …“</a:t>
            </a:r>
            <a:endParaRPr lang="en-US" sz="2700" dirty="0"/>
          </a:p>
        </p:txBody>
      </p:sp>
      <p:sp>
        <p:nvSpPr>
          <p:cNvPr id="11" name="Shape 9"/>
          <p:cNvSpPr/>
          <p:nvPr/>
        </p:nvSpPr>
        <p:spPr>
          <a:xfrm>
            <a:off x="411480" y="2103120"/>
            <a:ext cx="8321040" cy="731520"/>
          </a:xfrm>
          <a:prstGeom prst="roundRect">
            <a:avLst>
              <a:gd name="adj" fmla="val 10000"/>
            </a:avLst>
          </a:prstGeom>
          <a:solidFill>
            <a:srgbClr val="FFFFFF"/>
          </a:solidFill>
          <a:ln w="12700">
            <a:solidFill>
              <a:srgbClr val="FFFFFF"/>
            </a:solidFill>
            <a:prstDash val="solid"/>
          </a:ln>
        </p:spPr>
      </p:sp>
      <p:sp>
        <p:nvSpPr>
          <p:cNvPr id="12" name="Text 10"/>
          <p:cNvSpPr txBox="1"/>
          <p:nvPr/>
        </p:nvSpPr>
        <p:spPr>
          <a:xfrm>
            <a:off x="594360" y="2103120"/>
            <a:ext cx="7955280" cy="73152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„Nach dem Sturz des Hippias …“</a:t>
            </a:r>
            <a:endParaRPr lang="en-US" sz="2700" dirty="0"/>
          </a:p>
        </p:txBody>
      </p:sp>
      <p:sp>
        <p:nvSpPr>
          <p:cNvPr id="13" name="Shape 11"/>
          <p:cNvSpPr/>
          <p:nvPr/>
        </p:nvSpPr>
        <p:spPr>
          <a:xfrm>
            <a:off x="411480" y="2971800"/>
            <a:ext cx="8321040" cy="731520"/>
          </a:xfrm>
          <a:prstGeom prst="roundRect">
            <a:avLst>
              <a:gd name="adj" fmla="val 10000"/>
            </a:avLst>
          </a:prstGeom>
          <a:solidFill>
            <a:srgbClr val="F4ECDE"/>
          </a:solidFill>
          <a:ln w="12700">
            <a:solidFill>
              <a:srgbClr val="F4ECDE"/>
            </a:solidFill>
            <a:prstDash val="solid"/>
          </a:ln>
        </p:spPr>
      </p:sp>
      <p:sp>
        <p:nvSpPr>
          <p:cNvPr id="14" name="Text 12"/>
          <p:cNvSpPr txBox="1"/>
          <p:nvPr/>
        </p:nvSpPr>
        <p:spPr>
          <a:xfrm>
            <a:off x="594360" y="2971800"/>
            <a:ext cx="7955280" cy="73152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„Kleisthenes teilte …“</a:t>
            </a:r>
            <a:endParaRPr lang="en-US" sz="2700" dirty="0"/>
          </a:p>
        </p:txBody>
      </p:sp>
      <p:sp>
        <p:nvSpPr>
          <p:cNvPr id="15" name="Shape 13"/>
          <p:cNvSpPr/>
          <p:nvPr/>
        </p:nvSpPr>
        <p:spPr>
          <a:xfrm>
            <a:off x="411480" y="3840480"/>
            <a:ext cx="8321040" cy="731520"/>
          </a:xfrm>
          <a:prstGeom prst="roundRect">
            <a:avLst>
              <a:gd name="adj" fmla="val 10000"/>
            </a:avLst>
          </a:prstGeom>
          <a:solidFill>
            <a:srgbClr val="FFFFFF"/>
          </a:solidFill>
          <a:ln w="12700">
            <a:solidFill>
              <a:srgbClr val="FFFFFF"/>
            </a:solidFill>
            <a:prstDash val="solid"/>
          </a:ln>
        </p:spPr>
      </p:sp>
      <p:sp>
        <p:nvSpPr>
          <p:cNvPr id="16" name="Text 14"/>
          <p:cNvSpPr txBox="1"/>
          <p:nvPr/>
        </p:nvSpPr>
        <p:spPr>
          <a:xfrm>
            <a:off x="594360" y="3840480"/>
            <a:ext cx="7955280" cy="73152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„Dadurch …, deshalb kann Lysias jetzt …“</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Die Lösung</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2103120" cy="566928"/>
          </a:xfrm>
          <a:prstGeom prst="roundRect">
            <a:avLst>
              <a:gd name="adj" fmla="val 12903"/>
            </a:avLst>
          </a:prstGeom>
          <a:solidFill>
            <a:srgbClr val="5A5044"/>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Vorher</a:t>
            </a:r>
            <a:endParaRPr lang="en-US" sz="2700" dirty="0"/>
          </a:p>
        </p:txBody>
      </p:sp>
      <p:sp>
        <p:nvSpPr>
          <p:cNvPr id="10" name="Text 8"/>
          <p:cNvSpPr txBox="1"/>
          <p:nvPr/>
        </p:nvSpPr>
        <p:spPr>
          <a:xfrm>
            <a:off x="2697480" y="1188720"/>
            <a:ext cx="60350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Recht ja – aber an die Familie gebunden</a:t>
            </a:r>
            <a:endParaRPr lang="en-US" sz="2700" dirty="0"/>
          </a:p>
        </p:txBody>
      </p:sp>
      <p:sp>
        <p:nvSpPr>
          <p:cNvPr id="11" name="Text 9"/>
          <p:cNvSpPr txBox="1"/>
          <p:nvPr/>
        </p:nvSpPr>
        <p:spPr>
          <a:xfrm>
            <a:off x="411480" y="1901952"/>
            <a:ext cx="21031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Wende</a:t>
            </a:r>
            <a:endParaRPr lang="en-US" sz="2700" dirty="0"/>
          </a:p>
        </p:txBody>
      </p:sp>
      <p:sp>
        <p:nvSpPr>
          <p:cNvPr id="12" name="Text 10"/>
          <p:cNvSpPr txBox="1"/>
          <p:nvPr/>
        </p:nvSpPr>
        <p:spPr>
          <a:xfrm>
            <a:off x="2697480" y="1901952"/>
            <a:ext cx="60350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Das Volk setzt sich durch</a:t>
            </a:r>
            <a:endParaRPr lang="en-US" sz="2700" dirty="0"/>
          </a:p>
        </p:txBody>
      </p:sp>
      <p:sp>
        <p:nvSpPr>
          <p:cNvPr id="13" name="Text 11"/>
          <p:cNvSpPr txBox="1"/>
          <p:nvPr/>
        </p:nvSpPr>
        <p:spPr>
          <a:xfrm>
            <a:off x="411480" y="2615184"/>
            <a:ext cx="2103120" cy="566928"/>
          </a:xfrm>
          <a:prstGeom prst="roundRect">
            <a:avLst>
              <a:gd name="adj" fmla="val 12903"/>
            </a:avLst>
          </a:prstGeom>
          <a:solidFill>
            <a:srgbClr val="3E5C7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Reform</a:t>
            </a:r>
            <a:endParaRPr lang="en-US" sz="2700" dirty="0"/>
          </a:p>
        </p:txBody>
      </p:sp>
      <p:sp>
        <p:nvSpPr>
          <p:cNvPr id="14" name="Text 12"/>
          <p:cNvSpPr txBox="1"/>
          <p:nvPr/>
        </p:nvSpPr>
        <p:spPr>
          <a:xfrm>
            <a:off x="2697480" y="2615184"/>
            <a:ext cx="60350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10 gemischte Phylen</a:t>
            </a:r>
            <a:endParaRPr lang="en-US" sz="2700" dirty="0"/>
          </a:p>
        </p:txBody>
      </p:sp>
      <p:sp>
        <p:nvSpPr>
          <p:cNvPr id="15" name="Text 13"/>
          <p:cNvSpPr txBox="1"/>
          <p:nvPr/>
        </p:nvSpPr>
        <p:spPr>
          <a:xfrm>
            <a:off x="411480" y="3328416"/>
            <a:ext cx="2103120" cy="566928"/>
          </a:xfrm>
          <a:prstGeom prst="roundRect">
            <a:avLst>
              <a:gd name="adj" fmla="val 12903"/>
            </a:avLst>
          </a:prstGeom>
          <a:solidFill>
            <a:srgbClr val="3C783C"/>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Folge</a:t>
            </a:r>
            <a:endParaRPr lang="en-US" sz="2700" dirty="0"/>
          </a:p>
        </p:txBody>
      </p:sp>
      <p:sp>
        <p:nvSpPr>
          <p:cNvPr id="16" name="Text 14"/>
          <p:cNvSpPr txBox="1"/>
          <p:nvPr/>
        </p:nvSpPr>
        <p:spPr>
          <a:xfrm>
            <a:off x="2697480" y="3328416"/>
            <a:ext cx="60350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Lysias ist unter Fremden</a:t>
            </a:r>
            <a:endParaRPr lang="en-US" sz="2700" dirty="0"/>
          </a:p>
        </p:txBody>
      </p:sp>
      <p:sp>
        <p:nvSpPr>
          <p:cNvPr id="17" name="Text 15"/>
          <p:cNvSpPr txBox="1"/>
          <p:nvPr/>
        </p:nvSpPr>
        <p:spPr>
          <a:xfrm>
            <a:off x="411480" y="4041648"/>
            <a:ext cx="2103120" cy="566928"/>
          </a:xfrm>
          <a:prstGeom prst="roundRect">
            <a:avLst>
              <a:gd name="adj" fmla="val 12903"/>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Ergebnis</a:t>
            </a:r>
            <a:endParaRPr lang="en-US" sz="2700" dirty="0"/>
          </a:p>
        </p:txBody>
      </p:sp>
      <p:sp>
        <p:nvSpPr>
          <p:cNvPr id="18" name="Text 16"/>
          <p:cNvSpPr txBox="1"/>
          <p:nvPr/>
        </p:nvSpPr>
        <p:spPr>
          <a:xfrm>
            <a:off x="2697480" y="4041648"/>
            <a:ext cx="6035040" cy="566928"/>
          </a:xfrm>
          <a:prstGeom prst="rect">
            <a:avLst/>
          </a:prstGeom>
          <a:noFill/>
          <a:ln/>
        </p:spPr>
        <p:txBody>
          <a:bodyPr wrap="square" lIns="0" tIns="0" rIns="0" bIns="0" rtlCol="0" anchor="ctr"/>
          <a:lstStyle/>
          <a:p>
            <a:pPr indent="0" marL="0">
              <a:buNone/>
            </a:pPr>
            <a:r>
              <a:rPr lang="en-US" sz="2700" b="1" dirty="0">
                <a:solidFill>
                  <a:srgbClr val="2B2318"/>
                </a:solidFill>
                <a:latin typeface="Calibri" pitchFamily="34" charset="0"/>
                <a:ea typeface="Calibri" pitchFamily="34" charset="-122"/>
                <a:cs typeface="Calibri" pitchFamily="34" charset="-120"/>
              </a:rPr>
              <a:t>Er stimmt frei ab</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Mischen statt enteignen</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Ergebnis</a:t>
            </a:r>
            <a:endParaRPr lang="en-US" sz="2700" dirty="0"/>
          </a:p>
        </p:txBody>
      </p:sp>
      <p:sp>
        <p:nvSpPr>
          <p:cNvPr id="9" name="Text 7"/>
          <p:cNvSpPr txBox="1"/>
          <p:nvPr/>
        </p:nvSpPr>
        <p:spPr>
          <a:xfrm>
            <a:off x="411480" y="1234440"/>
            <a:ext cx="1783080" cy="502920"/>
          </a:xfrm>
          <a:prstGeom prst="rect">
            <a:avLst/>
          </a:prstGeom>
          <a:noFill/>
          <a:ln/>
        </p:spPr>
        <p:txBody>
          <a:bodyPr wrap="square" lIns="0" tIns="0" rIns="0" bIns="0" rtlCol="0" anchor="ctr"/>
          <a:lstStyle/>
          <a:p>
            <a:pPr indent="0" marL="0">
              <a:buNone/>
            </a:pPr>
            <a:r>
              <a:rPr lang="en-US" sz="2700" b="1" dirty="0">
                <a:solidFill>
                  <a:srgbClr val="C9962A"/>
                </a:solidFill>
                <a:latin typeface="Calibri" pitchFamily="34" charset="0"/>
                <a:ea typeface="Calibri" pitchFamily="34" charset="-122"/>
                <a:cs typeface="Calibri" pitchFamily="34" charset="-120"/>
              </a:rPr>
              <a:t>Stadt</a:t>
            </a:r>
            <a:endParaRPr lang="en-US" sz="2700" dirty="0"/>
          </a:p>
        </p:txBody>
      </p:sp>
      <p:sp>
        <p:nvSpPr>
          <p:cNvPr id="10" name="Shape 8"/>
          <p:cNvSpPr/>
          <p:nvPr/>
        </p:nvSpPr>
        <p:spPr>
          <a:xfrm>
            <a:off x="2240280" y="1280160"/>
            <a:ext cx="137160" cy="411480"/>
          </a:xfrm>
          <a:prstGeom prst="rect">
            <a:avLst/>
          </a:prstGeom>
          <a:solidFill>
            <a:srgbClr val="C9962A"/>
          </a:solidFill>
          <a:ln w="6350">
            <a:solidFill>
              <a:srgbClr val="FFFFFF"/>
            </a:solidFill>
            <a:prstDash val="solid"/>
          </a:ln>
        </p:spPr>
      </p:sp>
      <p:sp>
        <p:nvSpPr>
          <p:cNvPr id="11" name="Shape 9"/>
          <p:cNvSpPr/>
          <p:nvPr/>
        </p:nvSpPr>
        <p:spPr>
          <a:xfrm>
            <a:off x="2414016" y="1280160"/>
            <a:ext cx="137160" cy="411480"/>
          </a:xfrm>
          <a:prstGeom prst="rect">
            <a:avLst/>
          </a:prstGeom>
          <a:solidFill>
            <a:srgbClr val="C9962A"/>
          </a:solidFill>
          <a:ln w="6350">
            <a:solidFill>
              <a:srgbClr val="FFFFFF"/>
            </a:solidFill>
            <a:prstDash val="solid"/>
          </a:ln>
        </p:spPr>
      </p:sp>
      <p:sp>
        <p:nvSpPr>
          <p:cNvPr id="12" name="Shape 10"/>
          <p:cNvSpPr/>
          <p:nvPr/>
        </p:nvSpPr>
        <p:spPr>
          <a:xfrm>
            <a:off x="2587752" y="1280160"/>
            <a:ext cx="137160" cy="411480"/>
          </a:xfrm>
          <a:prstGeom prst="rect">
            <a:avLst/>
          </a:prstGeom>
          <a:solidFill>
            <a:srgbClr val="C9962A"/>
          </a:solidFill>
          <a:ln w="6350">
            <a:solidFill>
              <a:srgbClr val="FFFFFF"/>
            </a:solidFill>
            <a:prstDash val="solid"/>
          </a:ln>
        </p:spPr>
      </p:sp>
      <p:sp>
        <p:nvSpPr>
          <p:cNvPr id="13" name="Shape 11"/>
          <p:cNvSpPr/>
          <p:nvPr/>
        </p:nvSpPr>
        <p:spPr>
          <a:xfrm>
            <a:off x="2761488" y="1280160"/>
            <a:ext cx="137160" cy="411480"/>
          </a:xfrm>
          <a:prstGeom prst="rect">
            <a:avLst/>
          </a:prstGeom>
          <a:solidFill>
            <a:srgbClr val="C9962A"/>
          </a:solidFill>
          <a:ln w="6350">
            <a:solidFill>
              <a:srgbClr val="FFFFFF"/>
            </a:solidFill>
            <a:prstDash val="solid"/>
          </a:ln>
        </p:spPr>
      </p:sp>
      <p:sp>
        <p:nvSpPr>
          <p:cNvPr id="14" name="Shape 12"/>
          <p:cNvSpPr/>
          <p:nvPr/>
        </p:nvSpPr>
        <p:spPr>
          <a:xfrm>
            <a:off x="2935224" y="1280160"/>
            <a:ext cx="137160" cy="411480"/>
          </a:xfrm>
          <a:prstGeom prst="rect">
            <a:avLst/>
          </a:prstGeom>
          <a:solidFill>
            <a:srgbClr val="C9962A"/>
          </a:solidFill>
          <a:ln w="6350">
            <a:solidFill>
              <a:srgbClr val="FFFFFF"/>
            </a:solidFill>
            <a:prstDash val="solid"/>
          </a:ln>
        </p:spPr>
      </p:sp>
      <p:sp>
        <p:nvSpPr>
          <p:cNvPr id="15" name="Shape 13"/>
          <p:cNvSpPr/>
          <p:nvPr/>
        </p:nvSpPr>
        <p:spPr>
          <a:xfrm>
            <a:off x="3108960" y="1280160"/>
            <a:ext cx="137160" cy="411480"/>
          </a:xfrm>
          <a:prstGeom prst="rect">
            <a:avLst/>
          </a:prstGeom>
          <a:solidFill>
            <a:srgbClr val="C9962A"/>
          </a:solidFill>
          <a:ln w="6350">
            <a:solidFill>
              <a:srgbClr val="FFFFFF"/>
            </a:solidFill>
            <a:prstDash val="solid"/>
          </a:ln>
        </p:spPr>
      </p:sp>
      <p:sp>
        <p:nvSpPr>
          <p:cNvPr id="16" name="Shape 14"/>
          <p:cNvSpPr/>
          <p:nvPr/>
        </p:nvSpPr>
        <p:spPr>
          <a:xfrm>
            <a:off x="3282696" y="1280160"/>
            <a:ext cx="137160" cy="411480"/>
          </a:xfrm>
          <a:prstGeom prst="rect">
            <a:avLst/>
          </a:prstGeom>
          <a:solidFill>
            <a:srgbClr val="C9962A"/>
          </a:solidFill>
          <a:ln w="6350">
            <a:solidFill>
              <a:srgbClr val="FFFFFF"/>
            </a:solidFill>
            <a:prstDash val="solid"/>
          </a:ln>
        </p:spPr>
      </p:sp>
      <p:sp>
        <p:nvSpPr>
          <p:cNvPr id="17" name="Shape 15"/>
          <p:cNvSpPr/>
          <p:nvPr/>
        </p:nvSpPr>
        <p:spPr>
          <a:xfrm>
            <a:off x="3456432" y="1280160"/>
            <a:ext cx="137160" cy="411480"/>
          </a:xfrm>
          <a:prstGeom prst="rect">
            <a:avLst/>
          </a:prstGeom>
          <a:solidFill>
            <a:srgbClr val="C9962A"/>
          </a:solidFill>
          <a:ln w="6350">
            <a:solidFill>
              <a:srgbClr val="FFFFFF"/>
            </a:solidFill>
            <a:prstDash val="solid"/>
          </a:ln>
        </p:spPr>
      </p:sp>
      <p:sp>
        <p:nvSpPr>
          <p:cNvPr id="18" name="Shape 16"/>
          <p:cNvSpPr/>
          <p:nvPr/>
        </p:nvSpPr>
        <p:spPr>
          <a:xfrm>
            <a:off x="3630168" y="1280160"/>
            <a:ext cx="137160" cy="411480"/>
          </a:xfrm>
          <a:prstGeom prst="rect">
            <a:avLst/>
          </a:prstGeom>
          <a:solidFill>
            <a:srgbClr val="C9962A"/>
          </a:solidFill>
          <a:ln w="6350">
            <a:solidFill>
              <a:srgbClr val="FFFFFF"/>
            </a:solidFill>
            <a:prstDash val="solid"/>
          </a:ln>
        </p:spPr>
      </p:sp>
      <p:sp>
        <p:nvSpPr>
          <p:cNvPr id="19" name="Shape 17"/>
          <p:cNvSpPr/>
          <p:nvPr/>
        </p:nvSpPr>
        <p:spPr>
          <a:xfrm>
            <a:off x="3803904" y="1280160"/>
            <a:ext cx="137160" cy="411480"/>
          </a:xfrm>
          <a:prstGeom prst="rect">
            <a:avLst/>
          </a:prstGeom>
          <a:solidFill>
            <a:srgbClr val="C9962A"/>
          </a:solidFill>
          <a:ln w="6350">
            <a:solidFill>
              <a:srgbClr val="FFFFFF"/>
            </a:solidFill>
            <a:prstDash val="solid"/>
          </a:ln>
        </p:spPr>
      </p:sp>
      <p:sp>
        <p:nvSpPr>
          <p:cNvPr id="20" name="Text 18"/>
          <p:cNvSpPr txBox="1"/>
          <p:nvPr/>
        </p:nvSpPr>
        <p:spPr>
          <a:xfrm>
            <a:off x="411480" y="2103120"/>
            <a:ext cx="1783080" cy="502920"/>
          </a:xfrm>
          <a:prstGeom prst="rect">
            <a:avLst/>
          </a:prstGeom>
          <a:noFill/>
          <a:ln/>
        </p:spPr>
        <p:txBody>
          <a:bodyPr wrap="square" lIns="0" tIns="0" rIns="0" bIns="0" rtlCol="0" anchor="ctr"/>
          <a:lstStyle/>
          <a:p>
            <a:pPr indent="0" marL="0">
              <a:buNone/>
            </a:pPr>
            <a:r>
              <a:rPr lang="en-US" sz="2700" b="1" dirty="0">
                <a:solidFill>
                  <a:srgbClr val="3E5C76"/>
                </a:solidFill>
                <a:latin typeface="Calibri" pitchFamily="34" charset="0"/>
                <a:ea typeface="Calibri" pitchFamily="34" charset="-122"/>
                <a:cs typeface="Calibri" pitchFamily="34" charset="-120"/>
              </a:rPr>
              <a:t>Küste</a:t>
            </a:r>
            <a:endParaRPr lang="en-US" sz="2700" dirty="0"/>
          </a:p>
        </p:txBody>
      </p:sp>
      <p:sp>
        <p:nvSpPr>
          <p:cNvPr id="21" name="Shape 19"/>
          <p:cNvSpPr/>
          <p:nvPr/>
        </p:nvSpPr>
        <p:spPr>
          <a:xfrm>
            <a:off x="2240280" y="2148840"/>
            <a:ext cx="137160" cy="411480"/>
          </a:xfrm>
          <a:prstGeom prst="rect">
            <a:avLst/>
          </a:prstGeom>
          <a:solidFill>
            <a:srgbClr val="3E5C76"/>
          </a:solidFill>
          <a:ln w="6350">
            <a:solidFill>
              <a:srgbClr val="FFFFFF"/>
            </a:solidFill>
            <a:prstDash val="solid"/>
          </a:ln>
        </p:spPr>
      </p:sp>
      <p:sp>
        <p:nvSpPr>
          <p:cNvPr id="22" name="Shape 20"/>
          <p:cNvSpPr/>
          <p:nvPr/>
        </p:nvSpPr>
        <p:spPr>
          <a:xfrm>
            <a:off x="2414016" y="2148840"/>
            <a:ext cx="137160" cy="411480"/>
          </a:xfrm>
          <a:prstGeom prst="rect">
            <a:avLst/>
          </a:prstGeom>
          <a:solidFill>
            <a:srgbClr val="3E5C76"/>
          </a:solidFill>
          <a:ln w="6350">
            <a:solidFill>
              <a:srgbClr val="FFFFFF"/>
            </a:solidFill>
            <a:prstDash val="solid"/>
          </a:ln>
        </p:spPr>
      </p:sp>
      <p:sp>
        <p:nvSpPr>
          <p:cNvPr id="23" name="Shape 21"/>
          <p:cNvSpPr/>
          <p:nvPr/>
        </p:nvSpPr>
        <p:spPr>
          <a:xfrm>
            <a:off x="2587752" y="2148840"/>
            <a:ext cx="137160" cy="411480"/>
          </a:xfrm>
          <a:prstGeom prst="rect">
            <a:avLst/>
          </a:prstGeom>
          <a:solidFill>
            <a:srgbClr val="3E5C76"/>
          </a:solidFill>
          <a:ln w="6350">
            <a:solidFill>
              <a:srgbClr val="FFFFFF"/>
            </a:solidFill>
            <a:prstDash val="solid"/>
          </a:ln>
        </p:spPr>
      </p:sp>
      <p:sp>
        <p:nvSpPr>
          <p:cNvPr id="24" name="Shape 22"/>
          <p:cNvSpPr/>
          <p:nvPr/>
        </p:nvSpPr>
        <p:spPr>
          <a:xfrm>
            <a:off x="2761488" y="2148840"/>
            <a:ext cx="137160" cy="411480"/>
          </a:xfrm>
          <a:prstGeom prst="rect">
            <a:avLst/>
          </a:prstGeom>
          <a:solidFill>
            <a:srgbClr val="3E5C76"/>
          </a:solidFill>
          <a:ln w="6350">
            <a:solidFill>
              <a:srgbClr val="FFFFFF"/>
            </a:solidFill>
            <a:prstDash val="solid"/>
          </a:ln>
        </p:spPr>
      </p:sp>
      <p:sp>
        <p:nvSpPr>
          <p:cNvPr id="25" name="Shape 23"/>
          <p:cNvSpPr/>
          <p:nvPr/>
        </p:nvSpPr>
        <p:spPr>
          <a:xfrm>
            <a:off x="2935224" y="2148840"/>
            <a:ext cx="137160" cy="411480"/>
          </a:xfrm>
          <a:prstGeom prst="rect">
            <a:avLst/>
          </a:prstGeom>
          <a:solidFill>
            <a:srgbClr val="3E5C76"/>
          </a:solidFill>
          <a:ln w="6350">
            <a:solidFill>
              <a:srgbClr val="FFFFFF"/>
            </a:solidFill>
            <a:prstDash val="solid"/>
          </a:ln>
        </p:spPr>
      </p:sp>
      <p:sp>
        <p:nvSpPr>
          <p:cNvPr id="26" name="Shape 24"/>
          <p:cNvSpPr/>
          <p:nvPr/>
        </p:nvSpPr>
        <p:spPr>
          <a:xfrm>
            <a:off x="3108960" y="2148840"/>
            <a:ext cx="137160" cy="411480"/>
          </a:xfrm>
          <a:prstGeom prst="rect">
            <a:avLst/>
          </a:prstGeom>
          <a:solidFill>
            <a:srgbClr val="3E5C76"/>
          </a:solidFill>
          <a:ln w="6350">
            <a:solidFill>
              <a:srgbClr val="FFFFFF"/>
            </a:solidFill>
            <a:prstDash val="solid"/>
          </a:ln>
        </p:spPr>
      </p:sp>
      <p:sp>
        <p:nvSpPr>
          <p:cNvPr id="27" name="Shape 25"/>
          <p:cNvSpPr/>
          <p:nvPr/>
        </p:nvSpPr>
        <p:spPr>
          <a:xfrm>
            <a:off x="3282696" y="2148840"/>
            <a:ext cx="137160" cy="411480"/>
          </a:xfrm>
          <a:prstGeom prst="rect">
            <a:avLst/>
          </a:prstGeom>
          <a:solidFill>
            <a:srgbClr val="3E5C76"/>
          </a:solidFill>
          <a:ln w="6350">
            <a:solidFill>
              <a:srgbClr val="FFFFFF"/>
            </a:solidFill>
            <a:prstDash val="solid"/>
          </a:ln>
        </p:spPr>
      </p:sp>
      <p:sp>
        <p:nvSpPr>
          <p:cNvPr id="28" name="Shape 26"/>
          <p:cNvSpPr/>
          <p:nvPr/>
        </p:nvSpPr>
        <p:spPr>
          <a:xfrm>
            <a:off x="3456432" y="2148840"/>
            <a:ext cx="137160" cy="411480"/>
          </a:xfrm>
          <a:prstGeom prst="rect">
            <a:avLst/>
          </a:prstGeom>
          <a:solidFill>
            <a:srgbClr val="3E5C76"/>
          </a:solidFill>
          <a:ln w="6350">
            <a:solidFill>
              <a:srgbClr val="FFFFFF"/>
            </a:solidFill>
            <a:prstDash val="solid"/>
          </a:ln>
        </p:spPr>
      </p:sp>
      <p:sp>
        <p:nvSpPr>
          <p:cNvPr id="29" name="Shape 27"/>
          <p:cNvSpPr/>
          <p:nvPr/>
        </p:nvSpPr>
        <p:spPr>
          <a:xfrm>
            <a:off x="3630168" y="2148840"/>
            <a:ext cx="137160" cy="411480"/>
          </a:xfrm>
          <a:prstGeom prst="rect">
            <a:avLst/>
          </a:prstGeom>
          <a:solidFill>
            <a:srgbClr val="3E5C76"/>
          </a:solidFill>
          <a:ln w="6350">
            <a:solidFill>
              <a:srgbClr val="FFFFFF"/>
            </a:solidFill>
            <a:prstDash val="solid"/>
          </a:ln>
        </p:spPr>
      </p:sp>
      <p:sp>
        <p:nvSpPr>
          <p:cNvPr id="30" name="Shape 28"/>
          <p:cNvSpPr/>
          <p:nvPr/>
        </p:nvSpPr>
        <p:spPr>
          <a:xfrm>
            <a:off x="3803904" y="2148840"/>
            <a:ext cx="137160" cy="411480"/>
          </a:xfrm>
          <a:prstGeom prst="rect">
            <a:avLst/>
          </a:prstGeom>
          <a:solidFill>
            <a:srgbClr val="3E5C76"/>
          </a:solidFill>
          <a:ln w="6350">
            <a:solidFill>
              <a:srgbClr val="FFFFFF"/>
            </a:solidFill>
            <a:prstDash val="solid"/>
          </a:ln>
        </p:spPr>
      </p:sp>
      <p:sp>
        <p:nvSpPr>
          <p:cNvPr id="31" name="Text 29"/>
          <p:cNvSpPr txBox="1"/>
          <p:nvPr/>
        </p:nvSpPr>
        <p:spPr>
          <a:xfrm>
            <a:off x="411480" y="2971800"/>
            <a:ext cx="1783080" cy="502920"/>
          </a:xfrm>
          <a:prstGeom prst="rect">
            <a:avLst/>
          </a:prstGeom>
          <a:noFill/>
          <a:ln/>
        </p:spPr>
        <p:txBody>
          <a:bodyPr wrap="square" lIns="0" tIns="0" rIns="0" bIns="0" rtlCol="0" anchor="ctr"/>
          <a:lstStyle/>
          <a:p>
            <a:pPr indent="0" marL="0">
              <a:buNone/>
            </a:pPr>
            <a:r>
              <a:rPr lang="en-US" sz="2700" b="1" dirty="0">
                <a:solidFill>
                  <a:srgbClr val="3C783C"/>
                </a:solidFill>
                <a:latin typeface="Calibri" pitchFamily="34" charset="0"/>
                <a:ea typeface="Calibri" pitchFamily="34" charset="-122"/>
                <a:cs typeface="Calibri" pitchFamily="34" charset="-120"/>
              </a:rPr>
              <a:t>Binnenland</a:t>
            </a:r>
            <a:endParaRPr lang="en-US" sz="2700" dirty="0"/>
          </a:p>
        </p:txBody>
      </p:sp>
      <p:sp>
        <p:nvSpPr>
          <p:cNvPr id="32" name="Shape 30"/>
          <p:cNvSpPr/>
          <p:nvPr/>
        </p:nvSpPr>
        <p:spPr>
          <a:xfrm>
            <a:off x="2240280" y="3017520"/>
            <a:ext cx="137160" cy="411480"/>
          </a:xfrm>
          <a:prstGeom prst="rect">
            <a:avLst/>
          </a:prstGeom>
          <a:solidFill>
            <a:srgbClr val="3C783C"/>
          </a:solidFill>
          <a:ln w="6350">
            <a:solidFill>
              <a:srgbClr val="FFFFFF"/>
            </a:solidFill>
            <a:prstDash val="solid"/>
          </a:ln>
        </p:spPr>
      </p:sp>
      <p:sp>
        <p:nvSpPr>
          <p:cNvPr id="33" name="Shape 31"/>
          <p:cNvSpPr/>
          <p:nvPr/>
        </p:nvSpPr>
        <p:spPr>
          <a:xfrm>
            <a:off x="2414016" y="3017520"/>
            <a:ext cx="137160" cy="411480"/>
          </a:xfrm>
          <a:prstGeom prst="rect">
            <a:avLst/>
          </a:prstGeom>
          <a:solidFill>
            <a:srgbClr val="3C783C"/>
          </a:solidFill>
          <a:ln w="6350">
            <a:solidFill>
              <a:srgbClr val="FFFFFF"/>
            </a:solidFill>
            <a:prstDash val="solid"/>
          </a:ln>
        </p:spPr>
      </p:sp>
      <p:sp>
        <p:nvSpPr>
          <p:cNvPr id="34" name="Shape 32"/>
          <p:cNvSpPr/>
          <p:nvPr/>
        </p:nvSpPr>
        <p:spPr>
          <a:xfrm>
            <a:off x="2587752" y="3017520"/>
            <a:ext cx="137160" cy="411480"/>
          </a:xfrm>
          <a:prstGeom prst="rect">
            <a:avLst/>
          </a:prstGeom>
          <a:solidFill>
            <a:srgbClr val="3C783C"/>
          </a:solidFill>
          <a:ln w="6350">
            <a:solidFill>
              <a:srgbClr val="FFFFFF"/>
            </a:solidFill>
            <a:prstDash val="solid"/>
          </a:ln>
        </p:spPr>
      </p:sp>
      <p:sp>
        <p:nvSpPr>
          <p:cNvPr id="35" name="Shape 33"/>
          <p:cNvSpPr/>
          <p:nvPr/>
        </p:nvSpPr>
        <p:spPr>
          <a:xfrm>
            <a:off x="2761488" y="3017520"/>
            <a:ext cx="137160" cy="411480"/>
          </a:xfrm>
          <a:prstGeom prst="rect">
            <a:avLst/>
          </a:prstGeom>
          <a:solidFill>
            <a:srgbClr val="3C783C"/>
          </a:solidFill>
          <a:ln w="6350">
            <a:solidFill>
              <a:srgbClr val="FFFFFF"/>
            </a:solidFill>
            <a:prstDash val="solid"/>
          </a:ln>
        </p:spPr>
      </p:sp>
      <p:sp>
        <p:nvSpPr>
          <p:cNvPr id="36" name="Shape 34"/>
          <p:cNvSpPr/>
          <p:nvPr/>
        </p:nvSpPr>
        <p:spPr>
          <a:xfrm>
            <a:off x="2935224" y="3017520"/>
            <a:ext cx="137160" cy="411480"/>
          </a:xfrm>
          <a:prstGeom prst="rect">
            <a:avLst/>
          </a:prstGeom>
          <a:solidFill>
            <a:srgbClr val="3C783C"/>
          </a:solidFill>
          <a:ln w="6350">
            <a:solidFill>
              <a:srgbClr val="FFFFFF"/>
            </a:solidFill>
            <a:prstDash val="solid"/>
          </a:ln>
        </p:spPr>
      </p:sp>
      <p:sp>
        <p:nvSpPr>
          <p:cNvPr id="37" name="Shape 35"/>
          <p:cNvSpPr/>
          <p:nvPr/>
        </p:nvSpPr>
        <p:spPr>
          <a:xfrm>
            <a:off x="3108960" y="3017520"/>
            <a:ext cx="137160" cy="411480"/>
          </a:xfrm>
          <a:prstGeom prst="rect">
            <a:avLst/>
          </a:prstGeom>
          <a:solidFill>
            <a:srgbClr val="3C783C"/>
          </a:solidFill>
          <a:ln w="6350">
            <a:solidFill>
              <a:srgbClr val="FFFFFF"/>
            </a:solidFill>
            <a:prstDash val="solid"/>
          </a:ln>
        </p:spPr>
      </p:sp>
      <p:sp>
        <p:nvSpPr>
          <p:cNvPr id="38" name="Shape 36"/>
          <p:cNvSpPr/>
          <p:nvPr/>
        </p:nvSpPr>
        <p:spPr>
          <a:xfrm>
            <a:off x="3282696" y="3017520"/>
            <a:ext cx="137160" cy="411480"/>
          </a:xfrm>
          <a:prstGeom prst="rect">
            <a:avLst/>
          </a:prstGeom>
          <a:solidFill>
            <a:srgbClr val="3C783C"/>
          </a:solidFill>
          <a:ln w="6350">
            <a:solidFill>
              <a:srgbClr val="FFFFFF"/>
            </a:solidFill>
            <a:prstDash val="solid"/>
          </a:ln>
        </p:spPr>
      </p:sp>
      <p:sp>
        <p:nvSpPr>
          <p:cNvPr id="39" name="Shape 37"/>
          <p:cNvSpPr/>
          <p:nvPr/>
        </p:nvSpPr>
        <p:spPr>
          <a:xfrm>
            <a:off x="3456432" y="3017520"/>
            <a:ext cx="137160" cy="411480"/>
          </a:xfrm>
          <a:prstGeom prst="rect">
            <a:avLst/>
          </a:prstGeom>
          <a:solidFill>
            <a:srgbClr val="3C783C"/>
          </a:solidFill>
          <a:ln w="6350">
            <a:solidFill>
              <a:srgbClr val="FFFFFF"/>
            </a:solidFill>
            <a:prstDash val="solid"/>
          </a:ln>
        </p:spPr>
      </p:sp>
      <p:sp>
        <p:nvSpPr>
          <p:cNvPr id="40" name="Shape 38"/>
          <p:cNvSpPr/>
          <p:nvPr/>
        </p:nvSpPr>
        <p:spPr>
          <a:xfrm>
            <a:off x="3630168" y="3017520"/>
            <a:ext cx="137160" cy="411480"/>
          </a:xfrm>
          <a:prstGeom prst="rect">
            <a:avLst/>
          </a:prstGeom>
          <a:solidFill>
            <a:srgbClr val="3C783C"/>
          </a:solidFill>
          <a:ln w="6350">
            <a:solidFill>
              <a:srgbClr val="FFFFFF"/>
            </a:solidFill>
            <a:prstDash val="solid"/>
          </a:ln>
        </p:spPr>
      </p:sp>
      <p:sp>
        <p:nvSpPr>
          <p:cNvPr id="41" name="Shape 39"/>
          <p:cNvSpPr/>
          <p:nvPr/>
        </p:nvSpPr>
        <p:spPr>
          <a:xfrm>
            <a:off x="3803904" y="3017520"/>
            <a:ext cx="137160" cy="411480"/>
          </a:xfrm>
          <a:prstGeom prst="rect">
            <a:avLst/>
          </a:prstGeom>
          <a:solidFill>
            <a:srgbClr val="3C783C"/>
          </a:solidFill>
          <a:ln w="6350">
            <a:solidFill>
              <a:srgbClr val="FFFFFF"/>
            </a:solidFill>
            <a:prstDash val="solid"/>
          </a:ln>
        </p:spPr>
      </p:sp>
      <p:sp>
        <p:nvSpPr>
          <p:cNvPr id="42" name="Shape 40"/>
          <p:cNvSpPr/>
          <p:nvPr/>
        </p:nvSpPr>
        <p:spPr>
          <a:xfrm>
            <a:off x="4023360" y="2103120"/>
            <a:ext cx="457200" cy="0"/>
          </a:xfrm>
          <a:prstGeom prst="line">
            <a:avLst/>
          </a:prstGeom>
          <a:noFill/>
          <a:ln w="38100">
            <a:solidFill>
              <a:srgbClr val="2B2318"/>
            </a:solidFill>
            <a:prstDash val="solid"/>
            <a:tailEnd type="triangle"/>
          </a:ln>
        </p:spPr>
      </p:sp>
      <p:sp>
        <p:nvSpPr>
          <p:cNvPr id="43" name="Shape 41"/>
          <p:cNvSpPr/>
          <p:nvPr/>
        </p:nvSpPr>
        <p:spPr>
          <a:xfrm>
            <a:off x="4617720" y="1188720"/>
            <a:ext cx="676656" cy="329184"/>
          </a:xfrm>
          <a:prstGeom prst="rect">
            <a:avLst/>
          </a:prstGeom>
          <a:solidFill>
            <a:srgbClr val="C9962A"/>
          </a:solidFill>
          <a:ln w="12700">
            <a:solidFill>
              <a:srgbClr val="FFFFFF"/>
            </a:solidFill>
            <a:prstDash val="solid"/>
          </a:ln>
        </p:spPr>
      </p:sp>
      <p:sp>
        <p:nvSpPr>
          <p:cNvPr id="44" name="Shape 42"/>
          <p:cNvSpPr/>
          <p:nvPr/>
        </p:nvSpPr>
        <p:spPr>
          <a:xfrm>
            <a:off x="4617720" y="1536192"/>
            <a:ext cx="676656" cy="329184"/>
          </a:xfrm>
          <a:prstGeom prst="rect">
            <a:avLst/>
          </a:prstGeom>
          <a:solidFill>
            <a:srgbClr val="3E5C76"/>
          </a:solidFill>
          <a:ln w="12700">
            <a:solidFill>
              <a:srgbClr val="FFFFFF"/>
            </a:solidFill>
            <a:prstDash val="solid"/>
          </a:ln>
        </p:spPr>
      </p:sp>
      <p:sp>
        <p:nvSpPr>
          <p:cNvPr id="45" name="Shape 43"/>
          <p:cNvSpPr/>
          <p:nvPr/>
        </p:nvSpPr>
        <p:spPr>
          <a:xfrm>
            <a:off x="4617720" y="1883664"/>
            <a:ext cx="676656" cy="329184"/>
          </a:xfrm>
          <a:prstGeom prst="rect">
            <a:avLst/>
          </a:prstGeom>
          <a:solidFill>
            <a:srgbClr val="3C783C"/>
          </a:solidFill>
          <a:ln w="12700">
            <a:solidFill>
              <a:srgbClr val="FFFFFF"/>
            </a:solidFill>
            <a:prstDash val="solid"/>
          </a:ln>
        </p:spPr>
      </p:sp>
      <p:sp>
        <p:nvSpPr>
          <p:cNvPr id="46" name="Shape 44"/>
          <p:cNvSpPr/>
          <p:nvPr/>
        </p:nvSpPr>
        <p:spPr>
          <a:xfrm>
            <a:off x="5440680" y="1188720"/>
            <a:ext cx="676656" cy="329184"/>
          </a:xfrm>
          <a:prstGeom prst="rect">
            <a:avLst/>
          </a:prstGeom>
          <a:solidFill>
            <a:srgbClr val="C9962A"/>
          </a:solidFill>
          <a:ln w="12700">
            <a:solidFill>
              <a:srgbClr val="FFFFFF"/>
            </a:solidFill>
            <a:prstDash val="solid"/>
          </a:ln>
        </p:spPr>
      </p:sp>
      <p:sp>
        <p:nvSpPr>
          <p:cNvPr id="47" name="Shape 45"/>
          <p:cNvSpPr/>
          <p:nvPr/>
        </p:nvSpPr>
        <p:spPr>
          <a:xfrm>
            <a:off x="5440680" y="1536192"/>
            <a:ext cx="676656" cy="329184"/>
          </a:xfrm>
          <a:prstGeom prst="rect">
            <a:avLst/>
          </a:prstGeom>
          <a:solidFill>
            <a:srgbClr val="3E5C76"/>
          </a:solidFill>
          <a:ln w="12700">
            <a:solidFill>
              <a:srgbClr val="FFFFFF"/>
            </a:solidFill>
            <a:prstDash val="solid"/>
          </a:ln>
        </p:spPr>
      </p:sp>
      <p:sp>
        <p:nvSpPr>
          <p:cNvPr id="48" name="Shape 46"/>
          <p:cNvSpPr/>
          <p:nvPr/>
        </p:nvSpPr>
        <p:spPr>
          <a:xfrm>
            <a:off x="5440680" y="1883664"/>
            <a:ext cx="676656" cy="329184"/>
          </a:xfrm>
          <a:prstGeom prst="rect">
            <a:avLst/>
          </a:prstGeom>
          <a:solidFill>
            <a:srgbClr val="3C783C"/>
          </a:solidFill>
          <a:ln w="12700">
            <a:solidFill>
              <a:srgbClr val="FFFFFF"/>
            </a:solidFill>
            <a:prstDash val="solid"/>
          </a:ln>
        </p:spPr>
      </p:sp>
      <p:sp>
        <p:nvSpPr>
          <p:cNvPr id="49" name="Shape 47"/>
          <p:cNvSpPr/>
          <p:nvPr/>
        </p:nvSpPr>
        <p:spPr>
          <a:xfrm>
            <a:off x="6263640" y="1188720"/>
            <a:ext cx="676656" cy="329184"/>
          </a:xfrm>
          <a:prstGeom prst="rect">
            <a:avLst/>
          </a:prstGeom>
          <a:solidFill>
            <a:srgbClr val="C9962A"/>
          </a:solidFill>
          <a:ln w="12700">
            <a:solidFill>
              <a:srgbClr val="FFFFFF"/>
            </a:solidFill>
            <a:prstDash val="solid"/>
          </a:ln>
        </p:spPr>
      </p:sp>
      <p:sp>
        <p:nvSpPr>
          <p:cNvPr id="50" name="Shape 48"/>
          <p:cNvSpPr/>
          <p:nvPr/>
        </p:nvSpPr>
        <p:spPr>
          <a:xfrm>
            <a:off x="6263640" y="1536192"/>
            <a:ext cx="676656" cy="329184"/>
          </a:xfrm>
          <a:prstGeom prst="rect">
            <a:avLst/>
          </a:prstGeom>
          <a:solidFill>
            <a:srgbClr val="3E5C76"/>
          </a:solidFill>
          <a:ln w="12700">
            <a:solidFill>
              <a:srgbClr val="FFFFFF"/>
            </a:solidFill>
            <a:prstDash val="solid"/>
          </a:ln>
        </p:spPr>
      </p:sp>
      <p:sp>
        <p:nvSpPr>
          <p:cNvPr id="51" name="Shape 49"/>
          <p:cNvSpPr/>
          <p:nvPr/>
        </p:nvSpPr>
        <p:spPr>
          <a:xfrm>
            <a:off x="6263640" y="1883664"/>
            <a:ext cx="676656" cy="329184"/>
          </a:xfrm>
          <a:prstGeom prst="rect">
            <a:avLst/>
          </a:prstGeom>
          <a:solidFill>
            <a:srgbClr val="3C783C"/>
          </a:solidFill>
          <a:ln w="12700">
            <a:solidFill>
              <a:srgbClr val="FFFFFF"/>
            </a:solidFill>
            <a:prstDash val="solid"/>
          </a:ln>
        </p:spPr>
      </p:sp>
      <p:sp>
        <p:nvSpPr>
          <p:cNvPr id="52" name="Shape 50"/>
          <p:cNvSpPr/>
          <p:nvPr/>
        </p:nvSpPr>
        <p:spPr>
          <a:xfrm>
            <a:off x="7086600" y="1188720"/>
            <a:ext cx="676656" cy="329184"/>
          </a:xfrm>
          <a:prstGeom prst="rect">
            <a:avLst/>
          </a:prstGeom>
          <a:solidFill>
            <a:srgbClr val="C9962A"/>
          </a:solidFill>
          <a:ln w="12700">
            <a:solidFill>
              <a:srgbClr val="FFFFFF"/>
            </a:solidFill>
            <a:prstDash val="solid"/>
          </a:ln>
        </p:spPr>
      </p:sp>
      <p:sp>
        <p:nvSpPr>
          <p:cNvPr id="53" name="Shape 51"/>
          <p:cNvSpPr/>
          <p:nvPr/>
        </p:nvSpPr>
        <p:spPr>
          <a:xfrm>
            <a:off x="7086600" y="1536192"/>
            <a:ext cx="676656" cy="329184"/>
          </a:xfrm>
          <a:prstGeom prst="rect">
            <a:avLst/>
          </a:prstGeom>
          <a:solidFill>
            <a:srgbClr val="3E5C76"/>
          </a:solidFill>
          <a:ln w="12700">
            <a:solidFill>
              <a:srgbClr val="FFFFFF"/>
            </a:solidFill>
            <a:prstDash val="solid"/>
          </a:ln>
        </p:spPr>
      </p:sp>
      <p:sp>
        <p:nvSpPr>
          <p:cNvPr id="54" name="Shape 52"/>
          <p:cNvSpPr/>
          <p:nvPr/>
        </p:nvSpPr>
        <p:spPr>
          <a:xfrm>
            <a:off x="7086600" y="1883664"/>
            <a:ext cx="676656" cy="329184"/>
          </a:xfrm>
          <a:prstGeom prst="rect">
            <a:avLst/>
          </a:prstGeom>
          <a:solidFill>
            <a:srgbClr val="3C783C"/>
          </a:solidFill>
          <a:ln w="12700">
            <a:solidFill>
              <a:srgbClr val="FFFFFF"/>
            </a:solidFill>
            <a:prstDash val="solid"/>
          </a:ln>
        </p:spPr>
      </p:sp>
      <p:sp>
        <p:nvSpPr>
          <p:cNvPr id="55" name="Shape 53"/>
          <p:cNvSpPr/>
          <p:nvPr/>
        </p:nvSpPr>
        <p:spPr>
          <a:xfrm>
            <a:off x="7909560" y="1188720"/>
            <a:ext cx="676656" cy="329184"/>
          </a:xfrm>
          <a:prstGeom prst="rect">
            <a:avLst/>
          </a:prstGeom>
          <a:solidFill>
            <a:srgbClr val="C9962A"/>
          </a:solidFill>
          <a:ln w="12700">
            <a:solidFill>
              <a:srgbClr val="FFFFFF"/>
            </a:solidFill>
            <a:prstDash val="solid"/>
          </a:ln>
        </p:spPr>
      </p:sp>
      <p:sp>
        <p:nvSpPr>
          <p:cNvPr id="56" name="Shape 54"/>
          <p:cNvSpPr/>
          <p:nvPr/>
        </p:nvSpPr>
        <p:spPr>
          <a:xfrm>
            <a:off x="7909560" y="1536192"/>
            <a:ext cx="676656" cy="329184"/>
          </a:xfrm>
          <a:prstGeom prst="rect">
            <a:avLst/>
          </a:prstGeom>
          <a:solidFill>
            <a:srgbClr val="3E5C76"/>
          </a:solidFill>
          <a:ln w="12700">
            <a:solidFill>
              <a:srgbClr val="FFFFFF"/>
            </a:solidFill>
            <a:prstDash val="solid"/>
          </a:ln>
        </p:spPr>
      </p:sp>
      <p:sp>
        <p:nvSpPr>
          <p:cNvPr id="57" name="Shape 55"/>
          <p:cNvSpPr/>
          <p:nvPr/>
        </p:nvSpPr>
        <p:spPr>
          <a:xfrm>
            <a:off x="7909560" y="1883664"/>
            <a:ext cx="676656" cy="329184"/>
          </a:xfrm>
          <a:prstGeom prst="rect">
            <a:avLst/>
          </a:prstGeom>
          <a:solidFill>
            <a:srgbClr val="3C783C"/>
          </a:solidFill>
          <a:ln w="12700">
            <a:solidFill>
              <a:srgbClr val="FFFFFF"/>
            </a:solidFill>
            <a:prstDash val="solid"/>
          </a:ln>
        </p:spPr>
      </p:sp>
      <p:sp>
        <p:nvSpPr>
          <p:cNvPr id="58" name="Shape 56"/>
          <p:cNvSpPr/>
          <p:nvPr/>
        </p:nvSpPr>
        <p:spPr>
          <a:xfrm>
            <a:off x="4617720" y="2423160"/>
            <a:ext cx="676656" cy="329184"/>
          </a:xfrm>
          <a:prstGeom prst="rect">
            <a:avLst/>
          </a:prstGeom>
          <a:solidFill>
            <a:srgbClr val="C9962A"/>
          </a:solidFill>
          <a:ln w="12700">
            <a:solidFill>
              <a:srgbClr val="FFFFFF"/>
            </a:solidFill>
            <a:prstDash val="solid"/>
          </a:ln>
        </p:spPr>
      </p:sp>
      <p:sp>
        <p:nvSpPr>
          <p:cNvPr id="59" name="Shape 57"/>
          <p:cNvSpPr/>
          <p:nvPr/>
        </p:nvSpPr>
        <p:spPr>
          <a:xfrm>
            <a:off x="4617720" y="2770632"/>
            <a:ext cx="676656" cy="329184"/>
          </a:xfrm>
          <a:prstGeom prst="rect">
            <a:avLst/>
          </a:prstGeom>
          <a:solidFill>
            <a:srgbClr val="3E5C76"/>
          </a:solidFill>
          <a:ln w="12700">
            <a:solidFill>
              <a:srgbClr val="FFFFFF"/>
            </a:solidFill>
            <a:prstDash val="solid"/>
          </a:ln>
        </p:spPr>
      </p:sp>
      <p:sp>
        <p:nvSpPr>
          <p:cNvPr id="60" name="Shape 58"/>
          <p:cNvSpPr/>
          <p:nvPr/>
        </p:nvSpPr>
        <p:spPr>
          <a:xfrm>
            <a:off x="4617720" y="3118104"/>
            <a:ext cx="676656" cy="329184"/>
          </a:xfrm>
          <a:prstGeom prst="rect">
            <a:avLst/>
          </a:prstGeom>
          <a:solidFill>
            <a:srgbClr val="3C783C"/>
          </a:solidFill>
          <a:ln w="12700">
            <a:solidFill>
              <a:srgbClr val="FFFFFF"/>
            </a:solidFill>
            <a:prstDash val="solid"/>
          </a:ln>
        </p:spPr>
      </p:sp>
      <p:sp>
        <p:nvSpPr>
          <p:cNvPr id="61" name="Shape 59"/>
          <p:cNvSpPr/>
          <p:nvPr/>
        </p:nvSpPr>
        <p:spPr>
          <a:xfrm>
            <a:off x="5440680" y="2423160"/>
            <a:ext cx="676656" cy="329184"/>
          </a:xfrm>
          <a:prstGeom prst="rect">
            <a:avLst/>
          </a:prstGeom>
          <a:solidFill>
            <a:srgbClr val="C9962A"/>
          </a:solidFill>
          <a:ln w="12700">
            <a:solidFill>
              <a:srgbClr val="FFFFFF"/>
            </a:solidFill>
            <a:prstDash val="solid"/>
          </a:ln>
        </p:spPr>
      </p:sp>
      <p:sp>
        <p:nvSpPr>
          <p:cNvPr id="62" name="Shape 60"/>
          <p:cNvSpPr/>
          <p:nvPr/>
        </p:nvSpPr>
        <p:spPr>
          <a:xfrm>
            <a:off x="5440680" y="2770632"/>
            <a:ext cx="676656" cy="329184"/>
          </a:xfrm>
          <a:prstGeom prst="rect">
            <a:avLst/>
          </a:prstGeom>
          <a:solidFill>
            <a:srgbClr val="3E5C76"/>
          </a:solidFill>
          <a:ln w="12700">
            <a:solidFill>
              <a:srgbClr val="FFFFFF"/>
            </a:solidFill>
            <a:prstDash val="solid"/>
          </a:ln>
        </p:spPr>
      </p:sp>
      <p:sp>
        <p:nvSpPr>
          <p:cNvPr id="63" name="Shape 61"/>
          <p:cNvSpPr/>
          <p:nvPr/>
        </p:nvSpPr>
        <p:spPr>
          <a:xfrm>
            <a:off x="5440680" y="3118104"/>
            <a:ext cx="676656" cy="329184"/>
          </a:xfrm>
          <a:prstGeom prst="rect">
            <a:avLst/>
          </a:prstGeom>
          <a:solidFill>
            <a:srgbClr val="3C783C"/>
          </a:solidFill>
          <a:ln w="12700">
            <a:solidFill>
              <a:srgbClr val="FFFFFF"/>
            </a:solidFill>
            <a:prstDash val="solid"/>
          </a:ln>
        </p:spPr>
      </p:sp>
      <p:sp>
        <p:nvSpPr>
          <p:cNvPr id="64" name="Shape 62"/>
          <p:cNvSpPr/>
          <p:nvPr/>
        </p:nvSpPr>
        <p:spPr>
          <a:xfrm>
            <a:off x="6263640" y="2423160"/>
            <a:ext cx="676656" cy="329184"/>
          </a:xfrm>
          <a:prstGeom prst="rect">
            <a:avLst/>
          </a:prstGeom>
          <a:solidFill>
            <a:srgbClr val="C9962A"/>
          </a:solidFill>
          <a:ln w="12700">
            <a:solidFill>
              <a:srgbClr val="FFFFFF"/>
            </a:solidFill>
            <a:prstDash val="solid"/>
          </a:ln>
        </p:spPr>
      </p:sp>
      <p:sp>
        <p:nvSpPr>
          <p:cNvPr id="65" name="Shape 63"/>
          <p:cNvSpPr/>
          <p:nvPr/>
        </p:nvSpPr>
        <p:spPr>
          <a:xfrm>
            <a:off x="6263640" y="2770632"/>
            <a:ext cx="676656" cy="329184"/>
          </a:xfrm>
          <a:prstGeom prst="rect">
            <a:avLst/>
          </a:prstGeom>
          <a:solidFill>
            <a:srgbClr val="3E5C76"/>
          </a:solidFill>
          <a:ln w="12700">
            <a:solidFill>
              <a:srgbClr val="FFFFFF"/>
            </a:solidFill>
            <a:prstDash val="solid"/>
          </a:ln>
        </p:spPr>
      </p:sp>
      <p:sp>
        <p:nvSpPr>
          <p:cNvPr id="66" name="Shape 64"/>
          <p:cNvSpPr/>
          <p:nvPr/>
        </p:nvSpPr>
        <p:spPr>
          <a:xfrm>
            <a:off x="6263640" y="3118104"/>
            <a:ext cx="676656" cy="329184"/>
          </a:xfrm>
          <a:prstGeom prst="rect">
            <a:avLst/>
          </a:prstGeom>
          <a:solidFill>
            <a:srgbClr val="3C783C"/>
          </a:solidFill>
          <a:ln w="12700">
            <a:solidFill>
              <a:srgbClr val="FFFFFF"/>
            </a:solidFill>
            <a:prstDash val="solid"/>
          </a:ln>
        </p:spPr>
      </p:sp>
      <p:sp>
        <p:nvSpPr>
          <p:cNvPr id="67" name="Shape 65"/>
          <p:cNvSpPr/>
          <p:nvPr/>
        </p:nvSpPr>
        <p:spPr>
          <a:xfrm>
            <a:off x="7086600" y="2423160"/>
            <a:ext cx="676656" cy="329184"/>
          </a:xfrm>
          <a:prstGeom prst="rect">
            <a:avLst/>
          </a:prstGeom>
          <a:solidFill>
            <a:srgbClr val="C9962A"/>
          </a:solidFill>
          <a:ln w="12700">
            <a:solidFill>
              <a:srgbClr val="FFFFFF"/>
            </a:solidFill>
            <a:prstDash val="solid"/>
          </a:ln>
        </p:spPr>
      </p:sp>
      <p:sp>
        <p:nvSpPr>
          <p:cNvPr id="68" name="Shape 66"/>
          <p:cNvSpPr/>
          <p:nvPr/>
        </p:nvSpPr>
        <p:spPr>
          <a:xfrm>
            <a:off x="7086600" y="2770632"/>
            <a:ext cx="676656" cy="329184"/>
          </a:xfrm>
          <a:prstGeom prst="rect">
            <a:avLst/>
          </a:prstGeom>
          <a:solidFill>
            <a:srgbClr val="3E5C76"/>
          </a:solidFill>
          <a:ln w="12700">
            <a:solidFill>
              <a:srgbClr val="FFFFFF"/>
            </a:solidFill>
            <a:prstDash val="solid"/>
          </a:ln>
        </p:spPr>
      </p:sp>
      <p:sp>
        <p:nvSpPr>
          <p:cNvPr id="69" name="Shape 67"/>
          <p:cNvSpPr/>
          <p:nvPr/>
        </p:nvSpPr>
        <p:spPr>
          <a:xfrm>
            <a:off x="7086600" y="3118104"/>
            <a:ext cx="676656" cy="329184"/>
          </a:xfrm>
          <a:prstGeom prst="rect">
            <a:avLst/>
          </a:prstGeom>
          <a:solidFill>
            <a:srgbClr val="3C783C"/>
          </a:solidFill>
          <a:ln w="12700">
            <a:solidFill>
              <a:srgbClr val="FFFFFF"/>
            </a:solidFill>
            <a:prstDash val="solid"/>
          </a:ln>
        </p:spPr>
      </p:sp>
      <p:sp>
        <p:nvSpPr>
          <p:cNvPr id="70" name="Shape 68"/>
          <p:cNvSpPr/>
          <p:nvPr/>
        </p:nvSpPr>
        <p:spPr>
          <a:xfrm>
            <a:off x="7909560" y="2423160"/>
            <a:ext cx="676656" cy="329184"/>
          </a:xfrm>
          <a:prstGeom prst="rect">
            <a:avLst/>
          </a:prstGeom>
          <a:solidFill>
            <a:srgbClr val="C9962A"/>
          </a:solidFill>
          <a:ln w="12700">
            <a:solidFill>
              <a:srgbClr val="FFFFFF"/>
            </a:solidFill>
            <a:prstDash val="solid"/>
          </a:ln>
        </p:spPr>
      </p:sp>
      <p:sp>
        <p:nvSpPr>
          <p:cNvPr id="71" name="Shape 69"/>
          <p:cNvSpPr/>
          <p:nvPr/>
        </p:nvSpPr>
        <p:spPr>
          <a:xfrm>
            <a:off x="7909560" y="2770632"/>
            <a:ext cx="676656" cy="329184"/>
          </a:xfrm>
          <a:prstGeom prst="rect">
            <a:avLst/>
          </a:prstGeom>
          <a:solidFill>
            <a:srgbClr val="3E5C76"/>
          </a:solidFill>
          <a:ln w="12700">
            <a:solidFill>
              <a:srgbClr val="FFFFFF"/>
            </a:solidFill>
            <a:prstDash val="solid"/>
          </a:ln>
        </p:spPr>
      </p:sp>
      <p:sp>
        <p:nvSpPr>
          <p:cNvPr id="72" name="Shape 70"/>
          <p:cNvSpPr/>
          <p:nvPr/>
        </p:nvSpPr>
        <p:spPr>
          <a:xfrm>
            <a:off x="7909560" y="3118104"/>
            <a:ext cx="676656" cy="329184"/>
          </a:xfrm>
          <a:prstGeom prst="rect">
            <a:avLst/>
          </a:prstGeom>
          <a:solidFill>
            <a:srgbClr val="3C783C"/>
          </a:solidFill>
          <a:ln w="12700">
            <a:solidFill>
              <a:srgbClr val="FFFFFF"/>
            </a:solidFill>
            <a:prstDash val="solid"/>
          </a:ln>
        </p:spPr>
      </p:sp>
      <p:sp>
        <p:nvSpPr>
          <p:cNvPr id="73" name="Shape 71"/>
          <p:cNvSpPr/>
          <p:nvPr/>
        </p:nvSpPr>
        <p:spPr>
          <a:xfrm>
            <a:off x="411480" y="3794760"/>
            <a:ext cx="8321040" cy="914400"/>
          </a:xfrm>
          <a:prstGeom prst="roundRect">
            <a:avLst>
              <a:gd name="adj" fmla="val 8000"/>
            </a:avLst>
          </a:prstGeom>
          <a:solidFill>
            <a:srgbClr val="2B2318"/>
          </a:solidFill>
          <a:ln w="12700">
            <a:solidFill>
              <a:srgbClr val="2B2318"/>
            </a:solidFill>
            <a:prstDash val="solid"/>
          </a:ln>
        </p:spPr>
      </p:sp>
      <p:sp>
        <p:nvSpPr>
          <p:cNvPr id="74" name="Text 72"/>
          <p:cNvSpPr txBox="1"/>
          <p:nvPr/>
        </p:nvSpPr>
        <p:spPr>
          <a:xfrm>
            <a:off x="594360" y="3794760"/>
            <a:ext cx="7955280" cy="91440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3 Gebiete × 10 Trittyen → 10 gemischte Phylen → je 50 Männer im Rat der 500</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Abschlussaufgabe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Shape 7"/>
          <p:cNvSpPr/>
          <p:nvPr/>
        </p:nvSpPr>
        <p:spPr>
          <a:xfrm>
            <a:off x="411480" y="1188720"/>
            <a:ext cx="8321040" cy="1600200"/>
          </a:xfrm>
          <a:prstGeom prst="roundRect">
            <a:avLst>
              <a:gd name="adj" fmla="val 4571"/>
            </a:avLst>
          </a:prstGeom>
          <a:solidFill>
            <a:srgbClr val="2B2318"/>
          </a:solidFill>
          <a:ln w="12700">
            <a:solidFill>
              <a:srgbClr val="2B2318"/>
            </a:solidFill>
            <a:prstDash val="solid"/>
          </a:ln>
        </p:spPr>
      </p:sp>
      <p:sp>
        <p:nvSpPr>
          <p:cNvPr id="10" name="Text 8"/>
          <p:cNvSpPr txBox="1"/>
          <p:nvPr/>
        </p:nvSpPr>
        <p:spPr>
          <a:xfrm>
            <a:off x="594360" y="1188720"/>
            <a:ext cx="7955280" cy="160020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Kleisthenes änderte Solons Vermögensklassen nicht – trotzdem gilt er als „Wegbereiter der Demokratie“. Erkläre in 3 Sätzen.</a:t>
            </a:r>
            <a:endParaRPr lang="en-US" sz="2700" dirty="0"/>
          </a:p>
        </p:txBody>
      </p:sp>
      <p:sp>
        <p:nvSpPr>
          <p:cNvPr id="11" name="Text 9"/>
          <p:cNvSpPr txBox="1"/>
          <p:nvPr/>
        </p:nvSpPr>
        <p:spPr>
          <a:xfrm>
            <a:off x="548640" y="2971800"/>
            <a:ext cx="8229600" cy="50292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„Solon gab den Bürgern …, aber …“</a:t>
            </a:r>
            <a:endParaRPr lang="en-US" sz="2700" dirty="0"/>
          </a:p>
        </p:txBody>
      </p:sp>
      <p:sp>
        <p:nvSpPr>
          <p:cNvPr id="12" name="Text 10"/>
          <p:cNvSpPr txBox="1"/>
          <p:nvPr/>
        </p:nvSpPr>
        <p:spPr>
          <a:xfrm>
            <a:off x="548640" y="3520440"/>
            <a:ext cx="8229600" cy="50292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„Kleisthenes änderte nicht …, sondern …“</a:t>
            </a:r>
            <a:endParaRPr lang="en-US" sz="2700" dirty="0"/>
          </a:p>
        </p:txBody>
      </p:sp>
      <p:sp>
        <p:nvSpPr>
          <p:cNvPr id="13" name="Text 11"/>
          <p:cNvSpPr txBox="1"/>
          <p:nvPr/>
        </p:nvSpPr>
        <p:spPr>
          <a:xfrm>
            <a:off x="548640" y="4069080"/>
            <a:ext cx="8229600" cy="50292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„Dadurch konnten die Bürger …“</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könnte es lauten</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29184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„Solon gab allen Bürgern das Stimmrecht, aber viele blieben an ihren Adelsherrn gebunden. Kleisthenes änderte nicht die Rechte, sondern die Bindungen: Er mischte die Bürger in neuen Phylen. Dadurch konnten sie frei abstimmen.“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Haben wir das Ziel erreicht?</a:t>
            </a:r>
            <a:endParaRPr lang="en-US" sz="3600" dirty="0"/>
          </a:p>
        </p:txBody>
      </p:sp>
      <p:sp>
        <p:nvSpPr>
          <p:cNvPr id="8" name="Text 6"/>
          <p:cNvSpPr txBox="1"/>
          <p:nvPr/>
        </p:nvSpPr>
        <p:spPr>
          <a:xfrm>
            <a:off x="411480" y="1371600"/>
            <a:ext cx="8321040" cy="1463040"/>
          </a:xfrm>
          <a:prstGeom prst="rect">
            <a:avLst/>
          </a:prstGeom>
          <a:noFill/>
          <a:ln/>
        </p:spPr>
        <p:txBody>
          <a:bodyPr wrap="square" lIns="0" tIns="0" rIns="0" bIns="0" rtlCol="0" anchor="t"/>
          <a:lstStyle/>
          <a:p>
            <a:pPr indent="0" marL="0">
              <a:buNone/>
            </a:pPr>
            <a:r>
              <a:rPr lang="en-US" sz="2700" b="1" dirty="0">
                <a:solidFill>
                  <a:srgbClr val="D9A441"/>
                </a:solidFill>
                <a:latin typeface="Calibri" pitchFamily="34" charset="0"/>
                <a:ea typeface="Calibri" pitchFamily="34" charset="-122"/>
                <a:cs typeface="Calibri" pitchFamily="34" charset="-120"/>
              </a:rPr>
              <a:t>Ich kann erklären, wie Kleisthenes mit den neuen Phylen die Macht der Adelsfamilien brach.</a:t>
            </a:r>
            <a:endParaRPr lang="en-US" sz="2700" dirty="0"/>
          </a:p>
        </p:txBody>
      </p:sp>
      <p:sp>
        <p:nvSpPr>
          <p:cNvPr id="9" name="Text 7"/>
          <p:cNvSpPr txBox="1"/>
          <p:nvPr/>
        </p:nvSpPr>
        <p:spPr>
          <a:xfrm>
            <a:off x="411480" y="3291840"/>
            <a:ext cx="8321040" cy="73152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Mittwoch: Wie beschreibt Aristoteles diese Reform?</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Kleisthenes – Warum stimmt Lysias anders?</dc:title>
  <dc:subject>PptxGenJS Presentation</dc:subject>
  <dc:creator>PptxGenJS</dc:creator>
  <cp:lastModifiedBy>PptxGenJS</cp:lastModifiedBy>
  <cp:revision>1</cp:revision>
  <dcterms:created xsi:type="dcterms:W3CDTF">2026-10-28T15:29:24Z</dcterms:created>
  <dcterms:modified xsi:type="dcterms:W3CDTF">2026-10-28T15:29:24Z</dcterms:modified>
</cp:coreProperties>
</file>