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 Seitentafel vorbereitet: Ziel und Ablauf (Folie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Min. Ziel vorlesen, steht auch an der Seitentafel. * = wird bei Zeitnot nur kurz gestreift. Im Auswerten auf das Ziel zurückkommen.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Min. Direkt: Vorwissen aktivieren über einen Fehlertext. Allein (2), Partnercheck (1), Stichproben bei 4–6 Schülern unterschiedlichen Niveaus (2). Buch und Hefter zu – nur das Heft für die Berichtigung. Die Fehler: Recht beim Adel; Schuldknechtschaft bleibt bei Drakon; Solon ohne Landverteilung; Rechte nach Besitz, Theten kein Archont; Peisistratos mit Söldnern; Verfassung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7–9 Min. Lösung vergleichen, Fehler im Heft grün verbessern. Dann die offene Leitfrage der letzten Stunde: zwei Schüler antworten in einem Satz, danach der Satz unten auf der Folie. Das „Aber“ ist die Gelenkstelle zu heute.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 Min. Kurz selbst erzählen (direkt). Quelle: Lehrbuch S. 16 (Hipparchos ermordet 514, Hippias verbannt 510).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10–11 Min. Jeder legt sich fest (Aha vorbereiten). Nicht besprechen – die Vermutung wird am Ende mit der Lösung verglichen. Lysias ist eine erfundene Figur, Paiania und die Phyle Pandionis gab es wirklich.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11–13 Min. Direkt: Begriffe vor dem Mystery klären (Begriffs-Check). Prüffrage an zwei Schüler: „Was ist größer – Demos oder Trittys?“ (Trittys).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 Min. Direkt: modellieren und laut denken. Warnung vor dem Fehler vorlesen. Dann Gruppen zu dritt bilden und Sets austeilen (vorher bereitlegen).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15–29 Min. Indirekt: Die Gruppen erschließen die neuen Informationen selbst (Text in acht Abschnitten). Umhergehen, zuhören. Stolpersteine und Hilfen in der Handreichung. Nach 10 Min. ansagen: „Noch 4 Minuten – jetzt schreibt jeder die Antwort.“ Acht Abschnitte, keine Ablenker.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29–33 Min. Zwei Gruppen lesen ihre Antwort vom Platz vor, du trägst die Kette an der Tafel ein. Dann diese Folie. Impuls: Vergleicht mit eurer Vermutung von vorhin – wie nah wart ihr 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33–38 Min. Schaubild erklären (direkt, 2 Min.), dann Prüffragen an 3–4 Schüler: „Warum mischt Kleisthenes gerade drei Gebiete?“ (damit keine Familie in einer Phyle die Mehrheit hat) – „Was verliert der Adlige, was behält er?“ (verliert die geschlossene Gefolgschaft, behält Land und Vermögensklasse). Tafelskizze in der Handreichung.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38–43 Min. Prüfaufgabe zum Ziel. Gezielt zwei Schüler unterschiedlichen Niveaus vorlesen lassen, dann Folie 13 und Rückbezug aufs Ziel (Seitentafel). Diese Phase nie kürzen – bei Zeitnot Folie 11 nur kurz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43–45 Min. Rückbezug zum Ziel. Ausblick: Am Mittwoch lesen wir, wie Aristoteles diese Reform beschreibt – und lernen, eine Quelle zu analysieren.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640080" y="1005840"/>
            <a:ext cx="7863840" cy="274320"/>
          </a:xfrm>
          <a:prstGeom prst="rect">
            <a:avLst/>
          </a:prstGeom>
          <a:noFill/>
          <a:ln/>
        </p:spPr>
        <p:txBody>
          <a:bodyPr wrap="square" lIns="0" tIns="0" rIns="0" bIns="0" rtlCol="0" anchor="t"/>
          <a:lstStyle/>
          <a:p>
            <a:pPr indent="0" marL="0">
              <a:buNone/>
            </a:pPr>
            <a:r>
              <a:rPr lang="en-US" sz="1200" b="1" spc="300" kern="0" dirty="0">
                <a:solidFill>
                  <a:srgbClr val="D9A441"/>
                </a:solidFill>
                <a:latin typeface="Calibri" pitchFamily="34" charset="0"/>
                <a:ea typeface="Calibri" pitchFamily="34" charset="-122"/>
                <a:cs typeface="Calibri" pitchFamily="34" charset="-120"/>
              </a:rPr>
              <a:t>GESCHICHTE · KLASSE 11</a:t>
            </a:r>
            <a:endParaRPr lang="en-US" sz="1200" dirty="0"/>
          </a:p>
        </p:txBody>
      </p:sp>
      <p:sp>
        <p:nvSpPr>
          <p:cNvPr id="3" name="Text 1"/>
          <p:cNvSpPr txBox="1"/>
          <p:nvPr/>
        </p:nvSpPr>
        <p:spPr>
          <a:xfrm>
            <a:off x="640080" y="1325880"/>
            <a:ext cx="7863840" cy="7315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Warum stimmt Lysias anders?</a:t>
            </a:r>
            <a:endParaRPr lang="en-US" sz="3600" dirty="0"/>
          </a:p>
        </p:txBody>
      </p:sp>
      <p:sp>
        <p:nvSpPr>
          <p:cNvPr id="4" name="Text 2"/>
          <p:cNvSpPr txBox="1"/>
          <p:nvPr/>
        </p:nvSpPr>
        <p:spPr>
          <a:xfrm>
            <a:off x="640080" y="2148840"/>
            <a:ext cx="7863840" cy="457200"/>
          </a:xfrm>
          <a:prstGeom prst="rect">
            <a:avLst/>
          </a:prstGeom>
          <a:noFill/>
          <a:ln/>
        </p:spPr>
        <p:txBody>
          <a:bodyPr wrap="square" lIns="0" tIns="0" rIns="0" bIns="0" rtlCol="0" anchor="t"/>
          <a:lstStyle/>
          <a:p>
            <a:pPr indent="0" marL="0">
              <a:buNone/>
            </a:pPr>
            <a:r>
              <a:rPr lang="en-US" sz="1800" dirty="0">
                <a:solidFill>
                  <a:srgbClr val="E8DFD0"/>
                </a:solidFill>
                <a:latin typeface="Calibri" pitchFamily="34" charset="0"/>
                <a:ea typeface="Calibri" pitchFamily="34" charset="-122"/>
                <a:cs typeface="Calibri" pitchFamily="34" charset="-120"/>
              </a:rPr>
              <a:t>Die Reformen des Kleisthenes (508/07 v. Chr.)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Ankommen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ANKOMMEN</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Ziel und Ablauf</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2B231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Min.</a:t>
            </a:r>
            <a:endParaRPr lang="en-US" sz="1100" dirty="0"/>
          </a:p>
        </p:txBody>
      </p:sp>
      <p:sp>
        <p:nvSpPr>
          <p:cNvPr id="11" name="Shape 9"/>
          <p:cNvSpPr/>
          <p:nvPr/>
        </p:nvSpPr>
        <p:spPr>
          <a:xfrm>
            <a:off x="457200" y="1234440"/>
            <a:ext cx="8229600" cy="960120"/>
          </a:xfrm>
          <a:prstGeom prst="roundRect">
            <a:avLst>
              <a:gd name="adj" fmla="val 7619"/>
            </a:avLst>
          </a:prstGeom>
          <a:solidFill>
            <a:srgbClr val="2B2318"/>
          </a:solidFill>
          <a:ln w="12700">
            <a:solidFill>
              <a:srgbClr val="2B2318"/>
            </a:solidFill>
            <a:prstDash val="solid"/>
          </a:ln>
        </p:spPr>
      </p:sp>
      <p:sp>
        <p:nvSpPr>
          <p:cNvPr id="12" name="Text 10"/>
          <p:cNvSpPr txBox="1"/>
          <p:nvPr/>
        </p:nvSpPr>
        <p:spPr>
          <a:xfrm>
            <a:off x="685800" y="1234440"/>
            <a:ext cx="7772400" cy="96012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Ich kann erklären, </a:t>
            </a:r>
            <a:pPr indent="0" marL="0">
              <a:buNone/>
            </a:pPr>
            <a:r>
              <a:rPr lang="en-US" sz="1900" b="1" dirty="0">
                <a:solidFill>
                  <a:srgbClr val="D9A441"/>
                </a:solidFill>
                <a:latin typeface="Calibri" pitchFamily="34" charset="0"/>
                <a:ea typeface="Calibri" pitchFamily="34" charset="-122"/>
                <a:cs typeface="Calibri" pitchFamily="34" charset="-120"/>
              </a:rPr>
              <a:t>wie Kleisthenes mit der neuen Phylenordnung die Macht der Adelsfamilien brach.</a:t>
            </a:r>
            <a:endParaRPr lang="en-US" sz="1900" dirty="0"/>
          </a:p>
        </p:txBody>
      </p:sp>
      <p:sp>
        <p:nvSpPr>
          <p:cNvPr id="13" name="Text 11"/>
          <p:cNvSpPr txBox="1"/>
          <p:nvPr/>
        </p:nvSpPr>
        <p:spPr>
          <a:xfrm>
            <a:off x="457200" y="2395728"/>
            <a:ext cx="384048" cy="347472"/>
          </a:xfrm>
          <a:prstGeom prst="roundRect">
            <a:avLst>
              <a:gd name="adj" fmla="val 21053"/>
            </a:avLst>
          </a:prstGeom>
          <a:solidFill>
            <a:srgbClr val="F4ECDE"/>
          </a:solidFill>
          <a:ln/>
        </p:spPr>
        <p:txBody>
          <a:bodyPr wrap="square" lIns="0" tIns="0" rIns="0" bIns="0" rtlCol="0" anchor="ctr"/>
          <a:lstStyle/>
          <a:p>
            <a:pPr algn="ctr" indent="0" marL="0">
              <a:buNone/>
            </a:pPr>
            <a:r>
              <a:rPr lang="en-US" sz="1300" b="1" dirty="0">
                <a:solidFill>
                  <a:srgbClr val="AD4426"/>
                </a:solidFill>
                <a:latin typeface="Calibri" pitchFamily="34" charset="0"/>
                <a:ea typeface="Calibri" pitchFamily="34" charset="-122"/>
                <a:cs typeface="Calibri" pitchFamily="34" charset="-120"/>
              </a:rPr>
              <a:t>V</a:t>
            </a:r>
            <a:endParaRPr lang="en-US" sz="1300" dirty="0"/>
          </a:p>
        </p:txBody>
      </p:sp>
      <p:sp>
        <p:nvSpPr>
          <p:cNvPr id="14" name="Text 12"/>
          <p:cNvSpPr txBox="1"/>
          <p:nvPr/>
        </p:nvSpPr>
        <p:spPr>
          <a:xfrm>
            <a:off x="1005840" y="2395728"/>
            <a:ext cx="7498080" cy="347472"/>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Wiederholung: Wer regierte Athen bisher? Fehler finden</a:t>
            </a:r>
            <a:endParaRPr lang="en-US" sz="1500" dirty="0"/>
          </a:p>
        </p:txBody>
      </p:sp>
      <p:sp>
        <p:nvSpPr>
          <p:cNvPr id="15" name="Text 13"/>
          <p:cNvSpPr txBox="1"/>
          <p:nvPr/>
        </p:nvSpPr>
        <p:spPr>
          <a:xfrm>
            <a:off x="457200" y="2852928"/>
            <a:ext cx="384048" cy="347472"/>
          </a:xfrm>
          <a:prstGeom prst="roundRect">
            <a:avLst>
              <a:gd name="adj" fmla="val 21053"/>
            </a:avLst>
          </a:prstGeom>
          <a:solidFill>
            <a:srgbClr val="F4ECDE"/>
          </a:solidFill>
          <a:ln/>
        </p:spPr>
        <p:txBody>
          <a:bodyPr wrap="square" lIns="0" tIns="0" rIns="0" bIns="0" rtlCol="0" anchor="ctr"/>
          <a:lstStyle/>
          <a:p>
            <a:pPr algn="ctr" indent="0" marL="0">
              <a:buNone/>
            </a:pPr>
            <a:r>
              <a:rPr lang="en-US" sz="1300" b="1" dirty="0">
                <a:solidFill>
                  <a:srgbClr val="AD4426"/>
                </a:solidFill>
                <a:latin typeface="Calibri" pitchFamily="34" charset="0"/>
                <a:ea typeface="Calibri" pitchFamily="34" charset="-122"/>
                <a:cs typeface="Calibri" pitchFamily="34" charset="-120"/>
              </a:rPr>
              <a:t>I</a:t>
            </a:r>
            <a:endParaRPr lang="en-US" sz="1300" dirty="0"/>
          </a:p>
        </p:txBody>
      </p:sp>
      <p:sp>
        <p:nvSpPr>
          <p:cNvPr id="16" name="Text 14"/>
          <p:cNvSpPr txBox="1"/>
          <p:nvPr/>
        </p:nvSpPr>
        <p:spPr>
          <a:xfrm>
            <a:off x="1005840" y="2852928"/>
            <a:ext cx="7498080" cy="347472"/>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Eine rätselhafte Frage und zwei neue Begriffe</a:t>
            </a:r>
            <a:endParaRPr lang="en-US" sz="1500" dirty="0"/>
          </a:p>
        </p:txBody>
      </p:sp>
      <p:sp>
        <p:nvSpPr>
          <p:cNvPr id="17" name="Text 15"/>
          <p:cNvSpPr txBox="1"/>
          <p:nvPr/>
        </p:nvSpPr>
        <p:spPr>
          <a:xfrm>
            <a:off x="457200" y="3310128"/>
            <a:ext cx="384048" cy="347472"/>
          </a:xfrm>
          <a:prstGeom prst="roundRect">
            <a:avLst>
              <a:gd name="adj" fmla="val 21053"/>
            </a:avLst>
          </a:prstGeom>
          <a:solidFill>
            <a:srgbClr val="F4ECDE"/>
          </a:solidFill>
          <a:ln/>
        </p:spPr>
        <p:txBody>
          <a:bodyPr wrap="square" lIns="0" tIns="0" rIns="0" bIns="0" rtlCol="0" anchor="ctr"/>
          <a:lstStyle/>
          <a:p>
            <a:pPr algn="ctr" indent="0" marL="0">
              <a:buNone/>
            </a:pPr>
            <a:r>
              <a:rPr lang="en-US" sz="1300" b="1" dirty="0">
                <a:solidFill>
                  <a:srgbClr val="AD4426"/>
                </a:solidFill>
                <a:latin typeface="Calibri" pitchFamily="34" charset="0"/>
                <a:ea typeface="Calibri" pitchFamily="34" charset="-122"/>
                <a:cs typeface="Calibri" pitchFamily="34" charset="-120"/>
              </a:rPr>
              <a:t>V</a:t>
            </a:r>
            <a:endParaRPr lang="en-US" sz="1300" dirty="0"/>
          </a:p>
        </p:txBody>
      </p:sp>
      <p:sp>
        <p:nvSpPr>
          <p:cNvPr id="18" name="Text 16"/>
          <p:cNvSpPr txBox="1"/>
          <p:nvPr/>
        </p:nvSpPr>
        <p:spPr>
          <a:xfrm>
            <a:off x="1005840" y="3310128"/>
            <a:ext cx="7498080" cy="347472"/>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Mystery: Warum stimmt Lysias anders?</a:t>
            </a:r>
            <a:endParaRPr lang="en-US" sz="1500" dirty="0"/>
          </a:p>
        </p:txBody>
      </p:sp>
      <p:sp>
        <p:nvSpPr>
          <p:cNvPr id="19" name="Text 17"/>
          <p:cNvSpPr txBox="1"/>
          <p:nvPr/>
        </p:nvSpPr>
        <p:spPr>
          <a:xfrm>
            <a:off x="457200" y="3767328"/>
            <a:ext cx="384048" cy="347472"/>
          </a:xfrm>
          <a:prstGeom prst="roundRect">
            <a:avLst>
              <a:gd name="adj" fmla="val 21053"/>
            </a:avLst>
          </a:prstGeom>
          <a:solidFill>
            <a:srgbClr val="F4ECDE"/>
          </a:solidFill>
          <a:ln/>
        </p:spPr>
        <p:txBody>
          <a:bodyPr wrap="square" lIns="0" tIns="0" rIns="0" bIns="0" rtlCol="0" anchor="ctr"/>
          <a:lstStyle/>
          <a:p>
            <a:pPr algn="ctr" indent="0" marL="0">
              <a:buNone/>
            </a:pPr>
            <a:r>
              <a:rPr lang="en-US" sz="1300" b="1" dirty="0">
                <a:solidFill>
                  <a:srgbClr val="AD4426"/>
                </a:solidFill>
                <a:latin typeface="Calibri" pitchFamily="34" charset="0"/>
                <a:ea typeface="Calibri" pitchFamily="34" charset="-122"/>
                <a:cs typeface="Calibri" pitchFamily="34" charset="-120"/>
              </a:rPr>
              <a:t>V</a:t>
            </a:r>
            <a:endParaRPr lang="en-US" sz="1300" dirty="0"/>
          </a:p>
        </p:txBody>
      </p:sp>
      <p:sp>
        <p:nvSpPr>
          <p:cNvPr id="20" name="Text 18"/>
          <p:cNvSpPr txBox="1"/>
          <p:nvPr/>
        </p:nvSpPr>
        <p:spPr>
          <a:xfrm>
            <a:off x="1005840" y="3767328"/>
            <a:ext cx="7498080" cy="347472"/>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Die Lösung und die neue Ordnung Attikas (Ostrakismos*)</a:t>
            </a:r>
            <a:endParaRPr lang="en-US" sz="1500" dirty="0"/>
          </a:p>
        </p:txBody>
      </p:sp>
      <p:sp>
        <p:nvSpPr>
          <p:cNvPr id="21" name="Text 19"/>
          <p:cNvSpPr txBox="1"/>
          <p:nvPr/>
        </p:nvSpPr>
        <p:spPr>
          <a:xfrm>
            <a:off x="457200" y="4224528"/>
            <a:ext cx="384048" cy="347472"/>
          </a:xfrm>
          <a:prstGeom prst="roundRect">
            <a:avLst>
              <a:gd name="adj" fmla="val 21053"/>
            </a:avLst>
          </a:prstGeom>
          <a:solidFill>
            <a:srgbClr val="F4ECDE"/>
          </a:solidFill>
          <a:ln/>
        </p:spPr>
        <p:txBody>
          <a:bodyPr wrap="square" lIns="0" tIns="0" rIns="0" bIns="0" rtlCol="0" anchor="ctr"/>
          <a:lstStyle/>
          <a:p>
            <a:pPr algn="ctr" indent="0" marL="0">
              <a:buNone/>
            </a:pPr>
            <a:r>
              <a:rPr lang="en-US" sz="1300" b="1" dirty="0">
                <a:solidFill>
                  <a:srgbClr val="AD4426"/>
                </a:solidFill>
                <a:latin typeface="Calibri" pitchFamily="34" charset="0"/>
                <a:ea typeface="Calibri" pitchFamily="34" charset="-122"/>
                <a:cs typeface="Calibri" pitchFamily="34" charset="-120"/>
              </a:rPr>
              <a:t>A</a:t>
            </a:r>
            <a:endParaRPr lang="en-US" sz="1300" dirty="0"/>
          </a:p>
        </p:txBody>
      </p:sp>
      <p:sp>
        <p:nvSpPr>
          <p:cNvPr id="22" name="Text 20"/>
          <p:cNvSpPr txBox="1"/>
          <p:nvPr/>
        </p:nvSpPr>
        <p:spPr>
          <a:xfrm>
            <a:off x="1005840" y="4224528"/>
            <a:ext cx="7498080" cy="347472"/>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Abschlussaufgabe: Kleisthenes und Solon</a:t>
            </a:r>
            <a:endParaRPr lang="en-US" sz="1500" dirty="0"/>
          </a:p>
        </p:txBody>
      </p:sp>
      <p:sp>
        <p:nvSpPr>
          <p:cNvPr id="23" name="Text 21"/>
          <p:cNvSpPr txBox="1"/>
          <p:nvPr/>
        </p:nvSpPr>
        <p:spPr>
          <a:xfrm>
            <a:off x="457200" y="4773168"/>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Kleisthenes – Warum stimmt Lysias anders?</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Vorwissen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WIEDERHOLUNG · ALLEIN, DANN ZU ZWEIT · HEFT</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Hier stimmt etwas nicht!</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2B231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Min.</a:t>
            </a:r>
            <a:endParaRPr lang="en-US" sz="1100" dirty="0"/>
          </a:p>
        </p:txBody>
      </p:sp>
      <p:sp>
        <p:nvSpPr>
          <p:cNvPr id="11" name="Text 9"/>
          <p:cNvSpPr txBox="1"/>
          <p:nvPr/>
        </p:nvSpPr>
        <p:spPr>
          <a:xfrm>
            <a:off x="457200" y="1097280"/>
            <a:ext cx="822960" cy="274320"/>
          </a:xfrm>
          <a:prstGeom prst="roundRect">
            <a:avLst>
              <a:gd name="adj" fmla="val 26667"/>
            </a:avLst>
          </a:prstGeom>
          <a:solidFill>
            <a:srgbClr val="2B2318"/>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Zeit</a:t>
            </a:r>
            <a:endParaRPr lang="en-US" sz="1150" dirty="0"/>
          </a:p>
        </p:txBody>
      </p:sp>
      <p:sp>
        <p:nvSpPr>
          <p:cNvPr id="12" name="Text 10"/>
          <p:cNvSpPr txBox="1"/>
          <p:nvPr/>
        </p:nvSpPr>
        <p:spPr>
          <a:xfrm>
            <a:off x="1325880" y="1097280"/>
            <a:ext cx="1645920" cy="274320"/>
          </a:xfrm>
          <a:prstGeom prst="roundRect">
            <a:avLst>
              <a:gd name="adj" fmla="val 26667"/>
            </a:avLst>
          </a:prstGeom>
          <a:solidFill>
            <a:srgbClr val="2B2318"/>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Herrschaftsform (griech.)</a:t>
            </a:r>
            <a:endParaRPr lang="en-US" sz="1150" dirty="0"/>
          </a:p>
        </p:txBody>
      </p:sp>
      <p:sp>
        <p:nvSpPr>
          <p:cNvPr id="13" name="Text 11"/>
          <p:cNvSpPr txBox="1"/>
          <p:nvPr/>
        </p:nvSpPr>
        <p:spPr>
          <a:xfrm>
            <a:off x="3017520" y="1097280"/>
            <a:ext cx="1143000" cy="274320"/>
          </a:xfrm>
          <a:prstGeom prst="roundRect">
            <a:avLst>
              <a:gd name="adj" fmla="val 26667"/>
            </a:avLst>
          </a:prstGeom>
          <a:solidFill>
            <a:srgbClr val="2B2318"/>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Protagonist</a:t>
            </a:r>
            <a:endParaRPr lang="en-US" sz="1150" dirty="0"/>
          </a:p>
        </p:txBody>
      </p:sp>
      <p:sp>
        <p:nvSpPr>
          <p:cNvPr id="14" name="Text 12"/>
          <p:cNvSpPr txBox="1"/>
          <p:nvPr/>
        </p:nvSpPr>
        <p:spPr>
          <a:xfrm>
            <a:off x="4206240" y="1097280"/>
            <a:ext cx="4480560" cy="274320"/>
          </a:xfrm>
          <a:prstGeom prst="roundRect">
            <a:avLst>
              <a:gd name="adj" fmla="val 26667"/>
            </a:avLst>
          </a:prstGeom>
          <a:solidFill>
            <a:srgbClr val="2B2318"/>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Was geschah?</a:t>
            </a:r>
            <a:endParaRPr lang="en-US" sz="1150" dirty="0"/>
          </a:p>
        </p:txBody>
      </p:sp>
      <p:sp>
        <p:nvSpPr>
          <p:cNvPr id="15" name="Shape 13"/>
          <p:cNvSpPr/>
          <p:nvPr/>
        </p:nvSpPr>
        <p:spPr>
          <a:xfrm>
            <a:off x="457200" y="1426464"/>
            <a:ext cx="8229600" cy="694944"/>
          </a:xfrm>
          <a:prstGeom prst="roundRect">
            <a:avLst>
              <a:gd name="adj" fmla="val 10526"/>
            </a:avLst>
          </a:prstGeom>
          <a:solidFill>
            <a:srgbClr val="FBF8F2"/>
          </a:solidFill>
          <a:ln w="12700">
            <a:solidFill>
              <a:srgbClr val="FBF8F2"/>
            </a:solidFill>
            <a:prstDash val="solid"/>
          </a:ln>
        </p:spPr>
      </p:sp>
      <p:sp>
        <p:nvSpPr>
          <p:cNvPr id="16" name="Text 14"/>
          <p:cNvSpPr txBox="1"/>
          <p:nvPr/>
        </p:nvSpPr>
        <p:spPr>
          <a:xfrm>
            <a:off x="502920" y="1426464"/>
            <a:ext cx="822960" cy="694944"/>
          </a:xfrm>
          <a:prstGeom prst="rect">
            <a:avLst/>
          </a:prstGeom>
          <a:noFill/>
          <a:ln/>
        </p:spPr>
        <p:txBody>
          <a:bodyPr wrap="square" lIns="0" tIns="0" rIns="0" bIns="0" rtlCol="0" anchor="ctr"/>
          <a:lstStyle/>
          <a:p>
            <a:pPr indent="0" marL="0">
              <a:buNone/>
            </a:pPr>
            <a:r>
              <a:rPr lang="en-US" sz="1200" b="1" dirty="0">
                <a:solidFill>
                  <a:srgbClr val="2B2318"/>
                </a:solidFill>
                <a:latin typeface="Calibri" pitchFamily="34" charset="0"/>
                <a:ea typeface="Calibri" pitchFamily="34" charset="-122"/>
                <a:cs typeface="Calibri" pitchFamily="34" charset="-120"/>
              </a:rPr>
              <a:t>vor 600</a:t>
            </a:r>
            <a:endParaRPr lang="en-US" sz="1200" dirty="0"/>
          </a:p>
        </p:txBody>
      </p:sp>
      <p:sp>
        <p:nvSpPr>
          <p:cNvPr id="17" name="Text 15"/>
          <p:cNvSpPr txBox="1"/>
          <p:nvPr/>
        </p:nvSpPr>
        <p:spPr>
          <a:xfrm>
            <a:off x="1325880" y="1426464"/>
            <a:ext cx="1645920" cy="694944"/>
          </a:xfrm>
          <a:prstGeom prst="rect">
            <a:avLst/>
          </a:prstGeom>
          <a:noFill/>
          <a:ln/>
        </p:spPr>
        <p:txBody>
          <a:bodyPr wrap="square" lIns="0" tIns="0" rIns="0" bIns="0" rtlCol="0" anchor="ctr"/>
          <a:lstStyle/>
          <a:p>
            <a:pPr indent="0" marL="0">
              <a:buNone/>
            </a:pPr>
            <a:r>
              <a:rPr lang="en-US" sz="1250" b="1" dirty="0">
                <a:solidFill>
                  <a:srgbClr val="AD4426"/>
                </a:solidFill>
                <a:latin typeface="Calibri" pitchFamily="34" charset="0"/>
                <a:ea typeface="Calibri" pitchFamily="34" charset="-122"/>
                <a:cs typeface="Calibri" pitchFamily="34" charset="-120"/>
              </a:rPr>
              <a:t>Aristokratie
</a:t>
            </a:r>
            <a:pPr indent="0" marL="0">
              <a:buNone/>
            </a:pPr>
            <a:r>
              <a:rPr lang="en-US" sz="950" i="1" dirty="0">
                <a:solidFill>
                  <a:srgbClr val="5A5044"/>
                </a:solidFill>
                <a:latin typeface="Calibri" pitchFamily="34" charset="0"/>
                <a:ea typeface="Calibri" pitchFamily="34" charset="-122"/>
                <a:cs typeface="Calibri" pitchFamily="34" charset="-120"/>
              </a:rPr>
              <a:t>aristos = der Beste</a:t>
            </a:r>
            <a:endParaRPr lang="en-US" sz="1250" dirty="0"/>
          </a:p>
        </p:txBody>
      </p:sp>
      <p:sp>
        <p:nvSpPr>
          <p:cNvPr id="18" name="Text 16"/>
          <p:cNvSpPr txBox="1"/>
          <p:nvPr/>
        </p:nvSpPr>
        <p:spPr>
          <a:xfrm>
            <a:off x="3017520" y="1426464"/>
            <a:ext cx="1143000" cy="694944"/>
          </a:xfrm>
          <a:prstGeom prst="rect">
            <a:avLst/>
          </a:prstGeom>
          <a:noFill/>
          <a:ln/>
        </p:spPr>
        <p:txBody>
          <a:bodyPr wrap="square" lIns="0" tIns="0" rIns="0" bIns="0" rtlCol="0" anchor="ctr"/>
          <a:lstStyle/>
          <a:p>
            <a:pPr indent="0" marL="0">
              <a:buNone/>
            </a:pPr>
            <a:r>
              <a:rPr lang="en-US" sz="1300" b="1" dirty="0">
                <a:solidFill>
                  <a:srgbClr val="2B2318"/>
                </a:solidFill>
                <a:latin typeface="Cambria" pitchFamily="34" charset="0"/>
                <a:ea typeface="Cambria" pitchFamily="34" charset="-122"/>
                <a:cs typeface="Cambria" pitchFamily="34" charset="-120"/>
              </a:rPr>
              <a:t>Adelsfamilien</a:t>
            </a:r>
            <a:endParaRPr lang="en-US" sz="1300" dirty="0"/>
          </a:p>
        </p:txBody>
      </p:sp>
      <p:sp>
        <p:nvSpPr>
          <p:cNvPr id="19" name="Text 17"/>
          <p:cNvSpPr txBox="1"/>
          <p:nvPr/>
        </p:nvSpPr>
        <p:spPr>
          <a:xfrm>
            <a:off x="4206240" y="1453896"/>
            <a:ext cx="4480560" cy="329184"/>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 Die Macht liegt bei wenigen Adelsfamilien; aus ihnen kommen die Archonten.</a:t>
            </a:r>
            <a:endParaRPr lang="en-US" sz="1150" dirty="0"/>
          </a:p>
        </p:txBody>
      </p:sp>
      <p:sp>
        <p:nvSpPr>
          <p:cNvPr id="20" name="Text 18"/>
          <p:cNvSpPr txBox="1"/>
          <p:nvPr/>
        </p:nvSpPr>
        <p:spPr>
          <a:xfrm>
            <a:off x="4206240" y="1783080"/>
            <a:ext cx="4480560" cy="329184"/>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 Recht sprechen gewählte Richter aus dem Volk.</a:t>
            </a:r>
            <a:endParaRPr lang="en-US" sz="1150" dirty="0"/>
          </a:p>
        </p:txBody>
      </p:sp>
      <p:sp>
        <p:nvSpPr>
          <p:cNvPr id="21" name="Shape 19"/>
          <p:cNvSpPr/>
          <p:nvPr/>
        </p:nvSpPr>
        <p:spPr>
          <a:xfrm>
            <a:off x="457200" y="2157984"/>
            <a:ext cx="8229600" cy="694944"/>
          </a:xfrm>
          <a:prstGeom prst="roundRect">
            <a:avLst>
              <a:gd name="adj" fmla="val 10526"/>
            </a:avLst>
          </a:prstGeom>
          <a:solidFill>
            <a:srgbClr val="FFFFFF"/>
          </a:solidFill>
          <a:ln w="12700">
            <a:solidFill>
              <a:srgbClr val="FFFFFF"/>
            </a:solidFill>
            <a:prstDash val="solid"/>
          </a:ln>
        </p:spPr>
      </p:sp>
      <p:sp>
        <p:nvSpPr>
          <p:cNvPr id="22" name="Text 20"/>
          <p:cNvSpPr txBox="1"/>
          <p:nvPr/>
        </p:nvSpPr>
        <p:spPr>
          <a:xfrm>
            <a:off x="502920" y="2157984"/>
            <a:ext cx="822960" cy="694944"/>
          </a:xfrm>
          <a:prstGeom prst="rect">
            <a:avLst/>
          </a:prstGeom>
          <a:noFill/>
          <a:ln/>
        </p:spPr>
        <p:txBody>
          <a:bodyPr wrap="square" lIns="0" tIns="0" rIns="0" bIns="0" rtlCol="0" anchor="ctr"/>
          <a:lstStyle/>
          <a:p>
            <a:pPr indent="0" marL="0">
              <a:buNone/>
            </a:pPr>
            <a:r>
              <a:rPr lang="en-US" sz="1200" b="1" dirty="0">
                <a:solidFill>
                  <a:srgbClr val="2B2318"/>
                </a:solidFill>
                <a:latin typeface="Calibri" pitchFamily="34" charset="0"/>
                <a:ea typeface="Calibri" pitchFamily="34" charset="-122"/>
                <a:cs typeface="Calibri" pitchFamily="34" charset="-120"/>
              </a:rPr>
              <a:t>624/621</a:t>
            </a:r>
            <a:endParaRPr lang="en-US" sz="1200" dirty="0"/>
          </a:p>
        </p:txBody>
      </p:sp>
      <p:sp>
        <p:nvSpPr>
          <p:cNvPr id="23" name="Text 21"/>
          <p:cNvSpPr txBox="1"/>
          <p:nvPr/>
        </p:nvSpPr>
        <p:spPr>
          <a:xfrm>
            <a:off x="1325880" y="2157984"/>
            <a:ext cx="1645920" cy="694944"/>
          </a:xfrm>
          <a:prstGeom prst="rect">
            <a:avLst/>
          </a:prstGeom>
          <a:noFill/>
          <a:ln/>
        </p:spPr>
        <p:txBody>
          <a:bodyPr wrap="square" lIns="0" tIns="0" rIns="0" bIns="0" rtlCol="0" anchor="ctr"/>
          <a:lstStyle/>
          <a:p>
            <a:pPr indent="0" marL="0">
              <a:buNone/>
            </a:pPr>
            <a:r>
              <a:rPr lang="en-US" sz="1250" b="1" dirty="0">
                <a:solidFill>
                  <a:srgbClr val="AD4426"/>
                </a:solidFill>
                <a:latin typeface="Calibri" pitchFamily="34" charset="0"/>
                <a:ea typeface="Calibri" pitchFamily="34" charset="-122"/>
                <a:cs typeface="Calibri" pitchFamily="34" charset="-120"/>
              </a:rPr>
              <a:t>Aristokratie
</a:t>
            </a:r>
            <a:pPr indent="0" marL="0">
              <a:buNone/>
            </a:pPr>
            <a:r>
              <a:rPr lang="en-US" sz="950" i="1" dirty="0">
                <a:solidFill>
                  <a:srgbClr val="5A5044"/>
                </a:solidFill>
                <a:latin typeface="Calibri" pitchFamily="34" charset="0"/>
                <a:ea typeface="Calibri" pitchFamily="34" charset="-122"/>
                <a:cs typeface="Calibri" pitchFamily="34" charset="-120"/>
              </a:rPr>
              <a:t>aristos = der Beste</a:t>
            </a:r>
            <a:endParaRPr lang="en-US" sz="1250" dirty="0"/>
          </a:p>
        </p:txBody>
      </p:sp>
      <p:sp>
        <p:nvSpPr>
          <p:cNvPr id="24" name="Text 22"/>
          <p:cNvSpPr txBox="1"/>
          <p:nvPr/>
        </p:nvSpPr>
        <p:spPr>
          <a:xfrm>
            <a:off x="3017520" y="2157984"/>
            <a:ext cx="1143000" cy="694944"/>
          </a:xfrm>
          <a:prstGeom prst="rect">
            <a:avLst/>
          </a:prstGeom>
          <a:noFill/>
          <a:ln/>
        </p:spPr>
        <p:txBody>
          <a:bodyPr wrap="square" lIns="0" tIns="0" rIns="0" bIns="0" rtlCol="0" anchor="ctr"/>
          <a:lstStyle/>
          <a:p>
            <a:pPr indent="0" marL="0">
              <a:buNone/>
            </a:pPr>
            <a:r>
              <a:rPr lang="en-US" sz="1300" b="1" dirty="0">
                <a:solidFill>
                  <a:srgbClr val="2B2318"/>
                </a:solidFill>
                <a:latin typeface="Cambria" pitchFamily="34" charset="0"/>
                <a:ea typeface="Cambria" pitchFamily="34" charset="-122"/>
                <a:cs typeface="Cambria" pitchFamily="34" charset="-120"/>
              </a:rPr>
              <a:t>Drakon</a:t>
            </a:r>
            <a:endParaRPr lang="en-US" sz="1300" dirty="0"/>
          </a:p>
        </p:txBody>
      </p:sp>
      <p:sp>
        <p:nvSpPr>
          <p:cNvPr id="25" name="Text 23"/>
          <p:cNvSpPr txBox="1"/>
          <p:nvPr/>
        </p:nvSpPr>
        <p:spPr>
          <a:xfrm>
            <a:off x="4206240" y="2185416"/>
            <a:ext cx="4480560" cy="329184"/>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 Er schreibt das Recht erstmals auf; staatliche Richter ersetzen die Blutrache.</a:t>
            </a:r>
            <a:endParaRPr lang="en-US" sz="1150" dirty="0"/>
          </a:p>
        </p:txBody>
      </p:sp>
      <p:sp>
        <p:nvSpPr>
          <p:cNvPr id="26" name="Text 24"/>
          <p:cNvSpPr txBox="1"/>
          <p:nvPr/>
        </p:nvSpPr>
        <p:spPr>
          <a:xfrm>
            <a:off x="4206240" y="2514600"/>
            <a:ext cx="4480560" cy="329184"/>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 Er schafft die Schuldknechtschaft ab.</a:t>
            </a:r>
            <a:endParaRPr lang="en-US" sz="1150" dirty="0"/>
          </a:p>
        </p:txBody>
      </p:sp>
      <p:sp>
        <p:nvSpPr>
          <p:cNvPr id="27" name="Shape 25"/>
          <p:cNvSpPr/>
          <p:nvPr/>
        </p:nvSpPr>
        <p:spPr>
          <a:xfrm>
            <a:off x="457200" y="2889504"/>
            <a:ext cx="8229600" cy="694944"/>
          </a:xfrm>
          <a:prstGeom prst="roundRect">
            <a:avLst>
              <a:gd name="adj" fmla="val 10526"/>
            </a:avLst>
          </a:prstGeom>
          <a:solidFill>
            <a:srgbClr val="FBF8F2"/>
          </a:solidFill>
          <a:ln w="12700">
            <a:solidFill>
              <a:srgbClr val="FBF8F2"/>
            </a:solidFill>
            <a:prstDash val="solid"/>
          </a:ln>
        </p:spPr>
      </p:sp>
      <p:sp>
        <p:nvSpPr>
          <p:cNvPr id="28" name="Text 26"/>
          <p:cNvSpPr txBox="1"/>
          <p:nvPr/>
        </p:nvSpPr>
        <p:spPr>
          <a:xfrm>
            <a:off x="502920" y="2889504"/>
            <a:ext cx="822960" cy="694944"/>
          </a:xfrm>
          <a:prstGeom prst="rect">
            <a:avLst/>
          </a:prstGeom>
          <a:noFill/>
          <a:ln/>
        </p:spPr>
        <p:txBody>
          <a:bodyPr wrap="square" lIns="0" tIns="0" rIns="0" bIns="0" rtlCol="0" anchor="ctr"/>
          <a:lstStyle/>
          <a:p>
            <a:pPr indent="0" marL="0">
              <a:buNone/>
            </a:pPr>
            <a:r>
              <a:rPr lang="en-US" sz="1200" b="1" dirty="0">
                <a:solidFill>
                  <a:srgbClr val="2B2318"/>
                </a:solidFill>
                <a:latin typeface="Calibri" pitchFamily="34" charset="0"/>
                <a:ea typeface="Calibri" pitchFamily="34" charset="-122"/>
                <a:cs typeface="Calibri" pitchFamily="34" charset="-120"/>
              </a:rPr>
              <a:t>594/93</a:t>
            </a:r>
            <a:endParaRPr lang="en-US" sz="1200" dirty="0"/>
          </a:p>
        </p:txBody>
      </p:sp>
      <p:sp>
        <p:nvSpPr>
          <p:cNvPr id="29" name="Text 27"/>
          <p:cNvSpPr txBox="1"/>
          <p:nvPr/>
        </p:nvSpPr>
        <p:spPr>
          <a:xfrm>
            <a:off x="1325880" y="2889504"/>
            <a:ext cx="1645920" cy="694944"/>
          </a:xfrm>
          <a:prstGeom prst="rect">
            <a:avLst/>
          </a:prstGeom>
          <a:noFill/>
          <a:ln/>
        </p:spPr>
        <p:txBody>
          <a:bodyPr wrap="square" lIns="0" tIns="0" rIns="0" bIns="0" rtlCol="0" anchor="ctr"/>
          <a:lstStyle/>
          <a:p>
            <a:pPr indent="0" marL="0">
              <a:buNone/>
            </a:pPr>
            <a:r>
              <a:rPr lang="en-US" sz="1250" b="1" dirty="0">
                <a:solidFill>
                  <a:srgbClr val="AD4426"/>
                </a:solidFill>
                <a:latin typeface="Calibri" pitchFamily="34" charset="0"/>
                <a:ea typeface="Calibri" pitchFamily="34" charset="-122"/>
                <a:cs typeface="Calibri" pitchFamily="34" charset="-120"/>
              </a:rPr>
              <a:t>Timokratie
</a:t>
            </a:r>
            <a:pPr indent="0" marL="0">
              <a:buNone/>
            </a:pPr>
            <a:r>
              <a:rPr lang="en-US" sz="950" i="1" dirty="0">
                <a:solidFill>
                  <a:srgbClr val="5A5044"/>
                </a:solidFill>
                <a:latin typeface="Calibri" pitchFamily="34" charset="0"/>
                <a:ea typeface="Calibri" pitchFamily="34" charset="-122"/>
                <a:cs typeface="Calibri" pitchFamily="34" charset="-120"/>
              </a:rPr>
              <a:t>timē = Wert, Schätzung</a:t>
            </a:r>
            <a:endParaRPr lang="en-US" sz="1250" dirty="0"/>
          </a:p>
        </p:txBody>
      </p:sp>
      <p:sp>
        <p:nvSpPr>
          <p:cNvPr id="30" name="Text 28"/>
          <p:cNvSpPr txBox="1"/>
          <p:nvPr/>
        </p:nvSpPr>
        <p:spPr>
          <a:xfrm>
            <a:off x="3017520" y="2889504"/>
            <a:ext cx="1143000" cy="694944"/>
          </a:xfrm>
          <a:prstGeom prst="rect">
            <a:avLst/>
          </a:prstGeom>
          <a:noFill/>
          <a:ln/>
        </p:spPr>
        <p:txBody>
          <a:bodyPr wrap="square" lIns="0" tIns="0" rIns="0" bIns="0" rtlCol="0" anchor="ctr"/>
          <a:lstStyle/>
          <a:p>
            <a:pPr indent="0" marL="0">
              <a:buNone/>
            </a:pPr>
            <a:r>
              <a:rPr lang="en-US" sz="1300" b="1" dirty="0">
                <a:solidFill>
                  <a:srgbClr val="2B2318"/>
                </a:solidFill>
                <a:latin typeface="Cambria" pitchFamily="34" charset="0"/>
                <a:ea typeface="Cambria" pitchFamily="34" charset="-122"/>
                <a:cs typeface="Cambria" pitchFamily="34" charset="-120"/>
              </a:rPr>
              <a:t>Solon</a:t>
            </a:r>
            <a:endParaRPr lang="en-US" sz="1300" dirty="0"/>
          </a:p>
        </p:txBody>
      </p:sp>
      <p:sp>
        <p:nvSpPr>
          <p:cNvPr id="31" name="Text 29"/>
          <p:cNvSpPr txBox="1"/>
          <p:nvPr/>
        </p:nvSpPr>
        <p:spPr>
          <a:xfrm>
            <a:off x="4206240" y="2916936"/>
            <a:ext cx="4480560" cy="329184"/>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 Er streicht die Schulden und verteilt das Land der Großgrundbesitzer neu.</a:t>
            </a:r>
            <a:endParaRPr lang="en-US" sz="1150" dirty="0"/>
          </a:p>
        </p:txBody>
      </p:sp>
      <p:sp>
        <p:nvSpPr>
          <p:cNvPr id="32" name="Text 30"/>
          <p:cNvSpPr txBox="1"/>
          <p:nvPr/>
        </p:nvSpPr>
        <p:spPr>
          <a:xfrm>
            <a:off x="4206240" y="3246120"/>
            <a:ext cx="4480560" cy="329184"/>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 Die Rechte richten sich nach der Herkunft; auch Theten dürfen Archont werden.</a:t>
            </a:r>
            <a:endParaRPr lang="en-US" sz="1150" dirty="0"/>
          </a:p>
        </p:txBody>
      </p:sp>
      <p:sp>
        <p:nvSpPr>
          <p:cNvPr id="33" name="Shape 31"/>
          <p:cNvSpPr/>
          <p:nvPr/>
        </p:nvSpPr>
        <p:spPr>
          <a:xfrm>
            <a:off x="457200" y="3621024"/>
            <a:ext cx="8229600" cy="694944"/>
          </a:xfrm>
          <a:prstGeom prst="roundRect">
            <a:avLst>
              <a:gd name="adj" fmla="val 10526"/>
            </a:avLst>
          </a:prstGeom>
          <a:solidFill>
            <a:srgbClr val="FFFFFF"/>
          </a:solidFill>
          <a:ln w="12700">
            <a:solidFill>
              <a:srgbClr val="FFFFFF"/>
            </a:solidFill>
            <a:prstDash val="solid"/>
          </a:ln>
        </p:spPr>
      </p:sp>
      <p:sp>
        <p:nvSpPr>
          <p:cNvPr id="34" name="Text 32"/>
          <p:cNvSpPr txBox="1"/>
          <p:nvPr/>
        </p:nvSpPr>
        <p:spPr>
          <a:xfrm>
            <a:off x="502920" y="3621024"/>
            <a:ext cx="822960" cy="694944"/>
          </a:xfrm>
          <a:prstGeom prst="rect">
            <a:avLst/>
          </a:prstGeom>
          <a:noFill/>
          <a:ln/>
        </p:spPr>
        <p:txBody>
          <a:bodyPr wrap="square" lIns="0" tIns="0" rIns="0" bIns="0" rtlCol="0" anchor="ctr"/>
          <a:lstStyle/>
          <a:p>
            <a:pPr indent="0" marL="0">
              <a:buNone/>
            </a:pPr>
            <a:r>
              <a:rPr lang="en-US" sz="1200" b="1" dirty="0">
                <a:solidFill>
                  <a:srgbClr val="2B2318"/>
                </a:solidFill>
                <a:latin typeface="Calibri" pitchFamily="34" charset="0"/>
                <a:ea typeface="Calibri" pitchFamily="34" charset="-122"/>
                <a:cs typeface="Calibri" pitchFamily="34" charset="-120"/>
              </a:rPr>
              <a:t>546–528/27</a:t>
            </a:r>
            <a:endParaRPr lang="en-US" sz="1200" dirty="0"/>
          </a:p>
        </p:txBody>
      </p:sp>
      <p:sp>
        <p:nvSpPr>
          <p:cNvPr id="35" name="Text 33"/>
          <p:cNvSpPr txBox="1"/>
          <p:nvPr/>
        </p:nvSpPr>
        <p:spPr>
          <a:xfrm>
            <a:off x="1325880" y="3621024"/>
            <a:ext cx="1645920" cy="694944"/>
          </a:xfrm>
          <a:prstGeom prst="rect">
            <a:avLst/>
          </a:prstGeom>
          <a:noFill/>
          <a:ln/>
        </p:spPr>
        <p:txBody>
          <a:bodyPr wrap="square" lIns="0" tIns="0" rIns="0" bIns="0" rtlCol="0" anchor="ctr"/>
          <a:lstStyle/>
          <a:p>
            <a:pPr indent="0" marL="0">
              <a:buNone/>
            </a:pPr>
            <a:r>
              <a:rPr lang="en-US" sz="1250" b="1" dirty="0">
                <a:solidFill>
                  <a:srgbClr val="AD4426"/>
                </a:solidFill>
                <a:latin typeface="Calibri" pitchFamily="34" charset="0"/>
                <a:ea typeface="Calibri" pitchFamily="34" charset="-122"/>
                <a:cs typeface="Calibri" pitchFamily="34" charset="-120"/>
              </a:rPr>
              <a:t>Tyrannis
</a:t>
            </a:r>
            <a:pPr indent="0" marL="0">
              <a:buNone/>
            </a:pPr>
            <a:r>
              <a:rPr lang="en-US" sz="950" i="1" dirty="0">
                <a:solidFill>
                  <a:srgbClr val="5A5044"/>
                </a:solidFill>
                <a:latin typeface="Calibri" pitchFamily="34" charset="0"/>
                <a:ea typeface="Calibri" pitchFamily="34" charset="-122"/>
                <a:cs typeface="Calibri" pitchFamily="34" charset="-120"/>
              </a:rPr>
              <a:t>tyrannos = Alleinherrscher</a:t>
            </a:r>
            <a:endParaRPr lang="en-US" sz="1250" dirty="0"/>
          </a:p>
        </p:txBody>
      </p:sp>
      <p:sp>
        <p:nvSpPr>
          <p:cNvPr id="36" name="Text 34"/>
          <p:cNvSpPr txBox="1"/>
          <p:nvPr/>
        </p:nvSpPr>
        <p:spPr>
          <a:xfrm>
            <a:off x="3017520" y="3621024"/>
            <a:ext cx="1143000" cy="694944"/>
          </a:xfrm>
          <a:prstGeom prst="rect">
            <a:avLst/>
          </a:prstGeom>
          <a:noFill/>
          <a:ln/>
        </p:spPr>
        <p:txBody>
          <a:bodyPr wrap="square" lIns="0" tIns="0" rIns="0" bIns="0" rtlCol="0" anchor="ctr"/>
          <a:lstStyle/>
          <a:p>
            <a:pPr indent="0" marL="0">
              <a:buNone/>
            </a:pPr>
            <a:r>
              <a:rPr lang="en-US" sz="1300" b="1" dirty="0">
                <a:solidFill>
                  <a:srgbClr val="2B2318"/>
                </a:solidFill>
                <a:latin typeface="Cambria" pitchFamily="34" charset="0"/>
                <a:ea typeface="Cambria" pitchFamily="34" charset="-122"/>
                <a:cs typeface="Cambria" pitchFamily="34" charset="-120"/>
              </a:rPr>
              <a:t>Peisistratos</a:t>
            </a:r>
            <a:endParaRPr lang="en-US" sz="1300" dirty="0"/>
          </a:p>
        </p:txBody>
      </p:sp>
      <p:sp>
        <p:nvSpPr>
          <p:cNvPr id="37" name="Text 35"/>
          <p:cNvSpPr txBox="1"/>
          <p:nvPr/>
        </p:nvSpPr>
        <p:spPr>
          <a:xfrm>
            <a:off x="4206240" y="3648456"/>
            <a:ext cx="4480560" cy="329184"/>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 Die Volksversammlung wählt ihn zum Alleinherrscher.</a:t>
            </a:r>
            <a:endParaRPr lang="en-US" sz="1150" dirty="0"/>
          </a:p>
        </p:txBody>
      </p:sp>
      <p:sp>
        <p:nvSpPr>
          <p:cNvPr id="38" name="Text 36"/>
          <p:cNvSpPr txBox="1"/>
          <p:nvPr/>
        </p:nvSpPr>
        <p:spPr>
          <a:xfrm>
            <a:off x="4206240" y="3977640"/>
            <a:ext cx="4480560" cy="329184"/>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 Er schafft Solons Verfassung ab, fördert aber Bauern und Handwerk.</a:t>
            </a:r>
            <a:endParaRPr lang="en-US" sz="1150" dirty="0"/>
          </a:p>
        </p:txBody>
      </p:sp>
      <p:sp>
        <p:nvSpPr>
          <p:cNvPr id="39" name="Shape 37"/>
          <p:cNvSpPr/>
          <p:nvPr/>
        </p:nvSpPr>
        <p:spPr>
          <a:xfrm>
            <a:off x="457200" y="4389120"/>
            <a:ext cx="8229600" cy="329184"/>
          </a:xfrm>
          <a:prstGeom prst="roundRect">
            <a:avLst>
              <a:gd name="adj" fmla="val 22222"/>
            </a:avLst>
          </a:prstGeom>
          <a:solidFill>
            <a:srgbClr val="AD4426"/>
          </a:solidFill>
          <a:ln w="12700">
            <a:solidFill>
              <a:srgbClr val="AD4426"/>
            </a:solidFill>
            <a:prstDash val="solid"/>
          </a:ln>
        </p:spPr>
      </p:sp>
      <p:sp>
        <p:nvSpPr>
          <p:cNvPr id="40" name="Text 38"/>
          <p:cNvSpPr txBox="1"/>
          <p:nvPr/>
        </p:nvSpPr>
        <p:spPr>
          <a:xfrm>
            <a:off x="594360" y="4389120"/>
            <a:ext cx="7955280"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Finde die 6 Fehler und berichtige sie im Heft. Dann vergleiche mit deinem Nachbarn.   (-kratie: kratein = herrschen)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Vorwissen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WIEDERHOLUNG · LÖSUNG</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Die richtige Übersicht</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D9A441"/>
          </a:solidFill>
          <a:ln/>
        </p:spPr>
        <p:txBody>
          <a:bodyPr wrap="square" lIns="0" tIns="0" rIns="0" bIns="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11" name="Text 9"/>
          <p:cNvSpPr txBox="1"/>
          <p:nvPr/>
        </p:nvSpPr>
        <p:spPr>
          <a:xfrm>
            <a:off x="457200" y="1097280"/>
            <a:ext cx="822960" cy="274320"/>
          </a:xfrm>
          <a:prstGeom prst="roundRect">
            <a:avLst>
              <a:gd name="adj" fmla="val 26667"/>
            </a:avLst>
          </a:prstGeom>
          <a:solidFill>
            <a:srgbClr val="2B2318"/>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Zeit</a:t>
            </a:r>
            <a:endParaRPr lang="en-US" sz="1150" dirty="0"/>
          </a:p>
        </p:txBody>
      </p:sp>
      <p:sp>
        <p:nvSpPr>
          <p:cNvPr id="12" name="Text 10"/>
          <p:cNvSpPr txBox="1"/>
          <p:nvPr/>
        </p:nvSpPr>
        <p:spPr>
          <a:xfrm>
            <a:off x="1325880" y="1097280"/>
            <a:ext cx="1645920" cy="274320"/>
          </a:xfrm>
          <a:prstGeom prst="roundRect">
            <a:avLst>
              <a:gd name="adj" fmla="val 26667"/>
            </a:avLst>
          </a:prstGeom>
          <a:solidFill>
            <a:srgbClr val="2B2318"/>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Herrschaftsform (griech.)</a:t>
            </a:r>
            <a:endParaRPr lang="en-US" sz="1150" dirty="0"/>
          </a:p>
        </p:txBody>
      </p:sp>
      <p:sp>
        <p:nvSpPr>
          <p:cNvPr id="13" name="Text 11"/>
          <p:cNvSpPr txBox="1"/>
          <p:nvPr/>
        </p:nvSpPr>
        <p:spPr>
          <a:xfrm>
            <a:off x="3017520" y="1097280"/>
            <a:ext cx="1143000" cy="274320"/>
          </a:xfrm>
          <a:prstGeom prst="roundRect">
            <a:avLst>
              <a:gd name="adj" fmla="val 26667"/>
            </a:avLst>
          </a:prstGeom>
          <a:solidFill>
            <a:srgbClr val="2B2318"/>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Protagonist</a:t>
            </a:r>
            <a:endParaRPr lang="en-US" sz="1150" dirty="0"/>
          </a:p>
        </p:txBody>
      </p:sp>
      <p:sp>
        <p:nvSpPr>
          <p:cNvPr id="14" name="Text 12"/>
          <p:cNvSpPr txBox="1"/>
          <p:nvPr/>
        </p:nvSpPr>
        <p:spPr>
          <a:xfrm>
            <a:off x="4206240" y="1097280"/>
            <a:ext cx="4480560" cy="274320"/>
          </a:xfrm>
          <a:prstGeom prst="roundRect">
            <a:avLst>
              <a:gd name="adj" fmla="val 26667"/>
            </a:avLst>
          </a:prstGeom>
          <a:solidFill>
            <a:srgbClr val="2B2318"/>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Was geschah?</a:t>
            </a:r>
            <a:endParaRPr lang="en-US" sz="1150" dirty="0"/>
          </a:p>
        </p:txBody>
      </p:sp>
      <p:sp>
        <p:nvSpPr>
          <p:cNvPr id="15" name="Shape 13"/>
          <p:cNvSpPr/>
          <p:nvPr/>
        </p:nvSpPr>
        <p:spPr>
          <a:xfrm>
            <a:off x="457200" y="1426464"/>
            <a:ext cx="8229600" cy="694944"/>
          </a:xfrm>
          <a:prstGeom prst="roundRect">
            <a:avLst>
              <a:gd name="adj" fmla="val 10526"/>
            </a:avLst>
          </a:prstGeom>
          <a:solidFill>
            <a:srgbClr val="FBF8F2"/>
          </a:solidFill>
          <a:ln w="12700">
            <a:solidFill>
              <a:srgbClr val="FBF8F2"/>
            </a:solidFill>
            <a:prstDash val="solid"/>
          </a:ln>
        </p:spPr>
      </p:sp>
      <p:sp>
        <p:nvSpPr>
          <p:cNvPr id="16" name="Text 14"/>
          <p:cNvSpPr txBox="1"/>
          <p:nvPr/>
        </p:nvSpPr>
        <p:spPr>
          <a:xfrm>
            <a:off x="502920" y="1426464"/>
            <a:ext cx="822960" cy="694944"/>
          </a:xfrm>
          <a:prstGeom prst="rect">
            <a:avLst/>
          </a:prstGeom>
          <a:noFill/>
          <a:ln/>
        </p:spPr>
        <p:txBody>
          <a:bodyPr wrap="square" lIns="0" tIns="0" rIns="0" bIns="0" rtlCol="0" anchor="ctr"/>
          <a:lstStyle/>
          <a:p>
            <a:pPr indent="0" marL="0">
              <a:buNone/>
            </a:pPr>
            <a:r>
              <a:rPr lang="en-US" sz="1200" b="1" dirty="0">
                <a:solidFill>
                  <a:srgbClr val="2B2318"/>
                </a:solidFill>
                <a:latin typeface="Calibri" pitchFamily="34" charset="0"/>
                <a:ea typeface="Calibri" pitchFamily="34" charset="-122"/>
                <a:cs typeface="Calibri" pitchFamily="34" charset="-120"/>
              </a:rPr>
              <a:t>vor 600</a:t>
            </a:r>
            <a:endParaRPr lang="en-US" sz="1200" dirty="0"/>
          </a:p>
        </p:txBody>
      </p:sp>
      <p:sp>
        <p:nvSpPr>
          <p:cNvPr id="17" name="Text 15"/>
          <p:cNvSpPr txBox="1"/>
          <p:nvPr/>
        </p:nvSpPr>
        <p:spPr>
          <a:xfrm>
            <a:off x="1325880" y="1426464"/>
            <a:ext cx="1645920" cy="694944"/>
          </a:xfrm>
          <a:prstGeom prst="rect">
            <a:avLst/>
          </a:prstGeom>
          <a:noFill/>
          <a:ln/>
        </p:spPr>
        <p:txBody>
          <a:bodyPr wrap="square" lIns="0" tIns="0" rIns="0" bIns="0" rtlCol="0" anchor="ctr"/>
          <a:lstStyle/>
          <a:p>
            <a:pPr indent="0" marL="0">
              <a:buNone/>
            </a:pPr>
            <a:r>
              <a:rPr lang="en-US" sz="1250" b="1" dirty="0">
                <a:solidFill>
                  <a:srgbClr val="AD4426"/>
                </a:solidFill>
                <a:latin typeface="Calibri" pitchFamily="34" charset="0"/>
                <a:ea typeface="Calibri" pitchFamily="34" charset="-122"/>
                <a:cs typeface="Calibri" pitchFamily="34" charset="-120"/>
              </a:rPr>
              <a:t>Aristokratie
</a:t>
            </a:r>
            <a:pPr indent="0" marL="0">
              <a:buNone/>
            </a:pPr>
            <a:r>
              <a:rPr lang="en-US" sz="950" i="1" dirty="0">
                <a:solidFill>
                  <a:srgbClr val="5A5044"/>
                </a:solidFill>
                <a:latin typeface="Calibri" pitchFamily="34" charset="0"/>
                <a:ea typeface="Calibri" pitchFamily="34" charset="-122"/>
                <a:cs typeface="Calibri" pitchFamily="34" charset="-120"/>
              </a:rPr>
              <a:t>aristos = der Beste</a:t>
            </a:r>
            <a:endParaRPr lang="en-US" sz="1250" dirty="0"/>
          </a:p>
        </p:txBody>
      </p:sp>
      <p:sp>
        <p:nvSpPr>
          <p:cNvPr id="18" name="Text 16"/>
          <p:cNvSpPr txBox="1"/>
          <p:nvPr/>
        </p:nvSpPr>
        <p:spPr>
          <a:xfrm>
            <a:off x="3017520" y="1426464"/>
            <a:ext cx="1143000" cy="694944"/>
          </a:xfrm>
          <a:prstGeom prst="rect">
            <a:avLst/>
          </a:prstGeom>
          <a:noFill/>
          <a:ln/>
        </p:spPr>
        <p:txBody>
          <a:bodyPr wrap="square" lIns="0" tIns="0" rIns="0" bIns="0" rtlCol="0" anchor="ctr"/>
          <a:lstStyle/>
          <a:p>
            <a:pPr indent="0" marL="0">
              <a:buNone/>
            </a:pPr>
            <a:r>
              <a:rPr lang="en-US" sz="1300" b="1" dirty="0">
                <a:solidFill>
                  <a:srgbClr val="2B2318"/>
                </a:solidFill>
                <a:latin typeface="Cambria" pitchFamily="34" charset="0"/>
                <a:ea typeface="Cambria" pitchFamily="34" charset="-122"/>
                <a:cs typeface="Cambria" pitchFamily="34" charset="-120"/>
              </a:rPr>
              <a:t>Adelsfamilien</a:t>
            </a:r>
            <a:endParaRPr lang="en-US" sz="1300" dirty="0"/>
          </a:p>
        </p:txBody>
      </p:sp>
      <p:sp>
        <p:nvSpPr>
          <p:cNvPr id="19" name="Text 17"/>
          <p:cNvSpPr txBox="1"/>
          <p:nvPr/>
        </p:nvSpPr>
        <p:spPr>
          <a:xfrm>
            <a:off x="4206240" y="1453896"/>
            <a:ext cx="4480560" cy="329184"/>
          </a:xfrm>
          <a:prstGeom prst="rect">
            <a:avLst/>
          </a:prstGeom>
          <a:noFill/>
          <a:ln/>
        </p:spPr>
        <p:txBody>
          <a:bodyPr wrap="square" lIns="0" tIns="0" rIns="0" bIns="0" rtlCol="0" anchor="ctr"/>
          <a:lstStyle/>
          <a:p>
            <a:pPr indent="0" marL="0">
              <a:buNone/>
            </a:pPr>
            <a:r>
              <a:rPr lang="en-US" sz="1150" dirty="0">
                <a:solidFill>
                  <a:srgbClr val="3C783C"/>
                </a:solidFill>
                <a:latin typeface="Calibri" pitchFamily="34" charset="0"/>
                <a:ea typeface="Calibri" pitchFamily="34" charset="-122"/>
                <a:cs typeface="Calibri" pitchFamily="34" charset="-120"/>
              </a:rPr>
              <a:t>✓ Die Macht liegt bei wenigen Adelsfamilien; aus ihnen kommen die Archonten.</a:t>
            </a:r>
            <a:endParaRPr lang="en-US" sz="1150" dirty="0"/>
          </a:p>
        </p:txBody>
      </p:sp>
      <p:sp>
        <p:nvSpPr>
          <p:cNvPr id="20" name="Text 18"/>
          <p:cNvSpPr txBox="1"/>
          <p:nvPr/>
        </p:nvSpPr>
        <p:spPr>
          <a:xfrm>
            <a:off x="4206240" y="1783080"/>
            <a:ext cx="4480560" cy="329184"/>
          </a:xfrm>
          <a:prstGeom prst="rect">
            <a:avLst/>
          </a:prstGeom>
          <a:noFill/>
          <a:ln/>
        </p:spPr>
        <p:txBody>
          <a:bodyPr wrap="square" lIns="0" tIns="0" rIns="0" bIns="0" rtlCol="0" anchor="ctr"/>
          <a:lstStyle/>
          <a:p>
            <a:pPr indent="0" marL="0">
              <a:buNone/>
            </a:pPr>
            <a:r>
              <a:rPr lang="en-US" sz="1150" b="1" dirty="0">
                <a:solidFill>
                  <a:srgbClr val="AD4426"/>
                </a:solidFill>
                <a:latin typeface="Calibri" pitchFamily="34" charset="0"/>
                <a:ea typeface="Calibri" pitchFamily="34" charset="-122"/>
                <a:cs typeface="Calibri" pitchFamily="34" charset="-120"/>
              </a:rPr>
              <a:t>✗ </a:t>
            </a:r>
            <a:pPr indent="0" marL="0">
              <a:buNone/>
            </a:pPr>
            <a:r>
              <a:rPr lang="en-US" sz="1150" b="1" dirty="0">
                <a:solidFill>
                  <a:srgbClr val="AD4426"/>
                </a:solidFill>
                <a:latin typeface="Calibri" pitchFamily="34" charset="0"/>
                <a:ea typeface="Calibri" pitchFamily="34" charset="-122"/>
                <a:cs typeface="Calibri" pitchFamily="34" charset="-120"/>
              </a:rPr>
              <a:t>Recht spricht der Adel – geschriebene Gesetze gibt es nicht.</a:t>
            </a:r>
            <a:endParaRPr lang="en-US" sz="1150" dirty="0"/>
          </a:p>
        </p:txBody>
      </p:sp>
      <p:sp>
        <p:nvSpPr>
          <p:cNvPr id="21" name="Shape 19"/>
          <p:cNvSpPr/>
          <p:nvPr/>
        </p:nvSpPr>
        <p:spPr>
          <a:xfrm>
            <a:off x="457200" y="2157984"/>
            <a:ext cx="8229600" cy="694944"/>
          </a:xfrm>
          <a:prstGeom prst="roundRect">
            <a:avLst>
              <a:gd name="adj" fmla="val 10526"/>
            </a:avLst>
          </a:prstGeom>
          <a:solidFill>
            <a:srgbClr val="FFFFFF"/>
          </a:solidFill>
          <a:ln w="12700">
            <a:solidFill>
              <a:srgbClr val="FFFFFF"/>
            </a:solidFill>
            <a:prstDash val="solid"/>
          </a:ln>
        </p:spPr>
      </p:sp>
      <p:sp>
        <p:nvSpPr>
          <p:cNvPr id="22" name="Text 20"/>
          <p:cNvSpPr txBox="1"/>
          <p:nvPr/>
        </p:nvSpPr>
        <p:spPr>
          <a:xfrm>
            <a:off x="502920" y="2157984"/>
            <a:ext cx="822960" cy="694944"/>
          </a:xfrm>
          <a:prstGeom prst="rect">
            <a:avLst/>
          </a:prstGeom>
          <a:noFill/>
          <a:ln/>
        </p:spPr>
        <p:txBody>
          <a:bodyPr wrap="square" lIns="0" tIns="0" rIns="0" bIns="0" rtlCol="0" anchor="ctr"/>
          <a:lstStyle/>
          <a:p>
            <a:pPr indent="0" marL="0">
              <a:buNone/>
            </a:pPr>
            <a:r>
              <a:rPr lang="en-US" sz="1200" b="1" dirty="0">
                <a:solidFill>
                  <a:srgbClr val="2B2318"/>
                </a:solidFill>
                <a:latin typeface="Calibri" pitchFamily="34" charset="0"/>
                <a:ea typeface="Calibri" pitchFamily="34" charset="-122"/>
                <a:cs typeface="Calibri" pitchFamily="34" charset="-120"/>
              </a:rPr>
              <a:t>624/621</a:t>
            </a:r>
            <a:endParaRPr lang="en-US" sz="1200" dirty="0"/>
          </a:p>
        </p:txBody>
      </p:sp>
      <p:sp>
        <p:nvSpPr>
          <p:cNvPr id="23" name="Text 21"/>
          <p:cNvSpPr txBox="1"/>
          <p:nvPr/>
        </p:nvSpPr>
        <p:spPr>
          <a:xfrm>
            <a:off x="1325880" y="2157984"/>
            <a:ext cx="1645920" cy="694944"/>
          </a:xfrm>
          <a:prstGeom prst="rect">
            <a:avLst/>
          </a:prstGeom>
          <a:noFill/>
          <a:ln/>
        </p:spPr>
        <p:txBody>
          <a:bodyPr wrap="square" lIns="0" tIns="0" rIns="0" bIns="0" rtlCol="0" anchor="ctr"/>
          <a:lstStyle/>
          <a:p>
            <a:pPr indent="0" marL="0">
              <a:buNone/>
            </a:pPr>
            <a:r>
              <a:rPr lang="en-US" sz="1250" b="1" dirty="0">
                <a:solidFill>
                  <a:srgbClr val="AD4426"/>
                </a:solidFill>
                <a:latin typeface="Calibri" pitchFamily="34" charset="0"/>
                <a:ea typeface="Calibri" pitchFamily="34" charset="-122"/>
                <a:cs typeface="Calibri" pitchFamily="34" charset="-120"/>
              </a:rPr>
              <a:t>Aristokratie
</a:t>
            </a:r>
            <a:pPr indent="0" marL="0">
              <a:buNone/>
            </a:pPr>
            <a:r>
              <a:rPr lang="en-US" sz="950" i="1" dirty="0">
                <a:solidFill>
                  <a:srgbClr val="5A5044"/>
                </a:solidFill>
                <a:latin typeface="Calibri" pitchFamily="34" charset="0"/>
                <a:ea typeface="Calibri" pitchFamily="34" charset="-122"/>
                <a:cs typeface="Calibri" pitchFamily="34" charset="-120"/>
              </a:rPr>
              <a:t>aristos = der Beste</a:t>
            </a:r>
            <a:endParaRPr lang="en-US" sz="1250" dirty="0"/>
          </a:p>
        </p:txBody>
      </p:sp>
      <p:sp>
        <p:nvSpPr>
          <p:cNvPr id="24" name="Text 22"/>
          <p:cNvSpPr txBox="1"/>
          <p:nvPr/>
        </p:nvSpPr>
        <p:spPr>
          <a:xfrm>
            <a:off x="3017520" y="2157984"/>
            <a:ext cx="1143000" cy="694944"/>
          </a:xfrm>
          <a:prstGeom prst="rect">
            <a:avLst/>
          </a:prstGeom>
          <a:noFill/>
          <a:ln/>
        </p:spPr>
        <p:txBody>
          <a:bodyPr wrap="square" lIns="0" tIns="0" rIns="0" bIns="0" rtlCol="0" anchor="ctr"/>
          <a:lstStyle/>
          <a:p>
            <a:pPr indent="0" marL="0">
              <a:buNone/>
            </a:pPr>
            <a:r>
              <a:rPr lang="en-US" sz="1300" b="1" dirty="0">
                <a:solidFill>
                  <a:srgbClr val="2B2318"/>
                </a:solidFill>
                <a:latin typeface="Cambria" pitchFamily="34" charset="0"/>
                <a:ea typeface="Cambria" pitchFamily="34" charset="-122"/>
                <a:cs typeface="Cambria" pitchFamily="34" charset="-120"/>
              </a:rPr>
              <a:t>Drakon</a:t>
            </a:r>
            <a:endParaRPr lang="en-US" sz="1300" dirty="0"/>
          </a:p>
        </p:txBody>
      </p:sp>
      <p:sp>
        <p:nvSpPr>
          <p:cNvPr id="25" name="Text 23"/>
          <p:cNvSpPr txBox="1"/>
          <p:nvPr/>
        </p:nvSpPr>
        <p:spPr>
          <a:xfrm>
            <a:off x="4206240" y="2185416"/>
            <a:ext cx="4480560" cy="329184"/>
          </a:xfrm>
          <a:prstGeom prst="rect">
            <a:avLst/>
          </a:prstGeom>
          <a:noFill/>
          <a:ln/>
        </p:spPr>
        <p:txBody>
          <a:bodyPr wrap="square" lIns="0" tIns="0" rIns="0" bIns="0" rtlCol="0" anchor="ctr"/>
          <a:lstStyle/>
          <a:p>
            <a:pPr indent="0" marL="0">
              <a:buNone/>
            </a:pPr>
            <a:r>
              <a:rPr lang="en-US" sz="1150" dirty="0">
                <a:solidFill>
                  <a:srgbClr val="3C783C"/>
                </a:solidFill>
                <a:latin typeface="Calibri" pitchFamily="34" charset="0"/>
                <a:ea typeface="Calibri" pitchFamily="34" charset="-122"/>
                <a:cs typeface="Calibri" pitchFamily="34" charset="-120"/>
              </a:rPr>
              <a:t>✓ Er schreibt das Recht erstmals auf; staatliche Richter ersetzen die Blutrache.</a:t>
            </a:r>
            <a:endParaRPr lang="en-US" sz="1150" dirty="0"/>
          </a:p>
        </p:txBody>
      </p:sp>
      <p:sp>
        <p:nvSpPr>
          <p:cNvPr id="26" name="Text 24"/>
          <p:cNvSpPr txBox="1"/>
          <p:nvPr/>
        </p:nvSpPr>
        <p:spPr>
          <a:xfrm>
            <a:off x="4206240" y="2514600"/>
            <a:ext cx="4480560" cy="329184"/>
          </a:xfrm>
          <a:prstGeom prst="rect">
            <a:avLst/>
          </a:prstGeom>
          <a:noFill/>
          <a:ln/>
        </p:spPr>
        <p:txBody>
          <a:bodyPr wrap="square" lIns="0" tIns="0" rIns="0" bIns="0" rtlCol="0" anchor="ctr"/>
          <a:lstStyle/>
          <a:p>
            <a:pPr indent="0" marL="0">
              <a:buNone/>
            </a:pPr>
            <a:r>
              <a:rPr lang="en-US" sz="1150" b="1" dirty="0">
                <a:solidFill>
                  <a:srgbClr val="AD4426"/>
                </a:solidFill>
                <a:latin typeface="Calibri" pitchFamily="34" charset="0"/>
                <a:ea typeface="Calibri" pitchFamily="34" charset="-122"/>
                <a:cs typeface="Calibri" pitchFamily="34" charset="-120"/>
              </a:rPr>
              <a:t>✗ </a:t>
            </a:r>
            <a:pPr indent="0" marL="0">
              <a:buNone/>
            </a:pPr>
            <a:r>
              <a:rPr lang="en-US" sz="1150" b="1" dirty="0">
                <a:solidFill>
                  <a:srgbClr val="AD4426"/>
                </a:solidFill>
                <a:latin typeface="Calibri" pitchFamily="34" charset="0"/>
                <a:ea typeface="Calibri" pitchFamily="34" charset="-122"/>
                <a:cs typeface="Calibri" pitchFamily="34" charset="-120"/>
              </a:rPr>
              <a:t>Die Schuldknechtschaft bleibt bestehen.</a:t>
            </a:r>
            <a:endParaRPr lang="en-US" sz="1150" dirty="0"/>
          </a:p>
        </p:txBody>
      </p:sp>
      <p:sp>
        <p:nvSpPr>
          <p:cNvPr id="27" name="Shape 25"/>
          <p:cNvSpPr/>
          <p:nvPr/>
        </p:nvSpPr>
        <p:spPr>
          <a:xfrm>
            <a:off x="457200" y="2889504"/>
            <a:ext cx="8229600" cy="694944"/>
          </a:xfrm>
          <a:prstGeom prst="roundRect">
            <a:avLst>
              <a:gd name="adj" fmla="val 10526"/>
            </a:avLst>
          </a:prstGeom>
          <a:solidFill>
            <a:srgbClr val="FBF8F2"/>
          </a:solidFill>
          <a:ln w="12700">
            <a:solidFill>
              <a:srgbClr val="FBF8F2"/>
            </a:solidFill>
            <a:prstDash val="solid"/>
          </a:ln>
        </p:spPr>
      </p:sp>
      <p:sp>
        <p:nvSpPr>
          <p:cNvPr id="28" name="Text 26"/>
          <p:cNvSpPr txBox="1"/>
          <p:nvPr/>
        </p:nvSpPr>
        <p:spPr>
          <a:xfrm>
            <a:off x="502920" y="2889504"/>
            <a:ext cx="822960" cy="694944"/>
          </a:xfrm>
          <a:prstGeom prst="rect">
            <a:avLst/>
          </a:prstGeom>
          <a:noFill/>
          <a:ln/>
        </p:spPr>
        <p:txBody>
          <a:bodyPr wrap="square" lIns="0" tIns="0" rIns="0" bIns="0" rtlCol="0" anchor="ctr"/>
          <a:lstStyle/>
          <a:p>
            <a:pPr indent="0" marL="0">
              <a:buNone/>
            </a:pPr>
            <a:r>
              <a:rPr lang="en-US" sz="1200" b="1" dirty="0">
                <a:solidFill>
                  <a:srgbClr val="2B2318"/>
                </a:solidFill>
                <a:latin typeface="Calibri" pitchFamily="34" charset="0"/>
                <a:ea typeface="Calibri" pitchFamily="34" charset="-122"/>
                <a:cs typeface="Calibri" pitchFamily="34" charset="-120"/>
              </a:rPr>
              <a:t>594/93</a:t>
            </a:r>
            <a:endParaRPr lang="en-US" sz="1200" dirty="0"/>
          </a:p>
        </p:txBody>
      </p:sp>
      <p:sp>
        <p:nvSpPr>
          <p:cNvPr id="29" name="Text 27"/>
          <p:cNvSpPr txBox="1"/>
          <p:nvPr/>
        </p:nvSpPr>
        <p:spPr>
          <a:xfrm>
            <a:off x="1325880" y="2889504"/>
            <a:ext cx="1645920" cy="694944"/>
          </a:xfrm>
          <a:prstGeom prst="rect">
            <a:avLst/>
          </a:prstGeom>
          <a:noFill/>
          <a:ln/>
        </p:spPr>
        <p:txBody>
          <a:bodyPr wrap="square" lIns="0" tIns="0" rIns="0" bIns="0" rtlCol="0" anchor="ctr"/>
          <a:lstStyle/>
          <a:p>
            <a:pPr indent="0" marL="0">
              <a:buNone/>
            </a:pPr>
            <a:r>
              <a:rPr lang="en-US" sz="1250" b="1" dirty="0">
                <a:solidFill>
                  <a:srgbClr val="AD4426"/>
                </a:solidFill>
                <a:latin typeface="Calibri" pitchFamily="34" charset="0"/>
                <a:ea typeface="Calibri" pitchFamily="34" charset="-122"/>
                <a:cs typeface="Calibri" pitchFamily="34" charset="-120"/>
              </a:rPr>
              <a:t>Timokratie
</a:t>
            </a:r>
            <a:pPr indent="0" marL="0">
              <a:buNone/>
            </a:pPr>
            <a:r>
              <a:rPr lang="en-US" sz="950" i="1" dirty="0">
                <a:solidFill>
                  <a:srgbClr val="5A5044"/>
                </a:solidFill>
                <a:latin typeface="Calibri" pitchFamily="34" charset="0"/>
                <a:ea typeface="Calibri" pitchFamily="34" charset="-122"/>
                <a:cs typeface="Calibri" pitchFamily="34" charset="-120"/>
              </a:rPr>
              <a:t>timē = Wert, Schätzung</a:t>
            </a:r>
            <a:endParaRPr lang="en-US" sz="1250" dirty="0"/>
          </a:p>
        </p:txBody>
      </p:sp>
      <p:sp>
        <p:nvSpPr>
          <p:cNvPr id="30" name="Text 28"/>
          <p:cNvSpPr txBox="1"/>
          <p:nvPr/>
        </p:nvSpPr>
        <p:spPr>
          <a:xfrm>
            <a:off x="3017520" y="2889504"/>
            <a:ext cx="1143000" cy="694944"/>
          </a:xfrm>
          <a:prstGeom prst="rect">
            <a:avLst/>
          </a:prstGeom>
          <a:noFill/>
          <a:ln/>
        </p:spPr>
        <p:txBody>
          <a:bodyPr wrap="square" lIns="0" tIns="0" rIns="0" bIns="0" rtlCol="0" anchor="ctr"/>
          <a:lstStyle/>
          <a:p>
            <a:pPr indent="0" marL="0">
              <a:buNone/>
            </a:pPr>
            <a:r>
              <a:rPr lang="en-US" sz="1300" b="1" dirty="0">
                <a:solidFill>
                  <a:srgbClr val="2B2318"/>
                </a:solidFill>
                <a:latin typeface="Cambria" pitchFamily="34" charset="0"/>
                <a:ea typeface="Cambria" pitchFamily="34" charset="-122"/>
                <a:cs typeface="Cambria" pitchFamily="34" charset="-120"/>
              </a:rPr>
              <a:t>Solon</a:t>
            </a:r>
            <a:endParaRPr lang="en-US" sz="1300" dirty="0"/>
          </a:p>
        </p:txBody>
      </p:sp>
      <p:sp>
        <p:nvSpPr>
          <p:cNvPr id="31" name="Text 29"/>
          <p:cNvSpPr txBox="1"/>
          <p:nvPr/>
        </p:nvSpPr>
        <p:spPr>
          <a:xfrm>
            <a:off x="4206240" y="2916936"/>
            <a:ext cx="4480560" cy="329184"/>
          </a:xfrm>
          <a:prstGeom prst="rect">
            <a:avLst/>
          </a:prstGeom>
          <a:noFill/>
          <a:ln/>
        </p:spPr>
        <p:txBody>
          <a:bodyPr wrap="square" lIns="0" tIns="0" rIns="0" bIns="0" rtlCol="0" anchor="ctr"/>
          <a:lstStyle/>
          <a:p>
            <a:pPr indent="0" marL="0">
              <a:buNone/>
            </a:pPr>
            <a:r>
              <a:rPr lang="en-US" sz="1150" b="1" dirty="0">
                <a:solidFill>
                  <a:srgbClr val="AD4426"/>
                </a:solidFill>
                <a:latin typeface="Calibri" pitchFamily="34" charset="0"/>
                <a:ea typeface="Calibri" pitchFamily="34" charset="-122"/>
                <a:cs typeface="Calibri" pitchFamily="34" charset="-120"/>
              </a:rPr>
              <a:t>✗ </a:t>
            </a:r>
            <a:pPr indent="0" marL="0">
              <a:buNone/>
            </a:pPr>
            <a:r>
              <a:rPr lang="en-US" sz="1150" b="1" dirty="0">
                <a:solidFill>
                  <a:srgbClr val="AD4426"/>
                </a:solidFill>
                <a:latin typeface="Calibri" pitchFamily="34" charset="0"/>
                <a:ea typeface="Calibri" pitchFamily="34" charset="-122"/>
                <a:cs typeface="Calibri" pitchFamily="34" charset="-120"/>
              </a:rPr>
              <a:t>Er streicht die Schulden – verteilt aber kein Land neu.</a:t>
            </a:r>
            <a:endParaRPr lang="en-US" sz="1150" dirty="0"/>
          </a:p>
        </p:txBody>
      </p:sp>
      <p:sp>
        <p:nvSpPr>
          <p:cNvPr id="32" name="Text 30"/>
          <p:cNvSpPr txBox="1"/>
          <p:nvPr/>
        </p:nvSpPr>
        <p:spPr>
          <a:xfrm>
            <a:off x="4206240" y="3246120"/>
            <a:ext cx="4480560" cy="329184"/>
          </a:xfrm>
          <a:prstGeom prst="rect">
            <a:avLst/>
          </a:prstGeom>
          <a:noFill/>
          <a:ln/>
        </p:spPr>
        <p:txBody>
          <a:bodyPr wrap="square" lIns="0" tIns="0" rIns="0" bIns="0" rtlCol="0" anchor="ctr"/>
          <a:lstStyle/>
          <a:p>
            <a:pPr indent="0" marL="0">
              <a:buNone/>
            </a:pPr>
            <a:r>
              <a:rPr lang="en-US" sz="1150" b="1" dirty="0">
                <a:solidFill>
                  <a:srgbClr val="AD4426"/>
                </a:solidFill>
                <a:latin typeface="Calibri" pitchFamily="34" charset="0"/>
                <a:ea typeface="Calibri" pitchFamily="34" charset="-122"/>
                <a:cs typeface="Calibri" pitchFamily="34" charset="-120"/>
              </a:rPr>
              <a:t>✗ </a:t>
            </a:r>
            <a:pPr indent="0" marL="0">
              <a:buNone/>
            </a:pPr>
            <a:r>
              <a:rPr lang="en-US" sz="1150" b="1" dirty="0">
                <a:solidFill>
                  <a:srgbClr val="AD4426"/>
                </a:solidFill>
                <a:latin typeface="Calibri" pitchFamily="34" charset="0"/>
                <a:ea typeface="Calibri" pitchFamily="34" charset="-122"/>
                <a:cs typeface="Calibri" pitchFamily="34" charset="-120"/>
              </a:rPr>
              <a:t>Die Rechte richten sich nach dem Besitz; Theten dürfen nur abstimmen und klagen.</a:t>
            </a:r>
            <a:endParaRPr lang="en-US" sz="1150" dirty="0"/>
          </a:p>
        </p:txBody>
      </p:sp>
      <p:sp>
        <p:nvSpPr>
          <p:cNvPr id="33" name="Shape 31"/>
          <p:cNvSpPr/>
          <p:nvPr/>
        </p:nvSpPr>
        <p:spPr>
          <a:xfrm>
            <a:off x="457200" y="3621024"/>
            <a:ext cx="8229600" cy="694944"/>
          </a:xfrm>
          <a:prstGeom prst="roundRect">
            <a:avLst>
              <a:gd name="adj" fmla="val 10526"/>
            </a:avLst>
          </a:prstGeom>
          <a:solidFill>
            <a:srgbClr val="FFFFFF"/>
          </a:solidFill>
          <a:ln w="12700">
            <a:solidFill>
              <a:srgbClr val="FFFFFF"/>
            </a:solidFill>
            <a:prstDash val="solid"/>
          </a:ln>
        </p:spPr>
      </p:sp>
      <p:sp>
        <p:nvSpPr>
          <p:cNvPr id="34" name="Text 32"/>
          <p:cNvSpPr txBox="1"/>
          <p:nvPr/>
        </p:nvSpPr>
        <p:spPr>
          <a:xfrm>
            <a:off x="502920" y="3621024"/>
            <a:ext cx="822960" cy="694944"/>
          </a:xfrm>
          <a:prstGeom prst="rect">
            <a:avLst/>
          </a:prstGeom>
          <a:noFill/>
          <a:ln/>
        </p:spPr>
        <p:txBody>
          <a:bodyPr wrap="square" lIns="0" tIns="0" rIns="0" bIns="0" rtlCol="0" anchor="ctr"/>
          <a:lstStyle/>
          <a:p>
            <a:pPr indent="0" marL="0">
              <a:buNone/>
            </a:pPr>
            <a:r>
              <a:rPr lang="en-US" sz="1200" b="1" dirty="0">
                <a:solidFill>
                  <a:srgbClr val="2B2318"/>
                </a:solidFill>
                <a:latin typeface="Calibri" pitchFamily="34" charset="0"/>
                <a:ea typeface="Calibri" pitchFamily="34" charset="-122"/>
                <a:cs typeface="Calibri" pitchFamily="34" charset="-120"/>
              </a:rPr>
              <a:t>546–528/27</a:t>
            </a:r>
            <a:endParaRPr lang="en-US" sz="1200" dirty="0"/>
          </a:p>
        </p:txBody>
      </p:sp>
      <p:sp>
        <p:nvSpPr>
          <p:cNvPr id="35" name="Text 33"/>
          <p:cNvSpPr txBox="1"/>
          <p:nvPr/>
        </p:nvSpPr>
        <p:spPr>
          <a:xfrm>
            <a:off x="1325880" y="3621024"/>
            <a:ext cx="1645920" cy="694944"/>
          </a:xfrm>
          <a:prstGeom prst="rect">
            <a:avLst/>
          </a:prstGeom>
          <a:noFill/>
          <a:ln/>
        </p:spPr>
        <p:txBody>
          <a:bodyPr wrap="square" lIns="0" tIns="0" rIns="0" bIns="0" rtlCol="0" anchor="ctr"/>
          <a:lstStyle/>
          <a:p>
            <a:pPr indent="0" marL="0">
              <a:buNone/>
            </a:pPr>
            <a:r>
              <a:rPr lang="en-US" sz="1250" b="1" dirty="0">
                <a:solidFill>
                  <a:srgbClr val="AD4426"/>
                </a:solidFill>
                <a:latin typeface="Calibri" pitchFamily="34" charset="0"/>
                <a:ea typeface="Calibri" pitchFamily="34" charset="-122"/>
                <a:cs typeface="Calibri" pitchFamily="34" charset="-120"/>
              </a:rPr>
              <a:t>Tyrannis
</a:t>
            </a:r>
            <a:pPr indent="0" marL="0">
              <a:buNone/>
            </a:pPr>
            <a:r>
              <a:rPr lang="en-US" sz="950" i="1" dirty="0">
                <a:solidFill>
                  <a:srgbClr val="5A5044"/>
                </a:solidFill>
                <a:latin typeface="Calibri" pitchFamily="34" charset="0"/>
                <a:ea typeface="Calibri" pitchFamily="34" charset="-122"/>
                <a:cs typeface="Calibri" pitchFamily="34" charset="-120"/>
              </a:rPr>
              <a:t>tyrannos = Alleinherrscher</a:t>
            </a:r>
            <a:endParaRPr lang="en-US" sz="1250" dirty="0"/>
          </a:p>
        </p:txBody>
      </p:sp>
      <p:sp>
        <p:nvSpPr>
          <p:cNvPr id="36" name="Text 34"/>
          <p:cNvSpPr txBox="1"/>
          <p:nvPr/>
        </p:nvSpPr>
        <p:spPr>
          <a:xfrm>
            <a:off x="3017520" y="3621024"/>
            <a:ext cx="1143000" cy="694944"/>
          </a:xfrm>
          <a:prstGeom prst="rect">
            <a:avLst/>
          </a:prstGeom>
          <a:noFill/>
          <a:ln/>
        </p:spPr>
        <p:txBody>
          <a:bodyPr wrap="square" lIns="0" tIns="0" rIns="0" bIns="0" rtlCol="0" anchor="ctr"/>
          <a:lstStyle/>
          <a:p>
            <a:pPr indent="0" marL="0">
              <a:buNone/>
            </a:pPr>
            <a:r>
              <a:rPr lang="en-US" sz="1300" b="1" dirty="0">
                <a:solidFill>
                  <a:srgbClr val="2B2318"/>
                </a:solidFill>
                <a:latin typeface="Cambria" pitchFamily="34" charset="0"/>
                <a:ea typeface="Cambria" pitchFamily="34" charset="-122"/>
                <a:cs typeface="Cambria" pitchFamily="34" charset="-120"/>
              </a:rPr>
              <a:t>Peisistratos</a:t>
            </a:r>
            <a:endParaRPr lang="en-US" sz="1300" dirty="0"/>
          </a:p>
        </p:txBody>
      </p:sp>
      <p:sp>
        <p:nvSpPr>
          <p:cNvPr id="37" name="Text 35"/>
          <p:cNvSpPr txBox="1"/>
          <p:nvPr/>
        </p:nvSpPr>
        <p:spPr>
          <a:xfrm>
            <a:off x="4206240" y="3648456"/>
            <a:ext cx="4480560" cy="329184"/>
          </a:xfrm>
          <a:prstGeom prst="rect">
            <a:avLst/>
          </a:prstGeom>
          <a:noFill/>
          <a:ln/>
        </p:spPr>
        <p:txBody>
          <a:bodyPr wrap="square" lIns="0" tIns="0" rIns="0" bIns="0" rtlCol="0" anchor="ctr"/>
          <a:lstStyle/>
          <a:p>
            <a:pPr indent="0" marL="0">
              <a:buNone/>
            </a:pPr>
            <a:r>
              <a:rPr lang="en-US" sz="1150" b="1" dirty="0">
                <a:solidFill>
                  <a:srgbClr val="AD4426"/>
                </a:solidFill>
                <a:latin typeface="Calibri" pitchFamily="34" charset="0"/>
                <a:ea typeface="Calibri" pitchFamily="34" charset="-122"/>
                <a:cs typeface="Calibri" pitchFamily="34" charset="-120"/>
              </a:rPr>
              <a:t>✗ </a:t>
            </a:r>
            <a:pPr indent="0" marL="0">
              <a:buNone/>
            </a:pPr>
            <a:r>
              <a:rPr lang="en-US" sz="1150" b="1" dirty="0">
                <a:solidFill>
                  <a:srgbClr val="AD4426"/>
                </a:solidFill>
                <a:latin typeface="Calibri" pitchFamily="34" charset="0"/>
                <a:ea typeface="Calibri" pitchFamily="34" charset="-122"/>
                <a:cs typeface="Calibri" pitchFamily="34" charset="-120"/>
              </a:rPr>
              <a:t>Er erobert die Macht mit Söldnern (Akropolis).</a:t>
            </a:r>
            <a:endParaRPr lang="en-US" sz="1150" dirty="0"/>
          </a:p>
        </p:txBody>
      </p:sp>
      <p:sp>
        <p:nvSpPr>
          <p:cNvPr id="38" name="Text 36"/>
          <p:cNvSpPr txBox="1"/>
          <p:nvPr/>
        </p:nvSpPr>
        <p:spPr>
          <a:xfrm>
            <a:off x="4206240" y="3977640"/>
            <a:ext cx="4480560" cy="329184"/>
          </a:xfrm>
          <a:prstGeom prst="rect">
            <a:avLst/>
          </a:prstGeom>
          <a:noFill/>
          <a:ln/>
        </p:spPr>
        <p:txBody>
          <a:bodyPr wrap="square" lIns="0" tIns="0" rIns="0" bIns="0" rtlCol="0" anchor="ctr"/>
          <a:lstStyle/>
          <a:p>
            <a:pPr indent="0" marL="0">
              <a:buNone/>
            </a:pPr>
            <a:r>
              <a:rPr lang="en-US" sz="1150" b="1" dirty="0">
                <a:solidFill>
                  <a:srgbClr val="AD4426"/>
                </a:solidFill>
                <a:latin typeface="Calibri" pitchFamily="34" charset="0"/>
                <a:ea typeface="Calibri" pitchFamily="34" charset="-122"/>
                <a:cs typeface="Calibri" pitchFamily="34" charset="-120"/>
              </a:rPr>
              <a:t>✗ </a:t>
            </a:r>
            <a:pPr indent="0" marL="0">
              <a:buNone/>
            </a:pPr>
            <a:r>
              <a:rPr lang="en-US" sz="1150" b="1" dirty="0">
                <a:solidFill>
                  <a:srgbClr val="AD4426"/>
                </a:solidFill>
                <a:latin typeface="Calibri" pitchFamily="34" charset="0"/>
                <a:ea typeface="Calibri" pitchFamily="34" charset="-122"/>
                <a:cs typeface="Calibri" pitchFamily="34" charset="-120"/>
              </a:rPr>
              <a:t>Die Verfassung bleibt – die Ämter bekommen seine Anhänger.</a:t>
            </a:r>
            <a:endParaRPr lang="en-US" sz="1150" dirty="0"/>
          </a:p>
        </p:txBody>
      </p:sp>
      <p:sp>
        <p:nvSpPr>
          <p:cNvPr id="39" name="Shape 37"/>
          <p:cNvSpPr/>
          <p:nvPr/>
        </p:nvSpPr>
        <p:spPr>
          <a:xfrm>
            <a:off x="457200" y="4389120"/>
            <a:ext cx="8229600" cy="329184"/>
          </a:xfrm>
          <a:prstGeom prst="roundRect">
            <a:avLst>
              <a:gd name="adj" fmla="val 22222"/>
            </a:avLst>
          </a:prstGeom>
          <a:solidFill>
            <a:srgbClr val="2B2318"/>
          </a:solidFill>
          <a:ln w="12700">
            <a:solidFill>
              <a:srgbClr val="2B2318"/>
            </a:solidFill>
            <a:prstDash val="solid"/>
          </a:ln>
        </p:spPr>
      </p:sp>
      <p:sp>
        <p:nvSpPr>
          <p:cNvPr id="40" name="Text 38"/>
          <p:cNvSpPr txBox="1"/>
          <p:nvPr/>
        </p:nvSpPr>
        <p:spPr>
          <a:xfrm>
            <a:off x="594360" y="4389120"/>
            <a:ext cx="7955280" cy="329184"/>
          </a:xfrm>
          <a:prstGeom prst="rect">
            <a:avLst/>
          </a:prstGeom>
          <a:noFill/>
          <a:ln/>
        </p:spPr>
        <p:txBody>
          <a:bodyPr wrap="square" lIns="0" tIns="0" rIns="0" bIns="0" rtlCol="0" anchor="ctr"/>
          <a:lstStyle/>
          <a:p>
            <a:pPr indent="0" marL="0">
              <a:buNone/>
            </a:pPr>
            <a:r>
              <a:rPr lang="en-US" sz="1150" b="1" dirty="0">
                <a:solidFill>
                  <a:srgbClr val="D9A441"/>
                </a:solidFill>
                <a:latin typeface="Calibri" pitchFamily="34" charset="0"/>
                <a:ea typeface="Calibri" pitchFamily="34" charset="-122"/>
                <a:cs typeface="Calibri" pitchFamily="34" charset="-120"/>
              </a:rPr>
              <a:t>Peisistratos – Wegbereiter der Demokratie? Ja, ungewollt. Aber: Der Adel bestimmt weiter über seine Anhänger.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Vorwissen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UND DANN?</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Das Ende der Tyrannis</a:t>
            </a:r>
            <a:endParaRPr lang="en-US" sz="2600" dirty="0"/>
          </a:p>
        </p:txBody>
      </p:sp>
      <p:sp>
        <p:nvSpPr>
          <p:cNvPr id="10" name="Shape 8"/>
          <p:cNvSpPr/>
          <p:nvPr/>
        </p:nvSpPr>
        <p:spPr>
          <a:xfrm>
            <a:off x="640080" y="1600200"/>
            <a:ext cx="7863840" cy="0"/>
          </a:xfrm>
          <a:prstGeom prst="line">
            <a:avLst/>
          </a:prstGeom>
          <a:noFill/>
          <a:ln w="38100">
            <a:solidFill>
              <a:srgbClr val="D9CDB8"/>
            </a:solidFill>
            <a:prstDash val="solid"/>
          </a:ln>
        </p:spPr>
      </p:sp>
      <p:sp>
        <p:nvSpPr>
          <p:cNvPr id="11" name="Text 9"/>
          <p:cNvSpPr txBox="1"/>
          <p:nvPr/>
        </p:nvSpPr>
        <p:spPr>
          <a:xfrm>
            <a:off x="502920" y="1399032"/>
            <a:ext cx="411480" cy="41148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txBox="1"/>
          <p:nvPr/>
        </p:nvSpPr>
        <p:spPr>
          <a:xfrm>
            <a:off x="457200" y="1920240"/>
            <a:ext cx="2606040" cy="365760"/>
          </a:xfrm>
          <a:prstGeom prst="rect">
            <a:avLst/>
          </a:prstGeom>
          <a:noFill/>
          <a:ln/>
        </p:spPr>
        <p:txBody>
          <a:bodyPr wrap="square" lIns="0" tIns="0" rIns="0" bIns="0" rtlCol="0" anchor="t"/>
          <a:lstStyle/>
          <a:p>
            <a:pPr indent="0" marL="0">
              <a:buNone/>
            </a:pPr>
            <a:r>
              <a:rPr lang="en-US" sz="1800" b="1" dirty="0">
                <a:solidFill>
                  <a:srgbClr val="AD4426"/>
                </a:solidFill>
                <a:latin typeface="Cambria" pitchFamily="34" charset="0"/>
                <a:ea typeface="Cambria" pitchFamily="34" charset="-122"/>
                <a:cs typeface="Cambria" pitchFamily="34" charset="-120"/>
              </a:rPr>
              <a:t>528/27 v. Chr.</a:t>
            </a:r>
            <a:endParaRPr lang="en-US" sz="1800" dirty="0"/>
          </a:p>
        </p:txBody>
      </p:sp>
      <p:sp>
        <p:nvSpPr>
          <p:cNvPr id="13" name="Text 11"/>
          <p:cNvSpPr txBox="1"/>
          <p:nvPr/>
        </p:nvSpPr>
        <p:spPr>
          <a:xfrm>
            <a:off x="457200" y="2331720"/>
            <a:ext cx="2606040" cy="1097280"/>
          </a:xfrm>
          <a:prstGeom prst="rect">
            <a:avLst/>
          </a:prstGeom>
          <a:noFill/>
          <a:ln/>
        </p:spPr>
        <p:txBody>
          <a:bodyPr wrap="square" lIns="0" tIns="0" rIns="0" bIns="0" rtlCol="0" anchor="t"/>
          <a:lstStyle/>
          <a:p>
            <a:pPr indent="0" marL="0">
              <a:buNone/>
            </a:pPr>
            <a:r>
              <a:rPr lang="en-US" sz="1500" dirty="0">
                <a:solidFill>
                  <a:srgbClr val="2B2318"/>
                </a:solidFill>
                <a:latin typeface="Calibri" pitchFamily="34" charset="0"/>
                <a:ea typeface="Calibri" pitchFamily="34" charset="-122"/>
                <a:cs typeface="Calibri" pitchFamily="34" charset="-120"/>
              </a:rPr>
              <a:t>Peisistratos stirbt. Seine Söhne Hippias und Hipparchos herrschen weiter.</a:t>
            </a:r>
            <a:endParaRPr lang="en-US" sz="1500" dirty="0"/>
          </a:p>
        </p:txBody>
      </p:sp>
      <p:sp>
        <p:nvSpPr>
          <p:cNvPr id="14" name="Text 12"/>
          <p:cNvSpPr txBox="1"/>
          <p:nvPr/>
        </p:nvSpPr>
        <p:spPr>
          <a:xfrm>
            <a:off x="3291840" y="1399032"/>
            <a:ext cx="411480" cy="41148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3246120" y="1920240"/>
            <a:ext cx="2606040" cy="365760"/>
          </a:xfrm>
          <a:prstGeom prst="rect">
            <a:avLst/>
          </a:prstGeom>
          <a:noFill/>
          <a:ln/>
        </p:spPr>
        <p:txBody>
          <a:bodyPr wrap="square" lIns="0" tIns="0" rIns="0" bIns="0" rtlCol="0" anchor="t"/>
          <a:lstStyle/>
          <a:p>
            <a:pPr indent="0" marL="0">
              <a:buNone/>
            </a:pPr>
            <a:r>
              <a:rPr lang="en-US" sz="1800" b="1" dirty="0">
                <a:solidFill>
                  <a:srgbClr val="AD4426"/>
                </a:solidFill>
                <a:latin typeface="Cambria" pitchFamily="34" charset="0"/>
                <a:ea typeface="Cambria" pitchFamily="34" charset="-122"/>
                <a:cs typeface="Cambria" pitchFamily="34" charset="-120"/>
              </a:rPr>
              <a:t>514 v. Chr.</a:t>
            </a:r>
            <a:endParaRPr lang="en-US" sz="1800" dirty="0"/>
          </a:p>
        </p:txBody>
      </p:sp>
      <p:sp>
        <p:nvSpPr>
          <p:cNvPr id="16" name="Text 14"/>
          <p:cNvSpPr txBox="1"/>
          <p:nvPr/>
        </p:nvSpPr>
        <p:spPr>
          <a:xfrm>
            <a:off x="3246120" y="2331720"/>
            <a:ext cx="2606040" cy="1097280"/>
          </a:xfrm>
          <a:prstGeom prst="rect">
            <a:avLst/>
          </a:prstGeom>
          <a:noFill/>
          <a:ln/>
        </p:spPr>
        <p:txBody>
          <a:bodyPr wrap="square" lIns="0" tIns="0" rIns="0" bIns="0" rtlCol="0" anchor="t"/>
          <a:lstStyle/>
          <a:p>
            <a:pPr indent="0" marL="0">
              <a:buNone/>
            </a:pPr>
            <a:r>
              <a:rPr lang="en-US" sz="1500" dirty="0">
                <a:solidFill>
                  <a:srgbClr val="2B2318"/>
                </a:solidFill>
                <a:latin typeface="Calibri" pitchFamily="34" charset="0"/>
                <a:ea typeface="Calibri" pitchFamily="34" charset="-122"/>
                <a:cs typeface="Calibri" pitchFamily="34" charset="-120"/>
              </a:rPr>
              <a:t>Hipparchos wird ermordet. Es kommt zu blutigen Aufständen.</a:t>
            </a:r>
            <a:endParaRPr lang="en-US" sz="1500" dirty="0"/>
          </a:p>
        </p:txBody>
      </p:sp>
      <p:sp>
        <p:nvSpPr>
          <p:cNvPr id="17" name="Text 15"/>
          <p:cNvSpPr txBox="1"/>
          <p:nvPr/>
        </p:nvSpPr>
        <p:spPr>
          <a:xfrm>
            <a:off x="6080760" y="1399032"/>
            <a:ext cx="411480" cy="41148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6035040" y="1920240"/>
            <a:ext cx="2606040" cy="365760"/>
          </a:xfrm>
          <a:prstGeom prst="rect">
            <a:avLst/>
          </a:prstGeom>
          <a:noFill/>
          <a:ln/>
        </p:spPr>
        <p:txBody>
          <a:bodyPr wrap="square" lIns="0" tIns="0" rIns="0" bIns="0" rtlCol="0" anchor="t"/>
          <a:lstStyle/>
          <a:p>
            <a:pPr indent="0" marL="0">
              <a:buNone/>
            </a:pPr>
            <a:r>
              <a:rPr lang="en-US" sz="1800" b="1" dirty="0">
                <a:solidFill>
                  <a:srgbClr val="AD4426"/>
                </a:solidFill>
                <a:latin typeface="Cambria" pitchFamily="34" charset="0"/>
                <a:ea typeface="Cambria" pitchFamily="34" charset="-122"/>
                <a:cs typeface="Cambria" pitchFamily="34" charset="-120"/>
              </a:rPr>
              <a:t>510 v. Chr.</a:t>
            </a:r>
            <a:endParaRPr lang="en-US" sz="1800" dirty="0"/>
          </a:p>
        </p:txBody>
      </p:sp>
      <p:sp>
        <p:nvSpPr>
          <p:cNvPr id="19" name="Text 17"/>
          <p:cNvSpPr txBox="1"/>
          <p:nvPr/>
        </p:nvSpPr>
        <p:spPr>
          <a:xfrm>
            <a:off x="6035040" y="2331720"/>
            <a:ext cx="2606040" cy="1097280"/>
          </a:xfrm>
          <a:prstGeom prst="rect">
            <a:avLst/>
          </a:prstGeom>
          <a:noFill/>
          <a:ln/>
        </p:spPr>
        <p:txBody>
          <a:bodyPr wrap="square" lIns="0" tIns="0" rIns="0" bIns="0" rtlCol="0" anchor="t"/>
          <a:lstStyle/>
          <a:p>
            <a:pPr indent="0" marL="0">
              <a:buNone/>
            </a:pPr>
            <a:r>
              <a:rPr lang="en-US" sz="1500" dirty="0">
                <a:solidFill>
                  <a:srgbClr val="2B2318"/>
                </a:solidFill>
                <a:latin typeface="Calibri" pitchFamily="34" charset="0"/>
                <a:ea typeface="Calibri" pitchFamily="34" charset="-122"/>
                <a:cs typeface="Calibri" pitchFamily="34" charset="-120"/>
              </a:rPr>
              <a:t>Hippias wird verbannt. Athen hat keinen Herrscher mehr.</a:t>
            </a:r>
            <a:endParaRPr lang="en-US" sz="1500" dirty="0"/>
          </a:p>
        </p:txBody>
      </p:sp>
      <p:sp>
        <p:nvSpPr>
          <p:cNvPr id="20" name="Shape 18"/>
          <p:cNvSpPr/>
          <p:nvPr/>
        </p:nvSpPr>
        <p:spPr>
          <a:xfrm>
            <a:off x="457200" y="3657600"/>
            <a:ext cx="8229600" cy="822960"/>
          </a:xfrm>
          <a:prstGeom prst="roundRect">
            <a:avLst>
              <a:gd name="adj" fmla="val 8889"/>
            </a:avLst>
          </a:prstGeom>
          <a:solidFill>
            <a:srgbClr val="2B2318"/>
          </a:solidFill>
          <a:ln w="12700">
            <a:solidFill>
              <a:srgbClr val="2B2318"/>
            </a:solidFill>
            <a:prstDash val="solid"/>
          </a:ln>
        </p:spPr>
      </p:sp>
      <p:sp>
        <p:nvSpPr>
          <p:cNvPr id="21" name="Text 19"/>
          <p:cNvSpPr txBox="1"/>
          <p:nvPr/>
        </p:nvSpPr>
        <p:spPr>
          <a:xfrm>
            <a:off x="685800" y="3657600"/>
            <a:ext cx="7772400" cy="822960"/>
          </a:xfrm>
          <a:prstGeom prst="rect">
            <a:avLst/>
          </a:prstGeom>
          <a:noFill/>
          <a:ln/>
        </p:spPr>
        <p:txBody>
          <a:bodyPr wrap="square" lIns="0" tIns="0" rIns="0" bIns="0"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Jetzt kämpfen wieder die Adelsfamilien um die Macht. Wie kann man ihre Macht brechen – ohne ihnen das Land wegzunehmen?</a:t>
            </a:r>
            <a:endParaRPr lang="en-US" sz="1600" dirty="0"/>
          </a:p>
        </p:txBody>
      </p:sp>
      <p:sp>
        <p:nvSpPr>
          <p:cNvPr id="22" name="Text 20"/>
          <p:cNvSpPr txBox="1"/>
          <p:nvPr/>
        </p:nvSpPr>
        <p:spPr>
          <a:xfrm>
            <a:off x="457200" y="4773168"/>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Kleisthenes – Warum stimmt Lysias anders?</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3A3024"/>
          </a:solidFill>
          <a:ln/>
        </p:spPr>
        <p:txBody>
          <a:bodyPr wrap="square" lIns="0" tIns="0" rIns="0" bIns="0" rtlCol="0" anchor="ctr"/>
          <a:lstStyle/>
          <a:p>
            <a:pPr algn="ctr" indent="0" marL="0">
              <a:buNone/>
            </a:pPr>
            <a:r>
              <a:rPr lang="en-US" sz="1100" b="1" dirty="0">
                <a:solidFill>
                  <a:srgbClr val="8C8170"/>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3A3024"/>
          </a:solidFill>
          <a:ln/>
        </p:spPr>
        <p:txBody>
          <a:bodyPr wrap="square" lIns="0" tIns="0" rIns="0" bIns="0" rtlCol="0" anchor="ctr"/>
          <a:lstStyle/>
          <a:p>
            <a:pPr algn="ctr" indent="0" marL="0">
              <a:buNone/>
            </a:pPr>
            <a:r>
              <a:rPr lang="en-US" sz="1100" b="1" dirty="0">
                <a:solidFill>
                  <a:srgbClr val="8C8170"/>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3A3024"/>
          </a:solidFill>
          <a:ln/>
        </p:spPr>
        <p:txBody>
          <a:bodyPr wrap="square" lIns="0" tIns="0" rIns="0" bIns="0" rtlCol="0" anchor="ctr"/>
          <a:lstStyle/>
          <a:p>
            <a:pPr algn="ctr" indent="0" marL="0">
              <a:buNone/>
            </a:pPr>
            <a:r>
              <a:rPr lang="en-US" sz="1100" b="1" dirty="0">
                <a:solidFill>
                  <a:srgbClr val="8C8170"/>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3A3024"/>
          </a:solidFill>
          <a:ln/>
        </p:spPr>
        <p:txBody>
          <a:bodyPr wrap="square" lIns="0" tIns="0" rIns="0" bIns="0" rtlCol="0" anchor="ctr"/>
          <a:lstStyle/>
          <a:p>
            <a:pPr algn="ctr" indent="0" marL="0">
              <a:buNone/>
            </a:pPr>
            <a:r>
              <a:rPr lang="en-US" sz="1100" b="1" dirty="0">
                <a:solidFill>
                  <a:srgbClr val="8C8170"/>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D9A441"/>
                </a:solidFill>
                <a:latin typeface="Calibri" pitchFamily="34" charset="0"/>
                <a:ea typeface="Calibri" pitchFamily="34" charset="-122"/>
                <a:cs typeface="Calibri" pitchFamily="34" charset="-120"/>
              </a:rPr>
              <a:t>Informieren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D9A441"/>
                </a:solidFill>
                <a:latin typeface="Calibri" pitchFamily="34" charset="0"/>
                <a:ea typeface="Calibri" pitchFamily="34" charset="-122"/>
                <a:cs typeface="Calibri" pitchFamily="34" charset="-120"/>
              </a:rPr>
              <a:t>DAS RÄTSEL · ALLEIN</a:t>
            </a:r>
            <a:endParaRPr lang="en-US" sz="1100" dirty="0"/>
          </a:p>
        </p:txBody>
      </p:sp>
      <p:sp>
        <p:nvSpPr>
          <p:cNvPr id="9" name="Text 7"/>
          <p:cNvSpPr txBox="1"/>
          <p:nvPr/>
        </p:nvSpPr>
        <p:spPr>
          <a:xfrm>
            <a:off x="5806440" y="109728"/>
            <a:ext cx="1143000" cy="256032"/>
          </a:xfrm>
          <a:prstGeom prst="roundRect">
            <a:avLst>
              <a:gd name="adj" fmla="val 28571"/>
            </a:avLst>
          </a:prstGeom>
          <a:solidFill>
            <a:srgbClr val="D9A441"/>
          </a:solidFill>
          <a:ln/>
        </p:spPr>
        <p:txBody>
          <a:bodyPr wrap="square" lIns="0" tIns="0" rIns="0" bIns="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1 Min.</a:t>
            </a:r>
            <a:endParaRPr lang="en-US" sz="1100" dirty="0"/>
          </a:p>
        </p:txBody>
      </p:sp>
      <p:sp>
        <p:nvSpPr>
          <p:cNvPr id="10" name="Text 8"/>
          <p:cNvSpPr txBox="1"/>
          <p:nvPr/>
        </p:nvSpPr>
        <p:spPr>
          <a:xfrm>
            <a:off x="457200" y="594360"/>
            <a:ext cx="640080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Warum stimmt Lysias anders?</a:t>
            </a:r>
            <a:endParaRPr lang="en-US" sz="2800" dirty="0"/>
          </a:p>
        </p:txBody>
      </p:sp>
      <p:sp>
        <p:nvSpPr>
          <p:cNvPr id="11" name="Text 9"/>
          <p:cNvSpPr txBox="1"/>
          <p:nvPr/>
        </p:nvSpPr>
        <p:spPr>
          <a:xfrm>
            <a:off x="457200" y="1325880"/>
            <a:ext cx="8229600" cy="1737360"/>
          </a:xfrm>
          <a:prstGeom prst="rect">
            <a:avLst/>
          </a:prstGeom>
          <a:noFill/>
          <a:ln/>
        </p:spPr>
        <p:txBody>
          <a:bodyPr wrap="square" lIns="0" tIns="0" rIns="0" bIns="0" rtlCol="0" anchor="t"/>
          <a:lstStyle/>
          <a:p>
            <a:pPr indent="0" marL="0">
              <a:buNone/>
            </a:pPr>
            <a:r>
              <a:rPr lang="en-US" sz="1900" i="1" dirty="0">
                <a:solidFill>
                  <a:srgbClr val="E8DFD0"/>
                </a:solidFill>
                <a:latin typeface="Calibri" pitchFamily="34" charset="0"/>
                <a:ea typeface="Calibri" pitchFamily="34" charset="-122"/>
                <a:cs typeface="Calibri" pitchFamily="34" charset="-120"/>
              </a:rPr>
              <a:t>Lysias, ein Bauer aus Paiania im Binnenland, darf seit Solon in der Volksversammlung abstimmen. Trotzdem hebt er jahrzehntelang immer dann die Hand, wenn es sein adliger Nachbar will. 507 v. Chr. stimmt er zum ersten Mal anders. Warum?</a:t>
            </a:r>
            <a:endParaRPr lang="en-US" sz="1900" dirty="0"/>
          </a:p>
        </p:txBody>
      </p:sp>
      <p:sp>
        <p:nvSpPr>
          <p:cNvPr id="12" name="Shape 10"/>
          <p:cNvSpPr/>
          <p:nvPr/>
        </p:nvSpPr>
        <p:spPr>
          <a:xfrm>
            <a:off x="457200" y="3291840"/>
            <a:ext cx="8229600" cy="868680"/>
          </a:xfrm>
          <a:prstGeom prst="roundRect">
            <a:avLst>
              <a:gd name="adj" fmla="val 8421"/>
            </a:avLst>
          </a:prstGeom>
          <a:solidFill>
            <a:srgbClr val="AD4426"/>
          </a:solidFill>
          <a:ln w="12700">
            <a:solidFill>
              <a:srgbClr val="AD4426"/>
            </a:solidFill>
            <a:prstDash val="solid"/>
          </a:ln>
        </p:spPr>
      </p:sp>
      <p:sp>
        <p:nvSpPr>
          <p:cNvPr id="13" name="Text 11"/>
          <p:cNvSpPr txBox="1"/>
          <p:nvPr/>
        </p:nvSpPr>
        <p:spPr>
          <a:xfrm>
            <a:off x="685800" y="3291840"/>
            <a:ext cx="7772400" cy="8686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Schreib eine erste Vermutung ins Heft: „Ich vermute, Lysias stimmt anders, weil …“</a:t>
            </a:r>
            <a:endParaRPr lang="en-US" sz="17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Informieren</a:t>
            </a:r>
            <a:endParaRPr lang="en-US" sz="900" dirty="0"/>
          </a:p>
        </p:txBody>
      </p:sp>
      <p:sp>
        <p:nvSpPr>
          <p:cNvPr id="8" name="Text 6"/>
          <p:cNvSpPr txBox="1"/>
          <p:nvPr/>
        </p:nvSpPr>
        <p:spPr>
          <a:xfrm>
            <a:off x="457200" y="228600"/>
            <a:ext cx="5486400" cy="274320"/>
          </a:xfrm>
          <a:prstGeom prst="rect">
            <a:avLst/>
          </a:prstGeom>
          <a:noFill/>
          <a:ln/>
        </p:spPr>
        <p:txBody>
          <a:bodyPr wrap="square" lIns="0" tIns="0" rIns="0" bIns="0" rtlCol="0" anchor="t"/>
          <a:lstStyle/>
          <a:p>
            <a:pPr indent="0" marL="0">
              <a:buNone/>
            </a:pPr>
            <a:r>
              <a:rPr lang="en-US" sz="1200" b="1" spc="300" kern="0" dirty="0">
                <a:solidFill>
                  <a:srgbClr val="AD4426"/>
                </a:solidFill>
                <a:latin typeface="Calibri" pitchFamily="34" charset="0"/>
                <a:ea typeface="Calibri" pitchFamily="34" charset="-122"/>
                <a:cs typeface="Calibri" pitchFamily="34" charset="-120"/>
              </a:rPr>
              <a:t>BEGRIFFE</a:t>
            </a:r>
            <a:endParaRPr lang="en-US" sz="1200" dirty="0"/>
          </a:p>
        </p:txBody>
      </p:sp>
      <p:sp>
        <p:nvSpPr>
          <p:cNvPr id="9" name="Text 7"/>
          <p:cNvSpPr txBox="1"/>
          <p:nvPr/>
        </p:nvSpPr>
        <p:spPr>
          <a:xfrm>
            <a:off x="457200" y="548640"/>
            <a:ext cx="3931920" cy="548640"/>
          </a:xfrm>
          <a:prstGeom prst="rect">
            <a:avLst/>
          </a:prstGeom>
          <a:noFill/>
          <a:ln/>
        </p:spPr>
        <p:txBody>
          <a:bodyPr wrap="square" lIns="0" tIns="0" rIns="0" bIns="0" rtlCol="0" anchor="t"/>
          <a:lstStyle/>
          <a:p>
            <a:pPr indent="0" marL="0">
              <a:buNone/>
            </a:pPr>
            <a:r>
              <a:rPr lang="en-US" sz="3400" b="1" dirty="0">
                <a:solidFill>
                  <a:srgbClr val="2B2318"/>
                </a:solidFill>
                <a:latin typeface="Cambria" pitchFamily="34" charset="0"/>
                <a:ea typeface="Cambria" pitchFamily="34" charset="-122"/>
                <a:cs typeface="Cambria" pitchFamily="34" charset="-120"/>
              </a:rPr>
              <a:t>Demos</a:t>
            </a:r>
            <a:endParaRPr lang="en-US" sz="3400" dirty="0"/>
          </a:p>
        </p:txBody>
      </p:sp>
      <p:sp>
        <p:nvSpPr>
          <p:cNvPr id="10" name="Text 8"/>
          <p:cNvSpPr txBox="1"/>
          <p:nvPr/>
        </p:nvSpPr>
        <p:spPr>
          <a:xfrm>
            <a:off x="457200" y="1097280"/>
            <a:ext cx="3931920" cy="274320"/>
          </a:xfrm>
          <a:prstGeom prst="rect">
            <a:avLst/>
          </a:prstGeom>
          <a:noFill/>
          <a:ln/>
        </p:spPr>
        <p:txBody>
          <a:bodyPr wrap="square" lIns="0" tIns="0" rIns="0" bIns="0" rtlCol="0" anchor="t"/>
          <a:lstStyle/>
          <a:p>
            <a:pPr indent="0" marL="0">
              <a:buNone/>
            </a:pPr>
            <a:r>
              <a:rPr lang="en-US" sz="1400" i="1" dirty="0">
                <a:solidFill>
                  <a:srgbClr val="5A5044"/>
                </a:solidFill>
                <a:latin typeface="Calibri" pitchFamily="34" charset="0"/>
                <a:ea typeface="Calibri" pitchFamily="34" charset="-122"/>
                <a:cs typeface="Calibri" pitchFamily="34" charset="-120"/>
              </a:rPr>
              <a:t>griech. dēmos = Volk, auch: Dorfgemeinde</a:t>
            </a:r>
            <a:endParaRPr lang="en-US" sz="1400" dirty="0"/>
          </a:p>
        </p:txBody>
      </p:sp>
      <p:sp>
        <p:nvSpPr>
          <p:cNvPr id="11" name="Shape 9"/>
          <p:cNvSpPr/>
          <p:nvPr/>
        </p:nvSpPr>
        <p:spPr>
          <a:xfrm>
            <a:off x="457200" y="1463040"/>
            <a:ext cx="64008" cy="2103120"/>
          </a:xfrm>
          <a:prstGeom prst="rect">
            <a:avLst/>
          </a:prstGeom>
          <a:solidFill>
            <a:srgbClr val="AD4426"/>
          </a:solidFill>
          <a:ln w="12700">
            <a:solidFill>
              <a:srgbClr val="AD4426"/>
            </a:solidFill>
            <a:prstDash val="solid"/>
          </a:ln>
        </p:spPr>
      </p:sp>
      <p:sp>
        <p:nvSpPr>
          <p:cNvPr id="12" name="Text 10"/>
          <p:cNvSpPr txBox="1"/>
          <p:nvPr/>
        </p:nvSpPr>
        <p:spPr>
          <a:xfrm>
            <a:off x="685800" y="1463040"/>
            <a:ext cx="3703320" cy="2194560"/>
          </a:xfrm>
          <a:prstGeom prst="rect">
            <a:avLst/>
          </a:prstGeom>
          <a:noFill/>
          <a:ln/>
        </p:spPr>
        <p:txBody>
          <a:bodyPr wrap="square" lIns="0" tIns="0" rIns="0" bIns="0" rtlCol="0" anchor="t"/>
          <a:lstStyle/>
          <a:p>
            <a:pPr indent="0" marL="0">
              <a:buNone/>
            </a:pPr>
            <a:r>
              <a:rPr lang="en-US" sz="2100" dirty="0">
                <a:solidFill>
                  <a:srgbClr val="2B2318"/>
                </a:solidFill>
                <a:latin typeface="Calibri" pitchFamily="34" charset="0"/>
                <a:ea typeface="Calibri" pitchFamily="34" charset="-122"/>
                <a:cs typeface="Calibri" pitchFamily="34" charset="-120"/>
              </a:rPr>
              <a:t>Eine Dorf- oder Stadtteilgemeinde in Attika. Kleisthenes gliedert Attika in rund 139 Demen. Wer in der Liste seines Demos steht, ist Bürger.</a:t>
            </a:r>
            <a:endParaRPr lang="en-US" sz="2100" dirty="0"/>
          </a:p>
        </p:txBody>
      </p:sp>
      <p:sp>
        <p:nvSpPr>
          <p:cNvPr id="13" name="Text 11"/>
          <p:cNvSpPr txBox="1"/>
          <p:nvPr/>
        </p:nvSpPr>
        <p:spPr>
          <a:xfrm>
            <a:off x="4663440" y="548640"/>
            <a:ext cx="3931920" cy="548640"/>
          </a:xfrm>
          <a:prstGeom prst="rect">
            <a:avLst/>
          </a:prstGeom>
          <a:noFill/>
          <a:ln/>
        </p:spPr>
        <p:txBody>
          <a:bodyPr wrap="square" lIns="0" tIns="0" rIns="0" bIns="0" rtlCol="0" anchor="t"/>
          <a:lstStyle/>
          <a:p>
            <a:pPr indent="0" marL="0">
              <a:buNone/>
            </a:pPr>
            <a:r>
              <a:rPr lang="en-US" sz="3400" b="1" dirty="0">
                <a:solidFill>
                  <a:srgbClr val="2B2318"/>
                </a:solidFill>
                <a:latin typeface="Cambria" pitchFamily="34" charset="0"/>
                <a:ea typeface="Cambria" pitchFamily="34" charset="-122"/>
                <a:cs typeface="Cambria" pitchFamily="34" charset="-120"/>
              </a:rPr>
              <a:t>Trittys</a:t>
            </a:r>
            <a:endParaRPr lang="en-US" sz="3400" dirty="0"/>
          </a:p>
        </p:txBody>
      </p:sp>
      <p:sp>
        <p:nvSpPr>
          <p:cNvPr id="14" name="Text 12"/>
          <p:cNvSpPr txBox="1"/>
          <p:nvPr/>
        </p:nvSpPr>
        <p:spPr>
          <a:xfrm>
            <a:off x="4663440" y="1097280"/>
            <a:ext cx="3931920" cy="274320"/>
          </a:xfrm>
          <a:prstGeom prst="rect">
            <a:avLst/>
          </a:prstGeom>
          <a:noFill/>
          <a:ln/>
        </p:spPr>
        <p:txBody>
          <a:bodyPr wrap="square" lIns="0" tIns="0" rIns="0" bIns="0" rtlCol="0" anchor="t"/>
          <a:lstStyle/>
          <a:p>
            <a:pPr indent="0" marL="0">
              <a:buNone/>
            </a:pPr>
            <a:r>
              <a:rPr lang="en-US" sz="1400" i="1" dirty="0">
                <a:solidFill>
                  <a:srgbClr val="5A5044"/>
                </a:solidFill>
                <a:latin typeface="Calibri" pitchFamily="34" charset="0"/>
                <a:ea typeface="Calibri" pitchFamily="34" charset="-122"/>
                <a:cs typeface="Calibri" pitchFamily="34" charset="-120"/>
              </a:rPr>
              <a:t>griech. „Drittel“ (Mehrzahl: Trittyen)</a:t>
            </a:r>
            <a:endParaRPr lang="en-US" sz="1400" dirty="0"/>
          </a:p>
        </p:txBody>
      </p:sp>
      <p:sp>
        <p:nvSpPr>
          <p:cNvPr id="15" name="Shape 13"/>
          <p:cNvSpPr/>
          <p:nvPr/>
        </p:nvSpPr>
        <p:spPr>
          <a:xfrm>
            <a:off x="4663440" y="1463040"/>
            <a:ext cx="64008" cy="2103120"/>
          </a:xfrm>
          <a:prstGeom prst="rect">
            <a:avLst/>
          </a:prstGeom>
          <a:solidFill>
            <a:srgbClr val="AD4426"/>
          </a:solidFill>
          <a:ln w="12700">
            <a:solidFill>
              <a:srgbClr val="AD4426"/>
            </a:solidFill>
            <a:prstDash val="solid"/>
          </a:ln>
        </p:spPr>
      </p:sp>
      <p:sp>
        <p:nvSpPr>
          <p:cNvPr id="16" name="Text 14"/>
          <p:cNvSpPr txBox="1"/>
          <p:nvPr/>
        </p:nvSpPr>
        <p:spPr>
          <a:xfrm>
            <a:off x="4892040" y="1463040"/>
            <a:ext cx="3703320" cy="2194560"/>
          </a:xfrm>
          <a:prstGeom prst="rect">
            <a:avLst/>
          </a:prstGeom>
          <a:noFill/>
          <a:ln/>
        </p:spPr>
        <p:txBody>
          <a:bodyPr wrap="square" lIns="0" tIns="0" rIns="0" bIns="0" rtlCol="0" anchor="t"/>
          <a:lstStyle/>
          <a:p>
            <a:pPr indent="0" marL="0">
              <a:buNone/>
            </a:pPr>
            <a:r>
              <a:rPr lang="en-US" sz="2100" dirty="0">
                <a:solidFill>
                  <a:srgbClr val="2B2318"/>
                </a:solidFill>
                <a:latin typeface="Calibri" pitchFamily="34" charset="0"/>
                <a:ea typeface="Calibri" pitchFamily="34" charset="-122"/>
                <a:cs typeface="Calibri" pitchFamily="34" charset="-120"/>
              </a:rPr>
              <a:t>Ein Bezirk aus mehreren Demen. Jede neue Phyle besteht aus drei Trittyen – daher der Name.</a:t>
            </a:r>
            <a:endParaRPr lang="en-US" sz="2100" dirty="0"/>
          </a:p>
        </p:txBody>
      </p:sp>
      <p:sp>
        <p:nvSpPr>
          <p:cNvPr id="17" name="Shape 15"/>
          <p:cNvSpPr/>
          <p:nvPr/>
        </p:nvSpPr>
        <p:spPr>
          <a:xfrm>
            <a:off x="457200" y="3840480"/>
            <a:ext cx="8229600" cy="731520"/>
          </a:xfrm>
          <a:prstGeom prst="roundRect">
            <a:avLst>
              <a:gd name="adj" fmla="val 10000"/>
            </a:avLst>
          </a:prstGeom>
          <a:solidFill>
            <a:srgbClr val="2B2318"/>
          </a:solidFill>
          <a:ln w="12700">
            <a:solidFill>
              <a:srgbClr val="2B2318"/>
            </a:solidFill>
            <a:prstDash val="solid"/>
          </a:ln>
        </p:spPr>
      </p:sp>
      <p:sp>
        <p:nvSpPr>
          <p:cNvPr id="18" name="Text 16"/>
          <p:cNvSpPr/>
          <p:nvPr/>
        </p:nvSpPr>
        <p:spPr>
          <a:xfrm>
            <a:off x="731520" y="3840480"/>
            <a:ext cx="7772400" cy="731520"/>
          </a:xfrm>
          <a:prstGeom prst="rect">
            <a:avLst/>
          </a:prstGeom>
          <a:noFill/>
          <a:ln/>
        </p:spPr>
        <p:txBody>
          <a:bodyPr wrap="square" lIns="0" tIns="0" rIns="0" bIns="0"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Schon bekannt: </a:t>
            </a:r>
            <a:pPr indent="0" marL="0">
              <a:buNone/>
            </a:pPr>
            <a:r>
              <a:rPr lang="en-US" sz="1600" dirty="0">
                <a:solidFill>
                  <a:srgbClr val="FFFFFF"/>
                </a:solidFill>
                <a:latin typeface="Calibri" pitchFamily="34" charset="0"/>
                <a:ea typeface="Calibri" pitchFamily="34" charset="-122"/>
                <a:cs typeface="Calibri" pitchFamily="34" charset="-120"/>
              </a:rPr>
              <a:t>Phyle = Stammesverband. Bisher gab es vier alte Phylen, in denen die Adelsfamilien den Ton angaben.</a:t>
            </a:r>
            <a:endParaRPr lang="en-US" sz="1600" dirty="0"/>
          </a:p>
        </p:txBody>
      </p:sp>
      <p:sp>
        <p:nvSpPr>
          <p:cNvPr id="19" name="Text 17"/>
          <p:cNvSpPr txBox="1"/>
          <p:nvPr/>
        </p:nvSpPr>
        <p:spPr>
          <a:xfrm>
            <a:off x="457200" y="4773168"/>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Kleisthenes – Warum stimmt Lysias anders?</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Informieren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SO GEHT'S – EIN BEISPIEL</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Zwei Abschnitte verbinden</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2B231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Lehrkraft</a:t>
            </a:r>
            <a:endParaRPr lang="en-US" sz="1100" dirty="0"/>
          </a:p>
        </p:txBody>
      </p:sp>
      <p:sp>
        <p:nvSpPr>
          <p:cNvPr id="11" name="Shape 9"/>
          <p:cNvSpPr/>
          <p:nvPr/>
        </p:nvSpPr>
        <p:spPr>
          <a:xfrm>
            <a:off x="457200" y="1234440"/>
            <a:ext cx="3749040" cy="1234440"/>
          </a:xfrm>
          <a:prstGeom prst="roundRect">
            <a:avLst>
              <a:gd name="adj" fmla="val 5926"/>
            </a:avLst>
          </a:prstGeom>
          <a:solidFill>
            <a:srgbClr val="FBF8F2"/>
          </a:solidFill>
          <a:ln w="12700">
            <a:solidFill>
              <a:srgbClr val="FBF8F2"/>
            </a:solidFill>
            <a:prstDash val="solid"/>
          </a:ln>
        </p:spPr>
      </p:sp>
      <p:sp>
        <p:nvSpPr>
          <p:cNvPr id="12" name="Shape 10"/>
          <p:cNvSpPr/>
          <p:nvPr/>
        </p:nvSpPr>
        <p:spPr>
          <a:xfrm>
            <a:off x="457200" y="1234440"/>
            <a:ext cx="3749040" cy="1234440"/>
          </a:xfrm>
          <a:prstGeom prst="roundRect">
            <a:avLst>
              <a:gd name="adj" fmla="val 5926"/>
            </a:avLst>
          </a:prstGeom>
          <a:ln w="12700">
            <a:solidFill>
              <a:srgbClr val="D9CDB8"/>
            </a:solidFill>
            <a:prstDash val="dash"/>
          </a:ln>
        </p:spPr>
      </p:sp>
      <p:sp>
        <p:nvSpPr>
          <p:cNvPr id="13" name="Text 11"/>
          <p:cNvSpPr txBox="1"/>
          <p:nvPr/>
        </p:nvSpPr>
        <p:spPr>
          <a:xfrm>
            <a:off x="594360" y="1325880"/>
            <a:ext cx="3474720" cy="1097280"/>
          </a:xfrm>
          <a:prstGeom prst="rect">
            <a:avLst/>
          </a:prstGeom>
          <a:noFill/>
          <a:ln/>
        </p:spPr>
        <p:txBody>
          <a:bodyPr wrap="square" lIns="0" tIns="0" rIns="0" bIns="0" rtlCol="0" anchor="t"/>
          <a:lstStyle/>
          <a:p>
            <a:pPr indent="0" marL="0">
              <a:buNone/>
            </a:pPr>
            <a:r>
              <a:rPr lang="en-US" sz="1350" b="1" dirty="0">
                <a:solidFill>
                  <a:srgbClr val="AD4426"/>
                </a:solidFill>
                <a:latin typeface="Cambria" pitchFamily="34" charset="0"/>
                <a:ea typeface="Cambria" pitchFamily="34" charset="-122"/>
                <a:cs typeface="Cambria" pitchFamily="34" charset="-120"/>
              </a:rPr>
              <a:t>4  </a:t>
            </a:r>
            <a:pPr indent="0" marL="0">
              <a:buNone/>
            </a:pPr>
            <a:r>
              <a:rPr lang="en-US" sz="1350" dirty="0">
                <a:solidFill>
                  <a:srgbClr val="2B2318"/>
                </a:solidFill>
                <a:latin typeface="Calibri" pitchFamily="34" charset="0"/>
                <a:ea typeface="Calibri" pitchFamily="34" charset="-122"/>
                <a:cs typeface="Calibri" pitchFamily="34" charset="-120"/>
              </a:rPr>
              <a:t>Lysias und sein Nachbar: „Seit Solon darf jeder Bürger über 20 … abstimmen – auch ein armer Bauer wie er. Sein Nachbar ist ein reicher Adliger …“</a:t>
            </a:r>
            <a:endParaRPr lang="en-US" sz="1350" dirty="0"/>
          </a:p>
        </p:txBody>
      </p:sp>
      <p:sp>
        <p:nvSpPr>
          <p:cNvPr id="14" name="Shape 12"/>
          <p:cNvSpPr/>
          <p:nvPr/>
        </p:nvSpPr>
        <p:spPr>
          <a:xfrm>
            <a:off x="4937760" y="1234440"/>
            <a:ext cx="3749040" cy="1234440"/>
          </a:xfrm>
          <a:prstGeom prst="roundRect">
            <a:avLst>
              <a:gd name="adj" fmla="val 5926"/>
            </a:avLst>
          </a:prstGeom>
          <a:solidFill>
            <a:srgbClr val="FBF8F2"/>
          </a:solidFill>
          <a:ln w="12700">
            <a:solidFill>
              <a:srgbClr val="FBF8F2"/>
            </a:solidFill>
            <a:prstDash val="solid"/>
          </a:ln>
        </p:spPr>
      </p:sp>
      <p:sp>
        <p:nvSpPr>
          <p:cNvPr id="15" name="Shape 13"/>
          <p:cNvSpPr/>
          <p:nvPr/>
        </p:nvSpPr>
        <p:spPr>
          <a:xfrm>
            <a:off x="4937760" y="1234440"/>
            <a:ext cx="3749040" cy="1234440"/>
          </a:xfrm>
          <a:prstGeom prst="roundRect">
            <a:avLst>
              <a:gd name="adj" fmla="val 5926"/>
            </a:avLst>
          </a:prstGeom>
          <a:ln w="12700">
            <a:solidFill>
              <a:srgbClr val="D9CDB8"/>
            </a:solidFill>
            <a:prstDash val="dash"/>
          </a:ln>
        </p:spPr>
      </p:sp>
      <p:sp>
        <p:nvSpPr>
          <p:cNvPr id="16" name="Text 14"/>
          <p:cNvSpPr txBox="1"/>
          <p:nvPr/>
        </p:nvSpPr>
        <p:spPr>
          <a:xfrm>
            <a:off x="5074920" y="1325880"/>
            <a:ext cx="3474720" cy="1097280"/>
          </a:xfrm>
          <a:prstGeom prst="rect">
            <a:avLst/>
          </a:prstGeom>
          <a:noFill/>
          <a:ln/>
        </p:spPr>
        <p:txBody>
          <a:bodyPr wrap="square" lIns="0" tIns="0" rIns="0" bIns="0" rtlCol="0" anchor="t"/>
          <a:lstStyle/>
          <a:p>
            <a:pPr indent="0" marL="0">
              <a:buNone/>
            </a:pPr>
            <a:r>
              <a:rPr lang="en-US" sz="1350" b="1" dirty="0">
                <a:solidFill>
                  <a:srgbClr val="AD4426"/>
                </a:solidFill>
                <a:latin typeface="Cambria" pitchFamily="34" charset="0"/>
                <a:ea typeface="Cambria" pitchFamily="34" charset="-122"/>
                <a:cs typeface="Cambria" pitchFamily="34" charset="-120"/>
              </a:rPr>
              <a:t>6  </a:t>
            </a:r>
            <a:pPr indent="0" marL="0">
              <a:buNone/>
            </a:pPr>
            <a:r>
              <a:rPr lang="en-US" sz="1350" dirty="0">
                <a:solidFill>
                  <a:srgbClr val="2B2318"/>
                </a:solidFill>
                <a:latin typeface="Calibri" pitchFamily="34" charset="0"/>
                <a:ea typeface="Calibri" pitchFamily="34" charset="-122"/>
                <a:cs typeface="Calibri" pitchFamily="34" charset="-120"/>
              </a:rPr>
              <a:t>Die alte Ordnung: „… Dort gaben die großen Adelsfamilien den Ton an: Wer zu einer Familie hielt, stimmte mit ihr …“</a:t>
            </a:r>
            <a:endParaRPr lang="en-US" sz="1350" dirty="0"/>
          </a:p>
        </p:txBody>
      </p:sp>
      <p:sp>
        <p:nvSpPr>
          <p:cNvPr id="17" name="Text 15"/>
          <p:cNvSpPr txBox="1"/>
          <p:nvPr/>
        </p:nvSpPr>
        <p:spPr>
          <a:xfrm>
            <a:off x="4279392" y="1664208"/>
            <a:ext cx="585216" cy="365760"/>
          </a:xfrm>
          <a:prstGeom prst="roundRect">
            <a:avLst>
              <a:gd name="adj" fmla="val 20000"/>
            </a:avLst>
          </a:prstGeom>
          <a:solidFill>
            <a:srgbClr val="AD4426"/>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aber</a:t>
            </a:r>
            <a:endParaRPr lang="en-US" sz="1300" dirty="0"/>
          </a:p>
        </p:txBody>
      </p:sp>
      <p:sp>
        <p:nvSpPr>
          <p:cNvPr id="18" name="Shape 16"/>
          <p:cNvSpPr/>
          <p:nvPr/>
        </p:nvSpPr>
        <p:spPr>
          <a:xfrm>
            <a:off x="457200" y="2697480"/>
            <a:ext cx="8229600" cy="868680"/>
          </a:xfrm>
          <a:prstGeom prst="roundRect">
            <a:avLst>
              <a:gd name="adj" fmla="val 8421"/>
            </a:avLst>
          </a:prstGeom>
          <a:solidFill>
            <a:srgbClr val="F4ECDE"/>
          </a:solidFill>
          <a:ln w="12700">
            <a:solidFill>
              <a:srgbClr val="F4ECDE"/>
            </a:solidFill>
            <a:prstDash val="solid"/>
          </a:ln>
        </p:spPr>
      </p:sp>
      <p:sp>
        <p:nvSpPr>
          <p:cNvPr id="19" name="Text 17"/>
          <p:cNvSpPr txBox="1"/>
          <p:nvPr/>
        </p:nvSpPr>
        <p:spPr>
          <a:xfrm>
            <a:off x="685800" y="2697480"/>
            <a:ext cx="7772400" cy="868680"/>
          </a:xfrm>
          <a:prstGeom prst="rect">
            <a:avLst/>
          </a:prstGeom>
          <a:noFill/>
          <a:ln/>
        </p:spPr>
        <p:txBody>
          <a:bodyPr wrap="square" lIns="0" tIns="0" rIns="0" bIns="0" rtlCol="0" anchor="ctr"/>
          <a:lstStyle/>
          <a:p>
            <a:pPr indent="0" marL="0">
              <a:buNone/>
            </a:pPr>
            <a:r>
              <a:rPr lang="en-US" sz="1400" b="1" dirty="0">
                <a:solidFill>
                  <a:srgbClr val="AD4426"/>
                </a:solidFill>
                <a:latin typeface="Calibri" pitchFamily="34" charset="0"/>
                <a:ea typeface="Calibri" pitchFamily="34" charset="-122"/>
                <a:cs typeface="Calibri" pitchFamily="34" charset="-120"/>
              </a:rPr>
              <a:t>Laut gedacht: </a:t>
            </a:r>
            <a:pPr indent="0" marL="0">
              <a:buNone/>
            </a:pPr>
            <a:r>
              <a:rPr lang="en-US" sz="1400" i="1" dirty="0">
                <a:solidFill>
                  <a:srgbClr val="2B2318"/>
                </a:solidFill>
                <a:latin typeface="Calibri" pitchFamily="34" charset="0"/>
                <a:ea typeface="Calibri" pitchFamily="34" charset="-122"/>
                <a:cs typeface="Calibri" pitchFamily="34" charset="-120"/>
              </a:rPr>
              <a:t>„Abschnitt 4 sagt: Er hat das Recht. Abschnitt 6 sagt: Die Adelsfamilien bestimmen, wie man stimmt. Zusammen: Er hat das Stimmrecht, aber er nutzt es nicht frei. Die beiden lege ich nebeneinander und schreibe ‚aber‘ dazwischen.“</a:t>
            </a:r>
            <a:endParaRPr lang="en-US" sz="1400" dirty="0"/>
          </a:p>
        </p:txBody>
      </p:sp>
      <p:sp>
        <p:nvSpPr>
          <p:cNvPr id="20" name="Shape 18"/>
          <p:cNvSpPr/>
          <p:nvPr/>
        </p:nvSpPr>
        <p:spPr>
          <a:xfrm>
            <a:off x="457200" y="3749040"/>
            <a:ext cx="8229600" cy="777240"/>
          </a:xfrm>
          <a:prstGeom prst="roundRect">
            <a:avLst>
              <a:gd name="adj" fmla="val 9412"/>
            </a:avLst>
          </a:prstGeom>
          <a:solidFill>
            <a:srgbClr val="2B2318"/>
          </a:solidFill>
          <a:ln w="12700">
            <a:solidFill>
              <a:srgbClr val="2B2318"/>
            </a:solidFill>
            <a:prstDash val="solid"/>
          </a:ln>
        </p:spPr>
      </p:sp>
      <p:sp>
        <p:nvSpPr>
          <p:cNvPr id="21" name="Text 19"/>
          <p:cNvSpPr txBox="1"/>
          <p:nvPr/>
        </p:nvSpPr>
        <p:spPr>
          <a:xfrm>
            <a:off x="685800" y="3749040"/>
            <a:ext cx="7772400" cy="777240"/>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Achtung, typischer Fehler: </a:t>
            </a:r>
            <a:pPr indent="0" marL="0">
              <a:buNone/>
            </a:pPr>
            <a:r>
              <a:rPr lang="en-US" sz="1500" dirty="0">
                <a:solidFill>
                  <a:srgbClr val="FFFFFF"/>
                </a:solidFill>
                <a:latin typeface="Calibri" pitchFamily="34" charset="0"/>
                <a:ea typeface="Calibri" pitchFamily="34" charset="-122"/>
                <a:cs typeface="Calibri" pitchFamily="34" charset="-120"/>
              </a:rPr>
              <a:t>Kleisthenes nimmt niemandem Land weg und ändert Solons Vermögensklassen nicht. Sucht die Lösung woanders!</a:t>
            </a:r>
            <a:endParaRPr lang="en-US" sz="1500" dirty="0"/>
          </a:p>
        </p:txBody>
      </p:sp>
      <p:sp>
        <p:nvSpPr>
          <p:cNvPr id="22" name="Text 20"/>
          <p:cNvSpPr txBox="1"/>
          <p:nvPr/>
        </p:nvSpPr>
        <p:spPr>
          <a:xfrm>
            <a:off x="457200" y="4773168"/>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Kleisthenes – Warum stimmt Lysias anders?</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Verarbeiten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MYSTERY · GRUPPEN ZU DRITT · HEFT</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Warum stimmt Lysias anders?</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2B231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 Min.</a:t>
            </a:r>
            <a:endParaRPr lang="en-US" sz="1100" dirty="0"/>
          </a:p>
        </p:txBody>
      </p:sp>
      <p:sp>
        <p:nvSpPr>
          <p:cNvPr id="11" name="Text 9"/>
          <p:cNvSpPr txBox="1"/>
          <p:nvPr/>
        </p:nvSpPr>
        <p:spPr>
          <a:xfrm>
            <a:off x="457200" y="12344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txBox="1"/>
          <p:nvPr/>
        </p:nvSpPr>
        <p:spPr>
          <a:xfrm>
            <a:off x="960120" y="1197864"/>
            <a:ext cx="4617720" cy="585216"/>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Schneidet die acht Abschnitte aus und verteilt sie. Jeder liest seine laut vor.</a:t>
            </a:r>
            <a:endParaRPr lang="en-US" sz="1350" dirty="0"/>
          </a:p>
        </p:txBody>
      </p:sp>
      <p:sp>
        <p:nvSpPr>
          <p:cNvPr id="13" name="Text 11"/>
          <p:cNvSpPr txBox="1"/>
          <p:nvPr/>
        </p:nvSpPr>
        <p:spPr>
          <a:xfrm>
            <a:off x="457200" y="1856232"/>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960120" y="1819656"/>
            <a:ext cx="4617720" cy="585216"/>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Klärt: Was sagt jeder Abschnitt über Lysias und seinen Nachbarn?</a:t>
            </a:r>
            <a:endParaRPr lang="en-US" sz="1350" dirty="0"/>
          </a:p>
        </p:txBody>
      </p:sp>
      <p:sp>
        <p:nvSpPr>
          <p:cNvPr id="15" name="Text 13"/>
          <p:cNvSpPr txBox="1"/>
          <p:nvPr/>
        </p:nvSpPr>
        <p:spPr>
          <a:xfrm>
            <a:off x="457200" y="2478024"/>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960120" y="2441448"/>
            <a:ext cx="4617720" cy="585216"/>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Legt die Abschnitte zu einer Erklärungskette. Schreibt Pfeile oder „weil“, „deshalb“, „aber“ dazwischen.</a:t>
            </a:r>
            <a:endParaRPr lang="en-US" sz="1350" dirty="0"/>
          </a:p>
        </p:txBody>
      </p:sp>
      <p:sp>
        <p:nvSpPr>
          <p:cNvPr id="17" name="Text 15"/>
          <p:cNvSpPr txBox="1"/>
          <p:nvPr/>
        </p:nvSpPr>
        <p:spPr>
          <a:xfrm>
            <a:off x="457200" y="3099816"/>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960120" y="3063240"/>
            <a:ext cx="4617720" cy="585216"/>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Jeder schreibt die Antwort in 3–4 Sätzen ins Heft.</a:t>
            </a:r>
            <a:endParaRPr lang="en-US" sz="1350" dirty="0"/>
          </a:p>
        </p:txBody>
      </p:sp>
      <p:sp>
        <p:nvSpPr>
          <p:cNvPr id="19" name="Text 17"/>
          <p:cNvSpPr txBox="1"/>
          <p:nvPr/>
        </p:nvSpPr>
        <p:spPr>
          <a:xfrm>
            <a:off x="457200" y="3721608"/>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960120" y="3685032"/>
            <a:ext cx="4617720" cy="585216"/>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Ihr kommt nicht weiter? Holt euch Hilfe 1, 2 oder 3 vom Pult – der Reihe nach.</a:t>
            </a:r>
            <a:endParaRPr lang="en-US" sz="1350" dirty="0"/>
          </a:p>
        </p:txBody>
      </p:sp>
      <p:sp>
        <p:nvSpPr>
          <p:cNvPr id="21" name="Shape 19"/>
          <p:cNvSpPr/>
          <p:nvPr/>
        </p:nvSpPr>
        <p:spPr>
          <a:xfrm>
            <a:off x="5760720" y="1234440"/>
            <a:ext cx="2926080" cy="3246120"/>
          </a:xfrm>
          <a:prstGeom prst="roundRect">
            <a:avLst>
              <a:gd name="adj" fmla="val 2500"/>
            </a:avLst>
          </a:prstGeom>
          <a:solidFill>
            <a:srgbClr val="F4ECDE"/>
          </a:solidFill>
          <a:ln w="12700">
            <a:solidFill>
              <a:srgbClr val="F4ECDE"/>
            </a:solidFill>
            <a:prstDash val="solid"/>
          </a:ln>
        </p:spPr>
      </p:sp>
      <p:sp>
        <p:nvSpPr>
          <p:cNvPr id="22" name="Text 20"/>
          <p:cNvSpPr txBox="1"/>
          <p:nvPr/>
        </p:nvSpPr>
        <p:spPr>
          <a:xfrm>
            <a:off x="5943600" y="1325880"/>
            <a:ext cx="2651760" cy="228600"/>
          </a:xfrm>
          <a:prstGeom prst="rect">
            <a:avLst/>
          </a:prstGeom>
          <a:noFill/>
          <a:ln/>
        </p:spPr>
        <p:txBody>
          <a:bodyPr wrap="square" lIns="0" tIns="0" rIns="0" bIns="0" rtlCol="0" anchor="t"/>
          <a:lstStyle/>
          <a:p>
            <a:pPr indent="0" marL="0">
              <a:buNone/>
            </a:pPr>
            <a:r>
              <a:rPr lang="en-US" sz="1000" b="1" spc="200" kern="0" dirty="0">
                <a:solidFill>
                  <a:srgbClr val="AD4426"/>
                </a:solidFill>
                <a:latin typeface="Calibri" pitchFamily="34" charset="0"/>
                <a:ea typeface="Calibri" pitchFamily="34" charset="-122"/>
                <a:cs typeface="Calibri" pitchFamily="34" charset="-120"/>
              </a:rPr>
              <a:t>SATZANFÄNGE</a:t>
            </a:r>
            <a:endParaRPr lang="en-US" sz="1000" dirty="0"/>
          </a:p>
        </p:txBody>
      </p:sp>
      <p:sp>
        <p:nvSpPr>
          <p:cNvPr id="23" name="Text 21"/>
          <p:cNvSpPr txBox="1"/>
          <p:nvPr/>
        </p:nvSpPr>
        <p:spPr>
          <a:xfrm>
            <a:off x="5943600" y="1645920"/>
            <a:ext cx="2651760" cy="2743200"/>
          </a:xfrm>
          <a:prstGeom prst="rect">
            <a:avLst/>
          </a:prstGeom>
          <a:noFill/>
          <a:ln/>
        </p:spPr>
        <p:txBody>
          <a:bodyPr wrap="square" lIns="0" tIns="0" rIns="0" bIns="0" rtlCol="0" anchor="t"/>
          <a:lstStyle/>
          <a:p>
            <a:pPr indent="0" marL="0">
              <a:buNone/>
            </a:pPr>
            <a:r>
              <a:rPr lang="en-US" sz="1300" i="1" dirty="0">
                <a:solidFill>
                  <a:srgbClr val="2B2318"/>
                </a:solidFill>
                <a:latin typeface="Calibri" pitchFamily="34" charset="0"/>
                <a:ea typeface="Calibri" pitchFamily="34" charset="-122"/>
                <a:cs typeface="Calibri" pitchFamily="34" charset="-120"/>
              </a:rPr>
              <a:t>„Vorher war Lysias …, weil …“</a:t>
            </a:r>
            <a:endParaRPr lang="en-US" sz="1300" dirty="0"/>
          </a:p>
          <a:p>
            <a:pPr indent="0" marL="0">
              <a:buNone/>
            </a:pPr>
            <a:endParaRPr lang="en-US" sz="1300" dirty="0"/>
          </a:p>
          <a:p>
            <a:pPr indent="0" marL="0">
              <a:buNone/>
            </a:pPr>
            <a:r>
              <a:rPr lang="en-US" sz="1300" i="1" dirty="0">
                <a:solidFill>
                  <a:srgbClr val="2B2318"/>
                </a:solidFill>
                <a:latin typeface="Calibri" pitchFamily="34" charset="0"/>
                <a:ea typeface="Calibri" pitchFamily="34" charset="-122"/>
                <a:cs typeface="Calibri" pitchFamily="34" charset="-120"/>
              </a:rPr>
              <a:t>„Nach dem Sturz des Hippias …“</a:t>
            </a:r>
            <a:endParaRPr lang="en-US" sz="1300" dirty="0"/>
          </a:p>
          <a:p>
            <a:pPr indent="0" marL="0">
              <a:buNone/>
            </a:pPr>
            <a:endParaRPr lang="en-US" sz="1300" dirty="0"/>
          </a:p>
          <a:p>
            <a:pPr indent="0" marL="0">
              <a:buNone/>
            </a:pPr>
            <a:r>
              <a:rPr lang="en-US" sz="1300" i="1" dirty="0">
                <a:solidFill>
                  <a:srgbClr val="2B2318"/>
                </a:solidFill>
                <a:latin typeface="Calibri" pitchFamily="34" charset="0"/>
                <a:ea typeface="Calibri" pitchFamily="34" charset="-122"/>
                <a:cs typeface="Calibri" pitchFamily="34" charset="-120"/>
              </a:rPr>
              <a:t>„Kleisthenes teilte …“</a:t>
            </a:r>
            <a:endParaRPr lang="en-US" sz="1300" dirty="0"/>
          </a:p>
          <a:p>
            <a:pPr indent="0" marL="0">
              <a:buNone/>
            </a:pPr>
            <a:endParaRPr lang="en-US" sz="1300" dirty="0"/>
          </a:p>
          <a:p>
            <a:pPr indent="0" marL="0">
              <a:buNone/>
            </a:pPr>
            <a:r>
              <a:rPr lang="en-US" sz="1300" i="1" dirty="0">
                <a:solidFill>
                  <a:srgbClr val="2B2318"/>
                </a:solidFill>
                <a:latin typeface="Calibri" pitchFamily="34" charset="0"/>
                <a:ea typeface="Calibri" pitchFamily="34" charset="-122"/>
                <a:cs typeface="Calibri" pitchFamily="34" charset="-120"/>
              </a:rPr>
              <a:t>„Dadurch …, deshalb kann Lysias jetzt …“</a:t>
            </a:r>
            <a:endParaRPr lang="en-US" sz="1300" dirty="0"/>
          </a:p>
        </p:txBody>
      </p:sp>
      <p:sp>
        <p:nvSpPr>
          <p:cNvPr id="24" name="Text 22"/>
          <p:cNvSpPr txBox="1"/>
          <p:nvPr/>
        </p:nvSpPr>
        <p:spPr>
          <a:xfrm>
            <a:off x="457200" y="4773168"/>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Kleisthenes – Warum stimmt Lysias anders?</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Verarbeiten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MYSTERY · LÖSUNG</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Die Erklärungskette</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D9A441"/>
          </a:solidFill>
          <a:ln/>
        </p:spPr>
        <p:txBody>
          <a:bodyPr wrap="square" lIns="0" tIns="0" rIns="0" bIns="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11" name="Text 9"/>
          <p:cNvSpPr txBox="1"/>
          <p:nvPr/>
        </p:nvSpPr>
        <p:spPr>
          <a:xfrm>
            <a:off x="457200" y="1188720"/>
            <a:ext cx="1417320" cy="530352"/>
          </a:xfrm>
          <a:prstGeom prst="roundRect">
            <a:avLst>
              <a:gd name="adj" fmla="val 13793"/>
            </a:avLst>
          </a:prstGeom>
          <a:solidFill>
            <a:srgbClr val="5A5044"/>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Ausgangslage</a:t>
            </a:r>
            <a:endParaRPr lang="en-US" sz="1250" dirty="0"/>
          </a:p>
        </p:txBody>
      </p:sp>
      <p:sp>
        <p:nvSpPr>
          <p:cNvPr id="12" name="Text 10"/>
          <p:cNvSpPr txBox="1"/>
          <p:nvPr/>
        </p:nvSpPr>
        <p:spPr>
          <a:xfrm>
            <a:off x="2011680" y="1188720"/>
            <a:ext cx="1463040" cy="530352"/>
          </a:xfrm>
          <a:prstGeom prst="rect">
            <a:avLst/>
          </a:prstGeom>
          <a:noFill/>
          <a:ln/>
        </p:spPr>
        <p:txBody>
          <a:bodyPr wrap="square" lIns="0" tIns="0" rIns="0" bIns="0" rtlCol="0" anchor="ctr"/>
          <a:lstStyle/>
          <a:p>
            <a:pPr indent="0" marL="0">
              <a:buNone/>
            </a:pPr>
            <a:r>
              <a:rPr lang="en-US" sz="1050" dirty="0">
                <a:solidFill>
                  <a:srgbClr val="998C77"/>
                </a:solidFill>
                <a:latin typeface="Calibri" pitchFamily="34" charset="0"/>
                <a:ea typeface="Calibri" pitchFamily="34" charset="-122"/>
                <a:cs typeface="Calibri" pitchFamily="34" charset="-120"/>
              </a:rPr>
              <a:t>Abschnitt 4, 6</a:t>
            </a:r>
            <a:endParaRPr lang="en-US" sz="1050" dirty="0"/>
          </a:p>
        </p:txBody>
      </p:sp>
      <p:sp>
        <p:nvSpPr>
          <p:cNvPr id="13" name="Text 11"/>
          <p:cNvSpPr txBox="1"/>
          <p:nvPr/>
        </p:nvSpPr>
        <p:spPr>
          <a:xfrm>
            <a:off x="3383280" y="1188720"/>
            <a:ext cx="5303520" cy="530352"/>
          </a:xfrm>
          <a:prstGeom prst="rect">
            <a:avLst/>
          </a:prstGeom>
          <a:noFill/>
          <a:ln/>
        </p:spPr>
        <p:txBody>
          <a:bodyPr wrap="square" lIns="0" tIns="0" rIns="0" bIns="0" rtlCol="0" anchor="ctr"/>
          <a:lstStyle/>
          <a:p>
            <a:pPr indent="0" marL="0">
              <a:buNone/>
            </a:pPr>
            <a:r>
              <a:rPr lang="en-US" sz="1250" dirty="0">
                <a:solidFill>
                  <a:srgbClr val="2B2318"/>
                </a:solidFill>
                <a:latin typeface="Calibri" pitchFamily="34" charset="0"/>
                <a:ea typeface="Calibri" pitchFamily="34" charset="-122"/>
                <a:cs typeface="Calibri" pitchFamily="34" charset="-120"/>
              </a:rPr>
              <a:t>Lysias hat seit Solon das Stimmrecht, ist aber von seinem adligen Nachbarn abhängig und an dessen Familie gebunden – und jeder sieht, wie er stimmt.</a:t>
            </a:r>
            <a:endParaRPr lang="en-US" sz="1250" dirty="0"/>
          </a:p>
        </p:txBody>
      </p:sp>
      <p:sp>
        <p:nvSpPr>
          <p:cNvPr id="14" name="Shape 12"/>
          <p:cNvSpPr/>
          <p:nvPr/>
        </p:nvSpPr>
        <p:spPr>
          <a:xfrm>
            <a:off x="1161288" y="1719072"/>
            <a:ext cx="0" cy="109728"/>
          </a:xfrm>
          <a:prstGeom prst="line">
            <a:avLst/>
          </a:prstGeom>
          <a:noFill/>
          <a:ln w="19050">
            <a:solidFill>
              <a:srgbClr val="998C77"/>
            </a:solidFill>
            <a:prstDash val="solid"/>
            <a:tailEnd type="triangle"/>
          </a:ln>
        </p:spPr>
      </p:sp>
      <p:sp>
        <p:nvSpPr>
          <p:cNvPr id="15" name="Text 13"/>
          <p:cNvSpPr txBox="1"/>
          <p:nvPr/>
        </p:nvSpPr>
        <p:spPr>
          <a:xfrm>
            <a:off x="457200" y="1828800"/>
            <a:ext cx="1417320" cy="530352"/>
          </a:xfrm>
          <a:prstGeom prst="roundRect">
            <a:avLst>
              <a:gd name="adj" fmla="val 13793"/>
            </a:avLst>
          </a:prstGeom>
          <a:solidFill>
            <a:srgbClr val="AD442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Wende</a:t>
            </a:r>
            <a:endParaRPr lang="en-US" sz="1250" dirty="0"/>
          </a:p>
        </p:txBody>
      </p:sp>
      <p:sp>
        <p:nvSpPr>
          <p:cNvPr id="16" name="Text 14"/>
          <p:cNvSpPr txBox="1"/>
          <p:nvPr/>
        </p:nvSpPr>
        <p:spPr>
          <a:xfrm>
            <a:off x="2011680" y="1828800"/>
            <a:ext cx="1463040" cy="530352"/>
          </a:xfrm>
          <a:prstGeom prst="rect">
            <a:avLst/>
          </a:prstGeom>
          <a:noFill/>
          <a:ln/>
        </p:spPr>
        <p:txBody>
          <a:bodyPr wrap="square" lIns="0" tIns="0" rIns="0" bIns="0" rtlCol="0" anchor="ctr"/>
          <a:lstStyle/>
          <a:p>
            <a:pPr indent="0" marL="0">
              <a:buNone/>
            </a:pPr>
            <a:r>
              <a:rPr lang="en-US" sz="1050" dirty="0">
                <a:solidFill>
                  <a:srgbClr val="998C77"/>
                </a:solidFill>
                <a:latin typeface="Calibri" pitchFamily="34" charset="0"/>
                <a:ea typeface="Calibri" pitchFamily="34" charset="-122"/>
                <a:cs typeface="Calibri" pitchFamily="34" charset="-120"/>
              </a:rPr>
              <a:t>Abschnitt 2, 8</a:t>
            </a:r>
            <a:endParaRPr lang="en-US" sz="1050" dirty="0"/>
          </a:p>
        </p:txBody>
      </p:sp>
      <p:sp>
        <p:nvSpPr>
          <p:cNvPr id="17" name="Text 15"/>
          <p:cNvSpPr txBox="1"/>
          <p:nvPr/>
        </p:nvSpPr>
        <p:spPr>
          <a:xfrm>
            <a:off x="3383280" y="1828800"/>
            <a:ext cx="5303520" cy="530352"/>
          </a:xfrm>
          <a:prstGeom prst="rect">
            <a:avLst/>
          </a:prstGeom>
          <a:noFill/>
          <a:ln/>
        </p:spPr>
        <p:txBody>
          <a:bodyPr wrap="square" lIns="0" tIns="0" rIns="0" bIns="0" rtlCol="0" anchor="ctr"/>
          <a:lstStyle/>
          <a:p>
            <a:pPr indent="0" marL="0">
              <a:buNone/>
            </a:pPr>
            <a:r>
              <a:rPr lang="en-US" sz="1250" dirty="0">
                <a:solidFill>
                  <a:srgbClr val="2B2318"/>
                </a:solidFill>
                <a:latin typeface="Calibri" pitchFamily="34" charset="0"/>
                <a:ea typeface="Calibri" pitchFamily="34" charset="-122"/>
                <a:cs typeface="Calibri" pitchFamily="34" charset="-120"/>
              </a:rPr>
              <a:t>Nach dem Sturz der Tyrannis braucht Kleisthenes das Volk; das Volk setzt sich gegen Isagoras und Sparta durch.</a:t>
            </a:r>
            <a:endParaRPr lang="en-US" sz="1250" dirty="0"/>
          </a:p>
        </p:txBody>
      </p:sp>
      <p:sp>
        <p:nvSpPr>
          <p:cNvPr id="18" name="Shape 16"/>
          <p:cNvSpPr/>
          <p:nvPr/>
        </p:nvSpPr>
        <p:spPr>
          <a:xfrm>
            <a:off x="1161288" y="2359152"/>
            <a:ext cx="0" cy="109728"/>
          </a:xfrm>
          <a:prstGeom prst="line">
            <a:avLst/>
          </a:prstGeom>
          <a:noFill/>
          <a:ln w="19050">
            <a:solidFill>
              <a:srgbClr val="998C77"/>
            </a:solidFill>
            <a:prstDash val="solid"/>
            <a:tailEnd type="triangle"/>
          </a:ln>
        </p:spPr>
      </p:sp>
      <p:sp>
        <p:nvSpPr>
          <p:cNvPr id="19" name="Text 17"/>
          <p:cNvSpPr txBox="1"/>
          <p:nvPr/>
        </p:nvSpPr>
        <p:spPr>
          <a:xfrm>
            <a:off x="457200" y="2468880"/>
            <a:ext cx="1417320" cy="530352"/>
          </a:xfrm>
          <a:prstGeom prst="roundRect">
            <a:avLst>
              <a:gd name="adj" fmla="val 13793"/>
            </a:avLst>
          </a:prstGeom>
          <a:solidFill>
            <a:srgbClr val="3E5C7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Reform</a:t>
            </a:r>
            <a:endParaRPr lang="en-US" sz="1250" dirty="0"/>
          </a:p>
        </p:txBody>
      </p:sp>
      <p:sp>
        <p:nvSpPr>
          <p:cNvPr id="20" name="Text 18"/>
          <p:cNvSpPr txBox="1"/>
          <p:nvPr/>
        </p:nvSpPr>
        <p:spPr>
          <a:xfrm>
            <a:off x="2011680" y="2468880"/>
            <a:ext cx="1463040" cy="530352"/>
          </a:xfrm>
          <a:prstGeom prst="rect">
            <a:avLst/>
          </a:prstGeom>
          <a:noFill/>
          <a:ln/>
        </p:spPr>
        <p:txBody>
          <a:bodyPr wrap="square" lIns="0" tIns="0" rIns="0" bIns="0" rtlCol="0" anchor="ctr"/>
          <a:lstStyle/>
          <a:p>
            <a:pPr indent="0" marL="0">
              <a:buNone/>
            </a:pPr>
            <a:r>
              <a:rPr lang="en-US" sz="1050" dirty="0">
                <a:solidFill>
                  <a:srgbClr val="998C77"/>
                </a:solidFill>
                <a:latin typeface="Calibri" pitchFamily="34" charset="0"/>
                <a:ea typeface="Calibri" pitchFamily="34" charset="-122"/>
                <a:cs typeface="Calibri" pitchFamily="34" charset="-120"/>
              </a:rPr>
              <a:t>Abschnitt 1, 5</a:t>
            </a:r>
            <a:endParaRPr lang="en-US" sz="1050" dirty="0"/>
          </a:p>
        </p:txBody>
      </p:sp>
      <p:sp>
        <p:nvSpPr>
          <p:cNvPr id="21" name="Text 19"/>
          <p:cNvSpPr txBox="1"/>
          <p:nvPr/>
        </p:nvSpPr>
        <p:spPr>
          <a:xfrm>
            <a:off x="3383280" y="2468880"/>
            <a:ext cx="5303520" cy="530352"/>
          </a:xfrm>
          <a:prstGeom prst="rect">
            <a:avLst/>
          </a:prstGeom>
          <a:noFill/>
          <a:ln/>
        </p:spPr>
        <p:txBody>
          <a:bodyPr wrap="square" lIns="0" tIns="0" rIns="0" bIns="0" rtlCol="0" anchor="ctr"/>
          <a:lstStyle/>
          <a:p>
            <a:pPr indent="0" marL="0">
              <a:buNone/>
            </a:pPr>
            <a:r>
              <a:rPr lang="en-US" sz="1250" dirty="0">
                <a:solidFill>
                  <a:srgbClr val="2B2318"/>
                </a:solidFill>
                <a:latin typeface="Calibri" pitchFamily="34" charset="0"/>
                <a:ea typeface="Calibri" pitchFamily="34" charset="-122"/>
                <a:cs typeface="Calibri" pitchFamily="34" charset="-120"/>
              </a:rPr>
              <a:t>Attika wird neu gegliedert: 3 Gebiete × 10 Trittyen, daraus 10 Phylen, die Stadt, Küste und Binnenland mischen. Bürger ist man über seinen Demos, nicht über seine Familie.</a:t>
            </a:r>
            <a:endParaRPr lang="en-US" sz="1250" dirty="0"/>
          </a:p>
        </p:txBody>
      </p:sp>
      <p:sp>
        <p:nvSpPr>
          <p:cNvPr id="22" name="Shape 20"/>
          <p:cNvSpPr/>
          <p:nvPr/>
        </p:nvSpPr>
        <p:spPr>
          <a:xfrm>
            <a:off x="1161288" y="2999232"/>
            <a:ext cx="0" cy="109728"/>
          </a:xfrm>
          <a:prstGeom prst="line">
            <a:avLst/>
          </a:prstGeom>
          <a:noFill/>
          <a:ln w="19050">
            <a:solidFill>
              <a:srgbClr val="998C77"/>
            </a:solidFill>
            <a:prstDash val="solid"/>
            <a:tailEnd type="triangle"/>
          </a:ln>
        </p:spPr>
      </p:sp>
      <p:sp>
        <p:nvSpPr>
          <p:cNvPr id="23" name="Text 21"/>
          <p:cNvSpPr txBox="1"/>
          <p:nvPr/>
        </p:nvSpPr>
        <p:spPr>
          <a:xfrm>
            <a:off x="457200" y="3108960"/>
            <a:ext cx="1417320" cy="530352"/>
          </a:xfrm>
          <a:prstGeom prst="roundRect">
            <a:avLst>
              <a:gd name="adj" fmla="val 13793"/>
            </a:avLst>
          </a:prstGeom>
          <a:solidFill>
            <a:srgbClr val="3C783C"/>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Folge</a:t>
            </a:r>
            <a:endParaRPr lang="en-US" sz="1250" dirty="0"/>
          </a:p>
        </p:txBody>
      </p:sp>
      <p:sp>
        <p:nvSpPr>
          <p:cNvPr id="24" name="Text 22"/>
          <p:cNvSpPr txBox="1"/>
          <p:nvPr/>
        </p:nvSpPr>
        <p:spPr>
          <a:xfrm>
            <a:off x="2011680" y="3108960"/>
            <a:ext cx="1463040" cy="530352"/>
          </a:xfrm>
          <a:prstGeom prst="rect">
            <a:avLst/>
          </a:prstGeom>
          <a:noFill/>
          <a:ln/>
        </p:spPr>
        <p:txBody>
          <a:bodyPr wrap="square" lIns="0" tIns="0" rIns="0" bIns="0" rtlCol="0" anchor="ctr"/>
          <a:lstStyle/>
          <a:p>
            <a:pPr indent="0" marL="0">
              <a:buNone/>
            </a:pPr>
            <a:r>
              <a:rPr lang="en-US" sz="1050" dirty="0">
                <a:solidFill>
                  <a:srgbClr val="998C77"/>
                </a:solidFill>
                <a:latin typeface="Calibri" pitchFamily="34" charset="0"/>
                <a:ea typeface="Calibri" pitchFamily="34" charset="-122"/>
                <a:cs typeface="Calibri" pitchFamily="34" charset="-120"/>
              </a:rPr>
              <a:t>Abschnitt 1, 7</a:t>
            </a:r>
            <a:endParaRPr lang="en-US" sz="1050" dirty="0"/>
          </a:p>
        </p:txBody>
      </p:sp>
      <p:sp>
        <p:nvSpPr>
          <p:cNvPr id="25" name="Text 23"/>
          <p:cNvSpPr txBox="1"/>
          <p:nvPr/>
        </p:nvSpPr>
        <p:spPr>
          <a:xfrm>
            <a:off x="3383280" y="3108960"/>
            <a:ext cx="5303520" cy="530352"/>
          </a:xfrm>
          <a:prstGeom prst="rect">
            <a:avLst/>
          </a:prstGeom>
          <a:noFill/>
          <a:ln/>
        </p:spPr>
        <p:txBody>
          <a:bodyPr wrap="square" lIns="0" tIns="0" rIns="0" bIns="0" rtlCol="0" anchor="ctr"/>
          <a:lstStyle/>
          <a:p>
            <a:pPr indent="0" marL="0">
              <a:buNone/>
            </a:pPr>
            <a:r>
              <a:rPr lang="en-US" sz="1250" dirty="0">
                <a:solidFill>
                  <a:srgbClr val="2B2318"/>
                </a:solidFill>
                <a:latin typeface="Calibri" pitchFamily="34" charset="0"/>
                <a:ea typeface="Calibri" pitchFamily="34" charset="-122"/>
                <a:cs typeface="Calibri" pitchFamily="34" charset="-120"/>
              </a:rPr>
              <a:t>Die Gefolgschaft des Adligen wird auf mehrere Phylen verteilt. Lysias sitzt, berät und kämpft mit Fremden zusammen.</a:t>
            </a:r>
            <a:endParaRPr lang="en-US" sz="1250" dirty="0"/>
          </a:p>
        </p:txBody>
      </p:sp>
      <p:sp>
        <p:nvSpPr>
          <p:cNvPr id="26" name="Shape 24"/>
          <p:cNvSpPr/>
          <p:nvPr/>
        </p:nvSpPr>
        <p:spPr>
          <a:xfrm>
            <a:off x="1161288" y="3639312"/>
            <a:ext cx="0" cy="109728"/>
          </a:xfrm>
          <a:prstGeom prst="line">
            <a:avLst/>
          </a:prstGeom>
          <a:noFill/>
          <a:ln w="19050">
            <a:solidFill>
              <a:srgbClr val="998C77"/>
            </a:solidFill>
            <a:prstDash val="solid"/>
            <a:tailEnd type="triangle"/>
          </a:ln>
        </p:spPr>
      </p:sp>
      <p:sp>
        <p:nvSpPr>
          <p:cNvPr id="27" name="Text 25"/>
          <p:cNvSpPr txBox="1"/>
          <p:nvPr/>
        </p:nvSpPr>
        <p:spPr>
          <a:xfrm>
            <a:off x="457200" y="3749040"/>
            <a:ext cx="1417320" cy="530352"/>
          </a:xfrm>
          <a:prstGeom prst="roundRect">
            <a:avLst>
              <a:gd name="adj" fmla="val 13793"/>
            </a:avLst>
          </a:prstGeom>
          <a:solidFill>
            <a:srgbClr val="2B2318"/>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Ergebnis</a:t>
            </a:r>
            <a:endParaRPr lang="en-US" sz="1250" dirty="0"/>
          </a:p>
        </p:txBody>
      </p:sp>
      <p:sp>
        <p:nvSpPr>
          <p:cNvPr id="28" name="Text 26"/>
          <p:cNvSpPr txBox="1"/>
          <p:nvPr/>
        </p:nvSpPr>
        <p:spPr>
          <a:xfrm>
            <a:off x="2011680" y="3749040"/>
            <a:ext cx="1463040" cy="530352"/>
          </a:xfrm>
          <a:prstGeom prst="rect">
            <a:avLst/>
          </a:prstGeom>
          <a:noFill/>
          <a:ln/>
        </p:spPr>
        <p:txBody>
          <a:bodyPr wrap="square" lIns="0" tIns="0" rIns="0" bIns="0" rtlCol="0" anchor="ctr"/>
          <a:lstStyle/>
          <a:p>
            <a:pPr indent="0" marL="0">
              <a:buNone/>
            </a:pPr>
            <a:endParaRPr lang="en-US" sz="1050" dirty="0"/>
          </a:p>
        </p:txBody>
      </p:sp>
      <p:sp>
        <p:nvSpPr>
          <p:cNvPr id="29" name="Text 27"/>
          <p:cNvSpPr txBox="1"/>
          <p:nvPr/>
        </p:nvSpPr>
        <p:spPr>
          <a:xfrm>
            <a:off x="3383280" y="3749040"/>
            <a:ext cx="5303520" cy="530352"/>
          </a:xfrm>
          <a:prstGeom prst="rect">
            <a:avLst/>
          </a:prstGeom>
          <a:noFill/>
          <a:ln/>
        </p:spPr>
        <p:txBody>
          <a:bodyPr wrap="square" lIns="0" tIns="0" rIns="0" bIns="0" rtlCol="0" anchor="ctr"/>
          <a:lstStyle/>
          <a:p>
            <a:pPr indent="0" marL="0">
              <a:buNone/>
            </a:pPr>
            <a:r>
              <a:rPr lang="en-US" sz="1250" b="1" dirty="0">
                <a:solidFill>
                  <a:srgbClr val="2B2318"/>
                </a:solidFill>
                <a:latin typeface="Calibri" pitchFamily="34" charset="0"/>
                <a:ea typeface="Calibri" pitchFamily="34" charset="-122"/>
                <a:cs typeface="Calibri" pitchFamily="34" charset="-120"/>
              </a:rPr>
              <a:t>Lysias ist nicht mehr an seinen Adelsherrn gebunden – er kann sein Stimmrecht frei nutzen.</a:t>
            </a:r>
            <a:endParaRPr lang="en-US" sz="1250" dirty="0"/>
          </a:p>
        </p:txBody>
      </p:sp>
      <p:sp>
        <p:nvSpPr>
          <p:cNvPr id="30" name="Text 28"/>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dirty="0">
                <a:solidFill>
                  <a:srgbClr val="5A5044"/>
                </a:solidFill>
                <a:latin typeface="Calibri" pitchFamily="34" charset="0"/>
                <a:ea typeface="Calibri" pitchFamily="34" charset="-122"/>
                <a:cs typeface="Calibri" pitchFamily="34" charset="-120"/>
              </a:rPr>
              <a:t>* Abschnitt 3: Gegen einen neuen Tyrannen hat das Volk jetzt den Ostrakismos (Scherbengericht).</a:t>
            </a:r>
            <a:endParaRPr lang="en-US" sz="1100" dirty="0"/>
          </a:p>
        </p:txBody>
      </p:sp>
      <p:sp>
        <p:nvSpPr>
          <p:cNvPr id="31" name="Text 29"/>
          <p:cNvSpPr txBox="1"/>
          <p:nvPr/>
        </p:nvSpPr>
        <p:spPr>
          <a:xfrm>
            <a:off x="457200" y="4773168"/>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Kleisthenes – Warum stimmt Lysias anders?</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Verarbeiten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DIE NEUE ORDNUNG ATTIKAS</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Mischen statt enteignen</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D9A441"/>
          </a:solidFill>
          <a:ln/>
        </p:spPr>
        <p:txBody>
          <a:bodyPr wrap="square" lIns="0" tIns="0" rIns="0" bIns="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Ergebnis</a:t>
            </a:r>
            <a:endParaRPr lang="en-US" sz="1100" dirty="0"/>
          </a:p>
        </p:txBody>
      </p:sp>
      <p:sp>
        <p:nvSpPr>
          <p:cNvPr id="11" name="Text 9"/>
          <p:cNvSpPr txBox="1"/>
          <p:nvPr/>
        </p:nvSpPr>
        <p:spPr>
          <a:xfrm>
            <a:off x="457200" y="1325880"/>
            <a:ext cx="1188720" cy="274320"/>
          </a:xfrm>
          <a:prstGeom prst="rect">
            <a:avLst/>
          </a:prstGeom>
          <a:noFill/>
          <a:ln/>
        </p:spPr>
        <p:txBody>
          <a:bodyPr wrap="square" lIns="0" tIns="0" rIns="0" bIns="0" rtlCol="0" anchor="t"/>
          <a:lstStyle/>
          <a:p>
            <a:pPr indent="0" marL="0">
              <a:buNone/>
            </a:pPr>
            <a:r>
              <a:rPr lang="en-US" sz="1300" b="1" dirty="0">
                <a:solidFill>
                  <a:srgbClr val="C9962A"/>
                </a:solidFill>
                <a:latin typeface="Calibri" pitchFamily="34" charset="0"/>
                <a:ea typeface="Calibri" pitchFamily="34" charset="-122"/>
                <a:cs typeface="Calibri" pitchFamily="34" charset="-120"/>
              </a:rPr>
              <a:t>Stadt</a:t>
            </a:r>
            <a:endParaRPr lang="en-US" sz="1300" dirty="0"/>
          </a:p>
        </p:txBody>
      </p:sp>
      <p:sp>
        <p:nvSpPr>
          <p:cNvPr id="12" name="Shape 10"/>
          <p:cNvSpPr/>
          <p:nvPr/>
        </p:nvSpPr>
        <p:spPr>
          <a:xfrm>
            <a:off x="457200" y="1627632"/>
            <a:ext cx="219456" cy="384048"/>
          </a:xfrm>
          <a:prstGeom prst="rect">
            <a:avLst/>
          </a:prstGeom>
          <a:solidFill>
            <a:srgbClr val="C9962A"/>
          </a:solidFill>
          <a:ln w="12700">
            <a:solidFill>
              <a:srgbClr val="FFFFFF"/>
            </a:solidFill>
            <a:prstDash val="solid"/>
          </a:ln>
        </p:spPr>
      </p:sp>
      <p:sp>
        <p:nvSpPr>
          <p:cNvPr id="13" name="Shape 11"/>
          <p:cNvSpPr/>
          <p:nvPr/>
        </p:nvSpPr>
        <p:spPr>
          <a:xfrm>
            <a:off x="722376" y="1627632"/>
            <a:ext cx="219456" cy="384048"/>
          </a:xfrm>
          <a:prstGeom prst="rect">
            <a:avLst/>
          </a:prstGeom>
          <a:solidFill>
            <a:srgbClr val="C9962A"/>
          </a:solidFill>
          <a:ln w="12700">
            <a:solidFill>
              <a:srgbClr val="FFFFFF"/>
            </a:solidFill>
            <a:prstDash val="solid"/>
          </a:ln>
        </p:spPr>
      </p:sp>
      <p:sp>
        <p:nvSpPr>
          <p:cNvPr id="14" name="Shape 12"/>
          <p:cNvSpPr/>
          <p:nvPr/>
        </p:nvSpPr>
        <p:spPr>
          <a:xfrm>
            <a:off x="987552" y="1627632"/>
            <a:ext cx="219456" cy="384048"/>
          </a:xfrm>
          <a:prstGeom prst="rect">
            <a:avLst/>
          </a:prstGeom>
          <a:solidFill>
            <a:srgbClr val="C9962A"/>
          </a:solidFill>
          <a:ln w="12700">
            <a:solidFill>
              <a:srgbClr val="FFFFFF"/>
            </a:solidFill>
            <a:prstDash val="solid"/>
          </a:ln>
        </p:spPr>
      </p:sp>
      <p:sp>
        <p:nvSpPr>
          <p:cNvPr id="15" name="Shape 13"/>
          <p:cNvSpPr/>
          <p:nvPr/>
        </p:nvSpPr>
        <p:spPr>
          <a:xfrm>
            <a:off x="1252728" y="1627632"/>
            <a:ext cx="219456" cy="384048"/>
          </a:xfrm>
          <a:prstGeom prst="rect">
            <a:avLst/>
          </a:prstGeom>
          <a:solidFill>
            <a:srgbClr val="C9962A"/>
          </a:solidFill>
          <a:ln w="12700">
            <a:solidFill>
              <a:srgbClr val="FFFFFF"/>
            </a:solidFill>
            <a:prstDash val="solid"/>
          </a:ln>
        </p:spPr>
      </p:sp>
      <p:sp>
        <p:nvSpPr>
          <p:cNvPr id="16" name="Shape 14"/>
          <p:cNvSpPr/>
          <p:nvPr/>
        </p:nvSpPr>
        <p:spPr>
          <a:xfrm>
            <a:off x="1517904" y="1627632"/>
            <a:ext cx="219456" cy="384048"/>
          </a:xfrm>
          <a:prstGeom prst="rect">
            <a:avLst/>
          </a:prstGeom>
          <a:solidFill>
            <a:srgbClr val="C9962A"/>
          </a:solidFill>
          <a:ln w="12700">
            <a:solidFill>
              <a:srgbClr val="FFFFFF"/>
            </a:solidFill>
            <a:prstDash val="solid"/>
          </a:ln>
        </p:spPr>
      </p:sp>
      <p:sp>
        <p:nvSpPr>
          <p:cNvPr id="17" name="Shape 15"/>
          <p:cNvSpPr/>
          <p:nvPr/>
        </p:nvSpPr>
        <p:spPr>
          <a:xfrm>
            <a:off x="1783080" y="1627632"/>
            <a:ext cx="219456" cy="384048"/>
          </a:xfrm>
          <a:prstGeom prst="rect">
            <a:avLst/>
          </a:prstGeom>
          <a:solidFill>
            <a:srgbClr val="C9962A"/>
          </a:solidFill>
          <a:ln w="12700">
            <a:solidFill>
              <a:srgbClr val="FFFFFF"/>
            </a:solidFill>
            <a:prstDash val="solid"/>
          </a:ln>
        </p:spPr>
      </p:sp>
      <p:sp>
        <p:nvSpPr>
          <p:cNvPr id="18" name="Shape 16"/>
          <p:cNvSpPr/>
          <p:nvPr/>
        </p:nvSpPr>
        <p:spPr>
          <a:xfrm>
            <a:off x="2048256" y="1627632"/>
            <a:ext cx="219456" cy="384048"/>
          </a:xfrm>
          <a:prstGeom prst="rect">
            <a:avLst/>
          </a:prstGeom>
          <a:solidFill>
            <a:srgbClr val="C9962A"/>
          </a:solidFill>
          <a:ln w="12700">
            <a:solidFill>
              <a:srgbClr val="FFFFFF"/>
            </a:solidFill>
            <a:prstDash val="solid"/>
          </a:ln>
        </p:spPr>
      </p:sp>
      <p:sp>
        <p:nvSpPr>
          <p:cNvPr id="19" name="Shape 17"/>
          <p:cNvSpPr/>
          <p:nvPr/>
        </p:nvSpPr>
        <p:spPr>
          <a:xfrm>
            <a:off x="2313432" y="1627632"/>
            <a:ext cx="219456" cy="384048"/>
          </a:xfrm>
          <a:prstGeom prst="rect">
            <a:avLst/>
          </a:prstGeom>
          <a:solidFill>
            <a:srgbClr val="C9962A"/>
          </a:solidFill>
          <a:ln w="12700">
            <a:solidFill>
              <a:srgbClr val="FFFFFF"/>
            </a:solidFill>
            <a:prstDash val="solid"/>
          </a:ln>
        </p:spPr>
      </p:sp>
      <p:sp>
        <p:nvSpPr>
          <p:cNvPr id="20" name="Shape 18"/>
          <p:cNvSpPr/>
          <p:nvPr/>
        </p:nvSpPr>
        <p:spPr>
          <a:xfrm>
            <a:off x="2578608" y="1627632"/>
            <a:ext cx="219456" cy="384048"/>
          </a:xfrm>
          <a:prstGeom prst="rect">
            <a:avLst/>
          </a:prstGeom>
          <a:solidFill>
            <a:srgbClr val="C9962A"/>
          </a:solidFill>
          <a:ln w="12700">
            <a:solidFill>
              <a:srgbClr val="FFFFFF"/>
            </a:solidFill>
            <a:prstDash val="solid"/>
          </a:ln>
        </p:spPr>
      </p:sp>
      <p:sp>
        <p:nvSpPr>
          <p:cNvPr id="21" name="Shape 19"/>
          <p:cNvSpPr/>
          <p:nvPr/>
        </p:nvSpPr>
        <p:spPr>
          <a:xfrm>
            <a:off x="2843784" y="1627632"/>
            <a:ext cx="219456" cy="384048"/>
          </a:xfrm>
          <a:prstGeom prst="rect">
            <a:avLst/>
          </a:prstGeom>
          <a:solidFill>
            <a:srgbClr val="C9962A"/>
          </a:solidFill>
          <a:ln w="12700">
            <a:solidFill>
              <a:srgbClr val="FFFFFF"/>
            </a:solidFill>
            <a:prstDash val="solid"/>
          </a:ln>
        </p:spPr>
      </p:sp>
      <p:sp>
        <p:nvSpPr>
          <p:cNvPr id="22" name="Text 20"/>
          <p:cNvSpPr txBox="1"/>
          <p:nvPr/>
        </p:nvSpPr>
        <p:spPr>
          <a:xfrm>
            <a:off x="457200" y="2286000"/>
            <a:ext cx="1188720" cy="274320"/>
          </a:xfrm>
          <a:prstGeom prst="rect">
            <a:avLst/>
          </a:prstGeom>
          <a:noFill/>
          <a:ln/>
        </p:spPr>
        <p:txBody>
          <a:bodyPr wrap="square" lIns="0" tIns="0" rIns="0" bIns="0" rtlCol="0" anchor="t"/>
          <a:lstStyle/>
          <a:p>
            <a:pPr indent="0" marL="0">
              <a:buNone/>
            </a:pPr>
            <a:r>
              <a:rPr lang="en-US" sz="1300" b="1" dirty="0">
                <a:solidFill>
                  <a:srgbClr val="3E5C76"/>
                </a:solidFill>
                <a:latin typeface="Calibri" pitchFamily="34" charset="0"/>
                <a:ea typeface="Calibri" pitchFamily="34" charset="-122"/>
                <a:cs typeface="Calibri" pitchFamily="34" charset="-120"/>
              </a:rPr>
              <a:t>Küste</a:t>
            </a:r>
            <a:endParaRPr lang="en-US" sz="1300" dirty="0"/>
          </a:p>
        </p:txBody>
      </p:sp>
      <p:sp>
        <p:nvSpPr>
          <p:cNvPr id="23" name="Shape 21"/>
          <p:cNvSpPr/>
          <p:nvPr/>
        </p:nvSpPr>
        <p:spPr>
          <a:xfrm>
            <a:off x="457200" y="2587752"/>
            <a:ext cx="219456" cy="384048"/>
          </a:xfrm>
          <a:prstGeom prst="rect">
            <a:avLst/>
          </a:prstGeom>
          <a:solidFill>
            <a:srgbClr val="3E5C76"/>
          </a:solidFill>
          <a:ln w="12700">
            <a:solidFill>
              <a:srgbClr val="FFFFFF"/>
            </a:solidFill>
            <a:prstDash val="solid"/>
          </a:ln>
        </p:spPr>
      </p:sp>
      <p:sp>
        <p:nvSpPr>
          <p:cNvPr id="24" name="Shape 22"/>
          <p:cNvSpPr/>
          <p:nvPr/>
        </p:nvSpPr>
        <p:spPr>
          <a:xfrm>
            <a:off x="722376" y="2587752"/>
            <a:ext cx="219456" cy="384048"/>
          </a:xfrm>
          <a:prstGeom prst="rect">
            <a:avLst/>
          </a:prstGeom>
          <a:solidFill>
            <a:srgbClr val="3E5C76"/>
          </a:solidFill>
          <a:ln w="12700">
            <a:solidFill>
              <a:srgbClr val="FFFFFF"/>
            </a:solidFill>
            <a:prstDash val="solid"/>
          </a:ln>
        </p:spPr>
      </p:sp>
      <p:sp>
        <p:nvSpPr>
          <p:cNvPr id="25" name="Shape 23"/>
          <p:cNvSpPr/>
          <p:nvPr/>
        </p:nvSpPr>
        <p:spPr>
          <a:xfrm>
            <a:off x="987552" y="2587752"/>
            <a:ext cx="219456" cy="384048"/>
          </a:xfrm>
          <a:prstGeom prst="rect">
            <a:avLst/>
          </a:prstGeom>
          <a:solidFill>
            <a:srgbClr val="3E5C76"/>
          </a:solidFill>
          <a:ln w="12700">
            <a:solidFill>
              <a:srgbClr val="FFFFFF"/>
            </a:solidFill>
            <a:prstDash val="solid"/>
          </a:ln>
        </p:spPr>
      </p:sp>
      <p:sp>
        <p:nvSpPr>
          <p:cNvPr id="26" name="Shape 24"/>
          <p:cNvSpPr/>
          <p:nvPr/>
        </p:nvSpPr>
        <p:spPr>
          <a:xfrm>
            <a:off x="1252728" y="2587752"/>
            <a:ext cx="219456" cy="384048"/>
          </a:xfrm>
          <a:prstGeom prst="rect">
            <a:avLst/>
          </a:prstGeom>
          <a:solidFill>
            <a:srgbClr val="3E5C76"/>
          </a:solidFill>
          <a:ln w="12700">
            <a:solidFill>
              <a:srgbClr val="FFFFFF"/>
            </a:solidFill>
            <a:prstDash val="solid"/>
          </a:ln>
        </p:spPr>
      </p:sp>
      <p:sp>
        <p:nvSpPr>
          <p:cNvPr id="27" name="Shape 25"/>
          <p:cNvSpPr/>
          <p:nvPr/>
        </p:nvSpPr>
        <p:spPr>
          <a:xfrm>
            <a:off x="1517904" y="2587752"/>
            <a:ext cx="219456" cy="384048"/>
          </a:xfrm>
          <a:prstGeom prst="rect">
            <a:avLst/>
          </a:prstGeom>
          <a:solidFill>
            <a:srgbClr val="3E5C76"/>
          </a:solidFill>
          <a:ln w="12700">
            <a:solidFill>
              <a:srgbClr val="FFFFFF"/>
            </a:solidFill>
            <a:prstDash val="solid"/>
          </a:ln>
        </p:spPr>
      </p:sp>
      <p:sp>
        <p:nvSpPr>
          <p:cNvPr id="28" name="Shape 26"/>
          <p:cNvSpPr/>
          <p:nvPr/>
        </p:nvSpPr>
        <p:spPr>
          <a:xfrm>
            <a:off x="1783080" y="2587752"/>
            <a:ext cx="219456" cy="384048"/>
          </a:xfrm>
          <a:prstGeom prst="rect">
            <a:avLst/>
          </a:prstGeom>
          <a:solidFill>
            <a:srgbClr val="3E5C76"/>
          </a:solidFill>
          <a:ln w="12700">
            <a:solidFill>
              <a:srgbClr val="FFFFFF"/>
            </a:solidFill>
            <a:prstDash val="solid"/>
          </a:ln>
        </p:spPr>
      </p:sp>
      <p:sp>
        <p:nvSpPr>
          <p:cNvPr id="29" name="Shape 27"/>
          <p:cNvSpPr/>
          <p:nvPr/>
        </p:nvSpPr>
        <p:spPr>
          <a:xfrm>
            <a:off x="2048256" y="2587752"/>
            <a:ext cx="219456" cy="384048"/>
          </a:xfrm>
          <a:prstGeom prst="rect">
            <a:avLst/>
          </a:prstGeom>
          <a:solidFill>
            <a:srgbClr val="3E5C76"/>
          </a:solidFill>
          <a:ln w="12700">
            <a:solidFill>
              <a:srgbClr val="FFFFFF"/>
            </a:solidFill>
            <a:prstDash val="solid"/>
          </a:ln>
        </p:spPr>
      </p:sp>
      <p:sp>
        <p:nvSpPr>
          <p:cNvPr id="30" name="Shape 28"/>
          <p:cNvSpPr/>
          <p:nvPr/>
        </p:nvSpPr>
        <p:spPr>
          <a:xfrm>
            <a:off x="2313432" y="2587752"/>
            <a:ext cx="219456" cy="384048"/>
          </a:xfrm>
          <a:prstGeom prst="rect">
            <a:avLst/>
          </a:prstGeom>
          <a:solidFill>
            <a:srgbClr val="3E5C76"/>
          </a:solidFill>
          <a:ln w="12700">
            <a:solidFill>
              <a:srgbClr val="FFFFFF"/>
            </a:solidFill>
            <a:prstDash val="solid"/>
          </a:ln>
        </p:spPr>
      </p:sp>
      <p:sp>
        <p:nvSpPr>
          <p:cNvPr id="31" name="Shape 29"/>
          <p:cNvSpPr/>
          <p:nvPr/>
        </p:nvSpPr>
        <p:spPr>
          <a:xfrm>
            <a:off x="2578608" y="2587752"/>
            <a:ext cx="219456" cy="384048"/>
          </a:xfrm>
          <a:prstGeom prst="rect">
            <a:avLst/>
          </a:prstGeom>
          <a:solidFill>
            <a:srgbClr val="3E5C76"/>
          </a:solidFill>
          <a:ln w="12700">
            <a:solidFill>
              <a:srgbClr val="FFFFFF"/>
            </a:solidFill>
            <a:prstDash val="solid"/>
          </a:ln>
        </p:spPr>
      </p:sp>
      <p:sp>
        <p:nvSpPr>
          <p:cNvPr id="32" name="Shape 30"/>
          <p:cNvSpPr/>
          <p:nvPr/>
        </p:nvSpPr>
        <p:spPr>
          <a:xfrm>
            <a:off x="2843784" y="2587752"/>
            <a:ext cx="219456" cy="384048"/>
          </a:xfrm>
          <a:prstGeom prst="rect">
            <a:avLst/>
          </a:prstGeom>
          <a:solidFill>
            <a:srgbClr val="3E5C76"/>
          </a:solidFill>
          <a:ln w="12700">
            <a:solidFill>
              <a:srgbClr val="FFFFFF"/>
            </a:solidFill>
            <a:prstDash val="solid"/>
          </a:ln>
        </p:spPr>
      </p:sp>
      <p:sp>
        <p:nvSpPr>
          <p:cNvPr id="33" name="Text 31"/>
          <p:cNvSpPr txBox="1"/>
          <p:nvPr/>
        </p:nvSpPr>
        <p:spPr>
          <a:xfrm>
            <a:off x="457200" y="3246120"/>
            <a:ext cx="1188720" cy="274320"/>
          </a:xfrm>
          <a:prstGeom prst="rect">
            <a:avLst/>
          </a:prstGeom>
          <a:noFill/>
          <a:ln/>
        </p:spPr>
        <p:txBody>
          <a:bodyPr wrap="square" lIns="0" tIns="0" rIns="0" bIns="0" rtlCol="0" anchor="t"/>
          <a:lstStyle/>
          <a:p>
            <a:pPr indent="0" marL="0">
              <a:buNone/>
            </a:pPr>
            <a:r>
              <a:rPr lang="en-US" sz="1300" b="1" dirty="0">
                <a:solidFill>
                  <a:srgbClr val="3C783C"/>
                </a:solidFill>
                <a:latin typeface="Calibri" pitchFamily="34" charset="0"/>
                <a:ea typeface="Calibri" pitchFamily="34" charset="-122"/>
                <a:cs typeface="Calibri" pitchFamily="34" charset="-120"/>
              </a:rPr>
              <a:t>Binnenland</a:t>
            </a:r>
            <a:endParaRPr lang="en-US" sz="1300" dirty="0"/>
          </a:p>
        </p:txBody>
      </p:sp>
      <p:sp>
        <p:nvSpPr>
          <p:cNvPr id="34" name="Shape 32"/>
          <p:cNvSpPr/>
          <p:nvPr/>
        </p:nvSpPr>
        <p:spPr>
          <a:xfrm>
            <a:off x="457200" y="3547872"/>
            <a:ext cx="219456" cy="384048"/>
          </a:xfrm>
          <a:prstGeom prst="rect">
            <a:avLst/>
          </a:prstGeom>
          <a:solidFill>
            <a:srgbClr val="3C783C"/>
          </a:solidFill>
          <a:ln w="12700">
            <a:solidFill>
              <a:srgbClr val="FFFFFF"/>
            </a:solidFill>
            <a:prstDash val="solid"/>
          </a:ln>
        </p:spPr>
      </p:sp>
      <p:sp>
        <p:nvSpPr>
          <p:cNvPr id="35" name="Shape 33"/>
          <p:cNvSpPr/>
          <p:nvPr/>
        </p:nvSpPr>
        <p:spPr>
          <a:xfrm>
            <a:off x="722376" y="3547872"/>
            <a:ext cx="219456" cy="384048"/>
          </a:xfrm>
          <a:prstGeom prst="rect">
            <a:avLst/>
          </a:prstGeom>
          <a:solidFill>
            <a:srgbClr val="3C783C"/>
          </a:solidFill>
          <a:ln w="12700">
            <a:solidFill>
              <a:srgbClr val="FFFFFF"/>
            </a:solidFill>
            <a:prstDash val="solid"/>
          </a:ln>
        </p:spPr>
      </p:sp>
      <p:sp>
        <p:nvSpPr>
          <p:cNvPr id="36" name="Shape 34"/>
          <p:cNvSpPr/>
          <p:nvPr/>
        </p:nvSpPr>
        <p:spPr>
          <a:xfrm>
            <a:off x="987552" y="3547872"/>
            <a:ext cx="219456" cy="384048"/>
          </a:xfrm>
          <a:prstGeom prst="rect">
            <a:avLst/>
          </a:prstGeom>
          <a:solidFill>
            <a:srgbClr val="3C783C"/>
          </a:solidFill>
          <a:ln w="12700">
            <a:solidFill>
              <a:srgbClr val="FFFFFF"/>
            </a:solidFill>
            <a:prstDash val="solid"/>
          </a:ln>
        </p:spPr>
      </p:sp>
      <p:sp>
        <p:nvSpPr>
          <p:cNvPr id="37" name="Shape 35"/>
          <p:cNvSpPr/>
          <p:nvPr/>
        </p:nvSpPr>
        <p:spPr>
          <a:xfrm>
            <a:off x="1252728" y="3547872"/>
            <a:ext cx="219456" cy="384048"/>
          </a:xfrm>
          <a:prstGeom prst="rect">
            <a:avLst/>
          </a:prstGeom>
          <a:solidFill>
            <a:srgbClr val="3C783C"/>
          </a:solidFill>
          <a:ln w="12700">
            <a:solidFill>
              <a:srgbClr val="FFFFFF"/>
            </a:solidFill>
            <a:prstDash val="solid"/>
          </a:ln>
        </p:spPr>
      </p:sp>
      <p:sp>
        <p:nvSpPr>
          <p:cNvPr id="38" name="Shape 36"/>
          <p:cNvSpPr/>
          <p:nvPr/>
        </p:nvSpPr>
        <p:spPr>
          <a:xfrm>
            <a:off x="1517904" y="3547872"/>
            <a:ext cx="219456" cy="384048"/>
          </a:xfrm>
          <a:prstGeom prst="rect">
            <a:avLst/>
          </a:prstGeom>
          <a:solidFill>
            <a:srgbClr val="3C783C"/>
          </a:solidFill>
          <a:ln w="12700">
            <a:solidFill>
              <a:srgbClr val="FFFFFF"/>
            </a:solidFill>
            <a:prstDash val="solid"/>
          </a:ln>
        </p:spPr>
      </p:sp>
      <p:sp>
        <p:nvSpPr>
          <p:cNvPr id="39" name="Shape 37"/>
          <p:cNvSpPr/>
          <p:nvPr/>
        </p:nvSpPr>
        <p:spPr>
          <a:xfrm>
            <a:off x="1783080" y="3547872"/>
            <a:ext cx="219456" cy="384048"/>
          </a:xfrm>
          <a:prstGeom prst="rect">
            <a:avLst/>
          </a:prstGeom>
          <a:solidFill>
            <a:srgbClr val="3C783C"/>
          </a:solidFill>
          <a:ln w="12700">
            <a:solidFill>
              <a:srgbClr val="FFFFFF"/>
            </a:solidFill>
            <a:prstDash val="solid"/>
          </a:ln>
        </p:spPr>
      </p:sp>
      <p:sp>
        <p:nvSpPr>
          <p:cNvPr id="40" name="Shape 38"/>
          <p:cNvSpPr/>
          <p:nvPr/>
        </p:nvSpPr>
        <p:spPr>
          <a:xfrm>
            <a:off x="2048256" y="3547872"/>
            <a:ext cx="219456" cy="384048"/>
          </a:xfrm>
          <a:prstGeom prst="rect">
            <a:avLst/>
          </a:prstGeom>
          <a:solidFill>
            <a:srgbClr val="3C783C"/>
          </a:solidFill>
          <a:ln w="12700">
            <a:solidFill>
              <a:srgbClr val="FFFFFF"/>
            </a:solidFill>
            <a:prstDash val="solid"/>
          </a:ln>
        </p:spPr>
      </p:sp>
      <p:sp>
        <p:nvSpPr>
          <p:cNvPr id="41" name="Shape 39"/>
          <p:cNvSpPr/>
          <p:nvPr/>
        </p:nvSpPr>
        <p:spPr>
          <a:xfrm>
            <a:off x="2313432" y="3547872"/>
            <a:ext cx="219456" cy="384048"/>
          </a:xfrm>
          <a:prstGeom prst="rect">
            <a:avLst/>
          </a:prstGeom>
          <a:solidFill>
            <a:srgbClr val="3C783C"/>
          </a:solidFill>
          <a:ln w="12700">
            <a:solidFill>
              <a:srgbClr val="FFFFFF"/>
            </a:solidFill>
            <a:prstDash val="solid"/>
          </a:ln>
        </p:spPr>
      </p:sp>
      <p:sp>
        <p:nvSpPr>
          <p:cNvPr id="42" name="Shape 40"/>
          <p:cNvSpPr/>
          <p:nvPr/>
        </p:nvSpPr>
        <p:spPr>
          <a:xfrm>
            <a:off x="2578608" y="3547872"/>
            <a:ext cx="219456" cy="384048"/>
          </a:xfrm>
          <a:prstGeom prst="rect">
            <a:avLst/>
          </a:prstGeom>
          <a:solidFill>
            <a:srgbClr val="3C783C"/>
          </a:solidFill>
          <a:ln w="12700">
            <a:solidFill>
              <a:srgbClr val="FFFFFF"/>
            </a:solidFill>
            <a:prstDash val="solid"/>
          </a:ln>
        </p:spPr>
      </p:sp>
      <p:sp>
        <p:nvSpPr>
          <p:cNvPr id="43" name="Shape 41"/>
          <p:cNvSpPr/>
          <p:nvPr/>
        </p:nvSpPr>
        <p:spPr>
          <a:xfrm>
            <a:off x="2843784" y="3547872"/>
            <a:ext cx="219456" cy="384048"/>
          </a:xfrm>
          <a:prstGeom prst="rect">
            <a:avLst/>
          </a:prstGeom>
          <a:solidFill>
            <a:srgbClr val="3C783C"/>
          </a:solidFill>
          <a:ln w="12700">
            <a:solidFill>
              <a:srgbClr val="FFFFFF"/>
            </a:solidFill>
            <a:prstDash val="solid"/>
          </a:ln>
        </p:spPr>
      </p:sp>
      <p:sp>
        <p:nvSpPr>
          <p:cNvPr id="44" name="Text 42"/>
          <p:cNvSpPr txBox="1"/>
          <p:nvPr/>
        </p:nvSpPr>
        <p:spPr>
          <a:xfrm>
            <a:off x="457200" y="4160520"/>
            <a:ext cx="2926080" cy="274320"/>
          </a:xfrm>
          <a:prstGeom prst="rect">
            <a:avLst/>
          </a:prstGeom>
          <a:noFill/>
          <a:ln/>
        </p:spPr>
        <p:txBody>
          <a:bodyPr wrap="square" lIns="0" tIns="0" rIns="0" bIns="0" rtlCol="0" anchor="t"/>
          <a:lstStyle/>
          <a:p>
            <a:pPr indent="0" marL="0">
              <a:buNone/>
            </a:pPr>
            <a:r>
              <a:rPr lang="en-US" sz="1200" b="1" dirty="0">
                <a:solidFill>
                  <a:srgbClr val="2B2318"/>
                </a:solidFill>
                <a:latin typeface="Calibri" pitchFamily="34" charset="0"/>
                <a:ea typeface="Calibri" pitchFamily="34" charset="-122"/>
                <a:cs typeface="Calibri" pitchFamily="34" charset="-120"/>
              </a:rPr>
              <a:t>3 Gebiete × 10 Trittyen = 30 Trittyen</a:t>
            </a:r>
            <a:endParaRPr lang="en-US" sz="1200" dirty="0"/>
          </a:p>
        </p:txBody>
      </p:sp>
      <p:sp>
        <p:nvSpPr>
          <p:cNvPr id="45" name="Shape 43"/>
          <p:cNvSpPr/>
          <p:nvPr/>
        </p:nvSpPr>
        <p:spPr>
          <a:xfrm>
            <a:off x="3337560" y="2697480"/>
            <a:ext cx="685800" cy="0"/>
          </a:xfrm>
          <a:prstGeom prst="line">
            <a:avLst/>
          </a:prstGeom>
          <a:noFill/>
          <a:ln w="38100">
            <a:solidFill>
              <a:srgbClr val="2B2318"/>
            </a:solidFill>
            <a:prstDash val="solid"/>
            <a:tailEnd type="triangle"/>
          </a:ln>
        </p:spPr>
      </p:sp>
      <p:sp>
        <p:nvSpPr>
          <p:cNvPr id="46" name="Text 44"/>
          <p:cNvSpPr txBox="1"/>
          <p:nvPr/>
        </p:nvSpPr>
        <p:spPr>
          <a:xfrm>
            <a:off x="3291840" y="2377440"/>
            <a:ext cx="822960" cy="274320"/>
          </a:xfrm>
          <a:prstGeom prst="rect">
            <a:avLst/>
          </a:prstGeom>
          <a:noFill/>
          <a:ln/>
        </p:spPr>
        <p:txBody>
          <a:bodyPr wrap="square" lIns="0" tIns="0" rIns="0" bIns="0" rtlCol="0" anchor="t"/>
          <a:lstStyle/>
          <a:p>
            <a:pPr algn="ctr" indent="0" marL="0">
              <a:buNone/>
            </a:pPr>
            <a:r>
              <a:rPr lang="en-US" sz="1100" dirty="0">
                <a:solidFill>
                  <a:srgbClr val="5A5044"/>
                </a:solidFill>
                <a:latin typeface="Calibri" pitchFamily="34" charset="0"/>
                <a:ea typeface="Calibri" pitchFamily="34" charset="-122"/>
                <a:cs typeface="Calibri" pitchFamily="34" charset="-120"/>
              </a:rPr>
              <a:t>per Los</a:t>
            </a:r>
            <a:endParaRPr lang="en-US" sz="1100" dirty="0"/>
          </a:p>
        </p:txBody>
      </p:sp>
      <p:sp>
        <p:nvSpPr>
          <p:cNvPr id="47" name="Shape 45"/>
          <p:cNvSpPr/>
          <p:nvPr/>
        </p:nvSpPr>
        <p:spPr>
          <a:xfrm>
            <a:off x="4206240" y="1325880"/>
            <a:ext cx="731520" cy="310896"/>
          </a:xfrm>
          <a:prstGeom prst="rect">
            <a:avLst/>
          </a:prstGeom>
          <a:solidFill>
            <a:srgbClr val="C9962A"/>
          </a:solidFill>
          <a:ln w="12700">
            <a:solidFill>
              <a:srgbClr val="FFFFFF"/>
            </a:solidFill>
            <a:prstDash val="solid"/>
          </a:ln>
        </p:spPr>
      </p:sp>
      <p:sp>
        <p:nvSpPr>
          <p:cNvPr id="48" name="Shape 46"/>
          <p:cNvSpPr/>
          <p:nvPr/>
        </p:nvSpPr>
        <p:spPr>
          <a:xfrm>
            <a:off x="4206240" y="1655064"/>
            <a:ext cx="731520" cy="310896"/>
          </a:xfrm>
          <a:prstGeom prst="rect">
            <a:avLst/>
          </a:prstGeom>
          <a:solidFill>
            <a:srgbClr val="3E5C76"/>
          </a:solidFill>
          <a:ln w="12700">
            <a:solidFill>
              <a:srgbClr val="FFFFFF"/>
            </a:solidFill>
            <a:prstDash val="solid"/>
          </a:ln>
        </p:spPr>
      </p:sp>
      <p:sp>
        <p:nvSpPr>
          <p:cNvPr id="49" name="Shape 47"/>
          <p:cNvSpPr/>
          <p:nvPr/>
        </p:nvSpPr>
        <p:spPr>
          <a:xfrm>
            <a:off x="4206240" y="1984248"/>
            <a:ext cx="731520" cy="310896"/>
          </a:xfrm>
          <a:prstGeom prst="rect">
            <a:avLst/>
          </a:prstGeom>
          <a:solidFill>
            <a:srgbClr val="3C783C"/>
          </a:solidFill>
          <a:ln w="12700">
            <a:solidFill>
              <a:srgbClr val="FFFFFF"/>
            </a:solidFill>
            <a:prstDash val="solid"/>
          </a:ln>
        </p:spPr>
      </p:sp>
      <p:sp>
        <p:nvSpPr>
          <p:cNvPr id="50" name="Text 48"/>
          <p:cNvSpPr txBox="1"/>
          <p:nvPr/>
        </p:nvSpPr>
        <p:spPr>
          <a:xfrm>
            <a:off x="4160520" y="2331720"/>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1</a:t>
            </a:r>
            <a:endParaRPr lang="en-US" sz="950" dirty="0"/>
          </a:p>
        </p:txBody>
      </p:sp>
      <p:sp>
        <p:nvSpPr>
          <p:cNvPr id="51" name="Shape 49"/>
          <p:cNvSpPr/>
          <p:nvPr/>
        </p:nvSpPr>
        <p:spPr>
          <a:xfrm>
            <a:off x="5102352" y="1325880"/>
            <a:ext cx="731520" cy="310896"/>
          </a:xfrm>
          <a:prstGeom prst="rect">
            <a:avLst/>
          </a:prstGeom>
          <a:solidFill>
            <a:srgbClr val="C9962A"/>
          </a:solidFill>
          <a:ln w="12700">
            <a:solidFill>
              <a:srgbClr val="FFFFFF"/>
            </a:solidFill>
            <a:prstDash val="solid"/>
          </a:ln>
        </p:spPr>
      </p:sp>
      <p:sp>
        <p:nvSpPr>
          <p:cNvPr id="52" name="Shape 50"/>
          <p:cNvSpPr/>
          <p:nvPr/>
        </p:nvSpPr>
        <p:spPr>
          <a:xfrm>
            <a:off x="5102352" y="1655064"/>
            <a:ext cx="731520" cy="310896"/>
          </a:xfrm>
          <a:prstGeom prst="rect">
            <a:avLst/>
          </a:prstGeom>
          <a:solidFill>
            <a:srgbClr val="3E5C76"/>
          </a:solidFill>
          <a:ln w="12700">
            <a:solidFill>
              <a:srgbClr val="FFFFFF"/>
            </a:solidFill>
            <a:prstDash val="solid"/>
          </a:ln>
        </p:spPr>
      </p:sp>
      <p:sp>
        <p:nvSpPr>
          <p:cNvPr id="53" name="Shape 51"/>
          <p:cNvSpPr/>
          <p:nvPr/>
        </p:nvSpPr>
        <p:spPr>
          <a:xfrm>
            <a:off x="5102352" y="1984248"/>
            <a:ext cx="731520" cy="310896"/>
          </a:xfrm>
          <a:prstGeom prst="rect">
            <a:avLst/>
          </a:prstGeom>
          <a:solidFill>
            <a:srgbClr val="3C783C"/>
          </a:solidFill>
          <a:ln w="12700">
            <a:solidFill>
              <a:srgbClr val="FFFFFF"/>
            </a:solidFill>
            <a:prstDash val="solid"/>
          </a:ln>
        </p:spPr>
      </p:sp>
      <p:sp>
        <p:nvSpPr>
          <p:cNvPr id="54" name="Text 52"/>
          <p:cNvSpPr txBox="1"/>
          <p:nvPr/>
        </p:nvSpPr>
        <p:spPr>
          <a:xfrm>
            <a:off x="5056632" y="2331720"/>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2</a:t>
            </a:r>
            <a:endParaRPr lang="en-US" sz="950" dirty="0"/>
          </a:p>
        </p:txBody>
      </p:sp>
      <p:sp>
        <p:nvSpPr>
          <p:cNvPr id="55" name="Shape 53"/>
          <p:cNvSpPr/>
          <p:nvPr/>
        </p:nvSpPr>
        <p:spPr>
          <a:xfrm>
            <a:off x="5998464" y="1325880"/>
            <a:ext cx="731520" cy="310896"/>
          </a:xfrm>
          <a:prstGeom prst="rect">
            <a:avLst/>
          </a:prstGeom>
          <a:solidFill>
            <a:srgbClr val="C9962A"/>
          </a:solidFill>
          <a:ln w="12700">
            <a:solidFill>
              <a:srgbClr val="FFFFFF"/>
            </a:solidFill>
            <a:prstDash val="solid"/>
          </a:ln>
        </p:spPr>
      </p:sp>
      <p:sp>
        <p:nvSpPr>
          <p:cNvPr id="56" name="Shape 54"/>
          <p:cNvSpPr/>
          <p:nvPr/>
        </p:nvSpPr>
        <p:spPr>
          <a:xfrm>
            <a:off x="5998464" y="1655064"/>
            <a:ext cx="731520" cy="310896"/>
          </a:xfrm>
          <a:prstGeom prst="rect">
            <a:avLst/>
          </a:prstGeom>
          <a:solidFill>
            <a:srgbClr val="3E5C76"/>
          </a:solidFill>
          <a:ln w="12700">
            <a:solidFill>
              <a:srgbClr val="FFFFFF"/>
            </a:solidFill>
            <a:prstDash val="solid"/>
          </a:ln>
        </p:spPr>
      </p:sp>
      <p:sp>
        <p:nvSpPr>
          <p:cNvPr id="57" name="Shape 55"/>
          <p:cNvSpPr/>
          <p:nvPr/>
        </p:nvSpPr>
        <p:spPr>
          <a:xfrm>
            <a:off x="5998464" y="1984248"/>
            <a:ext cx="731520" cy="310896"/>
          </a:xfrm>
          <a:prstGeom prst="rect">
            <a:avLst/>
          </a:prstGeom>
          <a:solidFill>
            <a:srgbClr val="3C783C"/>
          </a:solidFill>
          <a:ln w="12700">
            <a:solidFill>
              <a:srgbClr val="FFFFFF"/>
            </a:solidFill>
            <a:prstDash val="solid"/>
          </a:ln>
        </p:spPr>
      </p:sp>
      <p:sp>
        <p:nvSpPr>
          <p:cNvPr id="58" name="Text 56"/>
          <p:cNvSpPr txBox="1"/>
          <p:nvPr/>
        </p:nvSpPr>
        <p:spPr>
          <a:xfrm>
            <a:off x="5952744" y="2331720"/>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3</a:t>
            </a:r>
            <a:endParaRPr lang="en-US" sz="950" dirty="0"/>
          </a:p>
        </p:txBody>
      </p:sp>
      <p:sp>
        <p:nvSpPr>
          <p:cNvPr id="59" name="Shape 57"/>
          <p:cNvSpPr/>
          <p:nvPr/>
        </p:nvSpPr>
        <p:spPr>
          <a:xfrm>
            <a:off x="6894576" y="1325880"/>
            <a:ext cx="731520" cy="310896"/>
          </a:xfrm>
          <a:prstGeom prst="rect">
            <a:avLst/>
          </a:prstGeom>
          <a:solidFill>
            <a:srgbClr val="C9962A"/>
          </a:solidFill>
          <a:ln w="12700">
            <a:solidFill>
              <a:srgbClr val="FFFFFF"/>
            </a:solidFill>
            <a:prstDash val="solid"/>
          </a:ln>
        </p:spPr>
      </p:sp>
      <p:sp>
        <p:nvSpPr>
          <p:cNvPr id="60" name="Shape 58"/>
          <p:cNvSpPr/>
          <p:nvPr/>
        </p:nvSpPr>
        <p:spPr>
          <a:xfrm>
            <a:off x="6894576" y="1655064"/>
            <a:ext cx="731520" cy="310896"/>
          </a:xfrm>
          <a:prstGeom prst="rect">
            <a:avLst/>
          </a:prstGeom>
          <a:solidFill>
            <a:srgbClr val="3E5C76"/>
          </a:solidFill>
          <a:ln w="12700">
            <a:solidFill>
              <a:srgbClr val="FFFFFF"/>
            </a:solidFill>
            <a:prstDash val="solid"/>
          </a:ln>
        </p:spPr>
      </p:sp>
      <p:sp>
        <p:nvSpPr>
          <p:cNvPr id="61" name="Shape 59"/>
          <p:cNvSpPr/>
          <p:nvPr/>
        </p:nvSpPr>
        <p:spPr>
          <a:xfrm>
            <a:off x="6894576" y="1984248"/>
            <a:ext cx="731520" cy="310896"/>
          </a:xfrm>
          <a:prstGeom prst="rect">
            <a:avLst/>
          </a:prstGeom>
          <a:solidFill>
            <a:srgbClr val="3C783C"/>
          </a:solidFill>
          <a:ln w="12700">
            <a:solidFill>
              <a:srgbClr val="FFFFFF"/>
            </a:solidFill>
            <a:prstDash val="solid"/>
          </a:ln>
        </p:spPr>
      </p:sp>
      <p:sp>
        <p:nvSpPr>
          <p:cNvPr id="62" name="Text 60"/>
          <p:cNvSpPr txBox="1"/>
          <p:nvPr/>
        </p:nvSpPr>
        <p:spPr>
          <a:xfrm>
            <a:off x="6848856" y="2331720"/>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4</a:t>
            </a:r>
            <a:endParaRPr lang="en-US" sz="950" dirty="0"/>
          </a:p>
        </p:txBody>
      </p:sp>
      <p:sp>
        <p:nvSpPr>
          <p:cNvPr id="63" name="Shape 61"/>
          <p:cNvSpPr/>
          <p:nvPr/>
        </p:nvSpPr>
        <p:spPr>
          <a:xfrm>
            <a:off x="7790688" y="1325880"/>
            <a:ext cx="731520" cy="310896"/>
          </a:xfrm>
          <a:prstGeom prst="rect">
            <a:avLst/>
          </a:prstGeom>
          <a:solidFill>
            <a:srgbClr val="C9962A"/>
          </a:solidFill>
          <a:ln w="12700">
            <a:solidFill>
              <a:srgbClr val="FFFFFF"/>
            </a:solidFill>
            <a:prstDash val="solid"/>
          </a:ln>
        </p:spPr>
      </p:sp>
      <p:sp>
        <p:nvSpPr>
          <p:cNvPr id="64" name="Shape 62"/>
          <p:cNvSpPr/>
          <p:nvPr/>
        </p:nvSpPr>
        <p:spPr>
          <a:xfrm>
            <a:off x="7790688" y="1655064"/>
            <a:ext cx="731520" cy="310896"/>
          </a:xfrm>
          <a:prstGeom prst="rect">
            <a:avLst/>
          </a:prstGeom>
          <a:solidFill>
            <a:srgbClr val="3E5C76"/>
          </a:solidFill>
          <a:ln w="12700">
            <a:solidFill>
              <a:srgbClr val="FFFFFF"/>
            </a:solidFill>
            <a:prstDash val="solid"/>
          </a:ln>
        </p:spPr>
      </p:sp>
      <p:sp>
        <p:nvSpPr>
          <p:cNvPr id="65" name="Shape 63"/>
          <p:cNvSpPr/>
          <p:nvPr/>
        </p:nvSpPr>
        <p:spPr>
          <a:xfrm>
            <a:off x="7790688" y="1984248"/>
            <a:ext cx="731520" cy="310896"/>
          </a:xfrm>
          <a:prstGeom prst="rect">
            <a:avLst/>
          </a:prstGeom>
          <a:solidFill>
            <a:srgbClr val="3C783C"/>
          </a:solidFill>
          <a:ln w="12700">
            <a:solidFill>
              <a:srgbClr val="FFFFFF"/>
            </a:solidFill>
            <a:prstDash val="solid"/>
          </a:ln>
        </p:spPr>
      </p:sp>
      <p:sp>
        <p:nvSpPr>
          <p:cNvPr id="66" name="Text 64"/>
          <p:cNvSpPr txBox="1"/>
          <p:nvPr/>
        </p:nvSpPr>
        <p:spPr>
          <a:xfrm>
            <a:off x="7744968" y="2331720"/>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5</a:t>
            </a:r>
            <a:endParaRPr lang="en-US" sz="950" dirty="0"/>
          </a:p>
        </p:txBody>
      </p:sp>
      <p:sp>
        <p:nvSpPr>
          <p:cNvPr id="67" name="Shape 65"/>
          <p:cNvSpPr/>
          <p:nvPr/>
        </p:nvSpPr>
        <p:spPr>
          <a:xfrm>
            <a:off x="4206240" y="2807208"/>
            <a:ext cx="731520" cy="310896"/>
          </a:xfrm>
          <a:prstGeom prst="rect">
            <a:avLst/>
          </a:prstGeom>
          <a:solidFill>
            <a:srgbClr val="C9962A"/>
          </a:solidFill>
          <a:ln w="12700">
            <a:solidFill>
              <a:srgbClr val="FFFFFF"/>
            </a:solidFill>
            <a:prstDash val="solid"/>
          </a:ln>
        </p:spPr>
      </p:sp>
      <p:sp>
        <p:nvSpPr>
          <p:cNvPr id="68" name="Shape 66"/>
          <p:cNvSpPr/>
          <p:nvPr/>
        </p:nvSpPr>
        <p:spPr>
          <a:xfrm>
            <a:off x="4206240" y="3136392"/>
            <a:ext cx="731520" cy="310896"/>
          </a:xfrm>
          <a:prstGeom prst="rect">
            <a:avLst/>
          </a:prstGeom>
          <a:solidFill>
            <a:srgbClr val="3E5C76"/>
          </a:solidFill>
          <a:ln w="12700">
            <a:solidFill>
              <a:srgbClr val="FFFFFF"/>
            </a:solidFill>
            <a:prstDash val="solid"/>
          </a:ln>
        </p:spPr>
      </p:sp>
      <p:sp>
        <p:nvSpPr>
          <p:cNvPr id="69" name="Shape 67"/>
          <p:cNvSpPr/>
          <p:nvPr/>
        </p:nvSpPr>
        <p:spPr>
          <a:xfrm>
            <a:off x="4206240" y="3465576"/>
            <a:ext cx="731520" cy="310896"/>
          </a:xfrm>
          <a:prstGeom prst="rect">
            <a:avLst/>
          </a:prstGeom>
          <a:solidFill>
            <a:srgbClr val="3C783C"/>
          </a:solidFill>
          <a:ln w="12700">
            <a:solidFill>
              <a:srgbClr val="FFFFFF"/>
            </a:solidFill>
            <a:prstDash val="solid"/>
          </a:ln>
        </p:spPr>
      </p:sp>
      <p:sp>
        <p:nvSpPr>
          <p:cNvPr id="70" name="Text 68"/>
          <p:cNvSpPr txBox="1"/>
          <p:nvPr/>
        </p:nvSpPr>
        <p:spPr>
          <a:xfrm>
            <a:off x="4160520" y="3813048"/>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6</a:t>
            </a:r>
            <a:endParaRPr lang="en-US" sz="950" dirty="0"/>
          </a:p>
        </p:txBody>
      </p:sp>
      <p:sp>
        <p:nvSpPr>
          <p:cNvPr id="71" name="Shape 69"/>
          <p:cNvSpPr/>
          <p:nvPr/>
        </p:nvSpPr>
        <p:spPr>
          <a:xfrm>
            <a:off x="5102352" y="2807208"/>
            <a:ext cx="731520" cy="310896"/>
          </a:xfrm>
          <a:prstGeom prst="rect">
            <a:avLst/>
          </a:prstGeom>
          <a:solidFill>
            <a:srgbClr val="C9962A"/>
          </a:solidFill>
          <a:ln w="12700">
            <a:solidFill>
              <a:srgbClr val="FFFFFF"/>
            </a:solidFill>
            <a:prstDash val="solid"/>
          </a:ln>
        </p:spPr>
      </p:sp>
      <p:sp>
        <p:nvSpPr>
          <p:cNvPr id="72" name="Shape 70"/>
          <p:cNvSpPr/>
          <p:nvPr/>
        </p:nvSpPr>
        <p:spPr>
          <a:xfrm>
            <a:off x="5102352" y="3136392"/>
            <a:ext cx="731520" cy="310896"/>
          </a:xfrm>
          <a:prstGeom prst="rect">
            <a:avLst/>
          </a:prstGeom>
          <a:solidFill>
            <a:srgbClr val="3E5C76"/>
          </a:solidFill>
          <a:ln w="12700">
            <a:solidFill>
              <a:srgbClr val="FFFFFF"/>
            </a:solidFill>
            <a:prstDash val="solid"/>
          </a:ln>
        </p:spPr>
      </p:sp>
      <p:sp>
        <p:nvSpPr>
          <p:cNvPr id="73" name="Shape 71"/>
          <p:cNvSpPr/>
          <p:nvPr/>
        </p:nvSpPr>
        <p:spPr>
          <a:xfrm>
            <a:off x="5102352" y="3465576"/>
            <a:ext cx="731520" cy="310896"/>
          </a:xfrm>
          <a:prstGeom prst="rect">
            <a:avLst/>
          </a:prstGeom>
          <a:solidFill>
            <a:srgbClr val="3C783C"/>
          </a:solidFill>
          <a:ln w="12700">
            <a:solidFill>
              <a:srgbClr val="FFFFFF"/>
            </a:solidFill>
            <a:prstDash val="solid"/>
          </a:ln>
        </p:spPr>
      </p:sp>
      <p:sp>
        <p:nvSpPr>
          <p:cNvPr id="74" name="Text 72"/>
          <p:cNvSpPr txBox="1"/>
          <p:nvPr/>
        </p:nvSpPr>
        <p:spPr>
          <a:xfrm>
            <a:off x="5056632" y="3813048"/>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7</a:t>
            </a:r>
            <a:endParaRPr lang="en-US" sz="950" dirty="0"/>
          </a:p>
        </p:txBody>
      </p:sp>
      <p:sp>
        <p:nvSpPr>
          <p:cNvPr id="75" name="Shape 73"/>
          <p:cNvSpPr/>
          <p:nvPr/>
        </p:nvSpPr>
        <p:spPr>
          <a:xfrm>
            <a:off x="5998464" y="2807208"/>
            <a:ext cx="731520" cy="310896"/>
          </a:xfrm>
          <a:prstGeom prst="rect">
            <a:avLst/>
          </a:prstGeom>
          <a:solidFill>
            <a:srgbClr val="C9962A"/>
          </a:solidFill>
          <a:ln w="12700">
            <a:solidFill>
              <a:srgbClr val="FFFFFF"/>
            </a:solidFill>
            <a:prstDash val="solid"/>
          </a:ln>
        </p:spPr>
      </p:sp>
      <p:sp>
        <p:nvSpPr>
          <p:cNvPr id="76" name="Shape 74"/>
          <p:cNvSpPr/>
          <p:nvPr/>
        </p:nvSpPr>
        <p:spPr>
          <a:xfrm>
            <a:off x="5998464" y="3136392"/>
            <a:ext cx="731520" cy="310896"/>
          </a:xfrm>
          <a:prstGeom prst="rect">
            <a:avLst/>
          </a:prstGeom>
          <a:solidFill>
            <a:srgbClr val="3E5C76"/>
          </a:solidFill>
          <a:ln w="12700">
            <a:solidFill>
              <a:srgbClr val="FFFFFF"/>
            </a:solidFill>
            <a:prstDash val="solid"/>
          </a:ln>
        </p:spPr>
      </p:sp>
      <p:sp>
        <p:nvSpPr>
          <p:cNvPr id="77" name="Shape 75"/>
          <p:cNvSpPr/>
          <p:nvPr/>
        </p:nvSpPr>
        <p:spPr>
          <a:xfrm>
            <a:off x="5998464" y="3465576"/>
            <a:ext cx="731520" cy="310896"/>
          </a:xfrm>
          <a:prstGeom prst="rect">
            <a:avLst/>
          </a:prstGeom>
          <a:solidFill>
            <a:srgbClr val="3C783C"/>
          </a:solidFill>
          <a:ln w="12700">
            <a:solidFill>
              <a:srgbClr val="FFFFFF"/>
            </a:solidFill>
            <a:prstDash val="solid"/>
          </a:ln>
        </p:spPr>
      </p:sp>
      <p:sp>
        <p:nvSpPr>
          <p:cNvPr id="78" name="Text 76"/>
          <p:cNvSpPr txBox="1"/>
          <p:nvPr/>
        </p:nvSpPr>
        <p:spPr>
          <a:xfrm>
            <a:off x="5952744" y="3813048"/>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8</a:t>
            </a:r>
            <a:endParaRPr lang="en-US" sz="950" dirty="0"/>
          </a:p>
        </p:txBody>
      </p:sp>
      <p:sp>
        <p:nvSpPr>
          <p:cNvPr id="79" name="Shape 77"/>
          <p:cNvSpPr/>
          <p:nvPr/>
        </p:nvSpPr>
        <p:spPr>
          <a:xfrm>
            <a:off x="6894576" y="2807208"/>
            <a:ext cx="731520" cy="310896"/>
          </a:xfrm>
          <a:prstGeom prst="rect">
            <a:avLst/>
          </a:prstGeom>
          <a:solidFill>
            <a:srgbClr val="C9962A"/>
          </a:solidFill>
          <a:ln w="12700">
            <a:solidFill>
              <a:srgbClr val="FFFFFF"/>
            </a:solidFill>
            <a:prstDash val="solid"/>
          </a:ln>
        </p:spPr>
      </p:sp>
      <p:sp>
        <p:nvSpPr>
          <p:cNvPr id="80" name="Shape 78"/>
          <p:cNvSpPr/>
          <p:nvPr/>
        </p:nvSpPr>
        <p:spPr>
          <a:xfrm>
            <a:off x="6894576" y="3136392"/>
            <a:ext cx="731520" cy="310896"/>
          </a:xfrm>
          <a:prstGeom prst="rect">
            <a:avLst/>
          </a:prstGeom>
          <a:solidFill>
            <a:srgbClr val="3E5C76"/>
          </a:solidFill>
          <a:ln w="12700">
            <a:solidFill>
              <a:srgbClr val="FFFFFF"/>
            </a:solidFill>
            <a:prstDash val="solid"/>
          </a:ln>
        </p:spPr>
      </p:sp>
      <p:sp>
        <p:nvSpPr>
          <p:cNvPr id="81" name="Shape 79"/>
          <p:cNvSpPr/>
          <p:nvPr/>
        </p:nvSpPr>
        <p:spPr>
          <a:xfrm>
            <a:off x="6894576" y="3465576"/>
            <a:ext cx="731520" cy="310896"/>
          </a:xfrm>
          <a:prstGeom prst="rect">
            <a:avLst/>
          </a:prstGeom>
          <a:solidFill>
            <a:srgbClr val="3C783C"/>
          </a:solidFill>
          <a:ln w="12700">
            <a:solidFill>
              <a:srgbClr val="FFFFFF"/>
            </a:solidFill>
            <a:prstDash val="solid"/>
          </a:ln>
        </p:spPr>
      </p:sp>
      <p:sp>
        <p:nvSpPr>
          <p:cNvPr id="82" name="Text 80"/>
          <p:cNvSpPr txBox="1"/>
          <p:nvPr/>
        </p:nvSpPr>
        <p:spPr>
          <a:xfrm>
            <a:off x="6848856" y="3813048"/>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9</a:t>
            </a:r>
            <a:endParaRPr lang="en-US" sz="950" dirty="0"/>
          </a:p>
        </p:txBody>
      </p:sp>
      <p:sp>
        <p:nvSpPr>
          <p:cNvPr id="83" name="Shape 81"/>
          <p:cNvSpPr/>
          <p:nvPr/>
        </p:nvSpPr>
        <p:spPr>
          <a:xfrm>
            <a:off x="7790688" y="2807208"/>
            <a:ext cx="731520" cy="310896"/>
          </a:xfrm>
          <a:prstGeom prst="rect">
            <a:avLst/>
          </a:prstGeom>
          <a:solidFill>
            <a:srgbClr val="C9962A"/>
          </a:solidFill>
          <a:ln w="12700">
            <a:solidFill>
              <a:srgbClr val="FFFFFF"/>
            </a:solidFill>
            <a:prstDash val="solid"/>
          </a:ln>
        </p:spPr>
      </p:sp>
      <p:sp>
        <p:nvSpPr>
          <p:cNvPr id="84" name="Shape 82"/>
          <p:cNvSpPr/>
          <p:nvPr/>
        </p:nvSpPr>
        <p:spPr>
          <a:xfrm>
            <a:off x="7790688" y="3136392"/>
            <a:ext cx="731520" cy="310896"/>
          </a:xfrm>
          <a:prstGeom prst="rect">
            <a:avLst/>
          </a:prstGeom>
          <a:solidFill>
            <a:srgbClr val="3E5C76"/>
          </a:solidFill>
          <a:ln w="12700">
            <a:solidFill>
              <a:srgbClr val="FFFFFF"/>
            </a:solidFill>
            <a:prstDash val="solid"/>
          </a:ln>
        </p:spPr>
      </p:sp>
      <p:sp>
        <p:nvSpPr>
          <p:cNvPr id="85" name="Shape 83"/>
          <p:cNvSpPr/>
          <p:nvPr/>
        </p:nvSpPr>
        <p:spPr>
          <a:xfrm>
            <a:off x="7790688" y="3465576"/>
            <a:ext cx="731520" cy="310896"/>
          </a:xfrm>
          <a:prstGeom prst="rect">
            <a:avLst/>
          </a:prstGeom>
          <a:solidFill>
            <a:srgbClr val="3C783C"/>
          </a:solidFill>
          <a:ln w="12700">
            <a:solidFill>
              <a:srgbClr val="FFFFFF"/>
            </a:solidFill>
            <a:prstDash val="solid"/>
          </a:ln>
        </p:spPr>
      </p:sp>
      <p:sp>
        <p:nvSpPr>
          <p:cNvPr id="86" name="Text 84"/>
          <p:cNvSpPr txBox="1"/>
          <p:nvPr/>
        </p:nvSpPr>
        <p:spPr>
          <a:xfrm>
            <a:off x="7744968" y="3813048"/>
            <a:ext cx="822960" cy="228600"/>
          </a:xfrm>
          <a:prstGeom prst="rect">
            <a:avLst/>
          </a:prstGeom>
          <a:noFill/>
          <a:ln/>
        </p:spPr>
        <p:txBody>
          <a:bodyPr wrap="square" lIns="0" tIns="0" rIns="0" bIns="0" rtlCol="0" anchor="t"/>
          <a:lstStyle/>
          <a:p>
            <a:pPr algn="ctr" indent="0" marL="0">
              <a:buNone/>
            </a:pPr>
            <a:r>
              <a:rPr lang="en-US" sz="950" dirty="0">
                <a:solidFill>
                  <a:srgbClr val="5A5044"/>
                </a:solidFill>
                <a:latin typeface="Calibri" pitchFamily="34" charset="0"/>
                <a:ea typeface="Calibri" pitchFamily="34" charset="-122"/>
                <a:cs typeface="Calibri" pitchFamily="34" charset="-120"/>
              </a:rPr>
              <a:t>Phyle 10</a:t>
            </a:r>
            <a:endParaRPr lang="en-US" sz="950" dirty="0"/>
          </a:p>
        </p:txBody>
      </p:sp>
      <p:sp>
        <p:nvSpPr>
          <p:cNvPr id="87" name="Text 85"/>
          <p:cNvSpPr txBox="1"/>
          <p:nvPr/>
        </p:nvSpPr>
        <p:spPr>
          <a:xfrm>
            <a:off x="4206240" y="4160520"/>
            <a:ext cx="4480560" cy="274320"/>
          </a:xfrm>
          <a:prstGeom prst="rect">
            <a:avLst/>
          </a:prstGeom>
          <a:noFill/>
          <a:ln/>
        </p:spPr>
        <p:txBody>
          <a:bodyPr wrap="square" lIns="0" tIns="0" rIns="0" bIns="0" rtlCol="0" anchor="t"/>
          <a:lstStyle/>
          <a:p>
            <a:pPr indent="0" marL="0">
              <a:buNone/>
            </a:pPr>
            <a:r>
              <a:rPr lang="en-US" sz="1200" b="1" dirty="0">
                <a:solidFill>
                  <a:srgbClr val="2B2318"/>
                </a:solidFill>
                <a:latin typeface="Calibri" pitchFamily="34" charset="0"/>
                <a:ea typeface="Calibri" pitchFamily="34" charset="-122"/>
                <a:cs typeface="Calibri" pitchFamily="34" charset="-120"/>
              </a:rPr>
              <a:t>10 neue Phylen – jede mit Stadt, Küste und Binnenland</a:t>
            </a:r>
            <a:endParaRPr lang="en-US" sz="1200" dirty="0"/>
          </a:p>
        </p:txBody>
      </p:sp>
      <p:sp>
        <p:nvSpPr>
          <p:cNvPr id="88" name="Shape 86"/>
          <p:cNvSpPr/>
          <p:nvPr/>
        </p:nvSpPr>
        <p:spPr>
          <a:xfrm>
            <a:off x="457200" y="4462272"/>
            <a:ext cx="8229600" cy="292608"/>
          </a:xfrm>
          <a:prstGeom prst="roundRect">
            <a:avLst>
              <a:gd name="adj" fmla="val 25000"/>
            </a:avLst>
          </a:prstGeom>
          <a:solidFill>
            <a:srgbClr val="2B2318"/>
          </a:solidFill>
          <a:ln w="12700">
            <a:solidFill>
              <a:srgbClr val="2B2318"/>
            </a:solidFill>
            <a:prstDash val="solid"/>
          </a:ln>
        </p:spPr>
      </p:sp>
      <p:sp>
        <p:nvSpPr>
          <p:cNvPr id="89" name="Text 87"/>
          <p:cNvSpPr txBox="1"/>
          <p:nvPr/>
        </p:nvSpPr>
        <p:spPr>
          <a:xfrm>
            <a:off x="594360" y="4462272"/>
            <a:ext cx="7955280" cy="292608"/>
          </a:xfrm>
          <a:prstGeom prst="rect">
            <a:avLst/>
          </a:prstGeom>
          <a:noFill/>
          <a:ln/>
        </p:spPr>
        <p:txBody>
          <a:bodyPr wrap="square" lIns="0" tIns="0" rIns="0" bIns="0" rtlCol="0" anchor="ctr"/>
          <a:lstStyle/>
          <a:p>
            <a:pPr indent="0" marL="0">
              <a:buNone/>
            </a:pPr>
            <a:r>
              <a:rPr lang="en-US" sz="1200" b="1" dirty="0">
                <a:solidFill>
                  <a:srgbClr val="D9A441"/>
                </a:solidFill>
                <a:latin typeface="Calibri" pitchFamily="34" charset="0"/>
                <a:ea typeface="Calibri" pitchFamily="34" charset="-122"/>
                <a:cs typeface="Calibri" pitchFamily="34" charset="-120"/>
              </a:rPr>
              <a:t>Jede Phyle schickt 50 Männer → Rat der 500 · Die Gefolgschaft eines Adligen ist über mehrere Phylen verteilt.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Auswerten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ABSCHLUSSAUFGABE · ALLEIN · HEFT</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Kleisthenes und Solon</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2B231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Min.</a:t>
            </a:r>
            <a:endParaRPr lang="en-US" sz="1100" dirty="0"/>
          </a:p>
        </p:txBody>
      </p:sp>
      <p:sp>
        <p:nvSpPr>
          <p:cNvPr id="11" name="Shape 9"/>
          <p:cNvSpPr/>
          <p:nvPr/>
        </p:nvSpPr>
        <p:spPr>
          <a:xfrm>
            <a:off x="457200" y="1234440"/>
            <a:ext cx="8229600" cy="1234440"/>
          </a:xfrm>
          <a:prstGeom prst="roundRect">
            <a:avLst>
              <a:gd name="adj" fmla="val 5926"/>
            </a:avLst>
          </a:prstGeom>
          <a:solidFill>
            <a:srgbClr val="2B2318"/>
          </a:solidFill>
          <a:ln w="12700">
            <a:solidFill>
              <a:srgbClr val="2B2318"/>
            </a:solidFill>
            <a:prstDash val="solid"/>
          </a:ln>
        </p:spPr>
      </p:sp>
      <p:sp>
        <p:nvSpPr>
          <p:cNvPr id="12" name="Text 10"/>
          <p:cNvSpPr txBox="1"/>
          <p:nvPr/>
        </p:nvSpPr>
        <p:spPr>
          <a:xfrm>
            <a:off x="731520" y="1234440"/>
            <a:ext cx="7680960" cy="12344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Kleisthenes änderte an Solons Vermögensklassen nichts – und trotzdem gilt er als „Wegbereiter der Demokratie“. Erkläre das in 3 Sätzen.</a:t>
            </a:r>
            <a:endParaRPr lang="en-US" sz="1900" dirty="0"/>
          </a:p>
        </p:txBody>
      </p:sp>
      <p:sp>
        <p:nvSpPr>
          <p:cNvPr id="13" name="Shape 11"/>
          <p:cNvSpPr/>
          <p:nvPr/>
        </p:nvSpPr>
        <p:spPr>
          <a:xfrm>
            <a:off x="457200" y="2697480"/>
            <a:ext cx="8229600" cy="1417320"/>
          </a:xfrm>
          <a:prstGeom prst="roundRect">
            <a:avLst>
              <a:gd name="adj" fmla="val 5161"/>
            </a:avLst>
          </a:prstGeom>
          <a:solidFill>
            <a:srgbClr val="F4ECDE"/>
          </a:solidFill>
          <a:ln w="12700">
            <a:solidFill>
              <a:srgbClr val="F4ECDE"/>
            </a:solidFill>
            <a:prstDash val="solid"/>
          </a:ln>
        </p:spPr>
      </p:sp>
      <p:sp>
        <p:nvSpPr>
          <p:cNvPr id="14" name="Text 12"/>
          <p:cNvSpPr txBox="1"/>
          <p:nvPr/>
        </p:nvSpPr>
        <p:spPr>
          <a:xfrm>
            <a:off x="685800" y="2788920"/>
            <a:ext cx="3657600" cy="228600"/>
          </a:xfrm>
          <a:prstGeom prst="rect">
            <a:avLst/>
          </a:prstGeom>
          <a:noFill/>
          <a:ln/>
        </p:spPr>
        <p:txBody>
          <a:bodyPr wrap="square" lIns="0" tIns="0" rIns="0" bIns="0" rtlCol="0" anchor="t"/>
          <a:lstStyle/>
          <a:p>
            <a:pPr indent="0" marL="0">
              <a:buNone/>
            </a:pPr>
            <a:r>
              <a:rPr lang="en-US" sz="1000" b="1" spc="200" kern="0" dirty="0">
                <a:solidFill>
                  <a:srgbClr val="AD4426"/>
                </a:solidFill>
                <a:latin typeface="Calibri" pitchFamily="34" charset="0"/>
                <a:ea typeface="Calibri" pitchFamily="34" charset="-122"/>
                <a:cs typeface="Calibri" pitchFamily="34" charset="-120"/>
              </a:rPr>
              <a:t>SATZANFÄNGE</a:t>
            </a:r>
            <a:endParaRPr lang="en-US" sz="1000" dirty="0"/>
          </a:p>
        </p:txBody>
      </p:sp>
      <p:sp>
        <p:nvSpPr>
          <p:cNvPr id="15" name="Text 13"/>
          <p:cNvSpPr txBox="1"/>
          <p:nvPr/>
        </p:nvSpPr>
        <p:spPr>
          <a:xfrm>
            <a:off x="685800" y="3108960"/>
            <a:ext cx="7772400" cy="914400"/>
          </a:xfrm>
          <a:prstGeom prst="rect">
            <a:avLst/>
          </a:prstGeom>
          <a:noFill/>
          <a:ln/>
        </p:spPr>
        <p:txBody>
          <a:bodyPr wrap="square" lIns="0" tIns="0" rIns="0" bIns="0" rtlCol="0" anchor="t"/>
          <a:lstStyle/>
          <a:p>
            <a:pPr indent="0" marL="0">
              <a:buNone/>
            </a:pPr>
            <a:r>
              <a:rPr lang="en-US" sz="1500" i="1" dirty="0">
                <a:solidFill>
                  <a:srgbClr val="2B2318"/>
                </a:solidFill>
                <a:latin typeface="Calibri" pitchFamily="34" charset="0"/>
                <a:ea typeface="Calibri" pitchFamily="34" charset="-122"/>
                <a:cs typeface="Calibri" pitchFamily="34" charset="-120"/>
              </a:rPr>
              <a:t>„Solon gab den Bürgern …, aber …“     „Kleisthenes änderte nicht …, sondern …“     „Dadurch konnten die Bürger …“</a:t>
            </a:r>
            <a:endParaRPr lang="en-US" sz="1500" dirty="0"/>
          </a:p>
        </p:txBody>
      </p:sp>
      <p:sp>
        <p:nvSpPr>
          <p:cNvPr id="16" name="Text 14"/>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400" b="1" dirty="0">
                <a:solidFill>
                  <a:srgbClr val="AD4426"/>
                </a:solidFill>
                <a:latin typeface="Calibri" pitchFamily="34" charset="0"/>
                <a:ea typeface="Calibri" pitchFamily="34" charset="-122"/>
                <a:cs typeface="Calibri" pitchFamily="34" charset="-120"/>
              </a:rPr>
              <a:t>Danach: Zwei lesen vor. Haben wir das Ziel erreicht?</a:t>
            </a:r>
            <a:endParaRPr lang="en-US" sz="1400" dirty="0"/>
          </a:p>
        </p:txBody>
      </p:sp>
      <p:sp>
        <p:nvSpPr>
          <p:cNvPr id="17" name="Text 15"/>
          <p:cNvSpPr txBox="1"/>
          <p:nvPr/>
        </p:nvSpPr>
        <p:spPr>
          <a:xfrm>
            <a:off x="457200" y="4773168"/>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Kleisthenes – Warum stimmt Lysias anders?</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086600"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A</a:t>
            </a:r>
            <a:endParaRPr lang="en-US" sz="1100" dirty="0"/>
          </a:p>
        </p:txBody>
      </p:sp>
      <p:sp>
        <p:nvSpPr>
          <p:cNvPr id="3" name="Text 1"/>
          <p:cNvSpPr txBox="1"/>
          <p:nvPr/>
        </p:nvSpPr>
        <p:spPr>
          <a:xfrm>
            <a:off x="7415784"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4" name="Text 2"/>
          <p:cNvSpPr txBox="1"/>
          <p:nvPr/>
        </p:nvSpPr>
        <p:spPr>
          <a:xfrm>
            <a:off x="7744968"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I</a:t>
            </a:r>
            <a:endParaRPr lang="en-US" sz="1100" dirty="0"/>
          </a:p>
        </p:txBody>
      </p:sp>
      <p:sp>
        <p:nvSpPr>
          <p:cNvPr id="5" name="Text 3"/>
          <p:cNvSpPr txBox="1"/>
          <p:nvPr/>
        </p:nvSpPr>
        <p:spPr>
          <a:xfrm>
            <a:off x="8074152" y="91440"/>
            <a:ext cx="292608" cy="256032"/>
          </a:xfrm>
          <a:prstGeom prst="roundRect">
            <a:avLst>
              <a:gd name="adj" fmla="val 17857"/>
            </a:avLst>
          </a:prstGeom>
          <a:solidFill>
            <a:srgbClr val="F4ECDE"/>
          </a:solidFill>
          <a:ln/>
        </p:spPr>
        <p:txBody>
          <a:bodyPr wrap="square" lIns="0" tIns="0" rIns="0" bIns="0" rtlCol="0" anchor="ctr"/>
          <a:lstStyle/>
          <a:p>
            <a:pPr algn="ctr" indent="0" marL="0">
              <a:buNone/>
            </a:pPr>
            <a:r>
              <a:rPr lang="en-US" sz="1100" b="1" dirty="0">
                <a:solidFill>
                  <a:srgbClr val="998C77"/>
                </a:solidFill>
                <a:latin typeface="Calibri" pitchFamily="34" charset="0"/>
                <a:ea typeface="Calibri" pitchFamily="34" charset="-122"/>
                <a:cs typeface="Calibri" pitchFamily="34" charset="-120"/>
              </a:rPr>
              <a:t>V</a:t>
            </a:r>
            <a:endParaRPr lang="en-US" sz="1100" dirty="0"/>
          </a:p>
        </p:txBody>
      </p:sp>
      <p:sp>
        <p:nvSpPr>
          <p:cNvPr id="6" name="Text 4"/>
          <p:cNvSpPr txBox="1"/>
          <p:nvPr/>
        </p:nvSpPr>
        <p:spPr>
          <a:xfrm>
            <a:off x="8403336" y="91440"/>
            <a:ext cx="292608" cy="256032"/>
          </a:xfrm>
          <a:prstGeom prst="roundRect">
            <a:avLst>
              <a:gd name="adj" fmla="val 17857"/>
            </a:avLst>
          </a:prstGeom>
          <a:solidFill>
            <a:srgbClr val="AD442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7086600" y="365760"/>
            <a:ext cx="1609344" cy="182880"/>
          </a:xfrm>
          <a:prstGeom prst="rect">
            <a:avLst/>
          </a:prstGeom>
          <a:noFill/>
          <a:ln/>
        </p:spPr>
        <p:txBody>
          <a:bodyPr wrap="square" lIns="0" tIns="0" rIns="0" bIns="0" rtlCol="0" anchor="t"/>
          <a:lstStyle/>
          <a:p>
            <a:pPr algn="ctr" indent="0" marL="0">
              <a:buNone/>
            </a:pPr>
            <a:r>
              <a:rPr lang="en-US" sz="900" b="1" dirty="0">
                <a:solidFill>
                  <a:srgbClr val="AD4426"/>
                </a:solidFill>
                <a:latin typeface="Calibri" pitchFamily="34" charset="0"/>
                <a:ea typeface="Calibri" pitchFamily="34" charset="-122"/>
                <a:cs typeface="Calibri" pitchFamily="34" charset="-120"/>
              </a:rPr>
              <a:t>Auswerten</a:t>
            </a:r>
            <a:endParaRPr lang="en-US" sz="900" dirty="0"/>
          </a:p>
        </p:txBody>
      </p:sp>
      <p:sp>
        <p:nvSpPr>
          <p:cNvPr id="8" name="Text 6"/>
          <p:cNvSpPr txBox="1"/>
          <p:nvPr/>
        </p:nvSpPr>
        <p:spPr>
          <a:xfrm>
            <a:off x="457200" y="274320"/>
            <a:ext cx="640080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ABSCHLUSSAUFGABE · BEISPIEL</a:t>
            </a:r>
            <a:endParaRPr lang="en-US" sz="1100" dirty="0"/>
          </a:p>
        </p:txBody>
      </p:sp>
      <p:sp>
        <p:nvSpPr>
          <p:cNvPr id="9" name="Text 7"/>
          <p:cNvSpPr txBox="1"/>
          <p:nvPr/>
        </p:nvSpPr>
        <p:spPr>
          <a:xfrm>
            <a:off x="457200" y="502920"/>
            <a:ext cx="6583680" cy="594360"/>
          </a:xfrm>
          <a:prstGeom prst="rect">
            <a:avLst/>
          </a:prstGeom>
          <a:noFill/>
          <a:ln/>
        </p:spPr>
        <p:txBody>
          <a:bodyPr wrap="square" lIns="0" tIns="0" rIns="0" bIns="0" rtlCol="0" anchor="t"/>
          <a:lstStyle/>
          <a:p>
            <a:pPr indent="0" marL="0">
              <a:buNone/>
            </a:pPr>
            <a:r>
              <a:rPr lang="en-US" sz="2600" b="1" dirty="0">
                <a:solidFill>
                  <a:srgbClr val="2B2318"/>
                </a:solidFill>
                <a:latin typeface="Cambria" pitchFamily="34" charset="0"/>
                <a:ea typeface="Cambria" pitchFamily="34" charset="-122"/>
                <a:cs typeface="Cambria" pitchFamily="34" charset="-120"/>
              </a:rPr>
              <a:t>So könnte die Antwort lauten</a:t>
            </a:r>
            <a:endParaRPr lang="en-US" sz="2600" dirty="0"/>
          </a:p>
        </p:txBody>
      </p:sp>
      <p:sp>
        <p:nvSpPr>
          <p:cNvPr id="10" name="Text 8"/>
          <p:cNvSpPr txBox="1"/>
          <p:nvPr/>
        </p:nvSpPr>
        <p:spPr>
          <a:xfrm>
            <a:off x="5806440" y="109728"/>
            <a:ext cx="1143000" cy="256032"/>
          </a:xfrm>
          <a:prstGeom prst="roundRect">
            <a:avLst>
              <a:gd name="adj" fmla="val 28571"/>
            </a:avLst>
          </a:prstGeom>
          <a:solidFill>
            <a:srgbClr val="D9A441"/>
          </a:solidFill>
          <a:ln/>
        </p:spPr>
        <p:txBody>
          <a:bodyPr wrap="square" lIns="0" tIns="0" rIns="0" bIns="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11" name="Shape 9"/>
          <p:cNvSpPr/>
          <p:nvPr/>
        </p:nvSpPr>
        <p:spPr>
          <a:xfrm>
            <a:off x="457200" y="1234440"/>
            <a:ext cx="8229600" cy="1828800"/>
          </a:xfrm>
          <a:prstGeom prst="roundRect">
            <a:avLst>
              <a:gd name="adj" fmla="val 4000"/>
            </a:avLst>
          </a:prstGeom>
          <a:solidFill>
            <a:srgbClr val="F4ECDE"/>
          </a:solidFill>
          <a:ln w="12700">
            <a:solidFill>
              <a:srgbClr val="F4ECDE"/>
            </a:solidFill>
            <a:prstDash val="solid"/>
          </a:ln>
        </p:spPr>
      </p:sp>
      <p:sp>
        <p:nvSpPr>
          <p:cNvPr id="12" name="Text 10"/>
          <p:cNvSpPr txBox="1"/>
          <p:nvPr/>
        </p:nvSpPr>
        <p:spPr>
          <a:xfrm>
            <a:off x="731520" y="1325880"/>
            <a:ext cx="7680960" cy="1645920"/>
          </a:xfrm>
          <a:prstGeom prst="rect">
            <a:avLst/>
          </a:prstGeom>
          <a:noFill/>
          <a:ln/>
        </p:spPr>
        <p:txBody>
          <a:bodyPr wrap="square" lIns="0" tIns="0" rIns="0" bIns="0" rtlCol="0" anchor="ctr"/>
          <a:lstStyle/>
          <a:p>
            <a:pPr indent="0" marL="0">
              <a:buNone/>
            </a:pPr>
            <a:r>
              <a:rPr lang="en-US" sz="1500" i="1" dirty="0">
                <a:solidFill>
                  <a:srgbClr val="2B2318"/>
                </a:solidFill>
                <a:latin typeface="Calibri" pitchFamily="34" charset="0"/>
                <a:ea typeface="Calibri" pitchFamily="34" charset="-122"/>
                <a:cs typeface="Calibri" pitchFamily="34" charset="-120"/>
              </a:rPr>
              <a:t>„Solon gab allen Bürgern das Stimmrecht, aber viele Bauern stimmten weiter so, wie ihr Adelsherr es wollte. Kleisthenes änderte nicht die Rechte, sondern die Bindungen: Die neuen Phylen mischten Stadt, Küste und Binnenland und verteilten die Gefolgschaft der Adligen. Dadurch konnten die Bürger ihr Stimmrecht zum ersten Mal frei nutzen.“</a:t>
            </a:r>
            <a:endParaRPr lang="en-US" sz="1500" dirty="0"/>
          </a:p>
        </p:txBody>
      </p:sp>
      <p:sp>
        <p:nvSpPr>
          <p:cNvPr id="13" name="Shape 11"/>
          <p:cNvSpPr/>
          <p:nvPr/>
        </p:nvSpPr>
        <p:spPr>
          <a:xfrm>
            <a:off x="457200" y="3291840"/>
            <a:ext cx="8229600" cy="1188720"/>
          </a:xfrm>
          <a:prstGeom prst="roundRect">
            <a:avLst>
              <a:gd name="adj" fmla="val 6154"/>
            </a:avLst>
          </a:prstGeom>
          <a:solidFill>
            <a:srgbClr val="2B2318"/>
          </a:solidFill>
          <a:ln w="12700">
            <a:solidFill>
              <a:srgbClr val="2B2318"/>
            </a:solidFill>
            <a:prstDash val="solid"/>
          </a:ln>
        </p:spPr>
      </p:sp>
      <p:sp>
        <p:nvSpPr>
          <p:cNvPr id="14" name="Text 12"/>
          <p:cNvSpPr txBox="1"/>
          <p:nvPr/>
        </p:nvSpPr>
        <p:spPr>
          <a:xfrm>
            <a:off x="731520" y="3291840"/>
            <a:ext cx="7680960" cy="1188720"/>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Haben wir das Ziel erreicht?
</a:t>
            </a:r>
            <a:pPr indent="0" marL="0">
              <a:buNone/>
            </a:pPr>
            <a:r>
              <a:rPr lang="en-US" sz="1600" dirty="0">
                <a:solidFill>
                  <a:srgbClr val="FFFFFF"/>
                </a:solidFill>
                <a:latin typeface="Calibri" pitchFamily="34" charset="0"/>
                <a:ea typeface="Calibri" pitchFamily="34" charset="-122"/>
                <a:cs typeface="Calibri" pitchFamily="34" charset="-120"/>
              </a:rPr>
              <a:t>Ich kann erklären, wie Kleisthenes mit der neuen Phylenordnung die Macht der Adelsfamilien brach.</a:t>
            </a:r>
            <a:endParaRPr lang="en-US" sz="1500" dirty="0"/>
          </a:p>
        </p:txBody>
      </p:sp>
      <p:sp>
        <p:nvSpPr>
          <p:cNvPr id="15" name="Text 13"/>
          <p:cNvSpPr txBox="1"/>
          <p:nvPr/>
        </p:nvSpPr>
        <p:spPr>
          <a:xfrm>
            <a:off x="457200" y="4773168"/>
            <a:ext cx="54864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Kleisthenes – Warum stimmt Lysias anders?</a:t>
            </a:r>
            <a:endParaRPr lang="en-US" sz="9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98C77"/>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Kleisthenes – Warum stimmt Lysias anders?</dc:title>
  <dc:subject>PptxGenJS Presentation</dc:subject>
  <dc:creator>PptxGenJS</dc:creator>
  <cp:lastModifiedBy>PptxGenJS</cp:lastModifiedBy>
  <cp:revision>1</cp:revision>
  <dcterms:created xsi:type="dcterms:W3CDTF">2026-10-28T15:09:14Z</dcterms:created>
  <dcterms:modified xsi:type="dcterms:W3CDTF">2026-10-28T15:09:14Z</dcterms:modified>
</cp:coreProperties>
</file>