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vorbereitet: Ziel und Ablauf (Folie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wird bei Zeitnot nur kurz gestreift.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Direkt: Vorwissen aktivieren über einen Fehlertext. Allein (2), Partnercheck (1), Stichproben bei 4–6 Schülern unterschiedlichen Niveaus (2). Buch und Hefter zu – nur das Heft für die Berichtigung. Die Fehler: Recht beim Adel; Schuldknechtschaft bleibt bei Drakon; Solon ohne Landverteilung; Rechte nach Besitz, Theten kein Archont; Peisistratos mit Söldnern; Verfassung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Min. Lösung vergleichen, Fehler im Heft grün verbessern. Dann die offene Leitfrage der letzten Stunde: zwei Schüler antworten in einem Satz, danach der Satz unten auf der Folie. Das „Aber“ ist die Gelenkstelle zu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 (Hipparchos ermordet 514, Hippias verbannt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eine erfundene Figur,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 (Begriffs-Check). 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modellieren und laut denken. Warnung vor dem Fehler vorlesen. Dann Gruppen zu dritt bilden und Sets austeilen (vorher bereitlegen).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(Text in acht Abschnitten). Umhergehen, zuhören. Stolpersteine und Hilfen in der Handreichung. Nach 10 Min. ansagen: „Noch 4 Minuten – jetzt schreibt jeder die Antwort.“ Acht Abschnitte, keine Ablenker.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ihre Antwort vom Platz vor, du trägst die Kette an der Tafel ein. Dann diese Folie. Impuls: Vergleicht mit eurer Vermutung von vorhin –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Schaubild erklären (direkt, 2 Min.), dann Prüffragen an 3–4 Schüler: „Warum mischt Kleisthenes gerade drei Gebiete?“ (damit keine Familie in einer Phyle die Mehrheit hat) – „Was verliert der Adlige, was behält er?“ (verliert die geschlossene Gefolgschaft, behält Land und Vermögensklasse). Tafelskizze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38–43 Min. Prüfaufgabe zum Ziel. Gezielt zwei Schüler unterschiedlichen Niveaus vorlesen lassen, dann Folie 13 und Rückbezug aufs Ziel (Seitentafel). Diese Phase nie kürzen – bei Zeitnot Folie 11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Rückbezug zum Ziel. Ausblick: Am Mittwoch lesen wir, wie Aristoteles diese Reform beschreibt – und lernen, eine Quelle zu analysieren.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Warum stimmt Lysias anders?</a:t>
            </a:r>
            <a:endParaRPr lang="en-US" sz="36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Die Reformen des Kleisthenes (508/07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Ankommen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ANKOMMEN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Ziel und Ablauf</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11" name="Shape 9"/>
          <p:cNvSpPr/>
          <p:nvPr/>
        </p:nvSpPr>
        <p:spPr>
          <a:xfrm>
            <a:off x="457200" y="1234440"/>
            <a:ext cx="8229600" cy="960120"/>
          </a:xfrm>
          <a:prstGeom prst="roundRect">
            <a:avLst>
              <a:gd name="adj" fmla="val 7619"/>
            </a:avLst>
          </a:prstGeom>
          <a:solidFill>
            <a:srgbClr val="2B2318"/>
          </a:solidFill>
          <a:ln w="12700">
            <a:solidFill>
              <a:srgbClr val="2B2318"/>
            </a:solidFill>
            <a:prstDash val="solid"/>
          </a:ln>
        </p:spPr>
      </p:sp>
      <p:sp>
        <p:nvSpPr>
          <p:cNvPr id="12" name="Text 10"/>
          <p:cNvSpPr txBox="1"/>
          <p:nvPr/>
        </p:nvSpPr>
        <p:spPr>
          <a:xfrm>
            <a:off x="685800" y="1234440"/>
            <a:ext cx="7772400" cy="96012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Ich kann erklären, </a:t>
            </a:r>
            <a:pPr indent="0" marL="0">
              <a:buNone/>
            </a:pPr>
            <a:r>
              <a:rPr lang="en-US" sz="1900" b="1" dirty="0">
                <a:solidFill>
                  <a:srgbClr val="D9A441"/>
                </a:solidFill>
                <a:latin typeface="Calibri" pitchFamily="34" charset="0"/>
                <a:ea typeface="Calibri" pitchFamily="34" charset="-122"/>
                <a:cs typeface="Calibri" pitchFamily="34" charset="-120"/>
              </a:rPr>
              <a:t>wie Kleisthenes mit der neuen Phylenordnung die Macht der Adelsfamilien brach.</a:t>
            </a:r>
            <a:endParaRPr lang="en-US" sz="1900" dirty="0"/>
          </a:p>
        </p:txBody>
      </p:sp>
      <p:sp>
        <p:nvSpPr>
          <p:cNvPr id="13" name="Text 11"/>
          <p:cNvSpPr txBox="1"/>
          <p:nvPr/>
        </p:nvSpPr>
        <p:spPr>
          <a:xfrm>
            <a:off x="457200" y="23957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005840" y="23957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Wiederholung: Wer regierte Athen bisher? Fehler finden</a:t>
            </a:r>
            <a:endParaRPr lang="en-US" sz="1500" dirty="0"/>
          </a:p>
        </p:txBody>
      </p:sp>
      <p:sp>
        <p:nvSpPr>
          <p:cNvPr id="15" name="Text 13"/>
          <p:cNvSpPr txBox="1"/>
          <p:nvPr/>
        </p:nvSpPr>
        <p:spPr>
          <a:xfrm>
            <a:off x="457200" y="28529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I</a:t>
            </a:r>
            <a:endParaRPr lang="en-US" sz="1300" dirty="0"/>
          </a:p>
        </p:txBody>
      </p:sp>
      <p:sp>
        <p:nvSpPr>
          <p:cNvPr id="16" name="Text 14"/>
          <p:cNvSpPr txBox="1"/>
          <p:nvPr/>
        </p:nvSpPr>
        <p:spPr>
          <a:xfrm>
            <a:off x="1005840" y="28529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Eine rätselhafte Frage und zwei neue Begriffe</a:t>
            </a:r>
            <a:endParaRPr lang="en-US" sz="1500" dirty="0"/>
          </a:p>
        </p:txBody>
      </p:sp>
      <p:sp>
        <p:nvSpPr>
          <p:cNvPr id="17" name="Text 15"/>
          <p:cNvSpPr txBox="1"/>
          <p:nvPr/>
        </p:nvSpPr>
        <p:spPr>
          <a:xfrm>
            <a:off x="457200" y="33101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8" name="Text 16"/>
          <p:cNvSpPr txBox="1"/>
          <p:nvPr/>
        </p:nvSpPr>
        <p:spPr>
          <a:xfrm>
            <a:off x="1005840" y="33101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Mystery: Warum stimmt Lysias anders?</a:t>
            </a:r>
            <a:endParaRPr lang="en-US" sz="1500" dirty="0"/>
          </a:p>
        </p:txBody>
      </p:sp>
      <p:sp>
        <p:nvSpPr>
          <p:cNvPr id="19" name="Text 17"/>
          <p:cNvSpPr txBox="1"/>
          <p:nvPr/>
        </p:nvSpPr>
        <p:spPr>
          <a:xfrm>
            <a:off x="457200" y="37673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20" name="Text 18"/>
          <p:cNvSpPr txBox="1"/>
          <p:nvPr/>
        </p:nvSpPr>
        <p:spPr>
          <a:xfrm>
            <a:off x="1005840" y="37673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Die Lösung und die neue Ordnung Attikas (Ostrakismos*)</a:t>
            </a:r>
            <a:endParaRPr lang="en-US" sz="1500" dirty="0"/>
          </a:p>
        </p:txBody>
      </p:sp>
      <p:sp>
        <p:nvSpPr>
          <p:cNvPr id="21" name="Text 19"/>
          <p:cNvSpPr txBox="1"/>
          <p:nvPr/>
        </p:nvSpPr>
        <p:spPr>
          <a:xfrm>
            <a:off x="457200" y="42245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A</a:t>
            </a:r>
            <a:endParaRPr lang="en-US" sz="1300" dirty="0"/>
          </a:p>
        </p:txBody>
      </p:sp>
      <p:sp>
        <p:nvSpPr>
          <p:cNvPr id="22" name="Text 20"/>
          <p:cNvSpPr txBox="1"/>
          <p:nvPr/>
        </p:nvSpPr>
        <p:spPr>
          <a:xfrm>
            <a:off x="1005840" y="42245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Abschlussaufgabe: Kleisthenes und Solon</a:t>
            </a:r>
            <a:endParaRPr lang="en-US" sz="1500" dirty="0"/>
          </a:p>
        </p:txBody>
      </p:sp>
      <p:sp>
        <p:nvSpPr>
          <p:cNvPr id="23" name="Text 21"/>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ALLEIN, DANN ZU ZWEIT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Hier stimmt etwas nicht!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Recht sprechen gewählte Richter aus dem Volk.</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die Schuldknechtschaft ab.</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streicht die Schulden und verteilt das Land der Großgrundbesitzer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Rechte richten sich nach der Herkunft; auch Theten dürfen Archont werden.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Volksversammlung wählt ihn zum Alleinherrscher.</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Solons Verfassung ab, fördert aber Bauern und Handwerk.</a:t>
            </a:r>
            <a:endParaRPr lang="en-US" sz="1150" dirty="0"/>
          </a:p>
        </p:txBody>
      </p:sp>
      <p:sp>
        <p:nvSpPr>
          <p:cNvPr id="39" name="Shape 37"/>
          <p:cNvSpPr/>
          <p:nvPr/>
        </p:nvSpPr>
        <p:spPr>
          <a:xfrm>
            <a:off x="457200" y="4389120"/>
            <a:ext cx="8229600" cy="329184"/>
          </a:xfrm>
          <a:prstGeom prst="roundRect">
            <a:avLst>
              <a:gd name="adj" fmla="val 22222"/>
            </a:avLst>
          </a:prstGeom>
          <a:solidFill>
            <a:srgbClr val="AD4426"/>
          </a:solidFill>
          <a:ln w="12700">
            <a:solidFill>
              <a:srgbClr val="AD4426"/>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Finde die 6 Fehler und berichtige sie im Heft. Dann vergleiche mit deinem Nachbarn.   (-kratie: kratein = herrschen)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richtige Übersicht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097280"/>
            <a:ext cx="8229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325880" y="1097280"/>
            <a:ext cx="16459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 (griech.)</a:t>
            </a:r>
            <a:endParaRPr lang="en-US" sz="1150" dirty="0"/>
          </a:p>
        </p:txBody>
      </p:sp>
      <p:sp>
        <p:nvSpPr>
          <p:cNvPr id="13" name="Text 11"/>
          <p:cNvSpPr txBox="1"/>
          <p:nvPr/>
        </p:nvSpPr>
        <p:spPr>
          <a:xfrm>
            <a:off x="3017520" y="1097280"/>
            <a:ext cx="11430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206240" y="1097280"/>
            <a:ext cx="448056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325880" y="142646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18" name="Text 16"/>
          <p:cNvSpPr txBox="1"/>
          <p:nvPr/>
        </p:nvSpPr>
        <p:spPr>
          <a:xfrm>
            <a:off x="3017520" y="142646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206240" y="145389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206240" y="178308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Recht spricht der Adel – geschriebene Gesetze gibt es nicht.</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325880" y="215798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
</a:t>
            </a:r>
            <a:pPr indent="0" marL="0">
              <a:buNone/>
            </a:pPr>
            <a:r>
              <a:rPr lang="en-US" sz="950" i="1" dirty="0">
                <a:solidFill>
                  <a:srgbClr val="5A5044"/>
                </a:solidFill>
                <a:latin typeface="Calibri" pitchFamily="34" charset="0"/>
                <a:ea typeface="Calibri" pitchFamily="34" charset="-122"/>
                <a:cs typeface="Calibri" pitchFamily="34" charset="-120"/>
              </a:rPr>
              <a:t>aristos = der Beste</a:t>
            </a:r>
            <a:endParaRPr lang="en-US" sz="1250" dirty="0"/>
          </a:p>
        </p:txBody>
      </p:sp>
      <p:sp>
        <p:nvSpPr>
          <p:cNvPr id="24" name="Text 22"/>
          <p:cNvSpPr txBox="1"/>
          <p:nvPr/>
        </p:nvSpPr>
        <p:spPr>
          <a:xfrm>
            <a:off x="3017520" y="215798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206240" y="2185416"/>
            <a:ext cx="448056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206240" y="251460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Schuldknechtschaft bleibt bestehen.</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325880" y="288950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
</a:t>
            </a:r>
            <a:pPr indent="0" marL="0">
              <a:buNone/>
            </a:pPr>
            <a:r>
              <a:rPr lang="en-US" sz="950" i="1" dirty="0">
                <a:solidFill>
                  <a:srgbClr val="5A5044"/>
                </a:solidFill>
                <a:latin typeface="Calibri" pitchFamily="34" charset="0"/>
                <a:ea typeface="Calibri" pitchFamily="34" charset="-122"/>
                <a:cs typeface="Calibri" pitchFamily="34" charset="-120"/>
              </a:rPr>
              <a:t>timē = Wert, Schätzung</a:t>
            </a:r>
            <a:endParaRPr lang="en-US" sz="1250" dirty="0"/>
          </a:p>
        </p:txBody>
      </p:sp>
      <p:sp>
        <p:nvSpPr>
          <p:cNvPr id="30" name="Text 28"/>
          <p:cNvSpPr txBox="1"/>
          <p:nvPr/>
        </p:nvSpPr>
        <p:spPr>
          <a:xfrm>
            <a:off x="3017520" y="288950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206240" y="291693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streicht die Schulden – verteilt aber kein Land neu.</a:t>
            </a:r>
            <a:endParaRPr lang="en-US" sz="1150" dirty="0"/>
          </a:p>
        </p:txBody>
      </p:sp>
      <p:sp>
        <p:nvSpPr>
          <p:cNvPr id="32" name="Text 30"/>
          <p:cNvSpPr txBox="1"/>
          <p:nvPr/>
        </p:nvSpPr>
        <p:spPr>
          <a:xfrm>
            <a:off x="4206240" y="324612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Rechte richten sich nach dem Besitz; Theten dürfen nur abstimmen und klagen.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82296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325880" y="3621024"/>
            <a:ext cx="164592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
</a:t>
            </a:r>
            <a:pPr indent="0" marL="0">
              <a:buNone/>
            </a:pPr>
            <a:r>
              <a:rPr lang="en-US" sz="950" i="1" dirty="0">
                <a:solidFill>
                  <a:srgbClr val="5A5044"/>
                </a:solidFill>
                <a:latin typeface="Calibri" pitchFamily="34" charset="0"/>
                <a:ea typeface="Calibri" pitchFamily="34" charset="-122"/>
                <a:cs typeface="Calibri" pitchFamily="34" charset="-120"/>
              </a:rPr>
              <a:t>tyrannos = Alleinherrscher</a:t>
            </a:r>
            <a:endParaRPr lang="en-US" sz="1250" dirty="0"/>
          </a:p>
        </p:txBody>
      </p:sp>
      <p:sp>
        <p:nvSpPr>
          <p:cNvPr id="36" name="Text 34"/>
          <p:cNvSpPr txBox="1"/>
          <p:nvPr/>
        </p:nvSpPr>
        <p:spPr>
          <a:xfrm>
            <a:off x="3017520" y="3621024"/>
            <a:ext cx="114300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206240" y="3648456"/>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erobert die Macht mit Söldnern (Akropolis).</a:t>
            </a:r>
            <a:endParaRPr lang="en-US" sz="1150" dirty="0"/>
          </a:p>
        </p:txBody>
      </p:sp>
      <p:sp>
        <p:nvSpPr>
          <p:cNvPr id="38" name="Text 36"/>
          <p:cNvSpPr txBox="1"/>
          <p:nvPr/>
        </p:nvSpPr>
        <p:spPr>
          <a:xfrm>
            <a:off x="4206240" y="3977640"/>
            <a:ext cx="448056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Verfassung bleibt – die Ämter bekommen seine Anhänger.</a:t>
            </a:r>
            <a:endParaRPr lang="en-US" sz="1150" dirty="0"/>
          </a:p>
        </p:txBody>
      </p:sp>
      <p:sp>
        <p:nvSpPr>
          <p:cNvPr id="39" name="Shape 37"/>
          <p:cNvSpPr/>
          <p:nvPr/>
        </p:nvSpPr>
        <p:spPr>
          <a:xfrm>
            <a:off x="457200" y="4389120"/>
            <a:ext cx="8229600" cy="329184"/>
          </a:xfrm>
          <a:prstGeom prst="roundRect">
            <a:avLst>
              <a:gd name="adj" fmla="val 22222"/>
            </a:avLst>
          </a:prstGeom>
          <a:solidFill>
            <a:srgbClr val="2B2318"/>
          </a:solidFill>
          <a:ln w="12700">
            <a:solidFill>
              <a:srgbClr val="2B2318"/>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D9A441"/>
                </a:solidFill>
                <a:latin typeface="Calibri" pitchFamily="34" charset="0"/>
                <a:ea typeface="Calibri" pitchFamily="34" charset="-122"/>
                <a:cs typeface="Calibri" pitchFamily="34" charset="-120"/>
              </a:rPr>
              <a:t>Peisistratos – Wegbereiter der Demokratie? Ja, ungewollt. Aber: Der Adel bestimmt weiter über seine Anhänger.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UND DANN?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Das Ende der Tyrannis</a:t>
            </a:r>
            <a:endParaRPr lang="en-US" sz="2600" dirty="0"/>
          </a:p>
        </p:txBody>
      </p:sp>
      <p:sp>
        <p:nvSpPr>
          <p:cNvPr id="10" name="Shape 8"/>
          <p:cNvSpPr/>
          <p:nvPr/>
        </p:nvSpPr>
        <p:spPr>
          <a:xfrm>
            <a:off x="640080" y="1600200"/>
            <a:ext cx="7863840" cy="0"/>
          </a:xfrm>
          <a:prstGeom prst="line">
            <a:avLst/>
          </a:prstGeom>
          <a:noFill/>
          <a:ln w="38100">
            <a:solidFill>
              <a:srgbClr val="D9CDB8"/>
            </a:solidFill>
            <a:prstDash val="solid"/>
          </a:ln>
        </p:spPr>
      </p:sp>
      <p:sp>
        <p:nvSpPr>
          <p:cNvPr id="11" name="Text 9"/>
          <p:cNvSpPr txBox="1"/>
          <p:nvPr/>
        </p:nvSpPr>
        <p:spPr>
          <a:xfrm>
            <a:off x="50292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45720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528/27 v. Chr.</a:t>
            </a:r>
            <a:endParaRPr lang="en-US" sz="1800" dirty="0"/>
          </a:p>
        </p:txBody>
      </p:sp>
      <p:sp>
        <p:nvSpPr>
          <p:cNvPr id="13" name="Text 11"/>
          <p:cNvSpPr txBox="1"/>
          <p:nvPr/>
        </p:nvSpPr>
        <p:spPr>
          <a:xfrm>
            <a:off x="45720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stirbt. Seine Söhne Hippias und Hipparchos herrschen weiter.</a:t>
            </a:r>
            <a:endParaRPr lang="en-US" sz="1500" dirty="0"/>
          </a:p>
        </p:txBody>
      </p:sp>
      <p:sp>
        <p:nvSpPr>
          <p:cNvPr id="14" name="Text 12"/>
          <p:cNvSpPr txBox="1"/>
          <p:nvPr/>
        </p:nvSpPr>
        <p:spPr>
          <a:xfrm>
            <a:off x="329184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324612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514 v. Chr.</a:t>
            </a:r>
            <a:endParaRPr lang="en-US" sz="1800" dirty="0"/>
          </a:p>
        </p:txBody>
      </p:sp>
      <p:sp>
        <p:nvSpPr>
          <p:cNvPr id="16" name="Text 14"/>
          <p:cNvSpPr txBox="1"/>
          <p:nvPr/>
        </p:nvSpPr>
        <p:spPr>
          <a:xfrm>
            <a:off x="324612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Hipparchos wird ermordet. Es kommt zu blutigen Aufständen.</a:t>
            </a:r>
            <a:endParaRPr lang="en-US" sz="1500" dirty="0"/>
          </a:p>
        </p:txBody>
      </p:sp>
      <p:sp>
        <p:nvSpPr>
          <p:cNvPr id="17" name="Text 15"/>
          <p:cNvSpPr txBox="1"/>
          <p:nvPr/>
        </p:nvSpPr>
        <p:spPr>
          <a:xfrm>
            <a:off x="608076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03504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510 v. Chr.</a:t>
            </a:r>
            <a:endParaRPr lang="en-US" sz="1800" dirty="0"/>
          </a:p>
        </p:txBody>
      </p:sp>
      <p:sp>
        <p:nvSpPr>
          <p:cNvPr id="19" name="Text 17"/>
          <p:cNvSpPr txBox="1"/>
          <p:nvPr/>
        </p:nvSpPr>
        <p:spPr>
          <a:xfrm>
            <a:off x="603504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Hippias wird verbannt. Athen hat keinen Herrscher mehr.</a:t>
            </a:r>
            <a:endParaRPr lang="en-US" sz="1500" dirty="0"/>
          </a:p>
        </p:txBody>
      </p:sp>
      <p:sp>
        <p:nvSpPr>
          <p:cNvPr id="20" name="Shape 18"/>
          <p:cNvSpPr/>
          <p:nvPr/>
        </p:nvSpPr>
        <p:spPr>
          <a:xfrm>
            <a:off x="457200" y="3657600"/>
            <a:ext cx="8229600" cy="822960"/>
          </a:xfrm>
          <a:prstGeom prst="roundRect">
            <a:avLst>
              <a:gd name="adj" fmla="val 8889"/>
            </a:avLst>
          </a:prstGeom>
          <a:solidFill>
            <a:srgbClr val="2B2318"/>
          </a:solidFill>
          <a:ln w="12700">
            <a:solidFill>
              <a:srgbClr val="2B2318"/>
            </a:solidFill>
            <a:prstDash val="solid"/>
          </a:ln>
        </p:spPr>
      </p:sp>
      <p:sp>
        <p:nvSpPr>
          <p:cNvPr id="21" name="Text 19"/>
          <p:cNvSpPr txBox="1"/>
          <p:nvPr/>
        </p:nvSpPr>
        <p:spPr>
          <a:xfrm>
            <a:off x="685800" y="3657600"/>
            <a:ext cx="7772400" cy="8229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Jetzt kämpfen wieder die Adelsfamilien um die Macht. Wie kann man ihre Macht brechen – ohne ihnen das Land wegzunehmen?</a:t>
            </a:r>
            <a:endParaRPr lang="en-US" sz="16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D9A441"/>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DAS RÄTSEL · ALLEIN</a:t>
            </a:r>
            <a:endParaRPr lang="en-US" sz="1100" dirty="0"/>
          </a:p>
        </p:txBody>
      </p:sp>
      <p:sp>
        <p:nvSpPr>
          <p:cNvPr id="9" name="Text 7"/>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10" name="Text 8"/>
          <p:cNvSpPr txBox="1"/>
          <p:nvPr/>
        </p:nvSpPr>
        <p:spPr>
          <a:xfrm>
            <a:off x="457200" y="594360"/>
            <a:ext cx="64008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Warum stimmt Lysias anders?</a:t>
            </a:r>
            <a:endParaRPr lang="en-US" sz="2800" dirty="0"/>
          </a:p>
        </p:txBody>
      </p:sp>
      <p:sp>
        <p:nvSpPr>
          <p:cNvPr id="11" name="Text 9"/>
          <p:cNvSpPr txBox="1"/>
          <p:nvPr/>
        </p:nvSpPr>
        <p:spPr>
          <a:xfrm>
            <a:off x="457200" y="1325880"/>
            <a:ext cx="8229600" cy="1737360"/>
          </a:xfrm>
          <a:prstGeom prst="rect">
            <a:avLst/>
          </a:prstGeom>
          <a:noFill/>
          <a:ln/>
        </p:spPr>
        <p:txBody>
          <a:bodyPr wrap="square" lIns="0" tIns="0" rIns="0" bIns="0" rtlCol="0" anchor="t"/>
          <a:lstStyle/>
          <a:p>
            <a:pPr indent="0" marL="0">
              <a:buNone/>
            </a:pPr>
            <a:r>
              <a:rPr lang="en-US" sz="19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1900" dirty="0"/>
          </a:p>
        </p:txBody>
      </p:sp>
      <p:sp>
        <p:nvSpPr>
          <p:cNvPr id="12" name="Shape 10"/>
          <p:cNvSpPr/>
          <p:nvPr/>
        </p:nvSpPr>
        <p:spPr>
          <a:xfrm>
            <a:off x="457200" y="3291840"/>
            <a:ext cx="8229600" cy="868680"/>
          </a:xfrm>
          <a:prstGeom prst="roundRect">
            <a:avLst>
              <a:gd name="adj" fmla="val 8421"/>
            </a:avLst>
          </a:prstGeom>
          <a:solidFill>
            <a:srgbClr val="AD4426"/>
          </a:solidFill>
          <a:ln w="12700">
            <a:solidFill>
              <a:srgbClr val="AD4426"/>
            </a:solidFill>
            <a:prstDash val="solid"/>
          </a:ln>
        </p:spPr>
      </p:sp>
      <p:sp>
        <p:nvSpPr>
          <p:cNvPr id="13" name="Text 11"/>
          <p:cNvSpPr txBox="1"/>
          <p:nvPr/>
        </p:nvSpPr>
        <p:spPr>
          <a:xfrm>
            <a:off x="685800" y="3291840"/>
            <a:ext cx="777240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Schreib eine erste Vermutung ins Heft: „Ich vermute, Lysias stimmt anders, weil …“</a:t>
            </a:r>
            <a:endParaRPr lang="en-US" sz="17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BEGRIFFE</a:t>
            </a:r>
            <a:endParaRPr lang="en-US" sz="1200" dirty="0"/>
          </a:p>
        </p:txBody>
      </p:sp>
      <p:sp>
        <p:nvSpPr>
          <p:cNvPr id="9" name="Text 7"/>
          <p:cNvSpPr txBox="1"/>
          <p:nvPr/>
        </p:nvSpPr>
        <p:spPr>
          <a:xfrm>
            <a:off x="45720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Demos</a:t>
            </a:r>
            <a:endParaRPr lang="en-US" sz="3400" dirty="0"/>
          </a:p>
        </p:txBody>
      </p:sp>
      <p:sp>
        <p:nvSpPr>
          <p:cNvPr id="10" name="Text 8"/>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dēmos = Volk, auch: Dorfgemeinde</a:t>
            </a:r>
            <a:endParaRPr lang="en-US" sz="1400" dirty="0"/>
          </a:p>
        </p:txBody>
      </p:sp>
      <p:sp>
        <p:nvSpPr>
          <p:cNvPr id="11" name="Shape 9"/>
          <p:cNvSpPr/>
          <p:nvPr/>
        </p:nvSpPr>
        <p:spPr>
          <a:xfrm>
            <a:off x="457200" y="1463040"/>
            <a:ext cx="64008" cy="2103120"/>
          </a:xfrm>
          <a:prstGeom prst="rect">
            <a:avLst/>
          </a:prstGeom>
          <a:solidFill>
            <a:srgbClr val="AD4426"/>
          </a:solidFill>
          <a:ln w="12700">
            <a:solidFill>
              <a:srgbClr val="AD4426"/>
            </a:solidFill>
            <a:prstDash val="solid"/>
          </a:ln>
        </p:spPr>
      </p:sp>
      <p:sp>
        <p:nvSpPr>
          <p:cNvPr id="12" name="Text 10"/>
          <p:cNvSpPr txBox="1"/>
          <p:nvPr/>
        </p:nvSpPr>
        <p:spPr>
          <a:xfrm>
            <a:off x="68580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Eine Dorf- oder Stadtteilgemeinde in Attika. Kleisthenes gliedert Attika in rund 139 Demen. Wer in der Liste seines Demos steht, ist Bürger.</a:t>
            </a:r>
            <a:endParaRPr lang="en-US" sz="2100" dirty="0"/>
          </a:p>
        </p:txBody>
      </p:sp>
      <p:sp>
        <p:nvSpPr>
          <p:cNvPr id="13" name="Text 11"/>
          <p:cNvSpPr txBox="1"/>
          <p:nvPr/>
        </p:nvSpPr>
        <p:spPr>
          <a:xfrm>
            <a:off x="466344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Trittys</a:t>
            </a:r>
            <a:endParaRPr lang="en-US" sz="3400" dirty="0"/>
          </a:p>
        </p:txBody>
      </p:sp>
      <p:sp>
        <p:nvSpPr>
          <p:cNvPr id="14" name="Text 12"/>
          <p:cNvSpPr txBox="1"/>
          <p:nvPr/>
        </p:nvSpPr>
        <p:spPr>
          <a:xfrm>
            <a:off x="466344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„Drittel“ (Mehrzahl: Trittyen)</a:t>
            </a:r>
            <a:endParaRPr lang="en-US" sz="1400" dirty="0"/>
          </a:p>
        </p:txBody>
      </p:sp>
      <p:sp>
        <p:nvSpPr>
          <p:cNvPr id="15" name="Shape 13"/>
          <p:cNvSpPr/>
          <p:nvPr/>
        </p:nvSpPr>
        <p:spPr>
          <a:xfrm>
            <a:off x="4663440" y="1463040"/>
            <a:ext cx="64008" cy="2103120"/>
          </a:xfrm>
          <a:prstGeom prst="rect">
            <a:avLst/>
          </a:prstGeom>
          <a:solidFill>
            <a:srgbClr val="AD4426"/>
          </a:solidFill>
          <a:ln w="12700">
            <a:solidFill>
              <a:srgbClr val="AD4426"/>
            </a:solidFill>
            <a:prstDash val="solid"/>
          </a:ln>
        </p:spPr>
      </p:sp>
      <p:sp>
        <p:nvSpPr>
          <p:cNvPr id="16" name="Text 14"/>
          <p:cNvSpPr txBox="1"/>
          <p:nvPr/>
        </p:nvSpPr>
        <p:spPr>
          <a:xfrm>
            <a:off x="489204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 Bezirk aus mehreren Demen. Jede neue Phyle besteht aus drei Trittyen – daher der Name.</a:t>
            </a:r>
            <a:endParaRPr lang="en-US" sz="2100" dirty="0"/>
          </a:p>
        </p:txBody>
      </p:sp>
      <p:sp>
        <p:nvSpPr>
          <p:cNvPr id="17" name="Shape 15"/>
          <p:cNvSpPr/>
          <p:nvPr/>
        </p:nvSpPr>
        <p:spPr>
          <a:xfrm>
            <a:off x="457200" y="3840480"/>
            <a:ext cx="8229600" cy="731520"/>
          </a:xfrm>
          <a:prstGeom prst="roundRect">
            <a:avLst>
              <a:gd name="adj" fmla="val 10000"/>
            </a:avLst>
          </a:prstGeom>
          <a:solidFill>
            <a:srgbClr val="2B2318"/>
          </a:solidFill>
          <a:ln w="12700">
            <a:solidFill>
              <a:srgbClr val="2B2318"/>
            </a:solidFill>
            <a:prstDash val="solid"/>
          </a:ln>
        </p:spPr>
      </p:sp>
      <p:sp>
        <p:nvSpPr>
          <p:cNvPr id="18" name="Text 16"/>
          <p:cNvSpPr/>
          <p:nvPr/>
        </p:nvSpPr>
        <p:spPr>
          <a:xfrm>
            <a:off x="731520" y="3840480"/>
            <a:ext cx="777240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Schon bekannt: </a:t>
            </a:r>
            <a:pPr indent="0" marL="0">
              <a:buNone/>
            </a:pPr>
            <a:r>
              <a:rPr lang="en-US" sz="1600" dirty="0">
                <a:solidFill>
                  <a:srgbClr val="FFFFFF"/>
                </a:solidFill>
                <a:latin typeface="Calibri" pitchFamily="34" charset="0"/>
                <a:ea typeface="Calibri" pitchFamily="34" charset="-122"/>
                <a:cs typeface="Calibri" pitchFamily="34" charset="-120"/>
              </a:rPr>
              <a:t>Phyle = Stammesverband. Bisher gab es vier alte Phylen, in denen die Adelsfamilien den Ton angaben.</a:t>
            </a:r>
            <a:endParaRPr lang="en-US" sz="1600" dirty="0"/>
          </a:p>
        </p:txBody>
      </p:sp>
      <p:sp>
        <p:nvSpPr>
          <p:cNvPr id="19"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Zwei Abschnitte verbinden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11" name="Shape 9"/>
          <p:cNvSpPr/>
          <p:nvPr/>
        </p:nvSpPr>
        <p:spPr>
          <a:xfrm>
            <a:off x="457200" y="1234440"/>
            <a:ext cx="3749040" cy="1234440"/>
          </a:xfrm>
          <a:prstGeom prst="roundRect">
            <a:avLst>
              <a:gd name="adj" fmla="val 5926"/>
            </a:avLst>
          </a:prstGeom>
          <a:solidFill>
            <a:srgbClr val="FBF8F2"/>
          </a:solidFill>
          <a:ln w="12700">
            <a:solidFill>
              <a:srgbClr val="FBF8F2"/>
            </a:solidFill>
            <a:prstDash val="solid"/>
          </a:ln>
        </p:spPr>
      </p:sp>
      <p:sp>
        <p:nvSpPr>
          <p:cNvPr id="12" name="Shape 10"/>
          <p:cNvSpPr/>
          <p:nvPr/>
        </p:nvSpPr>
        <p:spPr>
          <a:xfrm>
            <a:off x="457200" y="1234440"/>
            <a:ext cx="3749040" cy="1234440"/>
          </a:xfrm>
          <a:prstGeom prst="roundRect">
            <a:avLst>
              <a:gd name="adj" fmla="val 5926"/>
            </a:avLst>
          </a:prstGeom>
          <a:ln w="12700">
            <a:solidFill>
              <a:srgbClr val="D9CDB8"/>
            </a:solidFill>
            <a:prstDash val="dash"/>
          </a:ln>
        </p:spPr>
      </p:sp>
      <p:sp>
        <p:nvSpPr>
          <p:cNvPr id="13" name="Text 11"/>
          <p:cNvSpPr txBox="1"/>
          <p:nvPr/>
        </p:nvSpPr>
        <p:spPr>
          <a:xfrm>
            <a:off x="59436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4  </a:t>
            </a:r>
            <a:pPr indent="0" marL="0">
              <a:buNone/>
            </a:pPr>
            <a:r>
              <a:rPr lang="en-US" sz="1350" dirty="0">
                <a:solidFill>
                  <a:srgbClr val="2B2318"/>
                </a:solidFill>
                <a:latin typeface="Calibri" pitchFamily="34" charset="0"/>
                <a:ea typeface="Calibri" pitchFamily="34" charset="-122"/>
                <a:cs typeface="Calibri" pitchFamily="34" charset="-120"/>
              </a:rPr>
              <a:t>Lysias und sein Nachbar: „Seit Solon darf jeder Bürger über 20 … abstimmen – auch ein armer Bauer wie er. Sein Nachbar ist ein reicher Adliger …“</a:t>
            </a:r>
            <a:endParaRPr lang="en-US" sz="1350" dirty="0"/>
          </a:p>
        </p:txBody>
      </p:sp>
      <p:sp>
        <p:nvSpPr>
          <p:cNvPr id="14" name="Shape 12"/>
          <p:cNvSpPr/>
          <p:nvPr/>
        </p:nvSpPr>
        <p:spPr>
          <a:xfrm>
            <a:off x="4937760" y="1234440"/>
            <a:ext cx="3749040" cy="1234440"/>
          </a:xfrm>
          <a:prstGeom prst="roundRect">
            <a:avLst>
              <a:gd name="adj" fmla="val 5926"/>
            </a:avLst>
          </a:prstGeom>
          <a:solidFill>
            <a:srgbClr val="FBF8F2"/>
          </a:solidFill>
          <a:ln w="12700">
            <a:solidFill>
              <a:srgbClr val="FBF8F2"/>
            </a:solidFill>
            <a:prstDash val="solid"/>
          </a:ln>
        </p:spPr>
      </p:sp>
      <p:sp>
        <p:nvSpPr>
          <p:cNvPr id="15" name="Shape 13"/>
          <p:cNvSpPr/>
          <p:nvPr/>
        </p:nvSpPr>
        <p:spPr>
          <a:xfrm>
            <a:off x="4937760" y="1234440"/>
            <a:ext cx="3749040" cy="1234440"/>
          </a:xfrm>
          <a:prstGeom prst="roundRect">
            <a:avLst>
              <a:gd name="adj" fmla="val 5926"/>
            </a:avLst>
          </a:prstGeom>
          <a:ln w="12700">
            <a:solidFill>
              <a:srgbClr val="D9CDB8"/>
            </a:solidFill>
            <a:prstDash val="dash"/>
          </a:ln>
        </p:spPr>
      </p:sp>
      <p:sp>
        <p:nvSpPr>
          <p:cNvPr id="16" name="Text 14"/>
          <p:cNvSpPr txBox="1"/>
          <p:nvPr/>
        </p:nvSpPr>
        <p:spPr>
          <a:xfrm>
            <a:off x="507492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6  </a:t>
            </a:r>
            <a:pPr indent="0" marL="0">
              <a:buNone/>
            </a:pPr>
            <a:r>
              <a:rPr lang="en-US" sz="1350" dirty="0">
                <a:solidFill>
                  <a:srgbClr val="2B2318"/>
                </a:solidFill>
                <a:latin typeface="Calibri" pitchFamily="34" charset="0"/>
                <a:ea typeface="Calibri" pitchFamily="34" charset="-122"/>
                <a:cs typeface="Calibri" pitchFamily="34" charset="-120"/>
              </a:rPr>
              <a:t>Die alte Ordnung: „________ die großen Adelsfamilien geben in den vier alten Phylen den Ton an …“</a:t>
            </a:r>
            <a:endParaRPr lang="en-US" sz="1350" dirty="0"/>
          </a:p>
        </p:txBody>
      </p:sp>
      <p:sp>
        <p:nvSpPr>
          <p:cNvPr id="17" name="Text 15"/>
          <p:cNvSpPr txBox="1"/>
          <p:nvPr/>
        </p:nvSpPr>
        <p:spPr>
          <a:xfrm>
            <a:off x="4279392" y="1664208"/>
            <a:ext cx="585216" cy="365760"/>
          </a:xfrm>
          <a:prstGeom prst="roundRect">
            <a:avLst>
              <a:gd name="adj" fmla="val 20000"/>
            </a:avLst>
          </a:prstGeom>
          <a:solidFill>
            <a:srgbClr val="AD4426"/>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aber</a:t>
            </a:r>
            <a:endParaRPr lang="en-US" sz="1300" dirty="0"/>
          </a:p>
        </p:txBody>
      </p:sp>
      <p:sp>
        <p:nvSpPr>
          <p:cNvPr id="18" name="Shape 16"/>
          <p:cNvSpPr/>
          <p:nvPr/>
        </p:nvSpPr>
        <p:spPr>
          <a:xfrm>
            <a:off x="457200" y="2697480"/>
            <a:ext cx="8229600" cy="868680"/>
          </a:xfrm>
          <a:prstGeom prst="roundRect">
            <a:avLst>
              <a:gd name="adj" fmla="val 8421"/>
            </a:avLst>
          </a:prstGeom>
          <a:solidFill>
            <a:srgbClr val="F4ECDE"/>
          </a:solidFill>
          <a:ln w="12700">
            <a:solidFill>
              <a:srgbClr val="F4ECDE"/>
            </a:solidFill>
            <a:prstDash val="solid"/>
          </a:ln>
        </p:spPr>
      </p:sp>
      <p:sp>
        <p:nvSpPr>
          <p:cNvPr id="19" name="Text 17"/>
          <p:cNvSpPr txBox="1"/>
          <p:nvPr/>
        </p:nvSpPr>
        <p:spPr>
          <a:xfrm>
            <a:off x="685800" y="2697480"/>
            <a:ext cx="7772400" cy="868680"/>
          </a:xfrm>
          <a:prstGeom prst="rect">
            <a:avLst/>
          </a:prstGeom>
          <a:noFill/>
          <a:ln/>
        </p:spPr>
        <p:txBody>
          <a:bodyPr wrap="square" lIns="0" tIns="0" rIns="0" bIns="0" rtlCol="0" anchor="ctr"/>
          <a:lstStyle/>
          <a:p>
            <a:pPr indent="0" marL="0">
              <a:buNone/>
            </a:pPr>
            <a:r>
              <a:rPr lang="en-US" sz="1400" b="1" dirty="0">
                <a:solidFill>
                  <a:srgbClr val="AD4426"/>
                </a:solidFill>
                <a:latin typeface="Calibri" pitchFamily="34" charset="0"/>
                <a:ea typeface="Calibri" pitchFamily="34" charset="-122"/>
                <a:cs typeface="Calibri" pitchFamily="34" charset="-120"/>
              </a:rPr>
              <a:t>Laut gedacht: </a:t>
            </a:r>
            <a:pPr indent="0" marL="0">
              <a:buNone/>
            </a:pPr>
            <a:r>
              <a:rPr lang="en-US" sz="1400" i="1" dirty="0">
                <a:solidFill>
                  <a:srgbClr val="2B2318"/>
                </a:solidFill>
                <a:latin typeface="Calibri" pitchFamily="34" charset="0"/>
                <a:ea typeface="Calibri" pitchFamily="34" charset="-122"/>
                <a:cs typeface="Calibri" pitchFamily="34" charset="-120"/>
              </a:rPr>
              <a:t>„Abschnitt 4 sagt: Er hat das Recht. Abschnitt 6 sagt: Die Adelsfamilien bestimmen, wie man stimmt. Das ist ein Gegensatz – also passt ‚Aber‘ in die Lücke: ‚Aber die großen Adelsfamilien geben … den Ton an.‘ Der Satz stimmt, ich streiche ‚aber‘ unten ab.“</a:t>
            </a:r>
            <a:endParaRPr lang="en-US" sz="1400" dirty="0"/>
          </a:p>
        </p:txBody>
      </p:sp>
      <p:sp>
        <p:nvSpPr>
          <p:cNvPr id="20" name="Shape 18"/>
          <p:cNvSpPr/>
          <p:nvPr/>
        </p:nvSpPr>
        <p:spPr>
          <a:xfrm>
            <a:off x="457200" y="3749040"/>
            <a:ext cx="8229600" cy="777240"/>
          </a:xfrm>
          <a:prstGeom prst="roundRect">
            <a:avLst>
              <a:gd name="adj" fmla="val 9412"/>
            </a:avLst>
          </a:prstGeom>
          <a:solidFill>
            <a:srgbClr val="2B2318"/>
          </a:solidFill>
          <a:ln w="12700">
            <a:solidFill>
              <a:srgbClr val="2B2318"/>
            </a:solidFill>
            <a:prstDash val="solid"/>
          </a:ln>
        </p:spPr>
      </p:sp>
      <p:sp>
        <p:nvSpPr>
          <p:cNvPr id="21" name="Text 19"/>
          <p:cNvSpPr txBox="1"/>
          <p:nvPr/>
        </p:nvSpPr>
        <p:spPr>
          <a:xfrm>
            <a:off x="685800" y="3749040"/>
            <a:ext cx="7772400" cy="77724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Achtung, typischer Fehler: </a:t>
            </a:r>
            <a:pPr indent="0" marL="0">
              <a:buNone/>
            </a:pPr>
            <a:r>
              <a:rPr lang="en-US" sz="1500" dirty="0">
                <a:solidFill>
                  <a:srgbClr val="FFFFFF"/>
                </a:solidFill>
                <a:latin typeface="Calibri" pitchFamily="34" charset="0"/>
                <a:ea typeface="Calibri" pitchFamily="34" charset="-122"/>
                <a:cs typeface="Calibri" pitchFamily="34" charset="-120"/>
              </a:rPr>
              <a:t>Kleisthenes nimmt niemandem Land weg und ändert Solons Vermögensklassen nicht. Sucht die Lösung woanders!</a:t>
            </a:r>
            <a:endParaRPr lang="en-US" sz="15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GRUPPEN ZU DRITT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Warum stimmt Lysias anders?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 Min.</a:t>
            </a:r>
            <a:endParaRPr lang="en-US" sz="1100" dirty="0"/>
          </a:p>
        </p:txBody>
      </p:sp>
      <p:sp>
        <p:nvSpPr>
          <p:cNvPr id="11" name="Text 9"/>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Schneidet die acht Abschnitte aus und verteilt sie. Jeder liest seine laut vor.</a:t>
            </a:r>
            <a:endParaRPr lang="en-US" sz="1350" dirty="0"/>
          </a:p>
        </p:txBody>
      </p:sp>
      <p:sp>
        <p:nvSpPr>
          <p:cNvPr id="13" name="Text 11"/>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Klärt: Was sagt jeder Abschnitt über Lysias und seinen Nachbarn?</a:t>
            </a:r>
            <a:endParaRPr lang="en-US" sz="1350" dirty="0"/>
          </a:p>
        </p:txBody>
      </p:sp>
      <p:sp>
        <p:nvSpPr>
          <p:cNvPr id="15" name="Text 13"/>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Legt die Abschnitte zu einer Erklärungskette. Schreibt die passenden Verbindungswörter (unten auf dem Blatt) in die Lücken am Anfang der Abschnitte und streicht sie ab.</a:t>
            </a:r>
            <a:endParaRPr lang="en-US" sz="1350" dirty="0"/>
          </a:p>
        </p:txBody>
      </p:sp>
      <p:sp>
        <p:nvSpPr>
          <p:cNvPr id="17" name="Text 15"/>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Jeder schreibt die Antwort in 3–4 Sätzen ins Heft.</a:t>
            </a:r>
            <a:endParaRPr lang="en-US" sz="1350" dirty="0"/>
          </a:p>
        </p:txBody>
      </p:sp>
      <p:sp>
        <p:nvSpPr>
          <p:cNvPr id="19" name="Text 17"/>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Ihr kommt nicht weiter? Holt euch Hilfe 1, 2 oder 3 vom Pult – der Reihe nach.</a:t>
            </a:r>
            <a:endParaRPr lang="en-US" sz="1350" dirty="0"/>
          </a:p>
        </p:txBody>
      </p:sp>
      <p:sp>
        <p:nvSpPr>
          <p:cNvPr id="21" name="Shape 19"/>
          <p:cNvSpPr/>
          <p:nvPr/>
        </p:nvSpPr>
        <p:spPr>
          <a:xfrm>
            <a:off x="5760720" y="1234440"/>
            <a:ext cx="2926080" cy="3246120"/>
          </a:xfrm>
          <a:prstGeom prst="roundRect">
            <a:avLst>
              <a:gd name="adj" fmla="val 2500"/>
            </a:avLst>
          </a:prstGeom>
          <a:solidFill>
            <a:srgbClr val="F4ECDE"/>
          </a:solidFill>
          <a:ln w="12700">
            <a:solidFill>
              <a:srgbClr val="F4ECDE"/>
            </a:solidFill>
            <a:prstDash val="solid"/>
          </a:ln>
        </p:spPr>
      </p:sp>
      <p:sp>
        <p:nvSpPr>
          <p:cNvPr id="22" name="Text 20"/>
          <p:cNvSpPr txBox="1"/>
          <p:nvPr/>
        </p:nvSpPr>
        <p:spPr>
          <a:xfrm>
            <a:off x="5943600" y="1325880"/>
            <a:ext cx="265176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23" name="Text 21"/>
          <p:cNvSpPr txBox="1"/>
          <p:nvPr/>
        </p:nvSpPr>
        <p:spPr>
          <a:xfrm>
            <a:off x="5943600" y="1645920"/>
            <a:ext cx="2651760" cy="274320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„Vorher war Lysias …, weil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„Nach dem Sturz des Hippias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„Kleisthenes teilte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„Dadurch …, deshalb kann Lysias jetzt …“</a:t>
            </a:r>
            <a:endParaRPr lang="en-US" sz="1300" dirty="0"/>
          </a:p>
        </p:txBody>
      </p:sp>
      <p:sp>
        <p:nvSpPr>
          <p:cNvPr id="24" name="Text 22"/>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Erklärungskette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188720"/>
            <a:ext cx="1417320" cy="530352"/>
          </a:xfrm>
          <a:prstGeom prst="roundRect">
            <a:avLst>
              <a:gd name="adj" fmla="val 13793"/>
            </a:avLst>
          </a:prstGeom>
          <a:solidFill>
            <a:srgbClr val="5A5044"/>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Ausgangslage</a:t>
            </a:r>
            <a:endParaRPr lang="en-US" sz="1250" dirty="0"/>
          </a:p>
        </p:txBody>
      </p:sp>
      <p:sp>
        <p:nvSpPr>
          <p:cNvPr id="12" name="Text 10"/>
          <p:cNvSpPr txBox="1"/>
          <p:nvPr/>
        </p:nvSpPr>
        <p:spPr>
          <a:xfrm>
            <a:off x="2011680" y="118872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4, 6</a:t>
            </a:r>
            <a:endParaRPr lang="en-US" sz="1050" dirty="0"/>
          </a:p>
        </p:txBody>
      </p:sp>
      <p:sp>
        <p:nvSpPr>
          <p:cNvPr id="13" name="Text 11"/>
          <p:cNvSpPr txBox="1"/>
          <p:nvPr/>
        </p:nvSpPr>
        <p:spPr>
          <a:xfrm>
            <a:off x="3383280" y="118872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Lysias hat seit Solon das Stimmrecht, ist aber von seinem adligen Nachbarn abhängig und an dessen Familie gebunden – und jeder sieht, wie er stimmt.</a:t>
            </a:r>
            <a:endParaRPr lang="en-US" sz="1250" dirty="0"/>
          </a:p>
        </p:txBody>
      </p:sp>
      <p:sp>
        <p:nvSpPr>
          <p:cNvPr id="14" name="Shape 12"/>
          <p:cNvSpPr/>
          <p:nvPr/>
        </p:nvSpPr>
        <p:spPr>
          <a:xfrm>
            <a:off x="1161288" y="1719072"/>
            <a:ext cx="0" cy="109728"/>
          </a:xfrm>
          <a:prstGeom prst="line">
            <a:avLst/>
          </a:prstGeom>
          <a:noFill/>
          <a:ln w="19050">
            <a:solidFill>
              <a:srgbClr val="998C77"/>
            </a:solidFill>
            <a:prstDash val="solid"/>
            <a:tailEnd type="triangle"/>
          </a:ln>
        </p:spPr>
      </p:sp>
      <p:sp>
        <p:nvSpPr>
          <p:cNvPr id="15" name="Text 13"/>
          <p:cNvSpPr txBox="1"/>
          <p:nvPr/>
        </p:nvSpPr>
        <p:spPr>
          <a:xfrm>
            <a:off x="2011680" y="151790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aber</a:t>
            </a:r>
            <a:endParaRPr lang="en-US" sz="900" dirty="0"/>
          </a:p>
        </p:txBody>
      </p:sp>
      <p:sp>
        <p:nvSpPr>
          <p:cNvPr id="16" name="Text 14"/>
          <p:cNvSpPr txBox="1"/>
          <p:nvPr/>
        </p:nvSpPr>
        <p:spPr>
          <a:xfrm>
            <a:off x="457200" y="1828800"/>
            <a:ext cx="1417320" cy="530352"/>
          </a:xfrm>
          <a:prstGeom prst="roundRect">
            <a:avLst>
              <a:gd name="adj" fmla="val 13793"/>
            </a:avLst>
          </a:prstGeom>
          <a:solidFill>
            <a:srgbClr val="AD442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Wende</a:t>
            </a:r>
            <a:endParaRPr lang="en-US" sz="1250" dirty="0"/>
          </a:p>
        </p:txBody>
      </p:sp>
      <p:sp>
        <p:nvSpPr>
          <p:cNvPr id="17" name="Text 15"/>
          <p:cNvSpPr txBox="1"/>
          <p:nvPr/>
        </p:nvSpPr>
        <p:spPr>
          <a:xfrm>
            <a:off x="2011680" y="182880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2, 8</a:t>
            </a:r>
            <a:endParaRPr lang="en-US" sz="1050" dirty="0"/>
          </a:p>
        </p:txBody>
      </p:sp>
      <p:sp>
        <p:nvSpPr>
          <p:cNvPr id="18" name="Text 16"/>
          <p:cNvSpPr txBox="1"/>
          <p:nvPr/>
        </p:nvSpPr>
        <p:spPr>
          <a:xfrm>
            <a:off x="3383280" y="182880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Nach dem Sturz der Tyrannis braucht Kleisthenes das Volk; das Volk setzt sich gegen Isagoras und Sparta durch.</a:t>
            </a:r>
            <a:endParaRPr lang="en-US" sz="1250" dirty="0"/>
          </a:p>
        </p:txBody>
      </p:sp>
      <p:sp>
        <p:nvSpPr>
          <p:cNvPr id="19" name="Shape 17"/>
          <p:cNvSpPr/>
          <p:nvPr/>
        </p:nvSpPr>
        <p:spPr>
          <a:xfrm>
            <a:off x="1161288" y="2359152"/>
            <a:ext cx="0" cy="109728"/>
          </a:xfrm>
          <a:prstGeom prst="line">
            <a:avLst/>
          </a:prstGeom>
          <a:noFill/>
          <a:ln w="19050">
            <a:solidFill>
              <a:srgbClr val="998C77"/>
            </a:solidFill>
            <a:prstDash val="solid"/>
            <a:tailEnd type="triangle"/>
          </a:ln>
        </p:spPr>
      </p:sp>
      <p:sp>
        <p:nvSpPr>
          <p:cNvPr id="20" name="Text 18"/>
          <p:cNvSpPr txBox="1"/>
          <p:nvPr/>
        </p:nvSpPr>
        <p:spPr>
          <a:xfrm>
            <a:off x="2011680" y="215798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doch dann</a:t>
            </a:r>
            <a:endParaRPr lang="en-US" sz="900" dirty="0"/>
          </a:p>
        </p:txBody>
      </p:sp>
      <p:sp>
        <p:nvSpPr>
          <p:cNvPr id="21" name="Text 19"/>
          <p:cNvSpPr txBox="1"/>
          <p:nvPr/>
        </p:nvSpPr>
        <p:spPr>
          <a:xfrm>
            <a:off x="457200" y="2468880"/>
            <a:ext cx="1417320" cy="530352"/>
          </a:xfrm>
          <a:prstGeom prst="roundRect">
            <a:avLst>
              <a:gd name="adj" fmla="val 13793"/>
            </a:avLst>
          </a:prstGeom>
          <a:solidFill>
            <a:srgbClr val="3E5C7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Reform</a:t>
            </a:r>
            <a:endParaRPr lang="en-US" sz="1250" dirty="0"/>
          </a:p>
        </p:txBody>
      </p:sp>
      <p:sp>
        <p:nvSpPr>
          <p:cNvPr id="22" name="Text 20"/>
          <p:cNvSpPr txBox="1"/>
          <p:nvPr/>
        </p:nvSpPr>
        <p:spPr>
          <a:xfrm>
            <a:off x="2011680" y="246888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1, 5</a:t>
            </a:r>
            <a:endParaRPr lang="en-US" sz="1050" dirty="0"/>
          </a:p>
        </p:txBody>
      </p:sp>
      <p:sp>
        <p:nvSpPr>
          <p:cNvPr id="23" name="Text 21"/>
          <p:cNvSpPr txBox="1"/>
          <p:nvPr/>
        </p:nvSpPr>
        <p:spPr>
          <a:xfrm>
            <a:off x="3383280" y="246888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Attika wird neu gegliedert: 3 Gebiete × 10 Trittyen, daraus 10 Phylen, die Stadt, Küste und Binnenland mischen. Bürger ist man über seinen Demos, nicht über seine Familie.</a:t>
            </a:r>
            <a:endParaRPr lang="en-US" sz="1250" dirty="0"/>
          </a:p>
        </p:txBody>
      </p:sp>
      <p:sp>
        <p:nvSpPr>
          <p:cNvPr id="24" name="Shape 22"/>
          <p:cNvSpPr/>
          <p:nvPr/>
        </p:nvSpPr>
        <p:spPr>
          <a:xfrm>
            <a:off x="1161288" y="2999232"/>
            <a:ext cx="0" cy="109728"/>
          </a:xfrm>
          <a:prstGeom prst="line">
            <a:avLst/>
          </a:prstGeom>
          <a:noFill/>
          <a:ln w="19050">
            <a:solidFill>
              <a:srgbClr val="998C77"/>
            </a:solidFill>
            <a:prstDash val="solid"/>
            <a:tailEnd type="triangle"/>
          </a:ln>
        </p:spPr>
      </p:sp>
      <p:sp>
        <p:nvSpPr>
          <p:cNvPr id="25" name="Text 23"/>
          <p:cNvSpPr txBox="1"/>
          <p:nvPr/>
        </p:nvSpPr>
        <p:spPr>
          <a:xfrm>
            <a:off x="2011680" y="279806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daraufhin · danach · daraus</a:t>
            </a:r>
            <a:endParaRPr lang="en-US" sz="900" dirty="0"/>
          </a:p>
        </p:txBody>
      </p:sp>
      <p:sp>
        <p:nvSpPr>
          <p:cNvPr id="26" name="Text 24"/>
          <p:cNvSpPr txBox="1"/>
          <p:nvPr/>
        </p:nvSpPr>
        <p:spPr>
          <a:xfrm>
            <a:off x="457200" y="3108960"/>
            <a:ext cx="1417320" cy="530352"/>
          </a:xfrm>
          <a:prstGeom prst="roundRect">
            <a:avLst>
              <a:gd name="adj" fmla="val 13793"/>
            </a:avLst>
          </a:prstGeom>
          <a:solidFill>
            <a:srgbClr val="3C783C"/>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Folge</a:t>
            </a:r>
            <a:endParaRPr lang="en-US" sz="1250" dirty="0"/>
          </a:p>
        </p:txBody>
      </p:sp>
      <p:sp>
        <p:nvSpPr>
          <p:cNvPr id="27" name="Text 25"/>
          <p:cNvSpPr txBox="1"/>
          <p:nvPr/>
        </p:nvSpPr>
        <p:spPr>
          <a:xfrm>
            <a:off x="2011680" y="310896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Abschnitt 1, 7</a:t>
            </a:r>
            <a:endParaRPr lang="en-US" sz="1050" dirty="0"/>
          </a:p>
        </p:txBody>
      </p:sp>
      <p:sp>
        <p:nvSpPr>
          <p:cNvPr id="28" name="Text 26"/>
          <p:cNvSpPr txBox="1"/>
          <p:nvPr/>
        </p:nvSpPr>
        <p:spPr>
          <a:xfrm>
            <a:off x="3383280" y="310896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Die Gefolgschaft des Adligen wird auf mehrere Phylen verteilt. Lysias sitzt, berät und kämpft mit Fremden zusammen.</a:t>
            </a:r>
            <a:endParaRPr lang="en-US" sz="1250" dirty="0"/>
          </a:p>
        </p:txBody>
      </p:sp>
      <p:sp>
        <p:nvSpPr>
          <p:cNvPr id="29" name="Shape 27"/>
          <p:cNvSpPr/>
          <p:nvPr/>
        </p:nvSpPr>
        <p:spPr>
          <a:xfrm>
            <a:off x="1161288" y="3639312"/>
            <a:ext cx="0" cy="109728"/>
          </a:xfrm>
          <a:prstGeom prst="line">
            <a:avLst/>
          </a:prstGeom>
          <a:noFill/>
          <a:ln w="19050">
            <a:solidFill>
              <a:srgbClr val="998C77"/>
            </a:solidFill>
            <a:prstDash val="solid"/>
            <a:tailEnd type="triangle"/>
          </a:ln>
        </p:spPr>
      </p:sp>
      <p:sp>
        <p:nvSpPr>
          <p:cNvPr id="30" name="Text 28"/>
          <p:cNvSpPr txBox="1"/>
          <p:nvPr/>
        </p:nvSpPr>
        <p:spPr>
          <a:xfrm>
            <a:off x="2011680" y="343814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dadurch</a:t>
            </a:r>
            <a:endParaRPr lang="en-US" sz="900" dirty="0"/>
          </a:p>
        </p:txBody>
      </p:sp>
      <p:sp>
        <p:nvSpPr>
          <p:cNvPr id="31" name="Text 29"/>
          <p:cNvSpPr txBox="1"/>
          <p:nvPr/>
        </p:nvSpPr>
        <p:spPr>
          <a:xfrm>
            <a:off x="457200" y="3749040"/>
            <a:ext cx="1417320" cy="530352"/>
          </a:xfrm>
          <a:prstGeom prst="roundRect">
            <a:avLst>
              <a:gd name="adj" fmla="val 13793"/>
            </a:avLst>
          </a:prstGeom>
          <a:solidFill>
            <a:srgbClr val="2B2318"/>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Ergebnis</a:t>
            </a:r>
            <a:endParaRPr lang="en-US" sz="1250" dirty="0"/>
          </a:p>
        </p:txBody>
      </p:sp>
      <p:sp>
        <p:nvSpPr>
          <p:cNvPr id="32" name="Text 30"/>
          <p:cNvSpPr txBox="1"/>
          <p:nvPr/>
        </p:nvSpPr>
        <p:spPr>
          <a:xfrm>
            <a:off x="2011680" y="3749040"/>
            <a:ext cx="1463040" cy="530352"/>
          </a:xfrm>
          <a:prstGeom prst="rect">
            <a:avLst/>
          </a:prstGeom>
          <a:noFill/>
          <a:ln/>
        </p:spPr>
        <p:txBody>
          <a:bodyPr wrap="square" lIns="0" tIns="0" rIns="0" bIns="0" rtlCol="0" anchor="ctr"/>
          <a:lstStyle/>
          <a:p>
            <a:pPr indent="0" marL="0">
              <a:buNone/>
            </a:pPr>
            <a:endParaRPr lang="en-US" sz="1050" dirty="0"/>
          </a:p>
        </p:txBody>
      </p:sp>
      <p:sp>
        <p:nvSpPr>
          <p:cNvPr id="33" name="Text 31"/>
          <p:cNvSpPr txBox="1"/>
          <p:nvPr/>
        </p:nvSpPr>
        <p:spPr>
          <a:xfrm>
            <a:off x="3383280" y="3749040"/>
            <a:ext cx="5303520" cy="530352"/>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Lysias ist nicht mehr an seinen Adelsherrn gebunden – er kann sein Stimmrecht frei nutzen.</a:t>
            </a:r>
            <a:endParaRPr lang="en-US" sz="1250" dirty="0"/>
          </a:p>
        </p:txBody>
      </p:sp>
      <p:sp>
        <p:nvSpPr>
          <p:cNvPr id="34" name="Text 32"/>
          <p:cNvSpPr txBox="1"/>
          <p:nvPr/>
        </p:nvSpPr>
        <p:spPr>
          <a:xfrm>
            <a:off x="2011680" y="4078224"/>
            <a:ext cx="1371600" cy="182880"/>
          </a:xfrm>
          <a:prstGeom prst="rect">
            <a:avLst/>
          </a:prstGeom>
          <a:noFill/>
          <a:ln/>
        </p:spPr>
        <p:txBody>
          <a:bodyPr wrap="square" lIns="0" tIns="0" rIns="0" bIns="0" rtlCol="0" anchor="t"/>
          <a:lstStyle/>
          <a:p>
            <a:pPr indent="0" marL="0">
              <a:buNone/>
            </a:pPr>
            <a:r>
              <a:rPr lang="en-US" sz="900" b="1" i="1" dirty="0">
                <a:solidFill>
                  <a:srgbClr val="AD4426"/>
                </a:solidFill>
                <a:latin typeface="Calibri" pitchFamily="34" charset="0"/>
                <a:ea typeface="Calibri" pitchFamily="34" charset="-122"/>
                <a:cs typeface="Calibri" pitchFamily="34" charset="-120"/>
              </a:rPr>
              <a:t>deshalb (Antwort)</a:t>
            </a:r>
            <a:endParaRPr lang="en-US" sz="900" dirty="0"/>
          </a:p>
        </p:txBody>
      </p:sp>
      <p:sp>
        <p:nvSpPr>
          <p:cNvPr id="35" name="Text 33"/>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 Abschnitt 3: Gegen einen neuen Tyrannen hat das Volk jetzt den Ostrakismos (Scherbengericht).</a:t>
            </a:r>
            <a:endParaRPr lang="en-US" sz="1100" dirty="0"/>
          </a:p>
        </p:txBody>
      </p:sp>
      <p:sp>
        <p:nvSpPr>
          <p:cNvPr id="36" name="Text 34"/>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DIE NEUE ORDNUNG ATTIKAS</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Mischen statt enteignen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Ergebnis</a:t>
            </a:r>
            <a:endParaRPr lang="en-US" sz="1100" dirty="0"/>
          </a:p>
        </p:txBody>
      </p:sp>
      <p:sp>
        <p:nvSpPr>
          <p:cNvPr id="11" name="Text 9"/>
          <p:cNvSpPr txBox="1"/>
          <p:nvPr/>
        </p:nvSpPr>
        <p:spPr>
          <a:xfrm>
            <a:off x="457200" y="1325880"/>
            <a:ext cx="1188720" cy="274320"/>
          </a:xfrm>
          <a:prstGeom prst="rect">
            <a:avLst/>
          </a:prstGeom>
          <a:noFill/>
          <a:ln/>
        </p:spPr>
        <p:txBody>
          <a:bodyPr wrap="square" lIns="0" tIns="0" rIns="0" bIns="0" rtlCol="0" anchor="t"/>
          <a:lstStyle/>
          <a:p>
            <a:pPr indent="0" marL="0">
              <a:buNone/>
            </a:pPr>
            <a:r>
              <a:rPr lang="en-US" sz="1300" b="1" dirty="0">
                <a:solidFill>
                  <a:srgbClr val="C9962A"/>
                </a:solidFill>
                <a:latin typeface="Calibri" pitchFamily="34" charset="0"/>
                <a:ea typeface="Calibri" pitchFamily="34" charset="-122"/>
                <a:cs typeface="Calibri" pitchFamily="34" charset="-120"/>
              </a:rPr>
              <a:t>Stadt</a:t>
            </a:r>
            <a:endParaRPr lang="en-US" sz="1300" dirty="0"/>
          </a:p>
        </p:txBody>
      </p:sp>
      <p:sp>
        <p:nvSpPr>
          <p:cNvPr id="12" name="Shape 10"/>
          <p:cNvSpPr/>
          <p:nvPr/>
        </p:nvSpPr>
        <p:spPr>
          <a:xfrm>
            <a:off x="457200" y="1627632"/>
            <a:ext cx="219456" cy="384048"/>
          </a:xfrm>
          <a:prstGeom prst="rect">
            <a:avLst/>
          </a:prstGeom>
          <a:solidFill>
            <a:srgbClr val="C9962A"/>
          </a:solidFill>
          <a:ln w="12700">
            <a:solidFill>
              <a:srgbClr val="FFFFFF"/>
            </a:solidFill>
            <a:prstDash val="solid"/>
          </a:ln>
        </p:spPr>
      </p:sp>
      <p:sp>
        <p:nvSpPr>
          <p:cNvPr id="13" name="Shape 11"/>
          <p:cNvSpPr/>
          <p:nvPr/>
        </p:nvSpPr>
        <p:spPr>
          <a:xfrm>
            <a:off x="722376" y="1627632"/>
            <a:ext cx="219456" cy="384048"/>
          </a:xfrm>
          <a:prstGeom prst="rect">
            <a:avLst/>
          </a:prstGeom>
          <a:solidFill>
            <a:srgbClr val="C9962A"/>
          </a:solidFill>
          <a:ln w="12700">
            <a:solidFill>
              <a:srgbClr val="FFFFFF"/>
            </a:solidFill>
            <a:prstDash val="solid"/>
          </a:ln>
        </p:spPr>
      </p:sp>
      <p:sp>
        <p:nvSpPr>
          <p:cNvPr id="14" name="Shape 12"/>
          <p:cNvSpPr/>
          <p:nvPr/>
        </p:nvSpPr>
        <p:spPr>
          <a:xfrm>
            <a:off x="987552" y="1627632"/>
            <a:ext cx="219456" cy="384048"/>
          </a:xfrm>
          <a:prstGeom prst="rect">
            <a:avLst/>
          </a:prstGeom>
          <a:solidFill>
            <a:srgbClr val="C9962A"/>
          </a:solidFill>
          <a:ln w="12700">
            <a:solidFill>
              <a:srgbClr val="FFFFFF"/>
            </a:solidFill>
            <a:prstDash val="solid"/>
          </a:ln>
        </p:spPr>
      </p:sp>
      <p:sp>
        <p:nvSpPr>
          <p:cNvPr id="15" name="Shape 13"/>
          <p:cNvSpPr/>
          <p:nvPr/>
        </p:nvSpPr>
        <p:spPr>
          <a:xfrm>
            <a:off x="1252728" y="1627632"/>
            <a:ext cx="219456" cy="384048"/>
          </a:xfrm>
          <a:prstGeom prst="rect">
            <a:avLst/>
          </a:prstGeom>
          <a:solidFill>
            <a:srgbClr val="C9962A"/>
          </a:solidFill>
          <a:ln w="12700">
            <a:solidFill>
              <a:srgbClr val="FFFFFF"/>
            </a:solidFill>
            <a:prstDash val="solid"/>
          </a:ln>
        </p:spPr>
      </p:sp>
      <p:sp>
        <p:nvSpPr>
          <p:cNvPr id="16" name="Shape 14"/>
          <p:cNvSpPr/>
          <p:nvPr/>
        </p:nvSpPr>
        <p:spPr>
          <a:xfrm>
            <a:off x="1517904" y="1627632"/>
            <a:ext cx="219456" cy="384048"/>
          </a:xfrm>
          <a:prstGeom prst="rect">
            <a:avLst/>
          </a:prstGeom>
          <a:solidFill>
            <a:srgbClr val="C9962A"/>
          </a:solidFill>
          <a:ln w="12700">
            <a:solidFill>
              <a:srgbClr val="FFFFFF"/>
            </a:solidFill>
            <a:prstDash val="solid"/>
          </a:ln>
        </p:spPr>
      </p:sp>
      <p:sp>
        <p:nvSpPr>
          <p:cNvPr id="17" name="Shape 15"/>
          <p:cNvSpPr/>
          <p:nvPr/>
        </p:nvSpPr>
        <p:spPr>
          <a:xfrm>
            <a:off x="1783080" y="1627632"/>
            <a:ext cx="219456" cy="384048"/>
          </a:xfrm>
          <a:prstGeom prst="rect">
            <a:avLst/>
          </a:prstGeom>
          <a:solidFill>
            <a:srgbClr val="C9962A"/>
          </a:solidFill>
          <a:ln w="12700">
            <a:solidFill>
              <a:srgbClr val="FFFFFF"/>
            </a:solidFill>
            <a:prstDash val="solid"/>
          </a:ln>
        </p:spPr>
      </p:sp>
      <p:sp>
        <p:nvSpPr>
          <p:cNvPr id="18" name="Shape 16"/>
          <p:cNvSpPr/>
          <p:nvPr/>
        </p:nvSpPr>
        <p:spPr>
          <a:xfrm>
            <a:off x="2048256" y="1627632"/>
            <a:ext cx="219456" cy="384048"/>
          </a:xfrm>
          <a:prstGeom prst="rect">
            <a:avLst/>
          </a:prstGeom>
          <a:solidFill>
            <a:srgbClr val="C9962A"/>
          </a:solidFill>
          <a:ln w="12700">
            <a:solidFill>
              <a:srgbClr val="FFFFFF"/>
            </a:solidFill>
            <a:prstDash val="solid"/>
          </a:ln>
        </p:spPr>
      </p:sp>
      <p:sp>
        <p:nvSpPr>
          <p:cNvPr id="19" name="Shape 17"/>
          <p:cNvSpPr/>
          <p:nvPr/>
        </p:nvSpPr>
        <p:spPr>
          <a:xfrm>
            <a:off x="2313432" y="1627632"/>
            <a:ext cx="219456" cy="384048"/>
          </a:xfrm>
          <a:prstGeom prst="rect">
            <a:avLst/>
          </a:prstGeom>
          <a:solidFill>
            <a:srgbClr val="C9962A"/>
          </a:solidFill>
          <a:ln w="12700">
            <a:solidFill>
              <a:srgbClr val="FFFFFF"/>
            </a:solidFill>
            <a:prstDash val="solid"/>
          </a:ln>
        </p:spPr>
      </p:sp>
      <p:sp>
        <p:nvSpPr>
          <p:cNvPr id="20" name="Shape 18"/>
          <p:cNvSpPr/>
          <p:nvPr/>
        </p:nvSpPr>
        <p:spPr>
          <a:xfrm>
            <a:off x="2578608" y="1627632"/>
            <a:ext cx="219456" cy="384048"/>
          </a:xfrm>
          <a:prstGeom prst="rect">
            <a:avLst/>
          </a:prstGeom>
          <a:solidFill>
            <a:srgbClr val="C9962A"/>
          </a:solidFill>
          <a:ln w="12700">
            <a:solidFill>
              <a:srgbClr val="FFFFFF"/>
            </a:solidFill>
            <a:prstDash val="solid"/>
          </a:ln>
        </p:spPr>
      </p:sp>
      <p:sp>
        <p:nvSpPr>
          <p:cNvPr id="21" name="Shape 19"/>
          <p:cNvSpPr/>
          <p:nvPr/>
        </p:nvSpPr>
        <p:spPr>
          <a:xfrm>
            <a:off x="2843784" y="1627632"/>
            <a:ext cx="219456" cy="384048"/>
          </a:xfrm>
          <a:prstGeom prst="rect">
            <a:avLst/>
          </a:prstGeom>
          <a:solidFill>
            <a:srgbClr val="C9962A"/>
          </a:solidFill>
          <a:ln w="12700">
            <a:solidFill>
              <a:srgbClr val="FFFFFF"/>
            </a:solidFill>
            <a:prstDash val="solid"/>
          </a:ln>
        </p:spPr>
      </p:sp>
      <p:sp>
        <p:nvSpPr>
          <p:cNvPr id="22" name="Text 20"/>
          <p:cNvSpPr txBox="1"/>
          <p:nvPr/>
        </p:nvSpPr>
        <p:spPr>
          <a:xfrm>
            <a:off x="457200" y="2286000"/>
            <a:ext cx="1188720" cy="274320"/>
          </a:xfrm>
          <a:prstGeom prst="rect">
            <a:avLst/>
          </a:prstGeom>
          <a:noFill/>
          <a:ln/>
        </p:spPr>
        <p:txBody>
          <a:bodyPr wrap="square" lIns="0" tIns="0" rIns="0" bIns="0" rtlCol="0" anchor="t"/>
          <a:lstStyle/>
          <a:p>
            <a:pPr indent="0" marL="0">
              <a:buNone/>
            </a:pPr>
            <a:r>
              <a:rPr lang="en-US" sz="1300" b="1" dirty="0">
                <a:solidFill>
                  <a:srgbClr val="3E5C76"/>
                </a:solidFill>
                <a:latin typeface="Calibri" pitchFamily="34" charset="0"/>
                <a:ea typeface="Calibri" pitchFamily="34" charset="-122"/>
                <a:cs typeface="Calibri" pitchFamily="34" charset="-120"/>
              </a:rPr>
              <a:t>Küste</a:t>
            </a:r>
            <a:endParaRPr lang="en-US" sz="1300" dirty="0"/>
          </a:p>
        </p:txBody>
      </p:sp>
      <p:sp>
        <p:nvSpPr>
          <p:cNvPr id="23" name="Shape 21"/>
          <p:cNvSpPr/>
          <p:nvPr/>
        </p:nvSpPr>
        <p:spPr>
          <a:xfrm>
            <a:off x="457200" y="2587752"/>
            <a:ext cx="219456" cy="384048"/>
          </a:xfrm>
          <a:prstGeom prst="rect">
            <a:avLst/>
          </a:prstGeom>
          <a:solidFill>
            <a:srgbClr val="3E5C76"/>
          </a:solidFill>
          <a:ln w="12700">
            <a:solidFill>
              <a:srgbClr val="FFFFFF"/>
            </a:solidFill>
            <a:prstDash val="solid"/>
          </a:ln>
        </p:spPr>
      </p:sp>
      <p:sp>
        <p:nvSpPr>
          <p:cNvPr id="24" name="Shape 22"/>
          <p:cNvSpPr/>
          <p:nvPr/>
        </p:nvSpPr>
        <p:spPr>
          <a:xfrm>
            <a:off x="722376" y="2587752"/>
            <a:ext cx="219456" cy="384048"/>
          </a:xfrm>
          <a:prstGeom prst="rect">
            <a:avLst/>
          </a:prstGeom>
          <a:solidFill>
            <a:srgbClr val="3E5C76"/>
          </a:solidFill>
          <a:ln w="12700">
            <a:solidFill>
              <a:srgbClr val="FFFFFF"/>
            </a:solidFill>
            <a:prstDash val="solid"/>
          </a:ln>
        </p:spPr>
      </p:sp>
      <p:sp>
        <p:nvSpPr>
          <p:cNvPr id="25" name="Shape 23"/>
          <p:cNvSpPr/>
          <p:nvPr/>
        </p:nvSpPr>
        <p:spPr>
          <a:xfrm>
            <a:off x="987552" y="2587752"/>
            <a:ext cx="219456" cy="384048"/>
          </a:xfrm>
          <a:prstGeom prst="rect">
            <a:avLst/>
          </a:prstGeom>
          <a:solidFill>
            <a:srgbClr val="3E5C76"/>
          </a:solidFill>
          <a:ln w="12700">
            <a:solidFill>
              <a:srgbClr val="FFFFFF"/>
            </a:solidFill>
            <a:prstDash val="solid"/>
          </a:ln>
        </p:spPr>
      </p:sp>
      <p:sp>
        <p:nvSpPr>
          <p:cNvPr id="26" name="Shape 24"/>
          <p:cNvSpPr/>
          <p:nvPr/>
        </p:nvSpPr>
        <p:spPr>
          <a:xfrm>
            <a:off x="1252728" y="2587752"/>
            <a:ext cx="219456" cy="384048"/>
          </a:xfrm>
          <a:prstGeom prst="rect">
            <a:avLst/>
          </a:prstGeom>
          <a:solidFill>
            <a:srgbClr val="3E5C76"/>
          </a:solidFill>
          <a:ln w="12700">
            <a:solidFill>
              <a:srgbClr val="FFFFFF"/>
            </a:solidFill>
            <a:prstDash val="solid"/>
          </a:ln>
        </p:spPr>
      </p:sp>
      <p:sp>
        <p:nvSpPr>
          <p:cNvPr id="27" name="Shape 25"/>
          <p:cNvSpPr/>
          <p:nvPr/>
        </p:nvSpPr>
        <p:spPr>
          <a:xfrm>
            <a:off x="1517904" y="2587752"/>
            <a:ext cx="219456" cy="384048"/>
          </a:xfrm>
          <a:prstGeom prst="rect">
            <a:avLst/>
          </a:prstGeom>
          <a:solidFill>
            <a:srgbClr val="3E5C76"/>
          </a:solidFill>
          <a:ln w="12700">
            <a:solidFill>
              <a:srgbClr val="FFFFFF"/>
            </a:solidFill>
            <a:prstDash val="solid"/>
          </a:ln>
        </p:spPr>
      </p:sp>
      <p:sp>
        <p:nvSpPr>
          <p:cNvPr id="28" name="Shape 26"/>
          <p:cNvSpPr/>
          <p:nvPr/>
        </p:nvSpPr>
        <p:spPr>
          <a:xfrm>
            <a:off x="1783080" y="2587752"/>
            <a:ext cx="219456" cy="384048"/>
          </a:xfrm>
          <a:prstGeom prst="rect">
            <a:avLst/>
          </a:prstGeom>
          <a:solidFill>
            <a:srgbClr val="3E5C76"/>
          </a:solidFill>
          <a:ln w="12700">
            <a:solidFill>
              <a:srgbClr val="FFFFFF"/>
            </a:solidFill>
            <a:prstDash val="solid"/>
          </a:ln>
        </p:spPr>
      </p:sp>
      <p:sp>
        <p:nvSpPr>
          <p:cNvPr id="29" name="Shape 27"/>
          <p:cNvSpPr/>
          <p:nvPr/>
        </p:nvSpPr>
        <p:spPr>
          <a:xfrm>
            <a:off x="2048256" y="2587752"/>
            <a:ext cx="219456" cy="384048"/>
          </a:xfrm>
          <a:prstGeom prst="rect">
            <a:avLst/>
          </a:prstGeom>
          <a:solidFill>
            <a:srgbClr val="3E5C76"/>
          </a:solidFill>
          <a:ln w="12700">
            <a:solidFill>
              <a:srgbClr val="FFFFFF"/>
            </a:solidFill>
            <a:prstDash val="solid"/>
          </a:ln>
        </p:spPr>
      </p:sp>
      <p:sp>
        <p:nvSpPr>
          <p:cNvPr id="30" name="Shape 28"/>
          <p:cNvSpPr/>
          <p:nvPr/>
        </p:nvSpPr>
        <p:spPr>
          <a:xfrm>
            <a:off x="2313432" y="2587752"/>
            <a:ext cx="219456" cy="384048"/>
          </a:xfrm>
          <a:prstGeom prst="rect">
            <a:avLst/>
          </a:prstGeom>
          <a:solidFill>
            <a:srgbClr val="3E5C76"/>
          </a:solidFill>
          <a:ln w="12700">
            <a:solidFill>
              <a:srgbClr val="FFFFFF"/>
            </a:solidFill>
            <a:prstDash val="solid"/>
          </a:ln>
        </p:spPr>
      </p:sp>
      <p:sp>
        <p:nvSpPr>
          <p:cNvPr id="31" name="Shape 29"/>
          <p:cNvSpPr/>
          <p:nvPr/>
        </p:nvSpPr>
        <p:spPr>
          <a:xfrm>
            <a:off x="2578608" y="2587752"/>
            <a:ext cx="219456" cy="384048"/>
          </a:xfrm>
          <a:prstGeom prst="rect">
            <a:avLst/>
          </a:prstGeom>
          <a:solidFill>
            <a:srgbClr val="3E5C76"/>
          </a:solidFill>
          <a:ln w="12700">
            <a:solidFill>
              <a:srgbClr val="FFFFFF"/>
            </a:solidFill>
            <a:prstDash val="solid"/>
          </a:ln>
        </p:spPr>
      </p:sp>
      <p:sp>
        <p:nvSpPr>
          <p:cNvPr id="32" name="Shape 30"/>
          <p:cNvSpPr/>
          <p:nvPr/>
        </p:nvSpPr>
        <p:spPr>
          <a:xfrm>
            <a:off x="2843784" y="2587752"/>
            <a:ext cx="219456" cy="384048"/>
          </a:xfrm>
          <a:prstGeom prst="rect">
            <a:avLst/>
          </a:prstGeom>
          <a:solidFill>
            <a:srgbClr val="3E5C76"/>
          </a:solidFill>
          <a:ln w="12700">
            <a:solidFill>
              <a:srgbClr val="FFFFFF"/>
            </a:solidFill>
            <a:prstDash val="solid"/>
          </a:ln>
        </p:spPr>
      </p:sp>
      <p:sp>
        <p:nvSpPr>
          <p:cNvPr id="33" name="Text 31"/>
          <p:cNvSpPr txBox="1"/>
          <p:nvPr/>
        </p:nvSpPr>
        <p:spPr>
          <a:xfrm>
            <a:off x="457200" y="3246120"/>
            <a:ext cx="1188720" cy="274320"/>
          </a:xfrm>
          <a:prstGeom prst="rect">
            <a:avLst/>
          </a:prstGeom>
          <a:noFill/>
          <a:ln/>
        </p:spPr>
        <p:txBody>
          <a:bodyPr wrap="square" lIns="0" tIns="0" rIns="0" bIns="0" rtlCol="0" anchor="t"/>
          <a:lstStyle/>
          <a:p>
            <a:pPr indent="0" marL="0">
              <a:buNone/>
            </a:pPr>
            <a:r>
              <a:rPr lang="en-US" sz="1300" b="1" dirty="0">
                <a:solidFill>
                  <a:srgbClr val="3C783C"/>
                </a:solidFill>
                <a:latin typeface="Calibri" pitchFamily="34" charset="0"/>
                <a:ea typeface="Calibri" pitchFamily="34" charset="-122"/>
                <a:cs typeface="Calibri" pitchFamily="34" charset="-120"/>
              </a:rPr>
              <a:t>Binnenland</a:t>
            </a:r>
            <a:endParaRPr lang="en-US" sz="1300" dirty="0"/>
          </a:p>
        </p:txBody>
      </p:sp>
      <p:sp>
        <p:nvSpPr>
          <p:cNvPr id="34" name="Shape 32"/>
          <p:cNvSpPr/>
          <p:nvPr/>
        </p:nvSpPr>
        <p:spPr>
          <a:xfrm>
            <a:off x="457200" y="3547872"/>
            <a:ext cx="219456" cy="384048"/>
          </a:xfrm>
          <a:prstGeom prst="rect">
            <a:avLst/>
          </a:prstGeom>
          <a:solidFill>
            <a:srgbClr val="3C783C"/>
          </a:solidFill>
          <a:ln w="12700">
            <a:solidFill>
              <a:srgbClr val="FFFFFF"/>
            </a:solidFill>
            <a:prstDash val="solid"/>
          </a:ln>
        </p:spPr>
      </p:sp>
      <p:sp>
        <p:nvSpPr>
          <p:cNvPr id="35" name="Shape 33"/>
          <p:cNvSpPr/>
          <p:nvPr/>
        </p:nvSpPr>
        <p:spPr>
          <a:xfrm>
            <a:off x="722376" y="3547872"/>
            <a:ext cx="219456" cy="384048"/>
          </a:xfrm>
          <a:prstGeom prst="rect">
            <a:avLst/>
          </a:prstGeom>
          <a:solidFill>
            <a:srgbClr val="3C783C"/>
          </a:solidFill>
          <a:ln w="12700">
            <a:solidFill>
              <a:srgbClr val="FFFFFF"/>
            </a:solidFill>
            <a:prstDash val="solid"/>
          </a:ln>
        </p:spPr>
      </p:sp>
      <p:sp>
        <p:nvSpPr>
          <p:cNvPr id="36" name="Shape 34"/>
          <p:cNvSpPr/>
          <p:nvPr/>
        </p:nvSpPr>
        <p:spPr>
          <a:xfrm>
            <a:off x="987552" y="3547872"/>
            <a:ext cx="219456" cy="384048"/>
          </a:xfrm>
          <a:prstGeom prst="rect">
            <a:avLst/>
          </a:prstGeom>
          <a:solidFill>
            <a:srgbClr val="3C783C"/>
          </a:solidFill>
          <a:ln w="12700">
            <a:solidFill>
              <a:srgbClr val="FFFFFF"/>
            </a:solidFill>
            <a:prstDash val="solid"/>
          </a:ln>
        </p:spPr>
      </p:sp>
      <p:sp>
        <p:nvSpPr>
          <p:cNvPr id="37" name="Shape 35"/>
          <p:cNvSpPr/>
          <p:nvPr/>
        </p:nvSpPr>
        <p:spPr>
          <a:xfrm>
            <a:off x="1252728" y="3547872"/>
            <a:ext cx="219456" cy="384048"/>
          </a:xfrm>
          <a:prstGeom prst="rect">
            <a:avLst/>
          </a:prstGeom>
          <a:solidFill>
            <a:srgbClr val="3C783C"/>
          </a:solidFill>
          <a:ln w="12700">
            <a:solidFill>
              <a:srgbClr val="FFFFFF"/>
            </a:solidFill>
            <a:prstDash val="solid"/>
          </a:ln>
        </p:spPr>
      </p:sp>
      <p:sp>
        <p:nvSpPr>
          <p:cNvPr id="38" name="Shape 36"/>
          <p:cNvSpPr/>
          <p:nvPr/>
        </p:nvSpPr>
        <p:spPr>
          <a:xfrm>
            <a:off x="1517904" y="3547872"/>
            <a:ext cx="219456" cy="384048"/>
          </a:xfrm>
          <a:prstGeom prst="rect">
            <a:avLst/>
          </a:prstGeom>
          <a:solidFill>
            <a:srgbClr val="3C783C"/>
          </a:solidFill>
          <a:ln w="12700">
            <a:solidFill>
              <a:srgbClr val="FFFFFF"/>
            </a:solidFill>
            <a:prstDash val="solid"/>
          </a:ln>
        </p:spPr>
      </p:sp>
      <p:sp>
        <p:nvSpPr>
          <p:cNvPr id="39" name="Shape 37"/>
          <p:cNvSpPr/>
          <p:nvPr/>
        </p:nvSpPr>
        <p:spPr>
          <a:xfrm>
            <a:off x="1783080" y="3547872"/>
            <a:ext cx="219456" cy="384048"/>
          </a:xfrm>
          <a:prstGeom prst="rect">
            <a:avLst/>
          </a:prstGeom>
          <a:solidFill>
            <a:srgbClr val="3C783C"/>
          </a:solidFill>
          <a:ln w="12700">
            <a:solidFill>
              <a:srgbClr val="FFFFFF"/>
            </a:solidFill>
            <a:prstDash val="solid"/>
          </a:ln>
        </p:spPr>
      </p:sp>
      <p:sp>
        <p:nvSpPr>
          <p:cNvPr id="40" name="Shape 38"/>
          <p:cNvSpPr/>
          <p:nvPr/>
        </p:nvSpPr>
        <p:spPr>
          <a:xfrm>
            <a:off x="2048256" y="3547872"/>
            <a:ext cx="219456" cy="384048"/>
          </a:xfrm>
          <a:prstGeom prst="rect">
            <a:avLst/>
          </a:prstGeom>
          <a:solidFill>
            <a:srgbClr val="3C783C"/>
          </a:solidFill>
          <a:ln w="12700">
            <a:solidFill>
              <a:srgbClr val="FFFFFF"/>
            </a:solidFill>
            <a:prstDash val="solid"/>
          </a:ln>
        </p:spPr>
      </p:sp>
      <p:sp>
        <p:nvSpPr>
          <p:cNvPr id="41" name="Shape 39"/>
          <p:cNvSpPr/>
          <p:nvPr/>
        </p:nvSpPr>
        <p:spPr>
          <a:xfrm>
            <a:off x="2313432" y="3547872"/>
            <a:ext cx="219456" cy="384048"/>
          </a:xfrm>
          <a:prstGeom prst="rect">
            <a:avLst/>
          </a:prstGeom>
          <a:solidFill>
            <a:srgbClr val="3C783C"/>
          </a:solidFill>
          <a:ln w="12700">
            <a:solidFill>
              <a:srgbClr val="FFFFFF"/>
            </a:solidFill>
            <a:prstDash val="solid"/>
          </a:ln>
        </p:spPr>
      </p:sp>
      <p:sp>
        <p:nvSpPr>
          <p:cNvPr id="42" name="Shape 40"/>
          <p:cNvSpPr/>
          <p:nvPr/>
        </p:nvSpPr>
        <p:spPr>
          <a:xfrm>
            <a:off x="2578608" y="3547872"/>
            <a:ext cx="219456" cy="384048"/>
          </a:xfrm>
          <a:prstGeom prst="rect">
            <a:avLst/>
          </a:prstGeom>
          <a:solidFill>
            <a:srgbClr val="3C783C"/>
          </a:solidFill>
          <a:ln w="12700">
            <a:solidFill>
              <a:srgbClr val="FFFFFF"/>
            </a:solidFill>
            <a:prstDash val="solid"/>
          </a:ln>
        </p:spPr>
      </p:sp>
      <p:sp>
        <p:nvSpPr>
          <p:cNvPr id="43" name="Shape 41"/>
          <p:cNvSpPr/>
          <p:nvPr/>
        </p:nvSpPr>
        <p:spPr>
          <a:xfrm>
            <a:off x="2843784" y="3547872"/>
            <a:ext cx="219456" cy="384048"/>
          </a:xfrm>
          <a:prstGeom prst="rect">
            <a:avLst/>
          </a:prstGeom>
          <a:solidFill>
            <a:srgbClr val="3C783C"/>
          </a:solidFill>
          <a:ln w="12700">
            <a:solidFill>
              <a:srgbClr val="FFFFFF"/>
            </a:solidFill>
            <a:prstDash val="solid"/>
          </a:ln>
        </p:spPr>
      </p:sp>
      <p:sp>
        <p:nvSpPr>
          <p:cNvPr id="44" name="Text 42"/>
          <p:cNvSpPr txBox="1"/>
          <p:nvPr/>
        </p:nvSpPr>
        <p:spPr>
          <a:xfrm>
            <a:off x="457200" y="4160520"/>
            <a:ext cx="292608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3 Gebiete × 10 Trittyen = 30 Trittyen</a:t>
            </a:r>
            <a:endParaRPr lang="en-US" sz="1200" dirty="0"/>
          </a:p>
        </p:txBody>
      </p:sp>
      <p:sp>
        <p:nvSpPr>
          <p:cNvPr id="45" name="Shape 43"/>
          <p:cNvSpPr/>
          <p:nvPr/>
        </p:nvSpPr>
        <p:spPr>
          <a:xfrm>
            <a:off x="3337560" y="2697480"/>
            <a:ext cx="685800" cy="0"/>
          </a:xfrm>
          <a:prstGeom prst="line">
            <a:avLst/>
          </a:prstGeom>
          <a:noFill/>
          <a:ln w="38100">
            <a:solidFill>
              <a:srgbClr val="2B2318"/>
            </a:solidFill>
            <a:prstDash val="solid"/>
            <a:tailEnd type="triangle"/>
          </a:ln>
        </p:spPr>
      </p:sp>
      <p:sp>
        <p:nvSpPr>
          <p:cNvPr id="46" name="Text 44"/>
          <p:cNvSpPr txBox="1"/>
          <p:nvPr/>
        </p:nvSpPr>
        <p:spPr>
          <a:xfrm>
            <a:off x="3291840" y="2377440"/>
            <a:ext cx="822960" cy="274320"/>
          </a:xfrm>
          <a:prstGeom prst="rect">
            <a:avLst/>
          </a:prstGeom>
          <a:noFill/>
          <a:ln/>
        </p:spPr>
        <p:txBody>
          <a:bodyPr wrap="square" lIns="0" tIns="0" rIns="0" bIns="0" rtlCol="0" anchor="t"/>
          <a:lstStyle/>
          <a:p>
            <a:pPr algn="ctr" indent="0" marL="0">
              <a:buNone/>
            </a:pPr>
            <a:r>
              <a:rPr lang="en-US" sz="1100" dirty="0">
                <a:solidFill>
                  <a:srgbClr val="5A5044"/>
                </a:solidFill>
                <a:latin typeface="Calibri" pitchFamily="34" charset="0"/>
                <a:ea typeface="Calibri" pitchFamily="34" charset="-122"/>
                <a:cs typeface="Calibri" pitchFamily="34" charset="-120"/>
              </a:rPr>
              <a:t>per Los</a:t>
            </a:r>
            <a:endParaRPr lang="en-US" sz="1100" dirty="0"/>
          </a:p>
        </p:txBody>
      </p:sp>
      <p:sp>
        <p:nvSpPr>
          <p:cNvPr id="47" name="Shape 45"/>
          <p:cNvSpPr/>
          <p:nvPr/>
        </p:nvSpPr>
        <p:spPr>
          <a:xfrm>
            <a:off x="4206240" y="1325880"/>
            <a:ext cx="731520" cy="310896"/>
          </a:xfrm>
          <a:prstGeom prst="rect">
            <a:avLst/>
          </a:prstGeom>
          <a:solidFill>
            <a:srgbClr val="C9962A"/>
          </a:solidFill>
          <a:ln w="12700">
            <a:solidFill>
              <a:srgbClr val="FFFFFF"/>
            </a:solidFill>
            <a:prstDash val="solid"/>
          </a:ln>
        </p:spPr>
      </p:sp>
      <p:sp>
        <p:nvSpPr>
          <p:cNvPr id="48" name="Shape 46"/>
          <p:cNvSpPr/>
          <p:nvPr/>
        </p:nvSpPr>
        <p:spPr>
          <a:xfrm>
            <a:off x="4206240" y="1655064"/>
            <a:ext cx="731520" cy="310896"/>
          </a:xfrm>
          <a:prstGeom prst="rect">
            <a:avLst/>
          </a:prstGeom>
          <a:solidFill>
            <a:srgbClr val="3E5C76"/>
          </a:solidFill>
          <a:ln w="12700">
            <a:solidFill>
              <a:srgbClr val="FFFFFF"/>
            </a:solidFill>
            <a:prstDash val="solid"/>
          </a:ln>
        </p:spPr>
      </p:sp>
      <p:sp>
        <p:nvSpPr>
          <p:cNvPr id="49" name="Shape 47"/>
          <p:cNvSpPr/>
          <p:nvPr/>
        </p:nvSpPr>
        <p:spPr>
          <a:xfrm>
            <a:off x="4206240" y="1984248"/>
            <a:ext cx="731520" cy="310896"/>
          </a:xfrm>
          <a:prstGeom prst="rect">
            <a:avLst/>
          </a:prstGeom>
          <a:solidFill>
            <a:srgbClr val="3C783C"/>
          </a:solidFill>
          <a:ln w="12700">
            <a:solidFill>
              <a:srgbClr val="FFFFFF"/>
            </a:solidFill>
            <a:prstDash val="solid"/>
          </a:ln>
        </p:spPr>
      </p:sp>
      <p:sp>
        <p:nvSpPr>
          <p:cNvPr id="50" name="Text 48"/>
          <p:cNvSpPr txBox="1"/>
          <p:nvPr/>
        </p:nvSpPr>
        <p:spPr>
          <a:xfrm>
            <a:off x="4160520"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a:t>
            </a:r>
            <a:endParaRPr lang="en-US" sz="950" dirty="0"/>
          </a:p>
        </p:txBody>
      </p:sp>
      <p:sp>
        <p:nvSpPr>
          <p:cNvPr id="51" name="Shape 49"/>
          <p:cNvSpPr/>
          <p:nvPr/>
        </p:nvSpPr>
        <p:spPr>
          <a:xfrm>
            <a:off x="5102352" y="1325880"/>
            <a:ext cx="731520" cy="310896"/>
          </a:xfrm>
          <a:prstGeom prst="rect">
            <a:avLst/>
          </a:prstGeom>
          <a:solidFill>
            <a:srgbClr val="C9962A"/>
          </a:solidFill>
          <a:ln w="12700">
            <a:solidFill>
              <a:srgbClr val="FFFFFF"/>
            </a:solidFill>
            <a:prstDash val="solid"/>
          </a:ln>
        </p:spPr>
      </p:sp>
      <p:sp>
        <p:nvSpPr>
          <p:cNvPr id="52" name="Shape 50"/>
          <p:cNvSpPr/>
          <p:nvPr/>
        </p:nvSpPr>
        <p:spPr>
          <a:xfrm>
            <a:off x="5102352" y="1655064"/>
            <a:ext cx="731520" cy="310896"/>
          </a:xfrm>
          <a:prstGeom prst="rect">
            <a:avLst/>
          </a:prstGeom>
          <a:solidFill>
            <a:srgbClr val="3E5C76"/>
          </a:solidFill>
          <a:ln w="12700">
            <a:solidFill>
              <a:srgbClr val="FFFFFF"/>
            </a:solidFill>
            <a:prstDash val="solid"/>
          </a:ln>
        </p:spPr>
      </p:sp>
      <p:sp>
        <p:nvSpPr>
          <p:cNvPr id="53" name="Shape 51"/>
          <p:cNvSpPr/>
          <p:nvPr/>
        </p:nvSpPr>
        <p:spPr>
          <a:xfrm>
            <a:off x="5102352" y="1984248"/>
            <a:ext cx="731520" cy="310896"/>
          </a:xfrm>
          <a:prstGeom prst="rect">
            <a:avLst/>
          </a:prstGeom>
          <a:solidFill>
            <a:srgbClr val="3C783C"/>
          </a:solidFill>
          <a:ln w="12700">
            <a:solidFill>
              <a:srgbClr val="FFFFFF"/>
            </a:solidFill>
            <a:prstDash val="solid"/>
          </a:ln>
        </p:spPr>
      </p:sp>
      <p:sp>
        <p:nvSpPr>
          <p:cNvPr id="54" name="Text 52"/>
          <p:cNvSpPr txBox="1"/>
          <p:nvPr/>
        </p:nvSpPr>
        <p:spPr>
          <a:xfrm>
            <a:off x="5056632"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2</a:t>
            </a:r>
            <a:endParaRPr lang="en-US" sz="950" dirty="0"/>
          </a:p>
        </p:txBody>
      </p:sp>
      <p:sp>
        <p:nvSpPr>
          <p:cNvPr id="55" name="Shape 53"/>
          <p:cNvSpPr/>
          <p:nvPr/>
        </p:nvSpPr>
        <p:spPr>
          <a:xfrm>
            <a:off x="5998464" y="1325880"/>
            <a:ext cx="731520" cy="310896"/>
          </a:xfrm>
          <a:prstGeom prst="rect">
            <a:avLst/>
          </a:prstGeom>
          <a:solidFill>
            <a:srgbClr val="C9962A"/>
          </a:solidFill>
          <a:ln w="12700">
            <a:solidFill>
              <a:srgbClr val="FFFFFF"/>
            </a:solidFill>
            <a:prstDash val="solid"/>
          </a:ln>
        </p:spPr>
      </p:sp>
      <p:sp>
        <p:nvSpPr>
          <p:cNvPr id="56" name="Shape 54"/>
          <p:cNvSpPr/>
          <p:nvPr/>
        </p:nvSpPr>
        <p:spPr>
          <a:xfrm>
            <a:off x="5998464" y="1655064"/>
            <a:ext cx="731520" cy="310896"/>
          </a:xfrm>
          <a:prstGeom prst="rect">
            <a:avLst/>
          </a:prstGeom>
          <a:solidFill>
            <a:srgbClr val="3E5C76"/>
          </a:solidFill>
          <a:ln w="12700">
            <a:solidFill>
              <a:srgbClr val="FFFFFF"/>
            </a:solidFill>
            <a:prstDash val="solid"/>
          </a:ln>
        </p:spPr>
      </p:sp>
      <p:sp>
        <p:nvSpPr>
          <p:cNvPr id="57" name="Shape 55"/>
          <p:cNvSpPr/>
          <p:nvPr/>
        </p:nvSpPr>
        <p:spPr>
          <a:xfrm>
            <a:off x="5998464" y="1984248"/>
            <a:ext cx="731520" cy="310896"/>
          </a:xfrm>
          <a:prstGeom prst="rect">
            <a:avLst/>
          </a:prstGeom>
          <a:solidFill>
            <a:srgbClr val="3C783C"/>
          </a:solidFill>
          <a:ln w="12700">
            <a:solidFill>
              <a:srgbClr val="FFFFFF"/>
            </a:solidFill>
            <a:prstDash val="solid"/>
          </a:ln>
        </p:spPr>
      </p:sp>
      <p:sp>
        <p:nvSpPr>
          <p:cNvPr id="58" name="Text 56"/>
          <p:cNvSpPr txBox="1"/>
          <p:nvPr/>
        </p:nvSpPr>
        <p:spPr>
          <a:xfrm>
            <a:off x="5952744"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3</a:t>
            </a:r>
            <a:endParaRPr lang="en-US" sz="950" dirty="0"/>
          </a:p>
        </p:txBody>
      </p:sp>
      <p:sp>
        <p:nvSpPr>
          <p:cNvPr id="59" name="Shape 57"/>
          <p:cNvSpPr/>
          <p:nvPr/>
        </p:nvSpPr>
        <p:spPr>
          <a:xfrm>
            <a:off x="6894576" y="1325880"/>
            <a:ext cx="731520" cy="310896"/>
          </a:xfrm>
          <a:prstGeom prst="rect">
            <a:avLst/>
          </a:prstGeom>
          <a:solidFill>
            <a:srgbClr val="C9962A"/>
          </a:solidFill>
          <a:ln w="12700">
            <a:solidFill>
              <a:srgbClr val="FFFFFF"/>
            </a:solidFill>
            <a:prstDash val="solid"/>
          </a:ln>
        </p:spPr>
      </p:sp>
      <p:sp>
        <p:nvSpPr>
          <p:cNvPr id="60" name="Shape 58"/>
          <p:cNvSpPr/>
          <p:nvPr/>
        </p:nvSpPr>
        <p:spPr>
          <a:xfrm>
            <a:off x="6894576" y="1655064"/>
            <a:ext cx="731520" cy="310896"/>
          </a:xfrm>
          <a:prstGeom prst="rect">
            <a:avLst/>
          </a:prstGeom>
          <a:solidFill>
            <a:srgbClr val="3E5C76"/>
          </a:solidFill>
          <a:ln w="12700">
            <a:solidFill>
              <a:srgbClr val="FFFFFF"/>
            </a:solidFill>
            <a:prstDash val="solid"/>
          </a:ln>
        </p:spPr>
      </p:sp>
      <p:sp>
        <p:nvSpPr>
          <p:cNvPr id="61" name="Shape 59"/>
          <p:cNvSpPr/>
          <p:nvPr/>
        </p:nvSpPr>
        <p:spPr>
          <a:xfrm>
            <a:off x="6894576" y="1984248"/>
            <a:ext cx="731520" cy="310896"/>
          </a:xfrm>
          <a:prstGeom prst="rect">
            <a:avLst/>
          </a:prstGeom>
          <a:solidFill>
            <a:srgbClr val="3C783C"/>
          </a:solidFill>
          <a:ln w="12700">
            <a:solidFill>
              <a:srgbClr val="FFFFFF"/>
            </a:solidFill>
            <a:prstDash val="solid"/>
          </a:ln>
        </p:spPr>
      </p:sp>
      <p:sp>
        <p:nvSpPr>
          <p:cNvPr id="62" name="Text 60"/>
          <p:cNvSpPr txBox="1"/>
          <p:nvPr/>
        </p:nvSpPr>
        <p:spPr>
          <a:xfrm>
            <a:off x="6848856"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4</a:t>
            </a:r>
            <a:endParaRPr lang="en-US" sz="950" dirty="0"/>
          </a:p>
        </p:txBody>
      </p:sp>
      <p:sp>
        <p:nvSpPr>
          <p:cNvPr id="63" name="Shape 61"/>
          <p:cNvSpPr/>
          <p:nvPr/>
        </p:nvSpPr>
        <p:spPr>
          <a:xfrm>
            <a:off x="7790688" y="1325880"/>
            <a:ext cx="731520" cy="310896"/>
          </a:xfrm>
          <a:prstGeom prst="rect">
            <a:avLst/>
          </a:prstGeom>
          <a:solidFill>
            <a:srgbClr val="C9962A"/>
          </a:solidFill>
          <a:ln w="12700">
            <a:solidFill>
              <a:srgbClr val="FFFFFF"/>
            </a:solidFill>
            <a:prstDash val="solid"/>
          </a:ln>
        </p:spPr>
      </p:sp>
      <p:sp>
        <p:nvSpPr>
          <p:cNvPr id="64" name="Shape 62"/>
          <p:cNvSpPr/>
          <p:nvPr/>
        </p:nvSpPr>
        <p:spPr>
          <a:xfrm>
            <a:off x="7790688" y="1655064"/>
            <a:ext cx="731520" cy="310896"/>
          </a:xfrm>
          <a:prstGeom prst="rect">
            <a:avLst/>
          </a:prstGeom>
          <a:solidFill>
            <a:srgbClr val="3E5C76"/>
          </a:solidFill>
          <a:ln w="12700">
            <a:solidFill>
              <a:srgbClr val="FFFFFF"/>
            </a:solidFill>
            <a:prstDash val="solid"/>
          </a:ln>
        </p:spPr>
      </p:sp>
      <p:sp>
        <p:nvSpPr>
          <p:cNvPr id="65" name="Shape 63"/>
          <p:cNvSpPr/>
          <p:nvPr/>
        </p:nvSpPr>
        <p:spPr>
          <a:xfrm>
            <a:off x="7790688" y="1984248"/>
            <a:ext cx="731520" cy="310896"/>
          </a:xfrm>
          <a:prstGeom prst="rect">
            <a:avLst/>
          </a:prstGeom>
          <a:solidFill>
            <a:srgbClr val="3C783C"/>
          </a:solidFill>
          <a:ln w="12700">
            <a:solidFill>
              <a:srgbClr val="FFFFFF"/>
            </a:solidFill>
            <a:prstDash val="solid"/>
          </a:ln>
        </p:spPr>
      </p:sp>
      <p:sp>
        <p:nvSpPr>
          <p:cNvPr id="66" name="Text 64"/>
          <p:cNvSpPr txBox="1"/>
          <p:nvPr/>
        </p:nvSpPr>
        <p:spPr>
          <a:xfrm>
            <a:off x="7744968"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5</a:t>
            </a:r>
            <a:endParaRPr lang="en-US" sz="950" dirty="0"/>
          </a:p>
        </p:txBody>
      </p:sp>
      <p:sp>
        <p:nvSpPr>
          <p:cNvPr id="67" name="Shape 65"/>
          <p:cNvSpPr/>
          <p:nvPr/>
        </p:nvSpPr>
        <p:spPr>
          <a:xfrm>
            <a:off x="4206240" y="2807208"/>
            <a:ext cx="731520" cy="310896"/>
          </a:xfrm>
          <a:prstGeom prst="rect">
            <a:avLst/>
          </a:prstGeom>
          <a:solidFill>
            <a:srgbClr val="C9962A"/>
          </a:solidFill>
          <a:ln w="12700">
            <a:solidFill>
              <a:srgbClr val="FFFFFF"/>
            </a:solidFill>
            <a:prstDash val="solid"/>
          </a:ln>
        </p:spPr>
      </p:sp>
      <p:sp>
        <p:nvSpPr>
          <p:cNvPr id="68" name="Shape 66"/>
          <p:cNvSpPr/>
          <p:nvPr/>
        </p:nvSpPr>
        <p:spPr>
          <a:xfrm>
            <a:off x="4206240" y="3136392"/>
            <a:ext cx="731520" cy="310896"/>
          </a:xfrm>
          <a:prstGeom prst="rect">
            <a:avLst/>
          </a:prstGeom>
          <a:solidFill>
            <a:srgbClr val="3E5C76"/>
          </a:solidFill>
          <a:ln w="12700">
            <a:solidFill>
              <a:srgbClr val="FFFFFF"/>
            </a:solidFill>
            <a:prstDash val="solid"/>
          </a:ln>
        </p:spPr>
      </p:sp>
      <p:sp>
        <p:nvSpPr>
          <p:cNvPr id="69" name="Shape 67"/>
          <p:cNvSpPr/>
          <p:nvPr/>
        </p:nvSpPr>
        <p:spPr>
          <a:xfrm>
            <a:off x="4206240" y="3465576"/>
            <a:ext cx="731520" cy="310896"/>
          </a:xfrm>
          <a:prstGeom prst="rect">
            <a:avLst/>
          </a:prstGeom>
          <a:solidFill>
            <a:srgbClr val="3C783C"/>
          </a:solidFill>
          <a:ln w="12700">
            <a:solidFill>
              <a:srgbClr val="FFFFFF"/>
            </a:solidFill>
            <a:prstDash val="solid"/>
          </a:ln>
        </p:spPr>
      </p:sp>
      <p:sp>
        <p:nvSpPr>
          <p:cNvPr id="70" name="Text 68"/>
          <p:cNvSpPr txBox="1"/>
          <p:nvPr/>
        </p:nvSpPr>
        <p:spPr>
          <a:xfrm>
            <a:off x="4160520"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6</a:t>
            </a:r>
            <a:endParaRPr lang="en-US" sz="950" dirty="0"/>
          </a:p>
        </p:txBody>
      </p:sp>
      <p:sp>
        <p:nvSpPr>
          <p:cNvPr id="71" name="Shape 69"/>
          <p:cNvSpPr/>
          <p:nvPr/>
        </p:nvSpPr>
        <p:spPr>
          <a:xfrm>
            <a:off x="5102352" y="2807208"/>
            <a:ext cx="731520" cy="310896"/>
          </a:xfrm>
          <a:prstGeom prst="rect">
            <a:avLst/>
          </a:prstGeom>
          <a:solidFill>
            <a:srgbClr val="C9962A"/>
          </a:solidFill>
          <a:ln w="12700">
            <a:solidFill>
              <a:srgbClr val="FFFFFF"/>
            </a:solidFill>
            <a:prstDash val="solid"/>
          </a:ln>
        </p:spPr>
      </p:sp>
      <p:sp>
        <p:nvSpPr>
          <p:cNvPr id="72" name="Shape 70"/>
          <p:cNvSpPr/>
          <p:nvPr/>
        </p:nvSpPr>
        <p:spPr>
          <a:xfrm>
            <a:off x="5102352" y="3136392"/>
            <a:ext cx="731520" cy="310896"/>
          </a:xfrm>
          <a:prstGeom prst="rect">
            <a:avLst/>
          </a:prstGeom>
          <a:solidFill>
            <a:srgbClr val="3E5C76"/>
          </a:solidFill>
          <a:ln w="12700">
            <a:solidFill>
              <a:srgbClr val="FFFFFF"/>
            </a:solidFill>
            <a:prstDash val="solid"/>
          </a:ln>
        </p:spPr>
      </p:sp>
      <p:sp>
        <p:nvSpPr>
          <p:cNvPr id="73" name="Shape 71"/>
          <p:cNvSpPr/>
          <p:nvPr/>
        </p:nvSpPr>
        <p:spPr>
          <a:xfrm>
            <a:off x="5102352" y="3465576"/>
            <a:ext cx="731520" cy="310896"/>
          </a:xfrm>
          <a:prstGeom prst="rect">
            <a:avLst/>
          </a:prstGeom>
          <a:solidFill>
            <a:srgbClr val="3C783C"/>
          </a:solidFill>
          <a:ln w="12700">
            <a:solidFill>
              <a:srgbClr val="FFFFFF"/>
            </a:solidFill>
            <a:prstDash val="solid"/>
          </a:ln>
        </p:spPr>
      </p:sp>
      <p:sp>
        <p:nvSpPr>
          <p:cNvPr id="74" name="Text 72"/>
          <p:cNvSpPr txBox="1"/>
          <p:nvPr/>
        </p:nvSpPr>
        <p:spPr>
          <a:xfrm>
            <a:off x="5056632"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7</a:t>
            </a:r>
            <a:endParaRPr lang="en-US" sz="950" dirty="0"/>
          </a:p>
        </p:txBody>
      </p:sp>
      <p:sp>
        <p:nvSpPr>
          <p:cNvPr id="75" name="Shape 73"/>
          <p:cNvSpPr/>
          <p:nvPr/>
        </p:nvSpPr>
        <p:spPr>
          <a:xfrm>
            <a:off x="5998464" y="2807208"/>
            <a:ext cx="731520" cy="310896"/>
          </a:xfrm>
          <a:prstGeom prst="rect">
            <a:avLst/>
          </a:prstGeom>
          <a:solidFill>
            <a:srgbClr val="C9962A"/>
          </a:solidFill>
          <a:ln w="12700">
            <a:solidFill>
              <a:srgbClr val="FFFFFF"/>
            </a:solidFill>
            <a:prstDash val="solid"/>
          </a:ln>
        </p:spPr>
      </p:sp>
      <p:sp>
        <p:nvSpPr>
          <p:cNvPr id="76" name="Shape 74"/>
          <p:cNvSpPr/>
          <p:nvPr/>
        </p:nvSpPr>
        <p:spPr>
          <a:xfrm>
            <a:off x="5998464" y="3136392"/>
            <a:ext cx="731520" cy="310896"/>
          </a:xfrm>
          <a:prstGeom prst="rect">
            <a:avLst/>
          </a:prstGeom>
          <a:solidFill>
            <a:srgbClr val="3E5C76"/>
          </a:solidFill>
          <a:ln w="12700">
            <a:solidFill>
              <a:srgbClr val="FFFFFF"/>
            </a:solidFill>
            <a:prstDash val="solid"/>
          </a:ln>
        </p:spPr>
      </p:sp>
      <p:sp>
        <p:nvSpPr>
          <p:cNvPr id="77" name="Shape 75"/>
          <p:cNvSpPr/>
          <p:nvPr/>
        </p:nvSpPr>
        <p:spPr>
          <a:xfrm>
            <a:off x="5998464" y="3465576"/>
            <a:ext cx="731520" cy="310896"/>
          </a:xfrm>
          <a:prstGeom prst="rect">
            <a:avLst/>
          </a:prstGeom>
          <a:solidFill>
            <a:srgbClr val="3C783C"/>
          </a:solidFill>
          <a:ln w="12700">
            <a:solidFill>
              <a:srgbClr val="FFFFFF"/>
            </a:solidFill>
            <a:prstDash val="solid"/>
          </a:ln>
        </p:spPr>
      </p:sp>
      <p:sp>
        <p:nvSpPr>
          <p:cNvPr id="78" name="Text 76"/>
          <p:cNvSpPr txBox="1"/>
          <p:nvPr/>
        </p:nvSpPr>
        <p:spPr>
          <a:xfrm>
            <a:off x="5952744"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8</a:t>
            </a:r>
            <a:endParaRPr lang="en-US" sz="950" dirty="0"/>
          </a:p>
        </p:txBody>
      </p:sp>
      <p:sp>
        <p:nvSpPr>
          <p:cNvPr id="79" name="Shape 77"/>
          <p:cNvSpPr/>
          <p:nvPr/>
        </p:nvSpPr>
        <p:spPr>
          <a:xfrm>
            <a:off x="6894576" y="2807208"/>
            <a:ext cx="731520" cy="310896"/>
          </a:xfrm>
          <a:prstGeom prst="rect">
            <a:avLst/>
          </a:prstGeom>
          <a:solidFill>
            <a:srgbClr val="C9962A"/>
          </a:solidFill>
          <a:ln w="12700">
            <a:solidFill>
              <a:srgbClr val="FFFFFF"/>
            </a:solidFill>
            <a:prstDash val="solid"/>
          </a:ln>
        </p:spPr>
      </p:sp>
      <p:sp>
        <p:nvSpPr>
          <p:cNvPr id="80" name="Shape 78"/>
          <p:cNvSpPr/>
          <p:nvPr/>
        </p:nvSpPr>
        <p:spPr>
          <a:xfrm>
            <a:off x="6894576" y="3136392"/>
            <a:ext cx="731520" cy="310896"/>
          </a:xfrm>
          <a:prstGeom prst="rect">
            <a:avLst/>
          </a:prstGeom>
          <a:solidFill>
            <a:srgbClr val="3E5C76"/>
          </a:solidFill>
          <a:ln w="12700">
            <a:solidFill>
              <a:srgbClr val="FFFFFF"/>
            </a:solidFill>
            <a:prstDash val="solid"/>
          </a:ln>
        </p:spPr>
      </p:sp>
      <p:sp>
        <p:nvSpPr>
          <p:cNvPr id="81" name="Shape 79"/>
          <p:cNvSpPr/>
          <p:nvPr/>
        </p:nvSpPr>
        <p:spPr>
          <a:xfrm>
            <a:off x="6894576" y="3465576"/>
            <a:ext cx="731520" cy="310896"/>
          </a:xfrm>
          <a:prstGeom prst="rect">
            <a:avLst/>
          </a:prstGeom>
          <a:solidFill>
            <a:srgbClr val="3C783C"/>
          </a:solidFill>
          <a:ln w="12700">
            <a:solidFill>
              <a:srgbClr val="FFFFFF"/>
            </a:solidFill>
            <a:prstDash val="solid"/>
          </a:ln>
        </p:spPr>
      </p:sp>
      <p:sp>
        <p:nvSpPr>
          <p:cNvPr id="82" name="Text 80"/>
          <p:cNvSpPr txBox="1"/>
          <p:nvPr/>
        </p:nvSpPr>
        <p:spPr>
          <a:xfrm>
            <a:off x="6848856"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9</a:t>
            </a:r>
            <a:endParaRPr lang="en-US" sz="950" dirty="0"/>
          </a:p>
        </p:txBody>
      </p:sp>
      <p:sp>
        <p:nvSpPr>
          <p:cNvPr id="83" name="Shape 81"/>
          <p:cNvSpPr/>
          <p:nvPr/>
        </p:nvSpPr>
        <p:spPr>
          <a:xfrm>
            <a:off x="7790688" y="2807208"/>
            <a:ext cx="731520" cy="310896"/>
          </a:xfrm>
          <a:prstGeom prst="rect">
            <a:avLst/>
          </a:prstGeom>
          <a:solidFill>
            <a:srgbClr val="C9962A"/>
          </a:solidFill>
          <a:ln w="12700">
            <a:solidFill>
              <a:srgbClr val="FFFFFF"/>
            </a:solidFill>
            <a:prstDash val="solid"/>
          </a:ln>
        </p:spPr>
      </p:sp>
      <p:sp>
        <p:nvSpPr>
          <p:cNvPr id="84" name="Shape 82"/>
          <p:cNvSpPr/>
          <p:nvPr/>
        </p:nvSpPr>
        <p:spPr>
          <a:xfrm>
            <a:off x="7790688" y="3136392"/>
            <a:ext cx="731520" cy="310896"/>
          </a:xfrm>
          <a:prstGeom prst="rect">
            <a:avLst/>
          </a:prstGeom>
          <a:solidFill>
            <a:srgbClr val="3E5C76"/>
          </a:solidFill>
          <a:ln w="12700">
            <a:solidFill>
              <a:srgbClr val="FFFFFF"/>
            </a:solidFill>
            <a:prstDash val="solid"/>
          </a:ln>
        </p:spPr>
      </p:sp>
      <p:sp>
        <p:nvSpPr>
          <p:cNvPr id="85" name="Shape 83"/>
          <p:cNvSpPr/>
          <p:nvPr/>
        </p:nvSpPr>
        <p:spPr>
          <a:xfrm>
            <a:off x="7790688" y="3465576"/>
            <a:ext cx="731520" cy="310896"/>
          </a:xfrm>
          <a:prstGeom prst="rect">
            <a:avLst/>
          </a:prstGeom>
          <a:solidFill>
            <a:srgbClr val="3C783C"/>
          </a:solidFill>
          <a:ln w="12700">
            <a:solidFill>
              <a:srgbClr val="FFFFFF"/>
            </a:solidFill>
            <a:prstDash val="solid"/>
          </a:ln>
        </p:spPr>
      </p:sp>
      <p:sp>
        <p:nvSpPr>
          <p:cNvPr id="86" name="Text 84"/>
          <p:cNvSpPr txBox="1"/>
          <p:nvPr/>
        </p:nvSpPr>
        <p:spPr>
          <a:xfrm>
            <a:off x="7744968"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10</a:t>
            </a:r>
            <a:endParaRPr lang="en-US" sz="950" dirty="0"/>
          </a:p>
        </p:txBody>
      </p:sp>
      <p:sp>
        <p:nvSpPr>
          <p:cNvPr id="87" name="Text 85"/>
          <p:cNvSpPr txBox="1"/>
          <p:nvPr/>
        </p:nvSpPr>
        <p:spPr>
          <a:xfrm>
            <a:off x="4206240" y="4160520"/>
            <a:ext cx="448056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10 neue Phylen – jede mit Stadt, Küste und Binnenland</a:t>
            </a:r>
            <a:endParaRPr lang="en-US" sz="1200" dirty="0"/>
          </a:p>
        </p:txBody>
      </p:sp>
      <p:sp>
        <p:nvSpPr>
          <p:cNvPr id="88" name="Shape 86"/>
          <p:cNvSpPr/>
          <p:nvPr/>
        </p:nvSpPr>
        <p:spPr>
          <a:xfrm>
            <a:off x="457200" y="4462272"/>
            <a:ext cx="8229600" cy="292608"/>
          </a:xfrm>
          <a:prstGeom prst="roundRect">
            <a:avLst>
              <a:gd name="adj" fmla="val 25000"/>
            </a:avLst>
          </a:prstGeom>
          <a:solidFill>
            <a:srgbClr val="2B2318"/>
          </a:solidFill>
          <a:ln w="12700">
            <a:solidFill>
              <a:srgbClr val="2B2318"/>
            </a:solidFill>
            <a:prstDash val="solid"/>
          </a:ln>
        </p:spPr>
      </p:sp>
      <p:sp>
        <p:nvSpPr>
          <p:cNvPr id="89" name="Text 87"/>
          <p:cNvSpPr txBox="1"/>
          <p:nvPr/>
        </p:nvSpPr>
        <p:spPr>
          <a:xfrm>
            <a:off x="594360" y="4462272"/>
            <a:ext cx="7955280" cy="292608"/>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Jede Phyle schickt 50 Männer → Rat der 500 · Die Gefolgschaft eines Adligen ist über mehrere Phylen verteilt.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ALLEIN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Kleisthenes und Solon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11" name="Shape 9"/>
          <p:cNvSpPr/>
          <p:nvPr/>
        </p:nvSpPr>
        <p:spPr>
          <a:xfrm>
            <a:off x="457200" y="1234440"/>
            <a:ext cx="8229600" cy="1234440"/>
          </a:xfrm>
          <a:prstGeom prst="roundRect">
            <a:avLst>
              <a:gd name="adj" fmla="val 5926"/>
            </a:avLst>
          </a:prstGeom>
          <a:solidFill>
            <a:srgbClr val="2B2318"/>
          </a:solidFill>
          <a:ln w="12700">
            <a:solidFill>
              <a:srgbClr val="2B2318"/>
            </a:solidFill>
            <a:prstDash val="solid"/>
          </a:ln>
        </p:spPr>
      </p:sp>
      <p:sp>
        <p:nvSpPr>
          <p:cNvPr id="12" name="Text 10"/>
          <p:cNvSpPr txBox="1"/>
          <p:nvPr/>
        </p:nvSpPr>
        <p:spPr>
          <a:xfrm>
            <a:off x="731520" y="1234440"/>
            <a:ext cx="7680960" cy="12344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Kleisthenes änderte an Solons Vermögensklassen nichts – und trotzdem gilt er als „Wegbereiter der Demokratie“. Erkläre das in 3 Sätzen.</a:t>
            </a:r>
            <a:endParaRPr lang="en-US" sz="1900" dirty="0"/>
          </a:p>
        </p:txBody>
      </p:sp>
      <p:sp>
        <p:nvSpPr>
          <p:cNvPr id="13" name="Shape 11"/>
          <p:cNvSpPr/>
          <p:nvPr/>
        </p:nvSpPr>
        <p:spPr>
          <a:xfrm>
            <a:off x="457200" y="2697480"/>
            <a:ext cx="8229600" cy="1417320"/>
          </a:xfrm>
          <a:prstGeom prst="roundRect">
            <a:avLst>
              <a:gd name="adj" fmla="val 5161"/>
            </a:avLst>
          </a:prstGeom>
          <a:solidFill>
            <a:srgbClr val="F4ECDE"/>
          </a:solidFill>
          <a:ln w="12700">
            <a:solidFill>
              <a:srgbClr val="F4ECDE"/>
            </a:solidFill>
            <a:prstDash val="solid"/>
          </a:ln>
        </p:spPr>
      </p:sp>
      <p:sp>
        <p:nvSpPr>
          <p:cNvPr id="14" name="Text 12"/>
          <p:cNvSpPr txBox="1"/>
          <p:nvPr/>
        </p:nvSpPr>
        <p:spPr>
          <a:xfrm>
            <a:off x="685800" y="2788920"/>
            <a:ext cx="365760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15" name="Text 13"/>
          <p:cNvSpPr txBox="1"/>
          <p:nvPr/>
        </p:nvSpPr>
        <p:spPr>
          <a:xfrm>
            <a:off x="685800" y="3108960"/>
            <a:ext cx="7772400" cy="91440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„Solon gab den Bürgern …, aber …“     „Kleisthenes änderte nicht …, sondern …“     „Dadurch konnten die Bürger …“</a:t>
            </a:r>
            <a:endParaRPr lang="en-US" sz="1500" dirty="0"/>
          </a:p>
        </p:txBody>
      </p:sp>
      <p:sp>
        <p:nvSpPr>
          <p:cNvPr id="16" name="Text 1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Danach: Zwei lesen vor. Haben wir das Ziel erreicht?</a:t>
            </a:r>
            <a:endParaRPr lang="en-US" sz="1400" dirty="0"/>
          </a:p>
        </p:txBody>
      </p:sp>
      <p:sp>
        <p:nvSpPr>
          <p:cNvPr id="17" name="Text 15"/>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So könnte die Antwort lauten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Shape 9"/>
          <p:cNvSpPr/>
          <p:nvPr/>
        </p:nvSpPr>
        <p:spPr>
          <a:xfrm>
            <a:off x="457200" y="1234440"/>
            <a:ext cx="8229600" cy="1828800"/>
          </a:xfrm>
          <a:prstGeom prst="roundRect">
            <a:avLst>
              <a:gd name="adj" fmla="val 4000"/>
            </a:avLst>
          </a:prstGeom>
          <a:solidFill>
            <a:srgbClr val="F4ECDE"/>
          </a:solidFill>
          <a:ln w="12700">
            <a:solidFill>
              <a:srgbClr val="F4ECDE"/>
            </a:solidFill>
            <a:prstDash val="solid"/>
          </a:ln>
        </p:spPr>
      </p:sp>
      <p:sp>
        <p:nvSpPr>
          <p:cNvPr id="12" name="Text 10"/>
          <p:cNvSpPr txBox="1"/>
          <p:nvPr/>
        </p:nvSpPr>
        <p:spPr>
          <a:xfrm>
            <a:off x="731520" y="1325880"/>
            <a:ext cx="7680960" cy="1645920"/>
          </a:xfrm>
          <a:prstGeom prst="rect">
            <a:avLst/>
          </a:prstGeom>
          <a:noFill/>
          <a:ln/>
        </p:spPr>
        <p:txBody>
          <a:bodyPr wrap="square" lIns="0" tIns="0" rIns="0" bIns="0" rtlCol="0" anchor="ctr"/>
          <a:lstStyle/>
          <a:p>
            <a:pPr indent="0" marL="0">
              <a:buNone/>
            </a:pPr>
            <a:r>
              <a:rPr lang="en-US" sz="1500" i="1" dirty="0">
                <a:solidFill>
                  <a:srgbClr val="2B2318"/>
                </a:solidFill>
                <a:latin typeface="Calibri" pitchFamily="34" charset="0"/>
                <a:ea typeface="Calibri" pitchFamily="34" charset="-122"/>
                <a:cs typeface="Calibri" pitchFamily="34" charset="-120"/>
              </a:rPr>
              <a:t>„Solon gab allen Bürgern das Stimmrecht, aber viele Bauern stimmten weiter so, wie ihr Adelsherr es wollte. Kleisthenes änderte nicht die Rechte, sondern die Bindungen: Die neuen Phylen mischten Stadt, Küste und Binnenland und verteilten die Gefolgschaft der Adligen. Dadurch konnten die Bürger ihr Stimmrecht zum ersten Mal frei nutzen.“</a:t>
            </a:r>
            <a:endParaRPr lang="en-US" sz="1500" dirty="0"/>
          </a:p>
        </p:txBody>
      </p:sp>
      <p:sp>
        <p:nvSpPr>
          <p:cNvPr id="13" name="Shape 11"/>
          <p:cNvSpPr/>
          <p:nvPr/>
        </p:nvSpPr>
        <p:spPr>
          <a:xfrm>
            <a:off x="457200" y="3291840"/>
            <a:ext cx="8229600" cy="1188720"/>
          </a:xfrm>
          <a:prstGeom prst="roundRect">
            <a:avLst>
              <a:gd name="adj" fmla="val 6154"/>
            </a:avLst>
          </a:prstGeom>
          <a:solidFill>
            <a:srgbClr val="2B2318"/>
          </a:solidFill>
          <a:ln w="12700">
            <a:solidFill>
              <a:srgbClr val="2B2318"/>
            </a:solidFill>
            <a:prstDash val="solid"/>
          </a:ln>
        </p:spPr>
      </p:sp>
      <p:sp>
        <p:nvSpPr>
          <p:cNvPr id="14" name="Text 12"/>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Haben wir das Ziel erreicht?
</a:t>
            </a:r>
            <a:pPr indent="0" marL="0">
              <a:buNone/>
            </a:pPr>
            <a:r>
              <a:rPr lang="en-US" sz="1600" dirty="0">
                <a:solidFill>
                  <a:srgbClr val="FFFFFF"/>
                </a:solidFill>
                <a:latin typeface="Calibri" pitchFamily="34" charset="0"/>
                <a:ea typeface="Calibri" pitchFamily="34" charset="-122"/>
                <a:cs typeface="Calibri" pitchFamily="34" charset="-120"/>
              </a:rPr>
              <a:t>Ich kann erklären, wie Kleisthenes mit der neuen Phylenordnung die Macht der Adelsfamilien brach.</a:t>
            </a:r>
            <a:endParaRPr lang="en-US" sz="1500" dirty="0"/>
          </a:p>
        </p:txBody>
      </p:sp>
      <p:sp>
        <p:nvSpPr>
          <p:cNvPr id="15" name="Text 1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2026-10-28T15:21:30Z</dcterms:created>
  <dcterms:modified xsi:type="dcterms:W3CDTF">2026-10-28T15:21:30Z</dcterms:modified>
</cp:coreProperties>
</file>