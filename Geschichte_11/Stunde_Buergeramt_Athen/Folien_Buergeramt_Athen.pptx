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Titelfolie.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0–2 Min. Pro Tisch ein Anliegen austeilen (Anliegen 1–9).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2–12 Min. Herumgehen. Häufige Lücke: nur Ja/Nein ohne Organ oder Klasse. Nachfragen: Welche Klasse? Wer ist zuständig?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12–27 Min. Reihenfolge 1–9. Pro Anliegen ca. 1½ Min. Bei falscher Entscheidung nicht selbst korrigieren, sondern fragen: „Stimmt ihr zu? Schaut ins Schaubild.“ Die Folie kann auf das Whiteboard projiziert werden, sodass die Beamten direkt hineinschreiben.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27–29 Min. Selbstkontrolle der Ergebnistabelle. Kurzer Impuls zu 4 und 7: Der verarmte Adlige wird abgelehnt, der reiche Töpfersohn genehmigt – Besitz statt Herkunft.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29–36 Min. Erst danach die Lösung zeigen. Das Blatt kommt in den Hefter; eingesammelt zeigt es, wer das Schaubild verstanden 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36–39 Min. Selbstkontrolle, kein Plenum. Restzeit: Puffer – oder Sachurteil „War Solons Verfassung eher demokratisch oder timokratisch?“ als Hausaufgabe.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0058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GESCHICHTE · KLASSE 11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258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Bürgeramt Athen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1488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DF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594 v. Chr. – Solons neue Ordnung gilt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766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EINSTIEG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Willkommen im Bürgeramt!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315200" y="347472"/>
            <a:ext cx="1371600" cy="292608"/>
          </a:xfrm>
          <a:prstGeom prst="roundRect">
            <a:avLst>
              <a:gd name="adj" fmla="val 31250"/>
            </a:avLst>
          </a:prstGeom>
          <a:solidFill>
            <a:srgbClr val="2B231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Min.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234440"/>
            <a:ext cx="8229600" cy="1508760"/>
          </a:xfrm>
          <a:prstGeom prst="roundRect">
            <a:avLst>
              <a:gd name="adj" fmla="val 4848"/>
            </a:avLst>
          </a:prstGeom>
          <a:solidFill>
            <a:srgbClr val="F4ECDE"/>
          </a:solidFill>
          <a:ln w="12700">
            <a:solidFill>
              <a:srgbClr val="F4ECD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325880"/>
            <a:ext cx="7680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Athen, 594 v. Chr.: Solons Reform ist beschlossen. Neun Bürger haben Anträge gestellt. Ihr seid die Beamten im Bürgeramt – ihr entscheidet: genehmigt oder abgelehnt?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57200" y="2971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2B2318"/>
          </a:solidFill>
          <a:ln w="12700">
            <a:solidFill>
              <a:srgbClr val="2B231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3063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Euer Werkzeug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342900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Verfassungsschaubild (LB S. 21)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46120" y="2971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2B2318"/>
          </a:solidFill>
          <a:ln w="12700">
            <a:solidFill>
              <a:srgbClr val="2B231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29000" y="3063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Eure Entscheidung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342900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genehmigt oder abgelehnt – mit Begründung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035040" y="2971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2B2318"/>
          </a:solidFill>
          <a:ln w="12700">
            <a:solidFill>
              <a:srgbClr val="2B231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0" y="3063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 Ende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342900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Buch und Heft zu: Könnt ihr das Schaubild aus dem Kopf?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7548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Bürgeramt Athen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4754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766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SCHRITT 1 · AM TISCH · HEFT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Entscheidet über euer Anliegen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315200" y="347472"/>
            <a:ext cx="1371600" cy="292608"/>
          </a:xfrm>
          <a:prstGeom prst="roundRect">
            <a:avLst>
              <a:gd name="adj" fmla="val 31250"/>
            </a:avLst>
          </a:prstGeom>
          <a:solidFill>
            <a:srgbClr val="2B231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234440"/>
            <a:ext cx="365760" cy="365760"/>
          </a:xfrm>
          <a:prstGeom prst="ellipse">
            <a:avLst/>
          </a:prstGeom>
          <a:solidFill>
            <a:srgbClr val="AD442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1197864"/>
            <a:ext cx="4617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Lest das Anliegen auf eurer Karte.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856232"/>
            <a:ext cx="365760" cy="365760"/>
          </a:xfrm>
          <a:prstGeom prst="ellipse">
            <a:avLst/>
          </a:prstGeom>
          <a:solidFill>
            <a:srgbClr val="AD442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1819656"/>
            <a:ext cx="4617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Prüft mit dem Schaubild (LB S. 21): Welche Klasse? Welche Organe sind betroffen?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478024"/>
            <a:ext cx="365760" cy="365760"/>
          </a:xfrm>
          <a:prstGeom prst="ellipse">
            <a:avLst/>
          </a:prstGeom>
          <a:solidFill>
            <a:srgbClr val="AD442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0120" y="2441448"/>
            <a:ext cx="4617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Entscheidet: genehmigt oder abgelehnt?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099816"/>
            <a:ext cx="365760" cy="365760"/>
          </a:xfrm>
          <a:prstGeom prst="ellipse">
            <a:avLst/>
          </a:prstGeom>
          <a:solidFill>
            <a:srgbClr val="AD442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960120" y="3063240"/>
            <a:ext cx="4617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Jeder schreibt die Entscheidung mit Begründung ins Heft.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721608"/>
            <a:ext cx="365760" cy="365760"/>
          </a:xfrm>
          <a:prstGeom prst="ellipse">
            <a:avLst/>
          </a:prstGeom>
          <a:solidFill>
            <a:srgbClr val="AD442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60120" y="3685032"/>
            <a:ext cx="4617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Bestimmt einen „Beamten“, der eure Entscheidung an der Tafel einträgt und begründet.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806440" y="1234440"/>
            <a:ext cx="2880360" cy="3154680"/>
          </a:xfrm>
          <a:prstGeom prst="roundRect">
            <a:avLst>
              <a:gd name="adj" fmla="val 2540"/>
            </a:avLst>
          </a:prstGeom>
          <a:solidFill>
            <a:srgbClr val="2B2318"/>
          </a:solidFill>
          <a:ln w="12700">
            <a:solidFill>
              <a:srgbClr val="2B231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89320" y="134416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 schreibt ihr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989320" y="1783080"/>
            <a:ext cx="25603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E8DF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„Der Antrag von … wird genehmigt / abgelehnt, weil …</a:t>
            </a:r>
            <a:endParaRPr lang="en-US" sz="1300" dirty="0"/>
          </a:p>
          <a:p>
            <a:pPr indent="0" marL="0">
              <a:buNone/>
            </a:pPr>
            <a:r>
              <a:rPr lang="en-US" sz="600" i="1" dirty="0">
                <a:solidFill>
                  <a:srgbClr val="E8DF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E8DF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 gehört zur … Klasse. Deshalb darf er …</a:t>
            </a:r>
            <a:endParaRPr lang="en-US" sz="1300" dirty="0"/>
          </a:p>
          <a:p>
            <a:pPr indent="0" marL="0">
              <a:buNone/>
            </a:pPr>
            <a:r>
              <a:rPr lang="en-US" sz="600" i="1" dirty="0">
                <a:solidFill>
                  <a:srgbClr val="E8DF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E8DF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Zuständig ist … (Organ).“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7548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Bürgeramt Athen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0" y="4754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766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SCHRITT 2 · TAFEL · ERGEBNISTABELLE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Entscheidungen des Bürgeramts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315200" y="347472"/>
            <a:ext cx="1371600" cy="292608"/>
          </a:xfrm>
          <a:prstGeom prst="roundRect">
            <a:avLst>
              <a:gd name="adj" fmla="val 31250"/>
            </a:avLst>
          </a:prstGeom>
          <a:solidFill>
            <a:srgbClr val="2B231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5A5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Beamten tragen ein und begründen in einem Satz. Alle füllen ihre Ergebnistabelle aus.</a:t>
            </a:r>
            <a:endParaRPr lang="en-US" sz="12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2514600"/>
                <a:gridCol w="365760"/>
                <a:gridCol w="365760"/>
                <a:gridCol w="4617720"/>
              </a:tblGrid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Nr.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3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Anliegen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3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3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✘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3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weil …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31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AD4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Lykon (Thete) will Archont werden.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AD4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Demeas will gegen einen Beamten klagen.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AD4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Kleitos (Ritter) will in den Rat der 400.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AD4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Megakles (Adliger, 150 Scheffel) will Archont werden.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AD4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Philon (ehem. Archont) will in den Areopag.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AD4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Thessale (Frau eines Ritters) will in der Volksversammlung abstimmen.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AD4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Hipponikos (reicher Händler, nicht adlig) will Archont werden.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AD4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Nikon (Thete) will über einen Krieg mitentscheiden.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AD4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Kallippos (Hoplit, jetzt 520 Scheffel) will in die 1. Klasse.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766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SCHRITT 2 · LÖSUNG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Entscheidungen des Bürgeramts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315200" y="347472"/>
            <a:ext cx="1371600" cy="292608"/>
          </a:xfrm>
          <a:prstGeom prst="roundRect">
            <a:avLst>
              <a:gd name="adj" fmla="val 31250"/>
            </a:avLst>
          </a:prstGeom>
          <a:solidFill>
            <a:srgbClr val="D9A441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Lösung</a:t>
            </a:r>
            <a:endParaRPr lang="en-US" sz="11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15568"/>
          <a:ext cx="8229600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2103120"/>
                <a:gridCol w="320040"/>
                <a:gridCol w="320040"/>
                <a:gridCol w="5166360"/>
              </a:tblGrid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Nr.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3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Anliegen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3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3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✘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3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weil …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318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AD4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Lykon (Thete) will Archont werden.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AD4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✘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Nur die 1. Klasse (ab 500 Scheffel) kann Archont werden. Theten dürfen nur wählen, nicht gewählt werden.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AD4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Demeas will gegen einen Beamten klagen.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C78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Jeder Bürger darf klagen – vor der Volksversammlung oder dem Geschworenengericht. Die Volksversammlung entscheidet über Klagen gegen Beamte.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AD4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Kleitos (Ritter) will in den Rat der 400.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C78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Die Klassen 1–3 können in den Rat der 400 gewählt werden. Gewählt wird er von den Phylen.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AD4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Megakles (Adliger, 150 Scheffel) will Archont werden.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AD4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✘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Seit Solon zählt der Besitz, nicht die Herkunft. Mit 150 Scheffeln gehört er zu den Theten.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AD4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Philon (ehem. Archont) will in den Areopag.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C78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Ehemalige Archonten werden Mitglied im Areopag. Er beaufsichtigt Verfassung und Beamte.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AD4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Thessale (Frau eines Ritters) will in der Volksversammlung abstimmen.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AD4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✘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Zur Volksversammlung gehören nur männliche Bürger über 20. Frauen haben keine politischen Rechte.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AD4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Hipponikos (reicher Händler, nicht adlig) will Archont werden.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C78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Sein Einkommen entspricht über 500 Scheffeln, also gehört er zur 1. Klasse. Die Herkunft zählt nicht mehr.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AD4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Nikon (Thete) will über einen Krieg mitentscheiden.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C78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Alle Bürger über 20 stimmen in der Volksversammlung über Krieg und Frieden ab. Der Rat der 400 bereitet vor, die Archonten führen aus.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AD4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Kallippos (Hoplit, jetzt 520 Scheffel) will in die 1. Klasse.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C78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Der Besitz entscheidet: Mit über 500 Scheffeln steigt er in die 1. Klasse auf und kann jetzt Archont werden.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4572000"/>
            <a:ext cx="8229600" cy="274320"/>
          </a:xfrm>
          <a:prstGeom prst="roundRect">
            <a:avLst>
              <a:gd name="adj" fmla="val 26667"/>
            </a:avLst>
          </a:prstGeom>
          <a:solidFill>
            <a:srgbClr val="2B2318"/>
          </a:solidFill>
          <a:ln w="12700">
            <a:solidFill>
              <a:srgbClr val="2B231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94360" y="45720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Vergleicht Anliegen 4 und 7: Nicht mehr das Blut entscheidet, sondern das Geld (Timokratie).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766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SICHERUNG · EINZELARBEIT · BLATT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Solons Verfassung aus dem Gedächtnis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315200" y="347472"/>
            <a:ext cx="1371600" cy="292608"/>
          </a:xfrm>
          <a:prstGeom prst="roundRect">
            <a:avLst>
              <a:gd name="adj" fmla="val 31250"/>
            </a:avLst>
          </a:prstGeom>
          <a:solidFill>
            <a:srgbClr val="2B231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Min.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234440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AD4426"/>
          </a:solidFill>
          <a:ln w="12700">
            <a:solidFill>
              <a:srgbClr val="AD44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23444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Buch und Hefter zu! Das Schaubild auf dem Blatt ist anders angeordnet als im Buch.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103120"/>
            <a:ext cx="365760" cy="365760"/>
          </a:xfrm>
          <a:prstGeom prst="ellipse">
            <a:avLst/>
          </a:prstGeom>
          <a:solidFill>
            <a:srgbClr val="AD442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066544"/>
            <a:ext cx="7726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Trage die Klassen und Organe in die leeren Kästen ein und ergänze die Überschrift.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706624"/>
            <a:ext cx="365760" cy="365760"/>
          </a:xfrm>
          <a:prstGeom prst="ellipse">
            <a:avLst/>
          </a:prstGeom>
          <a:solidFill>
            <a:srgbClr val="AD442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0120" y="2670048"/>
            <a:ext cx="7726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auf, was die Pfeile 1–5 bedeuten.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310128"/>
            <a:ext cx="365760" cy="365760"/>
          </a:xfrm>
          <a:prstGeom prst="ellipse">
            <a:avLst/>
          </a:prstGeom>
          <a:solidFill>
            <a:srgbClr val="AD442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960120" y="3273552"/>
            <a:ext cx="7726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Lykon ist Thete: Kreise grün ein, was er darf. Streiche rot durch, was er nicht darf.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913632"/>
            <a:ext cx="365760" cy="365760"/>
          </a:xfrm>
          <a:prstGeom prst="ellipse">
            <a:avLst/>
          </a:prstGeom>
          <a:solidFill>
            <a:srgbClr val="AD442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60120" y="3877056"/>
            <a:ext cx="7726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Danach: Vergleiche mit der Lösung und markiere deine Fehler farbig.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7548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Bürgeramt Athen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0" y="4754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766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SICHERUNG · LÖSUNG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Vergleiche und markiere deine Fehler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315200" y="347472"/>
            <a:ext cx="1371600" cy="292608"/>
          </a:xfrm>
          <a:prstGeom prst="roundRect">
            <a:avLst>
              <a:gd name="adj" fmla="val 31250"/>
            </a:avLst>
          </a:prstGeom>
          <a:solidFill>
            <a:srgbClr val="D9A441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Lösung</a:t>
            </a:r>
            <a:endParaRPr lang="en-US" sz="1100" dirty="0"/>
          </a:p>
        </p:txBody>
      </p:sp>
      <p:pic>
        <p:nvPicPr>
          <p:cNvPr id="5" name="Image 0" descr="/tmp/claude-0/-home-user-Schule/9be99485-7769-5631-81b2-1e426720ceab/scratchpad/stumm_loesu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4114800" cy="323697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983480" y="1188720"/>
            <a:ext cx="3703320" cy="3246120"/>
          </a:xfrm>
          <a:prstGeom prst="roundRect">
            <a:avLst>
              <a:gd name="adj" fmla="val 2254"/>
            </a:avLst>
          </a:prstGeom>
          <a:solidFill>
            <a:srgbClr val="F4ECDE"/>
          </a:solidFill>
          <a:ln w="12700">
            <a:solidFill>
              <a:srgbClr val="F4ECD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166360" y="126187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AD4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Pfeile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5166360" y="1691640"/>
            <a:ext cx="329184" cy="329184"/>
          </a:xfrm>
          <a:prstGeom prst="ellipse">
            <a:avLst/>
          </a:prstGeom>
          <a:solidFill>
            <a:srgbClr val="AD442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5577840" y="166420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 die 1. Klasse kann Archont werden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5166360" y="2221992"/>
            <a:ext cx="329184" cy="329184"/>
          </a:xfrm>
          <a:prstGeom prst="ellipse">
            <a:avLst/>
          </a:prstGeom>
          <a:solidFill>
            <a:srgbClr val="AD442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577840" y="21945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Klassen 1–3 können in den Rat gewählt werden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5166360" y="2752344"/>
            <a:ext cx="329184" cy="329184"/>
          </a:xfrm>
          <a:prstGeom prst="ellipse">
            <a:avLst/>
          </a:prstGeom>
          <a:solidFill>
            <a:srgbClr val="AD442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577840" y="272491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ehemalige Archonten werden Mitglied im Areopag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5166360" y="3282696"/>
            <a:ext cx="329184" cy="329184"/>
          </a:xfrm>
          <a:prstGeom prst="ellipse">
            <a:avLst/>
          </a:prstGeom>
          <a:solidFill>
            <a:srgbClr val="AD442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5577840" y="325526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Volksversammlung wählt die Beamten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5166360" y="3813048"/>
            <a:ext cx="329184" cy="329184"/>
          </a:xfrm>
          <a:prstGeom prst="ellipse">
            <a:avLst/>
          </a:prstGeom>
          <a:solidFill>
            <a:srgbClr val="AD442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5577840" y="3785616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Rat der 400 bereitet die Gesetze vor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457200" y="4462272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A5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Lykon: grün = darf, rot = darf nicht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457200" y="47548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Bürgeramt Athen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8229600" y="4754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Bürgeramt Athen</dc:title>
  <dc:subject>PptxGenJS Presentation</dc:subject>
  <dc:creator>PptxGenJS</dc:creator>
  <cp:lastModifiedBy>PptxGenJS</cp:lastModifiedBy>
  <cp:revision>1</cp:revision>
  <dcterms:created xsi:type="dcterms:W3CDTF">2026-10-06T13:19:25Z</dcterms:created>
  <dcterms:modified xsi:type="dcterms:W3CDTF">2026-10-06T13:19:25Z</dcterms:modified>
</cp:coreProperties>
</file>