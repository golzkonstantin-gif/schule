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 wortlos zeigen. 1 Minute zu zweit Fehler suchen, dann auflösen (nächste Folie).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Bezug zu BM 1: Quelle oder Darstellung. Der Satz in der Sprechblase ist dagegen korrekt – das ist die Überleitung zum Bürgeramt.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4–5 Min. Pro Tisch ein Anliegen austeilen (Anliegen 1–9).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2–12 Min. Herumgehen. Häufige Lücke: nur Ja/Nein ohne Organ oder Klasse. Nachfragen: Welche Klasse? Wer ist zuständig?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12–27 Min. Reihenfolge 1–9. Pro Anliegen ca. 1½ Min. Bei falscher Entscheidung nicht selbst korrigieren, sondern fragen: „Stimmt ihr zu? Schaut ins Schaubild.“ Die Folie kann auf das Whiteboard projiziert werden, sodass die Beamten direkt hineinschreiben.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27–29 Min. Selbstkontrolle der Ergebnistabelle. Kurzer Impuls zu 4 und 7: Der verarmte Adlige wird abgelehnt, der reiche Töpfersohn genehmigt – Besitz statt Herkunft.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29–36 Min. Erst danach die Lösung zeigen. Das Blatt kommt in den Hefter; eingesammelt zeigt es, wer das Schaubild verstanden 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36–39 Min. Selbstkontrolle, kein Plenum. Restzeit: Puffer – oder Sachurteil „War Solons Verfassung eher demokratisch oder timokratisch?“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 · KLASSE 11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Bürgeramt Athen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594 v. Chr. – Solons neue Ordnung gilt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C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chule/9be99485-7769-5631-81b2-1e426720ceab/scratchpad/beamt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0"/>
            <a:ext cx="7315200" cy="4572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572000"/>
            <a:ext cx="9144000" cy="571500"/>
          </a:xfrm>
          <a:prstGeom prst="roundRect">
            <a:avLst>
              <a:gd name="adj" fmla="val 12800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65760" y="4572000"/>
            <a:ext cx="69494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stimmt an diesem Bild nicht? Findet drei Fehler.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589520" y="4700016"/>
            <a:ext cx="1188720" cy="310896"/>
          </a:xfrm>
          <a:prstGeom prst="roundRect">
            <a:avLst>
              <a:gd name="adj" fmla="val 29412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AUFLÖSUNG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Fehler im Bild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Auflösung</a:t>
            </a:r>
            <a:endParaRPr lang="en-US" sz="1100" dirty="0"/>
          </a:p>
        </p:txBody>
      </p:sp>
      <p:pic>
        <p:nvPicPr>
          <p:cNvPr id="5" name="Image 0" descr="/tmp/claude-0/-home-user-Schule/9be99485-7769-5631-81b2-1e426720ceab/scratchpad/beamt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206240" cy="2628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12527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Frau als Beamtin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600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Frauen hatten in Athen keine Ämter und keine politischen Rechte.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2240280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0" y="21671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Brille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2514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Brillen gibt es erst seit dem Mittelalter (13. Jh.).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3154680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3081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Kaffee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3429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Kaffee kam erst im 17. Jahrhundert nach Europa.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Bild ist eine Darstellung, keine Quelle – es kann sich irren. Was aber stimmt: Seit Solon zählt der Besitz.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Willkommen im Bürgeramt!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3258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Athen, 594 v. Chr.: Solons Reform ist beschlossen. Neun Bürger haben Anträge gestellt. Ihr seid die Beamten im Bürgeramt – ihr entscheidet: genehmigt oder abgelehnt?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Euer Werkzeug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Verfassungsschaubild (LB S. 21)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2971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 Entscheidung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genehmigt oder abgelehnt – mit Begründung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2971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 und Heft zu: Könnt ihr das Schaubild aus dem Kopf?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1 · AM TISCH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Entscheidet über euer Anliegen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97864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das Anliegen auf eurer Karte.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56232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819656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 mit dem Schaubild (LB S. 21): Welche Klasse? Welche Organe sind betroffen?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78024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441448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Entscheidet: genehmigt oder abgelehnt?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99816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063240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schreibt die Entscheidung mit Begründung ins Heft.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21608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685032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Bestimmt einen „Beamten“, der eure Entscheidung an der Tafel einträgt und begründet.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06440" y="1234440"/>
            <a:ext cx="2880360" cy="3154680"/>
          </a:xfrm>
          <a:prstGeom prst="roundRect">
            <a:avLst>
              <a:gd name="adj" fmla="val 2540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441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schreibt ihr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178308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„Der Antrag von … wird genehmigt / abgelehnt, weil …</a:t>
            </a:r>
            <a:endParaRPr lang="en-US" sz="1300" dirty="0"/>
          </a:p>
          <a:p>
            <a:pPr indent="0" marL="0">
              <a:buNone/>
            </a:pPr>
            <a:r>
              <a:rPr lang="en-US" sz="6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gehört zur … Klasse. Deshalb darf er …</a:t>
            </a:r>
            <a:endParaRPr lang="en-US" sz="1300" dirty="0"/>
          </a:p>
          <a:p>
            <a:pPr indent="0" marL="0">
              <a:buNone/>
            </a:pPr>
            <a:r>
              <a:rPr lang="en-US" sz="6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Zuständig ist … (Organ).“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TAFEL · ERGEBNISTABELLE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Entscheidungen des Bürgeramts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Beamten tragen ein und begründen in einem Satz. Alle füllen ihre Ergebnistabelle aus.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514600"/>
                <a:gridCol w="365760"/>
                <a:gridCol w="365760"/>
                <a:gridCol w="46177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Anliegen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weil 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Lykon (Thete) will Archont werden.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Demeas will gegen einen Beamten klagen.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Kleitos (Ritter) will in den Rat der 400.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Megakles (Adliger, 150 Scheffel) will Archont werden.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Philon (ehem. Archont) will in den Areopag.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Thessale (Frau eines Ritters) will in der Volksversammlung abstimmen.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Hipponikos (reicher Händler, nicht adlig) will Archont werden.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Nikon (Thete) will über einen Krieg mitentscheiden.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Kallippos (Hoplit, jetzt 520 Scheffel) will in die 1. Klasse.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LÖSUNG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Entscheidungen des Bürgeramts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103120"/>
                <a:gridCol w="320040"/>
                <a:gridCol w="320040"/>
                <a:gridCol w="5166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Anliegen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weil 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Lykon (Thete) will Archont werden.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die 1. Klasse (ab 500 Scheffel) kann Archont werden. Theten dürfen nur wählen, nicht gewählt werden.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Demeas will gegen einen Beamten klagen.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Jeder Bürger darf klagen – vor der Volksversammlung oder dem Geschworenengericht. Die Volksversammlung entscheidet über Klagen gegen Beamte.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Kleitos (Ritter) will in den Rat der 400.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Klassen 1–3 können in den Rat der 400 gewählt werden. Gewählt wird er von den Phylen.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Megakles (Adliger, 150 Scheffel) will Archont werden.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Seit Solon zählt der Besitz, nicht die Herkunft. Mit 150 Scheffeln gehört er zu den Theten.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Philon (ehem. Archont) will in den Areopag.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Ehemalige Archonten werden Mitglied im Areopag. Er beaufsichtigt Verfassung und Beamte.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Thessale (Frau eines Ritters) will in der Volksversammlung abstimmen.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Zur Volksversammlung gehören nur männliche Bürger über 20. Frauen haben keine politischen Rechte.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Hipponikos (reicher Händler, nicht adlig) will Archont werden.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Sein Einkommen entspricht über 500 Scheffeln, also gehört er zur 1. Klasse. Die Herkunft zählt nicht mehr.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Nikon (Thete) will über einen Krieg mitentscheiden.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Bürger über 20 stimmen in der Volksversammlung über Krieg und Frieden ab. Der Rat der 400 bereitet vor, die Archonten führen aus.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Kallippos (Hoplit, jetzt 520 Scheffel) will in die 1. Klasse.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Besitz entscheidet: Mit über 500 Scheffeln steigt er in die 1. Klasse auf und kann jetzt Archont werden.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72000"/>
            <a:ext cx="8229600" cy="274320"/>
          </a:xfrm>
          <a:prstGeom prst="roundRect">
            <a:avLst>
              <a:gd name="adj" fmla="val 26667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Anliegen 4 und 7: Nicht mehr das Blut entscheidet, sondern das Geld (Timokratie).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EINZELARBEIT · BLATT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Solons Verfassung aus dem Gedächtnis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AD4426"/>
          </a:solidFill>
          <a:ln w="12700">
            <a:solidFill>
              <a:srgbClr val="AD44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234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 und Hefter zu! Das Schaubild auf dem Blatt ist anders angeordnet als im Buch.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10312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066544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Trage die Klassen und Organe in die leeren Kästen ein und ergänze die Überschrift.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670048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auf, was die Pfeile 1–5 bedeuten.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10128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273552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Lykon ist Thete: Kreise grün ein, was er darf. Streiche rot durch, was er nicht darf.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13632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877056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Vergleiche mit der Lösung und markiere deine Fehler farbig.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LÖSUNG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Vergleiche und markiere deine Fehler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</a:t>
            </a:r>
            <a:endParaRPr lang="en-US" sz="1100" dirty="0"/>
          </a:p>
        </p:txBody>
      </p:sp>
      <p:pic>
        <p:nvPicPr>
          <p:cNvPr id="5" name="Image 0" descr="/tmp/claude-0/-home-user-Schule/9be99485-7769-5631-81b2-1e426720ceab/scratchpad/stumm_loes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114800" cy="3236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83480" y="1188720"/>
            <a:ext cx="3703320" cy="3246120"/>
          </a:xfrm>
          <a:prstGeom prst="roundRect">
            <a:avLst>
              <a:gd name="adj" fmla="val 2254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1261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Pfeile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166360" y="1691640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die 1. Klasse kann Archont werden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2221992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194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Klassen 1–3 können in den Rat gewählt werden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2752344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27249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ehemalige Archonten werden Mitglied im Areopag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166360" y="3282696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32552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Volksversammlung wählt die Beamten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3813048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37856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Rat der 400 bereitet die Gesetze vor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4622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Lykon: grün = darf, rot = darf nicht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Bürgeramt Athen</dc:title>
  <dc:subject>PptxGenJS Presentation</dc:subject>
  <dc:creator>PptxGenJS</dc:creator>
  <cp:lastModifiedBy>PptxGenJS</cp:lastModifiedBy>
  <cp:revision>1</cp:revision>
  <dcterms:created xsi:type="dcterms:W3CDTF">2026-10-06T13:25:46Z</dcterms:created>
  <dcterms:modified xsi:type="dcterms:W3CDTF">2026-10-06T13:25:46Z</dcterms:modified>
</cp:coreProperties>
</file>