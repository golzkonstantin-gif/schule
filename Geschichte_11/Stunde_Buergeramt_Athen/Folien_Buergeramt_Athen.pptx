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Titelfolie.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 wortlos zeigen. 1 Minute zu zweit Fehler suchen, dann auflösen (nächste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Bezug zu BM 1: Quelle oder Darstellung. Der Satz in der Sprechblase ist dagegen korrekt – das ist die Überleitung zum Bürgeramt.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Pro Tisch ein Anliegen austeilen (Anliegen 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 Min. Herumgehen. Häufige Lücke: nur Ja/Nein ohne Organ oder Klasse. Nachfragen: Welche Klasse? Wer ist zuständig?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12–27 Min. Reihenfolge 1–9. Pro Anliegen ca. 1½ Min. Bei falscher Entscheidung nicht selbst korrigieren, sondern fragen: „Stimmt ihr zu? Schaut ins Schaubild.“ Die Folie kann auf das Whiteboard projiziert werden, sodass die Beamten direkt hineinschreiben.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 Min. Selbstkontrolle der Ergebnistabelle. Kurzer Impuls zu 4 und 7: Der verarmte Adlige wird abgelehnt, der reiche Töpfersohn genehmigt – Besitz statt Herkunft.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29–36 Min. Erst danach die Lösung zeigen. Das Blatt kommt in den Hefter; eingesammelt zeigt es, wer das Schaubild verstanden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37–40 Min. Selbstkontrolle, kein Plenum.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40–41 Min. Ergebnis kurz an der Tafel notieren. Erwartung: Die meisten sagen Nein (Geld statt Blut).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41–45 Min. Partnerarbeit, kein Plenum – die Lösung kommt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 Min. Vergleich mit der Daumenabfrage: Die meisten haben Nein gesagt – die Hälfte der Merkmale ist aber demokratisch.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46–52 Min. Einzelarbeit im Hefter. Danach vergleicht jeder still mit dem Beispiel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52–53 Min. Nicht korrigieren lassen – das Feedback kommt nach dem Werturteil. Auch „eher demokratisch“ ist mit Belegen vertretbar.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53–60 Min. Alle beantworten dieselbe Frage, jeder wählt seinen Maßstab selbst. Bei Bedarf Hefter einsammeln – so siehst du, wie sicher die Klasse Sach- und Werturteil inzwischen beherrscht.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60–65 Min. Herumgehen und mitlesen: Welche Punkte fehlen häufig? Zwei Blätter für die nächste Folie merken – eines, das gut gelungen ist, und eines mit typischem Fehler (vorher fragen, ob vorgelesen werden darf).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65–70 Min. Optional vorher zwei Schülerurteile vorlesen (gelungen / zu verbessern) und kurz an der Checkliste messen. Bei Bedarf Hefter einsammeln. Anschließend: Klausurvorbereitung.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1005840"/>
            <a:ext cx="7863840" cy="274320"/>
          </a:xfrm>
          <a:prstGeom prst="rect">
            <a:avLst/>
          </a:prstGeom>
          <a:noFill/>
          <a:ln/>
        </p:spPr>
        <p:txBody>
          <a:bodyPr wrap="square" lIns="0" tIns="0" rIns="0" bIns="0" rtlCol="0" anchor="t"/>
          <a:lstStyle/>
          <a:p>
            <a:pPr indent="0" marL="0">
              <a:buNone/>
            </a:pPr>
            <a:r>
              <a:rPr lang="en-US" sz="1200" b="1" spc="300" kern="0" dirty="0">
                <a:solidFill>
                  <a:srgbClr val="D9A441"/>
                </a:solidFill>
                <a:latin typeface="Calibri" pitchFamily="34" charset="0"/>
                <a:ea typeface="Calibri" pitchFamily="34" charset="-122"/>
                <a:cs typeface="Calibri" pitchFamily="34" charset="-120"/>
              </a:rPr>
              <a:t>GESCHICHTE · KLASSE 11</a:t>
            </a:r>
            <a:endParaRPr lang="en-US" sz="1200" dirty="0"/>
          </a:p>
        </p:txBody>
      </p:sp>
      <p:sp>
        <p:nvSpPr>
          <p:cNvPr id="3" name="Text 1"/>
          <p:cNvSpPr txBox="1"/>
          <p:nvPr/>
        </p:nvSpPr>
        <p:spPr>
          <a:xfrm>
            <a:off x="640080" y="1325880"/>
            <a:ext cx="78638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Bürgeramt Athen</a:t>
            </a:r>
            <a:endParaRPr lang="en-US" sz="4000" dirty="0"/>
          </a:p>
        </p:txBody>
      </p:sp>
      <p:sp>
        <p:nvSpPr>
          <p:cNvPr id="4" name="Text 2"/>
          <p:cNvSpPr txBox="1"/>
          <p:nvPr/>
        </p:nvSpPr>
        <p:spPr>
          <a:xfrm>
            <a:off x="640080" y="2148840"/>
            <a:ext cx="7863840" cy="457200"/>
          </a:xfrm>
          <a:prstGeom prst="rect">
            <a:avLst/>
          </a:prstGeom>
          <a:noFill/>
          <a:ln/>
        </p:spPr>
        <p:txBody>
          <a:bodyPr wrap="square" lIns="0" tIns="0" rIns="0" bIns="0" rtlCol="0" anchor="t"/>
          <a:lstStyle/>
          <a:p>
            <a:pPr indent="0" marL="0">
              <a:buNone/>
            </a:pPr>
            <a:r>
              <a:rPr lang="en-US" sz="1800" dirty="0">
                <a:solidFill>
                  <a:srgbClr val="E8DFD0"/>
                </a:solidFill>
                <a:latin typeface="Calibri" pitchFamily="34" charset="0"/>
                <a:ea typeface="Calibri" pitchFamily="34" charset="-122"/>
                <a:cs typeface="Calibri" pitchFamily="34" charset="-120"/>
              </a:rPr>
              <a:t>594 v. Chr. – Solons neue Ordnung gilt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E"/>
        </a:solidFill>
      </p:bgPr>
    </p:bg>
    <p:spTree>
      <p:nvGrpSpPr>
        <p:cNvPr id="1" name=""/>
        <p:cNvGrpSpPr/>
        <p:nvPr/>
      </p:nvGrpSpPr>
      <p:grpSpPr>
        <a:xfrm>
          <a:off x="0" y="0"/>
          <a:ext cx="0" cy="0"/>
          <a:chOff x="0" y="0"/>
          <a:chExt cx="0" cy="0"/>
        </a:xfrm>
      </p:grpSpPr>
      <p:pic>
        <p:nvPicPr>
          <p:cNvPr id="2" name="Image 0" descr="/tmp/claude-0/-home-user-Schule/9be99485-7769-5631-81b2-1e426720ceab/scratchpad/beamtin.png">    </p:cNvPr>
          <p:cNvPicPr>
            <a:picLocks noChangeAspect="1"/>
          </p:cNvPicPr>
          <p:nvPr/>
        </p:nvPicPr>
        <p:blipFill>
          <a:blip r:embed="rId1"/>
          <a:stretch>
            <a:fillRect/>
          </a:stretch>
        </p:blipFill>
        <p:spPr>
          <a:xfrm>
            <a:off x="914400" y="0"/>
            <a:ext cx="7315200" cy="4572000"/>
          </a:xfrm>
          <a:prstGeom prst="rect">
            <a:avLst/>
          </a:prstGeom>
        </p:spPr>
      </p:pic>
      <p:sp>
        <p:nvSpPr>
          <p:cNvPr id="3" name="Shape 0"/>
          <p:cNvSpPr/>
          <p:nvPr/>
        </p:nvSpPr>
        <p:spPr>
          <a:xfrm>
            <a:off x="0" y="4572000"/>
            <a:ext cx="9144000" cy="571500"/>
          </a:xfrm>
          <a:prstGeom prst="roundRect">
            <a:avLst>
              <a:gd name="adj" fmla="val 12800"/>
            </a:avLst>
          </a:prstGeom>
          <a:solidFill>
            <a:srgbClr val="2B2318"/>
          </a:solidFill>
          <a:ln w="12700">
            <a:solidFill>
              <a:srgbClr val="2B2318"/>
            </a:solidFill>
            <a:prstDash val="solid"/>
          </a:ln>
        </p:spPr>
      </p:sp>
      <p:sp>
        <p:nvSpPr>
          <p:cNvPr id="4" name="Text 1"/>
          <p:cNvSpPr txBox="1"/>
          <p:nvPr/>
        </p:nvSpPr>
        <p:spPr>
          <a:xfrm>
            <a:off x="365760" y="4572000"/>
            <a:ext cx="6949440" cy="571500"/>
          </a:xfrm>
          <a:prstGeom prst="rect">
            <a:avLst/>
          </a:prstGeom>
          <a:noFill/>
          <a:ln/>
        </p:spPr>
        <p:txBody>
          <a:bodyPr wrap="square" lIns="0" tIns="0" rIns="0" bIns="0" rtlCol="0" anchor="ctr"/>
          <a:lstStyle/>
          <a:p>
            <a:pPr indent="0" marL="0">
              <a:buNone/>
            </a:pPr>
            <a:r>
              <a:rPr lang="en-US" sz="1800" b="1" dirty="0">
                <a:solidFill>
                  <a:srgbClr val="D9A441"/>
                </a:solidFill>
                <a:latin typeface="Calibri" pitchFamily="34" charset="0"/>
                <a:ea typeface="Calibri" pitchFamily="34" charset="-122"/>
                <a:cs typeface="Calibri" pitchFamily="34" charset="-120"/>
              </a:rPr>
              <a:t>Was stimmt an diesem Bild nicht? Findet drei Fehler.</a:t>
            </a:r>
            <a:endParaRPr lang="en-US" sz="1800" dirty="0"/>
          </a:p>
        </p:txBody>
      </p:sp>
      <p:sp>
        <p:nvSpPr>
          <p:cNvPr id="5" name="Text 2"/>
          <p:cNvSpPr txBox="1"/>
          <p:nvPr/>
        </p:nvSpPr>
        <p:spPr>
          <a:xfrm>
            <a:off x="7589520" y="4700016"/>
            <a:ext cx="1188720" cy="310896"/>
          </a:xfrm>
          <a:prstGeom prst="roundRect">
            <a:avLst>
              <a:gd name="adj" fmla="val 29412"/>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2 Min.</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Drei Fehler im Bild</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pic>
        <p:nvPicPr>
          <p:cNvPr id="5" name="Image 0" descr="/tmp/claude-0/-home-user-Schule/9be99485-7769-5631-81b2-1e426720ceab/scratchpad/beamtin.png">    </p:cNvPr>
          <p:cNvPicPr>
            <a:picLocks noChangeAspect="1"/>
          </p:cNvPicPr>
          <p:nvPr/>
        </p:nvPicPr>
        <p:blipFill>
          <a:blip r:embed="rId1"/>
          <a:stretch>
            <a:fillRect/>
          </a:stretch>
        </p:blipFill>
        <p:spPr>
          <a:xfrm>
            <a:off x="457200" y="1234440"/>
            <a:ext cx="4206240" cy="2628900"/>
          </a:xfrm>
          <a:prstGeom prst="rect">
            <a:avLst/>
          </a:prstGeom>
        </p:spPr>
      </p:pic>
      <p:sp>
        <p:nvSpPr>
          <p:cNvPr id="6" name="Text 3"/>
          <p:cNvSpPr txBox="1"/>
          <p:nvPr/>
        </p:nvSpPr>
        <p:spPr>
          <a:xfrm>
            <a:off x="4892040" y="13258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4"/>
          <p:cNvSpPr txBox="1"/>
          <p:nvPr/>
        </p:nvSpPr>
        <p:spPr>
          <a:xfrm>
            <a:off x="5486400" y="12527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Eine Frau als Beamtin</a:t>
            </a:r>
            <a:endParaRPr lang="en-US" sz="1500" dirty="0"/>
          </a:p>
        </p:txBody>
      </p:sp>
      <p:sp>
        <p:nvSpPr>
          <p:cNvPr id="8" name="Text 5"/>
          <p:cNvSpPr txBox="1"/>
          <p:nvPr/>
        </p:nvSpPr>
        <p:spPr>
          <a:xfrm>
            <a:off x="5486400" y="16002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Frauen hatten in Athen keine Ämter und keine politischen Rechte.</a:t>
            </a:r>
            <a:endParaRPr lang="en-US" sz="1200" dirty="0"/>
          </a:p>
        </p:txBody>
      </p:sp>
      <p:sp>
        <p:nvSpPr>
          <p:cNvPr id="9" name="Text 6"/>
          <p:cNvSpPr txBox="1"/>
          <p:nvPr/>
        </p:nvSpPr>
        <p:spPr>
          <a:xfrm>
            <a:off x="4892040" y="22402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7"/>
          <p:cNvSpPr txBox="1"/>
          <p:nvPr/>
        </p:nvSpPr>
        <p:spPr>
          <a:xfrm>
            <a:off x="5486400" y="21671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Die Brille</a:t>
            </a:r>
            <a:endParaRPr lang="en-US" sz="1500" dirty="0"/>
          </a:p>
        </p:txBody>
      </p:sp>
      <p:sp>
        <p:nvSpPr>
          <p:cNvPr id="11" name="Text 8"/>
          <p:cNvSpPr txBox="1"/>
          <p:nvPr/>
        </p:nvSpPr>
        <p:spPr>
          <a:xfrm>
            <a:off x="5486400" y="25146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Brillen gibt es erst seit dem Mittelalter (13. Jh.).</a:t>
            </a:r>
            <a:endParaRPr lang="en-US" sz="1200" dirty="0"/>
          </a:p>
        </p:txBody>
      </p:sp>
      <p:sp>
        <p:nvSpPr>
          <p:cNvPr id="12" name="Text 9"/>
          <p:cNvSpPr txBox="1"/>
          <p:nvPr/>
        </p:nvSpPr>
        <p:spPr>
          <a:xfrm>
            <a:off x="4892040" y="3154680"/>
            <a:ext cx="457200" cy="457200"/>
          </a:xfrm>
          <a:prstGeom prst="ellipse">
            <a:avLst/>
          </a:prstGeom>
          <a:solidFill>
            <a:srgbClr val="AD4426"/>
          </a:solid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3" name="Text 10"/>
          <p:cNvSpPr txBox="1"/>
          <p:nvPr/>
        </p:nvSpPr>
        <p:spPr>
          <a:xfrm>
            <a:off x="5486400" y="3081528"/>
            <a:ext cx="3200400" cy="320040"/>
          </a:xfrm>
          <a:prstGeom prst="rect">
            <a:avLst/>
          </a:prstGeom>
          <a:noFill/>
          <a:ln/>
        </p:spPr>
        <p:txBody>
          <a:bodyPr wrap="square" lIns="0" tIns="0" rIns="0" bIns="0" rtlCol="0" anchor="t"/>
          <a:lstStyle/>
          <a:p>
            <a:pPr indent="0" marL="0">
              <a:buNone/>
            </a:pPr>
            <a:r>
              <a:rPr lang="en-US" sz="1500" b="1" dirty="0">
                <a:solidFill>
                  <a:srgbClr val="2B2318"/>
                </a:solidFill>
                <a:latin typeface="Cambria" pitchFamily="34" charset="0"/>
                <a:ea typeface="Cambria" pitchFamily="34" charset="-122"/>
                <a:cs typeface="Cambria" pitchFamily="34" charset="-120"/>
              </a:rPr>
              <a:t>Der Kaffee</a:t>
            </a:r>
            <a:endParaRPr lang="en-US" sz="1500" dirty="0"/>
          </a:p>
        </p:txBody>
      </p:sp>
      <p:sp>
        <p:nvSpPr>
          <p:cNvPr id="14" name="Text 11"/>
          <p:cNvSpPr txBox="1"/>
          <p:nvPr/>
        </p:nvSpPr>
        <p:spPr>
          <a:xfrm>
            <a:off x="5486400" y="3429000"/>
            <a:ext cx="3200400" cy="5029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Kaffee kam erst im 17. Jahrhundert nach Europa.</a:t>
            </a:r>
            <a:endParaRPr lang="en-US" sz="1200" dirty="0"/>
          </a:p>
        </p:txBody>
      </p:sp>
      <p:sp>
        <p:nvSpPr>
          <p:cNvPr id="15" name="Shape 12"/>
          <p:cNvSpPr/>
          <p:nvPr/>
        </p:nvSpPr>
        <p:spPr>
          <a:xfrm>
            <a:off x="457200" y="4069080"/>
            <a:ext cx="8229600" cy="502920"/>
          </a:xfrm>
          <a:prstGeom prst="roundRect">
            <a:avLst>
              <a:gd name="adj" fmla="val 14545"/>
            </a:avLst>
          </a:prstGeom>
          <a:solidFill>
            <a:srgbClr val="2B2318"/>
          </a:solidFill>
          <a:ln w="12700">
            <a:solidFill>
              <a:srgbClr val="2B2318"/>
            </a:solidFill>
            <a:prstDash val="solid"/>
          </a:ln>
        </p:spPr>
      </p:sp>
      <p:sp>
        <p:nvSpPr>
          <p:cNvPr id="16" name="Text 13"/>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Ein Bild ist eine Darstellung, keine Quelle – es kann sich irren. Was aber stimmt: Seit Solon zählt der Besitz.</a:t>
            </a:r>
            <a:endParaRPr lang="en-US" sz="1250" dirty="0"/>
          </a:p>
        </p:txBody>
      </p:sp>
      <p:sp>
        <p:nvSpPr>
          <p:cNvPr id="17"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8"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EINSTIEG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Willkommen im Bürgeramt!</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Min.</a:t>
            </a:r>
            <a:endParaRPr lang="en-US" sz="1100" dirty="0"/>
          </a:p>
        </p:txBody>
      </p:sp>
      <p:sp>
        <p:nvSpPr>
          <p:cNvPr id="5" name="Shape 3"/>
          <p:cNvSpPr/>
          <p:nvPr/>
        </p:nvSpPr>
        <p:spPr>
          <a:xfrm>
            <a:off x="457200" y="1234440"/>
            <a:ext cx="8229600" cy="1508760"/>
          </a:xfrm>
          <a:prstGeom prst="roundRect">
            <a:avLst>
              <a:gd name="adj" fmla="val 4848"/>
            </a:avLst>
          </a:prstGeom>
          <a:solidFill>
            <a:srgbClr val="F4ECDE"/>
          </a:solidFill>
          <a:ln w="12700">
            <a:solidFill>
              <a:srgbClr val="F4ECDE"/>
            </a:solidFill>
            <a:prstDash val="solid"/>
          </a:ln>
        </p:spPr>
      </p:sp>
      <p:sp>
        <p:nvSpPr>
          <p:cNvPr id="6" name="Text 4"/>
          <p:cNvSpPr txBox="1"/>
          <p:nvPr/>
        </p:nvSpPr>
        <p:spPr>
          <a:xfrm>
            <a:off x="731520" y="1325880"/>
            <a:ext cx="7680960" cy="1325880"/>
          </a:xfrm>
          <a:prstGeom prst="rect">
            <a:avLst/>
          </a:prstGeom>
          <a:noFill/>
          <a:ln/>
        </p:spPr>
        <p:txBody>
          <a:bodyPr wrap="square" lIns="0" tIns="0" rIns="0" bIns="0" rtlCol="0" anchor="ctr"/>
          <a:lstStyle/>
          <a:p>
            <a:pPr indent="0" marL="0">
              <a:buNone/>
            </a:pPr>
            <a:r>
              <a:rPr lang="en-US" sz="1700" dirty="0">
                <a:solidFill>
                  <a:srgbClr val="2B2318"/>
                </a:solidFill>
                <a:latin typeface="Cambria" pitchFamily="34" charset="0"/>
                <a:ea typeface="Cambria" pitchFamily="34" charset="-122"/>
                <a:cs typeface="Cambria" pitchFamily="34" charset="-120"/>
              </a:rPr>
              <a:t>Athen, 594 v. Chr.: Solons Reform ist beschlossen. Neun Bürger haben Anträge gestellt. Ihr seid die Beamten im Bürgeramt – ihr entscheidet: genehmigt oder abgelehnt?</a:t>
            </a:r>
            <a:endParaRPr lang="en-US" sz="1700" dirty="0"/>
          </a:p>
        </p:txBody>
      </p:sp>
      <p:sp>
        <p:nvSpPr>
          <p:cNvPr id="7" name="Shape 5"/>
          <p:cNvSpPr/>
          <p:nvPr/>
        </p:nvSpPr>
        <p:spPr>
          <a:xfrm>
            <a:off x="457200" y="2971800"/>
            <a:ext cx="2606040" cy="1417320"/>
          </a:xfrm>
          <a:prstGeom prst="roundRect">
            <a:avLst>
              <a:gd name="adj" fmla="val 5161"/>
            </a:avLst>
          </a:prstGeom>
          <a:solidFill>
            <a:srgbClr val="2B2318"/>
          </a:solidFill>
          <a:ln w="12700">
            <a:solidFill>
              <a:srgbClr val="2B2318"/>
            </a:solidFill>
            <a:prstDash val="solid"/>
          </a:ln>
        </p:spPr>
      </p:sp>
      <p:sp>
        <p:nvSpPr>
          <p:cNvPr id="8" name="Text 6"/>
          <p:cNvSpPr txBox="1"/>
          <p:nvPr/>
        </p:nvSpPr>
        <p:spPr>
          <a:xfrm>
            <a:off x="64008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Euer Werkzeug</a:t>
            </a:r>
            <a:endParaRPr lang="en-US" sz="1400" dirty="0"/>
          </a:p>
        </p:txBody>
      </p:sp>
      <p:sp>
        <p:nvSpPr>
          <p:cNvPr id="9" name="Text 7"/>
          <p:cNvSpPr txBox="1"/>
          <p:nvPr/>
        </p:nvSpPr>
        <p:spPr>
          <a:xfrm>
            <a:off x="64008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das Verfassungsschaubild (LB S. 21)</a:t>
            </a:r>
            <a:endParaRPr lang="en-US" sz="1300" dirty="0"/>
          </a:p>
        </p:txBody>
      </p:sp>
      <p:sp>
        <p:nvSpPr>
          <p:cNvPr id="10" name="Shape 8"/>
          <p:cNvSpPr/>
          <p:nvPr/>
        </p:nvSpPr>
        <p:spPr>
          <a:xfrm>
            <a:off x="3246120" y="2971800"/>
            <a:ext cx="2606040" cy="1417320"/>
          </a:xfrm>
          <a:prstGeom prst="roundRect">
            <a:avLst>
              <a:gd name="adj" fmla="val 5161"/>
            </a:avLst>
          </a:prstGeom>
          <a:solidFill>
            <a:srgbClr val="2B2318"/>
          </a:solidFill>
          <a:ln w="12700">
            <a:solidFill>
              <a:srgbClr val="2B2318"/>
            </a:solidFill>
            <a:prstDash val="solid"/>
          </a:ln>
        </p:spPr>
      </p:sp>
      <p:sp>
        <p:nvSpPr>
          <p:cNvPr id="11" name="Text 9"/>
          <p:cNvSpPr txBox="1"/>
          <p:nvPr/>
        </p:nvSpPr>
        <p:spPr>
          <a:xfrm>
            <a:off x="342900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Eure Entscheidung</a:t>
            </a:r>
            <a:endParaRPr lang="en-US" sz="1400" dirty="0"/>
          </a:p>
        </p:txBody>
      </p:sp>
      <p:sp>
        <p:nvSpPr>
          <p:cNvPr id="12" name="Text 10"/>
          <p:cNvSpPr txBox="1"/>
          <p:nvPr/>
        </p:nvSpPr>
        <p:spPr>
          <a:xfrm>
            <a:off x="342900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genehmigt oder abgelehnt – mit Begründung</a:t>
            </a:r>
            <a:endParaRPr lang="en-US" sz="1300" dirty="0"/>
          </a:p>
        </p:txBody>
      </p:sp>
      <p:sp>
        <p:nvSpPr>
          <p:cNvPr id="13" name="Shape 11"/>
          <p:cNvSpPr/>
          <p:nvPr/>
        </p:nvSpPr>
        <p:spPr>
          <a:xfrm>
            <a:off x="6035040" y="2971800"/>
            <a:ext cx="2606040" cy="1417320"/>
          </a:xfrm>
          <a:prstGeom prst="roundRect">
            <a:avLst>
              <a:gd name="adj" fmla="val 5161"/>
            </a:avLst>
          </a:prstGeom>
          <a:solidFill>
            <a:srgbClr val="2B2318"/>
          </a:solidFill>
          <a:ln w="12700">
            <a:solidFill>
              <a:srgbClr val="2B2318"/>
            </a:solidFill>
            <a:prstDash val="solid"/>
          </a:ln>
        </p:spPr>
      </p:sp>
      <p:sp>
        <p:nvSpPr>
          <p:cNvPr id="14" name="Text 12"/>
          <p:cNvSpPr txBox="1"/>
          <p:nvPr/>
        </p:nvSpPr>
        <p:spPr>
          <a:xfrm>
            <a:off x="6217920" y="3063240"/>
            <a:ext cx="2286000" cy="320040"/>
          </a:xfrm>
          <a:prstGeom prst="rect">
            <a:avLst/>
          </a:prstGeom>
          <a:noFill/>
          <a:ln/>
        </p:spPr>
        <p:txBody>
          <a:bodyPr wrap="square" lIns="0" tIns="0" rIns="0" bIns="0" rtlCol="0" anchor="t"/>
          <a:lstStyle/>
          <a:p>
            <a:pPr indent="0" marL="0">
              <a:buNone/>
            </a:pPr>
            <a:r>
              <a:rPr lang="en-US" sz="1400" b="1" dirty="0">
                <a:solidFill>
                  <a:srgbClr val="D9A441"/>
                </a:solidFill>
                <a:latin typeface="Calibri" pitchFamily="34" charset="0"/>
                <a:ea typeface="Calibri" pitchFamily="34" charset="-122"/>
                <a:cs typeface="Calibri" pitchFamily="34" charset="-120"/>
              </a:rPr>
              <a:t>Am Ende</a:t>
            </a:r>
            <a:endParaRPr lang="en-US" sz="1400" dirty="0"/>
          </a:p>
        </p:txBody>
      </p:sp>
      <p:sp>
        <p:nvSpPr>
          <p:cNvPr id="15" name="Text 13"/>
          <p:cNvSpPr txBox="1"/>
          <p:nvPr/>
        </p:nvSpPr>
        <p:spPr>
          <a:xfrm>
            <a:off x="6217920" y="3429000"/>
            <a:ext cx="2286000" cy="8686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Buch und Heft zu: Könnt ihr das Schaubild aus dem Kopf?</a:t>
            </a:r>
            <a:endParaRPr lang="en-US" sz="13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1 · AM TISCH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Entscheidet über euer Anliegen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 Min.</a:t>
            </a:r>
            <a:endParaRPr lang="en-US" sz="1100" dirty="0"/>
          </a:p>
        </p:txBody>
      </p:sp>
      <p:sp>
        <p:nvSpPr>
          <p:cNvPr id="5" name="Text 3"/>
          <p:cNvSpPr txBox="1"/>
          <p:nvPr/>
        </p:nvSpPr>
        <p:spPr>
          <a:xfrm>
            <a:off x="457200" y="1234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97864"/>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Lest das Anliegen auf eurer Karte.</a:t>
            </a:r>
            <a:endParaRPr lang="en-US" sz="1300" dirty="0"/>
          </a:p>
        </p:txBody>
      </p:sp>
      <p:sp>
        <p:nvSpPr>
          <p:cNvPr id="7" name="Text 5"/>
          <p:cNvSpPr txBox="1"/>
          <p:nvPr/>
        </p:nvSpPr>
        <p:spPr>
          <a:xfrm>
            <a:off x="457200" y="18562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960120" y="1819656"/>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Prüft mit dem Schaubild (LB S. 21): Welche Klasse? Welche Organe sind betroffen?</a:t>
            </a:r>
            <a:endParaRPr lang="en-US" sz="1300" dirty="0"/>
          </a:p>
        </p:txBody>
      </p:sp>
      <p:sp>
        <p:nvSpPr>
          <p:cNvPr id="9" name="Text 7"/>
          <p:cNvSpPr txBox="1"/>
          <p:nvPr/>
        </p:nvSpPr>
        <p:spPr>
          <a:xfrm>
            <a:off x="457200" y="24780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960120" y="2441448"/>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Entscheidet: genehmigt oder abgelehnt?</a:t>
            </a:r>
            <a:endParaRPr lang="en-US" sz="1300" dirty="0"/>
          </a:p>
        </p:txBody>
      </p:sp>
      <p:sp>
        <p:nvSpPr>
          <p:cNvPr id="11" name="Text 9"/>
          <p:cNvSpPr txBox="1"/>
          <p:nvPr/>
        </p:nvSpPr>
        <p:spPr>
          <a:xfrm>
            <a:off x="457200" y="3099816"/>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960120" y="3063240"/>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Jeder schreibt die Entscheidung mit Begründung ins Heft.</a:t>
            </a:r>
            <a:endParaRPr lang="en-US" sz="1300" dirty="0"/>
          </a:p>
        </p:txBody>
      </p:sp>
      <p:sp>
        <p:nvSpPr>
          <p:cNvPr id="13" name="Text 11"/>
          <p:cNvSpPr txBox="1"/>
          <p:nvPr/>
        </p:nvSpPr>
        <p:spPr>
          <a:xfrm>
            <a:off x="457200" y="372160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4" name="Text 12"/>
          <p:cNvSpPr txBox="1"/>
          <p:nvPr/>
        </p:nvSpPr>
        <p:spPr>
          <a:xfrm>
            <a:off x="960120" y="3685032"/>
            <a:ext cx="4617720" cy="585216"/>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Bestimmt einen „Beamten“, der eure Entscheidung an der Tafel einträgt und begründet.</a:t>
            </a:r>
            <a:endParaRPr lang="en-US" sz="1300" dirty="0"/>
          </a:p>
        </p:txBody>
      </p:sp>
      <p:sp>
        <p:nvSpPr>
          <p:cNvPr id="15" name="Shape 13"/>
          <p:cNvSpPr/>
          <p:nvPr/>
        </p:nvSpPr>
        <p:spPr>
          <a:xfrm>
            <a:off x="5806440" y="1234440"/>
            <a:ext cx="2880360" cy="3154680"/>
          </a:xfrm>
          <a:prstGeom prst="roundRect">
            <a:avLst>
              <a:gd name="adj" fmla="val 2540"/>
            </a:avLst>
          </a:prstGeom>
          <a:solidFill>
            <a:srgbClr val="2B2318"/>
          </a:solidFill>
          <a:ln w="12700">
            <a:solidFill>
              <a:srgbClr val="2B2318"/>
            </a:solidFill>
            <a:prstDash val="solid"/>
          </a:ln>
        </p:spPr>
      </p:sp>
      <p:sp>
        <p:nvSpPr>
          <p:cNvPr id="16" name="Text 14"/>
          <p:cNvSpPr txBox="1"/>
          <p:nvPr/>
        </p:nvSpPr>
        <p:spPr>
          <a:xfrm>
            <a:off x="5989320" y="1344168"/>
            <a:ext cx="2560320" cy="320040"/>
          </a:xfrm>
          <a:prstGeom prst="rect">
            <a:avLst/>
          </a:prstGeom>
          <a:noFill/>
          <a:ln/>
        </p:spPr>
        <p:txBody>
          <a:bodyPr wrap="square" lIns="0" tIns="0" rIns="0" bIns="0" rtlCol="0" anchor="t"/>
          <a:lstStyle/>
          <a:p>
            <a:pPr indent="0" marL="0">
              <a:buNone/>
            </a:pPr>
            <a:r>
              <a:rPr lang="en-US" sz="1500" b="1" dirty="0">
                <a:solidFill>
                  <a:srgbClr val="D9A441"/>
                </a:solidFill>
                <a:latin typeface="Cambria" pitchFamily="34" charset="0"/>
                <a:ea typeface="Cambria" pitchFamily="34" charset="-122"/>
                <a:cs typeface="Cambria" pitchFamily="34" charset="-120"/>
              </a:rPr>
              <a:t>So schreibt ihr</a:t>
            </a:r>
            <a:endParaRPr lang="en-US" sz="1500" dirty="0"/>
          </a:p>
        </p:txBody>
      </p:sp>
      <p:sp>
        <p:nvSpPr>
          <p:cNvPr id="17" name="Text 15"/>
          <p:cNvSpPr txBox="1"/>
          <p:nvPr/>
        </p:nvSpPr>
        <p:spPr>
          <a:xfrm>
            <a:off x="5989320" y="1783080"/>
            <a:ext cx="2560320" cy="2468880"/>
          </a:xfrm>
          <a:prstGeom prst="rect">
            <a:avLst/>
          </a:prstGeom>
          <a:noFill/>
          <a:ln/>
        </p:spPr>
        <p:txBody>
          <a:bodyPr wrap="square" lIns="0" tIns="0" rIns="0" bIns="0" rtlCol="0" anchor="t"/>
          <a:lstStyle/>
          <a:p>
            <a:pPr indent="0" marL="0">
              <a:buNone/>
            </a:pPr>
            <a:r>
              <a:rPr lang="en-US" sz="1300" i="1" dirty="0">
                <a:solidFill>
                  <a:srgbClr val="E8DFD0"/>
                </a:solidFill>
                <a:latin typeface="Calibri" pitchFamily="34" charset="0"/>
                <a:ea typeface="Calibri" pitchFamily="34" charset="-122"/>
                <a:cs typeface="Calibri" pitchFamily="34" charset="-120"/>
              </a:rPr>
              <a:t>„Der Antrag von … wird genehmigt / abgelehnt, weil …</a:t>
            </a:r>
            <a:endParaRPr lang="en-US" sz="1300" dirty="0"/>
          </a:p>
          <a:p>
            <a:pPr indent="0" marL="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indent="0" marL="0">
              <a:buNone/>
            </a:pPr>
            <a:r>
              <a:rPr lang="en-US" sz="1300" i="1" dirty="0">
                <a:solidFill>
                  <a:srgbClr val="E8DFD0"/>
                </a:solidFill>
                <a:latin typeface="Calibri" pitchFamily="34" charset="0"/>
                <a:ea typeface="Calibri" pitchFamily="34" charset="-122"/>
                <a:cs typeface="Calibri" pitchFamily="34" charset="-120"/>
              </a:rPr>
              <a:t>Er gehört zur … Klasse. Deshalb darf er …</a:t>
            </a:r>
            <a:endParaRPr lang="en-US" sz="1300" dirty="0"/>
          </a:p>
          <a:p>
            <a:pPr indent="0" marL="0">
              <a:buNone/>
            </a:pPr>
            <a:r>
              <a:rPr lang="en-US" sz="600" i="1" dirty="0">
                <a:solidFill>
                  <a:srgbClr val="E8DFD0"/>
                </a:solidFill>
                <a:latin typeface="Calibri" pitchFamily="34" charset="0"/>
                <a:ea typeface="Calibri" pitchFamily="34" charset="-122"/>
                <a:cs typeface="Calibri" pitchFamily="34" charset="-120"/>
              </a:rPr>
              <a:t> </a:t>
            </a:r>
            <a:endParaRPr lang="en-US" sz="1300" dirty="0"/>
          </a:p>
          <a:p>
            <a:pPr indent="0" marL="0">
              <a:buNone/>
            </a:pPr>
            <a:r>
              <a:rPr lang="en-US" sz="1300" i="1" dirty="0">
                <a:solidFill>
                  <a:srgbClr val="E8DFD0"/>
                </a:solidFill>
                <a:latin typeface="Calibri" pitchFamily="34" charset="0"/>
                <a:ea typeface="Calibri" pitchFamily="34" charset="-122"/>
                <a:cs typeface="Calibri" pitchFamily="34" charset="-120"/>
              </a:rPr>
              <a:t>Zuständig ist … (Organ).“</a:t>
            </a:r>
            <a:endParaRPr lang="en-US" sz="1300" dirty="0"/>
          </a:p>
        </p:txBody>
      </p:sp>
      <p:sp>
        <p:nvSpPr>
          <p:cNvPr id="18" name="Text 16"/>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9" name="Text 17"/>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2 · TAFEL · ERGEBNISTABELLE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 Min.</a:t>
            </a:r>
            <a:endParaRPr lang="en-US" sz="1100" dirty="0"/>
          </a:p>
        </p:txBody>
      </p:sp>
      <p:sp>
        <p:nvSpPr>
          <p:cNvPr id="5" name="Text 3"/>
          <p:cNvSpPr txBox="1"/>
          <p:nvPr/>
        </p:nvSpPr>
        <p:spPr>
          <a:xfrm>
            <a:off x="457200" y="1051560"/>
            <a:ext cx="8229600" cy="274320"/>
          </a:xfrm>
          <a:prstGeom prst="rect">
            <a:avLst/>
          </a:prstGeom>
          <a:noFill/>
          <a:ln/>
        </p:spPr>
        <p:txBody>
          <a:bodyPr wrap="square" lIns="0" tIns="0" rIns="0" bIns="0" rtlCol="0" anchor="t"/>
          <a:lstStyle/>
          <a:p>
            <a:pPr indent="0" marL="0">
              <a:buNone/>
            </a:pPr>
            <a:r>
              <a:rPr lang="en-US" sz="1250" b="1" dirty="0">
                <a:solidFill>
                  <a:srgbClr val="5A5044"/>
                </a:solidFill>
                <a:latin typeface="Calibri" pitchFamily="34" charset="0"/>
                <a:ea typeface="Calibri" pitchFamily="34" charset="-122"/>
                <a:cs typeface="Calibri" pitchFamily="34" charset="-120"/>
              </a:rPr>
              <a:t>Die Beamten tragen ein und begründen in einem Satz. Alle füllen ihre Ergebnistabelle aus.</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65760"/>
                <a:gridCol w="2514600"/>
                <a:gridCol w="365760"/>
                <a:gridCol w="365760"/>
                <a:gridCol w="4617720"/>
              </a:tblGrid>
              <a:tr h="23774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Lykon (Thete)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Demeas will gegen einen Beamten klagen.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Kleitos (Ritter) will in den Rat der 400.</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Megakles (Adliger, 150 Scheffel)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Philon (ehem. Archont) will in den Areopag.</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Nikon (Thete) will über einen Krieg mitentscheiden.</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29184">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950" dirty="0">
                          <a:solidFill>
                            <a:srgbClr val="2B2318"/>
                          </a:solidFill>
                          <a:latin typeface="Calibri" pitchFamily="34" charset="0"/>
                          <a:ea typeface="Calibri" pitchFamily="34" charset="-122"/>
                          <a:cs typeface="Calibri" pitchFamily="34" charset="-120"/>
                        </a:rPr>
                        <a:t>Kallippos (Hoplit, jetzt 520 Scheffel) will in die 1. Klasse.</a:t>
                      </a:r>
                      <a:endParaRPr lang="en-US" sz="9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SCHRITT 2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Die Entscheidungen des Bürgeramts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320040"/>
                <a:gridCol w="2103120"/>
                <a:gridCol w="320040"/>
                <a:gridCol w="320040"/>
                <a:gridCol w="5166360"/>
              </a:tblGrid>
              <a:tr h="23774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Nr.</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Anliegen</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weil …</a:t>
                      </a:r>
                      <a:endParaRPr lang="en-US" sz="11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2B2318"/>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Lykon (Thete)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Nur die 1. Klasse (ab 500 Scheffel) kann Archont werden. Theten dürfen nur wählen, nicht gewählt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Demeas will gegen einen Beamten klagen.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Jeder Bürger darf klagen – vor der Volksversammlung oder dem Geschworenengericht. Die Volksversammlung entscheidet über Klagen gegen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Kleitos (Ritter) will in den Rat der 400.</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Die Klassen 1–3 können in den Rat der 400 gewählt werden. Gewählt wird er von den Phylen.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Megakles (Adliger, 150 Scheffel)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Seit Solon zählt der Besitz, nicht die Herkunft. Mit 150 Scheffeln gehört er zu den Theten.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Philon (ehem. Archont) will in den Areopag.</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Ehemalige Archonten werden Mitglied im Areopag. Er beaufsichtigt Verfassung und Beamte.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Thessale (Frau eines Ritters) will in der Volksversammlung abstimmen.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AD4426"/>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Zur Volksversammlung gehören nur männliche Bürger über 20. Frauen haben keine politischen Rechte.</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Hipponikos (reicher Händler, nicht adlig) will Archont werden.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Sein Einkommen entspricht über 500 Scheffeln, also gehört er zur 1. Klasse. Die Herkunft zählt nicht mehr.</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Nikon (Thete) will über einen Krieg mitentscheiden.</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Alle Bürger über 20 stimmen in der Volksversammlung über Krieg und Frieden ab. Der Rat der 400 bereitet vor, die Archonten führen aus.</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r h="342900">
                <a:tc>
                  <a:txBody>
                    <a:bodyPr/>
                    <a:lstStyle/>
                    <a:p>
                      <a:pPr algn="ctr" indent="0" marL="0">
                        <a:buNone/>
                      </a:pPr>
                      <a:r>
                        <a:rPr lang="en-US" sz="1000" b="1" dirty="0">
                          <a:solidFill>
                            <a:srgbClr val="AD4426"/>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50" dirty="0">
                          <a:solidFill>
                            <a:srgbClr val="2B2318"/>
                          </a:solidFill>
                          <a:latin typeface="Calibri" pitchFamily="34" charset="0"/>
                          <a:ea typeface="Calibri" pitchFamily="34" charset="-122"/>
                          <a:cs typeface="Calibri" pitchFamily="34" charset="-120"/>
                        </a:rPr>
                        <a:t>Kallippos (Hoplit, jetzt 520 Scheffel) will in die 1. Klasse.</a:t>
                      </a:r>
                      <a:endParaRPr lang="en-US" sz="85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r>
                        <a:rPr lang="en-US" sz="1400" b="1" dirty="0">
                          <a:solidFill>
                            <a:srgbClr val="3C783C"/>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algn="ctr" indent="0" marL="0">
                        <a:buNone/>
                      </a:pPr>
                      <a:endParaRPr lang="en-US" sz="14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c>
                  <a:txBody>
                    <a:bodyPr/>
                    <a:lstStyle/>
                    <a:p>
                      <a:pPr indent="0" marL="0">
                        <a:buNone/>
                      </a:pPr>
                      <a:r>
                        <a:rPr lang="en-US" sz="800" dirty="0">
                          <a:solidFill>
                            <a:srgbClr val="2B2318"/>
                          </a:solidFill>
                          <a:latin typeface="Calibri" pitchFamily="34" charset="0"/>
                          <a:ea typeface="Calibri" pitchFamily="34" charset="-122"/>
                          <a:cs typeface="Calibri" pitchFamily="34" charset="-120"/>
                        </a:rPr>
                        <a:t>Der Besitz entscheidet: Mit über 500 Scheffeln steigt er in die 1. Klasse auf und kann jetzt Archont werden.</a:t>
                      </a:r>
                      <a:endParaRPr lang="en-US" sz="800" dirty="0">
                        <a:latin typeface="Calibri" charset="0"/>
                        <a:ea typeface="Calibri" charset="0"/>
                        <a:cs typeface="Calibri" charset="0"/>
                      </a:endParaRPr>
                    </a:p>
                  </a:txBody>
                  <a:tcPr marL="36576" marR="36576" marT="36576" marB="36576" anchor="ctr">
                    <a:lnL w="9525" cap="flat" cmpd="sng" algn="ctr">
                      <a:solidFill>
                        <a:srgbClr val="D9CDB8"/>
                      </a:solidFill>
                      <a:prstDash val="solid"/>
                      <a:round/>
                      <a:headEnd type="none" w="med" len="med"/>
                      <a:tailEnd type="none" w="med" len="med"/>
                    </a:lnL>
                    <a:lnR w="9525" cap="flat" cmpd="sng" algn="ctr">
                      <a:solidFill>
                        <a:srgbClr val="D9CDB8"/>
                      </a:solidFill>
                      <a:prstDash val="solid"/>
                      <a:round/>
                      <a:headEnd type="none" w="med" len="med"/>
                      <a:tailEnd type="none" w="med" len="med"/>
                    </a:lnR>
                    <a:lnT w="9525" cap="flat" cmpd="sng" algn="ctr">
                      <a:solidFill>
                        <a:srgbClr val="D9CDB8"/>
                      </a:solidFill>
                      <a:prstDash val="solid"/>
                      <a:round/>
                      <a:headEnd type="none" w="med" len="med"/>
                      <a:tailEnd type="none" w="med" len="med"/>
                    </a:lnT>
                    <a:lnB w="9525" cap="flat" cmpd="sng" algn="ctr">
                      <a:solidFill>
                        <a:srgbClr val="D9CDB8"/>
                      </a:solidFill>
                      <a:prstDash val="solid"/>
                      <a:round/>
                      <a:headEnd type="none" w="med" len="med"/>
                      <a:tailEnd type="none" w="med" len="med"/>
                    </a:lnB>
                    <a:solidFill>
                      <a:srgbClr val="FBF8F2"/>
                    </a:solidFill>
                  </a:tcPr>
                </a:tc>
              </a:tr>
            </a:tbl>
          </a:graphicData>
        </a:graphic>
      </p:graphicFrame>
      <p:sp>
        <p:nvSpPr>
          <p:cNvPr id="6" name="Shape 3"/>
          <p:cNvSpPr/>
          <p:nvPr/>
        </p:nvSpPr>
        <p:spPr>
          <a:xfrm>
            <a:off x="457200" y="4572000"/>
            <a:ext cx="8229600" cy="274320"/>
          </a:xfrm>
          <a:prstGeom prst="roundRect">
            <a:avLst>
              <a:gd name="adj" fmla="val 26667"/>
            </a:avLst>
          </a:prstGeom>
          <a:solidFill>
            <a:srgbClr val="2B2318"/>
          </a:solidFill>
          <a:ln w="12700">
            <a:solidFill>
              <a:srgbClr val="2B2318"/>
            </a:solidFill>
            <a:prstDash val="solid"/>
          </a:ln>
        </p:spPr>
      </p:sp>
      <p:sp>
        <p:nvSpPr>
          <p:cNvPr id="7" name="Text 4"/>
          <p:cNvSpPr txBox="1"/>
          <p:nvPr/>
        </p:nvSpPr>
        <p:spPr>
          <a:xfrm>
            <a:off x="594360" y="4572000"/>
            <a:ext cx="7955280" cy="274320"/>
          </a:xfrm>
          <a:prstGeom prst="rect">
            <a:avLst/>
          </a:prstGeom>
          <a:noFill/>
          <a:ln/>
        </p:spPr>
        <p:txBody>
          <a:bodyPr wrap="square" lIns="0" tIns="0" rIns="0" bIns="0" rtlCol="0" anchor="ctr"/>
          <a:lstStyle/>
          <a:p>
            <a:pPr indent="0" marL="0">
              <a:buNone/>
            </a:pPr>
            <a:r>
              <a:rPr lang="en-US" sz="1100" b="1" dirty="0">
                <a:solidFill>
                  <a:srgbClr val="D9A441"/>
                </a:solidFill>
                <a:latin typeface="Calibri" pitchFamily="34" charset="0"/>
                <a:ea typeface="Calibri" pitchFamily="34" charset="-122"/>
                <a:cs typeface="Calibri" pitchFamily="34" charset="-120"/>
              </a:rPr>
              <a:t>Vergleicht Anliegen 4 und 7: Nicht mehr das Blut entscheidet, sondern das Geld (Timokratie).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EINZELARBEIT · BLATT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Solons Verfassung aus dem Gedächtnis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234440"/>
            <a:ext cx="8229600" cy="640080"/>
          </a:xfrm>
          <a:prstGeom prst="roundRect">
            <a:avLst>
              <a:gd name="adj" fmla="val 11429"/>
            </a:avLst>
          </a:prstGeom>
          <a:solidFill>
            <a:srgbClr val="AD4426"/>
          </a:solidFill>
          <a:ln w="12700">
            <a:solidFill>
              <a:srgbClr val="AD4426"/>
            </a:solidFill>
            <a:prstDash val="solid"/>
          </a:ln>
        </p:spPr>
      </p:sp>
      <p:sp>
        <p:nvSpPr>
          <p:cNvPr id="6" name="Text 4"/>
          <p:cNvSpPr txBox="1"/>
          <p:nvPr/>
        </p:nvSpPr>
        <p:spPr>
          <a:xfrm>
            <a:off x="685800" y="1234440"/>
            <a:ext cx="7772400" cy="6400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Buch und Hefter zu! Wer darf was? Zeige es im Schaubild.</a:t>
            </a:r>
            <a:endParaRPr lang="en-US" sz="1600" dirty="0"/>
          </a:p>
        </p:txBody>
      </p:sp>
      <p:sp>
        <p:nvSpPr>
          <p:cNvPr id="7" name="Text 5"/>
          <p:cNvSpPr txBox="1"/>
          <p:nvPr/>
        </p:nvSpPr>
        <p:spPr>
          <a:xfrm>
            <a:off x="457200" y="21031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066544"/>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Beschrifte die vier Ämter oben, die Volksversammlung und die vier Klassen (mit Scheffelgrenze).</a:t>
            </a:r>
            <a:endParaRPr lang="en-US" sz="1400" dirty="0"/>
          </a:p>
        </p:txBody>
      </p:sp>
      <p:sp>
        <p:nvSpPr>
          <p:cNvPr id="9" name="Text 7"/>
          <p:cNvSpPr txBox="1"/>
          <p:nvPr/>
        </p:nvSpPr>
        <p:spPr>
          <a:xfrm>
            <a:off x="457200" y="270662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670048"/>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Kreuze bei jeder Klasse an, was sie darf. Was sie nicht darf, streichst du rot durch.</a:t>
            </a:r>
            <a:endParaRPr lang="en-US" sz="1400" dirty="0"/>
          </a:p>
        </p:txBody>
      </p:sp>
      <p:sp>
        <p:nvSpPr>
          <p:cNvPr id="11" name="Text 9"/>
          <p:cNvSpPr txBox="1"/>
          <p:nvPr/>
        </p:nvSpPr>
        <p:spPr>
          <a:xfrm>
            <a:off x="457200" y="3310128"/>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273552"/>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Zeichne Pfeile von jeder Klasse zu den Ämtern, in die sie gewählt werden kann.</a:t>
            </a:r>
            <a:endParaRPr lang="en-US" sz="1400" dirty="0"/>
          </a:p>
        </p:txBody>
      </p:sp>
      <p:sp>
        <p:nvSpPr>
          <p:cNvPr id="13" name="Text 11"/>
          <p:cNvSpPr txBox="1"/>
          <p:nvPr/>
        </p:nvSpPr>
        <p:spPr>
          <a:xfrm>
            <a:off x="457200" y="391363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960120" y="3877056"/>
            <a:ext cx="7726680" cy="566928"/>
          </a:xfrm>
          <a:prstGeom prst="rect">
            <a:avLst/>
          </a:prstGeom>
          <a:noFill/>
          <a:ln/>
        </p:spPr>
        <p:txBody>
          <a:bodyPr wrap="square" lIns="0" tIns="0" rIns="0" bIns="0" rtlCol="0" anchor="ctr"/>
          <a:lstStyle/>
          <a:p>
            <a:pPr indent="0" marL="0">
              <a:buNone/>
            </a:pPr>
            <a:r>
              <a:rPr lang="en-US" sz="1400" dirty="0">
                <a:solidFill>
                  <a:srgbClr val="2B2318"/>
                </a:solidFill>
                <a:latin typeface="Calibri" pitchFamily="34" charset="0"/>
                <a:ea typeface="Calibri" pitchFamily="34" charset="-122"/>
                <a:cs typeface="Calibri" pitchFamily="34" charset="-120"/>
              </a:rPr>
              <a:t>Danach: Vergleiche mit der Lösung und markiere deine Fehler farbig.</a:t>
            </a: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SICHERUNG · 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Vergleiche und markiere deine Fehler</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pic>
        <p:nvPicPr>
          <p:cNvPr id="5" name="Image 0" descr="/tmp/claude-0/-home-user-Schule/9be99485-7769-5631-81b2-1e426720ceab/scratchpad/stumm2_loesung.png">    </p:cNvPr>
          <p:cNvPicPr>
            <a:picLocks noChangeAspect="1"/>
          </p:cNvPicPr>
          <p:nvPr/>
        </p:nvPicPr>
        <p:blipFill>
          <a:blip r:embed="rId1"/>
          <a:stretch>
            <a:fillRect/>
          </a:stretch>
        </p:blipFill>
        <p:spPr>
          <a:xfrm>
            <a:off x="365760" y="1143000"/>
            <a:ext cx="4937760" cy="3337560"/>
          </a:xfrm>
          <a:prstGeom prst="rect">
            <a:avLst/>
          </a:prstGeom>
        </p:spPr>
      </p:pic>
      <p:sp>
        <p:nvSpPr>
          <p:cNvPr id="6" name="Shape 3"/>
          <p:cNvSpPr/>
          <p:nvPr/>
        </p:nvSpPr>
        <p:spPr>
          <a:xfrm>
            <a:off x="5486400" y="1188720"/>
            <a:ext cx="3200400" cy="3291840"/>
          </a:xfrm>
          <a:prstGeom prst="roundRect">
            <a:avLst>
              <a:gd name="adj" fmla="val 2286"/>
            </a:avLst>
          </a:prstGeom>
          <a:solidFill>
            <a:srgbClr val="F4ECDE"/>
          </a:solidFill>
          <a:ln w="12700">
            <a:solidFill>
              <a:srgbClr val="F4ECDE"/>
            </a:solidFill>
            <a:prstDash val="solid"/>
          </a:ln>
        </p:spPr>
      </p:sp>
      <p:sp>
        <p:nvSpPr>
          <p:cNvPr id="7" name="Text 4"/>
          <p:cNvSpPr txBox="1"/>
          <p:nvPr/>
        </p:nvSpPr>
        <p:spPr>
          <a:xfrm>
            <a:off x="5669280" y="1261872"/>
            <a:ext cx="2834640" cy="32004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Wer darf was?</a:t>
            </a:r>
            <a:endParaRPr lang="en-US" sz="1500" dirty="0"/>
          </a:p>
        </p:txBody>
      </p:sp>
      <p:sp>
        <p:nvSpPr>
          <p:cNvPr id="8" name="Text 5"/>
          <p:cNvSpPr txBox="1"/>
          <p:nvPr/>
        </p:nvSpPr>
        <p:spPr>
          <a:xfrm>
            <a:off x="5669280" y="1645920"/>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1. Klasse</a:t>
            </a:r>
            <a:endParaRPr lang="en-US" sz="1200" dirty="0"/>
          </a:p>
        </p:txBody>
      </p:sp>
      <p:sp>
        <p:nvSpPr>
          <p:cNvPr id="9" name="Text 6"/>
          <p:cNvSpPr txBox="1"/>
          <p:nvPr/>
        </p:nvSpPr>
        <p:spPr>
          <a:xfrm>
            <a:off x="5669280" y="1883664"/>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alles – auch Archont</a:t>
            </a:r>
            <a:endParaRPr lang="en-US" sz="1200" dirty="0"/>
          </a:p>
        </p:txBody>
      </p:sp>
      <p:sp>
        <p:nvSpPr>
          <p:cNvPr id="10" name="Text 7"/>
          <p:cNvSpPr txBox="1"/>
          <p:nvPr/>
        </p:nvSpPr>
        <p:spPr>
          <a:xfrm>
            <a:off x="5669280" y="2212848"/>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2. + 3. Klasse</a:t>
            </a:r>
            <a:endParaRPr lang="en-US" sz="1200" dirty="0"/>
          </a:p>
        </p:txBody>
      </p:sp>
      <p:sp>
        <p:nvSpPr>
          <p:cNvPr id="11" name="Text 8"/>
          <p:cNvSpPr txBox="1"/>
          <p:nvPr/>
        </p:nvSpPr>
        <p:spPr>
          <a:xfrm>
            <a:off x="5669280" y="2450592"/>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in den Rat, aber nicht Archont</a:t>
            </a:r>
            <a:endParaRPr lang="en-US" sz="1200" dirty="0"/>
          </a:p>
        </p:txBody>
      </p:sp>
      <p:sp>
        <p:nvSpPr>
          <p:cNvPr id="12" name="Text 9"/>
          <p:cNvSpPr txBox="1"/>
          <p:nvPr/>
        </p:nvSpPr>
        <p:spPr>
          <a:xfrm>
            <a:off x="5669280" y="2779776"/>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Theten</a:t>
            </a:r>
            <a:endParaRPr lang="en-US" sz="1200" dirty="0"/>
          </a:p>
        </p:txBody>
      </p:sp>
      <p:sp>
        <p:nvSpPr>
          <p:cNvPr id="13" name="Text 10"/>
          <p:cNvSpPr txBox="1"/>
          <p:nvPr/>
        </p:nvSpPr>
        <p:spPr>
          <a:xfrm>
            <a:off x="5669280" y="3017520"/>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nur abstimmen und klagen</a:t>
            </a:r>
            <a:endParaRPr lang="en-US" sz="1200" dirty="0"/>
          </a:p>
        </p:txBody>
      </p:sp>
      <p:sp>
        <p:nvSpPr>
          <p:cNvPr id="14" name="Text 11"/>
          <p:cNvSpPr txBox="1"/>
          <p:nvPr/>
        </p:nvSpPr>
        <p:spPr>
          <a:xfrm>
            <a:off x="5669280" y="3346704"/>
            <a:ext cx="2926080" cy="256032"/>
          </a:xfrm>
          <a:prstGeom prst="rect">
            <a:avLst/>
          </a:prstGeom>
          <a:noFill/>
          <a:ln/>
        </p:spPr>
        <p:txBody>
          <a:bodyPr wrap="square" lIns="0" tIns="0" rIns="0" bIns="0" rtlCol="0" anchor="t"/>
          <a:lstStyle/>
          <a:p>
            <a:pPr indent="0" marL="0">
              <a:buNone/>
            </a:pPr>
            <a:r>
              <a:rPr lang="en-US" sz="1200" b="1" dirty="0">
                <a:solidFill>
                  <a:srgbClr val="2B2318"/>
                </a:solidFill>
                <a:latin typeface="Calibri" pitchFamily="34" charset="0"/>
                <a:ea typeface="Calibri" pitchFamily="34" charset="-122"/>
                <a:cs typeface="Calibri" pitchFamily="34" charset="-120"/>
              </a:rPr>
              <a:t>Frauen, Sklaven, Fremde</a:t>
            </a:r>
            <a:endParaRPr lang="en-US" sz="1200" dirty="0"/>
          </a:p>
        </p:txBody>
      </p:sp>
      <p:sp>
        <p:nvSpPr>
          <p:cNvPr id="15" name="Text 12"/>
          <p:cNvSpPr txBox="1"/>
          <p:nvPr/>
        </p:nvSpPr>
        <p:spPr>
          <a:xfrm>
            <a:off x="5669280" y="3584448"/>
            <a:ext cx="2926080" cy="274320"/>
          </a:xfrm>
          <a:prstGeom prst="rect">
            <a:avLst/>
          </a:prstGeom>
          <a:noFill/>
          <a:ln/>
        </p:spPr>
        <p:txBody>
          <a:bodyPr wrap="square" lIns="0" tIns="0" rIns="0" bIns="0" rtlCol="0" anchor="t"/>
          <a:lstStyle/>
          <a:p>
            <a:pPr indent="0" marL="0">
              <a:buNone/>
            </a:pPr>
            <a:r>
              <a:rPr lang="en-US" sz="1200" dirty="0">
                <a:solidFill>
                  <a:srgbClr val="5A5044"/>
                </a:solidFill>
                <a:latin typeface="Calibri" pitchFamily="34" charset="0"/>
                <a:ea typeface="Calibri" pitchFamily="34" charset="-122"/>
                <a:cs typeface="Calibri" pitchFamily="34" charset="-120"/>
              </a:rPr>
              <a:t>gar nichts</a:t>
            </a:r>
            <a:endParaRPr lang="en-US" sz="1200" dirty="0"/>
          </a:p>
        </p:txBody>
      </p:sp>
      <p:sp>
        <p:nvSpPr>
          <p:cNvPr id="16" name="Text 13"/>
          <p:cNvSpPr txBox="1"/>
          <p:nvPr/>
        </p:nvSpPr>
        <p:spPr>
          <a:xfrm>
            <a:off x="5669280" y="3950208"/>
            <a:ext cx="2926080" cy="365760"/>
          </a:xfrm>
          <a:prstGeom prst="rect">
            <a:avLst/>
          </a:prstGeom>
          <a:noFill/>
          <a:ln/>
        </p:spPr>
        <p:txBody>
          <a:bodyPr wrap="square" lIns="0" tIns="0" rIns="0" bIns="0" rtlCol="0" anchor="t"/>
          <a:lstStyle/>
          <a:p>
            <a:pPr indent="0" marL="0">
              <a:buNone/>
            </a:pPr>
            <a:r>
              <a:rPr lang="en-US" sz="1250" b="1" dirty="0">
                <a:solidFill>
                  <a:srgbClr val="AD4426"/>
                </a:solidFill>
                <a:latin typeface="Calibri" pitchFamily="34" charset="0"/>
                <a:ea typeface="Calibri" pitchFamily="34" charset="-122"/>
                <a:cs typeface="Calibri" pitchFamily="34" charset="-120"/>
              </a:rPr>
              <a:t>Je mehr Besitz, desto mehr Rechte.</a:t>
            </a:r>
            <a:endParaRPr lang="en-US" sz="1250" dirty="0"/>
          </a:p>
        </p:txBody>
      </p:sp>
      <p:sp>
        <p:nvSpPr>
          <p:cNvPr id="17"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8"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D9A441"/>
                </a:solidFill>
                <a:latin typeface="Calibri" pitchFamily="34" charset="0"/>
                <a:ea typeface="Calibri" pitchFamily="34" charset="-122"/>
                <a:cs typeface="Calibri" pitchFamily="34" charset="-120"/>
              </a:rPr>
              <a:t>TEIL 2 · ALLE LEGEN SICH FEST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Ist Solons Verfassung eine Demokratie?</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1 Min.</a:t>
            </a:r>
            <a:endParaRPr lang="en-US" sz="1100" dirty="0"/>
          </a:p>
        </p:txBody>
      </p:sp>
      <p:sp>
        <p:nvSpPr>
          <p:cNvPr id="5" name="Shape 3"/>
          <p:cNvSpPr/>
          <p:nvPr/>
        </p:nvSpPr>
        <p:spPr>
          <a:xfrm>
            <a:off x="457200" y="1463040"/>
            <a:ext cx="8229600" cy="1463040"/>
          </a:xfrm>
          <a:prstGeom prst="roundRect">
            <a:avLst>
              <a:gd name="adj" fmla="val 5000"/>
            </a:avLst>
          </a:prstGeom>
          <a:solidFill>
            <a:srgbClr val="3A3024"/>
          </a:solidFill>
          <a:ln w="12700">
            <a:solidFill>
              <a:srgbClr val="3A3024"/>
            </a:solidFill>
            <a:prstDash val="solid"/>
          </a:ln>
        </p:spPr>
      </p:sp>
      <p:sp>
        <p:nvSpPr>
          <p:cNvPr id="6" name="Text 4"/>
          <p:cNvSpPr txBox="1"/>
          <p:nvPr/>
        </p:nvSpPr>
        <p:spPr>
          <a:xfrm>
            <a:off x="731520" y="1554480"/>
            <a:ext cx="7680960" cy="457200"/>
          </a:xfrm>
          <a:prstGeom prst="rect">
            <a:avLst/>
          </a:prstGeom>
          <a:noFill/>
          <a:ln/>
        </p:spPr>
        <p:txBody>
          <a:bodyPr wrap="square" lIns="0" tIns="0" rIns="0" bIns="0" rtlCol="0" anchor="t"/>
          <a:lstStyle/>
          <a:p>
            <a:pPr indent="0" marL="0">
              <a:buNone/>
            </a:pPr>
            <a:r>
              <a:rPr lang="en-US" sz="1600" dirty="0">
                <a:solidFill>
                  <a:srgbClr val="E8DFD0"/>
                </a:solidFill>
                <a:latin typeface="Calibri" pitchFamily="34" charset="0"/>
                <a:ea typeface="Calibri" pitchFamily="34" charset="-122"/>
                <a:cs typeface="Calibri" pitchFamily="34" charset="-120"/>
              </a:rPr>
              <a:t>Denk an das Bürgeramt: Wer wurde genehmigt, wer abgelehnt? Zeige auf mein Zeichen:</a:t>
            </a:r>
            <a:endParaRPr lang="en-US" sz="1600" dirty="0"/>
          </a:p>
        </p:txBody>
      </p:sp>
      <p:sp>
        <p:nvSpPr>
          <p:cNvPr id="7" name="Text 5"/>
          <p:cNvSpPr txBox="1"/>
          <p:nvPr/>
        </p:nvSpPr>
        <p:spPr>
          <a:xfrm>
            <a:off x="731520" y="2103120"/>
            <a:ext cx="7680960" cy="64008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Daumen hoch = Ja      Daumen runter = Nein</a:t>
            </a:r>
            <a:endParaRPr lang="en-US" sz="2000" dirty="0"/>
          </a:p>
        </p:txBody>
      </p:sp>
      <p:sp>
        <p:nvSpPr>
          <p:cNvPr id="8" name="Text 6"/>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HEFT</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Demokratisch oder timokratisch?</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Min.</a:t>
            </a:r>
            <a:endParaRPr lang="en-US" sz="1100" dirty="0"/>
          </a:p>
        </p:txBody>
      </p:sp>
      <p:sp>
        <p:nvSpPr>
          <p:cNvPr id="5" name="Text 3"/>
          <p:cNvSpPr txBox="1"/>
          <p:nvPr/>
        </p:nvSpPr>
        <p:spPr>
          <a:xfrm>
            <a:off x="457200" y="1143000"/>
            <a:ext cx="8229600" cy="502920"/>
          </a:xfrm>
          <a:prstGeom prst="rect">
            <a:avLst/>
          </a:prstGeom>
          <a:noFill/>
          <a:ln/>
        </p:spPr>
        <p:txBody>
          <a:bodyPr wrap="square" lIns="0" tIns="0" rIns="0" bIns="0" rtlCol="0" anchor="t"/>
          <a:lstStyle/>
          <a:p>
            <a:pPr indent="0" marL="0">
              <a:buNone/>
            </a:pPr>
            <a:r>
              <a:rPr lang="en-US" sz="1350" b="1" dirty="0">
                <a:solidFill>
                  <a:srgbClr val="5A5044"/>
                </a:solidFill>
                <a:latin typeface="Calibri" pitchFamily="34" charset="0"/>
                <a:ea typeface="Calibri" pitchFamily="34" charset="-122"/>
                <a:cs typeface="Calibri" pitchFamily="34" charset="-120"/>
              </a:rPr>
              <a:t>Legt im Heft zwei Spalten an und ordnet die sechs Merkmale zu: demokratisch = das Volk entscheidet · timokratisch = der Besitz entscheidet.</a:t>
            </a:r>
            <a:endParaRPr lang="en-US" sz="1350" dirty="0"/>
          </a:p>
        </p:txBody>
      </p:sp>
      <p:sp>
        <p:nvSpPr>
          <p:cNvPr id="6" name="Shape 4"/>
          <p:cNvSpPr/>
          <p:nvPr/>
        </p:nvSpPr>
        <p:spPr>
          <a:xfrm>
            <a:off x="457200" y="1783080"/>
            <a:ext cx="4023360" cy="731520"/>
          </a:xfrm>
          <a:prstGeom prst="roundRect">
            <a:avLst>
              <a:gd name="adj" fmla="val 10000"/>
            </a:avLst>
          </a:prstGeom>
          <a:solidFill>
            <a:srgbClr val="F4ECDE"/>
          </a:solidFill>
          <a:ln w="12700">
            <a:solidFill>
              <a:srgbClr val="F4ECDE"/>
            </a:solidFill>
            <a:prstDash val="solid"/>
          </a:ln>
        </p:spPr>
      </p:sp>
      <p:sp>
        <p:nvSpPr>
          <p:cNvPr id="7" name="Text 5"/>
          <p:cNvSpPr txBox="1"/>
          <p:nvPr/>
        </p:nvSpPr>
        <p:spPr>
          <a:xfrm>
            <a:off x="594360" y="193852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143000" y="178308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p:txBody>
      </p:sp>
      <p:sp>
        <p:nvSpPr>
          <p:cNvPr id="9" name="Shape 7"/>
          <p:cNvSpPr/>
          <p:nvPr/>
        </p:nvSpPr>
        <p:spPr>
          <a:xfrm>
            <a:off x="4663440" y="1783080"/>
            <a:ext cx="4023360" cy="731520"/>
          </a:xfrm>
          <a:prstGeom prst="roundRect">
            <a:avLst>
              <a:gd name="adj" fmla="val 10000"/>
            </a:avLst>
          </a:prstGeom>
          <a:solidFill>
            <a:srgbClr val="F4ECDE"/>
          </a:solidFill>
          <a:ln w="12700">
            <a:solidFill>
              <a:srgbClr val="F4ECDE"/>
            </a:solidFill>
            <a:prstDash val="solid"/>
          </a:ln>
        </p:spPr>
      </p:sp>
      <p:sp>
        <p:nvSpPr>
          <p:cNvPr id="10" name="Text 8"/>
          <p:cNvSpPr txBox="1"/>
          <p:nvPr/>
        </p:nvSpPr>
        <p:spPr>
          <a:xfrm>
            <a:off x="4800600" y="193852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5349240" y="178308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p:txBody>
      </p:sp>
      <p:sp>
        <p:nvSpPr>
          <p:cNvPr id="12" name="Shape 10"/>
          <p:cNvSpPr/>
          <p:nvPr/>
        </p:nvSpPr>
        <p:spPr>
          <a:xfrm>
            <a:off x="457200" y="2651760"/>
            <a:ext cx="4023360" cy="731520"/>
          </a:xfrm>
          <a:prstGeom prst="roundRect">
            <a:avLst>
              <a:gd name="adj" fmla="val 10000"/>
            </a:avLst>
          </a:prstGeom>
          <a:solidFill>
            <a:srgbClr val="F4ECDE"/>
          </a:solidFill>
          <a:ln w="12700">
            <a:solidFill>
              <a:srgbClr val="F4ECDE"/>
            </a:solidFill>
            <a:prstDash val="solid"/>
          </a:ln>
        </p:spPr>
      </p:sp>
      <p:sp>
        <p:nvSpPr>
          <p:cNvPr id="13" name="Text 11"/>
          <p:cNvSpPr txBox="1"/>
          <p:nvPr/>
        </p:nvSpPr>
        <p:spPr>
          <a:xfrm>
            <a:off x="594360" y="280720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265176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p:txBody>
      </p:sp>
      <p:sp>
        <p:nvSpPr>
          <p:cNvPr id="15" name="Shape 13"/>
          <p:cNvSpPr/>
          <p:nvPr/>
        </p:nvSpPr>
        <p:spPr>
          <a:xfrm>
            <a:off x="4663440" y="2651760"/>
            <a:ext cx="4023360" cy="731520"/>
          </a:xfrm>
          <a:prstGeom prst="roundRect">
            <a:avLst>
              <a:gd name="adj" fmla="val 10000"/>
            </a:avLst>
          </a:prstGeom>
          <a:solidFill>
            <a:srgbClr val="F4ECDE"/>
          </a:solidFill>
          <a:ln w="12700">
            <a:solidFill>
              <a:srgbClr val="F4ECDE"/>
            </a:solidFill>
            <a:prstDash val="solid"/>
          </a:ln>
        </p:spPr>
      </p:sp>
      <p:sp>
        <p:nvSpPr>
          <p:cNvPr id="16" name="Text 14"/>
          <p:cNvSpPr txBox="1"/>
          <p:nvPr/>
        </p:nvSpPr>
        <p:spPr>
          <a:xfrm>
            <a:off x="4800600" y="280720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7" name="Text 15"/>
          <p:cNvSpPr txBox="1"/>
          <p:nvPr/>
        </p:nvSpPr>
        <p:spPr>
          <a:xfrm>
            <a:off x="5349240" y="265176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p:txBody>
      </p:sp>
      <p:sp>
        <p:nvSpPr>
          <p:cNvPr id="18" name="Shape 16"/>
          <p:cNvSpPr/>
          <p:nvPr/>
        </p:nvSpPr>
        <p:spPr>
          <a:xfrm>
            <a:off x="457200" y="3520440"/>
            <a:ext cx="4023360" cy="731520"/>
          </a:xfrm>
          <a:prstGeom prst="roundRect">
            <a:avLst>
              <a:gd name="adj" fmla="val 10000"/>
            </a:avLst>
          </a:prstGeom>
          <a:solidFill>
            <a:srgbClr val="F4ECDE"/>
          </a:solidFill>
          <a:ln w="12700">
            <a:solidFill>
              <a:srgbClr val="F4ECDE"/>
            </a:solidFill>
            <a:prstDash val="solid"/>
          </a:ln>
        </p:spPr>
      </p:sp>
      <p:sp>
        <p:nvSpPr>
          <p:cNvPr id="19" name="Text 17"/>
          <p:cNvSpPr txBox="1"/>
          <p:nvPr/>
        </p:nvSpPr>
        <p:spPr>
          <a:xfrm>
            <a:off x="594360" y="367588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0" name="Text 18"/>
          <p:cNvSpPr txBox="1"/>
          <p:nvPr/>
        </p:nvSpPr>
        <p:spPr>
          <a:xfrm>
            <a:off x="1143000" y="352044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21" name="Shape 19"/>
          <p:cNvSpPr/>
          <p:nvPr/>
        </p:nvSpPr>
        <p:spPr>
          <a:xfrm>
            <a:off x="4663440" y="3520440"/>
            <a:ext cx="4023360" cy="731520"/>
          </a:xfrm>
          <a:prstGeom prst="roundRect">
            <a:avLst>
              <a:gd name="adj" fmla="val 10000"/>
            </a:avLst>
          </a:prstGeom>
          <a:solidFill>
            <a:srgbClr val="F4ECDE"/>
          </a:solidFill>
          <a:ln w="12700">
            <a:solidFill>
              <a:srgbClr val="F4ECDE"/>
            </a:solidFill>
            <a:prstDash val="solid"/>
          </a:ln>
        </p:spPr>
      </p:sp>
      <p:sp>
        <p:nvSpPr>
          <p:cNvPr id="22" name="Text 20"/>
          <p:cNvSpPr txBox="1"/>
          <p:nvPr/>
        </p:nvSpPr>
        <p:spPr>
          <a:xfrm>
            <a:off x="4800600" y="3675888"/>
            <a:ext cx="420624" cy="420624"/>
          </a:xfrm>
          <a:prstGeom prst="ellipse">
            <a:avLst/>
          </a:prstGeom>
          <a:solidFill>
            <a:srgbClr val="2B2318"/>
          </a:solid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3" name="Text 21"/>
          <p:cNvSpPr txBox="1"/>
          <p:nvPr/>
        </p:nvSpPr>
        <p:spPr>
          <a:xfrm>
            <a:off x="5349240" y="3520440"/>
            <a:ext cx="3246120" cy="731520"/>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24" name="Text 22"/>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5" name="Text 23"/>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AUFLÖSUNG</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Beides!</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Auflösung</a:t>
            </a:r>
            <a:endParaRPr lang="en-US" sz="1100" dirty="0"/>
          </a:p>
        </p:txBody>
      </p:sp>
      <p:sp>
        <p:nvSpPr>
          <p:cNvPr id="5" name="Shape 3"/>
          <p:cNvSpPr/>
          <p:nvPr/>
        </p:nvSpPr>
        <p:spPr>
          <a:xfrm>
            <a:off x="457200" y="1188720"/>
            <a:ext cx="4023360" cy="2377440"/>
          </a:xfrm>
          <a:prstGeom prst="roundRect">
            <a:avLst>
              <a:gd name="adj" fmla="val 3077"/>
            </a:avLst>
          </a:prstGeom>
          <a:solidFill>
            <a:srgbClr val="F4ECDE"/>
          </a:solidFill>
          <a:ln w="12700">
            <a:solidFill>
              <a:srgbClr val="F4ECDE"/>
            </a:solidFill>
            <a:prstDash val="solid"/>
          </a:ln>
        </p:spPr>
      </p:sp>
      <p:sp>
        <p:nvSpPr>
          <p:cNvPr id="6" name="Text 4"/>
          <p:cNvSpPr txBox="1"/>
          <p:nvPr/>
        </p:nvSpPr>
        <p:spPr>
          <a:xfrm>
            <a:off x="685800" y="1261872"/>
            <a:ext cx="3566160" cy="365760"/>
          </a:xfrm>
          <a:prstGeom prst="rect">
            <a:avLst/>
          </a:prstGeom>
          <a:noFill/>
          <a:ln/>
        </p:spPr>
        <p:txBody>
          <a:bodyPr wrap="square" lIns="0" tIns="0" rIns="0" bIns="0" rtlCol="0" anchor="t"/>
          <a:lstStyle/>
          <a:p>
            <a:pPr indent="0" marL="0">
              <a:buNone/>
            </a:pPr>
            <a:r>
              <a:rPr lang="en-US" sz="1900" b="1" dirty="0">
                <a:solidFill>
                  <a:srgbClr val="3C783C"/>
                </a:solidFill>
                <a:latin typeface="Cambria" pitchFamily="34" charset="0"/>
                <a:ea typeface="Cambria" pitchFamily="34" charset="-122"/>
                <a:cs typeface="Cambria" pitchFamily="34" charset="-120"/>
              </a:rPr>
              <a:t>demokratisch</a:t>
            </a:r>
            <a:endParaRPr lang="en-US" sz="1900" dirty="0"/>
          </a:p>
        </p:txBody>
      </p:sp>
      <p:sp>
        <p:nvSpPr>
          <p:cNvPr id="7" name="Text 5"/>
          <p:cNvSpPr txBox="1"/>
          <p:nvPr/>
        </p:nvSpPr>
        <p:spPr>
          <a:xfrm>
            <a:off x="685800" y="1627632"/>
            <a:ext cx="3566160" cy="256032"/>
          </a:xfrm>
          <a:prstGeom prst="rect">
            <a:avLst/>
          </a:prstGeom>
          <a:noFill/>
          <a:ln/>
        </p:spPr>
        <p:txBody>
          <a:bodyPr wrap="square" lIns="0" tIns="0" rIns="0" bIns="0" rtlCol="0" anchor="t"/>
          <a:lstStyle/>
          <a:p>
            <a:pPr indent="0" marL="0">
              <a:buNone/>
            </a:pPr>
            <a:r>
              <a:rPr lang="en-US" sz="1100" i="1" dirty="0">
                <a:solidFill>
                  <a:srgbClr val="5A5044"/>
                </a:solidFill>
                <a:latin typeface="Calibri" pitchFamily="34" charset="0"/>
                <a:ea typeface="Calibri" pitchFamily="34" charset="-122"/>
                <a:cs typeface="Calibri" pitchFamily="34" charset="-120"/>
              </a:rPr>
              <a:t>das Volk entscheidet</a:t>
            </a:r>
            <a:endParaRPr lang="en-US" sz="1100" dirty="0"/>
          </a:p>
        </p:txBody>
      </p:sp>
      <p:sp>
        <p:nvSpPr>
          <p:cNvPr id="8" name="Text 6"/>
          <p:cNvSpPr txBox="1"/>
          <p:nvPr/>
        </p:nvSpPr>
        <p:spPr>
          <a:xfrm>
            <a:off x="68580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Alle Bürger über 20 stimmen in der Volksversammlung über Gesetze ab.</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Jeder Bürger darf vor Gericht klagen.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Auch die Theten wählen die Beamten.</a:t>
            </a:r>
            <a:endParaRPr lang="en-US" sz="1300" dirty="0"/>
          </a:p>
        </p:txBody>
      </p:sp>
      <p:sp>
        <p:nvSpPr>
          <p:cNvPr id="9" name="Shape 7"/>
          <p:cNvSpPr/>
          <p:nvPr/>
        </p:nvSpPr>
        <p:spPr>
          <a:xfrm>
            <a:off x="4663440" y="1188720"/>
            <a:ext cx="4023360" cy="2377440"/>
          </a:xfrm>
          <a:prstGeom prst="roundRect">
            <a:avLst>
              <a:gd name="adj" fmla="val 3077"/>
            </a:avLst>
          </a:prstGeom>
          <a:solidFill>
            <a:srgbClr val="F4ECDE"/>
          </a:solidFill>
          <a:ln w="12700">
            <a:solidFill>
              <a:srgbClr val="F4ECDE"/>
            </a:solidFill>
            <a:prstDash val="solid"/>
          </a:ln>
        </p:spPr>
      </p:sp>
      <p:sp>
        <p:nvSpPr>
          <p:cNvPr id="10" name="Text 8"/>
          <p:cNvSpPr txBox="1"/>
          <p:nvPr/>
        </p:nvSpPr>
        <p:spPr>
          <a:xfrm>
            <a:off x="4892040" y="1261872"/>
            <a:ext cx="3566160" cy="365760"/>
          </a:xfrm>
          <a:prstGeom prst="rect">
            <a:avLst/>
          </a:prstGeom>
          <a:noFill/>
          <a:ln/>
        </p:spPr>
        <p:txBody>
          <a:bodyPr wrap="square" lIns="0" tIns="0" rIns="0" bIns="0" rtlCol="0" anchor="t"/>
          <a:lstStyle/>
          <a:p>
            <a:pPr indent="0" marL="0">
              <a:buNone/>
            </a:pPr>
            <a:r>
              <a:rPr lang="en-US" sz="1900" b="1" dirty="0">
                <a:solidFill>
                  <a:srgbClr val="AD4426"/>
                </a:solidFill>
                <a:latin typeface="Cambria" pitchFamily="34" charset="0"/>
                <a:ea typeface="Cambria" pitchFamily="34" charset="-122"/>
                <a:cs typeface="Cambria" pitchFamily="34" charset="-120"/>
              </a:rPr>
              <a:t>timokratisch</a:t>
            </a:r>
            <a:endParaRPr lang="en-US" sz="1900" dirty="0"/>
          </a:p>
        </p:txBody>
      </p:sp>
      <p:sp>
        <p:nvSpPr>
          <p:cNvPr id="11" name="Text 9"/>
          <p:cNvSpPr txBox="1"/>
          <p:nvPr/>
        </p:nvSpPr>
        <p:spPr>
          <a:xfrm>
            <a:off x="4892040" y="1627632"/>
            <a:ext cx="3566160" cy="256032"/>
          </a:xfrm>
          <a:prstGeom prst="rect">
            <a:avLst/>
          </a:prstGeom>
          <a:noFill/>
          <a:ln/>
        </p:spPr>
        <p:txBody>
          <a:bodyPr wrap="square" lIns="0" tIns="0" rIns="0" bIns="0" rtlCol="0" anchor="t"/>
          <a:lstStyle/>
          <a:p>
            <a:pPr indent="0" marL="0">
              <a:buNone/>
            </a:pPr>
            <a:r>
              <a:rPr lang="en-US" sz="1100" i="1" dirty="0">
                <a:solidFill>
                  <a:srgbClr val="5A5044"/>
                </a:solidFill>
                <a:latin typeface="Calibri" pitchFamily="34" charset="0"/>
                <a:ea typeface="Calibri" pitchFamily="34" charset="-122"/>
                <a:cs typeface="Calibri" pitchFamily="34" charset="-120"/>
              </a:rPr>
              <a:t>der Besitz entscheidet</a:t>
            </a:r>
            <a:endParaRPr lang="en-US" sz="1100" dirty="0"/>
          </a:p>
        </p:txBody>
      </p:sp>
      <p:sp>
        <p:nvSpPr>
          <p:cNvPr id="12" name="Text 10"/>
          <p:cNvSpPr txBox="1"/>
          <p:nvPr/>
        </p:nvSpPr>
        <p:spPr>
          <a:xfrm>
            <a:off x="4892040" y="1965960"/>
            <a:ext cx="361188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Archont kann nur die 1. Klasse werden.</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In den Rat der 400 dürfen nur die Klassen 1–3.</a:t>
            </a:r>
            <a:endParaRPr lang="en-US" sz="1300" dirty="0"/>
          </a:p>
          <a:p>
            <a:pPr marL="342900" indent="-342900">
              <a:spcAft>
                <a:spcPts val="600"/>
              </a:spcAft>
              <a:buSzPct val="100000"/>
              <a:buChar char="•"/>
            </a:pPr>
            <a:r>
              <a:rPr lang="en-US" sz="1300" dirty="0">
                <a:solidFill>
                  <a:srgbClr val="2B2318"/>
                </a:solidFill>
                <a:latin typeface="Calibri" pitchFamily="34" charset="0"/>
                <a:ea typeface="Calibri" pitchFamily="34" charset="-122"/>
                <a:cs typeface="Calibri" pitchFamily="34" charset="-120"/>
              </a:rPr>
              <a:t>Der Areopag besteht aus ehemaligen Archonten.</a:t>
            </a:r>
            <a:endParaRPr lang="en-US" sz="1300" dirty="0"/>
          </a:p>
        </p:txBody>
      </p:sp>
      <p:sp>
        <p:nvSpPr>
          <p:cNvPr id="13" name="Shape 11"/>
          <p:cNvSpPr/>
          <p:nvPr/>
        </p:nvSpPr>
        <p:spPr>
          <a:xfrm>
            <a:off x="457200" y="3703320"/>
            <a:ext cx="8229600" cy="749808"/>
          </a:xfrm>
          <a:prstGeom prst="roundRect">
            <a:avLst>
              <a:gd name="adj" fmla="val 9756"/>
            </a:avLst>
          </a:prstGeom>
          <a:solidFill>
            <a:srgbClr val="2B2318"/>
          </a:solidFill>
          <a:ln w="12700">
            <a:solidFill>
              <a:srgbClr val="2B2318"/>
            </a:solidFill>
            <a:prstDash val="solid"/>
          </a:ln>
        </p:spPr>
      </p:sp>
      <p:sp>
        <p:nvSpPr>
          <p:cNvPr id="14" name="Text 12"/>
          <p:cNvSpPr txBox="1"/>
          <p:nvPr/>
        </p:nvSpPr>
        <p:spPr>
          <a:xfrm>
            <a:off x="685800" y="3703320"/>
            <a:ext cx="7772400" cy="7498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Solons Verfassung ist beides: Beim Entscheiden redet das Volk mit, die Ämter bleiben den Reichen. Merksatz ins Heft!</a:t>
            </a:r>
            <a:endParaRPr lang="en-US" sz="1400" dirty="0"/>
          </a:p>
        </p:txBody>
      </p:sp>
      <p:sp>
        <p:nvSpPr>
          <p:cNvPr id="15" name="Text 13"/>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6" name="Text 14"/>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Dein Sachurteil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 Min.</a:t>
            </a:r>
            <a:endParaRPr lang="en-US" sz="1100" dirty="0"/>
          </a:p>
        </p:txBody>
      </p:sp>
      <p:sp>
        <p:nvSpPr>
          <p:cNvPr id="5" name="Shape 3"/>
          <p:cNvSpPr/>
          <p:nvPr/>
        </p:nvSpPr>
        <p:spPr>
          <a:xfrm>
            <a:off x="457200" y="1234440"/>
            <a:ext cx="8229600" cy="868680"/>
          </a:xfrm>
          <a:prstGeom prst="roundRect">
            <a:avLst>
              <a:gd name="adj" fmla="val 8421"/>
            </a:avLst>
          </a:prstGeom>
          <a:solidFill>
            <a:srgbClr val="2B2318"/>
          </a:solidFill>
          <a:ln w="12700">
            <a:solidFill>
              <a:srgbClr val="2B2318"/>
            </a:solidFill>
            <a:prstDash val="solid"/>
          </a:ln>
        </p:spPr>
      </p:sp>
      <p:sp>
        <p:nvSpPr>
          <p:cNvPr id="6" name="Text 4"/>
          <p:cNvSpPr txBox="1"/>
          <p:nvPr/>
        </p:nvSpPr>
        <p:spPr>
          <a:xfrm>
            <a:off x="731520" y="1280160"/>
            <a:ext cx="768096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War Solons Verfassung eher demokratisch oder eher timokratisch?</a:t>
            </a:r>
            <a:endParaRPr lang="en-US" sz="2000" dirty="0"/>
          </a:p>
        </p:txBody>
      </p:sp>
      <p:sp>
        <p:nvSpPr>
          <p:cNvPr id="7" name="Text 5"/>
          <p:cNvSpPr txBox="1"/>
          <p:nvPr/>
        </p:nvSpPr>
        <p:spPr>
          <a:xfrm>
            <a:off x="457200" y="233172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txBox="1"/>
          <p:nvPr/>
        </p:nvSpPr>
        <p:spPr>
          <a:xfrm>
            <a:off x="960120" y="229514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Entscheide dich: eher demokratisch oder eher timokratisch?</a:t>
            </a:r>
            <a:endParaRPr lang="en-US" sz="1300" dirty="0"/>
          </a:p>
        </p:txBody>
      </p:sp>
      <p:sp>
        <p:nvSpPr>
          <p:cNvPr id="9" name="Text 7"/>
          <p:cNvSpPr txBox="1"/>
          <p:nvPr/>
        </p:nvSpPr>
        <p:spPr>
          <a:xfrm>
            <a:off x="457200" y="297180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txBox="1"/>
          <p:nvPr/>
        </p:nvSpPr>
        <p:spPr>
          <a:xfrm>
            <a:off x="960120" y="293522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 in 3–4 Sätzen mit mindestens zwei Beispielen aus dem Bürgeramt oder der Tabelle.</a:t>
            </a:r>
            <a:endParaRPr lang="en-US" sz="1300" dirty="0"/>
          </a:p>
        </p:txBody>
      </p:sp>
      <p:sp>
        <p:nvSpPr>
          <p:cNvPr id="11" name="Text 9"/>
          <p:cNvSpPr txBox="1"/>
          <p:nvPr/>
        </p:nvSpPr>
        <p:spPr>
          <a:xfrm>
            <a:off x="457200" y="36118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3575304"/>
            <a:ext cx="4617720" cy="603504"/>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Urteile aus der damaligen Zeit heraus – noch ohne heutige Werte.</a:t>
            </a:r>
            <a:endParaRPr lang="en-US" sz="1300" dirty="0"/>
          </a:p>
        </p:txBody>
      </p:sp>
      <p:sp>
        <p:nvSpPr>
          <p:cNvPr id="13" name="Shape 11"/>
          <p:cNvSpPr/>
          <p:nvPr/>
        </p:nvSpPr>
        <p:spPr>
          <a:xfrm>
            <a:off x="5806440" y="2286000"/>
            <a:ext cx="2880360" cy="2103120"/>
          </a:xfrm>
          <a:prstGeom prst="roundRect">
            <a:avLst>
              <a:gd name="adj" fmla="val 3478"/>
            </a:avLst>
          </a:prstGeom>
          <a:solidFill>
            <a:srgbClr val="F4ECDE"/>
          </a:solidFill>
          <a:ln w="12700">
            <a:solidFill>
              <a:srgbClr val="F4ECDE"/>
            </a:solidFill>
            <a:prstDash val="solid"/>
          </a:ln>
        </p:spPr>
      </p:sp>
      <p:sp>
        <p:nvSpPr>
          <p:cNvPr id="14" name="Text 12"/>
          <p:cNvSpPr txBox="1"/>
          <p:nvPr/>
        </p:nvSpPr>
        <p:spPr>
          <a:xfrm>
            <a:off x="5989320" y="2377440"/>
            <a:ext cx="2560320" cy="320040"/>
          </a:xfrm>
          <a:prstGeom prst="rect">
            <a:avLst/>
          </a:prstGeom>
          <a:noFill/>
          <a:ln/>
        </p:spPr>
        <p:txBody>
          <a:bodyPr wrap="square" lIns="0" tIns="0" rIns="0" bIns="0" rtlCol="0" anchor="t"/>
          <a:lstStyle/>
          <a:p>
            <a:pPr indent="0" marL="0">
              <a:buNone/>
            </a:pPr>
            <a:r>
              <a:rPr lang="en-US" sz="1400" b="1" dirty="0">
                <a:solidFill>
                  <a:srgbClr val="AD4426"/>
                </a:solidFill>
                <a:latin typeface="Cambria" pitchFamily="34" charset="0"/>
                <a:ea typeface="Cambria" pitchFamily="34" charset="-122"/>
                <a:cs typeface="Cambria" pitchFamily="34" charset="-120"/>
              </a:rPr>
              <a:t>Satzbausteine</a:t>
            </a:r>
            <a:endParaRPr lang="en-US" sz="1400" dirty="0"/>
          </a:p>
        </p:txBody>
      </p:sp>
      <p:sp>
        <p:nvSpPr>
          <p:cNvPr id="15" name="Text 13"/>
          <p:cNvSpPr txBox="1"/>
          <p:nvPr/>
        </p:nvSpPr>
        <p:spPr>
          <a:xfrm>
            <a:off x="5989320" y="2743200"/>
            <a:ext cx="2560320" cy="1600200"/>
          </a:xfrm>
          <a:prstGeom prst="rect">
            <a:avLst/>
          </a:prstGeom>
          <a:noFill/>
          <a:ln/>
        </p:spPr>
        <p:txBody>
          <a:bodyPr wrap="square" lIns="0" tIns="0" rIns="0" bIns="0" rtlCol="0" anchor="t"/>
          <a:lstStyle/>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„Aus Sicht der damaligen Zeit war Solons Verfassung eher …, denn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„Das zeigt sich zum Beispiel an Anliegen …“</a:t>
            </a:r>
            <a:endParaRPr lang="en-US" sz="1150" dirty="0"/>
          </a:p>
          <a:p>
            <a:pPr marL="342900" indent="-342900">
              <a:spcAft>
                <a:spcPts val="500"/>
              </a:spcAft>
              <a:buSzPct val="100000"/>
              <a:buChar char="•"/>
            </a:pPr>
            <a:r>
              <a:rPr lang="en-US" sz="1150" i="1" dirty="0">
                <a:solidFill>
                  <a:srgbClr val="2B2318"/>
                </a:solidFill>
                <a:latin typeface="Calibri" pitchFamily="34" charset="0"/>
                <a:ea typeface="Calibri" pitchFamily="34" charset="-122"/>
                <a:cs typeface="Calibri" pitchFamily="34" charset="-120"/>
              </a:rPr>
              <a:t>„Zwar …, aber …“</a:t>
            </a:r>
            <a:endParaRPr lang="en-US" sz="115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SACHURTEIL · BEISPIEL</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So könnte dein Sachurteil aussehen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234440"/>
            <a:ext cx="8229600" cy="2011680"/>
          </a:xfrm>
          <a:prstGeom prst="roundRect">
            <a:avLst>
              <a:gd name="adj" fmla="val 3636"/>
            </a:avLst>
          </a:prstGeom>
          <a:solidFill>
            <a:srgbClr val="F4ECDE"/>
          </a:solidFill>
          <a:ln w="12700">
            <a:solidFill>
              <a:srgbClr val="F4ECDE"/>
            </a:solidFill>
            <a:prstDash val="solid"/>
          </a:ln>
        </p:spPr>
      </p:sp>
      <p:sp>
        <p:nvSpPr>
          <p:cNvPr id="6" name="Text 4"/>
          <p:cNvSpPr txBox="1"/>
          <p:nvPr/>
        </p:nvSpPr>
        <p:spPr>
          <a:xfrm>
            <a:off x="685800" y="1325880"/>
            <a:ext cx="7772400" cy="1828800"/>
          </a:xfrm>
          <a:prstGeom prst="rect">
            <a:avLst/>
          </a:prstGeom>
          <a:noFill/>
          <a:ln/>
        </p:spPr>
        <p:txBody>
          <a:bodyPr wrap="square" lIns="0" tIns="0" rIns="0" bIns="0" rtlCol="0" anchor="ctr"/>
          <a:lstStyle/>
          <a:p>
            <a:pPr indent="0" marL="0">
              <a:buNone/>
            </a:pPr>
            <a:r>
              <a:rPr lang="en-US" sz="1400" i="1" dirty="0">
                <a:solidFill>
                  <a:srgbClr val="2B2318"/>
                </a:solidFill>
                <a:latin typeface="Cambria" pitchFamily="34" charset="0"/>
                <a:ea typeface="Cambria" pitchFamily="34" charset="-122"/>
                <a:cs typeface="Cambria" pitchFamily="34" charset="-120"/>
              </a:rPr>
              <a:t>„Aus Sicht der damaligen Zeit war Solons Verfassung eher timokratisch, denn die wichtigen Ämter – Archonten, Rat der 400 und Areopag – blieben den Reichen vorbehalten. Das zeigt sich an Anliegen 1 und 4: Wer arm ist, wird nicht Archont, auch wenn er adlig ist. Zwar stimmten alle Bürger in der Volksversammlung ab und durften klagen (Anliegen 2 und 8), aber regieren konnten nur die Wohlhabenden.“</a:t>
            </a:r>
            <a:endParaRPr lang="en-US" sz="1400" dirty="0"/>
          </a:p>
        </p:txBody>
      </p:sp>
      <p:sp>
        <p:nvSpPr>
          <p:cNvPr id="7" name="Shape 5"/>
          <p:cNvSpPr/>
          <p:nvPr/>
        </p:nvSpPr>
        <p:spPr>
          <a:xfrm>
            <a:off x="457200" y="3474720"/>
            <a:ext cx="2606040" cy="868680"/>
          </a:xfrm>
          <a:prstGeom prst="roundRect">
            <a:avLst>
              <a:gd name="adj" fmla="val 8421"/>
            </a:avLst>
          </a:prstGeom>
          <a:solidFill>
            <a:srgbClr val="2B2318"/>
          </a:solidFill>
          <a:ln w="12700">
            <a:solidFill>
              <a:srgbClr val="2B2318"/>
            </a:solidFill>
            <a:prstDash val="solid"/>
          </a:ln>
        </p:spPr>
      </p:sp>
      <p:sp>
        <p:nvSpPr>
          <p:cNvPr id="8" name="Text 6"/>
          <p:cNvSpPr txBox="1"/>
          <p:nvPr/>
        </p:nvSpPr>
        <p:spPr>
          <a:xfrm>
            <a:off x="64008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Position</a:t>
            </a:r>
            <a:endParaRPr lang="en-US" sz="1300" dirty="0"/>
          </a:p>
        </p:txBody>
      </p:sp>
      <p:sp>
        <p:nvSpPr>
          <p:cNvPr id="9" name="Text 7"/>
          <p:cNvSpPr txBox="1"/>
          <p:nvPr/>
        </p:nvSpPr>
        <p:spPr>
          <a:xfrm>
            <a:off x="64008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„eher timokratisch“</a:t>
            </a:r>
            <a:endParaRPr lang="en-US" sz="1200" dirty="0"/>
          </a:p>
        </p:txBody>
      </p:sp>
      <p:sp>
        <p:nvSpPr>
          <p:cNvPr id="10" name="Shape 8"/>
          <p:cNvSpPr/>
          <p:nvPr/>
        </p:nvSpPr>
        <p:spPr>
          <a:xfrm>
            <a:off x="3246120" y="3474720"/>
            <a:ext cx="2606040" cy="868680"/>
          </a:xfrm>
          <a:prstGeom prst="roundRect">
            <a:avLst>
              <a:gd name="adj" fmla="val 8421"/>
            </a:avLst>
          </a:prstGeom>
          <a:solidFill>
            <a:srgbClr val="2B2318"/>
          </a:solidFill>
          <a:ln w="12700">
            <a:solidFill>
              <a:srgbClr val="2B2318"/>
            </a:solidFill>
            <a:prstDash val="solid"/>
          </a:ln>
        </p:spPr>
      </p:sp>
      <p:sp>
        <p:nvSpPr>
          <p:cNvPr id="11" name="Text 9"/>
          <p:cNvSpPr txBox="1"/>
          <p:nvPr/>
        </p:nvSpPr>
        <p:spPr>
          <a:xfrm>
            <a:off x="342900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Belege</a:t>
            </a:r>
            <a:endParaRPr lang="en-US" sz="1300" dirty="0"/>
          </a:p>
        </p:txBody>
      </p:sp>
      <p:sp>
        <p:nvSpPr>
          <p:cNvPr id="12" name="Text 10"/>
          <p:cNvSpPr txBox="1"/>
          <p:nvPr/>
        </p:nvSpPr>
        <p:spPr>
          <a:xfrm>
            <a:off x="342900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Anliegen 1, 4, 2, 8</a:t>
            </a:r>
            <a:endParaRPr lang="en-US" sz="1200" dirty="0"/>
          </a:p>
        </p:txBody>
      </p:sp>
      <p:sp>
        <p:nvSpPr>
          <p:cNvPr id="13" name="Shape 11"/>
          <p:cNvSpPr/>
          <p:nvPr/>
        </p:nvSpPr>
        <p:spPr>
          <a:xfrm>
            <a:off x="6035040" y="3474720"/>
            <a:ext cx="2606040" cy="868680"/>
          </a:xfrm>
          <a:prstGeom prst="roundRect">
            <a:avLst>
              <a:gd name="adj" fmla="val 8421"/>
            </a:avLst>
          </a:prstGeom>
          <a:solidFill>
            <a:srgbClr val="2B2318"/>
          </a:solidFill>
          <a:ln w="12700">
            <a:solidFill>
              <a:srgbClr val="2B2318"/>
            </a:solidFill>
            <a:prstDash val="solid"/>
          </a:ln>
        </p:spPr>
      </p:sp>
      <p:sp>
        <p:nvSpPr>
          <p:cNvPr id="14" name="Text 12"/>
          <p:cNvSpPr txBox="1"/>
          <p:nvPr/>
        </p:nvSpPr>
        <p:spPr>
          <a:xfrm>
            <a:off x="6217920" y="3547872"/>
            <a:ext cx="2286000" cy="274320"/>
          </a:xfrm>
          <a:prstGeom prst="rect">
            <a:avLst/>
          </a:prstGeom>
          <a:noFill/>
          <a:ln/>
        </p:spPr>
        <p:txBody>
          <a:bodyPr wrap="square" lIns="0" tIns="0" rIns="0" bIns="0" rtlCol="0" anchor="t"/>
          <a:lstStyle/>
          <a:p>
            <a:pPr indent="0" marL="0">
              <a:buNone/>
            </a:pPr>
            <a:r>
              <a:rPr lang="en-US" sz="1300" b="1" dirty="0">
                <a:solidFill>
                  <a:srgbClr val="D9A441"/>
                </a:solidFill>
                <a:latin typeface="Calibri" pitchFamily="34" charset="0"/>
                <a:ea typeface="Calibri" pitchFamily="34" charset="-122"/>
                <a:cs typeface="Calibri" pitchFamily="34" charset="-120"/>
              </a:rPr>
              <a:t>Abwägung</a:t>
            </a:r>
            <a:endParaRPr lang="en-US" sz="1300" dirty="0"/>
          </a:p>
        </p:txBody>
      </p:sp>
      <p:sp>
        <p:nvSpPr>
          <p:cNvPr id="15" name="Text 13"/>
          <p:cNvSpPr txBox="1"/>
          <p:nvPr/>
        </p:nvSpPr>
        <p:spPr>
          <a:xfrm>
            <a:off x="6217920" y="3840480"/>
            <a:ext cx="2286000" cy="457200"/>
          </a:xfrm>
          <a:prstGeom prst="rect">
            <a:avLst/>
          </a:prstGeom>
          <a:noFill/>
          <a:ln/>
        </p:spPr>
        <p:txBody>
          <a:bodyPr wrap="square" lIns="0" tIns="0" rIns="0" bIns="0" rtlCol="0" anchor="t"/>
          <a:lstStyle/>
          <a:p>
            <a:pPr indent="0" marL="0">
              <a:buNone/>
            </a:pPr>
            <a:r>
              <a:rPr lang="en-US" sz="1200" i="1" dirty="0">
                <a:solidFill>
                  <a:srgbClr val="E8DFD0"/>
                </a:solidFill>
                <a:latin typeface="Calibri" pitchFamily="34" charset="0"/>
                <a:ea typeface="Calibri" pitchFamily="34" charset="-122"/>
                <a:cs typeface="Calibri" pitchFamily="34" charset="-120"/>
              </a:rPr>
              <a:t>„Zwar …, aber …“</a:t>
            </a:r>
            <a:endParaRPr lang="en-US" sz="1200" dirty="0"/>
          </a:p>
        </p:txBody>
      </p:sp>
      <p:sp>
        <p:nvSpPr>
          <p:cNvPr id="16" name="Text 14"/>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7" name="Text 15"/>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EINZELARBEIT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Dein Werturteil</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 Min.</a:t>
            </a:r>
            <a:endParaRPr lang="en-US" sz="1100" dirty="0"/>
          </a:p>
        </p:txBody>
      </p:sp>
      <p:sp>
        <p:nvSpPr>
          <p:cNvPr id="5" name="Shape 3"/>
          <p:cNvSpPr/>
          <p:nvPr/>
        </p:nvSpPr>
        <p:spPr>
          <a:xfrm>
            <a:off x="457200" y="1188720"/>
            <a:ext cx="8229600" cy="777240"/>
          </a:xfrm>
          <a:prstGeom prst="roundRect">
            <a:avLst>
              <a:gd name="adj" fmla="val 9412"/>
            </a:avLst>
          </a:prstGeom>
          <a:solidFill>
            <a:srgbClr val="2B2318"/>
          </a:solidFill>
          <a:ln w="12700">
            <a:solidFill>
              <a:srgbClr val="2B2318"/>
            </a:solidFill>
            <a:prstDash val="solid"/>
          </a:ln>
        </p:spPr>
      </p:sp>
      <p:sp>
        <p:nvSpPr>
          <p:cNvPr id="6" name="Text 4"/>
          <p:cNvSpPr txBox="1"/>
          <p:nvPr/>
        </p:nvSpPr>
        <p:spPr>
          <a:xfrm>
            <a:off x="731520" y="1188720"/>
            <a:ext cx="7680960" cy="77724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Solons Verfassungsreform – eine Verfassung für alle Bürger?</a:t>
            </a:r>
            <a:endParaRPr lang="en-US" sz="2000" dirty="0"/>
          </a:p>
        </p:txBody>
      </p:sp>
      <p:sp>
        <p:nvSpPr>
          <p:cNvPr id="7" name="Text 5"/>
          <p:cNvSpPr txBox="1"/>
          <p:nvPr/>
        </p:nvSpPr>
        <p:spPr>
          <a:xfrm>
            <a:off x="457200" y="2057400"/>
            <a:ext cx="2743200" cy="228600"/>
          </a:xfrm>
          <a:prstGeom prst="rect">
            <a:avLst/>
          </a:prstGeom>
          <a:noFill/>
          <a:ln/>
        </p:spPr>
        <p:txBody>
          <a:bodyPr wrap="square" lIns="0" tIns="0" rIns="0" bIns="0" rtlCol="0" anchor="t"/>
          <a:lstStyle/>
          <a:p>
            <a:pPr indent="0" marL="0">
              <a:buNone/>
            </a:pPr>
            <a:r>
              <a:rPr lang="en-US" sz="1000" b="1" spc="200" kern="0" dirty="0">
                <a:solidFill>
                  <a:srgbClr val="5A5044"/>
                </a:solidFill>
                <a:latin typeface="Calibri" pitchFamily="34" charset="0"/>
                <a:ea typeface="Calibri" pitchFamily="34" charset="-122"/>
                <a:cs typeface="Calibri" pitchFamily="34" charset="-120"/>
              </a:rPr>
              <a:t>MASSSTÄBE</a:t>
            </a:r>
            <a:endParaRPr lang="en-US" sz="1000" dirty="0"/>
          </a:p>
        </p:txBody>
      </p:sp>
      <p:sp>
        <p:nvSpPr>
          <p:cNvPr id="8" name="Shape 6"/>
          <p:cNvSpPr/>
          <p:nvPr/>
        </p:nvSpPr>
        <p:spPr>
          <a:xfrm>
            <a:off x="457200" y="2304288"/>
            <a:ext cx="1947672" cy="914400"/>
          </a:xfrm>
          <a:prstGeom prst="roundRect">
            <a:avLst>
              <a:gd name="adj" fmla="val 8000"/>
            </a:avLst>
          </a:prstGeom>
          <a:solidFill>
            <a:srgbClr val="F4ECDE"/>
          </a:solidFill>
          <a:ln w="12700">
            <a:solidFill>
              <a:srgbClr val="F4ECDE"/>
            </a:solidFill>
            <a:prstDash val="solid"/>
          </a:ln>
        </p:spPr>
      </p:sp>
      <p:sp>
        <p:nvSpPr>
          <p:cNvPr id="9" name="Text 7"/>
          <p:cNvSpPr txBox="1"/>
          <p:nvPr/>
        </p:nvSpPr>
        <p:spPr>
          <a:xfrm>
            <a:off x="548640"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10" name="Text 8"/>
          <p:cNvSpPr txBox="1"/>
          <p:nvPr/>
        </p:nvSpPr>
        <p:spPr>
          <a:xfrm>
            <a:off x="987552" y="2377440"/>
            <a:ext cx="1371600" cy="365760"/>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Gleichheit</a:t>
            </a:r>
            <a:endParaRPr lang="en-US" sz="1250" dirty="0"/>
          </a:p>
        </p:txBody>
      </p:sp>
      <p:sp>
        <p:nvSpPr>
          <p:cNvPr id="11" name="Text 9"/>
          <p:cNvSpPr txBox="1"/>
          <p:nvPr/>
        </p:nvSpPr>
        <p:spPr>
          <a:xfrm>
            <a:off x="566928"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Alle bekommen das Gleiche.</a:t>
            </a:r>
            <a:endParaRPr lang="en-US" sz="1000" dirty="0"/>
          </a:p>
        </p:txBody>
      </p:sp>
      <p:sp>
        <p:nvSpPr>
          <p:cNvPr id="12" name="Shape 10"/>
          <p:cNvSpPr/>
          <p:nvPr/>
        </p:nvSpPr>
        <p:spPr>
          <a:xfrm>
            <a:off x="2551176" y="2304288"/>
            <a:ext cx="1947672" cy="914400"/>
          </a:xfrm>
          <a:prstGeom prst="roundRect">
            <a:avLst>
              <a:gd name="adj" fmla="val 8000"/>
            </a:avLst>
          </a:prstGeom>
          <a:solidFill>
            <a:srgbClr val="F4ECDE"/>
          </a:solidFill>
          <a:ln w="12700">
            <a:solidFill>
              <a:srgbClr val="F4ECDE"/>
            </a:solidFill>
            <a:prstDash val="solid"/>
          </a:ln>
        </p:spPr>
      </p:sp>
      <p:sp>
        <p:nvSpPr>
          <p:cNvPr id="13" name="Text 11"/>
          <p:cNvSpPr txBox="1"/>
          <p:nvPr/>
        </p:nvSpPr>
        <p:spPr>
          <a:xfrm>
            <a:off x="2642616"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txBox="1"/>
          <p:nvPr/>
        </p:nvSpPr>
        <p:spPr>
          <a:xfrm>
            <a:off x="3081528" y="2377440"/>
            <a:ext cx="1371600" cy="365760"/>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Leistung</a:t>
            </a:r>
            <a:endParaRPr lang="en-US" sz="1250" dirty="0"/>
          </a:p>
        </p:txBody>
      </p:sp>
      <p:sp>
        <p:nvSpPr>
          <p:cNvPr id="15" name="Text 13"/>
          <p:cNvSpPr txBox="1"/>
          <p:nvPr/>
        </p:nvSpPr>
        <p:spPr>
          <a:xfrm>
            <a:off x="2660904"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Wer mehr leistet oder trägt, bekommt mehr.</a:t>
            </a:r>
            <a:endParaRPr lang="en-US" sz="1000" dirty="0"/>
          </a:p>
        </p:txBody>
      </p:sp>
      <p:sp>
        <p:nvSpPr>
          <p:cNvPr id="16" name="Shape 14"/>
          <p:cNvSpPr/>
          <p:nvPr/>
        </p:nvSpPr>
        <p:spPr>
          <a:xfrm>
            <a:off x="4645152" y="2304288"/>
            <a:ext cx="1947672" cy="914400"/>
          </a:xfrm>
          <a:prstGeom prst="roundRect">
            <a:avLst>
              <a:gd name="adj" fmla="val 8000"/>
            </a:avLst>
          </a:prstGeom>
          <a:solidFill>
            <a:srgbClr val="F4ECDE"/>
          </a:solidFill>
          <a:ln w="12700">
            <a:solidFill>
              <a:srgbClr val="F4ECDE"/>
            </a:solidFill>
            <a:prstDash val="solid"/>
          </a:ln>
        </p:spPr>
      </p:sp>
      <p:sp>
        <p:nvSpPr>
          <p:cNvPr id="17" name="Text 15"/>
          <p:cNvSpPr txBox="1"/>
          <p:nvPr/>
        </p:nvSpPr>
        <p:spPr>
          <a:xfrm>
            <a:off x="4736592"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txBox="1"/>
          <p:nvPr/>
        </p:nvSpPr>
        <p:spPr>
          <a:xfrm>
            <a:off x="5175504" y="2377440"/>
            <a:ext cx="1371600" cy="365760"/>
          </a:xfrm>
          <a:prstGeom prst="rect">
            <a:avLst/>
          </a:prstGeom>
          <a:noFill/>
          <a:ln/>
        </p:spPr>
        <p:txBody>
          <a:bodyPr wrap="square" lIns="0" tIns="0" rIns="0" bIns="0" rtlCol="0" anchor="ctr"/>
          <a:lstStyle/>
          <a:p>
            <a:pPr indent="0" marL="0">
              <a:buNone/>
            </a:pPr>
            <a:r>
              <a:rPr lang="en-US" sz="1100" b="1" dirty="0">
                <a:solidFill>
                  <a:srgbClr val="2B2318"/>
                </a:solidFill>
                <a:latin typeface="Calibri" pitchFamily="34" charset="0"/>
                <a:ea typeface="Calibri" pitchFamily="34" charset="-122"/>
                <a:cs typeface="Calibri" pitchFamily="34" charset="-120"/>
              </a:rPr>
              <a:t>Schutz der Schwachen</a:t>
            </a:r>
            <a:endParaRPr lang="en-US" sz="1100" dirty="0"/>
          </a:p>
        </p:txBody>
      </p:sp>
      <p:sp>
        <p:nvSpPr>
          <p:cNvPr id="19" name="Text 17"/>
          <p:cNvSpPr txBox="1"/>
          <p:nvPr/>
        </p:nvSpPr>
        <p:spPr>
          <a:xfrm>
            <a:off x="4754880"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Die Schwachen werden geschützt.</a:t>
            </a:r>
            <a:endParaRPr lang="en-US" sz="1000" dirty="0"/>
          </a:p>
        </p:txBody>
      </p:sp>
      <p:sp>
        <p:nvSpPr>
          <p:cNvPr id="20" name="Shape 18"/>
          <p:cNvSpPr/>
          <p:nvPr/>
        </p:nvSpPr>
        <p:spPr>
          <a:xfrm>
            <a:off x="6739128" y="2304288"/>
            <a:ext cx="1947672" cy="914400"/>
          </a:xfrm>
          <a:prstGeom prst="roundRect">
            <a:avLst>
              <a:gd name="adj" fmla="val 8000"/>
            </a:avLst>
          </a:prstGeom>
          <a:solidFill>
            <a:srgbClr val="F4ECDE"/>
          </a:solidFill>
          <a:ln w="12700">
            <a:solidFill>
              <a:srgbClr val="F4ECDE"/>
            </a:solidFill>
            <a:prstDash val="solid"/>
          </a:ln>
        </p:spPr>
      </p:sp>
      <p:sp>
        <p:nvSpPr>
          <p:cNvPr id="21" name="Text 19"/>
          <p:cNvSpPr txBox="1"/>
          <p:nvPr/>
        </p:nvSpPr>
        <p:spPr>
          <a:xfrm>
            <a:off x="6830568" y="237744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7269480" y="2377440"/>
            <a:ext cx="1371600" cy="365760"/>
          </a:xfrm>
          <a:prstGeom prst="rect">
            <a:avLst/>
          </a:prstGeom>
          <a:noFill/>
          <a:ln/>
        </p:spPr>
        <p:txBody>
          <a:bodyPr wrap="square" lIns="0" tIns="0" rIns="0" bIns="0" rtlCol="0" anchor="ctr"/>
          <a:lstStyle/>
          <a:p>
            <a:pPr indent="0" marL="0">
              <a:buNone/>
            </a:pPr>
            <a:r>
              <a:rPr lang="en-US" sz="1250" b="1" dirty="0">
                <a:solidFill>
                  <a:srgbClr val="2B2318"/>
                </a:solidFill>
                <a:latin typeface="Calibri" pitchFamily="34" charset="0"/>
                <a:ea typeface="Calibri" pitchFamily="34" charset="-122"/>
                <a:cs typeface="Calibri" pitchFamily="34" charset="-120"/>
              </a:rPr>
              <a:t>Gleiche Regeln</a:t>
            </a:r>
            <a:endParaRPr lang="en-US" sz="1250" dirty="0"/>
          </a:p>
        </p:txBody>
      </p:sp>
      <p:sp>
        <p:nvSpPr>
          <p:cNvPr id="23" name="Text 21"/>
          <p:cNvSpPr txBox="1"/>
          <p:nvPr/>
        </p:nvSpPr>
        <p:spPr>
          <a:xfrm>
            <a:off x="6848856" y="2779776"/>
            <a:ext cx="1783080" cy="411480"/>
          </a:xfrm>
          <a:prstGeom prst="rect">
            <a:avLst/>
          </a:prstGeom>
          <a:noFill/>
          <a:ln/>
        </p:spPr>
        <p:txBody>
          <a:bodyPr wrap="square" lIns="0" tIns="0" rIns="0" bIns="0" rtlCol="0" anchor="t"/>
          <a:lstStyle/>
          <a:p>
            <a:pPr indent="0" marL="0">
              <a:buNone/>
            </a:pPr>
            <a:r>
              <a:rPr lang="en-US" sz="1000" dirty="0">
                <a:solidFill>
                  <a:srgbClr val="5A5044"/>
                </a:solidFill>
                <a:latin typeface="Calibri" pitchFamily="34" charset="0"/>
                <a:ea typeface="Calibri" pitchFamily="34" charset="-122"/>
                <a:cs typeface="Calibri" pitchFamily="34" charset="-120"/>
              </a:rPr>
              <a:t>Für alle gelten dieselben Regeln.</a:t>
            </a:r>
            <a:endParaRPr lang="en-US" sz="1000" dirty="0"/>
          </a:p>
        </p:txBody>
      </p:sp>
      <p:sp>
        <p:nvSpPr>
          <p:cNvPr id="24" name="Text 22"/>
          <p:cNvSpPr txBox="1"/>
          <p:nvPr/>
        </p:nvSpPr>
        <p:spPr>
          <a:xfrm>
            <a:off x="457200" y="3383280"/>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25" name="Text 23"/>
          <p:cNvSpPr txBox="1"/>
          <p:nvPr/>
        </p:nvSpPr>
        <p:spPr>
          <a:xfrm>
            <a:off x="960120" y="3346704"/>
            <a:ext cx="7726680" cy="402336"/>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Wähle einen Maßstab (1–4) und schreibe ihn über dein Urteil.</a:t>
            </a:r>
            <a:endParaRPr lang="en-US" sz="1250" dirty="0"/>
          </a:p>
        </p:txBody>
      </p:sp>
      <p:sp>
        <p:nvSpPr>
          <p:cNvPr id="26" name="Text 24"/>
          <p:cNvSpPr txBox="1"/>
          <p:nvPr/>
        </p:nvSpPr>
        <p:spPr>
          <a:xfrm>
            <a:off x="457200" y="3822192"/>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27" name="Text 25"/>
          <p:cNvSpPr txBox="1"/>
          <p:nvPr/>
        </p:nvSpPr>
        <p:spPr>
          <a:xfrm>
            <a:off x="960120" y="3785616"/>
            <a:ext cx="7726680" cy="402336"/>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Schreibe 2–3 Sätze: „Gemessen an … halte ich Solons Verfassung für eine / nur teilweise eine / keine Verfassung für alle Bürger, weil …“</a:t>
            </a:r>
            <a:endParaRPr lang="en-US" sz="1250" dirty="0"/>
          </a:p>
        </p:txBody>
      </p:sp>
      <p:sp>
        <p:nvSpPr>
          <p:cNvPr id="28" name="Text 26"/>
          <p:cNvSpPr txBox="1"/>
          <p:nvPr/>
        </p:nvSpPr>
        <p:spPr>
          <a:xfrm>
            <a:off x="457200" y="4261104"/>
            <a:ext cx="365760" cy="365760"/>
          </a:xfrm>
          <a:prstGeom prst="ellipse">
            <a:avLst/>
          </a:prstGeom>
          <a:solidFill>
            <a:srgbClr val="AD4426"/>
          </a:solid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9" name="Text 27"/>
          <p:cNvSpPr txBox="1"/>
          <p:nvPr/>
        </p:nvSpPr>
        <p:spPr>
          <a:xfrm>
            <a:off x="960120" y="4224528"/>
            <a:ext cx="7726680" cy="402336"/>
          </a:xfrm>
          <a:prstGeom prst="rect">
            <a:avLst/>
          </a:prstGeom>
          <a:noFill/>
          <a:ln/>
        </p:spPr>
        <p:txBody>
          <a:bodyPr wrap="square" lIns="0" tIns="0" rIns="0" bIns="0" rtlCol="0" anchor="ctr"/>
          <a:lstStyle/>
          <a:p>
            <a:pPr indent="0" marL="0">
              <a:buNone/>
            </a:pPr>
            <a:r>
              <a:rPr lang="en-US" sz="1250" dirty="0">
                <a:solidFill>
                  <a:srgbClr val="2B2318"/>
                </a:solidFill>
                <a:latin typeface="Calibri" pitchFamily="34" charset="0"/>
                <a:ea typeface="Calibri" pitchFamily="34" charset="-122"/>
                <a:cs typeface="Calibri" pitchFamily="34" charset="-120"/>
              </a:rPr>
              <a:t>Begründe mit mindestens einem Beispiel aus dem Bürgeramt.</a:t>
            </a:r>
            <a:endParaRPr lang="en-US" sz="1250" dirty="0"/>
          </a:p>
        </p:txBody>
      </p:sp>
      <p:sp>
        <p:nvSpPr>
          <p:cNvPr id="30" name="Text 28"/>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31" name="Text 29"/>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PARTNERARBEIT · HEFTER</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Feedback: Was ist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2B2318"/>
          </a:solidFill>
          <a:ln/>
        </p:spPr>
        <p:txBody>
          <a:bodyPr wrap="square" lIns="25400" tIns="25400" rIns="25400" bIns="2540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Min.</a:t>
            </a:r>
            <a:endParaRPr lang="en-US" sz="1100" dirty="0"/>
          </a:p>
        </p:txBody>
      </p:sp>
      <p:sp>
        <p:nvSpPr>
          <p:cNvPr id="5" name="Text 3"/>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350" b="1" dirty="0">
                <a:solidFill>
                  <a:srgbClr val="5A5044"/>
                </a:solidFill>
                <a:latin typeface="Calibri" pitchFamily="34" charset="0"/>
                <a:ea typeface="Calibri" pitchFamily="34" charset="-122"/>
                <a:cs typeface="Calibri" pitchFamily="34" charset="-120"/>
              </a:rPr>
              <a:t>Tauscht die Hefter. Prüft die Urteile eures Partners mit der Checkliste und schreibt einen Tipp darunter.</a:t>
            </a:r>
            <a:endParaRPr lang="en-US" sz="1350" dirty="0"/>
          </a:p>
        </p:txBody>
      </p:sp>
      <p:sp>
        <p:nvSpPr>
          <p:cNvPr id="6" name="Text 4"/>
          <p:cNvSpPr txBox="1"/>
          <p:nvPr/>
        </p:nvSpPr>
        <p:spPr>
          <a:xfrm>
            <a:off x="457200" y="1783080"/>
            <a:ext cx="40233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1500" b="1" dirty="0">
                <a:solidFill>
                  <a:srgbClr val="2B2318"/>
                </a:solidFill>
                <a:latin typeface="Calibri" pitchFamily="34" charset="0"/>
                <a:ea typeface="Calibri" pitchFamily="34" charset="-122"/>
                <a:cs typeface="Calibri" pitchFamily="34" charset="-120"/>
              </a:rPr>
              <a:t>Sachurteil</a:t>
            </a:r>
            <a:endParaRPr lang="en-US" sz="1500" dirty="0"/>
          </a:p>
        </p:txBody>
      </p:sp>
      <p:sp>
        <p:nvSpPr>
          <p:cNvPr id="7" name="Shape 5"/>
          <p:cNvSpPr/>
          <p:nvPr/>
        </p:nvSpPr>
        <p:spPr>
          <a:xfrm>
            <a:off x="457200" y="2286000"/>
            <a:ext cx="4023360" cy="2103120"/>
          </a:xfrm>
          <a:prstGeom prst="roundRect">
            <a:avLst>
              <a:gd name="adj" fmla="val 3478"/>
            </a:avLst>
          </a:prstGeom>
          <a:solidFill>
            <a:srgbClr val="F4ECDE"/>
          </a:solidFill>
          <a:ln w="12700">
            <a:solidFill>
              <a:srgbClr val="F4ECDE"/>
            </a:solidFill>
            <a:prstDash val="solid"/>
          </a:ln>
        </p:spPr>
      </p:sp>
      <p:sp>
        <p:nvSpPr>
          <p:cNvPr id="8" name="Shape 6"/>
          <p:cNvSpPr/>
          <p:nvPr/>
        </p:nvSpPr>
        <p:spPr>
          <a:xfrm>
            <a:off x="685800" y="2505456"/>
            <a:ext cx="256032" cy="256032"/>
          </a:xfrm>
          <a:prstGeom prst="roundRect">
            <a:avLst>
              <a:gd name="adj" fmla="val 14286"/>
            </a:avLst>
          </a:prstGeom>
          <a:solidFill>
            <a:srgbClr val="FFFFFF"/>
          </a:solidFill>
          <a:ln w="19050">
            <a:solidFill>
              <a:srgbClr val="D9A441"/>
            </a:solidFill>
            <a:prstDash val="solid"/>
          </a:ln>
        </p:spPr>
      </p:sp>
      <p:sp>
        <p:nvSpPr>
          <p:cNvPr id="9" name="Text 7"/>
          <p:cNvSpPr txBox="1"/>
          <p:nvPr/>
        </p:nvSpPr>
        <p:spPr>
          <a:xfrm>
            <a:off x="1097280" y="2450592"/>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klare Position (eher demokratisch / timokratisch)</a:t>
            </a:r>
            <a:endParaRPr lang="en-US" sz="1300" dirty="0"/>
          </a:p>
        </p:txBody>
      </p:sp>
      <p:sp>
        <p:nvSpPr>
          <p:cNvPr id="10" name="Shape 8"/>
          <p:cNvSpPr/>
          <p:nvPr/>
        </p:nvSpPr>
        <p:spPr>
          <a:xfrm>
            <a:off x="685800" y="3127248"/>
            <a:ext cx="256032" cy="256032"/>
          </a:xfrm>
          <a:prstGeom prst="roundRect">
            <a:avLst>
              <a:gd name="adj" fmla="val 14286"/>
            </a:avLst>
          </a:prstGeom>
          <a:solidFill>
            <a:srgbClr val="FFFFFF"/>
          </a:solidFill>
          <a:ln w="19050">
            <a:solidFill>
              <a:srgbClr val="D9A441"/>
            </a:solidFill>
            <a:prstDash val="solid"/>
          </a:ln>
        </p:spPr>
      </p:sp>
      <p:sp>
        <p:nvSpPr>
          <p:cNvPr id="11" name="Text 9"/>
          <p:cNvSpPr txBox="1"/>
          <p:nvPr/>
        </p:nvSpPr>
        <p:spPr>
          <a:xfrm>
            <a:off x="1097280" y="3072384"/>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mit Belegen aus dem Bürgeramt</a:t>
            </a:r>
            <a:endParaRPr lang="en-US" sz="1300" dirty="0"/>
          </a:p>
        </p:txBody>
      </p:sp>
      <p:sp>
        <p:nvSpPr>
          <p:cNvPr id="12" name="Shape 10"/>
          <p:cNvSpPr/>
          <p:nvPr/>
        </p:nvSpPr>
        <p:spPr>
          <a:xfrm>
            <a:off x="685800" y="3749040"/>
            <a:ext cx="256032" cy="256032"/>
          </a:xfrm>
          <a:prstGeom prst="roundRect">
            <a:avLst>
              <a:gd name="adj" fmla="val 14286"/>
            </a:avLst>
          </a:prstGeom>
          <a:solidFill>
            <a:srgbClr val="FFFFFF"/>
          </a:solidFill>
          <a:ln w="19050">
            <a:solidFill>
              <a:srgbClr val="D9A441"/>
            </a:solidFill>
            <a:prstDash val="solid"/>
          </a:ln>
        </p:spPr>
      </p:sp>
      <p:sp>
        <p:nvSpPr>
          <p:cNvPr id="13" name="Text 11"/>
          <p:cNvSpPr txBox="1"/>
          <p:nvPr/>
        </p:nvSpPr>
        <p:spPr>
          <a:xfrm>
            <a:off x="1097280" y="3694176"/>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aus der damaligen Zeit heraus</a:t>
            </a:r>
            <a:endParaRPr lang="en-US" sz="1300" dirty="0"/>
          </a:p>
        </p:txBody>
      </p:sp>
      <p:sp>
        <p:nvSpPr>
          <p:cNvPr id="14" name="Text 12"/>
          <p:cNvSpPr txBox="1"/>
          <p:nvPr/>
        </p:nvSpPr>
        <p:spPr>
          <a:xfrm>
            <a:off x="4663440" y="1783080"/>
            <a:ext cx="4023360" cy="457200"/>
          </a:xfrm>
          <a:prstGeom prst="roundRect">
            <a:avLst>
              <a:gd name="adj" fmla="val 16000"/>
            </a:avLst>
          </a:prstGeom>
          <a:solidFill>
            <a:srgbClr val="AD442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Werturteil</a:t>
            </a:r>
            <a:endParaRPr lang="en-US" sz="1500" dirty="0"/>
          </a:p>
        </p:txBody>
      </p:sp>
      <p:sp>
        <p:nvSpPr>
          <p:cNvPr id="15" name="Shape 13"/>
          <p:cNvSpPr/>
          <p:nvPr/>
        </p:nvSpPr>
        <p:spPr>
          <a:xfrm>
            <a:off x="4663440" y="2286000"/>
            <a:ext cx="4023360" cy="2103120"/>
          </a:xfrm>
          <a:prstGeom prst="roundRect">
            <a:avLst>
              <a:gd name="adj" fmla="val 3478"/>
            </a:avLst>
          </a:prstGeom>
          <a:solidFill>
            <a:srgbClr val="F4ECDE"/>
          </a:solidFill>
          <a:ln w="12700">
            <a:solidFill>
              <a:srgbClr val="F4ECDE"/>
            </a:solidFill>
            <a:prstDash val="solid"/>
          </a:ln>
        </p:spPr>
      </p:sp>
      <p:sp>
        <p:nvSpPr>
          <p:cNvPr id="16" name="Shape 14"/>
          <p:cNvSpPr/>
          <p:nvPr/>
        </p:nvSpPr>
        <p:spPr>
          <a:xfrm>
            <a:off x="4892040" y="2505456"/>
            <a:ext cx="256032" cy="256032"/>
          </a:xfrm>
          <a:prstGeom prst="roundRect">
            <a:avLst>
              <a:gd name="adj" fmla="val 14286"/>
            </a:avLst>
          </a:prstGeom>
          <a:solidFill>
            <a:srgbClr val="FFFFFF"/>
          </a:solidFill>
          <a:ln w="19050">
            <a:solidFill>
              <a:srgbClr val="AD4426"/>
            </a:solidFill>
            <a:prstDash val="solid"/>
          </a:ln>
        </p:spPr>
      </p:sp>
      <p:sp>
        <p:nvSpPr>
          <p:cNvPr id="17" name="Text 15"/>
          <p:cNvSpPr txBox="1"/>
          <p:nvPr/>
        </p:nvSpPr>
        <p:spPr>
          <a:xfrm>
            <a:off x="5303520" y="2450592"/>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Maßstab genannt</a:t>
            </a:r>
            <a:endParaRPr lang="en-US" sz="1300" dirty="0"/>
          </a:p>
        </p:txBody>
      </p:sp>
      <p:sp>
        <p:nvSpPr>
          <p:cNvPr id="18" name="Shape 16"/>
          <p:cNvSpPr/>
          <p:nvPr/>
        </p:nvSpPr>
        <p:spPr>
          <a:xfrm>
            <a:off x="4892040" y="3127248"/>
            <a:ext cx="256032" cy="256032"/>
          </a:xfrm>
          <a:prstGeom prst="roundRect">
            <a:avLst>
              <a:gd name="adj" fmla="val 14286"/>
            </a:avLst>
          </a:prstGeom>
          <a:solidFill>
            <a:srgbClr val="FFFFFF"/>
          </a:solidFill>
          <a:ln w="19050">
            <a:solidFill>
              <a:srgbClr val="AD4426"/>
            </a:solidFill>
            <a:prstDash val="solid"/>
          </a:ln>
        </p:spPr>
      </p:sp>
      <p:sp>
        <p:nvSpPr>
          <p:cNvPr id="19" name="Text 17"/>
          <p:cNvSpPr txBox="1"/>
          <p:nvPr/>
        </p:nvSpPr>
        <p:spPr>
          <a:xfrm>
            <a:off x="5303520" y="3072384"/>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begründet, mit Beispiel</a:t>
            </a:r>
            <a:endParaRPr lang="en-US" sz="1300" dirty="0"/>
          </a:p>
        </p:txBody>
      </p:sp>
      <p:sp>
        <p:nvSpPr>
          <p:cNvPr id="20" name="Shape 18"/>
          <p:cNvSpPr/>
          <p:nvPr/>
        </p:nvSpPr>
        <p:spPr>
          <a:xfrm>
            <a:off x="4892040" y="3749040"/>
            <a:ext cx="256032" cy="256032"/>
          </a:xfrm>
          <a:prstGeom prst="roundRect">
            <a:avLst>
              <a:gd name="adj" fmla="val 14286"/>
            </a:avLst>
          </a:prstGeom>
          <a:solidFill>
            <a:srgbClr val="FFFFFF"/>
          </a:solidFill>
          <a:ln w="19050">
            <a:solidFill>
              <a:srgbClr val="AD4426"/>
            </a:solidFill>
            <a:prstDash val="solid"/>
          </a:ln>
        </p:spPr>
      </p:sp>
      <p:sp>
        <p:nvSpPr>
          <p:cNvPr id="21" name="Text 19"/>
          <p:cNvSpPr txBox="1"/>
          <p:nvPr/>
        </p:nvSpPr>
        <p:spPr>
          <a:xfrm>
            <a:off x="5303520" y="3694176"/>
            <a:ext cx="3246120" cy="384048"/>
          </a:xfrm>
          <a:prstGeom prst="rect">
            <a:avLst/>
          </a:prstGeom>
          <a:noFill/>
          <a:ln/>
        </p:spPr>
        <p:txBody>
          <a:bodyPr wrap="square" lIns="0" tIns="0" rIns="0" bIns="0" rtlCol="0" anchor="ctr"/>
          <a:lstStyle/>
          <a:p>
            <a:pPr indent="0" marL="0">
              <a:buNone/>
            </a:pPr>
            <a:r>
              <a:rPr lang="en-US" sz="1300" dirty="0">
                <a:solidFill>
                  <a:srgbClr val="2B2318"/>
                </a:solidFill>
                <a:latin typeface="Calibri" pitchFamily="34" charset="0"/>
                <a:ea typeface="Calibri" pitchFamily="34" charset="-122"/>
                <a:cs typeface="Calibri" pitchFamily="34" charset="-120"/>
              </a:rPr>
              <a:t>erkennbar heutige Sicht („Ich halte …“)</a:t>
            </a:r>
            <a:endParaRPr lang="en-US" sz="1300" dirty="0"/>
          </a:p>
        </p:txBody>
      </p:sp>
      <p:sp>
        <p:nvSpPr>
          <p:cNvPr id="22" name="Text 20"/>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23" name="Text 21"/>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766560" cy="228600"/>
          </a:xfrm>
          <a:prstGeom prst="rect">
            <a:avLst/>
          </a:prstGeom>
          <a:noFill/>
          <a:ln/>
        </p:spPr>
        <p:txBody>
          <a:bodyPr wrap="square" lIns="0" tIns="0" rIns="0" bIns="0" rtlCol="0" anchor="t"/>
          <a:lstStyle/>
          <a:p>
            <a:pPr indent="0" marL="0">
              <a:buNone/>
            </a:pPr>
            <a:r>
              <a:rPr lang="en-US" sz="1100" b="1" spc="200" kern="0" dirty="0">
                <a:solidFill>
                  <a:srgbClr val="AD4426"/>
                </a:solidFill>
                <a:latin typeface="Calibri" pitchFamily="34" charset="0"/>
                <a:ea typeface="Calibri" pitchFamily="34" charset="-122"/>
                <a:cs typeface="Calibri" pitchFamily="34" charset="-120"/>
              </a:rPr>
              <a:t>WERTURTEIL · BEISPIELE</a:t>
            </a:r>
            <a:endParaRPr lang="en-US" sz="1100" dirty="0"/>
          </a:p>
        </p:txBody>
      </p:sp>
      <p:sp>
        <p:nvSpPr>
          <p:cNvPr id="3" name="Text 1"/>
          <p:cNvSpPr txBox="1"/>
          <p:nvPr/>
        </p:nvSpPr>
        <p:spPr>
          <a:xfrm>
            <a:off x="457200" y="548640"/>
            <a:ext cx="8229600" cy="594360"/>
          </a:xfrm>
          <a:prstGeom prst="rect">
            <a:avLst/>
          </a:prstGeom>
          <a:noFill/>
          <a:ln/>
        </p:spPr>
        <p:txBody>
          <a:bodyPr wrap="square" lIns="0" tIns="0" rIns="0" bIns="0" rtlCol="0" anchor="t"/>
          <a:lstStyle/>
          <a:p>
            <a:pPr indent="0" marL="0">
              <a:buNone/>
            </a:pPr>
            <a:r>
              <a:rPr lang="en-US" sz="2800" b="1" dirty="0">
                <a:solidFill>
                  <a:srgbClr val="2B2318"/>
                </a:solidFill>
                <a:latin typeface="Cambria" pitchFamily="34" charset="0"/>
                <a:ea typeface="Cambria" pitchFamily="34" charset="-122"/>
                <a:cs typeface="Cambria" pitchFamily="34" charset="-120"/>
              </a:rPr>
              <a:t>Verschiedene Urteile – beide gelungen</a:t>
            </a:r>
            <a:endParaRPr lang="en-US" sz="2800" dirty="0"/>
          </a:p>
        </p:txBody>
      </p:sp>
      <p:sp>
        <p:nvSpPr>
          <p:cNvPr id="4" name="Text 2"/>
          <p:cNvSpPr txBox="1"/>
          <p:nvPr/>
        </p:nvSpPr>
        <p:spPr>
          <a:xfrm>
            <a:off x="7315200" y="347472"/>
            <a:ext cx="1371600" cy="292608"/>
          </a:xfrm>
          <a:prstGeom prst="roundRect">
            <a:avLst>
              <a:gd name="adj" fmla="val 31250"/>
            </a:avLst>
          </a:prstGeom>
          <a:solidFill>
            <a:srgbClr val="D9A441"/>
          </a:solidFill>
          <a:ln/>
        </p:spPr>
        <p:txBody>
          <a:bodyPr wrap="square" lIns="25400" tIns="25400" rIns="25400" bIns="25400" rtlCol="0" anchor="ctr"/>
          <a:lstStyle/>
          <a:p>
            <a:pPr algn="ctr" indent="0" marL="0">
              <a:buNone/>
            </a:pPr>
            <a:r>
              <a:rPr lang="en-US" sz="1100" b="1" dirty="0">
                <a:solidFill>
                  <a:srgbClr val="2B2318"/>
                </a:solidFill>
                <a:latin typeface="Calibri" pitchFamily="34" charset="0"/>
                <a:ea typeface="Calibri" pitchFamily="34" charset="-122"/>
                <a:cs typeface="Calibri" pitchFamily="34" charset="-120"/>
              </a:rPr>
              <a:t>Lösung</a:t>
            </a:r>
            <a:endParaRPr lang="en-US" sz="1100" dirty="0"/>
          </a:p>
        </p:txBody>
      </p:sp>
      <p:sp>
        <p:nvSpPr>
          <p:cNvPr id="5" name="Shape 3"/>
          <p:cNvSpPr/>
          <p:nvPr/>
        </p:nvSpPr>
        <p:spPr>
          <a:xfrm>
            <a:off x="457200" y="1188720"/>
            <a:ext cx="4023360" cy="2514600"/>
          </a:xfrm>
          <a:prstGeom prst="roundRect">
            <a:avLst>
              <a:gd name="adj" fmla="val 2909"/>
            </a:avLst>
          </a:prstGeom>
          <a:solidFill>
            <a:srgbClr val="F4ECDE"/>
          </a:solidFill>
          <a:ln w="12700">
            <a:solidFill>
              <a:srgbClr val="F4ECDE"/>
            </a:solidFill>
            <a:prstDash val="solid"/>
          </a:ln>
        </p:spPr>
      </p:sp>
      <p:sp>
        <p:nvSpPr>
          <p:cNvPr id="6" name="Text 4"/>
          <p:cNvSpPr txBox="1"/>
          <p:nvPr/>
        </p:nvSpPr>
        <p:spPr>
          <a:xfrm>
            <a:off x="685800" y="1280160"/>
            <a:ext cx="3566160" cy="36576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Maßstab 1: Gleichheit</a:t>
            </a:r>
            <a:endParaRPr lang="en-US" sz="1500" dirty="0"/>
          </a:p>
        </p:txBody>
      </p:sp>
      <p:sp>
        <p:nvSpPr>
          <p:cNvPr id="7" name="Text 5"/>
          <p:cNvSpPr txBox="1"/>
          <p:nvPr/>
        </p:nvSpPr>
        <p:spPr>
          <a:xfrm>
            <a:off x="685800" y="1691640"/>
            <a:ext cx="3611880" cy="192024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„Gemessen an der Gleichheit halte ich Solons Verfassung für keine Verfassung für alle Bürger, weil arme Bürger wie Lykon (Anliegen 1) zwar abstimmen, aber nie ein Amt übernehmen konnten. Frauen wie Thessale (Anliegen 6) waren ganz ausgeschlossen.“</a:t>
            </a:r>
            <a:endParaRPr lang="en-US" sz="1300" dirty="0"/>
          </a:p>
        </p:txBody>
      </p:sp>
      <p:sp>
        <p:nvSpPr>
          <p:cNvPr id="8" name="Shape 6"/>
          <p:cNvSpPr/>
          <p:nvPr/>
        </p:nvSpPr>
        <p:spPr>
          <a:xfrm>
            <a:off x="4663440" y="1188720"/>
            <a:ext cx="4023360" cy="2514600"/>
          </a:xfrm>
          <a:prstGeom prst="roundRect">
            <a:avLst>
              <a:gd name="adj" fmla="val 2909"/>
            </a:avLst>
          </a:prstGeom>
          <a:solidFill>
            <a:srgbClr val="F4ECDE"/>
          </a:solidFill>
          <a:ln w="12700">
            <a:solidFill>
              <a:srgbClr val="F4ECDE"/>
            </a:solidFill>
            <a:prstDash val="solid"/>
          </a:ln>
        </p:spPr>
      </p:sp>
      <p:sp>
        <p:nvSpPr>
          <p:cNvPr id="9" name="Text 7"/>
          <p:cNvSpPr txBox="1"/>
          <p:nvPr/>
        </p:nvSpPr>
        <p:spPr>
          <a:xfrm>
            <a:off x="4892040" y="1280160"/>
            <a:ext cx="3566160" cy="365760"/>
          </a:xfrm>
          <a:prstGeom prst="rect">
            <a:avLst/>
          </a:prstGeom>
          <a:noFill/>
          <a:ln/>
        </p:spPr>
        <p:txBody>
          <a:bodyPr wrap="square" lIns="0" tIns="0" rIns="0" bIns="0" rtlCol="0" anchor="t"/>
          <a:lstStyle/>
          <a:p>
            <a:pPr indent="0" marL="0">
              <a:buNone/>
            </a:pPr>
            <a:r>
              <a:rPr lang="en-US" sz="1500" b="1" dirty="0">
                <a:solidFill>
                  <a:srgbClr val="AD4426"/>
                </a:solidFill>
                <a:latin typeface="Cambria" pitchFamily="34" charset="0"/>
                <a:ea typeface="Cambria" pitchFamily="34" charset="-122"/>
                <a:cs typeface="Cambria" pitchFamily="34" charset="-120"/>
              </a:rPr>
              <a:t>Maßstab 2: Leistung</a:t>
            </a:r>
            <a:endParaRPr lang="en-US" sz="1500" dirty="0"/>
          </a:p>
        </p:txBody>
      </p:sp>
      <p:sp>
        <p:nvSpPr>
          <p:cNvPr id="10" name="Text 8"/>
          <p:cNvSpPr txBox="1"/>
          <p:nvPr/>
        </p:nvSpPr>
        <p:spPr>
          <a:xfrm>
            <a:off x="4892040" y="1691640"/>
            <a:ext cx="3611880" cy="1920240"/>
          </a:xfrm>
          <a:prstGeom prst="rect">
            <a:avLst/>
          </a:prstGeom>
          <a:noFill/>
          <a:ln/>
        </p:spPr>
        <p:txBody>
          <a:bodyPr wrap="square" lIns="0" tIns="0" rIns="0" bIns="0" rtlCol="0" anchor="t"/>
          <a:lstStyle/>
          <a:p>
            <a:pPr indent="0" marL="0">
              <a:buNone/>
            </a:pPr>
            <a:r>
              <a:rPr lang="en-US" sz="1300" i="1" dirty="0">
                <a:solidFill>
                  <a:srgbClr val="2B2318"/>
                </a:solidFill>
                <a:latin typeface="Calibri" pitchFamily="34" charset="0"/>
                <a:ea typeface="Calibri" pitchFamily="34" charset="-122"/>
                <a:cs typeface="Calibri" pitchFamily="34" charset="-120"/>
              </a:rPr>
              <a:t>„Gemessen an der Leistung halte ich sie für teilweise eine Verfassung für alle Bürger, weil jeder durch Besitz aufsteigen konnte wie Kallippos (Anliegen 9) – die Herkunft zählte nicht mehr. Wer arm blieb, kam aber an kein Amt.“</a:t>
            </a:r>
            <a:endParaRPr lang="en-US" sz="1300" dirty="0"/>
          </a:p>
        </p:txBody>
      </p:sp>
      <p:sp>
        <p:nvSpPr>
          <p:cNvPr id="11" name="Shape 9"/>
          <p:cNvSpPr/>
          <p:nvPr/>
        </p:nvSpPr>
        <p:spPr>
          <a:xfrm>
            <a:off x="457200" y="3886200"/>
            <a:ext cx="8229600" cy="640080"/>
          </a:xfrm>
          <a:prstGeom prst="roundRect">
            <a:avLst>
              <a:gd name="adj" fmla="val 11429"/>
            </a:avLst>
          </a:prstGeom>
          <a:solidFill>
            <a:srgbClr val="2B2318"/>
          </a:solidFill>
          <a:ln w="12700">
            <a:solidFill>
              <a:srgbClr val="2B2318"/>
            </a:solidFill>
            <a:prstDash val="solid"/>
          </a:ln>
        </p:spPr>
      </p:sp>
      <p:sp>
        <p:nvSpPr>
          <p:cNvPr id="12" name="Text 10"/>
          <p:cNvSpPr txBox="1"/>
          <p:nvPr/>
        </p:nvSpPr>
        <p:spPr>
          <a:xfrm>
            <a:off x="685800" y="3886200"/>
            <a:ext cx="7772400" cy="640080"/>
          </a:xfrm>
          <a:prstGeom prst="rect">
            <a:avLst/>
          </a:prstGeom>
          <a:noFill/>
          <a:ln/>
        </p:spPr>
        <p:txBody>
          <a:bodyPr wrap="square" lIns="0" tIns="0" rIns="0" bIns="0" rtlCol="0" anchor="ctr"/>
          <a:lstStyle/>
          <a:p>
            <a:pPr indent="0" marL="0">
              <a:buNone/>
            </a:pPr>
            <a:r>
              <a:rPr lang="en-US" sz="1400" b="1" dirty="0">
                <a:solidFill>
                  <a:srgbClr val="D9A441"/>
                </a:solidFill>
                <a:latin typeface="Calibri" pitchFamily="34" charset="0"/>
                <a:ea typeface="Calibri" pitchFamily="34" charset="-122"/>
                <a:cs typeface="Calibri" pitchFamily="34" charset="-120"/>
              </a:rPr>
              <a:t>Unterschiedliche Werturteile sind erlaubt – wenn der Maßstab genannt und das Urteil begründet ist.</a:t>
            </a:r>
            <a:endParaRPr lang="en-US" sz="1400" dirty="0"/>
          </a:p>
        </p:txBody>
      </p:sp>
      <p:sp>
        <p:nvSpPr>
          <p:cNvPr id="13" name="Text 11"/>
          <p:cNvSpPr txBox="1"/>
          <p:nvPr/>
        </p:nvSpPr>
        <p:spPr>
          <a:xfrm>
            <a:off x="457200" y="4754880"/>
            <a:ext cx="4572000" cy="182880"/>
          </a:xfrm>
          <a:prstGeom prst="rect">
            <a:avLst/>
          </a:prstGeom>
          <a:noFill/>
          <a:ln/>
        </p:spPr>
        <p:txBody>
          <a:bodyPr wrap="square" lIns="0" tIns="0" rIns="0" bIns="0" rtlCol="0" anchor="t"/>
          <a:lstStyle/>
          <a:p>
            <a:pPr indent="0" marL="0">
              <a:buNone/>
            </a:pPr>
            <a:r>
              <a:rPr lang="en-US" sz="900" dirty="0">
                <a:solidFill>
                  <a:srgbClr val="998C77"/>
                </a:solidFill>
                <a:latin typeface="Calibri" pitchFamily="34" charset="0"/>
                <a:ea typeface="Calibri" pitchFamily="34" charset="-122"/>
                <a:cs typeface="Calibri" pitchFamily="34" charset="-120"/>
              </a:rPr>
              <a:t>Bürgeramt Athen</a:t>
            </a:r>
            <a:endParaRPr lang="en-US" sz="900" dirty="0"/>
          </a:p>
        </p:txBody>
      </p:sp>
      <p:sp>
        <p:nvSpPr>
          <p:cNvPr id="14" name="Text 12"/>
          <p:cNvSpPr txBox="1"/>
          <p:nvPr/>
        </p:nvSpPr>
        <p:spPr>
          <a:xfrm>
            <a:off x="8229600" y="4754880"/>
            <a:ext cx="457200" cy="182880"/>
          </a:xfrm>
          <a:prstGeom prst="rect">
            <a:avLst/>
          </a:prstGeom>
          <a:noFill/>
          <a:ln/>
        </p:spPr>
        <p:txBody>
          <a:bodyPr wrap="square" lIns="0" tIns="0" rIns="0" bIns="0" rtlCol="0" anchor="t"/>
          <a:lstStyle/>
          <a:p>
            <a:pPr algn="r" indent="0" marL="0">
              <a:buNone/>
            </a:pPr>
            <a:r>
              <a:rPr lang="en-US" sz="900" dirty="0">
                <a:solidFill>
                  <a:srgbClr val="998C77"/>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Bürgeramt Athen</dc:title>
  <dc:subject>PptxGenJS Presentation</dc:subject>
  <dc:creator>PptxGenJS</dc:creator>
  <cp:lastModifiedBy>PptxGenJS</cp:lastModifiedBy>
  <cp:revision>1</cp:revision>
  <dcterms:created xsi:type="dcterms:W3CDTF">2026-10-07T09:16:52Z</dcterms:created>
  <dcterms:modified xsi:type="dcterms:W3CDTF">2026-10-07T09:16:52Z</dcterms:modified>
</cp:coreProperties>
</file>