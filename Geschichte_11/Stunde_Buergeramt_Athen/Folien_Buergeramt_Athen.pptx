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 wortlos zeigen. 1 Minute zu zweit Fehler suchen,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Bezug zu BM 1: Quelle oder Darstellung. Der Satz in der Sprechblase ist dagegen korrekt – das ist die Überleitung zum Bürgeramt.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Pro Tisch ein Anliegen austeilen (Anliegen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 Min. Herumgehen. Häufige Lücke: nur Ja/Nein ohne Organ oder Klasse. Nachfragen: Welche Klasse? Wer ist zuständig?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12–27 Min. Reihenfolge 1–9. Pro Anliegen ca. 1½ Min. Bei falscher Entscheidung nicht selbst korrigieren, sondern fragen: „Stimmt ihr zu? Schaut ins Schaubild.“ Die Folie kann auf das Whiteboard projiziert werden, sodass die Beamten direkt hineinschreiben.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Selbstkontrolle der Ergebnistabelle. Kurzer Impuls zu 4 und 7: Der verarmte Adlige wird abgelehnt, der reiche Töpfersohn genehmigt – Besitz statt Herkunft.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 Min. Erst danach die Lösung zeigen. Das Blatt kommt in den Hefter; eingesammelt zeigt es, wer das Schaubild verstanden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 Min. Selbstkontrolle, kein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40–41 Min. Ergebnis kurz an der Tafel notieren. Erwartung: Die meisten sagen Nein (Geld statt Blut).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Partnerarbeit, kein Plenum – die Lösung kommt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 Min. Vergleich mit der Daumenabfrage: Die meisten haben Nein gesagt – die Hälfte der Merkmale ist aber demokratisch.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46–52 Min. Urteilsblatt austeilen, Einzelarbeit. Danach vergleicht jeder still mit dem Beispiel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52–53 Min. Nicht korrigieren lassen – das Feedback kommt nach dem Werturteil. Auch „eher demokratisch“ ist mit Belegen vertretbar.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53–60 Min. Alle beantworten dieselbe Frage, jeder wählt seinen Maßstab selbst. Das Urteilsblatt wird am Ende eingesammelt – so siehst du, wie sicher die Klasse Sach- und Werturteil inzwischen beherrscht.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60–65 Min. Herumgehen und mitlesen: Welche Punkte fehlen häufig? Zwei Blätter für die nächste Folie merken – eines, das gut gelungen ist, und eines mit typischem Fehler (vorher fragen, ob vorgelesen werden darf).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65–70 Min. Optional vorher zwei Schülerurteile vorlesen (gelungen / zu verbessern) und kurz an der Checkliste messen. Danach Urteilsblätter einsammeln. Anschließend: Klausurvorbereitung.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Bürgeramt Athen</a:t>
            </a:r>
            <a:endParaRPr lang="en-US" sz="40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594 v. Chr. – Solons neue Ordnung gilt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E"/>
        </a:solidFill>
      </p:bgPr>
    </p:bg>
    <p:spTree>
      <p:nvGrpSpPr>
        <p:cNvPr id="1" name=""/>
        <p:cNvGrpSpPr/>
        <p:nvPr/>
      </p:nvGrpSpPr>
      <p:grpSpPr>
        <a:xfrm>
          <a:off x="0" y="0"/>
          <a:ext cx="0" cy="0"/>
          <a:chOff x="0" y="0"/>
          <a:chExt cx="0" cy="0"/>
        </a:xfrm>
      </p:grpSpPr>
      <p:pic>
        <p:nvPicPr>
          <p:cNvPr id="2" name="Image 0" descr="/tmp/claude-0/-home-user-Schule/9be99485-7769-5631-81b2-1e426720ceab/scratchpad/beamtin.png">    </p:cNvPr>
          <p:cNvPicPr>
            <a:picLocks noChangeAspect="1"/>
          </p:cNvPicPr>
          <p:nvPr/>
        </p:nvPicPr>
        <p:blipFill>
          <a:blip r:embed="rId1"/>
          <a:stretch>
            <a:fillRect/>
          </a:stretch>
        </p:blipFill>
        <p:spPr>
          <a:xfrm>
            <a:off x="914400" y="0"/>
            <a:ext cx="7315200" cy="4572000"/>
          </a:xfrm>
          <a:prstGeom prst="rect">
            <a:avLst/>
          </a:prstGeom>
        </p:spPr>
      </p:pic>
      <p:sp>
        <p:nvSpPr>
          <p:cNvPr id="3" name="Shape 0"/>
          <p:cNvSpPr/>
          <p:nvPr/>
        </p:nvSpPr>
        <p:spPr>
          <a:xfrm>
            <a:off x="0" y="4572000"/>
            <a:ext cx="9144000" cy="571500"/>
          </a:xfrm>
          <a:prstGeom prst="roundRect">
            <a:avLst>
              <a:gd name="adj" fmla="val 12800"/>
            </a:avLst>
          </a:prstGeom>
          <a:solidFill>
            <a:srgbClr val="2B2318"/>
          </a:solidFill>
          <a:ln w="12700">
            <a:solidFill>
              <a:srgbClr val="2B2318"/>
            </a:solidFill>
            <a:prstDash val="solid"/>
          </a:ln>
        </p:spPr>
      </p:sp>
      <p:sp>
        <p:nvSpPr>
          <p:cNvPr id="4" name="Text 1"/>
          <p:cNvSpPr txBox="1"/>
          <p:nvPr/>
        </p:nvSpPr>
        <p:spPr>
          <a:xfrm>
            <a:off x="365760" y="4572000"/>
            <a:ext cx="6949440" cy="57150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Was stimmt an diesem Bild nicht? Findet drei Fehler.</a:t>
            </a:r>
            <a:endParaRPr lang="en-US" sz="1800" dirty="0"/>
          </a:p>
        </p:txBody>
      </p:sp>
      <p:sp>
        <p:nvSpPr>
          <p:cNvPr id="5" name="Text 2"/>
          <p:cNvSpPr txBox="1"/>
          <p:nvPr/>
        </p:nvSpPr>
        <p:spPr>
          <a:xfrm>
            <a:off x="7589520" y="4700016"/>
            <a:ext cx="1188720" cy="310896"/>
          </a:xfrm>
          <a:prstGeom prst="roundRect">
            <a:avLst>
              <a:gd name="adj" fmla="val 29412"/>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2 Min.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Drei Fehler im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pic>
        <p:nvPicPr>
          <p:cNvPr id="5" name="Image 0" descr="/tmp/claude-0/-home-user-Schule/9be99485-7769-5631-81b2-1e426720ceab/scratchpad/beamtin.png">    </p:cNvPr>
          <p:cNvPicPr>
            <a:picLocks noChangeAspect="1"/>
          </p:cNvPicPr>
          <p:nvPr/>
        </p:nvPicPr>
        <p:blipFill>
          <a:blip r:embed="rId1"/>
          <a:stretch>
            <a:fillRect/>
          </a:stretch>
        </p:blipFill>
        <p:spPr>
          <a:xfrm>
            <a:off x="457200" y="1234440"/>
            <a:ext cx="4206240" cy="2628900"/>
          </a:xfrm>
          <a:prstGeom prst="rect">
            <a:avLst/>
          </a:prstGeom>
        </p:spPr>
      </p:pic>
      <p:sp>
        <p:nvSpPr>
          <p:cNvPr id="6" name="Text 3"/>
          <p:cNvSpPr txBox="1"/>
          <p:nvPr/>
        </p:nvSpPr>
        <p:spPr>
          <a:xfrm>
            <a:off x="4892040" y="13258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5486400" y="12527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Eine Frau als Beamtin</a:t>
            </a:r>
            <a:endParaRPr lang="en-US" sz="1500" dirty="0"/>
          </a:p>
        </p:txBody>
      </p:sp>
      <p:sp>
        <p:nvSpPr>
          <p:cNvPr id="8" name="Text 5"/>
          <p:cNvSpPr txBox="1"/>
          <p:nvPr/>
        </p:nvSpPr>
        <p:spPr>
          <a:xfrm>
            <a:off x="5486400" y="16002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Frauen hatten in Athen keine Ämter und keine politischen Rechte.</a:t>
            </a:r>
            <a:endParaRPr lang="en-US" sz="1200" dirty="0"/>
          </a:p>
        </p:txBody>
      </p:sp>
      <p:sp>
        <p:nvSpPr>
          <p:cNvPr id="9" name="Text 6"/>
          <p:cNvSpPr txBox="1"/>
          <p:nvPr/>
        </p:nvSpPr>
        <p:spPr>
          <a:xfrm>
            <a:off x="4892040" y="22402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7"/>
          <p:cNvSpPr txBox="1"/>
          <p:nvPr/>
        </p:nvSpPr>
        <p:spPr>
          <a:xfrm>
            <a:off x="5486400" y="21671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Die Brille</a:t>
            </a:r>
            <a:endParaRPr lang="en-US" sz="1500" dirty="0"/>
          </a:p>
        </p:txBody>
      </p:sp>
      <p:sp>
        <p:nvSpPr>
          <p:cNvPr id="11" name="Text 8"/>
          <p:cNvSpPr txBox="1"/>
          <p:nvPr/>
        </p:nvSpPr>
        <p:spPr>
          <a:xfrm>
            <a:off x="5486400" y="25146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Brillen gibt es erst seit dem Mittelalter (13. Jh.).</a:t>
            </a:r>
            <a:endParaRPr lang="en-US" sz="1200" dirty="0"/>
          </a:p>
        </p:txBody>
      </p:sp>
      <p:sp>
        <p:nvSpPr>
          <p:cNvPr id="12" name="Text 9"/>
          <p:cNvSpPr txBox="1"/>
          <p:nvPr/>
        </p:nvSpPr>
        <p:spPr>
          <a:xfrm>
            <a:off x="4892040" y="31546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0"/>
          <p:cNvSpPr txBox="1"/>
          <p:nvPr/>
        </p:nvSpPr>
        <p:spPr>
          <a:xfrm>
            <a:off x="5486400" y="30815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Der Kaffee</a:t>
            </a:r>
            <a:endParaRPr lang="en-US" sz="1500" dirty="0"/>
          </a:p>
        </p:txBody>
      </p:sp>
      <p:sp>
        <p:nvSpPr>
          <p:cNvPr id="14" name="Text 11"/>
          <p:cNvSpPr txBox="1"/>
          <p:nvPr/>
        </p:nvSpPr>
        <p:spPr>
          <a:xfrm>
            <a:off x="5486400" y="34290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Kaffee kam erst im 17. Jahrhundert nach Europa.</a:t>
            </a:r>
            <a:endParaRPr lang="en-US" sz="1200" dirty="0"/>
          </a:p>
        </p:txBody>
      </p:sp>
      <p:sp>
        <p:nvSpPr>
          <p:cNvPr id="15" name="Shape 12"/>
          <p:cNvSpPr/>
          <p:nvPr/>
        </p:nvSpPr>
        <p:spPr>
          <a:xfrm>
            <a:off x="457200" y="4069080"/>
            <a:ext cx="8229600" cy="502920"/>
          </a:xfrm>
          <a:prstGeom prst="roundRect">
            <a:avLst>
              <a:gd name="adj" fmla="val 14545"/>
            </a:avLst>
          </a:prstGeom>
          <a:solidFill>
            <a:srgbClr val="2B2318"/>
          </a:solidFill>
          <a:ln w="12700">
            <a:solidFill>
              <a:srgbClr val="2B2318"/>
            </a:solidFill>
            <a:prstDash val="solid"/>
          </a:ln>
        </p:spPr>
      </p:sp>
      <p:sp>
        <p:nvSpPr>
          <p:cNvPr id="16" name="Text 13"/>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Ein Bild ist eine Darstellung, keine Quelle – es kann sich irren. Was aber stimmt: Seit Solon zählt der Besitz.</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EINSTIEG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Willkommen im Bürgeramt!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5" name="Shape 3"/>
          <p:cNvSpPr/>
          <p:nvPr/>
        </p:nvSpPr>
        <p:spPr>
          <a:xfrm>
            <a:off x="457200" y="1234440"/>
            <a:ext cx="8229600" cy="1508760"/>
          </a:xfrm>
          <a:prstGeom prst="roundRect">
            <a:avLst>
              <a:gd name="adj" fmla="val 4848"/>
            </a:avLst>
          </a:prstGeom>
          <a:solidFill>
            <a:srgbClr val="F4ECDE"/>
          </a:solidFill>
          <a:ln w="12700">
            <a:solidFill>
              <a:srgbClr val="F4ECDE"/>
            </a:solidFill>
            <a:prstDash val="solid"/>
          </a:ln>
        </p:spPr>
      </p:sp>
      <p:sp>
        <p:nvSpPr>
          <p:cNvPr id="6" name="Text 4"/>
          <p:cNvSpPr txBox="1"/>
          <p:nvPr/>
        </p:nvSpPr>
        <p:spPr>
          <a:xfrm>
            <a:off x="731520" y="1325880"/>
            <a:ext cx="7680960" cy="1325880"/>
          </a:xfrm>
          <a:prstGeom prst="rect">
            <a:avLst/>
          </a:prstGeom>
          <a:noFill/>
          <a:ln/>
        </p:spPr>
        <p:txBody>
          <a:bodyPr wrap="square" lIns="0" tIns="0" rIns="0" bIns="0" rtlCol="0" anchor="ctr"/>
          <a:lstStyle/>
          <a:p>
            <a:pPr indent="0" marL="0">
              <a:buNone/>
            </a:pPr>
            <a:r>
              <a:rPr lang="en-US" sz="1700" dirty="0">
                <a:solidFill>
                  <a:srgbClr val="2B2318"/>
                </a:solidFill>
                <a:latin typeface="Cambria" pitchFamily="34" charset="0"/>
                <a:ea typeface="Cambria" pitchFamily="34" charset="-122"/>
                <a:cs typeface="Cambria" pitchFamily="34" charset="-120"/>
              </a:rPr>
              <a:t>Athen, 594 v. Chr.: Solons Reform ist beschlossen. Neun Bürger haben Anträge gestellt. Ihr seid die Beamten im Bürgeramt – ihr entscheidet: genehmigt oder abgelehnt?</a:t>
            </a:r>
            <a:endParaRPr lang="en-US" sz="1700" dirty="0"/>
          </a:p>
        </p:txBody>
      </p:sp>
      <p:sp>
        <p:nvSpPr>
          <p:cNvPr id="7" name="Shape 5"/>
          <p:cNvSpPr/>
          <p:nvPr/>
        </p:nvSpPr>
        <p:spPr>
          <a:xfrm>
            <a:off x="457200" y="2971800"/>
            <a:ext cx="2606040" cy="1417320"/>
          </a:xfrm>
          <a:prstGeom prst="roundRect">
            <a:avLst>
              <a:gd name="adj" fmla="val 5161"/>
            </a:avLst>
          </a:prstGeom>
          <a:solidFill>
            <a:srgbClr val="2B2318"/>
          </a:solidFill>
          <a:ln w="12700">
            <a:solidFill>
              <a:srgbClr val="2B2318"/>
            </a:solidFill>
            <a:prstDash val="solid"/>
          </a:ln>
        </p:spPr>
      </p:sp>
      <p:sp>
        <p:nvSpPr>
          <p:cNvPr id="8" name="Text 6"/>
          <p:cNvSpPr txBox="1"/>
          <p:nvPr/>
        </p:nvSpPr>
        <p:spPr>
          <a:xfrm>
            <a:off x="64008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Euer Werkzeug</a:t>
            </a:r>
            <a:endParaRPr lang="en-US" sz="1400" dirty="0"/>
          </a:p>
        </p:txBody>
      </p:sp>
      <p:sp>
        <p:nvSpPr>
          <p:cNvPr id="9" name="Text 7"/>
          <p:cNvSpPr txBox="1"/>
          <p:nvPr/>
        </p:nvSpPr>
        <p:spPr>
          <a:xfrm>
            <a:off x="64008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das Verfassungsschaubild (LB S. 21)</a:t>
            </a:r>
            <a:endParaRPr lang="en-US" sz="1300" dirty="0"/>
          </a:p>
        </p:txBody>
      </p:sp>
      <p:sp>
        <p:nvSpPr>
          <p:cNvPr id="10" name="Shape 8"/>
          <p:cNvSpPr/>
          <p:nvPr/>
        </p:nvSpPr>
        <p:spPr>
          <a:xfrm>
            <a:off x="3246120" y="2971800"/>
            <a:ext cx="2606040" cy="1417320"/>
          </a:xfrm>
          <a:prstGeom prst="roundRect">
            <a:avLst>
              <a:gd name="adj" fmla="val 5161"/>
            </a:avLst>
          </a:prstGeom>
          <a:solidFill>
            <a:srgbClr val="2B2318"/>
          </a:solidFill>
          <a:ln w="12700">
            <a:solidFill>
              <a:srgbClr val="2B2318"/>
            </a:solidFill>
            <a:prstDash val="solid"/>
          </a:ln>
        </p:spPr>
      </p:sp>
      <p:sp>
        <p:nvSpPr>
          <p:cNvPr id="11" name="Text 9"/>
          <p:cNvSpPr txBox="1"/>
          <p:nvPr/>
        </p:nvSpPr>
        <p:spPr>
          <a:xfrm>
            <a:off x="342900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Eure Entscheidung</a:t>
            </a:r>
            <a:endParaRPr lang="en-US" sz="1400" dirty="0"/>
          </a:p>
        </p:txBody>
      </p:sp>
      <p:sp>
        <p:nvSpPr>
          <p:cNvPr id="12" name="Text 10"/>
          <p:cNvSpPr txBox="1"/>
          <p:nvPr/>
        </p:nvSpPr>
        <p:spPr>
          <a:xfrm>
            <a:off x="342900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genehmigt oder abgelehnt – mit Begründung</a:t>
            </a:r>
            <a:endParaRPr lang="en-US" sz="1300" dirty="0"/>
          </a:p>
        </p:txBody>
      </p:sp>
      <p:sp>
        <p:nvSpPr>
          <p:cNvPr id="13" name="Shape 11"/>
          <p:cNvSpPr/>
          <p:nvPr/>
        </p:nvSpPr>
        <p:spPr>
          <a:xfrm>
            <a:off x="6035040" y="2971800"/>
            <a:ext cx="2606040" cy="1417320"/>
          </a:xfrm>
          <a:prstGeom prst="roundRect">
            <a:avLst>
              <a:gd name="adj" fmla="val 5161"/>
            </a:avLst>
          </a:prstGeom>
          <a:solidFill>
            <a:srgbClr val="2B2318"/>
          </a:solidFill>
          <a:ln w="12700">
            <a:solidFill>
              <a:srgbClr val="2B2318"/>
            </a:solidFill>
            <a:prstDash val="solid"/>
          </a:ln>
        </p:spPr>
      </p:sp>
      <p:sp>
        <p:nvSpPr>
          <p:cNvPr id="14" name="Text 12"/>
          <p:cNvSpPr txBox="1"/>
          <p:nvPr/>
        </p:nvSpPr>
        <p:spPr>
          <a:xfrm>
            <a:off x="621792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Am Ende</a:t>
            </a:r>
            <a:endParaRPr lang="en-US" sz="1400" dirty="0"/>
          </a:p>
        </p:txBody>
      </p:sp>
      <p:sp>
        <p:nvSpPr>
          <p:cNvPr id="15" name="Text 13"/>
          <p:cNvSpPr txBox="1"/>
          <p:nvPr/>
        </p:nvSpPr>
        <p:spPr>
          <a:xfrm>
            <a:off x="621792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Buch und Heft zu: Könnt ihr das Schaubild aus dem Kopf?</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1 · AM TISCH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Entscheidet über euer Anliegen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 Min.</a:t>
            </a:r>
            <a:endParaRPr lang="en-US" sz="1100" dirty="0"/>
          </a:p>
        </p:txBody>
      </p:sp>
      <p:sp>
        <p:nvSpPr>
          <p:cNvPr id="5" name="Text 3"/>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Lest das Anliegen auf eurer Karte.</a:t>
            </a:r>
            <a:endParaRPr lang="en-US" sz="1300" dirty="0"/>
          </a:p>
        </p:txBody>
      </p:sp>
      <p:sp>
        <p:nvSpPr>
          <p:cNvPr id="7" name="Text 5"/>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Prüft mit dem Schaubild (LB S. 21): Welche Klasse? Welche Organe sind betroffen?</a:t>
            </a:r>
            <a:endParaRPr lang="en-US" sz="1300" dirty="0"/>
          </a:p>
        </p:txBody>
      </p:sp>
      <p:sp>
        <p:nvSpPr>
          <p:cNvPr id="9" name="Text 7"/>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Entscheidet: genehmigt oder abgelehnt?</a:t>
            </a:r>
            <a:endParaRPr lang="en-US" sz="1300" dirty="0"/>
          </a:p>
        </p:txBody>
      </p:sp>
      <p:sp>
        <p:nvSpPr>
          <p:cNvPr id="11" name="Text 9"/>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schreibt die Entscheidung mit Begründung ins Heft.</a:t>
            </a:r>
            <a:endParaRPr lang="en-US" sz="1300" dirty="0"/>
          </a:p>
        </p:txBody>
      </p:sp>
      <p:sp>
        <p:nvSpPr>
          <p:cNvPr id="13" name="Text 11"/>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Bestimmt einen „Beamten“, der eure Entscheidung an der Tafel einträgt und begründet.</a:t>
            </a:r>
            <a:endParaRPr lang="en-US" sz="1300" dirty="0"/>
          </a:p>
        </p:txBody>
      </p:sp>
      <p:sp>
        <p:nvSpPr>
          <p:cNvPr id="15" name="Shape 13"/>
          <p:cNvSpPr/>
          <p:nvPr/>
        </p:nvSpPr>
        <p:spPr>
          <a:xfrm>
            <a:off x="5806440" y="1234440"/>
            <a:ext cx="2880360" cy="3154680"/>
          </a:xfrm>
          <a:prstGeom prst="roundRect">
            <a:avLst>
              <a:gd name="adj" fmla="val 2540"/>
            </a:avLst>
          </a:prstGeom>
          <a:solidFill>
            <a:srgbClr val="2B2318"/>
          </a:solidFill>
          <a:ln w="12700">
            <a:solidFill>
              <a:srgbClr val="2B2318"/>
            </a:solidFill>
            <a:prstDash val="solid"/>
          </a:ln>
        </p:spPr>
      </p:sp>
      <p:sp>
        <p:nvSpPr>
          <p:cNvPr id="16" name="Text 14"/>
          <p:cNvSpPr txBox="1"/>
          <p:nvPr/>
        </p:nvSpPr>
        <p:spPr>
          <a:xfrm>
            <a:off x="5989320" y="1344168"/>
            <a:ext cx="2560320" cy="320040"/>
          </a:xfrm>
          <a:prstGeom prst="rect">
            <a:avLst/>
          </a:prstGeom>
          <a:noFill/>
          <a:ln/>
        </p:spPr>
        <p:txBody>
          <a:bodyPr wrap="square" lIns="0" tIns="0" rIns="0" bIns="0" rtlCol="0" anchor="t"/>
          <a:lstStyle/>
          <a:p>
            <a:pPr indent="0" marL="0">
              <a:buNone/>
            </a:pPr>
            <a:r>
              <a:rPr lang="en-US" sz="1500" b="1" dirty="0">
                <a:solidFill>
                  <a:srgbClr val="D9A441"/>
                </a:solidFill>
                <a:latin typeface="Cambria" pitchFamily="34" charset="0"/>
                <a:ea typeface="Cambria" pitchFamily="34" charset="-122"/>
                <a:cs typeface="Cambria" pitchFamily="34" charset="-120"/>
              </a:rPr>
              <a:t>So schreibt ihr</a:t>
            </a:r>
            <a:endParaRPr lang="en-US" sz="1500" dirty="0"/>
          </a:p>
        </p:txBody>
      </p:sp>
      <p:sp>
        <p:nvSpPr>
          <p:cNvPr id="17" name="Text 15"/>
          <p:cNvSpPr txBox="1"/>
          <p:nvPr/>
        </p:nvSpPr>
        <p:spPr>
          <a:xfrm>
            <a:off x="5989320" y="1783080"/>
            <a:ext cx="2560320" cy="246888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„Der Antrag von … wird genehmigt / abgelehnt, weil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Er gehört zur … Klasse. Deshalb darf er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Zuständig ist … (Organ).“</a:t>
            </a:r>
            <a:endParaRPr lang="en-US" sz="1300" dirty="0"/>
          </a:p>
        </p:txBody>
      </p:sp>
      <p:sp>
        <p:nvSpPr>
          <p:cNvPr id="18" name="Text 16"/>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9" name="Text 17"/>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TAFEL · ERGEBNISTABELLE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Text 3"/>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250" b="1" dirty="0">
                <a:solidFill>
                  <a:srgbClr val="5A5044"/>
                </a:solidFill>
                <a:latin typeface="Calibri" pitchFamily="34" charset="0"/>
                <a:ea typeface="Calibri" pitchFamily="34" charset="-122"/>
                <a:cs typeface="Calibri" pitchFamily="34" charset="-120"/>
              </a:rPr>
              <a:t>Die Beamten tragen ein und begründen in einem Satz. Alle füllen ihre Ergebnistabelle aus.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65760"/>
                <a:gridCol w="2514600"/>
                <a:gridCol w="365760"/>
                <a:gridCol w="365760"/>
                <a:gridCol w="461772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Lykon (Thete)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Demeas will gegen einen Beamten klagen.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Kleitos (Ritter) will in den Rat der 400.</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Megakles (Adliger, 150 Scheffel)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Philon (ehem. Archont) will in den Areopag.</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Nikon (Thete) will über einen Krieg mitentscheiden.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Kallippos (Hoplit, jetzt 520 Scheffel) will in die 1. Klasse.</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320040"/>
                <a:gridCol w="2103120"/>
                <a:gridCol w="320040"/>
                <a:gridCol w="320040"/>
                <a:gridCol w="516636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Lykon (Thete)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Nur die 1. Klasse (ab 500 Scheffel) kann Archont werden. Theten dürfen nur wählen, nicht gewählt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Demeas will gegen einen Beamten klagen.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Jeder Bürger darf klagen – vor der Volksversammlung oder dem Geschworenengericht. Die Volksversammlung entscheidet über Klagen gegen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Kleitos (Ritter) will in den Rat der 400.</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Die Klassen 1–3 können in den Rat der 400 gewählt werden. Gewählt wird er von den Phylen.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Megakles (Adliger, 150 Scheffel)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Seit Solon zählt der Besitz, nicht die Herkunft. Mit 150 Scheffeln gehört er zu den Theten.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Philon (ehem. Archont) will in den Areopag.</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Ehemalige Archonten werden Mitglied im Areopag. Er beaufsichtigt Verfassung und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Zur Volksversammlung gehören nur männliche Bürger über 20. Frauen haben keine politischen Rechte.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Sein Einkommen entspricht über 500 Scheffeln, also gehört er zur 1. Klasse. Die Herkunft zählt nicht mehr.</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Nikon (Thete) will über einen Krieg mitentscheiden.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Alle Bürger über 20 stimmen in der Volksversammlung über Krieg und Frieden ab. Der Rat der 400 bereitet vor, die Archonten führen aus.</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Kallippos (Hoplit, jetzt 520 Scheffel) will in die 1. Klasse.</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Der Besitz entscheidet: Mit über 500 Scheffeln steigt er in die 1. Klasse auf und kann jetzt Archont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Shape 3"/>
          <p:cNvSpPr/>
          <p:nvPr/>
        </p:nvSpPr>
        <p:spPr>
          <a:xfrm>
            <a:off x="457200" y="4572000"/>
            <a:ext cx="8229600" cy="274320"/>
          </a:xfrm>
          <a:prstGeom prst="roundRect">
            <a:avLst>
              <a:gd name="adj" fmla="val 26667"/>
            </a:avLst>
          </a:prstGeom>
          <a:solidFill>
            <a:srgbClr val="2B2318"/>
          </a:solidFill>
          <a:ln w="12700">
            <a:solidFill>
              <a:srgbClr val="2B2318"/>
            </a:solidFill>
            <a:prstDash val="solid"/>
          </a:ln>
        </p:spPr>
      </p:sp>
      <p:sp>
        <p:nvSpPr>
          <p:cNvPr id="7" name="Text 4"/>
          <p:cNvSpPr txBox="1"/>
          <p:nvPr/>
        </p:nvSpPr>
        <p:spPr>
          <a:xfrm>
            <a:off x="594360" y="4572000"/>
            <a:ext cx="7955280" cy="274320"/>
          </a:xfrm>
          <a:prstGeom prst="rect">
            <a:avLst/>
          </a:prstGeom>
          <a:noFill/>
          <a:ln/>
        </p:spPr>
        <p:txBody>
          <a:bodyPr wrap="square" lIns="0" tIns="0" rIns="0" bIns="0" rtlCol="0" anchor="ctr"/>
          <a:lstStyle/>
          <a:p>
            <a:pPr indent="0" marL="0">
              <a:buNone/>
            </a:pPr>
            <a:r>
              <a:rPr lang="en-US" sz="1100" b="1" dirty="0">
                <a:solidFill>
                  <a:srgbClr val="D9A441"/>
                </a:solidFill>
                <a:latin typeface="Calibri" pitchFamily="34" charset="0"/>
                <a:ea typeface="Calibri" pitchFamily="34" charset="-122"/>
                <a:cs typeface="Calibri" pitchFamily="34" charset="-120"/>
              </a:rPr>
              <a:t>Vergleicht Anliegen 4 und 7: Nicht mehr das Blut entscheidet, sondern das Geld (Timokratie).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EINZELARBEIT · 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234440"/>
            <a:ext cx="8229600" cy="640080"/>
          </a:xfrm>
          <a:prstGeom prst="roundRect">
            <a:avLst>
              <a:gd name="adj" fmla="val 11429"/>
            </a:avLst>
          </a:prstGeom>
          <a:solidFill>
            <a:srgbClr val="AD4426"/>
          </a:solidFill>
          <a:ln w="12700">
            <a:solidFill>
              <a:srgbClr val="AD4426"/>
            </a:solidFill>
            <a:prstDash val="solid"/>
          </a:ln>
        </p:spPr>
      </p:sp>
      <p:sp>
        <p:nvSpPr>
          <p:cNvPr id="6" name="Text 4"/>
          <p:cNvSpPr txBox="1"/>
          <p:nvPr/>
        </p:nvSpPr>
        <p:spPr>
          <a:xfrm>
            <a:off x="685800" y="1234440"/>
            <a:ext cx="777240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zu! Das Schaubild auf dem Blatt ist anders angeordnet als im Buch.</a:t>
            </a:r>
            <a:endParaRPr lang="en-US" sz="1600" dirty="0"/>
          </a:p>
        </p:txBody>
      </p:sp>
      <p:sp>
        <p:nvSpPr>
          <p:cNvPr id="7" name="Text 5"/>
          <p:cNvSpPr txBox="1"/>
          <p:nvPr/>
        </p:nvSpPr>
        <p:spPr>
          <a:xfrm>
            <a:off x="457200" y="21031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066544"/>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Trage die Klassen und Organe in die leeren Kästen ein und ergänze die Überschrift.</a:t>
            </a:r>
            <a:endParaRPr lang="en-US" sz="1400" dirty="0"/>
          </a:p>
        </p:txBody>
      </p:sp>
      <p:sp>
        <p:nvSpPr>
          <p:cNvPr id="9" name="Text 7"/>
          <p:cNvSpPr txBox="1"/>
          <p:nvPr/>
        </p:nvSpPr>
        <p:spPr>
          <a:xfrm>
            <a:off x="457200" y="27066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670048"/>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Schreibe auf, was die Pfeile 1–5 bedeuten.</a:t>
            </a:r>
            <a:endParaRPr lang="en-US" sz="1400" dirty="0"/>
          </a:p>
        </p:txBody>
      </p:sp>
      <p:sp>
        <p:nvSpPr>
          <p:cNvPr id="11" name="Text 9"/>
          <p:cNvSpPr txBox="1"/>
          <p:nvPr/>
        </p:nvSpPr>
        <p:spPr>
          <a:xfrm>
            <a:off x="457200" y="331012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73552"/>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Lykon ist Thete: Kreise grün ein, was er darf. Streiche rot durch, was er nicht darf.</a:t>
            </a:r>
            <a:endParaRPr lang="en-US" sz="1400" dirty="0"/>
          </a:p>
        </p:txBody>
      </p:sp>
      <p:sp>
        <p:nvSpPr>
          <p:cNvPr id="13" name="Text 11"/>
          <p:cNvSpPr txBox="1"/>
          <p:nvPr/>
        </p:nvSpPr>
        <p:spPr>
          <a:xfrm>
            <a:off x="457200" y="39136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77056"/>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Danach: Vergleiche mit der Lösung und markiere deine Fehler farbig.</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Vergleiche und markiere deine Fehler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stumm_loesung.png">    </p:cNvPr>
          <p:cNvPicPr>
            <a:picLocks noChangeAspect="1"/>
          </p:cNvPicPr>
          <p:nvPr/>
        </p:nvPicPr>
        <p:blipFill>
          <a:blip r:embed="rId1"/>
          <a:stretch>
            <a:fillRect/>
          </a:stretch>
        </p:blipFill>
        <p:spPr>
          <a:xfrm>
            <a:off x="457200" y="1188720"/>
            <a:ext cx="4114800" cy="3236976"/>
          </a:xfrm>
          <a:prstGeom prst="rect">
            <a:avLst/>
          </a:prstGeom>
        </p:spPr>
      </p:pic>
      <p:sp>
        <p:nvSpPr>
          <p:cNvPr id="6" name="Shape 3"/>
          <p:cNvSpPr/>
          <p:nvPr/>
        </p:nvSpPr>
        <p:spPr>
          <a:xfrm>
            <a:off x="4983480" y="1188720"/>
            <a:ext cx="3703320" cy="3246120"/>
          </a:xfrm>
          <a:prstGeom prst="roundRect">
            <a:avLst>
              <a:gd name="adj" fmla="val 2254"/>
            </a:avLst>
          </a:prstGeom>
          <a:solidFill>
            <a:srgbClr val="F4ECDE"/>
          </a:solidFill>
          <a:ln w="12700">
            <a:solidFill>
              <a:srgbClr val="F4ECDE"/>
            </a:solidFill>
            <a:prstDash val="solid"/>
          </a:ln>
        </p:spPr>
      </p:sp>
      <p:sp>
        <p:nvSpPr>
          <p:cNvPr id="7" name="Text 4"/>
          <p:cNvSpPr txBox="1"/>
          <p:nvPr/>
        </p:nvSpPr>
        <p:spPr>
          <a:xfrm>
            <a:off x="5166360" y="1261872"/>
            <a:ext cx="274320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Die Pfeile</a:t>
            </a:r>
            <a:endParaRPr lang="en-US" sz="1500" dirty="0"/>
          </a:p>
        </p:txBody>
      </p:sp>
      <p:sp>
        <p:nvSpPr>
          <p:cNvPr id="8" name="Text 5"/>
          <p:cNvSpPr txBox="1"/>
          <p:nvPr/>
        </p:nvSpPr>
        <p:spPr>
          <a:xfrm>
            <a:off x="5166360" y="1691640"/>
            <a:ext cx="329184" cy="329184"/>
          </a:xfrm>
          <a:prstGeom prst="ellipse">
            <a:avLst/>
          </a:prstGeom>
          <a:solidFill>
            <a:srgbClr val="AD4426"/>
          </a:solid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9" name="Text 6"/>
          <p:cNvSpPr txBox="1"/>
          <p:nvPr/>
        </p:nvSpPr>
        <p:spPr>
          <a:xfrm>
            <a:off x="5577840" y="1664208"/>
            <a:ext cx="3017520" cy="457200"/>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nur die 1. Klasse kann Archont werden</a:t>
            </a:r>
            <a:endParaRPr lang="en-US" sz="1150" dirty="0"/>
          </a:p>
        </p:txBody>
      </p:sp>
      <p:sp>
        <p:nvSpPr>
          <p:cNvPr id="10" name="Text 7"/>
          <p:cNvSpPr txBox="1"/>
          <p:nvPr/>
        </p:nvSpPr>
        <p:spPr>
          <a:xfrm>
            <a:off x="5166360" y="2221992"/>
            <a:ext cx="329184" cy="329184"/>
          </a:xfrm>
          <a:prstGeom prst="ellipse">
            <a:avLst/>
          </a:prstGeom>
          <a:solidFill>
            <a:srgbClr val="AD4426"/>
          </a:solid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1" name="Text 8"/>
          <p:cNvSpPr txBox="1"/>
          <p:nvPr/>
        </p:nvSpPr>
        <p:spPr>
          <a:xfrm>
            <a:off x="5577840" y="2194560"/>
            <a:ext cx="3017520" cy="457200"/>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die Klassen 1–3 können in den Rat gewählt werden</a:t>
            </a:r>
            <a:endParaRPr lang="en-US" sz="1150" dirty="0"/>
          </a:p>
        </p:txBody>
      </p:sp>
      <p:sp>
        <p:nvSpPr>
          <p:cNvPr id="12" name="Text 9"/>
          <p:cNvSpPr txBox="1"/>
          <p:nvPr/>
        </p:nvSpPr>
        <p:spPr>
          <a:xfrm>
            <a:off x="5166360" y="2752344"/>
            <a:ext cx="329184" cy="329184"/>
          </a:xfrm>
          <a:prstGeom prst="ellipse">
            <a:avLst/>
          </a:prstGeom>
          <a:solidFill>
            <a:srgbClr val="AD4426"/>
          </a:solid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3" name="Text 10"/>
          <p:cNvSpPr txBox="1"/>
          <p:nvPr/>
        </p:nvSpPr>
        <p:spPr>
          <a:xfrm>
            <a:off x="5577840" y="2724912"/>
            <a:ext cx="3017520" cy="457200"/>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ehemalige Archonten werden Mitglied im Areopag</a:t>
            </a:r>
            <a:endParaRPr lang="en-US" sz="1150" dirty="0"/>
          </a:p>
        </p:txBody>
      </p:sp>
      <p:sp>
        <p:nvSpPr>
          <p:cNvPr id="14" name="Text 11"/>
          <p:cNvSpPr txBox="1"/>
          <p:nvPr/>
        </p:nvSpPr>
        <p:spPr>
          <a:xfrm>
            <a:off x="5166360" y="3282696"/>
            <a:ext cx="329184" cy="329184"/>
          </a:xfrm>
          <a:prstGeom prst="ellipse">
            <a:avLst/>
          </a:prstGeom>
          <a:solidFill>
            <a:srgbClr val="AD4426"/>
          </a:solid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15" name="Text 12"/>
          <p:cNvSpPr txBox="1"/>
          <p:nvPr/>
        </p:nvSpPr>
        <p:spPr>
          <a:xfrm>
            <a:off x="5577840" y="3255264"/>
            <a:ext cx="3017520" cy="457200"/>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die Volksversammlung wählt die Beamten</a:t>
            </a:r>
            <a:endParaRPr lang="en-US" sz="1150" dirty="0"/>
          </a:p>
        </p:txBody>
      </p:sp>
      <p:sp>
        <p:nvSpPr>
          <p:cNvPr id="16" name="Text 13"/>
          <p:cNvSpPr txBox="1"/>
          <p:nvPr/>
        </p:nvSpPr>
        <p:spPr>
          <a:xfrm>
            <a:off x="5166360" y="3813048"/>
            <a:ext cx="329184" cy="329184"/>
          </a:xfrm>
          <a:prstGeom prst="ellipse">
            <a:avLst/>
          </a:prstGeom>
          <a:solidFill>
            <a:srgbClr val="AD4426"/>
          </a:solid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17" name="Text 14"/>
          <p:cNvSpPr txBox="1"/>
          <p:nvPr/>
        </p:nvSpPr>
        <p:spPr>
          <a:xfrm>
            <a:off x="5577840" y="3785616"/>
            <a:ext cx="3017520" cy="457200"/>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der Rat der 400 bereitet die Gesetze vor</a:t>
            </a:r>
            <a:endParaRPr lang="en-US" sz="1150" dirty="0"/>
          </a:p>
        </p:txBody>
      </p:sp>
      <p:sp>
        <p:nvSpPr>
          <p:cNvPr id="18" name="Text 15"/>
          <p:cNvSpPr txBox="1"/>
          <p:nvPr/>
        </p:nvSpPr>
        <p:spPr>
          <a:xfrm>
            <a:off x="457200" y="4462272"/>
            <a:ext cx="411480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Lykon: grün = darf, rot = darf nicht</a:t>
            </a:r>
            <a:endParaRPr lang="en-US" sz="1100" dirty="0"/>
          </a:p>
        </p:txBody>
      </p:sp>
      <p:sp>
        <p:nvSpPr>
          <p:cNvPr id="19" name="Text 16"/>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0" name="Text 17"/>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TEIL 2 · ALLE LEGEN SICH FEST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Ist Solons Verfassung eine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5" name="Shape 3"/>
          <p:cNvSpPr/>
          <p:nvPr/>
        </p:nvSpPr>
        <p:spPr>
          <a:xfrm>
            <a:off x="457200" y="1463040"/>
            <a:ext cx="8229600" cy="1463040"/>
          </a:xfrm>
          <a:prstGeom prst="roundRect">
            <a:avLst>
              <a:gd name="adj" fmla="val 5000"/>
            </a:avLst>
          </a:prstGeom>
          <a:solidFill>
            <a:srgbClr val="3A3024"/>
          </a:solidFill>
          <a:ln w="12700">
            <a:solidFill>
              <a:srgbClr val="3A3024"/>
            </a:solidFill>
            <a:prstDash val="solid"/>
          </a:ln>
        </p:spPr>
      </p:sp>
      <p:sp>
        <p:nvSpPr>
          <p:cNvPr id="6" name="Text 4"/>
          <p:cNvSpPr txBox="1"/>
          <p:nvPr/>
        </p:nvSpPr>
        <p:spPr>
          <a:xfrm>
            <a:off x="731520" y="1554480"/>
            <a:ext cx="7680960" cy="457200"/>
          </a:xfrm>
          <a:prstGeom prst="rect">
            <a:avLst/>
          </a:prstGeom>
          <a:noFill/>
          <a:ln/>
        </p:spPr>
        <p:txBody>
          <a:bodyPr wrap="square" lIns="0" tIns="0" rIns="0" bIns="0" rtlCol="0" anchor="t"/>
          <a:lstStyle/>
          <a:p>
            <a:pPr indent="0" marL="0">
              <a:buNone/>
            </a:pPr>
            <a:r>
              <a:rPr lang="en-US" sz="1600" dirty="0">
                <a:solidFill>
                  <a:srgbClr val="E8DFD0"/>
                </a:solidFill>
                <a:latin typeface="Calibri" pitchFamily="34" charset="0"/>
                <a:ea typeface="Calibri" pitchFamily="34" charset="-122"/>
                <a:cs typeface="Calibri" pitchFamily="34" charset="-120"/>
              </a:rPr>
              <a:t>Denk an das Bürgeramt: Wer wurde genehmigt, wer abgelehnt? Zeige auf mein Zeichen:</a:t>
            </a:r>
            <a:endParaRPr lang="en-US" sz="1600" dirty="0"/>
          </a:p>
        </p:txBody>
      </p:sp>
      <p:sp>
        <p:nvSpPr>
          <p:cNvPr id="7" name="Text 5"/>
          <p:cNvSpPr txBox="1"/>
          <p:nvPr/>
        </p:nvSpPr>
        <p:spPr>
          <a:xfrm>
            <a:off x="731520" y="2103120"/>
            <a:ext cx="7680960" cy="64008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Daumen hoch = Ja      Daumen runter = Nein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Demokratisch oder timokratisch?</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Text 3"/>
          <p:cNvSpPr txBox="1"/>
          <p:nvPr/>
        </p:nvSpPr>
        <p:spPr>
          <a:xfrm>
            <a:off x="457200" y="1143000"/>
            <a:ext cx="8229600" cy="50292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Legt im Heft zwei Spalten an und ordnet die sechs Merkmale zu: demokratisch = das Volk entscheidet · timokratisch = der Besitz entscheidet.</a:t>
            </a:r>
            <a:endParaRPr lang="en-US" sz="1350" dirty="0"/>
          </a:p>
        </p:txBody>
      </p:sp>
      <p:sp>
        <p:nvSpPr>
          <p:cNvPr id="6" name="Shape 4"/>
          <p:cNvSpPr/>
          <p:nvPr/>
        </p:nvSpPr>
        <p:spPr>
          <a:xfrm>
            <a:off x="457200" y="1783080"/>
            <a:ext cx="4023360" cy="731520"/>
          </a:xfrm>
          <a:prstGeom prst="roundRect">
            <a:avLst>
              <a:gd name="adj" fmla="val 10000"/>
            </a:avLst>
          </a:prstGeom>
          <a:solidFill>
            <a:srgbClr val="F4ECDE"/>
          </a:solidFill>
          <a:ln w="12700">
            <a:solidFill>
              <a:srgbClr val="F4ECDE"/>
            </a:solidFill>
            <a:prstDash val="solid"/>
          </a:ln>
        </p:spPr>
      </p:sp>
      <p:sp>
        <p:nvSpPr>
          <p:cNvPr id="7" name="Text 5"/>
          <p:cNvSpPr txBox="1"/>
          <p:nvPr/>
        </p:nvSpPr>
        <p:spPr>
          <a:xfrm>
            <a:off x="59436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14300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p:txBody>
      </p:sp>
      <p:sp>
        <p:nvSpPr>
          <p:cNvPr id="9" name="Shape 7"/>
          <p:cNvSpPr/>
          <p:nvPr/>
        </p:nvSpPr>
        <p:spPr>
          <a:xfrm>
            <a:off x="4663440" y="1783080"/>
            <a:ext cx="4023360" cy="731520"/>
          </a:xfrm>
          <a:prstGeom prst="roundRect">
            <a:avLst>
              <a:gd name="adj" fmla="val 10000"/>
            </a:avLst>
          </a:prstGeom>
          <a:solidFill>
            <a:srgbClr val="F4ECDE"/>
          </a:solidFill>
          <a:ln w="12700">
            <a:solidFill>
              <a:srgbClr val="F4ECDE"/>
            </a:solidFill>
            <a:prstDash val="solid"/>
          </a:ln>
        </p:spPr>
      </p:sp>
      <p:sp>
        <p:nvSpPr>
          <p:cNvPr id="10" name="Text 8"/>
          <p:cNvSpPr txBox="1"/>
          <p:nvPr/>
        </p:nvSpPr>
        <p:spPr>
          <a:xfrm>
            <a:off x="480060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534924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p:txBody>
      </p:sp>
      <p:sp>
        <p:nvSpPr>
          <p:cNvPr id="12" name="Shape 10"/>
          <p:cNvSpPr/>
          <p:nvPr/>
        </p:nvSpPr>
        <p:spPr>
          <a:xfrm>
            <a:off x="457200" y="2651760"/>
            <a:ext cx="4023360" cy="731520"/>
          </a:xfrm>
          <a:prstGeom prst="roundRect">
            <a:avLst>
              <a:gd name="adj" fmla="val 10000"/>
            </a:avLst>
          </a:prstGeom>
          <a:solidFill>
            <a:srgbClr val="F4ECDE"/>
          </a:solidFill>
          <a:ln w="12700">
            <a:solidFill>
              <a:srgbClr val="F4ECDE"/>
            </a:solidFill>
            <a:prstDash val="solid"/>
          </a:ln>
        </p:spPr>
      </p:sp>
      <p:sp>
        <p:nvSpPr>
          <p:cNvPr id="13" name="Text 11"/>
          <p:cNvSpPr txBox="1"/>
          <p:nvPr/>
        </p:nvSpPr>
        <p:spPr>
          <a:xfrm>
            <a:off x="59436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p:txBody>
      </p:sp>
      <p:sp>
        <p:nvSpPr>
          <p:cNvPr id="15" name="Shape 13"/>
          <p:cNvSpPr/>
          <p:nvPr/>
        </p:nvSpPr>
        <p:spPr>
          <a:xfrm>
            <a:off x="4663440" y="2651760"/>
            <a:ext cx="4023360" cy="731520"/>
          </a:xfrm>
          <a:prstGeom prst="roundRect">
            <a:avLst>
              <a:gd name="adj" fmla="val 10000"/>
            </a:avLst>
          </a:prstGeom>
          <a:solidFill>
            <a:srgbClr val="F4ECDE"/>
          </a:solidFill>
          <a:ln w="12700">
            <a:solidFill>
              <a:srgbClr val="F4ECDE"/>
            </a:solidFill>
            <a:prstDash val="solid"/>
          </a:ln>
        </p:spPr>
      </p:sp>
      <p:sp>
        <p:nvSpPr>
          <p:cNvPr id="16" name="Text 14"/>
          <p:cNvSpPr txBox="1"/>
          <p:nvPr/>
        </p:nvSpPr>
        <p:spPr>
          <a:xfrm>
            <a:off x="480060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534924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p:txBody>
      </p:sp>
      <p:sp>
        <p:nvSpPr>
          <p:cNvPr id="18" name="Shape 16"/>
          <p:cNvSpPr/>
          <p:nvPr/>
        </p:nvSpPr>
        <p:spPr>
          <a:xfrm>
            <a:off x="457200" y="3520440"/>
            <a:ext cx="4023360" cy="731520"/>
          </a:xfrm>
          <a:prstGeom prst="roundRect">
            <a:avLst>
              <a:gd name="adj" fmla="val 10000"/>
            </a:avLst>
          </a:prstGeom>
          <a:solidFill>
            <a:srgbClr val="F4ECDE"/>
          </a:solidFill>
          <a:ln w="12700">
            <a:solidFill>
              <a:srgbClr val="F4ECDE"/>
            </a:solidFill>
            <a:prstDash val="solid"/>
          </a:ln>
        </p:spPr>
      </p:sp>
      <p:sp>
        <p:nvSpPr>
          <p:cNvPr id="19" name="Text 17"/>
          <p:cNvSpPr txBox="1"/>
          <p:nvPr/>
        </p:nvSpPr>
        <p:spPr>
          <a:xfrm>
            <a:off x="59436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0" name="Text 18"/>
          <p:cNvSpPr txBox="1"/>
          <p:nvPr/>
        </p:nvSpPr>
        <p:spPr>
          <a:xfrm>
            <a:off x="114300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21" name="Shape 19"/>
          <p:cNvSpPr/>
          <p:nvPr/>
        </p:nvSpPr>
        <p:spPr>
          <a:xfrm>
            <a:off x="4663440" y="3520440"/>
            <a:ext cx="4023360" cy="731520"/>
          </a:xfrm>
          <a:prstGeom prst="roundRect">
            <a:avLst>
              <a:gd name="adj" fmla="val 10000"/>
            </a:avLst>
          </a:prstGeom>
          <a:solidFill>
            <a:srgbClr val="F4ECDE"/>
          </a:solidFill>
          <a:ln w="12700">
            <a:solidFill>
              <a:srgbClr val="F4ECDE"/>
            </a:solidFill>
            <a:prstDash val="solid"/>
          </a:ln>
        </p:spPr>
      </p:sp>
      <p:sp>
        <p:nvSpPr>
          <p:cNvPr id="22" name="Text 20"/>
          <p:cNvSpPr txBox="1"/>
          <p:nvPr/>
        </p:nvSpPr>
        <p:spPr>
          <a:xfrm>
            <a:off x="480060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3" name="Text 21"/>
          <p:cNvSpPr txBox="1"/>
          <p:nvPr/>
        </p:nvSpPr>
        <p:spPr>
          <a:xfrm>
            <a:off x="534924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24" name="Text 22"/>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5" name="Text 23"/>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Beides!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4023360" cy="2377440"/>
          </a:xfrm>
          <a:prstGeom prst="roundRect">
            <a:avLst>
              <a:gd name="adj" fmla="val 3077"/>
            </a:avLst>
          </a:prstGeom>
          <a:solidFill>
            <a:srgbClr val="F4ECDE"/>
          </a:solidFill>
          <a:ln w="12700">
            <a:solidFill>
              <a:srgbClr val="F4ECDE"/>
            </a:solidFill>
            <a:prstDash val="solid"/>
          </a:ln>
        </p:spPr>
      </p:sp>
      <p:sp>
        <p:nvSpPr>
          <p:cNvPr id="6" name="Text 4"/>
          <p:cNvSpPr txBox="1"/>
          <p:nvPr/>
        </p:nvSpPr>
        <p:spPr>
          <a:xfrm>
            <a:off x="685800" y="1261872"/>
            <a:ext cx="3566160" cy="365760"/>
          </a:xfrm>
          <a:prstGeom prst="rect">
            <a:avLst/>
          </a:prstGeom>
          <a:noFill/>
          <a:ln/>
        </p:spPr>
        <p:txBody>
          <a:bodyPr wrap="square" lIns="0" tIns="0" rIns="0" bIns="0" rtlCol="0" anchor="t"/>
          <a:lstStyle/>
          <a:p>
            <a:pPr indent="0" marL="0">
              <a:buNone/>
            </a:pPr>
            <a:r>
              <a:rPr lang="en-US" sz="1900" b="1" dirty="0">
                <a:solidFill>
                  <a:srgbClr val="3C783C"/>
                </a:solidFill>
                <a:latin typeface="Cambria" pitchFamily="34" charset="0"/>
                <a:ea typeface="Cambria" pitchFamily="34" charset="-122"/>
                <a:cs typeface="Cambria" pitchFamily="34" charset="-120"/>
              </a:rPr>
              <a:t>demokratisch</a:t>
            </a:r>
            <a:endParaRPr lang="en-US" sz="1900" dirty="0"/>
          </a:p>
        </p:txBody>
      </p:sp>
      <p:sp>
        <p:nvSpPr>
          <p:cNvPr id="7" name="Text 5"/>
          <p:cNvSpPr txBox="1"/>
          <p:nvPr/>
        </p:nvSpPr>
        <p:spPr>
          <a:xfrm>
            <a:off x="68580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das Volk entscheidet</a:t>
            </a:r>
            <a:endParaRPr lang="en-US" sz="1100" dirty="0"/>
          </a:p>
        </p:txBody>
      </p:sp>
      <p:sp>
        <p:nvSpPr>
          <p:cNvPr id="8" name="Text 6"/>
          <p:cNvSpPr txBox="1"/>
          <p:nvPr/>
        </p:nvSpPr>
        <p:spPr>
          <a:xfrm>
            <a:off x="68580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9" name="Shape 7"/>
          <p:cNvSpPr/>
          <p:nvPr/>
        </p:nvSpPr>
        <p:spPr>
          <a:xfrm>
            <a:off x="4663440" y="1188720"/>
            <a:ext cx="402336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4892040" y="1261872"/>
            <a:ext cx="3566160" cy="365760"/>
          </a:xfrm>
          <a:prstGeom prst="rect">
            <a:avLst/>
          </a:prstGeom>
          <a:noFill/>
          <a:ln/>
        </p:spPr>
        <p:txBody>
          <a:bodyPr wrap="square" lIns="0" tIns="0" rIns="0" bIns="0" rtlCol="0" anchor="t"/>
          <a:lstStyle/>
          <a:p>
            <a:pPr indent="0" marL="0">
              <a:buNone/>
            </a:pPr>
            <a:r>
              <a:rPr lang="en-US" sz="1900" b="1" dirty="0">
                <a:solidFill>
                  <a:srgbClr val="AD4426"/>
                </a:solidFill>
                <a:latin typeface="Cambria" pitchFamily="34" charset="0"/>
                <a:ea typeface="Cambria" pitchFamily="34" charset="-122"/>
                <a:cs typeface="Cambria" pitchFamily="34" charset="-120"/>
              </a:rPr>
              <a:t>timokratisch</a:t>
            </a:r>
            <a:endParaRPr lang="en-US" sz="1900" dirty="0"/>
          </a:p>
        </p:txBody>
      </p:sp>
      <p:sp>
        <p:nvSpPr>
          <p:cNvPr id="11" name="Text 9"/>
          <p:cNvSpPr txBox="1"/>
          <p:nvPr/>
        </p:nvSpPr>
        <p:spPr>
          <a:xfrm>
            <a:off x="489204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der Besitz entscheidet</a:t>
            </a:r>
            <a:endParaRPr lang="en-US" sz="1100" dirty="0"/>
          </a:p>
        </p:txBody>
      </p:sp>
      <p:sp>
        <p:nvSpPr>
          <p:cNvPr id="12" name="Text 10"/>
          <p:cNvSpPr txBox="1"/>
          <p:nvPr/>
        </p:nvSpPr>
        <p:spPr>
          <a:xfrm>
            <a:off x="489204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13" name="Shape 11"/>
          <p:cNvSpPr/>
          <p:nvPr/>
        </p:nvSpPr>
        <p:spPr>
          <a:xfrm>
            <a:off x="457200" y="3703320"/>
            <a:ext cx="8229600" cy="749808"/>
          </a:xfrm>
          <a:prstGeom prst="roundRect">
            <a:avLst>
              <a:gd name="adj" fmla="val 9756"/>
            </a:avLst>
          </a:prstGeom>
          <a:solidFill>
            <a:srgbClr val="2B2318"/>
          </a:solidFill>
          <a:ln w="12700">
            <a:solidFill>
              <a:srgbClr val="2B2318"/>
            </a:solidFill>
            <a:prstDash val="solid"/>
          </a:ln>
        </p:spPr>
      </p:sp>
      <p:sp>
        <p:nvSpPr>
          <p:cNvPr id="14" name="Text 12"/>
          <p:cNvSpPr txBox="1"/>
          <p:nvPr/>
        </p:nvSpPr>
        <p:spPr>
          <a:xfrm>
            <a:off x="685800" y="3703320"/>
            <a:ext cx="7772400" cy="7498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Solons Verfassung ist beides: Beim Entscheiden redet das Volk mit, die Ämter bleiben den Reichen. Merksatz ins Heft!</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URTEILSBLATT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Sachurteil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Min.</a:t>
            </a:r>
            <a:endParaRPr lang="en-US" sz="1100" dirty="0"/>
          </a:p>
        </p:txBody>
      </p:sp>
      <p:sp>
        <p:nvSpPr>
          <p:cNvPr id="5" name="Shape 3"/>
          <p:cNvSpPr/>
          <p:nvPr/>
        </p:nvSpPr>
        <p:spPr>
          <a:xfrm>
            <a:off x="457200" y="123444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28016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War Solons Verfassung eher demokratisch oder eher timokratisch?</a:t>
            </a:r>
            <a:endParaRPr lang="en-US" sz="2000" dirty="0"/>
          </a:p>
        </p:txBody>
      </p:sp>
      <p:sp>
        <p:nvSpPr>
          <p:cNvPr id="7" name="Text 5"/>
          <p:cNvSpPr txBox="1"/>
          <p:nvPr/>
        </p:nvSpPr>
        <p:spPr>
          <a:xfrm>
            <a:off x="457200" y="23317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29514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 dich: eher demokratisch oder eher timokratisch?</a:t>
            </a:r>
            <a:endParaRPr lang="en-US" sz="1300" dirty="0"/>
          </a:p>
        </p:txBody>
      </p:sp>
      <p:sp>
        <p:nvSpPr>
          <p:cNvPr id="9" name="Text 7"/>
          <p:cNvSpPr txBox="1"/>
          <p:nvPr/>
        </p:nvSpPr>
        <p:spPr>
          <a:xfrm>
            <a:off x="457200" y="29718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93522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 in 3–4 Sätzen mit mindestens zwei Beispielen aus dem Bürgeramt oder der Tabelle.</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57530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Urteile aus der damaligen Zeit heraus – noch ohne heutige Werte.</a:t>
            </a:r>
            <a:endParaRPr lang="en-US" sz="1300" dirty="0"/>
          </a:p>
        </p:txBody>
      </p:sp>
      <p:sp>
        <p:nvSpPr>
          <p:cNvPr id="13" name="Shape 11"/>
          <p:cNvSpPr/>
          <p:nvPr/>
        </p:nvSpPr>
        <p:spPr>
          <a:xfrm>
            <a:off x="5806440" y="2286000"/>
            <a:ext cx="2880360" cy="2103120"/>
          </a:xfrm>
          <a:prstGeom prst="roundRect">
            <a:avLst>
              <a:gd name="adj" fmla="val 3478"/>
            </a:avLst>
          </a:prstGeom>
          <a:solidFill>
            <a:srgbClr val="F4ECDE"/>
          </a:solidFill>
          <a:ln w="12700">
            <a:solidFill>
              <a:srgbClr val="F4ECDE"/>
            </a:solidFill>
            <a:prstDash val="solid"/>
          </a:ln>
        </p:spPr>
      </p:sp>
      <p:sp>
        <p:nvSpPr>
          <p:cNvPr id="14" name="Text 12"/>
          <p:cNvSpPr txBox="1"/>
          <p:nvPr/>
        </p:nvSpPr>
        <p:spPr>
          <a:xfrm>
            <a:off x="5989320" y="2377440"/>
            <a:ext cx="2560320" cy="32004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Satzbausteine</a:t>
            </a:r>
            <a:endParaRPr lang="en-US" sz="1400" dirty="0"/>
          </a:p>
        </p:txBody>
      </p:sp>
      <p:sp>
        <p:nvSpPr>
          <p:cNvPr id="15" name="Text 13"/>
          <p:cNvSpPr txBox="1"/>
          <p:nvPr/>
        </p:nvSpPr>
        <p:spPr>
          <a:xfrm>
            <a:off x="5989320" y="2743200"/>
            <a:ext cx="2560320" cy="1600200"/>
          </a:xfrm>
          <a:prstGeom prst="rect">
            <a:avLst/>
          </a:prstGeom>
          <a:noFill/>
          <a:ln/>
        </p:spPr>
        <p:txBody>
          <a:bodyPr wrap="square" lIns="0" tIns="0" rIns="0" bIns="0" rtlCol="0" anchor="t"/>
          <a:lstStyle/>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„Aus Sicht der damaligen Zeit war Solons Verfassung eher …, denn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„Das zeigt sich zum Beispiel an Anliegen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„Zwar …, aber …“</a:t>
            </a:r>
            <a:endParaRPr lang="en-US" sz="115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SACHURTEIL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Sachurteil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34440"/>
            <a:ext cx="8229600" cy="2011680"/>
          </a:xfrm>
          <a:prstGeom prst="roundRect">
            <a:avLst>
              <a:gd name="adj" fmla="val 3636"/>
            </a:avLst>
          </a:prstGeom>
          <a:solidFill>
            <a:srgbClr val="F4ECDE"/>
          </a:solidFill>
          <a:ln w="12700">
            <a:solidFill>
              <a:srgbClr val="F4ECDE"/>
            </a:solidFill>
            <a:prstDash val="solid"/>
          </a:ln>
        </p:spPr>
      </p:sp>
      <p:sp>
        <p:nvSpPr>
          <p:cNvPr id="6" name="Text 4"/>
          <p:cNvSpPr txBox="1"/>
          <p:nvPr/>
        </p:nvSpPr>
        <p:spPr>
          <a:xfrm>
            <a:off x="685800" y="1325880"/>
            <a:ext cx="7772400" cy="1828800"/>
          </a:xfrm>
          <a:prstGeom prst="rect">
            <a:avLst/>
          </a:prstGeom>
          <a:noFill/>
          <a:ln/>
        </p:spPr>
        <p:txBody>
          <a:bodyPr wrap="square" lIns="0" tIns="0" rIns="0" bIns="0" rtlCol="0" anchor="ctr"/>
          <a:lstStyle/>
          <a:p>
            <a:pPr indent="0" marL="0">
              <a:buNone/>
            </a:pPr>
            <a:r>
              <a:rPr lang="en-US" sz="1400" i="1" dirty="0">
                <a:solidFill>
                  <a:srgbClr val="2B2318"/>
                </a:solidFill>
                <a:latin typeface="Cambria" pitchFamily="34" charset="0"/>
                <a:ea typeface="Cambria" pitchFamily="34" charset="-122"/>
                <a:cs typeface="Cambria" pitchFamily="34" charset="-120"/>
              </a:rPr>
              <a:t>„Aus Sicht der damaligen Zeit war Solons Verfassung eher timokratisch, denn die wichtigen Ämter – Archonten, Rat der 400 und Areopag – blieben den Reichen vorbehalten. Das zeigt sich an Anliegen 1 und 4: Wer arm ist, wird nicht Archont, auch wenn er adlig ist. Zwar stimmten alle Bürger in der Volksversammlung ab und durften klagen (Anliegen 2 und 8), aber regieren konnten nur die Wohlhabenden.“</a:t>
            </a:r>
            <a:endParaRPr lang="en-US" sz="1400" dirty="0"/>
          </a:p>
        </p:txBody>
      </p:sp>
      <p:sp>
        <p:nvSpPr>
          <p:cNvPr id="7" name="Shape 5"/>
          <p:cNvSpPr/>
          <p:nvPr/>
        </p:nvSpPr>
        <p:spPr>
          <a:xfrm>
            <a:off x="457200" y="3474720"/>
            <a:ext cx="2606040" cy="868680"/>
          </a:xfrm>
          <a:prstGeom prst="roundRect">
            <a:avLst>
              <a:gd name="adj" fmla="val 8421"/>
            </a:avLst>
          </a:prstGeom>
          <a:solidFill>
            <a:srgbClr val="2B2318"/>
          </a:solidFill>
          <a:ln w="12700">
            <a:solidFill>
              <a:srgbClr val="2B2318"/>
            </a:solidFill>
            <a:prstDash val="solid"/>
          </a:ln>
        </p:spPr>
      </p:sp>
      <p:sp>
        <p:nvSpPr>
          <p:cNvPr id="8" name="Text 6"/>
          <p:cNvSpPr txBox="1"/>
          <p:nvPr/>
        </p:nvSpPr>
        <p:spPr>
          <a:xfrm>
            <a:off x="64008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Position</a:t>
            </a:r>
            <a:endParaRPr lang="en-US" sz="1300" dirty="0"/>
          </a:p>
        </p:txBody>
      </p:sp>
      <p:sp>
        <p:nvSpPr>
          <p:cNvPr id="9" name="Text 7"/>
          <p:cNvSpPr txBox="1"/>
          <p:nvPr/>
        </p:nvSpPr>
        <p:spPr>
          <a:xfrm>
            <a:off x="64008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„eher timokratisch“</a:t>
            </a:r>
            <a:endParaRPr lang="en-US" sz="1200" dirty="0"/>
          </a:p>
        </p:txBody>
      </p:sp>
      <p:sp>
        <p:nvSpPr>
          <p:cNvPr id="10" name="Shape 8"/>
          <p:cNvSpPr/>
          <p:nvPr/>
        </p:nvSpPr>
        <p:spPr>
          <a:xfrm>
            <a:off x="3246120" y="3474720"/>
            <a:ext cx="2606040" cy="868680"/>
          </a:xfrm>
          <a:prstGeom prst="roundRect">
            <a:avLst>
              <a:gd name="adj" fmla="val 8421"/>
            </a:avLst>
          </a:prstGeom>
          <a:solidFill>
            <a:srgbClr val="2B2318"/>
          </a:solidFill>
          <a:ln w="12700">
            <a:solidFill>
              <a:srgbClr val="2B2318"/>
            </a:solidFill>
            <a:prstDash val="solid"/>
          </a:ln>
        </p:spPr>
      </p:sp>
      <p:sp>
        <p:nvSpPr>
          <p:cNvPr id="11" name="Text 9"/>
          <p:cNvSpPr txBox="1"/>
          <p:nvPr/>
        </p:nvSpPr>
        <p:spPr>
          <a:xfrm>
            <a:off x="342900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Belege</a:t>
            </a:r>
            <a:endParaRPr lang="en-US" sz="1300" dirty="0"/>
          </a:p>
        </p:txBody>
      </p:sp>
      <p:sp>
        <p:nvSpPr>
          <p:cNvPr id="12" name="Text 10"/>
          <p:cNvSpPr txBox="1"/>
          <p:nvPr/>
        </p:nvSpPr>
        <p:spPr>
          <a:xfrm>
            <a:off x="342900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Anliegen 1, 4, 2, 8</a:t>
            </a:r>
            <a:endParaRPr lang="en-US" sz="1200" dirty="0"/>
          </a:p>
        </p:txBody>
      </p:sp>
      <p:sp>
        <p:nvSpPr>
          <p:cNvPr id="13" name="Shape 11"/>
          <p:cNvSpPr/>
          <p:nvPr/>
        </p:nvSpPr>
        <p:spPr>
          <a:xfrm>
            <a:off x="6035040" y="3474720"/>
            <a:ext cx="2606040" cy="868680"/>
          </a:xfrm>
          <a:prstGeom prst="roundRect">
            <a:avLst>
              <a:gd name="adj" fmla="val 8421"/>
            </a:avLst>
          </a:prstGeom>
          <a:solidFill>
            <a:srgbClr val="2B2318"/>
          </a:solidFill>
          <a:ln w="12700">
            <a:solidFill>
              <a:srgbClr val="2B2318"/>
            </a:solidFill>
            <a:prstDash val="solid"/>
          </a:ln>
        </p:spPr>
      </p:sp>
      <p:sp>
        <p:nvSpPr>
          <p:cNvPr id="14" name="Text 12"/>
          <p:cNvSpPr txBox="1"/>
          <p:nvPr/>
        </p:nvSpPr>
        <p:spPr>
          <a:xfrm>
            <a:off x="621792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Abwägung</a:t>
            </a:r>
            <a:endParaRPr lang="en-US" sz="1300" dirty="0"/>
          </a:p>
        </p:txBody>
      </p:sp>
      <p:sp>
        <p:nvSpPr>
          <p:cNvPr id="15" name="Text 13"/>
          <p:cNvSpPr txBox="1"/>
          <p:nvPr/>
        </p:nvSpPr>
        <p:spPr>
          <a:xfrm>
            <a:off x="621792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„Zwar …, aber …“</a:t>
            </a:r>
            <a:endParaRPr lang="en-US" sz="12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URTEILSBLATT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Werturteil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188720"/>
            <a:ext cx="8229600" cy="777240"/>
          </a:xfrm>
          <a:prstGeom prst="roundRect">
            <a:avLst>
              <a:gd name="adj" fmla="val 9412"/>
            </a:avLst>
          </a:prstGeom>
          <a:solidFill>
            <a:srgbClr val="2B2318"/>
          </a:solidFill>
          <a:ln w="12700">
            <a:solidFill>
              <a:srgbClr val="2B2318"/>
            </a:solidFill>
            <a:prstDash val="solid"/>
          </a:ln>
        </p:spPr>
      </p:sp>
      <p:sp>
        <p:nvSpPr>
          <p:cNvPr id="6" name="Text 4"/>
          <p:cNvSpPr txBox="1"/>
          <p:nvPr/>
        </p:nvSpPr>
        <p:spPr>
          <a:xfrm>
            <a:off x="731520" y="1188720"/>
            <a:ext cx="7680960" cy="77724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Ist es gerecht, dass die Ämter vom Besitz abhängen?</a:t>
            </a:r>
            <a:endParaRPr lang="en-US" sz="2100" dirty="0"/>
          </a:p>
        </p:txBody>
      </p:sp>
      <p:sp>
        <p:nvSpPr>
          <p:cNvPr id="7" name="Shape 5"/>
          <p:cNvSpPr/>
          <p:nvPr/>
        </p:nvSpPr>
        <p:spPr>
          <a:xfrm>
            <a:off x="457200" y="2148840"/>
            <a:ext cx="1947672" cy="502920"/>
          </a:xfrm>
          <a:prstGeom prst="roundRect">
            <a:avLst>
              <a:gd name="adj" fmla="val 14545"/>
            </a:avLst>
          </a:prstGeom>
          <a:solidFill>
            <a:srgbClr val="F4ECDE"/>
          </a:solidFill>
          <a:ln w="12700">
            <a:solidFill>
              <a:srgbClr val="F4ECDE"/>
            </a:solidFill>
            <a:prstDash val="solid"/>
          </a:ln>
        </p:spPr>
      </p:sp>
      <p:sp>
        <p:nvSpPr>
          <p:cNvPr id="8" name="Text 6"/>
          <p:cNvSpPr txBox="1"/>
          <p:nvPr/>
        </p:nvSpPr>
        <p:spPr>
          <a:xfrm>
            <a:off x="548640" y="221284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9" name="Text 7"/>
          <p:cNvSpPr txBox="1"/>
          <p:nvPr/>
        </p:nvSpPr>
        <p:spPr>
          <a:xfrm>
            <a:off x="1005840" y="2148840"/>
            <a:ext cx="1371600" cy="502920"/>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Gleichheit</a:t>
            </a:r>
            <a:endParaRPr lang="en-US" sz="1200" dirty="0"/>
          </a:p>
        </p:txBody>
      </p:sp>
      <p:sp>
        <p:nvSpPr>
          <p:cNvPr id="10" name="Shape 8"/>
          <p:cNvSpPr/>
          <p:nvPr/>
        </p:nvSpPr>
        <p:spPr>
          <a:xfrm>
            <a:off x="2551176" y="2148840"/>
            <a:ext cx="1947672" cy="502920"/>
          </a:xfrm>
          <a:prstGeom prst="roundRect">
            <a:avLst>
              <a:gd name="adj" fmla="val 14545"/>
            </a:avLst>
          </a:prstGeom>
          <a:solidFill>
            <a:srgbClr val="F4ECDE"/>
          </a:solidFill>
          <a:ln w="12700">
            <a:solidFill>
              <a:srgbClr val="F4ECDE"/>
            </a:solidFill>
            <a:prstDash val="solid"/>
          </a:ln>
        </p:spPr>
      </p:sp>
      <p:sp>
        <p:nvSpPr>
          <p:cNvPr id="11" name="Text 9"/>
          <p:cNvSpPr txBox="1"/>
          <p:nvPr/>
        </p:nvSpPr>
        <p:spPr>
          <a:xfrm>
            <a:off x="2642616" y="221284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3099816" y="2148840"/>
            <a:ext cx="1371600" cy="502920"/>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Leistung</a:t>
            </a:r>
            <a:endParaRPr lang="en-US" sz="1200" dirty="0"/>
          </a:p>
        </p:txBody>
      </p:sp>
      <p:sp>
        <p:nvSpPr>
          <p:cNvPr id="13" name="Shape 11"/>
          <p:cNvSpPr/>
          <p:nvPr/>
        </p:nvSpPr>
        <p:spPr>
          <a:xfrm>
            <a:off x="4645152" y="2148840"/>
            <a:ext cx="1947672" cy="502920"/>
          </a:xfrm>
          <a:prstGeom prst="roundRect">
            <a:avLst>
              <a:gd name="adj" fmla="val 14545"/>
            </a:avLst>
          </a:prstGeom>
          <a:solidFill>
            <a:srgbClr val="F4ECDE"/>
          </a:solidFill>
          <a:ln w="12700">
            <a:solidFill>
              <a:srgbClr val="F4ECDE"/>
            </a:solidFill>
            <a:prstDash val="solid"/>
          </a:ln>
        </p:spPr>
      </p:sp>
      <p:sp>
        <p:nvSpPr>
          <p:cNvPr id="14" name="Text 12"/>
          <p:cNvSpPr txBox="1"/>
          <p:nvPr/>
        </p:nvSpPr>
        <p:spPr>
          <a:xfrm>
            <a:off x="4736592" y="221284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txBox="1"/>
          <p:nvPr/>
        </p:nvSpPr>
        <p:spPr>
          <a:xfrm>
            <a:off x="5193792" y="2148840"/>
            <a:ext cx="1371600" cy="502920"/>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Schutz der Schwachen</a:t>
            </a:r>
            <a:endParaRPr lang="en-US" sz="1200" dirty="0"/>
          </a:p>
        </p:txBody>
      </p:sp>
      <p:sp>
        <p:nvSpPr>
          <p:cNvPr id="16" name="Shape 14"/>
          <p:cNvSpPr/>
          <p:nvPr/>
        </p:nvSpPr>
        <p:spPr>
          <a:xfrm>
            <a:off x="6739128" y="2148840"/>
            <a:ext cx="1947672" cy="502920"/>
          </a:xfrm>
          <a:prstGeom prst="roundRect">
            <a:avLst>
              <a:gd name="adj" fmla="val 14545"/>
            </a:avLst>
          </a:prstGeom>
          <a:solidFill>
            <a:srgbClr val="F4ECDE"/>
          </a:solidFill>
          <a:ln w="12700">
            <a:solidFill>
              <a:srgbClr val="F4ECDE"/>
            </a:solidFill>
            <a:prstDash val="solid"/>
          </a:ln>
        </p:spPr>
      </p:sp>
      <p:sp>
        <p:nvSpPr>
          <p:cNvPr id="17" name="Text 15"/>
          <p:cNvSpPr txBox="1"/>
          <p:nvPr/>
        </p:nvSpPr>
        <p:spPr>
          <a:xfrm>
            <a:off x="6830568" y="221284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7287768" y="2148840"/>
            <a:ext cx="1371600" cy="502920"/>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Gleiche Regeln</a:t>
            </a:r>
            <a:endParaRPr lang="en-US" sz="1200" dirty="0"/>
          </a:p>
        </p:txBody>
      </p:sp>
      <p:sp>
        <p:nvSpPr>
          <p:cNvPr id="19" name="Text 17"/>
          <p:cNvSpPr txBox="1"/>
          <p:nvPr/>
        </p:nvSpPr>
        <p:spPr>
          <a:xfrm>
            <a:off x="457200" y="288036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20" name="Text 18"/>
          <p:cNvSpPr txBox="1"/>
          <p:nvPr/>
        </p:nvSpPr>
        <p:spPr>
          <a:xfrm>
            <a:off x="960120" y="2843784"/>
            <a:ext cx="772668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Wähle einen Maßstab (1–4) und kreuze ihn auf dem Blatt an.</a:t>
            </a:r>
            <a:endParaRPr lang="en-US" sz="1300" dirty="0"/>
          </a:p>
        </p:txBody>
      </p:sp>
      <p:sp>
        <p:nvSpPr>
          <p:cNvPr id="21" name="Text 19"/>
          <p:cNvSpPr txBox="1"/>
          <p:nvPr/>
        </p:nvSpPr>
        <p:spPr>
          <a:xfrm>
            <a:off x="457200" y="341071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22" name="Text 20"/>
          <p:cNvSpPr txBox="1"/>
          <p:nvPr/>
        </p:nvSpPr>
        <p:spPr>
          <a:xfrm>
            <a:off x="960120" y="3374136"/>
            <a:ext cx="772668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Schreibe 2–3 Sätze: „Gemessen an … halte ich es für gerecht / teilweise gerecht / nicht gerecht, weil …“</a:t>
            </a:r>
            <a:endParaRPr lang="en-US" sz="1300" dirty="0"/>
          </a:p>
        </p:txBody>
      </p:sp>
      <p:sp>
        <p:nvSpPr>
          <p:cNvPr id="23" name="Text 21"/>
          <p:cNvSpPr txBox="1"/>
          <p:nvPr/>
        </p:nvSpPr>
        <p:spPr>
          <a:xfrm>
            <a:off x="457200" y="394106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4" name="Text 22"/>
          <p:cNvSpPr txBox="1"/>
          <p:nvPr/>
        </p:nvSpPr>
        <p:spPr>
          <a:xfrm>
            <a:off x="960120" y="3904488"/>
            <a:ext cx="772668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 mit mindestens einem Beispiel aus dem Bürgeramt.</a:t>
            </a:r>
            <a:endParaRPr lang="en-US" sz="1300" dirty="0"/>
          </a:p>
        </p:txBody>
      </p:sp>
      <p:sp>
        <p:nvSpPr>
          <p:cNvPr id="25" name="Text 2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6" name="Text 2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URTEILSBLATT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Feedback: Was ist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5" name="Text 3"/>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Tauscht die Blätter. Prüft das Urteil eures Partners mit der Checkliste unten auf dem Blatt und schreibt einen Tipp dazu.</a:t>
            </a:r>
            <a:endParaRPr lang="en-US" sz="1350" dirty="0"/>
          </a:p>
        </p:txBody>
      </p:sp>
      <p:sp>
        <p:nvSpPr>
          <p:cNvPr id="6" name="Text 4"/>
          <p:cNvSpPr txBox="1"/>
          <p:nvPr/>
        </p:nvSpPr>
        <p:spPr>
          <a:xfrm>
            <a:off x="457200" y="1783080"/>
            <a:ext cx="40233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7" name="Shape 5"/>
          <p:cNvSpPr/>
          <p:nvPr/>
        </p:nvSpPr>
        <p:spPr>
          <a:xfrm>
            <a:off x="457200" y="2286000"/>
            <a:ext cx="4023360" cy="2103120"/>
          </a:xfrm>
          <a:prstGeom prst="roundRect">
            <a:avLst>
              <a:gd name="adj" fmla="val 3478"/>
            </a:avLst>
          </a:prstGeom>
          <a:solidFill>
            <a:srgbClr val="F4ECDE"/>
          </a:solidFill>
          <a:ln w="12700">
            <a:solidFill>
              <a:srgbClr val="F4ECDE"/>
            </a:solidFill>
            <a:prstDash val="solid"/>
          </a:ln>
        </p:spPr>
      </p:sp>
      <p:sp>
        <p:nvSpPr>
          <p:cNvPr id="8" name="Shape 6"/>
          <p:cNvSpPr/>
          <p:nvPr/>
        </p:nvSpPr>
        <p:spPr>
          <a:xfrm>
            <a:off x="685800" y="2505456"/>
            <a:ext cx="256032" cy="256032"/>
          </a:xfrm>
          <a:prstGeom prst="roundRect">
            <a:avLst>
              <a:gd name="adj" fmla="val 14286"/>
            </a:avLst>
          </a:prstGeom>
          <a:solidFill>
            <a:srgbClr val="FFFFFF"/>
          </a:solidFill>
          <a:ln w="19050">
            <a:solidFill>
              <a:srgbClr val="D9A441"/>
            </a:solidFill>
            <a:prstDash val="solid"/>
          </a:ln>
        </p:spPr>
      </p:sp>
      <p:sp>
        <p:nvSpPr>
          <p:cNvPr id="9" name="Text 7"/>
          <p:cNvSpPr txBox="1"/>
          <p:nvPr/>
        </p:nvSpPr>
        <p:spPr>
          <a:xfrm>
            <a:off x="109728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klare Position (eher demokratisch / timokratisch)</a:t>
            </a:r>
            <a:endParaRPr lang="en-US" sz="1300" dirty="0"/>
          </a:p>
        </p:txBody>
      </p:sp>
      <p:sp>
        <p:nvSpPr>
          <p:cNvPr id="10" name="Shape 8"/>
          <p:cNvSpPr/>
          <p:nvPr/>
        </p:nvSpPr>
        <p:spPr>
          <a:xfrm>
            <a:off x="685800" y="3127248"/>
            <a:ext cx="256032" cy="256032"/>
          </a:xfrm>
          <a:prstGeom prst="roundRect">
            <a:avLst>
              <a:gd name="adj" fmla="val 14286"/>
            </a:avLst>
          </a:prstGeom>
          <a:solidFill>
            <a:srgbClr val="FFFFFF"/>
          </a:solidFill>
          <a:ln w="19050">
            <a:solidFill>
              <a:srgbClr val="D9A441"/>
            </a:solidFill>
            <a:prstDash val="solid"/>
          </a:ln>
        </p:spPr>
      </p:sp>
      <p:sp>
        <p:nvSpPr>
          <p:cNvPr id="11" name="Text 9"/>
          <p:cNvSpPr txBox="1"/>
          <p:nvPr/>
        </p:nvSpPr>
        <p:spPr>
          <a:xfrm>
            <a:off x="109728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mit Belegen aus dem Bürgeramt</a:t>
            </a:r>
            <a:endParaRPr lang="en-US" sz="1300" dirty="0"/>
          </a:p>
        </p:txBody>
      </p:sp>
      <p:sp>
        <p:nvSpPr>
          <p:cNvPr id="12" name="Shape 10"/>
          <p:cNvSpPr/>
          <p:nvPr/>
        </p:nvSpPr>
        <p:spPr>
          <a:xfrm>
            <a:off x="685800" y="3749040"/>
            <a:ext cx="256032" cy="256032"/>
          </a:xfrm>
          <a:prstGeom prst="roundRect">
            <a:avLst>
              <a:gd name="adj" fmla="val 14286"/>
            </a:avLst>
          </a:prstGeom>
          <a:solidFill>
            <a:srgbClr val="FFFFFF"/>
          </a:solidFill>
          <a:ln w="19050">
            <a:solidFill>
              <a:srgbClr val="D9A441"/>
            </a:solidFill>
            <a:prstDash val="solid"/>
          </a:ln>
        </p:spPr>
      </p:sp>
      <p:sp>
        <p:nvSpPr>
          <p:cNvPr id="13" name="Text 11"/>
          <p:cNvSpPr txBox="1"/>
          <p:nvPr/>
        </p:nvSpPr>
        <p:spPr>
          <a:xfrm>
            <a:off x="109728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aus der damaligen Zeit heraus</a:t>
            </a:r>
            <a:endParaRPr lang="en-US" sz="1300" dirty="0"/>
          </a:p>
        </p:txBody>
      </p:sp>
      <p:sp>
        <p:nvSpPr>
          <p:cNvPr id="14" name="Text 12"/>
          <p:cNvSpPr txBox="1"/>
          <p:nvPr/>
        </p:nvSpPr>
        <p:spPr>
          <a:xfrm>
            <a:off x="4663440" y="1783080"/>
            <a:ext cx="4023360" cy="457200"/>
          </a:xfrm>
          <a:prstGeom prst="roundRect">
            <a:avLst>
              <a:gd name="adj" fmla="val 16000"/>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5" name="Shape 13"/>
          <p:cNvSpPr/>
          <p:nvPr/>
        </p:nvSpPr>
        <p:spPr>
          <a:xfrm>
            <a:off x="4663440" y="2286000"/>
            <a:ext cx="4023360" cy="2103120"/>
          </a:xfrm>
          <a:prstGeom prst="roundRect">
            <a:avLst>
              <a:gd name="adj" fmla="val 3478"/>
            </a:avLst>
          </a:prstGeom>
          <a:solidFill>
            <a:srgbClr val="F4ECDE"/>
          </a:solidFill>
          <a:ln w="12700">
            <a:solidFill>
              <a:srgbClr val="F4ECDE"/>
            </a:solidFill>
            <a:prstDash val="solid"/>
          </a:ln>
        </p:spPr>
      </p:sp>
      <p:sp>
        <p:nvSpPr>
          <p:cNvPr id="16" name="Shape 14"/>
          <p:cNvSpPr/>
          <p:nvPr/>
        </p:nvSpPr>
        <p:spPr>
          <a:xfrm>
            <a:off x="4892040" y="2505456"/>
            <a:ext cx="256032" cy="256032"/>
          </a:xfrm>
          <a:prstGeom prst="roundRect">
            <a:avLst>
              <a:gd name="adj" fmla="val 14286"/>
            </a:avLst>
          </a:prstGeom>
          <a:solidFill>
            <a:srgbClr val="FFFFFF"/>
          </a:solidFill>
          <a:ln w="19050">
            <a:solidFill>
              <a:srgbClr val="AD4426"/>
            </a:solidFill>
            <a:prstDash val="solid"/>
          </a:ln>
        </p:spPr>
      </p:sp>
      <p:sp>
        <p:nvSpPr>
          <p:cNvPr id="17" name="Text 15"/>
          <p:cNvSpPr txBox="1"/>
          <p:nvPr/>
        </p:nvSpPr>
        <p:spPr>
          <a:xfrm>
            <a:off x="530352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Maßstab genannt</a:t>
            </a:r>
            <a:endParaRPr lang="en-US" sz="1300" dirty="0"/>
          </a:p>
        </p:txBody>
      </p:sp>
      <p:sp>
        <p:nvSpPr>
          <p:cNvPr id="18" name="Shape 16"/>
          <p:cNvSpPr/>
          <p:nvPr/>
        </p:nvSpPr>
        <p:spPr>
          <a:xfrm>
            <a:off x="4892040" y="3127248"/>
            <a:ext cx="256032" cy="256032"/>
          </a:xfrm>
          <a:prstGeom prst="roundRect">
            <a:avLst>
              <a:gd name="adj" fmla="val 14286"/>
            </a:avLst>
          </a:prstGeom>
          <a:solidFill>
            <a:srgbClr val="FFFFFF"/>
          </a:solidFill>
          <a:ln w="19050">
            <a:solidFill>
              <a:srgbClr val="AD4426"/>
            </a:solidFill>
            <a:prstDash val="solid"/>
          </a:ln>
        </p:spPr>
      </p:sp>
      <p:sp>
        <p:nvSpPr>
          <p:cNvPr id="19" name="Text 17"/>
          <p:cNvSpPr txBox="1"/>
          <p:nvPr/>
        </p:nvSpPr>
        <p:spPr>
          <a:xfrm>
            <a:off x="530352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mit Beispiel</a:t>
            </a:r>
            <a:endParaRPr lang="en-US" sz="1300" dirty="0"/>
          </a:p>
        </p:txBody>
      </p:sp>
      <p:sp>
        <p:nvSpPr>
          <p:cNvPr id="20" name="Shape 18"/>
          <p:cNvSpPr/>
          <p:nvPr/>
        </p:nvSpPr>
        <p:spPr>
          <a:xfrm>
            <a:off x="4892040" y="3749040"/>
            <a:ext cx="256032" cy="256032"/>
          </a:xfrm>
          <a:prstGeom prst="roundRect">
            <a:avLst>
              <a:gd name="adj" fmla="val 14286"/>
            </a:avLst>
          </a:prstGeom>
          <a:solidFill>
            <a:srgbClr val="FFFFFF"/>
          </a:solidFill>
          <a:ln w="19050">
            <a:solidFill>
              <a:srgbClr val="AD4426"/>
            </a:solidFill>
            <a:prstDash val="solid"/>
          </a:ln>
        </p:spPr>
      </p:sp>
      <p:sp>
        <p:nvSpPr>
          <p:cNvPr id="21" name="Text 19"/>
          <p:cNvSpPr txBox="1"/>
          <p:nvPr/>
        </p:nvSpPr>
        <p:spPr>
          <a:xfrm>
            <a:off x="530352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erkennbar heutige Sicht („Ich halte …“)</a:t>
            </a:r>
            <a:endParaRPr lang="en-US" sz="1300" dirty="0"/>
          </a:p>
        </p:txBody>
      </p:sp>
      <p:sp>
        <p:nvSpPr>
          <p:cNvPr id="22" name="Text 20"/>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3" name="Text 21"/>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WERTURTEIL · BEISPIELE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Verschiedene Urteile – beide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188720"/>
            <a:ext cx="4023360" cy="2514600"/>
          </a:xfrm>
          <a:prstGeom prst="roundRect">
            <a:avLst>
              <a:gd name="adj" fmla="val 2909"/>
            </a:avLst>
          </a:prstGeom>
          <a:solidFill>
            <a:srgbClr val="F4ECDE"/>
          </a:solidFill>
          <a:ln w="12700">
            <a:solidFill>
              <a:srgbClr val="F4ECDE"/>
            </a:solidFill>
            <a:prstDash val="solid"/>
          </a:ln>
        </p:spPr>
      </p:sp>
      <p:sp>
        <p:nvSpPr>
          <p:cNvPr id="6" name="Text 4"/>
          <p:cNvSpPr txBox="1"/>
          <p:nvPr/>
        </p:nvSpPr>
        <p:spPr>
          <a:xfrm>
            <a:off x="68580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1: Gleichheit</a:t>
            </a:r>
            <a:endParaRPr lang="en-US" sz="1500" dirty="0"/>
          </a:p>
        </p:txBody>
      </p:sp>
      <p:sp>
        <p:nvSpPr>
          <p:cNvPr id="7" name="Text 5"/>
          <p:cNvSpPr txBox="1"/>
          <p:nvPr/>
        </p:nvSpPr>
        <p:spPr>
          <a:xfrm>
            <a:off x="68580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Gleichheit aller Bürger halte ich es für nicht gerecht, dass die Ämter vom Besitz abhingen, weil arme Bürger wie Lykon (Anliegen 1) nie selbst regieren konnten.“</a:t>
            </a:r>
            <a:endParaRPr lang="en-US" sz="1300" dirty="0"/>
          </a:p>
        </p:txBody>
      </p:sp>
      <p:sp>
        <p:nvSpPr>
          <p:cNvPr id="8" name="Shape 6"/>
          <p:cNvSpPr/>
          <p:nvPr/>
        </p:nvSpPr>
        <p:spPr>
          <a:xfrm>
            <a:off x="4663440" y="1188720"/>
            <a:ext cx="4023360" cy="2514600"/>
          </a:xfrm>
          <a:prstGeom prst="roundRect">
            <a:avLst>
              <a:gd name="adj" fmla="val 2909"/>
            </a:avLst>
          </a:prstGeom>
          <a:solidFill>
            <a:srgbClr val="F4ECDE"/>
          </a:solidFill>
          <a:ln w="12700">
            <a:solidFill>
              <a:srgbClr val="F4ECDE"/>
            </a:solidFill>
            <a:prstDash val="solid"/>
          </a:ln>
        </p:spPr>
      </p:sp>
      <p:sp>
        <p:nvSpPr>
          <p:cNvPr id="9" name="Text 7"/>
          <p:cNvSpPr txBox="1"/>
          <p:nvPr/>
        </p:nvSpPr>
        <p:spPr>
          <a:xfrm>
            <a:off x="489204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2: Leistung</a:t>
            </a:r>
            <a:endParaRPr lang="en-US" sz="1500" dirty="0"/>
          </a:p>
        </p:txBody>
      </p:sp>
      <p:sp>
        <p:nvSpPr>
          <p:cNvPr id="10" name="Text 8"/>
          <p:cNvSpPr txBox="1"/>
          <p:nvPr/>
        </p:nvSpPr>
        <p:spPr>
          <a:xfrm>
            <a:off x="489204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Leistung halte ich es für teilweise gerecht, weil die Reichen mehr Lasten trugen und man durch Besitz aufsteigen konnte wie Kallippos (Anliegen 9). Wer arm blieb, hatte aber keine Chance auf ein Amt.“</a:t>
            </a:r>
            <a:endParaRPr lang="en-US" sz="1300" dirty="0"/>
          </a:p>
        </p:txBody>
      </p:sp>
      <p:sp>
        <p:nvSpPr>
          <p:cNvPr id="11" name="Shape 9"/>
          <p:cNvSpPr/>
          <p:nvPr/>
        </p:nvSpPr>
        <p:spPr>
          <a:xfrm>
            <a:off x="457200" y="3886200"/>
            <a:ext cx="8229600" cy="640080"/>
          </a:xfrm>
          <a:prstGeom prst="roundRect">
            <a:avLst>
              <a:gd name="adj" fmla="val 11429"/>
            </a:avLst>
          </a:prstGeom>
          <a:solidFill>
            <a:srgbClr val="2B2318"/>
          </a:solidFill>
          <a:ln w="12700">
            <a:solidFill>
              <a:srgbClr val="2B2318"/>
            </a:solidFill>
            <a:prstDash val="solid"/>
          </a:ln>
        </p:spPr>
      </p:sp>
      <p:sp>
        <p:nvSpPr>
          <p:cNvPr id="12" name="Text 10"/>
          <p:cNvSpPr txBox="1"/>
          <p:nvPr/>
        </p:nvSpPr>
        <p:spPr>
          <a:xfrm>
            <a:off x="685800" y="3886200"/>
            <a:ext cx="7772400" cy="640080"/>
          </a:xfrm>
          <a:prstGeom prst="rect">
            <a:avLst/>
          </a:prstGeom>
          <a:noFill/>
          <a:ln/>
        </p:spPr>
        <p:txBody>
          <a:bodyPr wrap="square" lIns="0" tIns="0" rIns="0" bIns="0" rtlCol="0" anchor="ctr"/>
          <a:lstStyle/>
          <a:p>
            <a:pPr indent="0" marL="0">
              <a:buNone/>
            </a:pPr>
            <a:r>
              <a:rPr lang="en-US" sz="1400" b="1" dirty="0">
                <a:solidFill>
                  <a:srgbClr val="D9A441"/>
                </a:solidFill>
                <a:latin typeface="Calibri" pitchFamily="34" charset="0"/>
                <a:ea typeface="Calibri" pitchFamily="34" charset="-122"/>
                <a:cs typeface="Calibri" pitchFamily="34" charset="-120"/>
              </a:rPr>
              <a:t>Unterschiedliche Werturteile sind erlaubt – wenn der Maßstab genannt und das Urteil begründet ist.</a:t>
            </a:r>
            <a:endParaRPr lang="en-US" sz="1400" dirty="0"/>
          </a:p>
        </p:txBody>
      </p:sp>
      <p:sp>
        <p:nvSpPr>
          <p:cNvPr id="13" name="Text 1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4" name="Text 1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Bürgeramt Athen</dc:title>
  <dc:subject>PptxGenJS Presentation</dc:subject>
  <dc:creator>PptxGenJS</dc:creator>
  <cp:lastModifiedBy>PptxGenJS</cp:lastModifiedBy>
  <cp:revision>1</cp:revision>
  <dcterms:created xsi:type="dcterms:W3CDTF">2026-10-06T16:10:03Z</dcterms:created>
  <dcterms:modified xsi:type="dcterms:W3CDTF">2026-10-06T16:10:03Z</dcterms:modified>
</cp:coreProperties>
</file>