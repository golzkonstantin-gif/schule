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 wortlos zeigen. 1 Minute zu zweit Fehler suchen, dann auflösen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Bezug zu BM 1: Quelle oder Darstellung. Der Satz in der Sprechblase ist dagegen korrekt – das ist die Überleitung zum Bürgeramt.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 Pro Tisch ein Anliegen austeilen (Anliegen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 Min. Herumgehen. Häufige Lücke: nur Ja/Nein ohne Organ oder Klasse. Nachfragen: Welche Klasse? Wer ist zuständig?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12–27 Min. Reihenfolge 1–9. Pro Anliegen ca. 1½ Min. Bei falscher Entscheidung nicht selbst korrigieren, sondern fragen: „Stimmt ihr zu? Schaut ins Schaubild.“ Die Folie kann auf das Whiteboard projiziert werden, sodass die Beamten direkt hineinschreiben.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 Min. Selbstkontrolle der Ergebnistabelle. Kurzer Impuls zu 4 und 7: Der verarmte Adlige wird abgelehnt, der reiche Töpfersohn genehmigt – Besitz statt Herkunft.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29–36 Min. Erst danach die Lösung zeigen. Das Blatt kommt in den Hefter; eingesammelt zeigt es, wer das Schaubild verstanden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 Min. Selbstkontrolle, kein Plenum.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40–41 Min. Ergebnis kurz an der Tafel notieren. Erwartung: Die meisten sagen Nein (Geld statt Blut).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 Min. Partnerarbeit, kein Plenum – die Lösung kommt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45–46 Min. Vergleich mit der Daumenabfrage: Die meisten haben Nein gesagt – die Hälfte der Merkmale ist aber demokratisch.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46–52 Min. Einzelarbeit im Hefter. Danach vergleicht jeder still mit dem Beispiel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52–53 Min. Nicht korrigieren lassen – das Feedback kommt nach dem Werturteil. Auch „eher demokratisch“ ist mit Belegen vertretbar.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53–60 Min. Alle beantworten dieselbe Frage, jeder wählt seinen Maßstab selbst. Bei Bedarf Hefter einsammeln – so siehst du, wie sicher die Klasse Sach- und Werturteil inzwischen beherrscht.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60–65 Min. Herumgehen und mitlesen: Welche Punkte fehlen häufig? Zwei Blätter für die nächste Folie merken – eines, das gut gelungen ist, und eines mit typischem Fehler (vorher fragen, ob vorgelesen werden darf).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65–70 Min. Optional vorher zwei Schülerurteile vorlesen (gelungen / zu verbessern) und kurz an der Checkliste messen. Bei Bedarf Hefter einsammeln. Anschließend: Klausurvorbereitung.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1005840"/>
            <a:ext cx="7863840" cy="274320"/>
          </a:xfrm>
          <a:prstGeom prst="rect">
            <a:avLst/>
          </a:prstGeom>
          <a:noFill/>
          <a:ln/>
        </p:spPr>
        <p:txBody>
          <a:bodyPr wrap="square" lIns="0" tIns="0" rIns="0" bIns="0" rtlCol="0" anchor="t"/>
          <a:lstStyle/>
          <a:p>
            <a:pPr indent="0" marL="0">
              <a:buNone/>
            </a:pPr>
            <a:r>
              <a:rPr lang="en-US" sz="1200" b="1" spc="300" kern="0" dirty="0">
                <a:solidFill>
                  <a:srgbClr val="D9A441"/>
                </a:solidFill>
                <a:latin typeface="Calibri" pitchFamily="34" charset="0"/>
                <a:ea typeface="Calibri" pitchFamily="34" charset="-122"/>
                <a:cs typeface="Calibri" pitchFamily="34" charset="-120"/>
              </a:rPr>
              <a:t>GESCHICHTE · KLASSE 11</a:t>
            </a:r>
            <a:endParaRPr lang="en-US" sz="1200" dirty="0"/>
          </a:p>
        </p:txBody>
      </p:sp>
      <p:sp>
        <p:nvSpPr>
          <p:cNvPr id="3" name="Text 1"/>
          <p:cNvSpPr txBox="1"/>
          <p:nvPr/>
        </p:nvSpPr>
        <p:spPr>
          <a:xfrm>
            <a:off x="640080" y="1325880"/>
            <a:ext cx="786384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Bürgeramt Athen</a:t>
            </a:r>
            <a:endParaRPr lang="en-US" sz="4000" dirty="0"/>
          </a:p>
        </p:txBody>
      </p:sp>
      <p:sp>
        <p:nvSpPr>
          <p:cNvPr id="4" name="Text 2"/>
          <p:cNvSpPr txBox="1"/>
          <p:nvPr/>
        </p:nvSpPr>
        <p:spPr>
          <a:xfrm>
            <a:off x="640080" y="2148840"/>
            <a:ext cx="7863840" cy="457200"/>
          </a:xfrm>
          <a:prstGeom prst="rect">
            <a:avLst/>
          </a:prstGeom>
          <a:noFill/>
          <a:ln/>
        </p:spPr>
        <p:txBody>
          <a:bodyPr wrap="square" lIns="0" tIns="0" rIns="0" bIns="0" rtlCol="0" anchor="t"/>
          <a:lstStyle/>
          <a:p>
            <a:pPr indent="0" marL="0">
              <a:buNone/>
            </a:pPr>
            <a:r>
              <a:rPr lang="en-US" sz="1800" dirty="0">
                <a:solidFill>
                  <a:srgbClr val="E8DFD0"/>
                </a:solidFill>
                <a:latin typeface="Calibri" pitchFamily="34" charset="0"/>
                <a:ea typeface="Calibri" pitchFamily="34" charset="-122"/>
                <a:cs typeface="Calibri" pitchFamily="34" charset="-120"/>
              </a:rPr>
              <a:t>594 v. Chr. – Solons neue Ordnung gilt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E"/>
        </a:solidFill>
      </p:bgPr>
    </p:bg>
    <p:spTree>
      <p:nvGrpSpPr>
        <p:cNvPr id="1" name=""/>
        <p:cNvGrpSpPr/>
        <p:nvPr/>
      </p:nvGrpSpPr>
      <p:grpSpPr>
        <a:xfrm>
          <a:off x="0" y="0"/>
          <a:ext cx="0" cy="0"/>
          <a:chOff x="0" y="0"/>
          <a:chExt cx="0" cy="0"/>
        </a:xfrm>
      </p:grpSpPr>
      <p:pic>
        <p:nvPicPr>
          <p:cNvPr id="2" name="Image 0" descr="/tmp/claude-0/-home-user-Schule/9be99485-7769-5631-81b2-1e426720ceab/scratchpad/beamtin.png">    </p:cNvPr>
          <p:cNvPicPr>
            <a:picLocks noChangeAspect="1"/>
          </p:cNvPicPr>
          <p:nvPr/>
        </p:nvPicPr>
        <p:blipFill>
          <a:blip r:embed="rId1"/>
          <a:stretch>
            <a:fillRect/>
          </a:stretch>
        </p:blipFill>
        <p:spPr>
          <a:xfrm>
            <a:off x="914400" y="0"/>
            <a:ext cx="7315200" cy="4572000"/>
          </a:xfrm>
          <a:prstGeom prst="rect">
            <a:avLst/>
          </a:prstGeom>
        </p:spPr>
      </p:pic>
      <p:sp>
        <p:nvSpPr>
          <p:cNvPr id="3" name="Shape 0"/>
          <p:cNvSpPr/>
          <p:nvPr/>
        </p:nvSpPr>
        <p:spPr>
          <a:xfrm>
            <a:off x="0" y="4572000"/>
            <a:ext cx="9144000" cy="571500"/>
          </a:xfrm>
          <a:prstGeom prst="roundRect">
            <a:avLst>
              <a:gd name="adj" fmla="val 12800"/>
            </a:avLst>
          </a:prstGeom>
          <a:solidFill>
            <a:srgbClr val="2B2318"/>
          </a:solidFill>
          <a:ln w="12700">
            <a:solidFill>
              <a:srgbClr val="2B2318"/>
            </a:solidFill>
            <a:prstDash val="solid"/>
          </a:ln>
        </p:spPr>
      </p:sp>
      <p:sp>
        <p:nvSpPr>
          <p:cNvPr id="4" name="Text 1"/>
          <p:cNvSpPr txBox="1"/>
          <p:nvPr/>
        </p:nvSpPr>
        <p:spPr>
          <a:xfrm>
            <a:off x="365760" y="4572000"/>
            <a:ext cx="6949440" cy="571500"/>
          </a:xfrm>
          <a:prstGeom prst="rect">
            <a:avLst/>
          </a:prstGeom>
          <a:noFill/>
          <a:ln/>
        </p:spPr>
        <p:txBody>
          <a:bodyPr wrap="square" lIns="0" tIns="0" rIns="0" bIns="0" rtlCol="0" anchor="ctr"/>
          <a:lstStyle/>
          <a:p>
            <a:pPr indent="0" marL="0">
              <a:buNone/>
            </a:pPr>
            <a:r>
              <a:rPr lang="en-US" sz="1800" b="1" dirty="0">
                <a:solidFill>
                  <a:srgbClr val="D9A441"/>
                </a:solidFill>
                <a:latin typeface="Calibri" pitchFamily="34" charset="0"/>
                <a:ea typeface="Calibri" pitchFamily="34" charset="-122"/>
                <a:cs typeface="Calibri" pitchFamily="34" charset="-120"/>
              </a:rPr>
              <a:t>Was stimmt an diesem Bild nicht? Findet drei Fehler.</a:t>
            </a:r>
            <a:endParaRPr lang="en-US" sz="1800" dirty="0"/>
          </a:p>
        </p:txBody>
      </p:sp>
      <p:sp>
        <p:nvSpPr>
          <p:cNvPr id="5" name="Text 2"/>
          <p:cNvSpPr txBox="1"/>
          <p:nvPr/>
        </p:nvSpPr>
        <p:spPr>
          <a:xfrm>
            <a:off x="7589520" y="4700016"/>
            <a:ext cx="1188720" cy="310896"/>
          </a:xfrm>
          <a:prstGeom prst="roundRect">
            <a:avLst>
              <a:gd name="adj" fmla="val 29412"/>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2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AUFLÖSUNG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Drei Fehler im Bild</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Auflösung</a:t>
            </a:r>
            <a:endParaRPr lang="en-US" sz="1100" dirty="0"/>
          </a:p>
        </p:txBody>
      </p:sp>
      <p:pic>
        <p:nvPicPr>
          <p:cNvPr id="5" name="Image 0" descr="/tmp/claude-0/-home-user-Schule/9be99485-7769-5631-81b2-1e426720ceab/scratchpad/beamtin.png">    </p:cNvPr>
          <p:cNvPicPr>
            <a:picLocks noChangeAspect="1"/>
          </p:cNvPicPr>
          <p:nvPr/>
        </p:nvPicPr>
        <p:blipFill>
          <a:blip r:embed="rId1"/>
          <a:stretch>
            <a:fillRect/>
          </a:stretch>
        </p:blipFill>
        <p:spPr>
          <a:xfrm>
            <a:off x="457200" y="1234440"/>
            <a:ext cx="4206240" cy="2628900"/>
          </a:xfrm>
          <a:prstGeom prst="rect">
            <a:avLst/>
          </a:prstGeom>
        </p:spPr>
      </p:pic>
      <p:sp>
        <p:nvSpPr>
          <p:cNvPr id="6" name="Text 3"/>
          <p:cNvSpPr txBox="1"/>
          <p:nvPr/>
        </p:nvSpPr>
        <p:spPr>
          <a:xfrm>
            <a:off x="4892040" y="1325880"/>
            <a:ext cx="457200" cy="457200"/>
          </a:xfrm>
          <a:prstGeom prst="ellipse">
            <a:avLst/>
          </a:prstGeom>
          <a:solidFill>
            <a:srgbClr val="AD442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5486400" y="1252728"/>
            <a:ext cx="3200400" cy="320040"/>
          </a:xfrm>
          <a:prstGeom prst="rect">
            <a:avLst/>
          </a:prstGeom>
          <a:noFill/>
          <a:ln/>
        </p:spPr>
        <p:txBody>
          <a:bodyPr wrap="square" lIns="0" tIns="0" rIns="0" bIns="0" rtlCol="0" anchor="t"/>
          <a:lstStyle/>
          <a:p>
            <a:pPr indent="0" marL="0">
              <a:buNone/>
            </a:pPr>
            <a:r>
              <a:rPr lang="en-US" sz="1500" b="1" dirty="0">
                <a:solidFill>
                  <a:srgbClr val="2B2318"/>
                </a:solidFill>
                <a:latin typeface="Cambria" pitchFamily="34" charset="0"/>
                <a:ea typeface="Cambria" pitchFamily="34" charset="-122"/>
                <a:cs typeface="Cambria" pitchFamily="34" charset="-120"/>
              </a:rPr>
              <a:t>Eine Frau als Beamtin</a:t>
            </a:r>
            <a:endParaRPr lang="en-US" sz="1500" dirty="0"/>
          </a:p>
        </p:txBody>
      </p:sp>
      <p:sp>
        <p:nvSpPr>
          <p:cNvPr id="8" name="Text 5"/>
          <p:cNvSpPr txBox="1"/>
          <p:nvPr/>
        </p:nvSpPr>
        <p:spPr>
          <a:xfrm>
            <a:off x="5486400" y="1600200"/>
            <a:ext cx="3200400" cy="502920"/>
          </a:xfrm>
          <a:prstGeom prst="rect">
            <a:avLst/>
          </a:prstGeom>
          <a:noFill/>
          <a:ln/>
        </p:spPr>
        <p:txBody>
          <a:bodyPr wrap="square" lIns="0" tIns="0" rIns="0" bIns="0" rtlCol="0" anchor="t"/>
          <a:lstStyle/>
          <a:p>
            <a:pPr indent="0" marL="0">
              <a:buNone/>
            </a:pPr>
            <a:r>
              <a:rPr lang="en-US" sz="1200" dirty="0">
                <a:solidFill>
                  <a:srgbClr val="5A5044"/>
                </a:solidFill>
                <a:latin typeface="Calibri" pitchFamily="34" charset="0"/>
                <a:ea typeface="Calibri" pitchFamily="34" charset="-122"/>
                <a:cs typeface="Calibri" pitchFamily="34" charset="-120"/>
              </a:rPr>
              <a:t>Frauen hatten in Athen keine Ämter und keine politischen Rechte.</a:t>
            </a:r>
            <a:endParaRPr lang="en-US" sz="1200" dirty="0"/>
          </a:p>
        </p:txBody>
      </p:sp>
      <p:sp>
        <p:nvSpPr>
          <p:cNvPr id="9" name="Text 6"/>
          <p:cNvSpPr txBox="1"/>
          <p:nvPr/>
        </p:nvSpPr>
        <p:spPr>
          <a:xfrm>
            <a:off x="4892040" y="2240280"/>
            <a:ext cx="457200" cy="457200"/>
          </a:xfrm>
          <a:prstGeom prst="ellipse">
            <a:avLst/>
          </a:prstGeom>
          <a:solidFill>
            <a:srgbClr val="AD442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7"/>
          <p:cNvSpPr txBox="1"/>
          <p:nvPr/>
        </p:nvSpPr>
        <p:spPr>
          <a:xfrm>
            <a:off x="5486400" y="2167128"/>
            <a:ext cx="3200400" cy="320040"/>
          </a:xfrm>
          <a:prstGeom prst="rect">
            <a:avLst/>
          </a:prstGeom>
          <a:noFill/>
          <a:ln/>
        </p:spPr>
        <p:txBody>
          <a:bodyPr wrap="square" lIns="0" tIns="0" rIns="0" bIns="0" rtlCol="0" anchor="t"/>
          <a:lstStyle/>
          <a:p>
            <a:pPr indent="0" marL="0">
              <a:buNone/>
            </a:pPr>
            <a:r>
              <a:rPr lang="en-US" sz="1500" b="1" dirty="0">
                <a:solidFill>
                  <a:srgbClr val="2B2318"/>
                </a:solidFill>
                <a:latin typeface="Cambria" pitchFamily="34" charset="0"/>
                <a:ea typeface="Cambria" pitchFamily="34" charset="-122"/>
                <a:cs typeface="Cambria" pitchFamily="34" charset="-120"/>
              </a:rPr>
              <a:t>Die Brille</a:t>
            </a:r>
            <a:endParaRPr lang="en-US" sz="1500" dirty="0"/>
          </a:p>
        </p:txBody>
      </p:sp>
      <p:sp>
        <p:nvSpPr>
          <p:cNvPr id="11" name="Text 8"/>
          <p:cNvSpPr txBox="1"/>
          <p:nvPr/>
        </p:nvSpPr>
        <p:spPr>
          <a:xfrm>
            <a:off x="5486400" y="2514600"/>
            <a:ext cx="3200400" cy="502920"/>
          </a:xfrm>
          <a:prstGeom prst="rect">
            <a:avLst/>
          </a:prstGeom>
          <a:noFill/>
          <a:ln/>
        </p:spPr>
        <p:txBody>
          <a:bodyPr wrap="square" lIns="0" tIns="0" rIns="0" bIns="0" rtlCol="0" anchor="t"/>
          <a:lstStyle/>
          <a:p>
            <a:pPr indent="0" marL="0">
              <a:buNone/>
            </a:pPr>
            <a:r>
              <a:rPr lang="en-US" sz="1200" dirty="0">
                <a:solidFill>
                  <a:srgbClr val="5A5044"/>
                </a:solidFill>
                <a:latin typeface="Calibri" pitchFamily="34" charset="0"/>
                <a:ea typeface="Calibri" pitchFamily="34" charset="-122"/>
                <a:cs typeface="Calibri" pitchFamily="34" charset="-120"/>
              </a:rPr>
              <a:t>Brillen gibt es erst seit dem Mittelalter (13. Jh.).</a:t>
            </a:r>
            <a:endParaRPr lang="en-US" sz="1200" dirty="0"/>
          </a:p>
        </p:txBody>
      </p:sp>
      <p:sp>
        <p:nvSpPr>
          <p:cNvPr id="12" name="Text 9"/>
          <p:cNvSpPr txBox="1"/>
          <p:nvPr/>
        </p:nvSpPr>
        <p:spPr>
          <a:xfrm>
            <a:off x="4892040" y="3154680"/>
            <a:ext cx="457200" cy="457200"/>
          </a:xfrm>
          <a:prstGeom prst="ellipse">
            <a:avLst/>
          </a:prstGeom>
          <a:solidFill>
            <a:srgbClr val="AD442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0"/>
          <p:cNvSpPr txBox="1"/>
          <p:nvPr/>
        </p:nvSpPr>
        <p:spPr>
          <a:xfrm>
            <a:off x="5486400" y="3081528"/>
            <a:ext cx="3200400" cy="320040"/>
          </a:xfrm>
          <a:prstGeom prst="rect">
            <a:avLst/>
          </a:prstGeom>
          <a:noFill/>
          <a:ln/>
        </p:spPr>
        <p:txBody>
          <a:bodyPr wrap="square" lIns="0" tIns="0" rIns="0" bIns="0" rtlCol="0" anchor="t"/>
          <a:lstStyle/>
          <a:p>
            <a:pPr indent="0" marL="0">
              <a:buNone/>
            </a:pPr>
            <a:r>
              <a:rPr lang="en-US" sz="1500" b="1" dirty="0">
                <a:solidFill>
                  <a:srgbClr val="2B2318"/>
                </a:solidFill>
                <a:latin typeface="Cambria" pitchFamily="34" charset="0"/>
                <a:ea typeface="Cambria" pitchFamily="34" charset="-122"/>
                <a:cs typeface="Cambria" pitchFamily="34" charset="-120"/>
              </a:rPr>
              <a:t>Der Kaffee</a:t>
            </a:r>
            <a:endParaRPr lang="en-US" sz="1500" dirty="0"/>
          </a:p>
        </p:txBody>
      </p:sp>
      <p:sp>
        <p:nvSpPr>
          <p:cNvPr id="14" name="Text 11"/>
          <p:cNvSpPr txBox="1"/>
          <p:nvPr/>
        </p:nvSpPr>
        <p:spPr>
          <a:xfrm>
            <a:off x="5486400" y="3429000"/>
            <a:ext cx="3200400" cy="502920"/>
          </a:xfrm>
          <a:prstGeom prst="rect">
            <a:avLst/>
          </a:prstGeom>
          <a:noFill/>
          <a:ln/>
        </p:spPr>
        <p:txBody>
          <a:bodyPr wrap="square" lIns="0" tIns="0" rIns="0" bIns="0" rtlCol="0" anchor="t"/>
          <a:lstStyle/>
          <a:p>
            <a:pPr indent="0" marL="0">
              <a:buNone/>
            </a:pPr>
            <a:r>
              <a:rPr lang="en-US" sz="1200" dirty="0">
                <a:solidFill>
                  <a:srgbClr val="5A5044"/>
                </a:solidFill>
                <a:latin typeface="Calibri" pitchFamily="34" charset="0"/>
                <a:ea typeface="Calibri" pitchFamily="34" charset="-122"/>
                <a:cs typeface="Calibri" pitchFamily="34" charset="-120"/>
              </a:rPr>
              <a:t>Kaffee kam erst im 17. Jahrhundert nach Europa.</a:t>
            </a:r>
            <a:endParaRPr lang="en-US" sz="1200" dirty="0"/>
          </a:p>
        </p:txBody>
      </p:sp>
      <p:sp>
        <p:nvSpPr>
          <p:cNvPr id="15" name="Shape 12"/>
          <p:cNvSpPr/>
          <p:nvPr/>
        </p:nvSpPr>
        <p:spPr>
          <a:xfrm>
            <a:off x="457200" y="4069080"/>
            <a:ext cx="8229600" cy="502920"/>
          </a:xfrm>
          <a:prstGeom prst="roundRect">
            <a:avLst>
              <a:gd name="adj" fmla="val 14545"/>
            </a:avLst>
          </a:prstGeom>
          <a:solidFill>
            <a:srgbClr val="2B2318"/>
          </a:solidFill>
          <a:ln w="12700">
            <a:solidFill>
              <a:srgbClr val="2B2318"/>
            </a:solidFill>
            <a:prstDash val="solid"/>
          </a:ln>
        </p:spPr>
      </p:sp>
      <p:sp>
        <p:nvSpPr>
          <p:cNvPr id="16" name="Text 13"/>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Ein Bild ist eine Darstellung, keine Quelle – es kann sich irren. Was aber stimmt: Seit Solon zählt der Besitz.</a:t>
            </a:r>
            <a:endParaRPr lang="en-US" sz="1250" dirty="0"/>
          </a:p>
        </p:txBody>
      </p:sp>
      <p:sp>
        <p:nvSpPr>
          <p:cNvPr id="17"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8"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EINSTIEG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Willkommen im Bürgeramt!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Min.</a:t>
            </a:r>
            <a:endParaRPr lang="en-US" sz="1100" dirty="0"/>
          </a:p>
        </p:txBody>
      </p:sp>
      <p:sp>
        <p:nvSpPr>
          <p:cNvPr id="5" name="Shape 3"/>
          <p:cNvSpPr/>
          <p:nvPr/>
        </p:nvSpPr>
        <p:spPr>
          <a:xfrm>
            <a:off x="457200" y="1234440"/>
            <a:ext cx="8229600" cy="1508760"/>
          </a:xfrm>
          <a:prstGeom prst="roundRect">
            <a:avLst>
              <a:gd name="adj" fmla="val 4848"/>
            </a:avLst>
          </a:prstGeom>
          <a:solidFill>
            <a:srgbClr val="F4ECDE"/>
          </a:solidFill>
          <a:ln w="12700">
            <a:solidFill>
              <a:srgbClr val="F4ECDE"/>
            </a:solidFill>
            <a:prstDash val="solid"/>
          </a:ln>
        </p:spPr>
      </p:sp>
      <p:sp>
        <p:nvSpPr>
          <p:cNvPr id="6" name="Text 4"/>
          <p:cNvSpPr txBox="1"/>
          <p:nvPr/>
        </p:nvSpPr>
        <p:spPr>
          <a:xfrm>
            <a:off x="731520" y="1325880"/>
            <a:ext cx="7680960" cy="1325880"/>
          </a:xfrm>
          <a:prstGeom prst="rect">
            <a:avLst/>
          </a:prstGeom>
          <a:noFill/>
          <a:ln/>
        </p:spPr>
        <p:txBody>
          <a:bodyPr wrap="square" lIns="0" tIns="0" rIns="0" bIns="0" rtlCol="0" anchor="ctr"/>
          <a:lstStyle/>
          <a:p>
            <a:pPr indent="0" marL="0">
              <a:buNone/>
            </a:pPr>
            <a:r>
              <a:rPr lang="en-US" sz="1700" dirty="0">
                <a:solidFill>
                  <a:srgbClr val="2B2318"/>
                </a:solidFill>
                <a:latin typeface="Cambria" pitchFamily="34" charset="0"/>
                <a:ea typeface="Cambria" pitchFamily="34" charset="-122"/>
                <a:cs typeface="Cambria" pitchFamily="34" charset="-120"/>
              </a:rPr>
              <a:t>Athen, 594 v. Chr.: Solons Reform ist beschlossen. Neun Bürger haben Anträge gestellt. Ihr seid die Beamten im Bürgeramt – ihr entscheidet: genehmigt oder abgelehnt?</a:t>
            </a:r>
            <a:endParaRPr lang="en-US" sz="1700" dirty="0"/>
          </a:p>
        </p:txBody>
      </p:sp>
      <p:sp>
        <p:nvSpPr>
          <p:cNvPr id="7" name="Shape 5"/>
          <p:cNvSpPr/>
          <p:nvPr/>
        </p:nvSpPr>
        <p:spPr>
          <a:xfrm>
            <a:off x="457200" y="2971800"/>
            <a:ext cx="2606040" cy="1417320"/>
          </a:xfrm>
          <a:prstGeom prst="roundRect">
            <a:avLst>
              <a:gd name="adj" fmla="val 5161"/>
            </a:avLst>
          </a:prstGeom>
          <a:solidFill>
            <a:srgbClr val="2B2318"/>
          </a:solidFill>
          <a:ln w="12700">
            <a:solidFill>
              <a:srgbClr val="2B2318"/>
            </a:solidFill>
            <a:prstDash val="solid"/>
          </a:ln>
        </p:spPr>
      </p:sp>
      <p:sp>
        <p:nvSpPr>
          <p:cNvPr id="8" name="Text 6"/>
          <p:cNvSpPr txBox="1"/>
          <p:nvPr/>
        </p:nvSpPr>
        <p:spPr>
          <a:xfrm>
            <a:off x="640080" y="3063240"/>
            <a:ext cx="2286000" cy="320040"/>
          </a:xfrm>
          <a:prstGeom prst="rect">
            <a:avLst/>
          </a:prstGeom>
          <a:noFill/>
          <a:ln/>
        </p:spPr>
        <p:txBody>
          <a:bodyPr wrap="square" lIns="0" tIns="0" rIns="0" bIns="0" rtlCol="0" anchor="t"/>
          <a:lstStyle/>
          <a:p>
            <a:pPr indent="0" marL="0">
              <a:buNone/>
            </a:pPr>
            <a:r>
              <a:rPr lang="en-US" sz="1400" b="1" dirty="0">
                <a:solidFill>
                  <a:srgbClr val="D9A441"/>
                </a:solidFill>
                <a:latin typeface="Calibri" pitchFamily="34" charset="0"/>
                <a:ea typeface="Calibri" pitchFamily="34" charset="-122"/>
                <a:cs typeface="Calibri" pitchFamily="34" charset="-120"/>
              </a:rPr>
              <a:t>Euer Werkzeug</a:t>
            </a:r>
            <a:endParaRPr lang="en-US" sz="1400" dirty="0"/>
          </a:p>
        </p:txBody>
      </p:sp>
      <p:sp>
        <p:nvSpPr>
          <p:cNvPr id="9" name="Text 7"/>
          <p:cNvSpPr txBox="1"/>
          <p:nvPr/>
        </p:nvSpPr>
        <p:spPr>
          <a:xfrm>
            <a:off x="640080" y="3429000"/>
            <a:ext cx="228600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das Verfassungsschaubild (LB S. 21)</a:t>
            </a:r>
            <a:endParaRPr lang="en-US" sz="1300" dirty="0"/>
          </a:p>
        </p:txBody>
      </p:sp>
      <p:sp>
        <p:nvSpPr>
          <p:cNvPr id="10" name="Shape 8"/>
          <p:cNvSpPr/>
          <p:nvPr/>
        </p:nvSpPr>
        <p:spPr>
          <a:xfrm>
            <a:off x="3246120" y="2971800"/>
            <a:ext cx="2606040" cy="1417320"/>
          </a:xfrm>
          <a:prstGeom prst="roundRect">
            <a:avLst>
              <a:gd name="adj" fmla="val 5161"/>
            </a:avLst>
          </a:prstGeom>
          <a:solidFill>
            <a:srgbClr val="2B2318"/>
          </a:solidFill>
          <a:ln w="12700">
            <a:solidFill>
              <a:srgbClr val="2B2318"/>
            </a:solidFill>
            <a:prstDash val="solid"/>
          </a:ln>
        </p:spPr>
      </p:sp>
      <p:sp>
        <p:nvSpPr>
          <p:cNvPr id="11" name="Text 9"/>
          <p:cNvSpPr txBox="1"/>
          <p:nvPr/>
        </p:nvSpPr>
        <p:spPr>
          <a:xfrm>
            <a:off x="3429000" y="3063240"/>
            <a:ext cx="2286000" cy="320040"/>
          </a:xfrm>
          <a:prstGeom prst="rect">
            <a:avLst/>
          </a:prstGeom>
          <a:noFill/>
          <a:ln/>
        </p:spPr>
        <p:txBody>
          <a:bodyPr wrap="square" lIns="0" tIns="0" rIns="0" bIns="0" rtlCol="0" anchor="t"/>
          <a:lstStyle/>
          <a:p>
            <a:pPr indent="0" marL="0">
              <a:buNone/>
            </a:pPr>
            <a:r>
              <a:rPr lang="en-US" sz="1400" b="1" dirty="0">
                <a:solidFill>
                  <a:srgbClr val="D9A441"/>
                </a:solidFill>
                <a:latin typeface="Calibri" pitchFamily="34" charset="0"/>
                <a:ea typeface="Calibri" pitchFamily="34" charset="-122"/>
                <a:cs typeface="Calibri" pitchFamily="34" charset="-120"/>
              </a:rPr>
              <a:t>Eure Entscheidung</a:t>
            </a:r>
            <a:endParaRPr lang="en-US" sz="1400" dirty="0"/>
          </a:p>
        </p:txBody>
      </p:sp>
      <p:sp>
        <p:nvSpPr>
          <p:cNvPr id="12" name="Text 10"/>
          <p:cNvSpPr txBox="1"/>
          <p:nvPr/>
        </p:nvSpPr>
        <p:spPr>
          <a:xfrm>
            <a:off x="3429000" y="3429000"/>
            <a:ext cx="228600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genehmigt oder abgelehnt – mit Begründung</a:t>
            </a:r>
            <a:endParaRPr lang="en-US" sz="1300" dirty="0"/>
          </a:p>
        </p:txBody>
      </p:sp>
      <p:sp>
        <p:nvSpPr>
          <p:cNvPr id="13" name="Shape 11"/>
          <p:cNvSpPr/>
          <p:nvPr/>
        </p:nvSpPr>
        <p:spPr>
          <a:xfrm>
            <a:off x="6035040" y="2971800"/>
            <a:ext cx="2606040" cy="1417320"/>
          </a:xfrm>
          <a:prstGeom prst="roundRect">
            <a:avLst>
              <a:gd name="adj" fmla="val 5161"/>
            </a:avLst>
          </a:prstGeom>
          <a:solidFill>
            <a:srgbClr val="2B2318"/>
          </a:solidFill>
          <a:ln w="12700">
            <a:solidFill>
              <a:srgbClr val="2B2318"/>
            </a:solidFill>
            <a:prstDash val="solid"/>
          </a:ln>
        </p:spPr>
      </p:sp>
      <p:sp>
        <p:nvSpPr>
          <p:cNvPr id="14" name="Text 12"/>
          <p:cNvSpPr txBox="1"/>
          <p:nvPr/>
        </p:nvSpPr>
        <p:spPr>
          <a:xfrm>
            <a:off x="6217920" y="3063240"/>
            <a:ext cx="2286000" cy="320040"/>
          </a:xfrm>
          <a:prstGeom prst="rect">
            <a:avLst/>
          </a:prstGeom>
          <a:noFill/>
          <a:ln/>
        </p:spPr>
        <p:txBody>
          <a:bodyPr wrap="square" lIns="0" tIns="0" rIns="0" bIns="0" rtlCol="0" anchor="t"/>
          <a:lstStyle/>
          <a:p>
            <a:pPr indent="0" marL="0">
              <a:buNone/>
            </a:pPr>
            <a:r>
              <a:rPr lang="en-US" sz="1400" b="1" dirty="0">
                <a:solidFill>
                  <a:srgbClr val="D9A441"/>
                </a:solidFill>
                <a:latin typeface="Calibri" pitchFamily="34" charset="0"/>
                <a:ea typeface="Calibri" pitchFamily="34" charset="-122"/>
                <a:cs typeface="Calibri" pitchFamily="34" charset="-120"/>
              </a:rPr>
              <a:t>Am Ende</a:t>
            </a:r>
            <a:endParaRPr lang="en-US" sz="1400" dirty="0"/>
          </a:p>
        </p:txBody>
      </p:sp>
      <p:sp>
        <p:nvSpPr>
          <p:cNvPr id="15" name="Text 13"/>
          <p:cNvSpPr txBox="1"/>
          <p:nvPr/>
        </p:nvSpPr>
        <p:spPr>
          <a:xfrm>
            <a:off x="6217920" y="3429000"/>
            <a:ext cx="228600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Buch und Heft zu: Könnt ihr das Schaubild aus dem Kopf?</a:t>
            </a:r>
            <a:endParaRPr lang="en-US" sz="1300" dirty="0"/>
          </a:p>
        </p:txBody>
      </p:sp>
      <p:sp>
        <p:nvSpPr>
          <p:cNvPr id="16"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7"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SCHRITT 1 · AM TISCH · HEFT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Entscheidet über euer Anliegen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 Min.</a:t>
            </a:r>
            <a:endParaRPr lang="en-US" sz="1100" dirty="0"/>
          </a:p>
        </p:txBody>
      </p:sp>
      <p:sp>
        <p:nvSpPr>
          <p:cNvPr id="5" name="Text 3"/>
          <p:cNvSpPr txBox="1"/>
          <p:nvPr/>
        </p:nvSpPr>
        <p:spPr>
          <a:xfrm>
            <a:off x="457200" y="1234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960120" y="1197864"/>
            <a:ext cx="4617720" cy="585216"/>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Lest das Anliegen auf eurer Karte.</a:t>
            </a:r>
            <a:endParaRPr lang="en-US" sz="1300" dirty="0"/>
          </a:p>
        </p:txBody>
      </p:sp>
      <p:sp>
        <p:nvSpPr>
          <p:cNvPr id="7" name="Text 5"/>
          <p:cNvSpPr txBox="1"/>
          <p:nvPr/>
        </p:nvSpPr>
        <p:spPr>
          <a:xfrm>
            <a:off x="457200" y="1856232"/>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960120" y="1819656"/>
            <a:ext cx="4617720" cy="585216"/>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Prüft mit dem Schaubild (LB S. 21): Welche Klasse? Welche Organe sind betroffen?</a:t>
            </a:r>
            <a:endParaRPr lang="en-US" sz="1300" dirty="0"/>
          </a:p>
        </p:txBody>
      </p:sp>
      <p:sp>
        <p:nvSpPr>
          <p:cNvPr id="9" name="Text 7"/>
          <p:cNvSpPr txBox="1"/>
          <p:nvPr/>
        </p:nvSpPr>
        <p:spPr>
          <a:xfrm>
            <a:off x="457200" y="247802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0" name="Text 8"/>
          <p:cNvSpPr txBox="1"/>
          <p:nvPr/>
        </p:nvSpPr>
        <p:spPr>
          <a:xfrm>
            <a:off x="960120" y="2441448"/>
            <a:ext cx="4617720" cy="585216"/>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Entscheidet: genehmigt oder abgelehnt?</a:t>
            </a:r>
            <a:endParaRPr lang="en-US" sz="1300" dirty="0"/>
          </a:p>
        </p:txBody>
      </p:sp>
      <p:sp>
        <p:nvSpPr>
          <p:cNvPr id="11" name="Text 9"/>
          <p:cNvSpPr txBox="1"/>
          <p:nvPr/>
        </p:nvSpPr>
        <p:spPr>
          <a:xfrm>
            <a:off x="457200" y="3099816"/>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60120" y="3063240"/>
            <a:ext cx="4617720" cy="585216"/>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Jeder schreibt die Entscheidung mit Begründung ins Heft.</a:t>
            </a:r>
            <a:endParaRPr lang="en-US" sz="1300" dirty="0"/>
          </a:p>
        </p:txBody>
      </p:sp>
      <p:sp>
        <p:nvSpPr>
          <p:cNvPr id="13" name="Text 11"/>
          <p:cNvSpPr txBox="1"/>
          <p:nvPr/>
        </p:nvSpPr>
        <p:spPr>
          <a:xfrm>
            <a:off x="457200" y="3721608"/>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4" name="Text 12"/>
          <p:cNvSpPr txBox="1"/>
          <p:nvPr/>
        </p:nvSpPr>
        <p:spPr>
          <a:xfrm>
            <a:off x="960120" y="3685032"/>
            <a:ext cx="4617720" cy="585216"/>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Bestimmt einen „Beamten“, der eure Entscheidung an der Tafel einträgt und begründet.</a:t>
            </a:r>
            <a:endParaRPr lang="en-US" sz="1300" dirty="0"/>
          </a:p>
        </p:txBody>
      </p:sp>
      <p:sp>
        <p:nvSpPr>
          <p:cNvPr id="15" name="Shape 13"/>
          <p:cNvSpPr/>
          <p:nvPr/>
        </p:nvSpPr>
        <p:spPr>
          <a:xfrm>
            <a:off x="5806440" y="1234440"/>
            <a:ext cx="2880360" cy="3154680"/>
          </a:xfrm>
          <a:prstGeom prst="roundRect">
            <a:avLst>
              <a:gd name="adj" fmla="val 2540"/>
            </a:avLst>
          </a:prstGeom>
          <a:solidFill>
            <a:srgbClr val="2B2318"/>
          </a:solidFill>
          <a:ln w="12700">
            <a:solidFill>
              <a:srgbClr val="2B2318"/>
            </a:solidFill>
            <a:prstDash val="solid"/>
          </a:ln>
        </p:spPr>
      </p:sp>
      <p:sp>
        <p:nvSpPr>
          <p:cNvPr id="16" name="Text 14"/>
          <p:cNvSpPr txBox="1"/>
          <p:nvPr/>
        </p:nvSpPr>
        <p:spPr>
          <a:xfrm>
            <a:off x="5989320" y="1344168"/>
            <a:ext cx="2560320" cy="320040"/>
          </a:xfrm>
          <a:prstGeom prst="rect">
            <a:avLst/>
          </a:prstGeom>
          <a:noFill/>
          <a:ln/>
        </p:spPr>
        <p:txBody>
          <a:bodyPr wrap="square" lIns="0" tIns="0" rIns="0" bIns="0" rtlCol="0" anchor="t"/>
          <a:lstStyle/>
          <a:p>
            <a:pPr indent="0" marL="0">
              <a:buNone/>
            </a:pPr>
            <a:r>
              <a:rPr lang="en-US" sz="1500" b="1" dirty="0">
                <a:solidFill>
                  <a:srgbClr val="D9A441"/>
                </a:solidFill>
                <a:latin typeface="Cambria" pitchFamily="34" charset="0"/>
                <a:ea typeface="Cambria" pitchFamily="34" charset="-122"/>
                <a:cs typeface="Cambria" pitchFamily="34" charset="-120"/>
              </a:rPr>
              <a:t>So schreibt ihr</a:t>
            </a:r>
            <a:endParaRPr lang="en-US" sz="1500" dirty="0"/>
          </a:p>
        </p:txBody>
      </p:sp>
      <p:sp>
        <p:nvSpPr>
          <p:cNvPr id="17" name="Text 15"/>
          <p:cNvSpPr txBox="1"/>
          <p:nvPr/>
        </p:nvSpPr>
        <p:spPr>
          <a:xfrm>
            <a:off x="5989320" y="1783080"/>
            <a:ext cx="2560320" cy="2468880"/>
          </a:xfrm>
          <a:prstGeom prst="rect">
            <a:avLst/>
          </a:prstGeom>
          <a:noFill/>
          <a:ln/>
        </p:spPr>
        <p:txBody>
          <a:bodyPr wrap="square" lIns="0" tIns="0" rIns="0" bIns="0" rtlCol="0" anchor="t"/>
          <a:lstStyle/>
          <a:p>
            <a:pPr indent="0" marL="0">
              <a:buNone/>
            </a:pPr>
            <a:r>
              <a:rPr lang="en-US" sz="1300" i="1" dirty="0">
                <a:solidFill>
                  <a:srgbClr val="E8DFD0"/>
                </a:solidFill>
                <a:latin typeface="Calibri" pitchFamily="34" charset="0"/>
                <a:ea typeface="Calibri" pitchFamily="34" charset="-122"/>
                <a:cs typeface="Calibri" pitchFamily="34" charset="-120"/>
              </a:rPr>
              <a:t>„Der Antrag von … wird genehmigt / abgelehnt, weil …</a:t>
            </a:r>
            <a:endParaRPr lang="en-US" sz="1300" dirty="0"/>
          </a:p>
          <a:p>
            <a:pPr indent="0" marL="0">
              <a:buNone/>
            </a:pPr>
            <a:r>
              <a:rPr lang="en-US" sz="600" i="1" dirty="0">
                <a:solidFill>
                  <a:srgbClr val="E8DFD0"/>
                </a:solidFill>
                <a:latin typeface="Calibri" pitchFamily="34" charset="0"/>
                <a:ea typeface="Calibri" pitchFamily="34" charset="-122"/>
                <a:cs typeface="Calibri" pitchFamily="34" charset="-120"/>
              </a:rPr>
              <a:t> </a:t>
            </a:r>
            <a:endParaRPr lang="en-US" sz="1300" dirty="0"/>
          </a:p>
          <a:p>
            <a:pPr indent="0" marL="0">
              <a:buNone/>
            </a:pPr>
            <a:r>
              <a:rPr lang="en-US" sz="1300" i="1" dirty="0">
                <a:solidFill>
                  <a:srgbClr val="E8DFD0"/>
                </a:solidFill>
                <a:latin typeface="Calibri" pitchFamily="34" charset="0"/>
                <a:ea typeface="Calibri" pitchFamily="34" charset="-122"/>
                <a:cs typeface="Calibri" pitchFamily="34" charset="-120"/>
              </a:rPr>
              <a:t>Er gehört zur … Klasse. Deshalb darf er …</a:t>
            </a:r>
            <a:endParaRPr lang="en-US" sz="1300" dirty="0"/>
          </a:p>
          <a:p>
            <a:pPr indent="0" marL="0">
              <a:buNone/>
            </a:pPr>
            <a:r>
              <a:rPr lang="en-US" sz="600" i="1" dirty="0">
                <a:solidFill>
                  <a:srgbClr val="E8DFD0"/>
                </a:solidFill>
                <a:latin typeface="Calibri" pitchFamily="34" charset="0"/>
                <a:ea typeface="Calibri" pitchFamily="34" charset="-122"/>
                <a:cs typeface="Calibri" pitchFamily="34" charset="-120"/>
              </a:rPr>
              <a:t> </a:t>
            </a:r>
            <a:endParaRPr lang="en-US" sz="1300" dirty="0"/>
          </a:p>
          <a:p>
            <a:pPr indent="0" marL="0">
              <a:buNone/>
            </a:pPr>
            <a:r>
              <a:rPr lang="en-US" sz="1300" i="1" dirty="0">
                <a:solidFill>
                  <a:srgbClr val="E8DFD0"/>
                </a:solidFill>
                <a:latin typeface="Calibri" pitchFamily="34" charset="0"/>
                <a:ea typeface="Calibri" pitchFamily="34" charset="-122"/>
                <a:cs typeface="Calibri" pitchFamily="34" charset="-120"/>
              </a:rPr>
              <a:t>Zuständig ist … (Organ).“</a:t>
            </a:r>
            <a:endParaRPr lang="en-US" sz="1300" dirty="0"/>
          </a:p>
        </p:txBody>
      </p:sp>
      <p:sp>
        <p:nvSpPr>
          <p:cNvPr id="18" name="Text 16"/>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9" name="Text 17"/>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SCHRITT 2 · TAFEL · ERGEBNISTABELLE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Die Entscheidungen des Bürgeramts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 Min.</a:t>
            </a:r>
            <a:endParaRPr lang="en-US" sz="1100" dirty="0"/>
          </a:p>
        </p:txBody>
      </p:sp>
      <p:sp>
        <p:nvSpPr>
          <p:cNvPr id="5" name="Text 3"/>
          <p:cNvSpPr txBox="1"/>
          <p:nvPr/>
        </p:nvSpPr>
        <p:spPr>
          <a:xfrm>
            <a:off x="457200" y="1051560"/>
            <a:ext cx="8229600" cy="274320"/>
          </a:xfrm>
          <a:prstGeom prst="rect">
            <a:avLst/>
          </a:prstGeom>
          <a:noFill/>
          <a:ln/>
        </p:spPr>
        <p:txBody>
          <a:bodyPr wrap="square" lIns="0" tIns="0" rIns="0" bIns="0" rtlCol="0" anchor="t"/>
          <a:lstStyle/>
          <a:p>
            <a:pPr indent="0" marL="0">
              <a:buNone/>
            </a:pPr>
            <a:r>
              <a:rPr lang="en-US" sz="1250" b="1" dirty="0">
                <a:solidFill>
                  <a:srgbClr val="5A5044"/>
                </a:solidFill>
                <a:latin typeface="Calibri" pitchFamily="34" charset="0"/>
                <a:ea typeface="Calibri" pitchFamily="34" charset="-122"/>
                <a:cs typeface="Calibri" pitchFamily="34" charset="-120"/>
              </a:rPr>
              <a:t>Die Beamten tragen ein und begründen in einem Satz. Alle füllen ihre Ergebnistabelle aus.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65760"/>
                <a:gridCol w="2514600"/>
                <a:gridCol w="365760"/>
                <a:gridCol w="365760"/>
                <a:gridCol w="4617720"/>
              </a:tblGrid>
              <a:tr h="23774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Nr.</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Anliegen</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weil …</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Lykon (Thete) will Archont werden.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Demeas will gegen einen Beamten klagen.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Kleitos (Ritter) will in den Rat der 400.</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Megakles (Adliger, 150 Scheffel) will Archont werden.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Philon (ehem. Archont) will in den Areopag.</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Thessale (Frau eines Ritters) will in der Volksversammlung abstimmen.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Hipponikos (reicher Händler, nicht adlig) will Archont werden.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Nikon (Thete) will über einen Krieg mitentscheiden.</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29184">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950" dirty="0">
                          <a:solidFill>
                            <a:srgbClr val="2B2318"/>
                          </a:solidFill>
                          <a:latin typeface="Calibri" pitchFamily="34" charset="0"/>
                          <a:ea typeface="Calibri" pitchFamily="34" charset="-122"/>
                          <a:cs typeface="Calibri" pitchFamily="34" charset="-120"/>
                        </a:rPr>
                        <a:t>Kallippos (Hoplit, jetzt 520 Scheffel) will in die 1. Klasse.</a:t>
                      </a:r>
                      <a:endParaRPr lang="en-US" sz="9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SCHRITT 2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Die Entscheidungen des Bürgeramts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320040"/>
                <a:gridCol w="2103120"/>
                <a:gridCol w="320040"/>
                <a:gridCol w="320040"/>
                <a:gridCol w="5166360"/>
              </a:tblGrid>
              <a:tr h="23774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Nr.</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Anliegen</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weil …</a:t>
                      </a:r>
                      <a:endParaRPr lang="en-US" sz="11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Lykon (Thete) will Archont werden.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AD442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Nur die 1. Klasse (ab 500 Scheffel) kann Archont werden. Theten dürfen nur wählen, nicht gewählt werden.</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Demeas will gegen einen Beamten klagen.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Jeder Bürger darf klagen – vor der Volksversammlung oder dem Geschworenengericht. Die Volksversammlung entscheidet über Klagen gegen Beamte.</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Kleitos (Ritter) will in den Rat der 400.</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Die Klassen 1–3 können in den Rat der 400 gewählt werden. Gewählt wird er von den Phylen.</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Megakles (Adliger, 150 Scheffel) will Archont werden.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AD442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Seit Solon zählt der Besitz, nicht die Herkunft. Mit 150 Scheffeln gehört er zu den Theten.</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Philon (ehem. Archont) will in den Areopag.</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Ehemalige Archonten werden Mitglied im Areopag. Er beaufsichtigt Verfassung und Beamte.</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Thessale (Frau eines Ritters) will in der Volksversammlung abstimmen.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AD442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Zur Volksversammlung gehören nur männliche Bürger über 20. Frauen haben keine politischen Rechte.</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Hipponikos (reicher Händler, nicht adlig) will Archont werden.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Sein Einkommen entspricht über 500 Scheffeln, also gehört er zur 1. Klasse. Die Herkunft zählt nicht mehr.</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Nikon (Thete) will über einen Krieg mitentscheiden.</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Alle Bürger über 20 stimmen in der Volksversammlung über Krieg und Frieden ab. Der Rat der 400 bereitet vor, die Archonten führen aus.</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342900">
                <a:tc>
                  <a:txBody>
                    <a:bodyPr/>
                    <a:lstStyle/>
                    <a:p>
                      <a:pPr algn="ctr" indent="0" marL="0">
                        <a:buNone/>
                      </a:pPr>
                      <a:r>
                        <a:rPr lang="en-US" sz="1000" b="1" dirty="0">
                          <a:solidFill>
                            <a:srgbClr val="AD4426"/>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50" dirty="0">
                          <a:solidFill>
                            <a:srgbClr val="2B2318"/>
                          </a:solidFill>
                          <a:latin typeface="Calibri" pitchFamily="34" charset="0"/>
                          <a:ea typeface="Calibri" pitchFamily="34" charset="-122"/>
                          <a:cs typeface="Calibri" pitchFamily="34" charset="-120"/>
                        </a:rPr>
                        <a:t>Kallippos (Hoplit, jetzt 520 Scheffel) will in die 1. Klasse.</a:t>
                      </a:r>
                      <a:endParaRPr lang="en-US" sz="85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400" b="1" dirty="0">
                          <a:solidFill>
                            <a:srgbClr val="3C78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14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800" dirty="0">
                          <a:solidFill>
                            <a:srgbClr val="2B2318"/>
                          </a:solidFill>
                          <a:latin typeface="Calibri" pitchFamily="34" charset="0"/>
                          <a:ea typeface="Calibri" pitchFamily="34" charset="-122"/>
                          <a:cs typeface="Calibri" pitchFamily="34" charset="-120"/>
                        </a:rPr>
                        <a:t>Der Besitz entscheidet: Mit über 500 Scheffeln steigt er in die 1. Klasse auf und kann jetzt Archont werden.</a:t>
                      </a:r>
                      <a:endParaRPr lang="en-US" sz="800" dirty="0">
                        <a:latin typeface="Calibri" charset="0"/>
                        <a:ea typeface="Calibri" charset="0"/>
                        <a:cs typeface="Calibri" charset="0"/>
                      </a:endParaRPr>
                    </a:p>
                  </a:txBody>
                  <a:tcPr marL="36576" marR="36576" marT="36576" marB="36576"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
        <p:nvSpPr>
          <p:cNvPr id="6" name="Shape 3"/>
          <p:cNvSpPr/>
          <p:nvPr/>
        </p:nvSpPr>
        <p:spPr>
          <a:xfrm>
            <a:off x="457200" y="4572000"/>
            <a:ext cx="8229600" cy="274320"/>
          </a:xfrm>
          <a:prstGeom prst="roundRect">
            <a:avLst>
              <a:gd name="adj" fmla="val 26667"/>
            </a:avLst>
          </a:prstGeom>
          <a:solidFill>
            <a:srgbClr val="2B2318"/>
          </a:solidFill>
          <a:ln w="12700">
            <a:solidFill>
              <a:srgbClr val="2B2318"/>
            </a:solidFill>
            <a:prstDash val="solid"/>
          </a:ln>
        </p:spPr>
      </p:sp>
      <p:sp>
        <p:nvSpPr>
          <p:cNvPr id="7" name="Text 4"/>
          <p:cNvSpPr txBox="1"/>
          <p:nvPr/>
        </p:nvSpPr>
        <p:spPr>
          <a:xfrm>
            <a:off x="594360" y="4572000"/>
            <a:ext cx="7955280" cy="274320"/>
          </a:xfrm>
          <a:prstGeom prst="rect">
            <a:avLst/>
          </a:prstGeom>
          <a:noFill/>
          <a:ln/>
        </p:spPr>
        <p:txBody>
          <a:bodyPr wrap="square" lIns="0" tIns="0" rIns="0" bIns="0" rtlCol="0" anchor="ctr"/>
          <a:lstStyle/>
          <a:p>
            <a:pPr indent="0" marL="0">
              <a:buNone/>
            </a:pPr>
            <a:r>
              <a:rPr lang="en-US" sz="1100" b="1" dirty="0">
                <a:solidFill>
                  <a:srgbClr val="D9A441"/>
                </a:solidFill>
                <a:latin typeface="Calibri" pitchFamily="34" charset="0"/>
                <a:ea typeface="Calibri" pitchFamily="34" charset="-122"/>
                <a:cs typeface="Calibri" pitchFamily="34" charset="-120"/>
              </a:rPr>
              <a:t>Vergleicht Anliegen 4 und 7: Nicht mehr das Blut entscheidet, sondern das Geld (Timokratie).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SICHERUNG · EINZELARBEIT · BLATT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Solons Verfassung aus dem Gedächtnis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Min.</a:t>
            </a:r>
            <a:endParaRPr lang="en-US" sz="1100" dirty="0"/>
          </a:p>
        </p:txBody>
      </p:sp>
      <p:sp>
        <p:nvSpPr>
          <p:cNvPr id="5" name="Shape 3"/>
          <p:cNvSpPr/>
          <p:nvPr/>
        </p:nvSpPr>
        <p:spPr>
          <a:xfrm>
            <a:off x="457200" y="1234440"/>
            <a:ext cx="8229600" cy="640080"/>
          </a:xfrm>
          <a:prstGeom prst="roundRect">
            <a:avLst>
              <a:gd name="adj" fmla="val 11429"/>
            </a:avLst>
          </a:prstGeom>
          <a:solidFill>
            <a:srgbClr val="AD4426"/>
          </a:solidFill>
          <a:ln w="12700">
            <a:solidFill>
              <a:srgbClr val="AD4426"/>
            </a:solidFill>
            <a:prstDash val="solid"/>
          </a:ln>
        </p:spPr>
      </p:sp>
      <p:sp>
        <p:nvSpPr>
          <p:cNvPr id="6" name="Text 4"/>
          <p:cNvSpPr txBox="1"/>
          <p:nvPr/>
        </p:nvSpPr>
        <p:spPr>
          <a:xfrm>
            <a:off x="685800" y="1234440"/>
            <a:ext cx="77724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Buch und Hefter zu! Das Schaubild auf dem Blatt ist anders angeordnet als im Buch.</a:t>
            </a:r>
            <a:endParaRPr lang="en-US" sz="1600" dirty="0"/>
          </a:p>
        </p:txBody>
      </p:sp>
      <p:sp>
        <p:nvSpPr>
          <p:cNvPr id="7" name="Text 5"/>
          <p:cNvSpPr txBox="1"/>
          <p:nvPr/>
        </p:nvSpPr>
        <p:spPr>
          <a:xfrm>
            <a:off x="457200" y="21031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2066544"/>
            <a:ext cx="7726680" cy="566928"/>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Trage die Klassen und Organe in die leeren Kästen ein und ergänze die Überschrift.</a:t>
            </a:r>
            <a:endParaRPr lang="en-US" sz="1400" dirty="0"/>
          </a:p>
        </p:txBody>
      </p:sp>
      <p:sp>
        <p:nvSpPr>
          <p:cNvPr id="9" name="Text 7"/>
          <p:cNvSpPr txBox="1"/>
          <p:nvPr/>
        </p:nvSpPr>
        <p:spPr>
          <a:xfrm>
            <a:off x="457200" y="270662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960120" y="2670048"/>
            <a:ext cx="7726680" cy="566928"/>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Schreibe auf, was die Pfeile 1–5 bedeuten.</a:t>
            </a:r>
            <a:endParaRPr lang="en-US" sz="1400" dirty="0"/>
          </a:p>
        </p:txBody>
      </p:sp>
      <p:sp>
        <p:nvSpPr>
          <p:cNvPr id="11" name="Text 9"/>
          <p:cNvSpPr txBox="1"/>
          <p:nvPr/>
        </p:nvSpPr>
        <p:spPr>
          <a:xfrm>
            <a:off x="457200" y="3310128"/>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960120" y="3273552"/>
            <a:ext cx="7726680" cy="566928"/>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Lykon ist Thete: Kreise grün ein, was er darf. Streiche rot durch, was er nicht darf.</a:t>
            </a:r>
            <a:endParaRPr lang="en-US" sz="1400" dirty="0"/>
          </a:p>
        </p:txBody>
      </p:sp>
      <p:sp>
        <p:nvSpPr>
          <p:cNvPr id="13" name="Text 11"/>
          <p:cNvSpPr txBox="1"/>
          <p:nvPr/>
        </p:nvSpPr>
        <p:spPr>
          <a:xfrm>
            <a:off x="457200" y="3913632"/>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4" name="Text 12"/>
          <p:cNvSpPr txBox="1"/>
          <p:nvPr/>
        </p:nvSpPr>
        <p:spPr>
          <a:xfrm>
            <a:off x="960120" y="3877056"/>
            <a:ext cx="7726680" cy="566928"/>
          </a:xfrm>
          <a:prstGeom prst="rect">
            <a:avLst/>
          </a:prstGeom>
          <a:noFill/>
          <a:ln/>
        </p:spPr>
        <p:txBody>
          <a:bodyPr wrap="square" lIns="0" tIns="0" rIns="0" bIns="0" rtlCol="0" anchor="ctr"/>
          <a:lstStyle/>
          <a:p>
            <a:pPr indent="0" marL="0">
              <a:buNone/>
            </a:pPr>
            <a:r>
              <a:rPr lang="en-US" sz="1400" dirty="0">
                <a:solidFill>
                  <a:srgbClr val="2B2318"/>
                </a:solidFill>
                <a:latin typeface="Calibri" pitchFamily="34" charset="0"/>
                <a:ea typeface="Calibri" pitchFamily="34" charset="-122"/>
                <a:cs typeface="Calibri" pitchFamily="34" charset="-120"/>
              </a:rPr>
              <a:t>Danach: Vergleiche mit der Lösung und markiere deine Fehler farbig.</a:t>
            </a:r>
            <a:endParaRPr lang="en-US" sz="1400" dirty="0"/>
          </a:p>
        </p:txBody>
      </p:sp>
      <p:sp>
        <p:nvSpPr>
          <p:cNvPr id="15" name="Text 13"/>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6" name="Text 14"/>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SICHERUNG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Vergleiche und markiere deine Fehler</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pic>
        <p:nvPicPr>
          <p:cNvPr id="5" name="Image 0" descr="/tmp/claude-0/-home-user-Schule/9be99485-7769-5631-81b2-1e426720ceab/scratchpad/stumm_loesung.png">    </p:cNvPr>
          <p:cNvPicPr>
            <a:picLocks noChangeAspect="1"/>
          </p:cNvPicPr>
          <p:nvPr/>
        </p:nvPicPr>
        <p:blipFill>
          <a:blip r:embed="rId1"/>
          <a:stretch>
            <a:fillRect/>
          </a:stretch>
        </p:blipFill>
        <p:spPr>
          <a:xfrm>
            <a:off x="457200" y="1188720"/>
            <a:ext cx="4114800" cy="3236976"/>
          </a:xfrm>
          <a:prstGeom prst="rect">
            <a:avLst/>
          </a:prstGeom>
        </p:spPr>
      </p:pic>
      <p:sp>
        <p:nvSpPr>
          <p:cNvPr id="6" name="Shape 3"/>
          <p:cNvSpPr/>
          <p:nvPr/>
        </p:nvSpPr>
        <p:spPr>
          <a:xfrm>
            <a:off x="4983480" y="1188720"/>
            <a:ext cx="3703320" cy="3246120"/>
          </a:xfrm>
          <a:prstGeom prst="roundRect">
            <a:avLst>
              <a:gd name="adj" fmla="val 2254"/>
            </a:avLst>
          </a:prstGeom>
          <a:solidFill>
            <a:srgbClr val="F4ECDE"/>
          </a:solidFill>
          <a:ln w="12700">
            <a:solidFill>
              <a:srgbClr val="F4ECDE"/>
            </a:solidFill>
            <a:prstDash val="solid"/>
          </a:ln>
        </p:spPr>
      </p:sp>
      <p:sp>
        <p:nvSpPr>
          <p:cNvPr id="7" name="Text 4"/>
          <p:cNvSpPr txBox="1"/>
          <p:nvPr/>
        </p:nvSpPr>
        <p:spPr>
          <a:xfrm>
            <a:off x="5166360" y="1261872"/>
            <a:ext cx="2743200" cy="320040"/>
          </a:xfrm>
          <a:prstGeom prst="rect">
            <a:avLst/>
          </a:prstGeom>
          <a:noFill/>
          <a:ln/>
        </p:spPr>
        <p:txBody>
          <a:bodyPr wrap="square" lIns="0" tIns="0" rIns="0" bIns="0" rtlCol="0" anchor="t"/>
          <a:lstStyle/>
          <a:p>
            <a:pPr indent="0" marL="0">
              <a:buNone/>
            </a:pPr>
            <a:r>
              <a:rPr lang="en-US" sz="1500" b="1" dirty="0">
                <a:solidFill>
                  <a:srgbClr val="AD4426"/>
                </a:solidFill>
                <a:latin typeface="Cambria" pitchFamily="34" charset="0"/>
                <a:ea typeface="Cambria" pitchFamily="34" charset="-122"/>
                <a:cs typeface="Cambria" pitchFamily="34" charset="-120"/>
              </a:rPr>
              <a:t>Die Pfeile</a:t>
            </a:r>
            <a:endParaRPr lang="en-US" sz="1500" dirty="0"/>
          </a:p>
        </p:txBody>
      </p:sp>
      <p:sp>
        <p:nvSpPr>
          <p:cNvPr id="8" name="Text 5"/>
          <p:cNvSpPr txBox="1"/>
          <p:nvPr/>
        </p:nvSpPr>
        <p:spPr>
          <a:xfrm>
            <a:off x="5166360" y="1691640"/>
            <a:ext cx="329184" cy="329184"/>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6"/>
          <p:cNvSpPr txBox="1"/>
          <p:nvPr/>
        </p:nvSpPr>
        <p:spPr>
          <a:xfrm>
            <a:off x="5577840" y="1664208"/>
            <a:ext cx="3017520" cy="4572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nur die 1. Klasse kann Archont werden</a:t>
            </a:r>
            <a:endParaRPr lang="en-US" sz="1150" dirty="0"/>
          </a:p>
        </p:txBody>
      </p:sp>
      <p:sp>
        <p:nvSpPr>
          <p:cNvPr id="10" name="Text 7"/>
          <p:cNvSpPr txBox="1"/>
          <p:nvPr/>
        </p:nvSpPr>
        <p:spPr>
          <a:xfrm>
            <a:off x="5166360" y="2221992"/>
            <a:ext cx="329184" cy="329184"/>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8"/>
          <p:cNvSpPr txBox="1"/>
          <p:nvPr/>
        </p:nvSpPr>
        <p:spPr>
          <a:xfrm>
            <a:off x="5577840" y="2194560"/>
            <a:ext cx="3017520" cy="4572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die Klassen 1–3 können in den Rat gewählt werden</a:t>
            </a:r>
            <a:endParaRPr lang="en-US" sz="1150" dirty="0"/>
          </a:p>
        </p:txBody>
      </p:sp>
      <p:sp>
        <p:nvSpPr>
          <p:cNvPr id="12" name="Text 9"/>
          <p:cNvSpPr txBox="1"/>
          <p:nvPr/>
        </p:nvSpPr>
        <p:spPr>
          <a:xfrm>
            <a:off x="5166360" y="2752344"/>
            <a:ext cx="329184" cy="329184"/>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3" name="Text 10"/>
          <p:cNvSpPr txBox="1"/>
          <p:nvPr/>
        </p:nvSpPr>
        <p:spPr>
          <a:xfrm>
            <a:off x="5577840" y="2724912"/>
            <a:ext cx="3017520" cy="4572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ehemalige Archonten werden Mitglied im Areopag</a:t>
            </a:r>
            <a:endParaRPr lang="en-US" sz="1150" dirty="0"/>
          </a:p>
        </p:txBody>
      </p:sp>
      <p:sp>
        <p:nvSpPr>
          <p:cNvPr id="14" name="Text 11"/>
          <p:cNvSpPr txBox="1"/>
          <p:nvPr/>
        </p:nvSpPr>
        <p:spPr>
          <a:xfrm>
            <a:off x="5166360" y="3282696"/>
            <a:ext cx="329184" cy="329184"/>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5" name="Text 12"/>
          <p:cNvSpPr txBox="1"/>
          <p:nvPr/>
        </p:nvSpPr>
        <p:spPr>
          <a:xfrm>
            <a:off x="5577840" y="3255264"/>
            <a:ext cx="3017520" cy="4572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die Volksversammlung wählt die Beamten</a:t>
            </a:r>
            <a:endParaRPr lang="en-US" sz="1150" dirty="0"/>
          </a:p>
        </p:txBody>
      </p:sp>
      <p:sp>
        <p:nvSpPr>
          <p:cNvPr id="16" name="Text 13"/>
          <p:cNvSpPr txBox="1"/>
          <p:nvPr/>
        </p:nvSpPr>
        <p:spPr>
          <a:xfrm>
            <a:off x="5166360" y="3813048"/>
            <a:ext cx="329184" cy="329184"/>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17" name="Text 14"/>
          <p:cNvSpPr txBox="1"/>
          <p:nvPr/>
        </p:nvSpPr>
        <p:spPr>
          <a:xfrm>
            <a:off x="5577840" y="3785616"/>
            <a:ext cx="3017520" cy="4572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der Rat der 400 bereitet die Gesetze vor</a:t>
            </a:r>
            <a:endParaRPr lang="en-US" sz="1150" dirty="0"/>
          </a:p>
        </p:txBody>
      </p:sp>
      <p:sp>
        <p:nvSpPr>
          <p:cNvPr id="18" name="Text 15"/>
          <p:cNvSpPr txBox="1"/>
          <p:nvPr/>
        </p:nvSpPr>
        <p:spPr>
          <a:xfrm>
            <a:off x="457200" y="4462272"/>
            <a:ext cx="4114800" cy="228600"/>
          </a:xfrm>
          <a:prstGeom prst="rect">
            <a:avLst/>
          </a:prstGeom>
          <a:noFill/>
          <a:ln/>
        </p:spPr>
        <p:txBody>
          <a:bodyPr wrap="square" lIns="0" tIns="0" rIns="0" bIns="0" rtlCol="0" anchor="t"/>
          <a:lstStyle/>
          <a:p>
            <a:pPr indent="0" marL="0">
              <a:buNone/>
            </a:pPr>
            <a:r>
              <a:rPr lang="en-US" sz="1100" b="1" dirty="0">
                <a:solidFill>
                  <a:srgbClr val="5A5044"/>
                </a:solidFill>
                <a:latin typeface="Calibri" pitchFamily="34" charset="0"/>
                <a:ea typeface="Calibri" pitchFamily="34" charset="-122"/>
                <a:cs typeface="Calibri" pitchFamily="34" charset="-120"/>
              </a:rPr>
              <a:t>Lykon: grün = darf, rot = darf nicht</a:t>
            </a:r>
            <a:endParaRPr lang="en-US" sz="1100" dirty="0"/>
          </a:p>
        </p:txBody>
      </p:sp>
      <p:sp>
        <p:nvSpPr>
          <p:cNvPr id="19" name="Text 16"/>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20" name="Text 17"/>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D9A441"/>
                </a:solidFill>
                <a:latin typeface="Calibri" pitchFamily="34" charset="0"/>
                <a:ea typeface="Calibri" pitchFamily="34" charset="-122"/>
                <a:cs typeface="Calibri" pitchFamily="34" charset="-120"/>
              </a:rPr>
              <a:t>TEIL 2 · ALLE LEGEN SICH FEST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Ist Solons Verfassung eine Demokratie?</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1 Min.</a:t>
            </a:r>
            <a:endParaRPr lang="en-US" sz="1100" dirty="0"/>
          </a:p>
        </p:txBody>
      </p:sp>
      <p:sp>
        <p:nvSpPr>
          <p:cNvPr id="5" name="Shape 3"/>
          <p:cNvSpPr/>
          <p:nvPr/>
        </p:nvSpPr>
        <p:spPr>
          <a:xfrm>
            <a:off x="457200" y="1463040"/>
            <a:ext cx="8229600" cy="1463040"/>
          </a:xfrm>
          <a:prstGeom prst="roundRect">
            <a:avLst>
              <a:gd name="adj" fmla="val 5000"/>
            </a:avLst>
          </a:prstGeom>
          <a:solidFill>
            <a:srgbClr val="3A3024"/>
          </a:solidFill>
          <a:ln w="12700">
            <a:solidFill>
              <a:srgbClr val="3A3024"/>
            </a:solidFill>
            <a:prstDash val="solid"/>
          </a:ln>
        </p:spPr>
      </p:sp>
      <p:sp>
        <p:nvSpPr>
          <p:cNvPr id="6" name="Text 4"/>
          <p:cNvSpPr txBox="1"/>
          <p:nvPr/>
        </p:nvSpPr>
        <p:spPr>
          <a:xfrm>
            <a:off x="731520" y="1554480"/>
            <a:ext cx="7680960" cy="457200"/>
          </a:xfrm>
          <a:prstGeom prst="rect">
            <a:avLst/>
          </a:prstGeom>
          <a:noFill/>
          <a:ln/>
        </p:spPr>
        <p:txBody>
          <a:bodyPr wrap="square" lIns="0" tIns="0" rIns="0" bIns="0" rtlCol="0" anchor="t"/>
          <a:lstStyle/>
          <a:p>
            <a:pPr indent="0" marL="0">
              <a:buNone/>
            </a:pPr>
            <a:r>
              <a:rPr lang="en-US" sz="1600" dirty="0">
                <a:solidFill>
                  <a:srgbClr val="E8DFD0"/>
                </a:solidFill>
                <a:latin typeface="Calibri" pitchFamily="34" charset="0"/>
                <a:ea typeface="Calibri" pitchFamily="34" charset="-122"/>
                <a:cs typeface="Calibri" pitchFamily="34" charset="-120"/>
              </a:rPr>
              <a:t>Denk an das Bürgeramt: Wer wurde genehmigt, wer abgelehnt? Zeige auf mein Zeichen:</a:t>
            </a:r>
            <a:endParaRPr lang="en-US" sz="1600" dirty="0"/>
          </a:p>
        </p:txBody>
      </p:sp>
      <p:sp>
        <p:nvSpPr>
          <p:cNvPr id="7" name="Text 5"/>
          <p:cNvSpPr txBox="1"/>
          <p:nvPr/>
        </p:nvSpPr>
        <p:spPr>
          <a:xfrm>
            <a:off x="731520" y="2103120"/>
            <a:ext cx="7680960" cy="64008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Daumen hoch = Ja      Daumen runter = Nein</a:t>
            </a:r>
            <a:endParaRPr lang="en-US" sz="2000" dirty="0"/>
          </a:p>
        </p:txBody>
      </p:sp>
      <p:sp>
        <p:nvSpPr>
          <p:cNvPr id="8" name="Text 6"/>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PARTNERARBEIT · HEFT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Demokratisch oder timokratisch?</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Min.</a:t>
            </a:r>
            <a:endParaRPr lang="en-US" sz="1100" dirty="0"/>
          </a:p>
        </p:txBody>
      </p:sp>
      <p:sp>
        <p:nvSpPr>
          <p:cNvPr id="5" name="Text 3"/>
          <p:cNvSpPr txBox="1"/>
          <p:nvPr/>
        </p:nvSpPr>
        <p:spPr>
          <a:xfrm>
            <a:off x="457200" y="1143000"/>
            <a:ext cx="8229600" cy="502920"/>
          </a:xfrm>
          <a:prstGeom prst="rect">
            <a:avLst/>
          </a:prstGeom>
          <a:noFill/>
          <a:ln/>
        </p:spPr>
        <p:txBody>
          <a:bodyPr wrap="square" lIns="0" tIns="0" rIns="0" bIns="0" rtlCol="0" anchor="t"/>
          <a:lstStyle/>
          <a:p>
            <a:pPr indent="0" marL="0">
              <a:buNone/>
            </a:pPr>
            <a:r>
              <a:rPr lang="en-US" sz="1350" b="1" dirty="0">
                <a:solidFill>
                  <a:srgbClr val="5A5044"/>
                </a:solidFill>
                <a:latin typeface="Calibri" pitchFamily="34" charset="0"/>
                <a:ea typeface="Calibri" pitchFamily="34" charset="-122"/>
                <a:cs typeface="Calibri" pitchFamily="34" charset="-120"/>
              </a:rPr>
              <a:t>Legt im Heft zwei Spalten an und ordnet die sechs Merkmale zu: demokratisch = das Volk entscheidet · timokratisch = der Besitz entscheidet.</a:t>
            </a:r>
            <a:endParaRPr lang="en-US" sz="1350" dirty="0"/>
          </a:p>
        </p:txBody>
      </p:sp>
      <p:sp>
        <p:nvSpPr>
          <p:cNvPr id="6" name="Shape 4"/>
          <p:cNvSpPr/>
          <p:nvPr/>
        </p:nvSpPr>
        <p:spPr>
          <a:xfrm>
            <a:off x="457200" y="1783080"/>
            <a:ext cx="4023360" cy="731520"/>
          </a:xfrm>
          <a:prstGeom prst="roundRect">
            <a:avLst>
              <a:gd name="adj" fmla="val 10000"/>
            </a:avLst>
          </a:prstGeom>
          <a:solidFill>
            <a:srgbClr val="F4ECDE"/>
          </a:solidFill>
          <a:ln w="12700">
            <a:solidFill>
              <a:srgbClr val="F4ECDE"/>
            </a:solidFill>
            <a:prstDash val="solid"/>
          </a:ln>
        </p:spPr>
      </p:sp>
      <p:sp>
        <p:nvSpPr>
          <p:cNvPr id="7" name="Text 5"/>
          <p:cNvSpPr txBox="1"/>
          <p:nvPr/>
        </p:nvSpPr>
        <p:spPr>
          <a:xfrm>
            <a:off x="594360" y="193852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143000" y="178308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Archont kann nur die 1. Klasse werden.</a:t>
            </a:r>
            <a:endParaRPr lang="en-US" sz="1300" dirty="0"/>
          </a:p>
        </p:txBody>
      </p:sp>
      <p:sp>
        <p:nvSpPr>
          <p:cNvPr id="9" name="Shape 7"/>
          <p:cNvSpPr/>
          <p:nvPr/>
        </p:nvSpPr>
        <p:spPr>
          <a:xfrm>
            <a:off x="4663440" y="1783080"/>
            <a:ext cx="4023360" cy="731520"/>
          </a:xfrm>
          <a:prstGeom prst="roundRect">
            <a:avLst>
              <a:gd name="adj" fmla="val 10000"/>
            </a:avLst>
          </a:prstGeom>
          <a:solidFill>
            <a:srgbClr val="F4ECDE"/>
          </a:solidFill>
          <a:ln w="12700">
            <a:solidFill>
              <a:srgbClr val="F4ECDE"/>
            </a:solidFill>
            <a:prstDash val="solid"/>
          </a:ln>
        </p:spPr>
      </p:sp>
      <p:sp>
        <p:nvSpPr>
          <p:cNvPr id="10" name="Text 8"/>
          <p:cNvSpPr txBox="1"/>
          <p:nvPr/>
        </p:nvSpPr>
        <p:spPr>
          <a:xfrm>
            <a:off x="4800600" y="193852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5349240" y="178308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Alle Bürger über 20 stimmen in der Volksversammlung über Gesetze ab.</a:t>
            </a:r>
            <a:endParaRPr lang="en-US" sz="1300" dirty="0"/>
          </a:p>
        </p:txBody>
      </p:sp>
      <p:sp>
        <p:nvSpPr>
          <p:cNvPr id="12" name="Shape 10"/>
          <p:cNvSpPr/>
          <p:nvPr/>
        </p:nvSpPr>
        <p:spPr>
          <a:xfrm>
            <a:off x="457200" y="2651760"/>
            <a:ext cx="4023360" cy="731520"/>
          </a:xfrm>
          <a:prstGeom prst="roundRect">
            <a:avLst>
              <a:gd name="adj" fmla="val 10000"/>
            </a:avLst>
          </a:prstGeom>
          <a:solidFill>
            <a:srgbClr val="F4ECDE"/>
          </a:solidFill>
          <a:ln w="12700">
            <a:solidFill>
              <a:srgbClr val="F4ECDE"/>
            </a:solidFill>
            <a:prstDash val="solid"/>
          </a:ln>
        </p:spPr>
      </p:sp>
      <p:sp>
        <p:nvSpPr>
          <p:cNvPr id="13" name="Text 11"/>
          <p:cNvSpPr txBox="1"/>
          <p:nvPr/>
        </p:nvSpPr>
        <p:spPr>
          <a:xfrm>
            <a:off x="594360" y="280720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43000" y="265176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In den Rat der 400 dürfen nur die Klassen 1–3.</a:t>
            </a:r>
            <a:endParaRPr lang="en-US" sz="1300" dirty="0"/>
          </a:p>
        </p:txBody>
      </p:sp>
      <p:sp>
        <p:nvSpPr>
          <p:cNvPr id="15" name="Shape 13"/>
          <p:cNvSpPr/>
          <p:nvPr/>
        </p:nvSpPr>
        <p:spPr>
          <a:xfrm>
            <a:off x="4663440" y="2651760"/>
            <a:ext cx="4023360" cy="731520"/>
          </a:xfrm>
          <a:prstGeom prst="roundRect">
            <a:avLst>
              <a:gd name="adj" fmla="val 10000"/>
            </a:avLst>
          </a:prstGeom>
          <a:solidFill>
            <a:srgbClr val="F4ECDE"/>
          </a:solidFill>
          <a:ln w="12700">
            <a:solidFill>
              <a:srgbClr val="F4ECDE"/>
            </a:solidFill>
            <a:prstDash val="solid"/>
          </a:ln>
        </p:spPr>
      </p:sp>
      <p:sp>
        <p:nvSpPr>
          <p:cNvPr id="16" name="Text 14"/>
          <p:cNvSpPr txBox="1"/>
          <p:nvPr/>
        </p:nvSpPr>
        <p:spPr>
          <a:xfrm>
            <a:off x="4800600" y="280720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5349240" y="265176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Jeder Bürger darf vor Gericht klagen.</a:t>
            </a:r>
            <a:endParaRPr lang="en-US" sz="1300" dirty="0"/>
          </a:p>
        </p:txBody>
      </p:sp>
      <p:sp>
        <p:nvSpPr>
          <p:cNvPr id="18" name="Shape 16"/>
          <p:cNvSpPr/>
          <p:nvPr/>
        </p:nvSpPr>
        <p:spPr>
          <a:xfrm>
            <a:off x="457200" y="3520440"/>
            <a:ext cx="4023360" cy="731520"/>
          </a:xfrm>
          <a:prstGeom prst="roundRect">
            <a:avLst>
              <a:gd name="adj" fmla="val 10000"/>
            </a:avLst>
          </a:prstGeom>
          <a:solidFill>
            <a:srgbClr val="F4ECDE"/>
          </a:solidFill>
          <a:ln w="12700">
            <a:solidFill>
              <a:srgbClr val="F4ECDE"/>
            </a:solidFill>
            <a:prstDash val="solid"/>
          </a:ln>
        </p:spPr>
      </p:sp>
      <p:sp>
        <p:nvSpPr>
          <p:cNvPr id="19" name="Text 17"/>
          <p:cNvSpPr txBox="1"/>
          <p:nvPr/>
        </p:nvSpPr>
        <p:spPr>
          <a:xfrm>
            <a:off x="594360" y="367588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143000" y="352044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Der Areopag besteht aus ehemaligen Archonten.</a:t>
            </a:r>
            <a:endParaRPr lang="en-US" sz="1300" dirty="0"/>
          </a:p>
        </p:txBody>
      </p:sp>
      <p:sp>
        <p:nvSpPr>
          <p:cNvPr id="21" name="Shape 19"/>
          <p:cNvSpPr/>
          <p:nvPr/>
        </p:nvSpPr>
        <p:spPr>
          <a:xfrm>
            <a:off x="4663440" y="3520440"/>
            <a:ext cx="4023360" cy="731520"/>
          </a:xfrm>
          <a:prstGeom prst="roundRect">
            <a:avLst>
              <a:gd name="adj" fmla="val 10000"/>
            </a:avLst>
          </a:prstGeom>
          <a:solidFill>
            <a:srgbClr val="F4ECDE"/>
          </a:solidFill>
          <a:ln w="12700">
            <a:solidFill>
              <a:srgbClr val="F4ECDE"/>
            </a:solidFill>
            <a:prstDash val="solid"/>
          </a:ln>
        </p:spPr>
      </p:sp>
      <p:sp>
        <p:nvSpPr>
          <p:cNvPr id="22" name="Text 20"/>
          <p:cNvSpPr txBox="1"/>
          <p:nvPr/>
        </p:nvSpPr>
        <p:spPr>
          <a:xfrm>
            <a:off x="4800600" y="3675888"/>
            <a:ext cx="420624" cy="420624"/>
          </a:xfrm>
          <a:prstGeom prst="ellipse">
            <a:avLst/>
          </a:prstGeom>
          <a:solidFill>
            <a:srgbClr val="2B231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3" name="Text 21"/>
          <p:cNvSpPr txBox="1"/>
          <p:nvPr/>
        </p:nvSpPr>
        <p:spPr>
          <a:xfrm>
            <a:off x="5349240" y="3520440"/>
            <a:ext cx="3246120" cy="731520"/>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Auch die Theten wählen die Beamten.</a:t>
            </a:r>
            <a:endParaRPr lang="en-US" sz="1300" dirty="0"/>
          </a:p>
        </p:txBody>
      </p:sp>
      <p:sp>
        <p:nvSpPr>
          <p:cNvPr id="24" name="Text 22"/>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25" name="Text 23"/>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AUFLÖSUNG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Beides!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Auflösung</a:t>
            </a:r>
            <a:endParaRPr lang="en-US" sz="1100" dirty="0"/>
          </a:p>
        </p:txBody>
      </p:sp>
      <p:sp>
        <p:nvSpPr>
          <p:cNvPr id="5" name="Shape 3"/>
          <p:cNvSpPr/>
          <p:nvPr/>
        </p:nvSpPr>
        <p:spPr>
          <a:xfrm>
            <a:off x="457200" y="1188720"/>
            <a:ext cx="4023360" cy="2377440"/>
          </a:xfrm>
          <a:prstGeom prst="roundRect">
            <a:avLst>
              <a:gd name="adj" fmla="val 3077"/>
            </a:avLst>
          </a:prstGeom>
          <a:solidFill>
            <a:srgbClr val="F4ECDE"/>
          </a:solidFill>
          <a:ln w="12700">
            <a:solidFill>
              <a:srgbClr val="F4ECDE"/>
            </a:solidFill>
            <a:prstDash val="solid"/>
          </a:ln>
        </p:spPr>
      </p:sp>
      <p:sp>
        <p:nvSpPr>
          <p:cNvPr id="6" name="Text 4"/>
          <p:cNvSpPr txBox="1"/>
          <p:nvPr/>
        </p:nvSpPr>
        <p:spPr>
          <a:xfrm>
            <a:off x="685800" y="1261872"/>
            <a:ext cx="3566160" cy="365760"/>
          </a:xfrm>
          <a:prstGeom prst="rect">
            <a:avLst/>
          </a:prstGeom>
          <a:noFill/>
          <a:ln/>
        </p:spPr>
        <p:txBody>
          <a:bodyPr wrap="square" lIns="0" tIns="0" rIns="0" bIns="0" rtlCol="0" anchor="t"/>
          <a:lstStyle/>
          <a:p>
            <a:pPr indent="0" marL="0">
              <a:buNone/>
            </a:pPr>
            <a:r>
              <a:rPr lang="en-US" sz="1900" b="1" dirty="0">
                <a:solidFill>
                  <a:srgbClr val="3C783C"/>
                </a:solidFill>
                <a:latin typeface="Cambria" pitchFamily="34" charset="0"/>
                <a:ea typeface="Cambria" pitchFamily="34" charset="-122"/>
                <a:cs typeface="Cambria" pitchFamily="34" charset="-120"/>
              </a:rPr>
              <a:t>demokratisch</a:t>
            </a:r>
            <a:endParaRPr lang="en-US" sz="1900" dirty="0"/>
          </a:p>
        </p:txBody>
      </p:sp>
      <p:sp>
        <p:nvSpPr>
          <p:cNvPr id="7" name="Text 5"/>
          <p:cNvSpPr txBox="1"/>
          <p:nvPr/>
        </p:nvSpPr>
        <p:spPr>
          <a:xfrm>
            <a:off x="685800" y="1627632"/>
            <a:ext cx="3566160" cy="256032"/>
          </a:xfrm>
          <a:prstGeom prst="rect">
            <a:avLst/>
          </a:prstGeom>
          <a:noFill/>
          <a:ln/>
        </p:spPr>
        <p:txBody>
          <a:bodyPr wrap="square" lIns="0" tIns="0" rIns="0" bIns="0" rtlCol="0" anchor="t"/>
          <a:lstStyle/>
          <a:p>
            <a:pPr indent="0" marL="0">
              <a:buNone/>
            </a:pPr>
            <a:r>
              <a:rPr lang="en-US" sz="1100" i="1" dirty="0">
                <a:solidFill>
                  <a:srgbClr val="5A5044"/>
                </a:solidFill>
                <a:latin typeface="Calibri" pitchFamily="34" charset="0"/>
                <a:ea typeface="Calibri" pitchFamily="34" charset="-122"/>
                <a:cs typeface="Calibri" pitchFamily="34" charset="-120"/>
              </a:rPr>
              <a:t>das Volk entscheidet</a:t>
            </a:r>
            <a:endParaRPr lang="en-US" sz="1100" dirty="0"/>
          </a:p>
        </p:txBody>
      </p:sp>
      <p:sp>
        <p:nvSpPr>
          <p:cNvPr id="8" name="Text 6"/>
          <p:cNvSpPr txBox="1"/>
          <p:nvPr/>
        </p:nvSpPr>
        <p:spPr>
          <a:xfrm>
            <a:off x="685800" y="1965960"/>
            <a:ext cx="36118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Alle Bürger über 20 stimmen in der Volksversammlung über Gesetze ab.</a:t>
            </a:r>
            <a:endParaRPr lang="en-US" sz="1300" dirty="0"/>
          </a:p>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Jeder Bürger darf vor Gericht klagen.</a:t>
            </a:r>
            <a:endParaRPr lang="en-US" sz="1300" dirty="0"/>
          </a:p>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Auch die Theten wählen die Beamten.</a:t>
            </a:r>
            <a:endParaRPr lang="en-US" sz="1300" dirty="0"/>
          </a:p>
        </p:txBody>
      </p:sp>
      <p:sp>
        <p:nvSpPr>
          <p:cNvPr id="9" name="Shape 7"/>
          <p:cNvSpPr/>
          <p:nvPr/>
        </p:nvSpPr>
        <p:spPr>
          <a:xfrm>
            <a:off x="4663440" y="1188720"/>
            <a:ext cx="4023360" cy="2377440"/>
          </a:xfrm>
          <a:prstGeom prst="roundRect">
            <a:avLst>
              <a:gd name="adj" fmla="val 3077"/>
            </a:avLst>
          </a:prstGeom>
          <a:solidFill>
            <a:srgbClr val="F4ECDE"/>
          </a:solidFill>
          <a:ln w="12700">
            <a:solidFill>
              <a:srgbClr val="F4ECDE"/>
            </a:solidFill>
            <a:prstDash val="solid"/>
          </a:ln>
        </p:spPr>
      </p:sp>
      <p:sp>
        <p:nvSpPr>
          <p:cNvPr id="10" name="Text 8"/>
          <p:cNvSpPr txBox="1"/>
          <p:nvPr/>
        </p:nvSpPr>
        <p:spPr>
          <a:xfrm>
            <a:off x="4892040" y="1261872"/>
            <a:ext cx="3566160" cy="365760"/>
          </a:xfrm>
          <a:prstGeom prst="rect">
            <a:avLst/>
          </a:prstGeom>
          <a:noFill/>
          <a:ln/>
        </p:spPr>
        <p:txBody>
          <a:bodyPr wrap="square" lIns="0" tIns="0" rIns="0" bIns="0" rtlCol="0" anchor="t"/>
          <a:lstStyle/>
          <a:p>
            <a:pPr indent="0" marL="0">
              <a:buNone/>
            </a:pPr>
            <a:r>
              <a:rPr lang="en-US" sz="1900" b="1" dirty="0">
                <a:solidFill>
                  <a:srgbClr val="AD4426"/>
                </a:solidFill>
                <a:latin typeface="Cambria" pitchFamily="34" charset="0"/>
                <a:ea typeface="Cambria" pitchFamily="34" charset="-122"/>
                <a:cs typeface="Cambria" pitchFamily="34" charset="-120"/>
              </a:rPr>
              <a:t>timokratisch</a:t>
            </a:r>
            <a:endParaRPr lang="en-US" sz="1900" dirty="0"/>
          </a:p>
        </p:txBody>
      </p:sp>
      <p:sp>
        <p:nvSpPr>
          <p:cNvPr id="11" name="Text 9"/>
          <p:cNvSpPr txBox="1"/>
          <p:nvPr/>
        </p:nvSpPr>
        <p:spPr>
          <a:xfrm>
            <a:off x="4892040" y="1627632"/>
            <a:ext cx="3566160" cy="256032"/>
          </a:xfrm>
          <a:prstGeom prst="rect">
            <a:avLst/>
          </a:prstGeom>
          <a:noFill/>
          <a:ln/>
        </p:spPr>
        <p:txBody>
          <a:bodyPr wrap="square" lIns="0" tIns="0" rIns="0" bIns="0" rtlCol="0" anchor="t"/>
          <a:lstStyle/>
          <a:p>
            <a:pPr indent="0" marL="0">
              <a:buNone/>
            </a:pPr>
            <a:r>
              <a:rPr lang="en-US" sz="1100" i="1" dirty="0">
                <a:solidFill>
                  <a:srgbClr val="5A5044"/>
                </a:solidFill>
                <a:latin typeface="Calibri" pitchFamily="34" charset="0"/>
                <a:ea typeface="Calibri" pitchFamily="34" charset="-122"/>
                <a:cs typeface="Calibri" pitchFamily="34" charset="-120"/>
              </a:rPr>
              <a:t>der Besitz entscheidet</a:t>
            </a:r>
            <a:endParaRPr lang="en-US" sz="1100" dirty="0"/>
          </a:p>
        </p:txBody>
      </p:sp>
      <p:sp>
        <p:nvSpPr>
          <p:cNvPr id="12" name="Text 10"/>
          <p:cNvSpPr txBox="1"/>
          <p:nvPr/>
        </p:nvSpPr>
        <p:spPr>
          <a:xfrm>
            <a:off x="4892040" y="1965960"/>
            <a:ext cx="36118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Archont kann nur die 1. Klasse werden.</a:t>
            </a:r>
            <a:endParaRPr lang="en-US" sz="1300" dirty="0"/>
          </a:p>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In den Rat der 400 dürfen nur die Klassen 1–3.</a:t>
            </a:r>
            <a:endParaRPr lang="en-US" sz="1300" dirty="0"/>
          </a:p>
          <a:p>
            <a:pPr marL="342900" indent="-342900">
              <a:spcAft>
                <a:spcPts val="600"/>
              </a:spcAft>
              <a:buSzPct val="100000"/>
              <a:buChar char="•"/>
            </a:pPr>
            <a:r>
              <a:rPr lang="en-US" sz="1300" dirty="0">
                <a:solidFill>
                  <a:srgbClr val="2B2318"/>
                </a:solidFill>
                <a:latin typeface="Calibri" pitchFamily="34" charset="0"/>
                <a:ea typeface="Calibri" pitchFamily="34" charset="-122"/>
                <a:cs typeface="Calibri" pitchFamily="34" charset="-120"/>
              </a:rPr>
              <a:t>Der Areopag besteht aus ehemaligen Archonten.</a:t>
            </a:r>
            <a:endParaRPr lang="en-US" sz="1300" dirty="0"/>
          </a:p>
        </p:txBody>
      </p:sp>
      <p:sp>
        <p:nvSpPr>
          <p:cNvPr id="13" name="Shape 11"/>
          <p:cNvSpPr/>
          <p:nvPr/>
        </p:nvSpPr>
        <p:spPr>
          <a:xfrm>
            <a:off x="457200" y="3703320"/>
            <a:ext cx="8229600" cy="749808"/>
          </a:xfrm>
          <a:prstGeom prst="roundRect">
            <a:avLst>
              <a:gd name="adj" fmla="val 9756"/>
            </a:avLst>
          </a:prstGeom>
          <a:solidFill>
            <a:srgbClr val="2B2318"/>
          </a:solidFill>
          <a:ln w="12700">
            <a:solidFill>
              <a:srgbClr val="2B2318"/>
            </a:solidFill>
            <a:prstDash val="solid"/>
          </a:ln>
        </p:spPr>
      </p:sp>
      <p:sp>
        <p:nvSpPr>
          <p:cNvPr id="14" name="Text 12"/>
          <p:cNvSpPr txBox="1"/>
          <p:nvPr/>
        </p:nvSpPr>
        <p:spPr>
          <a:xfrm>
            <a:off x="685800" y="3703320"/>
            <a:ext cx="777240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Solons Verfassung ist beides: Beim Entscheiden redet das Volk mit, die Ämter bleiben den Reichen. Merksatz ins Heft!</a:t>
            </a:r>
            <a:endParaRPr lang="en-US" sz="1400" dirty="0"/>
          </a:p>
        </p:txBody>
      </p:sp>
      <p:sp>
        <p:nvSpPr>
          <p:cNvPr id="15" name="Text 13"/>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6" name="Text 14"/>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EINZELARBEIT · HEFTER</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Dein Sachurteil</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Min.</a:t>
            </a:r>
            <a:endParaRPr lang="en-US" sz="1100" dirty="0"/>
          </a:p>
        </p:txBody>
      </p:sp>
      <p:sp>
        <p:nvSpPr>
          <p:cNvPr id="5" name="Shape 3"/>
          <p:cNvSpPr/>
          <p:nvPr/>
        </p:nvSpPr>
        <p:spPr>
          <a:xfrm>
            <a:off x="457200" y="1234440"/>
            <a:ext cx="8229600" cy="868680"/>
          </a:xfrm>
          <a:prstGeom prst="roundRect">
            <a:avLst>
              <a:gd name="adj" fmla="val 8421"/>
            </a:avLst>
          </a:prstGeom>
          <a:solidFill>
            <a:srgbClr val="2B2318"/>
          </a:solidFill>
          <a:ln w="12700">
            <a:solidFill>
              <a:srgbClr val="2B2318"/>
            </a:solidFill>
            <a:prstDash val="solid"/>
          </a:ln>
        </p:spPr>
      </p:sp>
      <p:sp>
        <p:nvSpPr>
          <p:cNvPr id="6" name="Text 4"/>
          <p:cNvSpPr txBox="1"/>
          <p:nvPr/>
        </p:nvSpPr>
        <p:spPr>
          <a:xfrm>
            <a:off x="731520" y="1280160"/>
            <a:ext cx="7680960" cy="7772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War Solons Verfassung eher demokratisch oder eher timokratisch?</a:t>
            </a:r>
            <a:endParaRPr lang="en-US" sz="2000" dirty="0"/>
          </a:p>
        </p:txBody>
      </p:sp>
      <p:sp>
        <p:nvSpPr>
          <p:cNvPr id="7" name="Text 5"/>
          <p:cNvSpPr txBox="1"/>
          <p:nvPr/>
        </p:nvSpPr>
        <p:spPr>
          <a:xfrm>
            <a:off x="457200" y="23317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2295144"/>
            <a:ext cx="4617720" cy="60350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Entscheide dich: eher demokratisch oder eher timokratisch?</a:t>
            </a:r>
            <a:endParaRPr lang="en-US" sz="1300" dirty="0"/>
          </a:p>
        </p:txBody>
      </p:sp>
      <p:sp>
        <p:nvSpPr>
          <p:cNvPr id="9" name="Text 7"/>
          <p:cNvSpPr txBox="1"/>
          <p:nvPr/>
        </p:nvSpPr>
        <p:spPr>
          <a:xfrm>
            <a:off x="457200" y="297180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960120" y="2935224"/>
            <a:ext cx="4617720" cy="60350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Begründe in 3–4 Sätzen mit mindestens zwei Beispielen aus dem Bürgeramt oder der Tabelle.</a:t>
            </a:r>
            <a:endParaRPr lang="en-US" sz="1300" dirty="0"/>
          </a:p>
        </p:txBody>
      </p:sp>
      <p:sp>
        <p:nvSpPr>
          <p:cNvPr id="11" name="Text 9"/>
          <p:cNvSpPr txBox="1"/>
          <p:nvPr/>
        </p:nvSpPr>
        <p:spPr>
          <a:xfrm>
            <a:off x="457200" y="36118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960120" y="3575304"/>
            <a:ext cx="4617720" cy="60350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Urteile aus der damaligen Zeit heraus – noch ohne heutige Werte.</a:t>
            </a:r>
            <a:endParaRPr lang="en-US" sz="1300" dirty="0"/>
          </a:p>
        </p:txBody>
      </p:sp>
      <p:sp>
        <p:nvSpPr>
          <p:cNvPr id="13" name="Shape 11"/>
          <p:cNvSpPr/>
          <p:nvPr/>
        </p:nvSpPr>
        <p:spPr>
          <a:xfrm>
            <a:off x="5806440" y="2286000"/>
            <a:ext cx="2880360" cy="2103120"/>
          </a:xfrm>
          <a:prstGeom prst="roundRect">
            <a:avLst>
              <a:gd name="adj" fmla="val 3478"/>
            </a:avLst>
          </a:prstGeom>
          <a:solidFill>
            <a:srgbClr val="F4ECDE"/>
          </a:solidFill>
          <a:ln w="12700">
            <a:solidFill>
              <a:srgbClr val="F4ECDE"/>
            </a:solidFill>
            <a:prstDash val="solid"/>
          </a:ln>
        </p:spPr>
      </p:sp>
      <p:sp>
        <p:nvSpPr>
          <p:cNvPr id="14" name="Text 12"/>
          <p:cNvSpPr txBox="1"/>
          <p:nvPr/>
        </p:nvSpPr>
        <p:spPr>
          <a:xfrm>
            <a:off x="5989320" y="2377440"/>
            <a:ext cx="2560320" cy="320040"/>
          </a:xfrm>
          <a:prstGeom prst="rect">
            <a:avLst/>
          </a:prstGeom>
          <a:noFill/>
          <a:ln/>
        </p:spPr>
        <p:txBody>
          <a:bodyPr wrap="square" lIns="0" tIns="0" rIns="0" bIns="0" rtlCol="0" anchor="t"/>
          <a:lstStyle/>
          <a:p>
            <a:pPr indent="0" marL="0">
              <a:buNone/>
            </a:pPr>
            <a:r>
              <a:rPr lang="en-US" sz="1400" b="1" dirty="0">
                <a:solidFill>
                  <a:srgbClr val="AD4426"/>
                </a:solidFill>
                <a:latin typeface="Cambria" pitchFamily="34" charset="0"/>
                <a:ea typeface="Cambria" pitchFamily="34" charset="-122"/>
                <a:cs typeface="Cambria" pitchFamily="34" charset="-120"/>
              </a:rPr>
              <a:t>Satzbausteine</a:t>
            </a:r>
            <a:endParaRPr lang="en-US" sz="1400" dirty="0"/>
          </a:p>
        </p:txBody>
      </p:sp>
      <p:sp>
        <p:nvSpPr>
          <p:cNvPr id="15" name="Text 13"/>
          <p:cNvSpPr txBox="1"/>
          <p:nvPr/>
        </p:nvSpPr>
        <p:spPr>
          <a:xfrm>
            <a:off x="5989320" y="2743200"/>
            <a:ext cx="2560320" cy="1600200"/>
          </a:xfrm>
          <a:prstGeom prst="rect">
            <a:avLst/>
          </a:prstGeom>
          <a:noFill/>
          <a:ln/>
        </p:spPr>
        <p:txBody>
          <a:bodyPr wrap="square" lIns="0" tIns="0" rIns="0" bIns="0" rtlCol="0" anchor="t"/>
          <a:lstStyle/>
          <a:p>
            <a:pPr marL="342900" indent="-342900">
              <a:spcAft>
                <a:spcPts val="500"/>
              </a:spcAft>
              <a:buSzPct val="100000"/>
              <a:buChar char="•"/>
            </a:pPr>
            <a:r>
              <a:rPr lang="en-US" sz="1150" i="1" dirty="0">
                <a:solidFill>
                  <a:srgbClr val="2B2318"/>
                </a:solidFill>
                <a:latin typeface="Calibri" pitchFamily="34" charset="0"/>
                <a:ea typeface="Calibri" pitchFamily="34" charset="-122"/>
                <a:cs typeface="Calibri" pitchFamily="34" charset="-120"/>
              </a:rPr>
              <a:t>„Aus Sicht der damaligen Zeit war Solons Verfassung eher …, denn …“</a:t>
            </a:r>
            <a:endParaRPr lang="en-US" sz="1150" dirty="0"/>
          </a:p>
          <a:p>
            <a:pPr marL="342900" indent="-342900">
              <a:spcAft>
                <a:spcPts val="500"/>
              </a:spcAft>
              <a:buSzPct val="100000"/>
              <a:buChar char="•"/>
            </a:pPr>
            <a:r>
              <a:rPr lang="en-US" sz="1150" i="1" dirty="0">
                <a:solidFill>
                  <a:srgbClr val="2B2318"/>
                </a:solidFill>
                <a:latin typeface="Calibri" pitchFamily="34" charset="0"/>
                <a:ea typeface="Calibri" pitchFamily="34" charset="-122"/>
                <a:cs typeface="Calibri" pitchFamily="34" charset="-120"/>
              </a:rPr>
              <a:t>„Das zeigt sich zum Beispiel an Anliegen …“</a:t>
            </a:r>
            <a:endParaRPr lang="en-US" sz="1150" dirty="0"/>
          </a:p>
          <a:p>
            <a:pPr marL="342900" indent="-342900">
              <a:spcAft>
                <a:spcPts val="500"/>
              </a:spcAft>
              <a:buSzPct val="100000"/>
              <a:buChar char="•"/>
            </a:pPr>
            <a:r>
              <a:rPr lang="en-US" sz="1150" i="1" dirty="0">
                <a:solidFill>
                  <a:srgbClr val="2B2318"/>
                </a:solidFill>
                <a:latin typeface="Calibri" pitchFamily="34" charset="0"/>
                <a:ea typeface="Calibri" pitchFamily="34" charset="-122"/>
                <a:cs typeface="Calibri" pitchFamily="34" charset="-120"/>
              </a:rPr>
              <a:t>„Zwar …, aber …“</a:t>
            </a:r>
            <a:endParaRPr lang="en-US" sz="1150" dirty="0"/>
          </a:p>
        </p:txBody>
      </p:sp>
      <p:sp>
        <p:nvSpPr>
          <p:cNvPr id="16"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7"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SACHURTEIL · BEISPIEL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 könnte dein Sachurteil aussehen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1234440"/>
            <a:ext cx="8229600" cy="2011680"/>
          </a:xfrm>
          <a:prstGeom prst="roundRect">
            <a:avLst>
              <a:gd name="adj" fmla="val 3636"/>
            </a:avLst>
          </a:prstGeom>
          <a:solidFill>
            <a:srgbClr val="F4ECDE"/>
          </a:solidFill>
          <a:ln w="12700">
            <a:solidFill>
              <a:srgbClr val="F4ECDE"/>
            </a:solidFill>
            <a:prstDash val="solid"/>
          </a:ln>
        </p:spPr>
      </p:sp>
      <p:sp>
        <p:nvSpPr>
          <p:cNvPr id="6" name="Text 4"/>
          <p:cNvSpPr txBox="1"/>
          <p:nvPr/>
        </p:nvSpPr>
        <p:spPr>
          <a:xfrm>
            <a:off x="685800" y="1325880"/>
            <a:ext cx="7772400" cy="1828800"/>
          </a:xfrm>
          <a:prstGeom prst="rect">
            <a:avLst/>
          </a:prstGeom>
          <a:noFill/>
          <a:ln/>
        </p:spPr>
        <p:txBody>
          <a:bodyPr wrap="square" lIns="0" tIns="0" rIns="0" bIns="0" rtlCol="0" anchor="ctr"/>
          <a:lstStyle/>
          <a:p>
            <a:pPr indent="0" marL="0">
              <a:buNone/>
            </a:pPr>
            <a:r>
              <a:rPr lang="en-US" sz="1400" i="1" dirty="0">
                <a:solidFill>
                  <a:srgbClr val="2B2318"/>
                </a:solidFill>
                <a:latin typeface="Cambria" pitchFamily="34" charset="0"/>
                <a:ea typeface="Cambria" pitchFamily="34" charset="-122"/>
                <a:cs typeface="Cambria" pitchFamily="34" charset="-120"/>
              </a:rPr>
              <a:t>„Aus Sicht der damaligen Zeit war Solons Verfassung eher timokratisch, denn die wichtigen Ämter – Archonten, Rat der 400 und Areopag – blieben den Reichen vorbehalten. Das zeigt sich an Anliegen 1 und 4: Wer arm ist, wird nicht Archont, auch wenn er adlig ist. Zwar stimmten alle Bürger in der Volksversammlung ab und durften klagen (Anliegen 2 und 8), aber regieren konnten nur die Wohlhabenden.“</a:t>
            </a:r>
            <a:endParaRPr lang="en-US" sz="1400" dirty="0"/>
          </a:p>
        </p:txBody>
      </p:sp>
      <p:sp>
        <p:nvSpPr>
          <p:cNvPr id="7" name="Shape 5"/>
          <p:cNvSpPr/>
          <p:nvPr/>
        </p:nvSpPr>
        <p:spPr>
          <a:xfrm>
            <a:off x="457200" y="3474720"/>
            <a:ext cx="2606040" cy="868680"/>
          </a:xfrm>
          <a:prstGeom prst="roundRect">
            <a:avLst>
              <a:gd name="adj" fmla="val 8421"/>
            </a:avLst>
          </a:prstGeom>
          <a:solidFill>
            <a:srgbClr val="2B2318"/>
          </a:solidFill>
          <a:ln w="12700">
            <a:solidFill>
              <a:srgbClr val="2B2318"/>
            </a:solidFill>
            <a:prstDash val="solid"/>
          </a:ln>
        </p:spPr>
      </p:sp>
      <p:sp>
        <p:nvSpPr>
          <p:cNvPr id="8" name="Text 6"/>
          <p:cNvSpPr txBox="1"/>
          <p:nvPr/>
        </p:nvSpPr>
        <p:spPr>
          <a:xfrm>
            <a:off x="640080" y="3547872"/>
            <a:ext cx="2286000" cy="274320"/>
          </a:xfrm>
          <a:prstGeom prst="rect">
            <a:avLst/>
          </a:prstGeom>
          <a:noFill/>
          <a:ln/>
        </p:spPr>
        <p:txBody>
          <a:bodyPr wrap="square" lIns="0" tIns="0" rIns="0" bIns="0" rtlCol="0" anchor="t"/>
          <a:lstStyle/>
          <a:p>
            <a:pPr indent="0" marL="0">
              <a:buNone/>
            </a:pPr>
            <a:r>
              <a:rPr lang="en-US" sz="1300" b="1" dirty="0">
                <a:solidFill>
                  <a:srgbClr val="D9A441"/>
                </a:solidFill>
                <a:latin typeface="Calibri" pitchFamily="34" charset="0"/>
                <a:ea typeface="Calibri" pitchFamily="34" charset="-122"/>
                <a:cs typeface="Calibri" pitchFamily="34" charset="-120"/>
              </a:rPr>
              <a:t>Position</a:t>
            </a:r>
            <a:endParaRPr lang="en-US" sz="1300" dirty="0"/>
          </a:p>
        </p:txBody>
      </p:sp>
      <p:sp>
        <p:nvSpPr>
          <p:cNvPr id="9" name="Text 7"/>
          <p:cNvSpPr txBox="1"/>
          <p:nvPr/>
        </p:nvSpPr>
        <p:spPr>
          <a:xfrm>
            <a:off x="640080" y="3840480"/>
            <a:ext cx="2286000" cy="457200"/>
          </a:xfrm>
          <a:prstGeom prst="rect">
            <a:avLst/>
          </a:prstGeom>
          <a:noFill/>
          <a:ln/>
        </p:spPr>
        <p:txBody>
          <a:bodyPr wrap="square" lIns="0" tIns="0" rIns="0" bIns="0" rtlCol="0" anchor="t"/>
          <a:lstStyle/>
          <a:p>
            <a:pPr indent="0" marL="0">
              <a:buNone/>
            </a:pPr>
            <a:r>
              <a:rPr lang="en-US" sz="1200" i="1" dirty="0">
                <a:solidFill>
                  <a:srgbClr val="E8DFD0"/>
                </a:solidFill>
                <a:latin typeface="Calibri" pitchFamily="34" charset="0"/>
                <a:ea typeface="Calibri" pitchFamily="34" charset="-122"/>
                <a:cs typeface="Calibri" pitchFamily="34" charset="-120"/>
              </a:rPr>
              <a:t>„eher timokratisch“</a:t>
            </a:r>
            <a:endParaRPr lang="en-US" sz="1200" dirty="0"/>
          </a:p>
        </p:txBody>
      </p:sp>
      <p:sp>
        <p:nvSpPr>
          <p:cNvPr id="10" name="Shape 8"/>
          <p:cNvSpPr/>
          <p:nvPr/>
        </p:nvSpPr>
        <p:spPr>
          <a:xfrm>
            <a:off x="3246120" y="3474720"/>
            <a:ext cx="2606040" cy="868680"/>
          </a:xfrm>
          <a:prstGeom prst="roundRect">
            <a:avLst>
              <a:gd name="adj" fmla="val 8421"/>
            </a:avLst>
          </a:prstGeom>
          <a:solidFill>
            <a:srgbClr val="2B2318"/>
          </a:solidFill>
          <a:ln w="12700">
            <a:solidFill>
              <a:srgbClr val="2B2318"/>
            </a:solidFill>
            <a:prstDash val="solid"/>
          </a:ln>
        </p:spPr>
      </p:sp>
      <p:sp>
        <p:nvSpPr>
          <p:cNvPr id="11" name="Text 9"/>
          <p:cNvSpPr txBox="1"/>
          <p:nvPr/>
        </p:nvSpPr>
        <p:spPr>
          <a:xfrm>
            <a:off x="3429000" y="3547872"/>
            <a:ext cx="2286000" cy="274320"/>
          </a:xfrm>
          <a:prstGeom prst="rect">
            <a:avLst/>
          </a:prstGeom>
          <a:noFill/>
          <a:ln/>
        </p:spPr>
        <p:txBody>
          <a:bodyPr wrap="square" lIns="0" tIns="0" rIns="0" bIns="0" rtlCol="0" anchor="t"/>
          <a:lstStyle/>
          <a:p>
            <a:pPr indent="0" marL="0">
              <a:buNone/>
            </a:pPr>
            <a:r>
              <a:rPr lang="en-US" sz="1300" b="1" dirty="0">
                <a:solidFill>
                  <a:srgbClr val="D9A441"/>
                </a:solidFill>
                <a:latin typeface="Calibri" pitchFamily="34" charset="0"/>
                <a:ea typeface="Calibri" pitchFamily="34" charset="-122"/>
                <a:cs typeface="Calibri" pitchFamily="34" charset="-120"/>
              </a:rPr>
              <a:t>Belege</a:t>
            </a:r>
            <a:endParaRPr lang="en-US" sz="1300" dirty="0"/>
          </a:p>
        </p:txBody>
      </p:sp>
      <p:sp>
        <p:nvSpPr>
          <p:cNvPr id="12" name="Text 10"/>
          <p:cNvSpPr txBox="1"/>
          <p:nvPr/>
        </p:nvSpPr>
        <p:spPr>
          <a:xfrm>
            <a:off x="3429000" y="3840480"/>
            <a:ext cx="2286000" cy="457200"/>
          </a:xfrm>
          <a:prstGeom prst="rect">
            <a:avLst/>
          </a:prstGeom>
          <a:noFill/>
          <a:ln/>
        </p:spPr>
        <p:txBody>
          <a:bodyPr wrap="square" lIns="0" tIns="0" rIns="0" bIns="0" rtlCol="0" anchor="t"/>
          <a:lstStyle/>
          <a:p>
            <a:pPr indent="0" marL="0">
              <a:buNone/>
            </a:pPr>
            <a:r>
              <a:rPr lang="en-US" sz="1200" i="1" dirty="0">
                <a:solidFill>
                  <a:srgbClr val="E8DFD0"/>
                </a:solidFill>
                <a:latin typeface="Calibri" pitchFamily="34" charset="0"/>
                <a:ea typeface="Calibri" pitchFamily="34" charset="-122"/>
                <a:cs typeface="Calibri" pitchFamily="34" charset="-120"/>
              </a:rPr>
              <a:t>Anliegen 1, 4, 2, 8</a:t>
            </a:r>
            <a:endParaRPr lang="en-US" sz="1200" dirty="0"/>
          </a:p>
        </p:txBody>
      </p:sp>
      <p:sp>
        <p:nvSpPr>
          <p:cNvPr id="13" name="Shape 11"/>
          <p:cNvSpPr/>
          <p:nvPr/>
        </p:nvSpPr>
        <p:spPr>
          <a:xfrm>
            <a:off x="6035040" y="3474720"/>
            <a:ext cx="2606040" cy="868680"/>
          </a:xfrm>
          <a:prstGeom prst="roundRect">
            <a:avLst>
              <a:gd name="adj" fmla="val 8421"/>
            </a:avLst>
          </a:prstGeom>
          <a:solidFill>
            <a:srgbClr val="2B2318"/>
          </a:solidFill>
          <a:ln w="12700">
            <a:solidFill>
              <a:srgbClr val="2B2318"/>
            </a:solidFill>
            <a:prstDash val="solid"/>
          </a:ln>
        </p:spPr>
      </p:sp>
      <p:sp>
        <p:nvSpPr>
          <p:cNvPr id="14" name="Text 12"/>
          <p:cNvSpPr txBox="1"/>
          <p:nvPr/>
        </p:nvSpPr>
        <p:spPr>
          <a:xfrm>
            <a:off x="6217920" y="3547872"/>
            <a:ext cx="2286000" cy="274320"/>
          </a:xfrm>
          <a:prstGeom prst="rect">
            <a:avLst/>
          </a:prstGeom>
          <a:noFill/>
          <a:ln/>
        </p:spPr>
        <p:txBody>
          <a:bodyPr wrap="square" lIns="0" tIns="0" rIns="0" bIns="0" rtlCol="0" anchor="t"/>
          <a:lstStyle/>
          <a:p>
            <a:pPr indent="0" marL="0">
              <a:buNone/>
            </a:pPr>
            <a:r>
              <a:rPr lang="en-US" sz="1300" b="1" dirty="0">
                <a:solidFill>
                  <a:srgbClr val="D9A441"/>
                </a:solidFill>
                <a:latin typeface="Calibri" pitchFamily="34" charset="0"/>
                <a:ea typeface="Calibri" pitchFamily="34" charset="-122"/>
                <a:cs typeface="Calibri" pitchFamily="34" charset="-120"/>
              </a:rPr>
              <a:t>Abwägung</a:t>
            </a:r>
            <a:endParaRPr lang="en-US" sz="1300" dirty="0"/>
          </a:p>
        </p:txBody>
      </p:sp>
      <p:sp>
        <p:nvSpPr>
          <p:cNvPr id="15" name="Text 13"/>
          <p:cNvSpPr txBox="1"/>
          <p:nvPr/>
        </p:nvSpPr>
        <p:spPr>
          <a:xfrm>
            <a:off x="6217920" y="3840480"/>
            <a:ext cx="2286000" cy="457200"/>
          </a:xfrm>
          <a:prstGeom prst="rect">
            <a:avLst/>
          </a:prstGeom>
          <a:noFill/>
          <a:ln/>
        </p:spPr>
        <p:txBody>
          <a:bodyPr wrap="square" lIns="0" tIns="0" rIns="0" bIns="0" rtlCol="0" anchor="t"/>
          <a:lstStyle/>
          <a:p>
            <a:pPr indent="0" marL="0">
              <a:buNone/>
            </a:pPr>
            <a:r>
              <a:rPr lang="en-US" sz="1200" i="1" dirty="0">
                <a:solidFill>
                  <a:srgbClr val="E8DFD0"/>
                </a:solidFill>
                <a:latin typeface="Calibri" pitchFamily="34" charset="0"/>
                <a:ea typeface="Calibri" pitchFamily="34" charset="-122"/>
                <a:cs typeface="Calibri" pitchFamily="34" charset="-120"/>
              </a:rPr>
              <a:t>„Zwar …, aber …“</a:t>
            </a:r>
            <a:endParaRPr lang="en-US" sz="1200" dirty="0"/>
          </a:p>
        </p:txBody>
      </p:sp>
      <p:sp>
        <p:nvSpPr>
          <p:cNvPr id="16"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7"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EINZELARBEIT · HEFTER</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Dein Werturteil</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Min.</a:t>
            </a:r>
            <a:endParaRPr lang="en-US" sz="1100" dirty="0"/>
          </a:p>
        </p:txBody>
      </p:sp>
      <p:sp>
        <p:nvSpPr>
          <p:cNvPr id="5" name="Shape 3"/>
          <p:cNvSpPr/>
          <p:nvPr/>
        </p:nvSpPr>
        <p:spPr>
          <a:xfrm>
            <a:off x="457200" y="1188720"/>
            <a:ext cx="8229600" cy="777240"/>
          </a:xfrm>
          <a:prstGeom prst="roundRect">
            <a:avLst>
              <a:gd name="adj" fmla="val 9412"/>
            </a:avLst>
          </a:prstGeom>
          <a:solidFill>
            <a:srgbClr val="2B2318"/>
          </a:solidFill>
          <a:ln w="12700">
            <a:solidFill>
              <a:srgbClr val="2B2318"/>
            </a:solidFill>
            <a:prstDash val="solid"/>
          </a:ln>
        </p:spPr>
      </p:sp>
      <p:sp>
        <p:nvSpPr>
          <p:cNvPr id="6" name="Text 4"/>
          <p:cNvSpPr txBox="1"/>
          <p:nvPr/>
        </p:nvSpPr>
        <p:spPr>
          <a:xfrm>
            <a:off x="731520" y="1188720"/>
            <a:ext cx="7680960" cy="77724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Ist es gerecht, dass die Ämter vom Besitz abhängen?</a:t>
            </a:r>
            <a:endParaRPr lang="en-US" sz="2100" dirty="0"/>
          </a:p>
        </p:txBody>
      </p:sp>
      <p:sp>
        <p:nvSpPr>
          <p:cNvPr id="7" name="Text 5"/>
          <p:cNvSpPr txBox="1"/>
          <p:nvPr/>
        </p:nvSpPr>
        <p:spPr>
          <a:xfrm>
            <a:off x="457200" y="2057400"/>
            <a:ext cx="2743200" cy="228600"/>
          </a:xfrm>
          <a:prstGeom prst="rect">
            <a:avLst/>
          </a:prstGeom>
          <a:noFill/>
          <a:ln/>
        </p:spPr>
        <p:txBody>
          <a:bodyPr wrap="square" lIns="0" tIns="0" rIns="0" bIns="0" rtlCol="0" anchor="t"/>
          <a:lstStyle/>
          <a:p>
            <a:pPr indent="0" marL="0">
              <a:buNone/>
            </a:pPr>
            <a:r>
              <a:rPr lang="en-US" sz="1000" b="1" spc="200" kern="0" dirty="0">
                <a:solidFill>
                  <a:srgbClr val="5A5044"/>
                </a:solidFill>
                <a:latin typeface="Calibri" pitchFamily="34" charset="0"/>
                <a:ea typeface="Calibri" pitchFamily="34" charset="-122"/>
                <a:cs typeface="Calibri" pitchFamily="34" charset="-120"/>
              </a:rPr>
              <a:t>MASSSTÄBE</a:t>
            </a:r>
            <a:endParaRPr lang="en-US" sz="1000" dirty="0"/>
          </a:p>
        </p:txBody>
      </p:sp>
      <p:sp>
        <p:nvSpPr>
          <p:cNvPr id="8" name="Shape 6"/>
          <p:cNvSpPr/>
          <p:nvPr/>
        </p:nvSpPr>
        <p:spPr>
          <a:xfrm>
            <a:off x="457200" y="2304288"/>
            <a:ext cx="1947672" cy="914400"/>
          </a:xfrm>
          <a:prstGeom prst="roundRect">
            <a:avLst>
              <a:gd name="adj" fmla="val 8000"/>
            </a:avLst>
          </a:prstGeom>
          <a:solidFill>
            <a:srgbClr val="F4ECDE"/>
          </a:solidFill>
          <a:ln w="12700">
            <a:solidFill>
              <a:srgbClr val="F4ECDE"/>
            </a:solidFill>
            <a:prstDash val="solid"/>
          </a:ln>
        </p:spPr>
      </p:sp>
      <p:sp>
        <p:nvSpPr>
          <p:cNvPr id="9" name="Text 7"/>
          <p:cNvSpPr txBox="1"/>
          <p:nvPr/>
        </p:nvSpPr>
        <p:spPr>
          <a:xfrm>
            <a:off x="548640" y="2377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987552" y="2377440"/>
            <a:ext cx="1371600" cy="365760"/>
          </a:xfrm>
          <a:prstGeom prst="rect">
            <a:avLst/>
          </a:prstGeom>
          <a:noFill/>
          <a:ln/>
        </p:spPr>
        <p:txBody>
          <a:bodyPr wrap="square" lIns="0" tIns="0" rIns="0" bIns="0" rtlCol="0" anchor="ctr"/>
          <a:lstStyle/>
          <a:p>
            <a:pPr indent="0" marL="0">
              <a:buNone/>
            </a:pPr>
            <a:r>
              <a:rPr lang="en-US" sz="1250" b="1" dirty="0">
                <a:solidFill>
                  <a:srgbClr val="2B2318"/>
                </a:solidFill>
                <a:latin typeface="Calibri" pitchFamily="34" charset="0"/>
                <a:ea typeface="Calibri" pitchFamily="34" charset="-122"/>
                <a:cs typeface="Calibri" pitchFamily="34" charset="-120"/>
              </a:rPr>
              <a:t>Gleichheit</a:t>
            </a:r>
            <a:endParaRPr lang="en-US" sz="1250" dirty="0"/>
          </a:p>
        </p:txBody>
      </p:sp>
      <p:sp>
        <p:nvSpPr>
          <p:cNvPr id="11" name="Text 9"/>
          <p:cNvSpPr txBox="1"/>
          <p:nvPr/>
        </p:nvSpPr>
        <p:spPr>
          <a:xfrm>
            <a:off x="566928" y="2779776"/>
            <a:ext cx="1783080" cy="411480"/>
          </a:xfrm>
          <a:prstGeom prst="rect">
            <a:avLst/>
          </a:prstGeom>
          <a:noFill/>
          <a:ln/>
        </p:spPr>
        <p:txBody>
          <a:bodyPr wrap="square" lIns="0" tIns="0" rIns="0" bIns="0" rtlCol="0" anchor="t"/>
          <a:lstStyle/>
          <a:p>
            <a:pPr indent="0" marL="0">
              <a:buNone/>
            </a:pPr>
            <a:r>
              <a:rPr lang="en-US" sz="1000" dirty="0">
                <a:solidFill>
                  <a:srgbClr val="5A5044"/>
                </a:solidFill>
                <a:latin typeface="Calibri" pitchFamily="34" charset="0"/>
                <a:ea typeface="Calibri" pitchFamily="34" charset="-122"/>
                <a:cs typeface="Calibri" pitchFamily="34" charset="-120"/>
              </a:rPr>
              <a:t>Alle bekommen das Gleiche.</a:t>
            </a:r>
            <a:endParaRPr lang="en-US" sz="1000" dirty="0"/>
          </a:p>
        </p:txBody>
      </p:sp>
      <p:sp>
        <p:nvSpPr>
          <p:cNvPr id="12" name="Shape 10"/>
          <p:cNvSpPr/>
          <p:nvPr/>
        </p:nvSpPr>
        <p:spPr>
          <a:xfrm>
            <a:off x="2551176" y="2304288"/>
            <a:ext cx="1947672" cy="914400"/>
          </a:xfrm>
          <a:prstGeom prst="roundRect">
            <a:avLst>
              <a:gd name="adj" fmla="val 8000"/>
            </a:avLst>
          </a:prstGeom>
          <a:solidFill>
            <a:srgbClr val="F4ECDE"/>
          </a:solidFill>
          <a:ln w="12700">
            <a:solidFill>
              <a:srgbClr val="F4ECDE"/>
            </a:solidFill>
            <a:prstDash val="solid"/>
          </a:ln>
        </p:spPr>
      </p:sp>
      <p:sp>
        <p:nvSpPr>
          <p:cNvPr id="13" name="Text 11"/>
          <p:cNvSpPr txBox="1"/>
          <p:nvPr/>
        </p:nvSpPr>
        <p:spPr>
          <a:xfrm>
            <a:off x="2642616" y="2377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txBox="1"/>
          <p:nvPr/>
        </p:nvSpPr>
        <p:spPr>
          <a:xfrm>
            <a:off x="3081528" y="2377440"/>
            <a:ext cx="1371600" cy="365760"/>
          </a:xfrm>
          <a:prstGeom prst="rect">
            <a:avLst/>
          </a:prstGeom>
          <a:noFill/>
          <a:ln/>
        </p:spPr>
        <p:txBody>
          <a:bodyPr wrap="square" lIns="0" tIns="0" rIns="0" bIns="0" rtlCol="0" anchor="ctr"/>
          <a:lstStyle/>
          <a:p>
            <a:pPr indent="0" marL="0">
              <a:buNone/>
            </a:pPr>
            <a:r>
              <a:rPr lang="en-US" sz="1250" b="1" dirty="0">
                <a:solidFill>
                  <a:srgbClr val="2B2318"/>
                </a:solidFill>
                <a:latin typeface="Calibri" pitchFamily="34" charset="0"/>
                <a:ea typeface="Calibri" pitchFamily="34" charset="-122"/>
                <a:cs typeface="Calibri" pitchFamily="34" charset="-120"/>
              </a:rPr>
              <a:t>Leistung</a:t>
            </a:r>
            <a:endParaRPr lang="en-US" sz="1250" dirty="0"/>
          </a:p>
        </p:txBody>
      </p:sp>
      <p:sp>
        <p:nvSpPr>
          <p:cNvPr id="15" name="Text 13"/>
          <p:cNvSpPr txBox="1"/>
          <p:nvPr/>
        </p:nvSpPr>
        <p:spPr>
          <a:xfrm>
            <a:off x="2660904" y="2779776"/>
            <a:ext cx="1783080" cy="411480"/>
          </a:xfrm>
          <a:prstGeom prst="rect">
            <a:avLst/>
          </a:prstGeom>
          <a:noFill/>
          <a:ln/>
        </p:spPr>
        <p:txBody>
          <a:bodyPr wrap="square" lIns="0" tIns="0" rIns="0" bIns="0" rtlCol="0" anchor="t"/>
          <a:lstStyle/>
          <a:p>
            <a:pPr indent="0" marL="0">
              <a:buNone/>
            </a:pPr>
            <a:r>
              <a:rPr lang="en-US" sz="1000" dirty="0">
                <a:solidFill>
                  <a:srgbClr val="5A5044"/>
                </a:solidFill>
                <a:latin typeface="Calibri" pitchFamily="34" charset="0"/>
                <a:ea typeface="Calibri" pitchFamily="34" charset="-122"/>
                <a:cs typeface="Calibri" pitchFamily="34" charset="-120"/>
              </a:rPr>
              <a:t>Wer mehr leistet oder trägt, bekommt mehr.</a:t>
            </a:r>
            <a:endParaRPr lang="en-US" sz="1000" dirty="0"/>
          </a:p>
        </p:txBody>
      </p:sp>
      <p:sp>
        <p:nvSpPr>
          <p:cNvPr id="16" name="Shape 14"/>
          <p:cNvSpPr/>
          <p:nvPr/>
        </p:nvSpPr>
        <p:spPr>
          <a:xfrm>
            <a:off x="4645152" y="2304288"/>
            <a:ext cx="1947672" cy="914400"/>
          </a:xfrm>
          <a:prstGeom prst="roundRect">
            <a:avLst>
              <a:gd name="adj" fmla="val 8000"/>
            </a:avLst>
          </a:prstGeom>
          <a:solidFill>
            <a:srgbClr val="F4ECDE"/>
          </a:solidFill>
          <a:ln w="12700">
            <a:solidFill>
              <a:srgbClr val="F4ECDE"/>
            </a:solidFill>
            <a:prstDash val="solid"/>
          </a:ln>
        </p:spPr>
      </p:sp>
      <p:sp>
        <p:nvSpPr>
          <p:cNvPr id="17" name="Text 15"/>
          <p:cNvSpPr txBox="1"/>
          <p:nvPr/>
        </p:nvSpPr>
        <p:spPr>
          <a:xfrm>
            <a:off x="4736592" y="2377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5175504" y="2377440"/>
            <a:ext cx="1371600" cy="365760"/>
          </a:xfrm>
          <a:prstGeom prst="rect">
            <a:avLst/>
          </a:prstGeom>
          <a:noFill/>
          <a:ln/>
        </p:spPr>
        <p:txBody>
          <a:bodyPr wrap="square" lIns="0" tIns="0" rIns="0" bIns="0" rtlCol="0" anchor="ctr"/>
          <a:lstStyle/>
          <a:p>
            <a:pPr indent="0" marL="0">
              <a:buNone/>
            </a:pPr>
            <a:r>
              <a:rPr lang="en-US" sz="1100" b="1" dirty="0">
                <a:solidFill>
                  <a:srgbClr val="2B2318"/>
                </a:solidFill>
                <a:latin typeface="Calibri" pitchFamily="34" charset="0"/>
                <a:ea typeface="Calibri" pitchFamily="34" charset="-122"/>
                <a:cs typeface="Calibri" pitchFamily="34" charset="-120"/>
              </a:rPr>
              <a:t>Schutz der Schwachen</a:t>
            </a:r>
            <a:endParaRPr lang="en-US" sz="1100" dirty="0"/>
          </a:p>
        </p:txBody>
      </p:sp>
      <p:sp>
        <p:nvSpPr>
          <p:cNvPr id="19" name="Text 17"/>
          <p:cNvSpPr txBox="1"/>
          <p:nvPr/>
        </p:nvSpPr>
        <p:spPr>
          <a:xfrm>
            <a:off x="4754880" y="2779776"/>
            <a:ext cx="1783080" cy="411480"/>
          </a:xfrm>
          <a:prstGeom prst="rect">
            <a:avLst/>
          </a:prstGeom>
          <a:noFill/>
          <a:ln/>
        </p:spPr>
        <p:txBody>
          <a:bodyPr wrap="square" lIns="0" tIns="0" rIns="0" bIns="0" rtlCol="0" anchor="t"/>
          <a:lstStyle/>
          <a:p>
            <a:pPr indent="0" marL="0">
              <a:buNone/>
            </a:pPr>
            <a:r>
              <a:rPr lang="en-US" sz="1000" dirty="0">
                <a:solidFill>
                  <a:srgbClr val="5A5044"/>
                </a:solidFill>
                <a:latin typeface="Calibri" pitchFamily="34" charset="0"/>
                <a:ea typeface="Calibri" pitchFamily="34" charset="-122"/>
                <a:cs typeface="Calibri" pitchFamily="34" charset="-120"/>
              </a:rPr>
              <a:t>Die Schwachen werden geschützt.</a:t>
            </a:r>
            <a:endParaRPr lang="en-US" sz="1000" dirty="0"/>
          </a:p>
        </p:txBody>
      </p:sp>
      <p:sp>
        <p:nvSpPr>
          <p:cNvPr id="20" name="Shape 18"/>
          <p:cNvSpPr/>
          <p:nvPr/>
        </p:nvSpPr>
        <p:spPr>
          <a:xfrm>
            <a:off x="6739128" y="2304288"/>
            <a:ext cx="1947672" cy="914400"/>
          </a:xfrm>
          <a:prstGeom prst="roundRect">
            <a:avLst>
              <a:gd name="adj" fmla="val 8000"/>
            </a:avLst>
          </a:prstGeom>
          <a:solidFill>
            <a:srgbClr val="F4ECDE"/>
          </a:solidFill>
          <a:ln w="12700">
            <a:solidFill>
              <a:srgbClr val="F4ECDE"/>
            </a:solidFill>
            <a:prstDash val="solid"/>
          </a:ln>
        </p:spPr>
      </p:sp>
      <p:sp>
        <p:nvSpPr>
          <p:cNvPr id="21" name="Text 19"/>
          <p:cNvSpPr txBox="1"/>
          <p:nvPr/>
        </p:nvSpPr>
        <p:spPr>
          <a:xfrm>
            <a:off x="6830568" y="23774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269480" y="2377440"/>
            <a:ext cx="1371600" cy="365760"/>
          </a:xfrm>
          <a:prstGeom prst="rect">
            <a:avLst/>
          </a:prstGeom>
          <a:noFill/>
          <a:ln/>
        </p:spPr>
        <p:txBody>
          <a:bodyPr wrap="square" lIns="0" tIns="0" rIns="0" bIns="0" rtlCol="0" anchor="ctr"/>
          <a:lstStyle/>
          <a:p>
            <a:pPr indent="0" marL="0">
              <a:buNone/>
            </a:pPr>
            <a:r>
              <a:rPr lang="en-US" sz="1250" b="1" dirty="0">
                <a:solidFill>
                  <a:srgbClr val="2B2318"/>
                </a:solidFill>
                <a:latin typeface="Calibri" pitchFamily="34" charset="0"/>
                <a:ea typeface="Calibri" pitchFamily="34" charset="-122"/>
                <a:cs typeface="Calibri" pitchFamily="34" charset="-120"/>
              </a:rPr>
              <a:t>Gleiche Regeln</a:t>
            </a:r>
            <a:endParaRPr lang="en-US" sz="1250" dirty="0"/>
          </a:p>
        </p:txBody>
      </p:sp>
      <p:sp>
        <p:nvSpPr>
          <p:cNvPr id="23" name="Text 21"/>
          <p:cNvSpPr txBox="1"/>
          <p:nvPr/>
        </p:nvSpPr>
        <p:spPr>
          <a:xfrm>
            <a:off x="6848856" y="2779776"/>
            <a:ext cx="1783080" cy="411480"/>
          </a:xfrm>
          <a:prstGeom prst="rect">
            <a:avLst/>
          </a:prstGeom>
          <a:noFill/>
          <a:ln/>
        </p:spPr>
        <p:txBody>
          <a:bodyPr wrap="square" lIns="0" tIns="0" rIns="0" bIns="0" rtlCol="0" anchor="t"/>
          <a:lstStyle/>
          <a:p>
            <a:pPr indent="0" marL="0">
              <a:buNone/>
            </a:pPr>
            <a:r>
              <a:rPr lang="en-US" sz="1000" dirty="0">
                <a:solidFill>
                  <a:srgbClr val="5A5044"/>
                </a:solidFill>
                <a:latin typeface="Calibri" pitchFamily="34" charset="0"/>
                <a:ea typeface="Calibri" pitchFamily="34" charset="-122"/>
                <a:cs typeface="Calibri" pitchFamily="34" charset="-120"/>
              </a:rPr>
              <a:t>Für alle gelten dieselben Regeln.</a:t>
            </a:r>
            <a:endParaRPr lang="en-US" sz="1000" dirty="0"/>
          </a:p>
        </p:txBody>
      </p:sp>
      <p:sp>
        <p:nvSpPr>
          <p:cNvPr id="24" name="Text 22"/>
          <p:cNvSpPr txBox="1"/>
          <p:nvPr/>
        </p:nvSpPr>
        <p:spPr>
          <a:xfrm>
            <a:off x="457200" y="33832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5" name="Text 23"/>
          <p:cNvSpPr txBox="1"/>
          <p:nvPr/>
        </p:nvSpPr>
        <p:spPr>
          <a:xfrm>
            <a:off x="960120" y="3346704"/>
            <a:ext cx="7726680" cy="402336"/>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Wähle einen Maßstab (1–4) und schreibe ihn über dein Urteil.</a:t>
            </a:r>
            <a:endParaRPr lang="en-US" sz="1250" dirty="0"/>
          </a:p>
        </p:txBody>
      </p:sp>
      <p:sp>
        <p:nvSpPr>
          <p:cNvPr id="26" name="Text 24"/>
          <p:cNvSpPr txBox="1"/>
          <p:nvPr/>
        </p:nvSpPr>
        <p:spPr>
          <a:xfrm>
            <a:off x="457200" y="3822192"/>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960120" y="3785616"/>
            <a:ext cx="7726680" cy="402336"/>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Schreibe 2–3 Sätze: „Gemessen an … halte ich es für gerecht / teilweise gerecht / nicht gerecht, weil …“</a:t>
            </a:r>
            <a:endParaRPr lang="en-US" sz="1250" dirty="0"/>
          </a:p>
        </p:txBody>
      </p:sp>
      <p:sp>
        <p:nvSpPr>
          <p:cNvPr id="28" name="Text 26"/>
          <p:cNvSpPr txBox="1"/>
          <p:nvPr/>
        </p:nvSpPr>
        <p:spPr>
          <a:xfrm>
            <a:off x="457200" y="4261104"/>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9" name="Text 27"/>
          <p:cNvSpPr txBox="1"/>
          <p:nvPr/>
        </p:nvSpPr>
        <p:spPr>
          <a:xfrm>
            <a:off x="960120" y="4224528"/>
            <a:ext cx="7726680" cy="402336"/>
          </a:xfrm>
          <a:prstGeom prst="rect">
            <a:avLst/>
          </a:prstGeom>
          <a:noFill/>
          <a:ln/>
        </p:spPr>
        <p:txBody>
          <a:bodyPr wrap="square" lIns="0" tIns="0" rIns="0" bIns="0" rtlCol="0" anchor="ctr"/>
          <a:lstStyle/>
          <a:p>
            <a:pPr indent="0" marL="0">
              <a:buNone/>
            </a:pPr>
            <a:r>
              <a:rPr lang="en-US" sz="1250" dirty="0">
                <a:solidFill>
                  <a:srgbClr val="2B2318"/>
                </a:solidFill>
                <a:latin typeface="Calibri" pitchFamily="34" charset="0"/>
                <a:ea typeface="Calibri" pitchFamily="34" charset="-122"/>
                <a:cs typeface="Calibri" pitchFamily="34" charset="-120"/>
              </a:rPr>
              <a:t>Begründe mit mindestens einem Beispiel aus dem Bürgeramt.</a:t>
            </a:r>
            <a:endParaRPr lang="en-US" sz="1250" dirty="0"/>
          </a:p>
        </p:txBody>
      </p:sp>
      <p:sp>
        <p:nvSpPr>
          <p:cNvPr id="30" name="Text 28"/>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31" name="Text 29"/>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PARTNERARBEIT · HEFTER</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Feedback: Was ist gelungen?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Min.</a:t>
            </a:r>
            <a:endParaRPr lang="en-US" sz="1100" dirty="0"/>
          </a:p>
        </p:txBody>
      </p:sp>
      <p:sp>
        <p:nvSpPr>
          <p:cNvPr id="5" name="Text 3"/>
          <p:cNvSpPr txBox="1"/>
          <p:nvPr/>
        </p:nvSpPr>
        <p:spPr>
          <a:xfrm>
            <a:off x="457200" y="1143000"/>
            <a:ext cx="8229600" cy="457200"/>
          </a:xfrm>
          <a:prstGeom prst="rect">
            <a:avLst/>
          </a:prstGeom>
          <a:noFill/>
          <a:ln/>
        </p:spPr>
        <p:txBody>
          <a:bodyPr wrap="square" lIns="0" tIns="0" rIns="0" bIns="0" rtlCol="0" anchor="t"/>
          <a:lstStyle/>
          <a:p>
            <a:pPr indent="0" marL="0">
              <a:buNone/>
            </a:pPr>
            <a:r>
              <a:rPr lang="en-US" sz="1350" b="1" dirty="0">
                <a:solidFill>
                  <a:srgbClr val="5A5044"/>
                </a:solidFill>
                <a:latin typeface="Calibri" pitchFamily="34" charset="0"/>
                <a:ea typeface="Calibri" pitchFamily="34" charset="-122"/>
                <a:cs typeface="Calibri" pitchFamily="34" charset="-120"/>
              </a:rPr>
              <a:t>Tauscht die Hefter. Prüft die Urteile eures Partners mit der Checkliste und schreibt einen Tipp darunter.</a:t>
            </a:r>
            <a:endParaRPr lang="en-US" sz="1350" dirty="0"/>
          </a:p>
        </p:txBody>
      </p:sp>
      <p:sp>
        <p:nvSpPr>
          <p:cNvPr id="6" name="Text 4"/>
          <p:cNvSpPr txBox="1"/>
          <p:nvPr/>
        </p:nvSpPr>
        <p:spPr>
          <a:xfrm>
            <a:off x="457200" y="1783080"/>
            <a:ext cx="4023360" cy="457200"/>
          </a:xfrm>
          <a:prstGeom prst="roundRect">
            <a:avLst>
              <a:gd name="adj" fmla="val 16000"/>
            </a:avLst>
          </a:prstGeom>
          <a:solidFill>
            <a:srgbClr val="D9A441"/>
          </a:solidFill>
          <a:ln/>
        </p:spPr>
        <p:txBody>
          <a:bodyPr wrap="square" lIns="0" tIns="0" rIns="0" bIns="0" rtlCol="0" anchor="ctr"/>
          <a:lstStyle/>
          <a:p>
            <a:pPr algn="ctr" indent="0" marL="0">
              <a:buNone/>
            </a:pPr>
            <a:r>
              <a:rPr lang="en-US" sz="1500" b="1" dirty="0">
                <a:solidFill>
                  <a:srgbClr val="2B2318"/>
                </a:solidFill>
                <a:latin typeface="Calibri" pitchFamily="34" charset="0"/>
                <a:ea typeface="Calibri" pitchFamily="34" charset="-122"/>
                <a:cs typeface="Calibri" pitchFamily="34" charset="-120"/>
              </a:rPr>
              <a:t>Sachurteil</a:t>
            </a:r>
            <a:endParaRPr lang="en-US" sz="1500" dirty="0"/>
          </a:p>
        </p:txBody>
      </p:sp>
      <p:sp>
        <p:nvSpPr>
          <p:cNvPr id="7" name="Shape 5"/>
          <p:cNvSpPr/>
          <p:nvPr/>
        </p:nvSpPr>
        <p:spPr>
          <a:xfrm>
            <a:off x="457200" y="2286000"/>
            <a:ext cx="4023360" cy="2103120"/>
          </a:xfrm>
          <a:prstGeom prst="roundRect">
            <a:avLst>
              <a:gd name="adj" fmla="val 3478"/>
            </a:avLst>
          </a:prstGeom>
          <a:solidFill>
            <a:srgbClr val="F4ECDE"/>
          </a:solidFill>
          <a:ln w="12700">
            <a:solidFill>
              <a:srgbClr val="F4ECDE"/>
            </a:solidFill>
            <a:prstDash val="solid"/>
          </a:ln>
        </p:spPr>
      </p:sp>
      <p:sp>
        <p:nvSpPr>
          <p:cNvPr id="8" name="Shape 6"/>
          <p:cNvSpPr/>
          <p:nvPr/>
        </p:nvSpPr>
        <p:spPr>
          <a:xfrm>
            <a:off x="685800" y="2505456"/>
            <a:ext cx="256032" cy="256032"/>
          </a:xfrm>
          <a:prstGeom prst="roundRect">
            <a:avLst>
              <a:gd name="adj" fmla="val 14286"/>
            </a:avLst>
          </a:prstGeom>
          <a:solidFill>
            <a:srgbClr val="FFFFFF"/>
          </a:solidFill>
          <a:ln w="19050">
            <a:solidFill>
              <a:srgbClr val="D9A441"/>
            </a:solidFill>
            <a:prstDash val="solid"/>
          </a:ln>
        </p:spPr>
      </p:sp>
      <p:sp>
        <p:nvSpPr>
          <p:cNvPr id="9" name="Text 7"/>
          <p:cNvSpPr txBox="1"/>
          <p:nvPr/>
        </p:nvSpPr>
        <p:spPr>
          <a:xfrm>
            <a:off x="1097280" y="2450592"/>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klare Position (eher demokratisch / timokratisch)</a:t>
            </a:r>
            <a:endParaRPr lang="en-US" sz="1300" dirty="0"/>
          </a:p>
        </p:txBody>
      </p:sp>
      <p:sp>
        <p:nvSpPr>
          <p:cNvPr id="10" name="Shape 8"/>
          <p:cNvSpPr/>
          <p:nvPr/>
        </p:nvSpPr>
        <p:spPr>
          <a:xfrm>
            <a:off x="685800" y="3127248"/>
            <a:ext cx="256032" cy="256032"/>
          </a:xfrm>
          <a:prstGeom prst="roundRect">
            <a:avLst>
              <a:gd name="adj" fmla="val 14286"/>
            </a:avLst>
          </a:prstGeom>
          <a:solidFill>
            <a:srgbClr val="FFFFFF"/>
          </a:solidFill>
          <a:ln w="19050">
            <a:solidFill>
              <a:srgbClr val="D9A441"/>
            </a:solidFill>
            <a:prstDash val="solid"/>
          </a:ln>
        </p:spPr>
      </p:sp>
      <p:sp>
        <p:nvSpPr>
          <p:cNvPr id="11" name="Text 9"/>
          <p:cNvSpPr txBox="1"/>
          <p:nvPr/>
        </p:nvSpPr>
        <p:spPr>
          <a:xfrm>
            <a:off x="1097280" y="3072384"/>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mit Belegen aus dem Bürgeramt</a:t>
            </a:r>
            <a:endParaRPr lang="en-US" sz="1300" dirty="0"/>
          </a:p>
        </p:txBody>
      </p:sp>
      <p:sp>
        <p:nvSpPr>
          <p:cNvPr id="12" name="Shape 10"/>
          <p:cNvSpPr/>
          <p:nvPr/>
        </p:nvSpPr>
        <p:spPr>
          <a:xfrm>
            <a:off x="685800" y="3749040"/>
            <a:ext cx="256032" cy="256032"/>
          </a:xfrm>
          <a:prstGeom prst="roundRect">
            <a:avLst>
              <a:gd name="adj" fmla="val 14286"/>
            </a:avLst>
          </a:prstGeom>
          <a:solidFill>
            <a:srgbClr val="FFFFFF"/>
          </a:solidFill>
          <a:ln w="19050">
            <a:solidFill>
              <a:srgbClr val="D9A441"/>
            </a:solidFill>
            <a:prstDash val="solid"/>
          </a:ln>
        </p:spPr>
      </p:sp>
      <p:sp>
        <p:nvSpPr>
          <p:cNvPr id="13" name="Text 11"/>
          <p:cNvSpPr txBox="1"/>
          <p:nvPr/>
        </p:nvSpPr>
        <p:spPr>
          <a:xfrm>
            <a:off x="1097280" y="3694176"/>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aus der damaligen Zeit heraus</a:t>
            </a:r>
            <a:endParaRPr lang="en-US" sz="1300" dirty="0"/>
          </a:p>
        </p:txBody>
      </p:sp>
      <p:sp>
        <p:nvSpPr>
          <p:cNvPr id="14" name="Text 12"/>
          <p:cNvSpPr txBox="1"/>
          <p:nvPr/>
        </p:nvSpPr>
        <p:spPr>
          <a:xfrm>
            <a:off x="4663440" y="1783080"/>
            <a:ext cx="4023360" cy="457200"/>
          </a:xfrm>
          <a:prstGeom prst="roundRect">
            <a:avLst>
              <a:gd name="adj" fmla="val 16000"/>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Werturteil</a:t>
            </a:r>
            <a:endParaRPr lang="en-US" sz="1500" dirty="0"/>
          </a:p>
        </p:txBody>
      </p:sp>
      <p:sp>
        <p:nvSpPr>
          <p:cNvPr id="15" name="Shape 13"/>
          <p:cNvSpPr/>
          <p:nvPr/>
        </p:nvSpPr>
        <p:spPr>
          <a:xfrm>
            <a:off x="4663440" y="2286000"/>
            <a:ext cx="4023360" cy="2103120"/>
          </a:xfrm>
          <a:prstGeom prst="roundRect">
            <a:avLst>
              <a:gd name="adj" fmla="val 3478"/>
            </a:avLst>
          </a:prstGeom>
          <a:solidFill>
            <a:srgbClr val="F4ECDE"/>
          </a:solidFill>
          <a:ln w="12700">
            <a:solidFill>
              <a:srgbClr val="F4ECDE"/>
            </a:solidFill>
            <a:prstDash val="solid"/>
          </a:ln>
        </p:spPr>
      </p:sp>
      <p:sp>
        <p:nvSpPr>
          <p:cNvPr id="16" name="Shape 14"/>
          <p:cNvSpPr/>
          <p:nvPr/>
        </p:nvSpPr>
        <p:spPr>
          <a:xfrm>
            <a:off x="4892040" y="2505456"/>
            <a:ext cx="256032" cy="256032"/>
          </a:xfrm>
          <a:prstGeom prst="roundRect">
            <a:avLst>
              <a:gd name="adj" fmla="val 14286"/>
            </a:avLst>
          </a:prstGeom>
          <a:solidFill>
            <a:srgbClr val="FFFFFF"/>
          </a:solidFill>
          <a:ln w="19050">
            <a:solidFill>
              <a:srgbClr val="AD4426"/>
            </a:solidFill>
            <a:prstDash val="solid"/>
          </a:ln>
        </p:spPr>
      </p:sp>
      <p:sp>
        <p:nvSpPr>
          <p:cNvPr id="17" name="Text 15"/>
          <p:cNvSpPr txBox="1"/>
          <p:nvPr/>
        </p:nvSpPr>
        <p:spPr>
          <a:xfrm>
            <a:off x="5303520" y="2450592"/>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Maßstab genannt</a:t>
            </a:r>
            <a:endParaRPr lang="en-US" sz="1300" dirty="0"/>
          </a:p>
        </p:txBody>
      </p:sp>
      <p:sp>
        <p:nvSpPr>
          <p:cNvPr id="18" name="Shape 16"/>
          <p:cNvSpPr/>
          <p:nvPr/>
        </p:nvSpPr>
        <p:spPr>
          <a:xfrm>
            <a:off x="4892040" y="3127248"/>
            <a:ext cx="256032" cy="256032"/>
          </a:xfrm>
          <a:prstGeom prst="roundRect">
            <a:avLst>
              <a:gd name="adj" fmla="val 14286"/>
            </a:avLst>
          </a:prstGeom>
          <a:solidFill>
            <a:srgbClr val="FFFFFF"/>
          </a:solidFill>
          <a:ln w="19050">
            <a:solidFill>
              <a:srgbClr val="AD4426"/>
            </a:solidFill>
            <a:prstDash val="solid"/>
          </a:ln>
        </p:spPr>
      </p:sp>
      <p:sp>
        <p:nvSpPr>
          <p:cNvPr id="19" name="Text 17"/>
          <p:cNvSpPr txBox="1"/>
          <p:nvPr/>
        </p:nvSpPr>
        <p:spPr>
          <a:xfrm>
            <a:off x="5303520" y="3072384"/>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begründet, mit Beispiel</a:t>
            </a:r>
            <a:endParaRPr lang="en-US" sz="1300" dirty="0"/>
          </a:p>
        </p:txBody>
      </p:sp>
      <p:sp>
        <p:nvSpPr>
          <p:cNvPr id="20" name="Shape 18"/>
          <p:cNvSpPr/>
          <p:nvPr/>
        </p:nvSpPr>
        <p:spPr>
          <a:xfrm>
            <a:off x="4892040" y="3749040"/>
            <a:ext cx="256032" cy="256032"/>
          </a:xfrm>
          <a:prstGeom prst="roundRect">
            <a:avLst>
              <a:gd name="adj" fmla="val 14286"/>
            </a:avLst>
          </a:prstGeom>
          <a:solidFill>
            <a:srgbClr val="FFFFFF"/>
          </a:solidFill>
          <a:ln w="19050">
            <a:solidFill>
              <a:srgbClr val="AD4426"/>
            </a:solidFill>
            <a:prstDash val="solid"/>
          </a:ln>
        </p:spPr>
      </p:sp>
      <p:sp>
        <p:nvSpPr>
          <p:cNvPr id="21" name="Text 19"/>
          <p:cNvSpPr txBox="1"/>
          <p:nvPr/>
        </p:nvSpPr>
        <p:spPr>
          <a:xfrm>
            <a:off x="5303520" y="3694176"/>
            <a:ext cx="3246120" cy="384048"/>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erkennbar heutige Sicht („Ich halte …“)</a:t>
            </a:r>
            <a:endParaRPr lang="en-US" sz="1300" dirty="0"/>
          </a:p>
        </p:txBody>
      </p:sp>
      <p:sp>
        <p:nvSpPr>
          <p:cNvPr id="22" name="Text 20"/>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23" name="Text 21"/>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WERTURTEIL · BEISPIELE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Verschiedene Urteile – beide gelungen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1188720"/>
            <a:ext cx="4023360" cy="2514600"/>
          </a:xfrm>
          <a:prstGeom prst="roundRect">
            <a:avLst>
              <a:gd name="adj" fmla="val 2909"/>
            </a:avLst>
          </a:prstGeom>
          <a:solidFill>
            <a:srgbClr val="F4ECDE"/>
          </a:solidFill>
          <a:ln w="12700">
            <a:solidFill>
              <a:srgbClr val="F4ECDE"/>
            </a:solidFill>
            <a:prstDash val="solid"/>
          </a:ln>
        </p:spPr>
      </p:sp>
      <p:sp>
        <p:nvSpPr>
          <p:cNvPr id="6" name="Text 4"/>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500" b="1" dirty="0">
                <a:solidFill>
                  <a:srgbClr val="AD4426"/>
                </a:solidFill>
                <a:latin typeface="Cambria" pitchFamily="34" charset="0"/>
                <a:ea typeface="Cambria" pitchFamily="34" charset="-122"/>
                <a:cs typeface="Cambria" pitchFamily="34" charset="-120"/>
              </a:rPr>
              <a:t>Maßstab 1: Gleichheit</a:t>
            </a:r>
            <a:endParaRPr lang="en-US" sz="1500" dirty="0"/>
          </a:p>
        </p:txBody>
      </p:sp>
      <p:sp>
        <p:nvSpPr>
          <p:cNvPr id="7" name="Text 5"/>
          <p:cNvSpPr txBox="1"/>
          <p:nvPr/>
        </p:nvSpPr>
        <p:spPr>
          <a:xfrm>
            <a:off x="685800" y="1691640"/>
            <a:ext cx="3611880" cy="1920240"/>
          </a:xfrm>
          <a:prstGeom prst="rect">
            <a:avLst/>
          </a:prstGeom>
          <a:noFill/>
          <a:ln/>
        </p:spPr>
        <p:txBody>
          <a:bodyPr wrap="square" lIns="0" tIns="0" rIns="0" bIns="0" rtlCol="0" anchor="t"/>
          <a:lstStyle/>
          <a:p>
            <a:pPr indent="0" marL="0">
              <a:buNone/>
            </a:pPr>
            <a:r>
              <a:rPr lang="en-US" sz="1300" i="1" dirty="0">
                <a:solidFill>
                  <a:srgbClr val="2B2318"/>
                </a:solidFill>
                <a:latin typeface="Calibri" pitchFamily="34" charset="0"/>
                <a:ea typeface="Calibri" pitchFamily="34" charset="-122"/>
                <a:cs typeface="Calibri" pitchFamily="34" charset="-120"/>
              </a:rPr>
              <a:t>„Gemessen an der Gleichheit aller Bürger halte ich es für nicht gerecht, dass die Ämter vom Besitz abhingen, weil arme Bürger wie Lykon (Anliegen 1) nie selbst regieren konnten.“</a:t>
            </a:r>
            <a:endParaRPr lang="en-US" sz="1300" dirty="0"/>
          </a:p>
        </p:txBody>
      </p:sp>
      <p:sp>
        <p:nvSpPr>
          <p:cNvPr id="8" name="Shape 6"/>
          <p:cNvSpPr/>
          <p:nvPr/>
        </p:nvSpPr>
        <p:spPr>
          <a:xfrm>
            <a:off x="4663440" y="1188720"/>
            <a:ext cx="4023360" cy="2514600"/>
          </a:xfrm>
          <a:prstGeom prst="roundRect">
            <a:avLst>
              <a:gd name="adj" fmla="val 2909"/>
            </a:avLst>
          </a:prstGeom>
          <a:solidFill>
            <a:srgbClr val="F4ECDE"/>
          </a:solidFill>
          <a:ln w="12700">
            <a:solidFill>
              <a:srgbClr val="F4ECDE"/>
            </a:solidFill>
            <a:prstDash val="solid"/>
          </a:ln>
        </p:spPr>
      </p:sp>
      <p:sp>
        <p:nvSpPr>
          <p:cNvPr id="9" name="Text 7"/>
          <p:cNvSpPr txBox="1"/>
          <p:nvPr/>
        </p:nvSpPr>
        <p:spPr>
          <a:xfrm>
            <a:off x="4892040" y="1280160"/>
            <a:ext cx="3566160" cy="365760"/>
          </a:xfrm>
          <a:prstGeom prst="rect">
            <a:avLst/>
          </a:prstGeom>
          <a:noFill/>
          <a:ln/>
        </p:spPr>
        <p:txBody>
          <a:bodyPr wrap="square" lIns="0" tIns="0" rIns="0" bIns="0" rtlCol="0" anchor="t"/>
          <a:lstStyle/>
          <a:p>
            <a:pPr indent="0" marL="0">
              <a:buNone/>
            </a:pPr>
            <a:r>
              <a:rPr lang="en-US" sz="1500" b="1" dirty="0">
                <a:solidFill>
                  <a:srgbClr val="AD4426"/>
                </a:solidFill>
                <a:latin typeface="Cambria" pitchFamily="34" charset="0"/>
                <a:ea typeface="Cambria" pitchFamily="34" charset="-122"/>
                <a:cs typeface="Cambria" pitchFamily="34" charset="-120"/>
              </a:rPr>
              <a:t>Maßstab 2: Leistung</a:t>
            </a:r>
            <a:endParaRPr lang="en-US" sz="1500" dirty="0"/>
          </a:p>
        </p:txBody>
      </p:sp>
      <p:sp>
        <p:nvSpPr>
          <p:cNvPr id="10" name="Text 8"/>
          <p:cNvSpPr txBox="1"/>
          <p:nvPr/>
        </p:nvSpPr>
        <p:spPr>
          <a:xfrm>
            <a:off x="4892040" y="1691640"/>
            <a:ext cx="3611880" cy="1920240"/>
          </a:xfrm>
          <a:prstGeom prst="rect">
            <a:avLst/>
          </a:prstGeom>
          <a:noFill/>
          <a:ln/>
        </p:spPr>
        <p:txBody>
          <a:bodyPr wrap="square" lIns="0" tIns="0" rIns="0" bIns="0" rtlCol="0" anchor="t"/>
          <a:lstStyle/>
          <a:p>
            <a:pPr indent="0" marL="0">
              <a:buNone/>
            </a:pPr>
            <a:r>
              <a:rPr lang="en-US" sz="1300" i="1" dirty="0">
                <a:solidFill>
                  <a:srgbClr val="2B2318"/>
                </a:solidFill>
                <a:latin typeface="Calibri" pitchFamily="34" charset="0"/>
                <a:ea typeface="Calibri" pitchFamily="34" charset="-122"/>
                <a:cs typeface="Calibri" pitchFamily="34" charset="-120"/>
              </a:rPr>
              <a:t>„Gemessen an der Leistung halte ich es für teilweise gerecht, weil die Reichen mehr Lasten trugen und man durch Besitz aufsteigen konnte wie Kallippos (Anliegen 9). Wer arm blieb, hatte aber keine Chance auf ein Amt.“</a:t>
            </a:r>
            <a:endParaRPr lang="en-US" sz="1300" dirty="0"/>
          </a:p>
        </p:txBody>
      </p:sp>
      <p:sp>
        <p:nvSpPr>
          <p:cNvPr id="11" name="Shape 9"/>
          <p:cNvSpPr/>
          <p:nvPr/>
        </p:nvSpPr>
        <p:spPr>
          <a:xfrm>
            <a:off x="457200" y="3886200"/>
            <a:ext cx="8229600" cy="640080"/>
          </a:xfrm>
          <a:prstGeom prst="roundRect">
            <a:avLst>
              <a:gd name="adj" fmla="val 11429"/>
            </a:avLst>
          </a:prstGeom>
          <a:solidFill>
            <a:srgbClr val="2B2318"/>
          </a:solidFill>
          <a:ln w="12700">
            <a:solidFill>
              <a:srgbClr val="2B2318"/>
            </a:solidFill>
            <a:prstDash val="solid"/>
          </a:ln>
        </p:spPr>
      </p:sp>
      <p:sp>
        <p:nvSpPr>
          <p:cNvPr id="12" name="Text 10"/>
          <p:cNvSpPr txBox="1"/>
          <p:nvPr/>
        </p:nvSpPr>
        <p:spPr>
          <a:xfrm>
            <a:off x="685800" y="3886200"/>
            <a:ext cx="7772400" cy="640080"/>
          </a:xfrm>
          <a:prstGeom prst="rect">
            <a:avLst/>
          </a:prstGeom>
          <a:noFill/>
          <a:ln/>
        </p:spPr>
        <p:txBody>
          <a:bodyPr wrap="square" lIns="0" tIns="0" rIns="0" bIns="0" rtlCol="0" anchor="ctr"/>
          <a:lstStyle/>
          <a:p>
            <a:pPr indent="0" marL="0">
              <a:buNone/>
            </a:pPr>
            <a:r>
              <a:rPr lang="en-US" sz="1400" b="1" dirty="0">
                <a:solidFill>
                  <a:srgbClr val="D9A441"/>
                </a:solidFill>
                <a:latin typeface="Calibri" pitchFamily="34" charset="0"/>
                <a:ea typeface="Calibri" pitchFamily="34" charset="-122"/>
                <a:cs typeface="Calibri" pitchFamily="34" charset="-120"/>
              </a:rPr>
              <a:t>Unterschiedliche Werturteile sind erlaubt – wenn der Maßstab genannt und das Urteil begründet ist.</a:t>
            </a:r>
            <a:endParaRPr lang="en-US" sz="1400" dirty="0"/>
          </a:p>
        </p:txBody>
      </p:sp>
      <p:sp>
        <p:nvSpPr>
          <p:cNvPr id="13" name="Text 11"/>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Bürgeramt Athen</a:t>
            </a:r>
            <a:endParaRPr lang="en-US" sz="900" dirty="0"/>
          </a:p>
        </p:txBody>
      </p:sp>
      <p:sp>
        <p:nvSpPr>
          <p:cNvPr id="14" name="Text 12"/>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Bürgeramt Athen</dc:title>
  <dc:subject>PptxGenJS Presentation</dc:subject>
  <dc:creator>PptxGenJS</dc:creator>
  <cp:lastModifiedBy>PptxGenJS</cp:lastModifiedBy>
  <cp:revision>1</cp:revision>
  <dcterms:created xsi:type="dcterms:W3CDTF">2026-10-06T16:17:20Z</dcterms:created>
  <dcterms:modified xsi:type="dcterms:W3CDTF">2026-10-06T16:17:20Z</dcterms:modified>
</cp:coreProperties>
</file>